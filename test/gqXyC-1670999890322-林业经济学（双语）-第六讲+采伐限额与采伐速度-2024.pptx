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0" r:id="rId6"/>
    <p:sldId id="258" r:id="rId7"/>
    <p:sldId id="261" r:id="rId8"/>
    <p:sldId id="263" r:id="rId9"/>
    <p:sldId id="262" r:id="rId10"/>
    <p:sldId id="264" r:id="rId11"/>
    <p:sldId id="267" r:id="rId12"/>
    <p:sldId id="265"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9" r:id="rId35"/>
    <p:sldId id="288"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8" r:id="rId54"/>
    <p:sldId id="309" r:id="rId55"/>
    <p:sldId id="312" r:id="rId56"/>
    <p:sldId id="313" r:id="rId57"/>
    <p:sldId id="314" r:id="rId58"/>
    <p:sldId id="315" r:id="rId59"/>
    <p:sldId id="318" r:id="rId60"/>
    <p:sldId id="319" r:id="rId61"/>
    <p:sldId id="321" r:id="rId62"/>
    <p:sldId id="320" r:id="rId63"/>
    <p:sldId id="322" r:id="rId64"/>
    <p:sldId id="323" r:id="rId65"/>
    <p:sldId id="324" r:id="rId66"/>
    <p:sldId id="325" r:id="rId67"/>
    <p:sldId id="326" r:id="rId68"/>
    <p:sldId id="329" r:id="rId69"/>
    <p:sldId id="34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 id="343" r:id="rId84"/>
    <p:sldId id="345" r:id="rId85"/>
    <p:sldId id="346" r:id="rId86"/>
    <p:sldId id="347" r:id="rId87"/>
    <p:sldId id="348" r:id="rId88"/>
    <p:sldId id="344" r:id="rId89"/>
    <p:sldId id="327" r:id="rId90"/>
    <p:sldId id="310" r:id="rId91"/>
    <p:sldId id="311" r:id="rId92"/>
    <p:sldId id="328" r:id="rId9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5ED4"/>
    <a:srgbClr val="C5AD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81" autoAdjust="0"/>
    <p:restoredTop sz="94660"/>
  </p:normalViewPr>
  <p:slideViewPr>
    <p:cSldViewPr>
      <p:cViewPr varScale="1">
        <p:scale>
          <a:sx n="88" d="100"/>
          <a:sy n="88" d="100"/>
        </p:scale>
        <p:origin x="102" y="564"/>
      </p:cViewPr>
      <p:guideLst>
        <p:guide orient="horz" pos="218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41B4629-CFAD-4E76-910A-981894748968}" type="doc">
      <dgm:prSet loTypeId="urn:microsoft.com/office/officeart/2009/3/layout/CircleRelationship" loCatId="relationship" qsTypeId="urn:microsoft.com/office/officeart/2005/8/quickstyle/simple5" qsCatId="simple" csTypeId="urn:microsoft.com/office/officeart/2005/8/colors/colorful1" csCatId="colorful" phldr="1"/>
      <dgm:spPr/>
      <dgm:t>
        <a:bodyPr/>
        <a:lstStyle/>
        <a:p>
          <a:endParaRPr lang="zh-CN" altLang="en-US"/>
        </a:p>
      </dgm:t>
    </dgm:pt>
    <dgm:pt modelId="{233236B0-3F00-4F7C-8115-D8A8634349D1}">
      <dgm:prSet phldrT="[文本]"/>
      <dgm:spPr/>
      <dgm:t>
        <a:bodyPr/>
        <a:lstStyle/>
        <a:p>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森林（</a:t>
          </a:r>
          <a: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Forest</a:t>
          </a: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FC6D3433-CF1F-45CD-8A04-6E604EC02489}" cxnId="{7F46DB4A-8BF7-40C1-8A8A-7FFAC2F0F9DD}" type="parTrans">
      <dgm:prSet/>
      <dgm:spPr/>
      <dgm:t>
        <a:bodyPr/>
        <a:lstStyle/>
        <a:p>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A86DA2DB-6DCB-4D00-B090-101F2050D7ED}" cxnId="{7F46DB4A-8BF7-40C1-8A8A-7FFAC2F0F9DD}" type="sibTrans">
      <dgm:prSet/>
      <dgm:spPr/>
      <dgm:t>
        <a:bodyPr/>
        <a:lstStyle/>
        <a:p>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7649ABA0-2AE5-4D78-A250-AB2B73426742}">
      <dgm:prSet phldrT="[文本]"/>
      <dgm:spPr/>
      <dgm:t>
        <a:bodyPr/>
        <a:lstStyle/>
        <a:p>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林分（</a:t>
          </a:r>
          <a: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stands</a:t>
          </a: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C8218A88-6590-45E6-950B-6432C0701B9F}" cxnId="{D76B06F5-02D3-413D-B0B7-B64B86AF16E7}" type="parTrans">
      <dgm:prSet/>
      <dgm:spPr/>
      <dgm:t>
        <a:bodyPr/>
        <a:lstStyle/>
        <a:p>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BE5CE74F-5F24-43B8-8519-30173463D311}" cxnId="{D76B06F5-02D3-413D-B0B7-B64B86AF16E7}" type="sibTrans">
      <dgm:prSet/>
      <dgm:spPr/>
      <dgm:t>
        <a:bodyPr/>
        <a:lstStyle/>
        <a:p>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0251F6AF-848F-4FB8-B2E3-2748BB99B64B}">
      <dgm:prSet phldrT="[文本]"/>
      <dgm:spPr/>
      <dgm:t>
        <a:bodyPr/>
        <a:lstStyle/>
        <a:p>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林分（</a:t>
          </a:r>
          <a: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stands</a:t>
          </a: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EB6B975C-580A-4C33-AF3A-9BA679B1D770}" cxnId="{9823F146-14DA-4A45-BE0B-5898D91A5F46}" type="parTrans">
      <dgm:prSet/>
      <dgm:spPr/>
      <dgm:t>
        <a:bodyPr/>
        <a:lstStyle/>
        <a:p>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83475F27-6B83-4A67-AB7A-89D6F0390140}" cxnId="{9823F146-14DA-4A45-BE0B-5898D91A5F46}" type="sibTrans">
      <dgm:prSet/>
      <dgm:spPr/>
      <dgm:t>
        <a:bodyPr/>
        <a:lstStyle/>
        <a:p>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gm:t>
    </dgm:pt>
    <dgm:pt modelId="{29C08794-0349-4951-9493-013636EF0C7C}" type="pres">
      <dgm:prSet presAssocID="{741B4629-CFAD-4E76-910A-981894748968}" presName="Name0" presStyleCnt="0">
        <dgm:presLayoutVars>
          <dgm:chMax val="1"/>
          <dgm:chPref val="1"/>
        </dgm:presLayoutVars>
      </dgm:prSet>
      <dgm:spPr/>
      <dgm:t>
        <a:bodyPr/>
        <a:lstStyle/>
        <a:p>
          <a:endParaRPr lang="zh-CN" altLang="en-US"/>
        </a:p>
      </dgm:t>
    </dgm:pt>
    <dgm:pt modelId="{A694EB45-2770-4520-A848-1CA34FB93CF4}" type="pres">
      <dgm:prSet presAssocID="{233236B0-3F00-4F7C-8115-D8A8634349D1}" presName="Parent" presStyleLbl="node0" presStyleIdx="0" presStyleCnt="1" custScaleX="136549" custScaleY="134961" custLinFactNeighborX="-487" custLinFactNeighborY="593">
        <dgm:presLayoutVars>
          <dgm:chMax val="5"/>
          <dgm:chPref val="5"/>
        </dgm:presLayoutVars>
      </dgm:prSet>
      <dgm:spPr/>
      <dgm:t>
        <a:bodyPr/>
        <a:lstStyle/>
        <a:p>
          <a:endParaRPr lang="zh-CN" altLang="en-US"/>
        </a:p>
      </dgm:t>
    </dgm:pt>
    <dgm:pt modelId="{0AC59BD7-BC9C-4326-9B72-6D59BF6E6BBA}" type="pres">
      <dgm:prSet presAssocID="{233236B0-3F00-4F7C-8115-D8A8634349D1}" presName="Accent1" presStyleLbl="node1" presStyleIdx="0" presStyleCnt="13"/>
      <dgm:spPr/>
    </dgm:pt>
    <dgm:pt modelId="{DE6CA954-DA17-435F-9776-699868884AD6}" type="pres">
      <dgm:prSet presAssocID="{233236B0-3F00-4F7C-8115-D8A8634349D1}" presName="Accent2" presStyleLbl="node1" presStyleIdx="1" presStyleCnt="13"/>
      <dgm:spPr/>
    </dgm:pt>
    <dgm:pt modelId="{E378153B-E589-4898-8BC6-0993C5BEC52F}" type="pres">
      <dgm:prSet presAssocID="{233236B0-3F00-4F7C-8115-D8A8634349D1}" presName="Accent3" presStyleLbl="node1" presStyleIdx="2" presStyleCnt="13"/>
      <dgm:spPr/>
    </dgm:pt>
    <dgm:pt modelId="{C9F2E59A-3C1E-4C5F-8DB9-DB790DD8A966}" type="pres">
      <dgm:prSet presAssocID="{233236B0-3F00-4F7C-8115-D8A8634349D1}" presName="Accent4" presStyleLbl="node1" presStyleIdx="3" presStyleCnt="13"/>
      <dgm:spPr/>
    </dgm:pt>
    <dgm:pt modelId="{1AC7C940-04D3-4334-A86D-B1471DFAD545}" type="pres">
      <dgm:prSet presAssocID="{233236B0-3F00-4F7C-8115-D8A8634349D1}" presName="Accent5" presStyleLbl="node1" presStyleIdx="4" presStyleCnt="13" custLinFactX="6653" custLinFactNeighborX="100000" custLinFactNeighborY="-85967"/>
      <dgm:spPr/>
    </dgm:pt>
    <dgm:pt modelId="{F46BA391-6F5F-401F-9C51-996F78DD5A03}" type="pres">
      <dgm:prSet presAssocID="{233236B0-3F00-4F7C-8115-D8A8634349D1}" presName="Accent6" presStyleLbl="node1" presStyleIdx="5" presStyleCnt="13"/>
      <dgm:spPr/>
    </dgm:pt>
    <dgm:pt modelId="{CD15D049-D71B-4800-B2D2-AAC2B85BA95C}" type="pres">
      <dgm:prSet presAssocID="{7649ABA0-2AE5-4D78-A250-AB2B73426742}" presName="Child1" presStyleLbl="node1" presStyleIdx="6" presStyleCnt="13" custLinFactNeighborX="66819" custLinFactNeighborY="-45821">
        <dgm:presLayoutVars>
          <dgm:chMax val="0"/>
          <dgm:chPref val="0"/>
        </dgm:presLayoutVars>
      </dgm:prSet>
      <dgm:spPr/>
      <dgm:t>
        <a:bodyPr/>
        <a:lstStyle/>
        <a:p>
          <a:endParaRPr lang="zh-CN" altLang="en-US"/>
        </a:p>
      </dgm:t>
    </dgm:pt>
    <dgm:pt modelId="{0ADBE80A-5D06-420D-9510-CEC1E815056E}" type="pres">
      <dgm:prSet presAssocID="{7649ABA0-2AE5-4D78-A250-AB2B73426742}" presName="Accent7" presStyleCnt="0"/>
      <dgm:spPr/>
    </dgm:pt>
    <dgm:pt modelId="{8812AE93-563B-433F-9E35-E8BF32F4C755}" type="pres">
      <dgm:prSet presAssocID="{7649ABA0-2AE5-4D78-A250-AB2B73426742}" presName="AccentHold1" presStyleLbl="node1" presStyleIdx="7" presStyleCnt="13" custLinFactNeighborX="79525" custLinFactNeighborY="37224"/>
      <dgm:spPr/>
    </dgm:pt>
    <dgm:pt modelId="{55CE99C5-3CAB-404B-B007-8309743EE7F9}" type="pres">
      <dgm:prSet presAssocID="{7649ABA0-2AE5-4D78-A250-AB2B73426742}" presName="Accent8" presStyleCnt="0"/>
      <dgm:spPr/>
    </dgm:pt>
    <dgm:pt modelId="{520D90E8-6BB6-4F78-B7F0-04C0C7192497}" type="pres">
      <dgm:prSet presAssocID="{7649ABA0-2AE5-4D78-A250-AB2B73426742}" presName="AccentHold2" presStyleLbl="node1" presStyleIdx="8" presStyleCnt="13"/>
      <dgm:spPr/>
    </dgm:pt>
    <dgm:pt modelId="{C43C2E45-0633-4DB2-A9FC-20A826991DAA}" type="pres">
      <dgm:prSet presAssocID="{0251F6AF-848F-4FB8-B2E3-2748BB99B64B}" presName="Child2" presStyleLbl="node1" presStyleIdx="9" presStyleCnt="13" custLinFactX="-28727" custLinFactY="45739" custLinFactNeighborX="-100000" custLinFactNeighborY="100000">
        <dgm:presLayoutVars>
          <dgm:chMax val="0"/>
          <dgm:chPref val="0"/>
        </dgm:presLayoutVars>
      </dgm:prSet>
      <dgm:spPr/>
      <dgm:t>
        <a:bodyPr/>
        <a:lstStyle/>
        <a:p>
          <a:endParaRPr lang="zh-CN" altLang="en-US"/>
        </a:p>
      </dgm:t>
    </dgm:pt>
    <dgm:pt modelId="{72451619-A4EE-4E99-B1F0-FEB5D7637C09}" type="pres">
      <dgm:prSet presAssocID="{0251F6AF-848F-4FB8-B2E3-2748BB99B64B}" presName="Accent9" presStyleCnt="0"/>
      <dgm:spPr/>
    </dgm:pt>
    <dgm:pt modelId="{EFB2B4D4-9156-41C9-8C9C-6DF3A86EACBC}" type="pres">
      <dgm:prSet presAssocID="{0251F6AF-848F-4FB8-B2E3-2748BB99B64B}" presName="AccentHold1" presStyleLbl="node1" presStyleIdx="10" presStyleCnt="13"/>
      <dgm:spPr/>
    </dgm:pt>
    <dgm:pt modelId="{A0A73FF3-301A-4816-B261-0E142D7E34AE}" type="pres">
      <dgm:prSet presAssocID="{0251F6AF-848F-4FB8-B2E3-2748BB99B64B}" presName="Accent10" presStyleCnt="0"/>
      <dgm:spPr/>
    </dgm:pt>
    <dgm:pt modelId="{CF44EB1C-1A60-498A-B9F2-A7A6810A4318}" type="pres">
      <dgm:prSet presAssocID="{0251F6AF-848F-4FB8-B2E3-2748BB99B64B}" presName="AccentHold2" presStyleLbl="node1" presStyleIdx="11" presStyleCnt="13"/>
      <dgm:spPr/>
    </dgm:pt>
    <dgm:pt modelId="{DD4CEFF4-D1C1-4983-88D6-00767586187F}" type="pres">
      <dgm:prSet presAssocID="{0251F6AF-848F-4FB8-B2E3-2748BB99B64B}" presName="Accent11" presStyleCnt="0"/>
      <dgm:spPr/>
    </dgm:pt>
    <dgm:pt modelId="{A45865C2-0C87-46D6-8A0C-88CC5CF23255}" type="pres">
      <dgm:prSet presAssocID="{0251F6AF-848F-4FB8-B2E3-2748BB99B64B}" presName="AccentHold3" presStyleLbl="node1" presStyleIdx="12" presStyleCnt="13" custLinFactX="-139149" custLinFactY="-35979" custLinFactNeighborX="-200000" custLinFactNeighborY="-100000"/>
      <dgm:spPr/>
    </dgm:pt>
  </dgm:ptLst>
  <dgm:cxnLst>
    <dgm:cxn modelId="{46FD4EEC-4C1E-4A92-A13C-1D35AAD80BD9}" type="presOf" srcId="{0251F6AF-848F-4FB8-B2E3-2748BB99B64B}" destId="{C43C2E45-0633-4DB2-A9FC-20A826991DAA}" srcOrd="0" destOrd="0" presId="urn:microsoft.com/office/officeart/2009/3/layout/CircleRelationship"/>
    <dgm:cxn modelId="{9823F146-14DA-4A45-BE0B-5898D91A5F46}" srcId="{233236B0-3F00-4F7C-8115-D8A8634349D1}" destId="{0251F6AF-848F-4FB8-B2E3-2748BB99B64B}" srcOrd="1" destOrd="0" parTransId="{EB6B975C-580A-4C33-AF3A-9BA679B1D770}" sibTransId="{83475F27-6B83-4A67-AB7A-89D6F0390140}"/>
    <dgm:cxn modelId="{7F46DB4A-8BF7-40C1-8A8A-7FFAC2F0F9DD}" srcId="{741B4629-CFAD-4E76-910A-981894748968}" destId="{233236B0-3F00-4F7C-8115-D8A8634349D1}" srcOrd="0" destOrd="0" parTransId="{FC6D3433-CF1F-45CD-8A04-6E604EC02489}" sibTransId="{A86DA2DB-6DCB-4D00-B090-101F2050D7ED}"/>
    <dgm:cxn modelId="{E4664F9D-5666-43B1-B3F2-BD4F242A26E5}" type="presOf" srcId="{741B4629-CFAD-4E76-910A-981894748968}" destId="{29C08794-0349-4951-9493-013636EF0C7C}" srcOrd="0" destOrd="0" presId="urn:microsoft.com/office/officeart/2009/3/layout/CircleRelationship"/>
    <dgm:cxn modelId="{9310F341-674C-42EC-A21C-8392243C3E17}" type="presOf" srcId="{7649ABA0-2AE5-4D78-A250-AB2B73426742}" destId="{CD15D049-D71B-4800-B2D2-AAC2B85BA95C}" srcOrd="0" destOrd="0" presId="urn:microsoft.com/office/officeart/2009/3/layout/CircleRelationship"/>
    <dgm:cxn modelId="{D76B06F5-02D3-413D-B0B7-B64B86AF16E7}" srcId="{233236B0-3F00-4F7C-8115-D8A8634349D1}" destId="{7649ABA0-2AE5-4D78-A250-AB2B73426742}" srcOrd="0" destOrd="0" parTransId="{C8218A88-6590-45E6-950B-6432C0701B9F}" sibTransId="{BE5CE74F-5F24-43B8-8519-30173463D311}"/>
    <dgm:cxn modelId="{7A5A99EB-15ED-4B58-8CFE-F22E946E2136}" type="presOf" srcId="{233236B0-3F00-4F7C-8115-D8A8634349D1}" destId="{A694EB45-2770-4520-A848-1CA34FB93CF4}" srcOrd="0" destOrd="0" presId="urn:microsoft.com/office/officeart/2009/3/layout/CircleRelationship"/>
    <dgm:cxn modelId="{122C9B52-D363-414A-B45A-638F76573016}" type="presParOf" srcId="{29C08794-0349-4951-9493-013636EF0C7C}" destId="{A694EB45-2770-4520-A848-1CA34FB93CF4}" srcOrd="0" destOrd="0" presId="urn:microsoft.com/office/officeart/2009/3/layout/CircleRelationship"/>
    <dgm:cxn modelId="{51BCECFC-6898-4A60-93BA-F84C0804A49F}" type="presParOf" srcId="{29C08794-0349-4951-9493-013636EF0C7C}" destId="{0AC59BD7-BC9C-4326-9B72-6D59BF6E6BBA}" srcOrd="1" destOrd="0" presId="urn:microsoft.com/office/officeart/2009/3/layout/CircleRelationship"/>
    <dgm:cxn modelId="{CBD640EA-4CCB-41E8-9E5F-0653C36E6A19}" type="presParOf" srcId="{29C08794-0349-4951-9493-013636EF0C7C}" destId="{DE6CA954-DA17-435F-9776-699868884AD6}" srcOrd="2" destOrd="0" presId="urn:microsoft.com/office/officeart/2009/3/layout/CircleRelationship"/>
    <dgm:cxn modelId="{A1395765-58BE-4CA2-9F48-72A8653DEB25}" type="presParOf" srcId="{29C08794-0349-4951-9493-013636EF0C7C}" destId="{E378153B-E589-4898-8BC6-0993C5BEC52F}" srcOrd="3" destOrd="0" presId="urn:microsoft.com/office/officeart/2009/3/layout/CircleRelationship"/>
    <dgm:cxn modelId="{18067F3D-4D8C-4415-BE5C-BB8C329BDF0E}" type="presParOf" srcId="{29C08794-0349-4951-9493-013636EF0C7C}" destId="{C9F2E59A-3C1E-4C5F-8DB9-DB790DD8A966}" srcOrd="4" destOrd="0" presId="urn:microsoft.com/office/officeart/2009/3/layout/CircleRelationship"/>
    <dgm:cxn modelId="{806CD7C8-07C5-4AF7-96A1-85876C311E75}" type="presParOf" srcId="{29C08794-0349-4951-9493-013636EF0C7C}" destId="{1AC7C940-04D3-4334-A86D-B1471DFAD545}" srcOrd="5" destOrd="0" presId="urn:microsoft.com/office/officeart/2009/3/layout/CircleRelationship"/>
    <dgm:cxn modelId="{095BE663-77A0-4B4A-890F-B7D14FF3E008}" type="presParOf" srcId="{29C08794-0349-4951-9493-013636EF0C7C}" destId="{F46BA391-6F5F-401F-9C51-996F78DD5A03}" srcOrd="6" destOrd="0" presId="urn:microsoft.com/office/officeart/2009/3/layout/CircleRelationship"/>
    <dgm:cxn modelId="{F07C6BE9-C740-436E-B88A-667A2270A6E2}" type="presParOf" srcId="{29C08794-0349-4951-9493-013636EF0C7C}" destId="{CD15D049-D71B-4800-B2D2-AAC2B85BA95C}" srcOrd="7" destOrd="0" presId="urn:microsoft.com/office/officeart/2009/3/layout/CircleRelationship"/>
    <dgm:cxn modelId="{29E668D7-A38B-4742-8557-94DB564B2CD1}" type="presParOf" srcId="{29C08794-0349-4951-9493-013636EF0C7C}" destId="{0ADBE80A-5D06-420D-9510-CEC1E815056E}" srcOrd="8" destOrd="0" presId="urn:microsoft.com/office/officeart/2009/3/layout/CircleRelationship"/>
    <dgm:cxn modelId="{BE0BFFBA-2BBF-4667-9555-B89F8E53C192}" type="presParOf" srcId="{0ADBE80A-5D06-420D-9510-CEC1E815056E}" destId="{8812AE93-563B-433F-9E35-E8BF32F4C755}" srcOrd="0" destOrd="0" presId="urn:microsoft.com/office/officeart/2009/3/layout/CircleRelationship"/>
    <dgm:cxn modelId="{217A5E25-10D0-452F-A0FC-D28B4B8C573D}" type="presParOf" srcId="{29C08794-0349-4951-9493-013636EF0C7C}" destId="{55CE99C5-3CAB-404B-B007-8309743EE7F9}" srcOrd="9" destOrd="0" presId="urn:microsoft.com/office/officeart/2009/3/layout/CircleRelationship"/>
    <dgm:cxn modelId="{FE636C8D-6A95-4112-8699-19A72AB02A8B}" type="presParOf" srcId="{55CE99C5-3CAB-404B-B007-8309743EE7F9}" destId="{520D90E8-6BB6-4F78-B7F0-04C0C7192497}" srcOrd="0" destOrd="0" presId="urn:microsoft.com/office/officeart/2009/3/layout/CircleRelationship"/>
    <dgm:cxn modelId="{A1B30C7E-5146-4873-B689-E4188C924198}" type="presParOf" srcId="{29C08794-0349-4951-9493-013636EF0C7C}" destId="{C43C2E45-0633-4DB2-A9FC-20A826991DAA}" srcOrd="10" destOrd="0" presId="urn:microsoft.com/office/officeart/2009/3/layout/CircleRelationship"/>
    <dgm:cxn modelId="{E77CED61-009E-422E-BBC2-89B9DBE1A51E}" type="presParOf" srcId="{29C08794-0349-4951-9493-013636EF0C7C}" destId="{72451619-A4EE-4E99-B1F0-FEB5D7637C09}" srcOrd="11" destOrd="0" presId="urn:microsoft.com/office/officeart/2009/3/layout/CircleRelationship"/>
    <dgm:cxn modelId="{06394972-248E-48E6-A452-A23712AFF808}" type="presParOf" srcId="{72451619-A4EE-4E99-B1F0-FEB5D7637C09}" destId="{EFB2B4D4-9156-41C9-8C9C-6DF3A86EACBC}" srcOrd="0" destOrd="0" presId="urn:microsoft.com/office/officeart/2009/3/layout/CircleRelationship"/>
    <dgm:cxn modelId="{F954093A-8234-4C17-8FEE-24A679B6441A}" type="presParOf" srcId="{29C08794-0349-4951-9493-013636EF0C7C}" destId="{A0A73FF3-301A-4816-B261-0E142D7E34AE}" srcOrd="12" destOrd="0" presId="urn:microsoft.com/office/officeart/2009/3/layout/CircleRelationship"/>
    <dgm:cxn modelId="{6C6F0035-2638-4C9F-91F9-4A6EECF8DFF2}" type="presParOf" srcId="{A0A73FF3-301A-4816-B261-0E142D7E34AE}" destId="{CF44EB1C-1A60-498A-B9F2-A7A6810A4318}" srcOrd="0" destOrd="0" presId="urn:microsoft.com/office/officeart/2009/3/layout/CircleRelationship"/>
    <dgm:cxn modelId="{1F46E52F-147F-4139-813E-C10C6574FD98}" type="presParOf" srcId="{29C08794-0349-4951-9493-013636EF0C7C}" destId="{DD4CEFF4-D1C1-4983-88D6-00767586187F}" srcOrd="13" destOrd="0" presId="urn:microsoft.com/office/officeart/2009/3/layout/CircleRelationship"/>
    <dgm:cxn modelId="{F6747893-AC52-4099-B35B-EEC78DD7E8DF}" type="presParOf" srcId="{DD4CEFF4-D1C1-4983-88D6-00767586187F}" destId="{A45865C2-0C87-46D6-8A0C-88CC5CF23255}" srcOrd="0" destOrd="0" presId="urn:microsoft.com/office/officeart/2009/3/layout/CircleRelationship"/>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993AD5-EFD1-4D1A-BD11-0F305BE003D8}" type="doc">
      <dgm:prSet loTypeId="urn:microsoft.com/office/officeart/2005/8/layout/vProcess5" loCatId="process" qsTypeId="urn:microsoft.com/office/officeart/2005/8/quickstyle/simple5" qsCatId="simple" csTypeId="urn:microsoft.com/office/officeart/2005/8/colors/colorful5" csCatId="colorful" phldr="1"/>
      <dgm:spPr/>
      <dgm:t>
        <a:bodyPr/>
        <a:lstStyle/>
        <a:p>
          <a:endParaRPr lang="zh-CN" altLang="en-US"/>
        </a:p>
      </dgm:t>
    </dgm:pt>
    <dgm:pt modelId="{2B87945A-B60C-46A5-B917-783B590A9CC9}">
      <dgm:prSet phldrT="[文本]"/>
      <dgm:spPr/>
      <dgm:t>
        <a:bodyPr>
          <a:sp3d extrusionH="57150">
            <a:bevelT w="38100" h="38100" prst="relaxedInset"/>
          </a:sp3d>
        </a:bodyPr>
        <a:lstStyle/>
        <a:p>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经营取向不同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0C32FA50-559F-466E-A7A8-DE82DD7A2F1D}" cxnId="{614A7AFF-037E-446C-9404-665DA4E3CF58}" type="parTrans">
      <dgm:prSet/>
      <dgm:spPr/>
      <dgm:t>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E7AE4247-84DA-41C3-81AD-B58E19777FED}" cxnId="{614A7AFF-037E-446C-9404-665DA4E3CF58}" type="sibTrans">
      <dgm:prSet/>
      <dgm:spPr/>
      <dgm:t>
        <a:bodyPr>
          <a:scene3d>
            <a:camera prst="orthographicFront"/>
            <a:lightRig rig="threePt" dir="t"/>
          </a:scene3d>
          <a:sp3d extrusionH="57150">
            <a:bevelT w="6350" h="38100" prst="relaxedInset"/>
          </a:sp3d>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3C57A5D9-682E-4C0A-9AAB-34A2A4C83791}">
      <dgm:prSet phldrT="[文本]"/>
      <dgm:spPr/>
      <dgm:t>
        <a:bodyPr>
          <a:sp3d extrusionH="57150">
            <a:bevelT w="38100" h="38100" prst="relaxedInset"/>
          </a:sp3d>
        </a:bodyPr>
        <a:lstStyle/>
        <a:p>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核心理论不同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320C1F16-3B3C-47C3-8906-13F522E5EC51}" cxnId="{75AE7741-5458-4D7E-B045-2E98CA572C31}" type="parTrans">
      <dgm:prSet/>
      <dgm:spPr/>
      <dgm:t>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FA3E6567-2CAA-4BD3-B95C-EFB2488FBAD1}" cxnId="{75AE7741-5458-4D7E-B045-2E98CA572C31}" type="sibTrans">
      <dgm:prSet/>
      <dgm:spPr/>
      <dgm:t>
        <a:bodyPr>
          <a:scene3d>
            <a:camera prst="orthographicFront"/>
            <a:lightRig rig="threePt" dir="t"/>
          </a:scene3d>
          <a:sp3d extrusionH="57150">
            <a:bevelT w="6350" h="38100" prst="relaxedInset"/>
          </a:sp3d>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94FE0E05-40D8-4787-B6AC-0F49F360C977}">
      <dgm:prSet phldrT="[文本]"/>
      <dgm:spPr/>
      <dgm:t>
        <a:bodyPr>
          <a:sp3d extrusionH="57150">
            <a:bevelT w="38100" h="38100" prst="relaxedInset"/>
          </a:sp3d>
        </a:bodyPr>
        <a:lstStyle/>
        <a:p>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技术保障体系不同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D03A9EA4-9349-42F3-AC39-EC78DC7D1026}" cxnId="{70CF27D4-A1DD-4396-AB87-1CED4DE46CC0}" type="parTrans">
      <dgm:prSet/>
      <dgm:spPr/>
      <dgm:t>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A7D3CA8A-BA4A-420F-BBFD-EF4AB13EA76A}" cxnId="{70CF27D4-A1DD-4396-AB87-1CED4DE46CC0}" type="sibTrans">
      <dgm:prSet/>
      <dgm:spPr/>
      <dgm:t>
        <a:bodyPr>
          <a:scene3d>
            <a:camera prst="orthographicFront"/>
            <a:lightRig rig="threePt" dir="t"/>
          </a:scene3d>
          <a:sp3d extrusionH="57150">
            <a:bevelT w="6350" h="38100" prst="relaxedInset"/>
          </a:sp3d>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E5FEAC16-9988-489F-BBCE-329E13DBFBFD}">
      <dgm:prSet phldrT="[文本]"/>
      <dgm:spPr/>
      <dgm:t>
        <a:bodyPr>
          <a:sp3d extrusionH="57150">
            <a:bevelT w="38100" h="38100" prst="relaxedInset"/>
          </a:sp3d>
        </a:bodyPr>
        <a:lstStyle/>
        <a:p>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评价尺度不同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49A4B4D6-9853-4A99-BDB9-428FF31D4133}" cxnId="{717442FD-82B0-4009-94BA-1BBA520AC5EA}" type="parTrans">
      <dgm:prSet/>
      <dgm:spPr/>
      <dgm:t>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60745619-5A20-4910-A686-7F54F6DFBB90}" cxnId="{717442FD-82B0-4009-94BA-1BBA520AC5EA}" type="sibTrans">
      <dgm:prSet/>
      <dgm:spPr/>
      <dgm:t>
        <a:bodyPr>
          <a:scene3d>
            <a:camera prst="orthographicFront"/>
            <a:lightRig rig="threePt" dir="t"/>
          </a:scene3d>
          <a:sp3d extrusionH="57150">
            <a:bevelT w="6350" h="38100" prst="relaxedInset"/>
          </a:sp3d>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2AAEF272-E769-4FB9-8D01-9854B264606C}">
      <dgm:prSet phldrT="[文本]"/>
      <dgm:spPr/>
      <dgm:t>
        <a:bodyPr>
          <a:sp3d extrusionH="57150">
            <a:bevelT w="38100" h="38100" prst="relaxedInset"/>
          </a:sp3d>
        </a:bodyPr>
        <a:lstStyle/>
        <a:p>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空间操作尺度不同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gm:t>
    </dgm:pt>
    <dgm:pt modelId="{9C1C72AD-9D54-45B8-A9C3-975110A734B6}" cxnId="{61768CDD-95E2-416A-928C-CDD4BD0353D9}" type="parTrans">
      <dgm:prSet/>
      <dgm:spPr/>
      <dgm:t>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endParaRPr>
        </a:p>
      </dgm:t>
    </dgm:pt>
    <dgm:pt modelId="{B99DDD64-DA2A-46CC-934D-D78E7C9B6231}" cxnId="{61768CDD-95E2-416A-928C-CDD4BD0353D9}" type="sibTrans">
      <dgm:prSet/>
      <dgm:spPr/>
      <dgm:t>
        <a:bodyPr/>
        <a:lstStyle/>
        <a:p>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endParaRPr>
        </a:p>
      </dgm:t>
    </dgm:pt>
    <dgm:pt modelId="{3DC951A1-D7F6-42C5-8580-1F77A3112B1F}" type="pres">
      <dgm:prSet presAssocID="{D2993AD5-EFD1-4D1A-BD11-0F305BE003D8}" presName="outerComposite" presStyleCnt="0">
        <dgm:presLayoutVars>
          <dgm:chMax val="5"/>
          <dgm:dir/>
          <dgm:resizeHandles val="exact"/>
        </dgm:presLayoutVars>
      </dgm:prSet>
      <dgm:spPr/>
      <dgm:t>
        <a:bodyPr/>
        <a:lstStyle/>
        <a:p>
          <a:endParaRPr lang="zh-CN" altLang="en-US"/>
        </a:p>
      </dgm:t>
    </dgm:pt>
    <dgm:pt modelId="{46C41BD5-EF6E-4538-88CE-D8E35F1B18D9}" type="pres">
      <dgm:prSet presAssocID="{D2993AD5-EFD1-4D1A-BD11-0F305BE003D8}" presName="dummyMaxCanvas" presStyleCnt="0">
        <dgm:presLayoutVars/>
      </dgm:prSet>
      <dgm:spPr/>
    </dgm:pt>
    <dgm:pt modelId="{3B4D1268-C323-46E4-928D-E945BAED4862}" type="pres">
      <dgm:prSet presAssocID="{D2993AD5-EFD1-4D1A-BD11-0F305BE003D8}" presName="FiveNodes_1" presStyleLbl="node1" presStyleIdx="0" presStyleCnt="5">
        <dgm:presLayoutVars>
          <dgm:bulletEnabled val="1"/>
        </dgm:presLayoutVars>
      </dgm:prSet>
      <dgm:spPr/>
      <dgm:t>
        <a:bodyPr/>
        <a:lstStyle/>
        <a:p>
          <a:endParaRPr lang="zh-CN" altLang="en-US"/>
        </a:p>
      </dgm:t>
    </dgm:pt>
    <dgm:pt modelId="{1B93CCF0-D490-4ECF-8FA8-9DA243EC03E1}" type="pres">
      <dgm:prSet presAssocID="{D2993AD5-EFD1-4D1A-BD11-0F305BE003D8}" presName="FiveNodes_2" presStyleLbl="node1" presStyleIdx="1" presStyleCnt="5">
        <dgm:presLayoutVars>
          <dgm:bulletEnabled val="1"/>
        </dgm:presLayoutVars>
      </dgm:prSet>
      <dgm:spPr/>
      <dgm:t>
        <a:bodyPr/>
        <a:lstStyle/>
        <a:p>
          <a:endParaRPr lang="zh-CN" altLang="en-US"/>
        </a:p>
      </dgm:t>
    </dgm:pt>
    <dgm:pt modelId="{FE7E6F99-E5D3-44EA-9F77-9465166990A7}" type="pres">
      <dgm:prSet presAssocID="{D2993AD5-EFD1-4D1A-BD11-0F305BE003D8}" presName="FiveNodes_3" presStyleLbl="node1" presStyleIdx="2" presStyleCnt="5">
        <dgm:presLayoutVars>
          <dgm:bulletEnabled val="1"/>
        </dgm:presLayoutVars>
      </dgm:prSet>
      <dgm:spPr/>
      <dgm:t>
        <a:bodyPr/>
        <a:lstStyle/>
        <a:p>
          <a:endParaRPr lang="zh-CN" altLang="en-US"/>
        </a:p>
      </dgm:t>
    </dgm:pt>
    <dgm:pt modelId="{1B98866D-58BD-437D-ACA0-C518F5FBB307}" type="pres">
      <dgm:prSet presAssocID="{D2993AD5-EFD1-4D1A-BD11-0F305BE003D8}" presName="FiveNodes_4" presStyleLbl="node1" presStyleIdx="3" presStyleCnt="5">
        <dgm:presLayoutVars>
          <dgm:bulletEnabled val="1"/>
        </dgm:presLayoutVars>
      </dgm:prSet>
      <dgm:spPr/>
      <dgm:t>
        <a:bodyPr/>
        <a:lstStyle/>
        <a:p>
          <a:endParaRPr lang="zh-CN" altLang="en-US"/>
        </a:p>
      </dgm:t>
    </dgm:pt>
    <dgm:pt modelId="{19F09A74-8D7B-4360-90C7-927DB1A03A2A}" type="pres">
      <dgm:prSet presAssocID="{D2993AD5-EFD1-4D1A-BD11-0F305BE003D8}" presName="FiveNodes_5" presStyleLbl="node1" presStyleIdx="4" presStyleCnt="5">
        <dgm:presLayoutVars>
          <dgm:bulletEnabled val="1"/>
        </dgm:presLayoutVars>
      </dgm:prSet>
      <dgm:spPr/>
      <dgm:t>
        <a:bodyPr/>
        <a:lstStyle/>
        <a:p>
          <a:endParaRPr lang="zh-CN" altLang="en-US"/>
        </a:p>
      </dgm:t>
    </dgm:pt>
    <dgm:pt modelId="{E3B93284-ED4B-4054-A9C8-168E1612820C}" type="pres">
      <dgm:prSet presAssocID="{D2993AD5-EFD1-4D1A-BD11-0F305BE003D8}" presName="FiveConn_1-2" presStyleLbl="fgAccFollowNode1" presStyleIdx="0" presStyleCnt="4">
        <dgm:presLayoutVars>
          <dgm:bulletEnabled val="1"/>
        </dgm:presLayoutVars>
      </dgm:prSet>
      <dgm:spPr/>
      <dgm:t>
        <a:bodyPr/>
        <a:lstStyle/>
        <a:p>
          <a:endParaRPr lang="zh-CN" altLang="en-US"/>
        </a:p>
      </dgm:t>
    </dgm:pt>
    <dgm:pt modelId="{35D177A9-E08E-49CB-A747-07F51A22A1BE}" type="pres">
      <dgm:prSet presAssocID="{D2993AD5-EFD1-4D1A-BD11-0F305BE003D8}" presName="FiveConn_2-3" presStyleLbl="fgAccFollowNode1" presStyleIdx="1" presStyleCnt="4">
        <dgm:presLayoutVars>
          <dgm:bulletEnabled val="1"/>
        </dgm:presLayoutVars>
      </dgm:prSet>
      <dgm:spPr/>
      <dgm:t>
        <a:bodyPr/>
        <a:lstStyle/>
        <a:p>
          <a:endParaRPr lang="zh-CN" altLang="en-US"/>
        </a:p>
      </dgm:t>
    </dgm:pt>
    <dgm:pt modelId="{20A4A9C3-AC2C-4079-9AC8-AA813FF1BF48}" type="pres">
      <dgm:prSet presAssocID="{D2993AD5-EFD1-4D1A-BD11-0F305BE003D8}" presName="FiveConn_3-4" presStyleLbl="fgAccFollowNode1" presStyleIdx="2" presStyleCnt="4">
        <dgm:presLayoutVars>
          <dgm:bulletEnabled val="1"/>
        </dgm:presLayoutVars>
      </dgm:prSet>
      <dgm:spPr/>
      <dgm:t>
        <a:bodyPr/>
        <a:lstStyle/>
        <a:p>
          <a:endParaRPr lang="zh-CN" altLang="en-US"/>
        </a:p>
      </dgm:t>
    </dgm:pt>
    <dgm:pt modelId="{963519C4-07FD-4B98-80EF-94365446978B}" type="pres">
      <dgm:prSet presAssocID="{D2993AD5-EFD1-4D1A-BD11-0F305BE003D8}" presName="FiveConn_4-5" presStyleLbl="fgAccFollowNode1" presStyleIdx="3" presStyleCnt="4">
        <dgm:presLayoutVars>
          <dgm:bulletEnabled val="1"/>
        </dgm:presLayoutVars>
      </dgm:prSet>
      <dgm:spPr/>
      <dgm:t>
        <a:bodyPr/>
        <a:lstStyle/>
        <a:p>
          <a:endParaRPr lang="zh-CN" altLang="en-US"/>
        </a:p>
      </dgm:t>
    </dgm:pt>
    <dgm:pt modelId="{11AEC990-C77C-451E-B4C0-FC0E94AD8B7D}" type="pres">
      <dgm:prSet presAssocID="{D2993AD5-EFD1-4D1A-BD11-0F305BE003D8}" presName="FiveNodes_1_text" presStyleLbl="node1" presStyleIdx="4" presStyleCnt="5">
        <dgm:presLayoutVars>
          <dgm:bulletEnabled val="1"/>
        </dgm:presLayoutVars>
      </dgm:prSet>
      <dgm:spPr/>
      <dgm:t>
        <a:bodyPr/>
        <a:lstStyle/>
        <a:p>
          <a:endParaRPr lang="zh-CN" altLang="en-US"/>
        </a:p>
      </dgm:t>
    </dgm:pt>
    <dgm:pt modelId="{43320CA2-125B-4EFD-89CC-B88B1E44876B}" type="pres">
      <dgm:prSet presAssocID="{D2993AD5-EFD1-4D1A-BD11-0F305BE003D8}" presName="FiveNodes_2_text" presStyleLbl="node1" presStyleIdx="4" presStyleCnt="5">
        <dgm:presLayoutVars>
          <dgm:bulletEnabled val="1"/>
        </dgm:presLayoutVars>
      </dgm:prSet>
      <dgm:spPr/>
      <dgm:t>
        <a:bodyPr/>
        <a:lstStyle/>
        <a:p>
          <a:endParaRPr lang="zh-CN" altLang="en-US"/>
        </a:p>
      </dgm:t>
    </dgm:pt>
    <dgm:pt modelId="{3B28956C-F06E-4138-B621-010CDCED75A2}" type="pres">
      <dgm:prSet presAssocID="{D2993AD5-EFD1-4D1A-BD11-0F305BE003D8}" presName="FiveNodes_3_text" presStyleLbl="node1" presStyleIdx="4" presStyleCnt="5">
        <dgm:presLayoutVars>
          <dgm:bulletEnabled val="1"/>
        </dgm:presLayoutVars>
      </dgm:prSet>
      <dgm:spPr/>
      <dgm:t>
        <a:bodyPr/>
        <a:lstStyle/>
        <a:p>
          <a:endParaRPr lang="zh-CN" altLang="en-US"/>
        </a:p>
      </dgm:t>
    </dgm:pt>
    <dgm:pt modelId="{47ACF34E-2DA3-47A2-807F-4CB32A0100F6}" type="pres">
      <dgm:prSet presAssocID="{D2993AD5-EFD1-4D1A-BD11-0F305BE003D8}" presName="FiveNodes_4_text" presStyleLbl="node1" presStyleIdx="4" presStyleCnt="5">
        <dgm:presLayoutVars>
          <dgm:bulletEnabled val="1"/>
        </dgm:presLayoutVars>
      </dgm:prSet>
      <dgm:spPr/>
      <dgm:t>
        <a:bodyPr/>
        <a:lstStyle/>
        <a:p>
          <a:endParaRPr lang="zh-CN" altLang="en-US"/>
        </a:p>
      </dgm:t>
    </dgm:pt>
    <dgm:pt modelId="{20A7FE1A-594D-4AB5-84C6-870A64DE55F5}" type="pres">
      <dgm:prSet presAssocID="{D2993AD5-EFD1-4D1A-BD11-0F305BE003D8}" presName="FiveNodes_5_text" presStyleLbl="node1" presStyleIdx="4" presStyleCnt="5">
        <dgm:presLayoutVars>
          <dgm:bulletEnabled val="1"/>
        </dgm:presLayoutVars>
      </dgm:prSet>
      <dgm:spPr/>
      <dgm:t>
        <a:bodyPr/>
        <a:lstStyle/>
        <a:p>
          <a:endParaRPr lang="zh-CN" altLang="en-US"/>
        </a:p>
      </dgm:t>
    </dgm:pt>
  </dgm:ptLst>
  <dgm:cxnLst>
    <dgm:cxn modelId="{9E2F8159-0463-4C8E-BFF2-264A4A3F9770}" type="presOf" srcId="{3C57A5D9-682E-4C0A-9AAB-34A2A4C83791}" destId="{1B93CCF0-D490-4ECF-8FA8-9DA243EC03E1}" srcOrd="0" destOrd="0" presId="urn:microsoft.com/office/officeart/2005/8/layout/vProcess5"/>
    <dgm:cxn modelId="{614A7AFF-037E-446C-9404-665DA4E3CF58}" srcId="{D2993AD5-EFD1-4D1A-BD11-0F305BE003D8}" destId="{2B87945A-B60C-46A5-B917-783B590A9CC9}" srcOrd="0" destOrd="0" parTransId="{0C32FA50-559F-466E-A7A8-DE82DD7A2F1D}" sibTransId="{E7AE4247-84DA-41C3-81AD-B58E19777FED}"/>
    <dgm:cxn modelId="{A7DD6462-A7AD-4D61-BA9E-85F8C3ED549E}" type="presOf" srcId="{FA3E6567-2CAA-4BD3-B95C-EFB2488FBAD1}" destId="{35D177A9-E08E-49CB-A747-07F51A22A1BE}" srcOrd="0" destOrd="0" presId="urn:microsoft.com/office/officeart/2005/8/layout/vProcess5"/>
    <dgm:cxn modelId="{3D54FC6A-8B25-4695-8263-5167AF4FC297}" type="presOf" srcId="{3C57A5D9-682E-4C0A-9AAB-34A2A4C83791}" destId="{43320CA2-125B-4EFD-89CC-B88B1E44876B}" srcOrd="1" destOrd="0" presId="urn:microsoft.com/office/officeart/2005/8/layout/vProcess5"/>
    <dgm:cxn modelId="{31449325-BBC0-46E5-8F3A-3AF65ABA9B9B}" type="presOf" srcId="{A7D3CA8A-BA4A-420F-BBFD-EF4AB13EA76A}" destId="{20A4A9C3-AC2C-4079-9AC8-AA813FF1BF48}" srcOrd="0" destOrd="0" presId="urn:microsoft.com/office/officeart/2005/8/layout/vProcess5"/>
    <dgm:cxn modelId="{6892DFED-A712-4AD2-BC5F-671B9A7F38B9}" type="presOf" srcId="{E5FEAC16-9988-489F-BBCE-329E13DBFBFD}" destId="{47ACF34E-2DA3-47A2-807F-4CB32A0100F6}" srcOrd="1" destOrd="0" presId="urn:microsoft.com/office/officeart/2005/8/layout/vProcess5"/>
    <dgm:cxn modelId="{75AE7741-5458-4D7E-B045-2E98CA572C31}" srcId="{D2993AD5-EFD1-4D1A-BD11-0F305BE003D8}" destId="{3C57A5D9-682E-4C0A-9AAB-34A2A4C83791}" srcOrd="1" destOrd="0" parTransId="{320C1F16-3B3C-47C3-8906-13F522E5EC51}" sibTransId="{FA3E6567-2CAA-4BD3-B95C-EFB2488FBAD1}"/>
    <dgm:cxn modelId="{70CF27D4-A1DD-4396-AB87-1CED4DE46CC0}" srcId="{D2993AD5-EFD1-4D1A-BD11-0F305BE003D8}" destId="{94FE0E05-40D8-4787-B6AC-0F49F360C977}" srcOrd="2" destOrd="0" parTransId="{D03A9EA4-9349-42F3-AC39-EC78DC7D1026}" sibTransId="{A7D3CA8A-BA4A-420F-BBFD-EF4AB13EA76A}"/>
    <dgm:cxn modelId="{61768CDD-95E2-416A-928C-CDD4BD0353D9}" srcId="{D2993AD5-EFD1-4D1A-BD11-0F305BE003D8}" destId="{2AAEF272-E769-4FB9-8D01-9854B264606C}" srcOrd="4" destOrd="0" parTransId="{9C1C72AD-9D54-45B8-A9C3-975110A734B6}" sibTransId="{B99DDD64-DA2A-46CC-934D-D78E7C9B6231}"/>
    <dgm:cxn modelId="{717442FD-82B0-4009-94BA-1BBA520AC5EA}" srcId="{D2993AD5-EFD1-4D1A-BD11-0F305BE003D8}" destId="{E5FEAC16-9988-489F-BBCE-329E13DBFBFD}" srcOrd="3" destOrd="0" parTransId="{49A4B4D6-9853-4A99-BDB9-428FF31D4133}" sibTransId="{60745619-5A20-4910-A686-7F54F6DFBB90}"/>
    <dgm:cxn modelId="{F90A7899-C89D-4E55-9106-7D902EC59086}" type="presOf" srcId="{94FE0E05-40D8-4787-B6AC-0F49F360C977}" destId="{3B28956C-F06E-4138-B621-010CDCED75A2}" srcOrd="1" destOrd="0" presId="urn:microsoft.com/office/officeart/2005/8/layout/vProcess5"/>
    <dgm:cxn modelId="{F528C069-3FB6-4713-B0BF-9C8735CCD91D}" type="presOf" srcId="{2AAEF272-E769-4FB9-8D01-9854B264606C}" destId="{20A7FE1A-594D-4AB5-84C6-870A64DE55F5}" srcOrd="1" destOrd="0" presId="urn:microsoft.com/office/officeart/2005/8/layout/vProcess5"/>
    <dgm:cxn modelId="{C914F9FA-7B1B-4219-9C2A-5B6624E9054D}" type="presOf" srcId="{60745619-5A20-4910-A686-7F54F6DFBB90}" destId="{963519C4-07FD-4B98-80EF-94365446978B}" srcOrd="0" destOrd="0" presId="urn:microsoft.com/office/officeart/2005/8/layout/vProcess5"/>
    <dgm:cxn modelId="{71B4FA9C-C75F-4059-BDF0-9530A3F9D7BB}" type="presOf" srcId="{E5FEAC16-9988-489F-BBCE-329E13DBFBFD}" destId="{1B98866D-58BD-437D-ACA0-C518F5FBB307}" srcOrd="0" destOrd="0" presId="urn:microsoft.com/office/officeart/2005/8/layout/vProcess5"/>
    <dgm:cxn modelId="{467A963B-2E10-439E-860B-9EE40439D207}" type="presOf" srcId="{E7AE4247-84DA-41C3-81AD-B58E19777FED}" destId="{E3B93284-ED4B-4054-A9C8-168E1612820C}" srcOrd="0" destOrd="0" presId="urn:microsoft.com/office/officeart/2005/8/layout/vProcess5"/>
    <dgm:cxn modelId="{3A822993-7A7F-4C97-B117-15141E4A4B33}" type="presOf" srcId="{2AAEF272-E769-4FB9-8D01-9854B264606C}" destId="{19F09A74-8D7B-4360-90C7-927DB1A03A2A}" srcOrd="0" destOrd="0" presId="urn:microsoft.com/office/officeart/2005/8/layout/vProcess5"/>
    <dgm:cxn modelId="{C05A7BAA-6BE9-484A-9525-6B8341221DFF}" type="presOf" srcId="{2B87945A-B60C-46A5-B917-783B590A9CC9}" destId="{3B4D1268-C323-46E4-928D-E945BAED4862}" srcOrd="0" destOrd="0" presId="urn:microsoft.com/office/officeart/2005/8/layout/vProcess5"/>
    <dgm:cxn modelId="{D3BE8924-B4C5-4299-829D-CA86AE9E75F3}" type="presOf" srcId="{2B87945A-B60C-46A5-B917-783B590A9CC9}" destId="{11AEC990-C77C-451E-B4C0-FC0E94AD8B7D}" srcOrd="1" destOrd="0" presId="urn:microsoft.com/office/officeart/2005/8/layout/vProcess5"/>
    <dgm:cxn modelId="{72C01E73-7A63-4F25-BC4E-67E2B6167EE7}" type="presOf" srcId="{94FE0E05-40D8-4787-B6AC-0F49F360C977}" destId="{FE7E6F99-E5D3-44EA-9F77-9465166990A7}" srcOrd="0" destOrd="0" presId="urn:microsoft.com/office/officeart/2005/8/layout/vProcess5"/>
    <dgm:cxn modelId="{7BB57CA3-BE02-49BC-93E5-5BCD5AB34D3F}" type="presOf" srcId="{D2993AD5-EFD1-4D1A-BD11-0F305BE003D8}" destId="{3DC951A1-D7F6-42C5-8580-1F77A3112B1F}" srcOrd="0" destOrd="0" presId="urn:microsoft.com/office/officeart/2005/8/layout/vProcess5"/>
    <dgm:cxn modelId="{58B2BF97-7522-4F35-A9A1-510E65B53EA7}" type="presParOf" srcId="{3DC951A1-D7F6-42C5-8580-1F77A3112B1F}" destId="{46C41BD5-EF6E-4538-88CE-D8E35F1B18D9}" srcOrd="0" destOrd="0" presId="urn:microsoft.com/office/officeart/2005/8/layout/vProcess5"/>
    <dgm:cxn modelId="{4336FFDA-B8E7-40DC-8F23-F6E17FAFF5E7}" type="presParOf" srcId="{3DC951A1-D7F6-42C5-8580-1F77A3112B1F}" destId="{3B4D1268-C323-46E4-928D-E945BAED4862}" srcOrd="1" destOrd="0" presId="urn:microsoft.com/office/officeart/2005/8/layout/vProcess5"/>
    <dgm:cxn modelId="{8A0772A8-063A-4B3C-9A6B-F7225E85D2E3}" type="presParOf" srcId="{3DC951A1-D7F6-42C5-8580-1F77A3112B1F}" destId="{1B93CCF0-D490-4ECF-8FA8-9DA243EC03E1}" srcOrd="2" destOrd="0" presId="urn:microsoft.com/office/officeart/2005/8/layout/vProcess5"/>
    <dgm:cxn modelId="{3EB36233-FDB7-4A22-AEAC-0AE97114318D}" type="presParOf" srcId="{3DC951A1-D7F6-42C5-8580-1F77A3112B1F}" destId="{FE7E6F99-E5D3-44EA-9F77-9465166990A7}" srcOrd="3" destOrd="0" presId="urn:microsoft.com/office/officeart/2005/8/layout/vProcess5"/>
    <dgm:cxn modelId="{BB188528-9FC3-44E5-92FE-DECF5800D121}" type="presParOf" srcId="{3DC951A1-D7F6-42C5-8580-1F77A3112B1F}" destId="{1B98866D-58BD-437D-ACA0-C518F5FBB307}" srcOrd="4" destOrd="0" presId="urn:microsoft.com/office/officeart/2005/8/layout/vProcess5"/>
    <dgm:cxn modelId="{59C5A7AF-0FB7-426E-BAA4-5062D739135B}" type="presParOf" srcId="{3DC951A1-D7F6-42C5-8580-1F77A3112B1F}" destId="{19F09A74-8D7B-4360-90C7-927DB1A03A2A}" srcOrd="5" destOrd="0" presId="urn:microsoft.com/office/officeart/2005/8/layout/vProcess5"/>
    <dgm:cxn modelId="{A15E7E66-602C-44F0-A9CB-528E876459B4}" type="presParOf" srcId="{3DC951A1-D7F6-42C5-8580-1F77A3112B1F}" destId="{E3B93284-ED4B-4054-A9C8-168E1612820C}" srcOrd="6" destOrd="0" presId="urn:microsoft.com/office/officeart/2005/8/layout/vProcess5"/>
    <dgm:cxn modelId="{F02C5773-84A8-4E41-B17D-4BD578A55AB6}" type="presParOf" srcId="{3DC951A1-D7F6-42C5-8580-1F77A3112B1F}" destId="{35D177A9-E08E-49CB-A747-07F51A22A1BE}" srcOrd="7" destOrd="0" presId="urn:microsoft.com/office/officeart/2005/8/layout/vProcess5"/>
    <dgm:cxn modelId="{34B341BF-CD0E-4756-8A8E-86F143108B1E}" type="presParOf" srcId="{3DC951A1-D7F6-42C5-8580-1F77A3112B1F}" destId="{20A4A9C3-AC2C-4079-9AC8-AA813FF1BF48}" srcOrd="8" destOrd="0" presId="urn:microsoft.com/office/officeart/2005/8/layout/vProcess5"/>
    <dgm:cxn modelId="{0D0AFEB2-6B27-4E6A-ACF5-DFD28AC7ED91}" type="presParOf" srcId="{3DC951A1-D7F6-42C5-8580-1F77A3112B1F}" destId="{963519C4-07FD-4B98-80EF-94365446978B}" srcOrd="9" destOrd="0" presId="urn:microsoft.com/office/officeart/2005/8/layout/vProcess5"/>
    <dgm:cxn modelId="{07DC6013-512C-41B0-8AA6-52A68A4BDD3B}" type="presParOf" srcId="{3DC951A1-D7F6-42C5-8580-1F77A3112B1F}" destId="{11AEC990-C77C-451E-B4C0-FC0E94AD8B7D}" srcOrd="10" destOrd="0" presId="urn:microsoft.com/office/officeart/2005/8/layout/vProcess5"/>
    <dgm:cxn modelId="{9F2BA18D-49D8-49B7-A81E-9930B2F4328D}" type="presParOf" srcId="{3DC951A1-D7F6-42C5-8580-1F77A3112B1F}" destId="{43320CA2-125B-4EFD-89CC-B88B1E44876B}" srcOrd="11" destOrd="0" presId="urn:microsoft.com/office/officeart/2005/8/layout/vProcess5"/>
    <dgm:cxn modelId="{C49E9DDD-FF17-4DB0-BA99-E73F0FE6A9A9}" type="presParOf" srcId="{3DC951A1-D7F6-42C5-8580-1F77A3112B1F}" destId="{3B28956C-F06E-4138-B621-010CDCED75A2}" srcOrd="12" destOrd="0" presId="urn:microsoft.com/office/officeart/2005/8/layout/vProcess5"/>
    <dgm:cxn modelId="{1C58F1DD-C1DC-41F5-9035-E8D62C5C02CF}" type="presParOf" srcId="{3DC951A1-D7F6-42C5-8580-1F77A3112B1F}" destId="{47ACF34E-2DA3-47A2-807F-4CB32A0100F6}" srcOrd="13" destOrd="0" presId="urn:microsoft.com/office/officeart/2005/8/layout/vProcess5"/>
    <dgm:cxn modelId="{9E14F247-1D7A-4503-B31C-E17285CEB8DA}" type="presParOf" srcId="{3DC951A1-D7F6-42C5-8580-1F77A3112B1F}" destId="{20A7FE1A-594D-4AB5-84C6-870A64DE55F5}" srcOrd="14"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F42A5A-4176-4352-A5CB-EFDD2D9FD659}" type="doc">
      <dgm:prSet loTypeId="urn:microsoft.com/office/officeart/2008/layout/VerticalAccentList" loCatId="list" qsTypeId="urn:microsoft.com/office/officeart/2005/8/quickstyle/simple5" qsCatId="simple" csTypeId="urn:microsoft.com/office/officeart/2005/8/colors/colorful5" csCatId="colorful" phldr="1"/>
      <dgm:spPr/>
      <dgm:t>
        <a:bodyPr/>
        <a:lstStyle/>
        <a:p>
          <a:endParaRPr lang="zh-CN" altLang="en-US"/>
        </a:p>
      </dgm:t>
    </dgm:pt>
    <dgm:pt modelId="{8D5BC5E1-91DD-4FB2-B8D3-A68968938BE5}">
      <dgm:prSet phldrT="[文本]"/>
      <dgm:spPr/>
      <dgm:t>
        <a:bodyPr/>
        <a:lstStyle/>
        <a:p>
          <a:r>
            <a:rPr lang="zh-CN" altLang="en-US" b="0" i="0" dirty="0" smtClean="0">
              <a:latin typeface="黑体" panose="02010609060101010101" pitchFamily="49" charset="-122"/>
              <a:ea typeface="黑体" panose="02010609060101010101" pitchFamily="49" charset="-122"/>
            </a:rPr>
            <a:t>完善采伐指标的分配管理</a:t>
          </a:r>
          <a:endParaRPr lang="zh-CN" altLang="en-US" dirty="0">
            <a:latin typeface="黑体" panose="02010609060101010101" pitchFamily="49" charset="-122"/>
            <a:ea typeface="黑体" panose="02010609060101010101" pitchFamily="49" charset="-122"/>
          </a:endParaRPr>
        </a:p>
      </dgm:t>
    </dgm:pt>
    <dgm:pt modelId="{9F2E5FE8-5B88-46D8-B6AF-0EE7A1831769}" cxnId="{CFA2A4A7-971D-46C6-B2EB-CD3F07FB84CE}" type="parTrans">
      <dgm:prSet/>
      <dgm:spPr/>
      <dgm:t>
        <a:bodyPr/>
        <a:lstStyle/>
        <a:p>
          <a:endParaRPr lang="zh-CN" altLang="en-US">
            <a:latin typeface="黑体" panose="02010609060101010101" pitchFamily="49" charset="-122"/>
            <a:ea typeface="黑体" panose="02010609060101010101" pitchFamily="49" charset="-122"/>
          </a:endParaRPr>
        </a:p>
      </dgm:t>
    </dgm:pt>
    <dgm:pt modelId="{2EB0D983-30DF-4AF9-9A37-9ED0C61D745D}" cxnId="{CFA2A4A7-971D-46C6-B2EB-CD3F07FB84CE}" type="sibTrans">
      <dgm:prSet/>
      <dgm:spPr/>
      <dgm:t>
        <a:bodyPr/>
        <a:lstStyle/>
        <a:p>
          <a:endParaRPr lang="zh-CN" altLang="en-US">
            <a:latin typeface="黑体" panose="02010609060101010101" pitchFamily="49" charset="-122"/>
            <a:ea typeface="黑体" panose="02010609060101010101" pitchFamily="49" charset="-122"/>
          </a:endParaRPr>
        </a:p>
      </dgm:t>
    </dgm:pt>
    <dgm:pt modelId="{B74AE352-E54A-4877-9FA6-44075F3A4BAA}">
      <dgm:prSet phldrT="[文本]"/>
      <dgm:spPr/>
      <dgm:t>
        <a:bodyPr/>
        <a:lstStyle/>
        <a:p>
          <a:r>
            <a:rPr lang="zh-CN" altLang="en-US" b="0" i="0" dirty="0" smtClean="0">
              <a:latin typeface="黑体" panose="02010609060101010101" pitchFamily="49" charset="-122"/>
              <a:ea typeface="黑体" panose="02010609060101010101" pitchFamily="49" charset="-122"/>
            </a:rPr>
            <a:t>采伐限额和木材生产计划并轨，以采伐限额作为统一控制指标。</a:t>
          </a:r>
          <a:endParaRPr lang="zh-CN" altLang="en-US" dirty="0">
            <a:latin typeface="黑体" panose="02010609060101010101" pitchFamily="49" charset="-122"/>
            <a:ea typeface="黑体" panose="02010609060101010101" pitchFamily="49" charset="-122"/>
          </a:endParaRPr>
        </a:p>
      </dgm:t>
    </dgm:pt>
    <dgm:pt modelId="{006A851E-71DB-4FCB-9C22-73932A05D897}" cxnId="{9F07636D-4058-436F-8617-3D3C15879623}" type="parTrans">
      <dgm:prSet/>
      <dgm:spPr/>
      <dgm:t>
        <a:bodyPr/>
        <a:lstStyle/>
        <a:p>
          <a:endParaRPr lang="zh-CN" altLang="en-US">
            <a:latin typeface="黑体" panose="02010609060101010101" pitchFamily="49" charset="-122"/>
            <a:ea typeface="黑体" panose="02010609060101010101" pitchFamily="49" charset="-122"/>
          </a:endParaRPr>
        </a:p>
      </dgm:t>
    </dgm:pt>
    <dgm:pt modelId="{69B2CB19-F89F-4B58-A001-150833F1D199}" cxnId="{9F07636D-4058-436F-8617-3D3C15879623}" type="sibTrans">
      <dgm:prSet/>
      <dgm:spPr/>
      <dgm:t>
        <a:bodyPr/>
        <a:lstStyle/>
        <a:p>
          <a:endParaRPr lang="zh-CN" altLang="en-US">
            <a:latin typeface="黑体" panose="02010609060101010101" pitchFamily="49" charset="-122"/>
            <a:ea typeface="黑体" panose="02010609060101010101" pitchFamily="49" charset="-122"/>
          </a:endParaRPr>
        </a:p>
      </dgm:t>
    </dgm:pt>
    <dgm:pt modelId="{96A654AD-AEB9-4134-A484-EC654CFC5ECA}">
      <dgm:prSet phldrT="[文本]"/>
      <dgm:spPr/>
      <dgm:t>
        <a:bodyPr/>
        <a:lstStyle/>
        <a:p>
          <a:r>
            <a:rPr lang="zh-CN" altLang="en-US" b="0" i="0" dirty="0" smtClean="0">
              <a:latin typeface="黑体" panose="02010609060101010101" pitchFamily="49" charset="-122"/>
              <a:ea typeface="黑体" panose="02010609060101010101" pitchFamily="49" charset="-122"/>
            </a:rPr>
            <a:t>简化林木采伐的审批手续，推行简便易行的伐区设计，改进采伐作业的监管方式。</a:t>
          </a:r>
          <a:endParaRPr lang="zh-CN" altLang="en-US" dirty="0">
            <a:latin typeface="黑体" panose="02010609060101010101" pitchFamily="49" charset="-122"/>
            <a:ea typeface="黑体" panose="02010609060101010101" pitchFamily="49" charset="-122"/>
          </a:endParaRPr>
        </a:p>
      </dgm:t>
    </dgm:pt>
    <dgm:pt modelId="{362A7AD6-7D2B-44A4-819D-47826D0C9D4A}" cxnId="{6F3AB020-094D-4C7A-BCA7-277BE371C467}" type="parTrans">
      <dgm:prSet/>
      <dgm:spPr/>
      <dgm:t>
        <a:bodyPr/>
        <a:lstStyle/>
        <a:p>
          <a:endParaRPr lang="zh-CN" altLang="en-US">
            <a:latin typeface="黑体" panose="02010609060101010101" pitchFamily="49" charset="-122"/>
            <a:ea typeface="黑体" panose="02010609060101010101" pitchFamily="49" charset="-122"/>
          </a:endParaRPr>
        </a:p>
      </dgm:t>
    </dgm:pt>
    <dgm:pt modelId="{AA23F65D-98D4-4C65-A936-72F65DA6BDC1}" cxnId="{6F3AB020-094D-4C7A-BCA7-277BE371C467}" type="sibTrans">
      <dgm:prSet/>
      <dgm:spPr/>
      <dgm:t>
        <a:bodyPr/>
        <a:lstStyle/>
        <a:p>
          <a:endParaRPr lang="zh-CN" altLang="en-US">
            <a:latin typeface="黑体" panose="02010609060101010101" pitchFamily="49" charset="-122"/>
            <a:ea typeface="黑体" panose="02010609060101010101" pitchFamily="49" charset="-122"/>
          </a:endParaRPr>
        </a:p>
      </dgm:t>
    </dgm:pt>
    <dgm:pt modelId="{1EF2C411-F727-4EDA-8A17-6A48A94CEB47}">
      <dgm:prSet phldrT="[文本]"/>
      <dgm:spPr/>
      <dgm:t>
        <a:bodyPr/>
        <a:lstStyle/>
        <a:p>
          <a:r>
            <a:rPr lang="zh-CN" altLang="en-US" b="0" i="0" dirty="0" smtClean="0">
              <a:latin typeface="黑体" panose="02010609060101010101" pitchFamily="49" charset="-122"/>
              <a:ea typeface="黑体" panose="02010609060101010101" pitchFamily="49" charset="-122"/>
            </a:rPr>
            <a:t>一次采伐蓄积</a:t>
          </a:r>
          <a:r>
            <a:rPr lang="en-US" altLang="zh-CN" b="0" i="0" dirty="0" smtClean="0">
              <a:latin typeface="黑体" panose="02010609060101010101" pitchFamily="49" charset="-122"/>
              <a:ea typeface="黑体" panose="02010609060101010101" pitchFamily="49" charset="-122"/>
            </a:rPr>
            <a:t>5</a:t>
          </a:r>
          <a:r>
            <a:rPr lang="zh-CN" altLang="en-US" b="0" i="0" dirty="0" smtClean="0">
              <a:latin typeface="黑体" panose="02010609060101010101" pitchFamily="49" charset="-122"/>
              <a:ea typeface="黑体" panose="02010609060101010101" pitchFamily="49" charset="-122"/>
            </a:rPr>
            <a:t>立方米以下的可免于设计。</a:t>
          </a:r>
          <a:endParaRPr lang="en-US" altLang="zh-CN" b="0" i="0" dirty="0" smtClean="0">
            <a:latin typeface="黑体" panose="02010609060101010101" pitchFamily="49" charset="-122"/>
            <a:ea typeface="黑体" panose="02010609060101010101" pitchFamily="49" charset="-122"/>
          </a:endParaRPr>
        </a:p>
        <a:p>
          <a:r>
            <a:rPr lang="zh-CN" altLang="en-US" b="0" i="0" dirty="0" smtClean="0">
              <a:latin typeface="黑体" panose="02010609060101010101" pitchFamily="49" charset="-122"/>
              <a:ea typeface="黑体" panose="02010609060101010101" pitchFamily="49" charset="-122"/>
            </a:rPr>
            <a:t>采伐经济林、薪炭林、竹林以及非林地上的林木，可由经营者自行设计，自主决定采伐年龄和方式。</a:t>
          </a:r>
          <a:endParaRPr lang="en-US" altLang="zh-CN" b="0" i="0" dirty="0" smtClean="0">
            <a:latin typeface="黑体" panose="02010609060101010101" pitchFamily="49" charset="-122"/>
            <a:ea typeface="黑体" panose="02010609060101010101" pitchFamily="49" charset="-122"/>
          </a:endParaRPr>
        </a:p>
        <a:p>
          <a:r>
            <a:rPr lang="zh-CN" altLang="en-US" b="0" i="0" dirty="0" smtClean="0">
              <a:latin typeface="黑体" panose="02010609060101010101" pitchFamily="49" charset="-122"/>
              <a:ea typeface="黑体" panose="02010609060101010101" pitchFamily="49" charset="-122"/>
            </a:rPr>
            <a:t>林木采伐作业要以经营者自主管理、自我约束为主。</a:t>
          </a:r>
          <a:endParaRPr lang="zh-CN" altLang="en-US" dirty="0">
            <a:latin typeface="黑体" panose="02010609060101010101" pitchFamily="49" charset="-122"/>
            <a:ea typeface="黑体" panose="02010609060101010101" pitchFamily="49" charset="-122"/>
          </a:endParaRPr>
        </a:p>
      </dgm:t>
    </dgm:pt>
    <dgm:pt modelId="{3683FF87-EACD-47B6-9F2B-CAB7DFCB59B5}" cxnId="{CCD93456-5B9A-4E86-B4C0-CF15CC6DDC84}" type="parTrans">
      <dgm:prSet/>
      <dgm:spPr/>
      <dgm:t>
        <a:bodyPr/>
        <a:lstStyle/>
        <a:p>
          <a:endParaRPr lang="zh-CN" altLang="en-US">
            <a:latin typeface="黑体" panose="02010609060101010101" pitchFamily="49" charset="-122"/>
            <a:ea typeface="黑体" panose="02010609060101010101" pitchFamily="49" charset="-122"/>
          </a:endParaRPr>
        </a:p>
      </dgm:t>
    </dgm:pt>
    <dgm:pt modelId="{266E66A6-F3D3-446E-823A-31BB86C0553A}" cxnId="{CCD93456-5B9A-4E86-B4C0-CF15CC6DDC84}" type="sibTrans">
      <dgm:prSet/>
      <dgm:spPr/>
      <dgm:t>
        <a:bodyPr/>
        <a:lstStyle/>
        <a:p>
          <a:endParaRPr lang="zh-CN" altLang="en-US">
            <a:latin typeface="黑体" panose="02010609060101010101" pitchFamily="49" charset="-122"/>
            <a:ea typeface="黑体" panose="02010609060101010101" pitchFamily="49" charset="-122"/>
          </a:endParaRPr>
        </a:p>
      </dgm:t>
    </dgm:pt>
    <dgm:pt modelId="{12B819ED-B87A-4A9C-853F-C621D647355A}">
      <dgm:prSet phldrT="[文本]"/>
      <dgm:spPr/>
      <dgm:t>
        <a:bodyPr/>
        <a:lstStyle/>
        <a:p>
          <a:r>
            <a:rPr lang="zh-CN" altLang="en-US" b="0" i="0" dirty="0" smtClean="0">
              <a:latin typeface="黑体" panose="02010609060101010101" pitchFamily="49" charset="-122"/>
              <a:ea typeface="黑体" panose="02010609060101010101" pitchFamily="49" charset="-122"/>
            </a:rPr>
            <a:t>推进采伐管理与科学经营的紧密结合。进一步放宽竹林经营利用的监督管理。进一步规范木材运输检查监管行为。</a:t>
          </a:r>
          <a:endParaRPr lang="zh-CN" altLang="en-US" dirty="0">
            <a:latin typeface="黑体" panose="02010609060101010101" pitchFamily="49" charset="-122"/>
            <a:ea typeface="黑体" panose="02010609060101010101" pitchFamily="49" charset="-122"/>
          </a:endParaRPr>
        </a:p>
      </dgm:t>
    </dgm:pt>
    <dgm:pt modelId="{A5ECFA9B-7CEF-4DED-9000-D7ED1BC46394}" cxnId="{DD543F58-CA3B-47F2-B574-A60E2321FF25}" type="parTrans">
      <dgm:prSet/>
      <dgm:spPr/>
      <dgm:t>
        <a:bodyPr/>
        <a:lstStyle/>
        <a:p>
          <a:endParaRPr lang="zh-CN" altLang="en-US">
            <a:latin typeface="黑体" panose="02010609060101010101" pitchFamily="49" charset="-122"/>
            <a:ea typeface="黑体" panose="02010609060101010101" pitchFamily="49" charset="-122"/>
          </a:endParaRPr>
        </a:p>
      </dgm:t>
    </dgm:pt>
    <dgm:pt modelId="{9B6C133B-C277-4B6B-AB57-E407CC72FAA5}" cxnId="{DD543F58-CA3B-47F2-B574-A60E2321FF25}" type="sibTrans">
      <dgm:prSet/>
      <dgm:spPr/>
      <dgm:t>
        <a:bodyPr/>
        <a:lstStyle/>
        <a:p>
          <a:endParaRPr lang="zh-CN" altLang="en-US">
            <a:latin typeface="黑体" panose="02010609060101010101" pitchFamily="49" charset="-122"/>
            <a:ea typeface="黑体" panose="02010609060101010101" pitchFamily="49" charset="-122"/>
          </a:endParaRPr>
        </a:p>
      </dgm:t>
    </dgm:pt>
    <dgm:pt modelId="{AD247F3C-8C6E-4DFB-807E-8E0BD8309A72}">
      <dgm:prSet phldrT="[文本]"/>
      <dgm:spPr/>
      <dgm:t>
        <a:bodyPr/>
        <a:lstStyle/>
        <a:p>
          <a:r>
            <a:rPr lang="zh-CN" altLang="en-US" b="0" i="0" dirty="0" smtClean="0">
              <a:latin typeface="黑体" panose="02010609060101010101" pitchFamily="49" charset="-122"/>
              <a:ea typeface="黑体" panose="02010609060101010101" pitchFamily="49" charset="-122"/>
            </a:rPr>
            <a:t>推动不同经营主体编制科学可行的森林经营方案，并督促其严格实施，构建以森林经营方案为基础确定森林采伐限额的林木采伐管理体系和森林经营体系。</a:t>
          </a:r>
          <a:endParaRPr lang="en-US" altLang="zh-CN" b="0" i="0" dirty="0" smtClean="0">
            <a:latin typeface="黑体" panose="02010609060101010101" pitchFamily="49" charset="-122"/>
            <a:ea typeface="黑体" panose="02010609060101010101" pitchFamily="49" charset="-122"/>
          </a:endParaRPr>
        </a:p>
        <a:p>
          <a:r>
            <a:rPr lang="zh-CN" altLang="en-US" b="0" i="0" dirty="0" smtClean="0">
              <a:latin typeface="黑体" panose="02010609060101010101" pitchFamily="49" charset="-122"/>
              <a:ea typeface="黑体" panose="02010609060101010101" pitchFamily="49" charset="-122"/>
            </a:rPr>
            <a:t>严禁擅自扩大凭证运输范围，严禁超范围实施木材运输检查，严禁乱罚款、乱收费。</a:t>
          </a:r>
          <a:endParaRPr lang="zh-CN" altLang="en-US" dirty="0">
            <a:latin typeface="黑体" panose="02010609060101010101" pitchFamily="49" charset="-122"/>
            <a:ea typeface="黑体" panose="02010609060101010101" pitchFamily="49" charset="-122"/>
          </a:endParaRPr>
        </a:p>
      </dgm:t>
    </dgm:pt>
    <dgm:pt modelId="{BFEFDAE3-5530-4405-8E0D-1DF0DA364837}" cxnId="{C8BEF228-25E4-4F58-9C64-9B2BC6F2AB73}" type="parTrans">
      <dgm:prSet/>
      <dgm:spPr/>
      <dgm:t>
        <a:bodyPr/>
        <a:lstStyle/>
        <a:p>
          <a:endParaRPr lang="zh-CN" altLang="en-US">
            <a:latin typeface="黑体" panose="02010609060101010101" pitchFamily="49" charset="-122"/>
            <a:ea typeface="黑体" panose="02010609060101010101" pitchFamily="49" charset="-122"/>
          </a:endParaRPr>
        </a:p>
      </dgm:t>
    </dgm:pt>
    <dgm:pt modelId="{87759688-BB76-4827-A7AE-6FDEB13B12F9}" cxnId="{C8BEF228-25E4-4F58-9C64-9B2BC6F2AB73}" type="sibTrans">
      <dgm:prSet/>
      <dgm:spPr/>
      <dgm:t>
        <a:bodyPr/>
        <a:lstStyle/>
        <a:p>
          <a:endParaRPr lang="zh-CN" altLang="en-US">
            <a:latin typeface="黑体" panose="02010609060101010101" pitchFamily="49" charset="-122"/>
            <a:ea typeface="黑体" panose="02010609060101010101" pitchFamily="49" charset="-122"/>
          </a:endParaRPr>
        </a:p>
      </dgm:t>
    </dgm:pt>
    <dgm:pt modelId="{FD95A8AB-13B7-480E-8106-E3A6502919F5}" type="pres">
      <dgm:prSet presAssocID="{46F42A5A-4176-4352-A5CB-EFDD2D9FD659}" presName="Name0" presStyleCnt="0">
        <dgm:presLayoutVars>
          <dgm:chMax/>
          <dgm:chPref/>
          <dgm:dir/>
        </dgm:presLayoutVars>
      </dgm:prSet>
      <dgm:spPr/>
      <dgm:t>
        <a:bodyPr/>
        <a:lstStyle/>
        <a:p>
          <a:endParaRPr lang="zh-CN" altLang="en-US"/>
        </a:p>
      </dgm:t>
    </dgm:pt>
    <dgm:pt modelId="{2E6FFD80-7FDA-4DA9-A782-118CD60C7D4E}" type="pres">
      <dgm:prSet presAssocID="{8D5BC5E1-91DD-4FB2-B8D3-A68968938BE5}" presName="parenttextcomposite" presStyleCnt="0"/>
      <dgm:spPr/>
    </dgm:pt>
    <dgm:pt modelId="{B953C526-CAA8-46C3-9A56-CCE200020AD7}" type="pres">
      <dgm:prSet presAssocID="{8D5BC5E1-91DD-4FB2-B8D3-A68968938BE5}" presName="parenttext" presStyleLbl="revTx" presStyleIdx="0" presStyleCnt="3">
        <dgm:presLayoutVars>
          <dgm:chMax/>
          <dgm:chPref val="2"/>
          <dgm:bulletEnabled val="1"/>
        </dgm:presLayoutVars>
      </dgm:prSet>
      <dgm:spPr/>
      <dgm:t>
        <a:bodyPr/>
        <a:lstStyle/>
        <a:p>
          <a:endParaRPr lang="zh-CN" altLang="en-US"/>
        </a:p>
      </dgm:t>
    </dgm:pt>
    <dgm:pt modelId="{63FD4012-DE82-4F0F-BD66-8BBA1B5941E6}" type="pres">
      <dgm:prSet presAssocID="{8D5BC5E1-91DD-4FB2-B8D3-A68968938BE5}" presName="composite" presStyleCnt="0"/>
      <dgm:spPr/>
    </dgm:pt>
    <dgm:pt modelId="{0A0C5698-EB6A-4970-95CF-2B57FFAD02D4}" type="pres">
      <dgm:prSet presAssocID="{8D5BC5E1-91DD-4FB2-B8D3-A68968938BE5}" presName="chevron1" presStyleLbl="alignNode1" presStyleIdx="0" presStyleCnt="21"/>
      <dgm:spPr/>
    </dgm:pt>
    <dgm:pt modelId="{A46B6148-296A-4565-96E9-5B30DDBBE9CD}" type="pres">
      <dgm:prSet presAssocID="{8D5BC5E1-91DD-4FB2-B8D3-A68968938BE5}" presName="chevron2" presStyleLbl="alignNode1" presStyleIdx="1" presStyleCnt="21"/>
      <dgm:spPr/>
    </dgm:pt>
    <dgm:pt modelId="{661A6981-B6B6-4393-8A71-8D46647131A8}" type="pres">
      <dgm:prSet presAssocID="{8D5BC5E1-91DD-4FB2-B8D3-A68968938BE5}" presName="chevron3" presStyleLbl="alignNode1" presStyleIdx="2" presStyleCnt="21"/>
      <dgm:spPr/>
    </dgm:pt>
    <dgm:pt modelId="{4472CD8A-21E1-47EB-B7F1-777F0F9A2F39}" type="pres">
      <dgm:prSet presAssocID="{8D5BC5E1-91DD-4FB2-B8D3-A68968938BE5}" presName="chevron4" presStyleLbl="alignNode1" presStyleIdx="3" presStyleCnt="21"/>
      <dgm:spPr/>
    </dgm:pt>
    <dgm:pt modelId="{305B35BB-BAD5-4E7A-B7B7-4C5DC82CDB39}" type="pres">
      <dgm:prSet presAssocID="{8D5BC5E1-91DD-4FB2-B8D3-A68968938BE5}" presName="chevron5" presStyleLbl="alignNode1" presStyleIdx="4" presStyleCnt="21"/>
      <dgm:spPr/>
    </dgm:pt>
    <dgm:pt modelId="{3C7C9069-444E-41A9-979E-A4B00F4F8109}" type="pres">
      <dgm:prSet presAssocID="{8D5BC5E1-91DD-4FB2-B8D3-A68968938BE5}" presName="chevron6" presStyleLbl="alignNode1" presStyleIdx="5" presStyleCnt="21"/>
      <dgm:spPr/>
    </dgm:pt>
    <dgm:pt modelId="{5EFD970B-656E-456A-8C2D-1A92C0C04A7F}" type="pres">
      <dgm:prSet presAssocID="{8D5BC5E1-91DD-4FB2-B8D3-A68968938BE5}" presName="chevron7" presStyleLbl="alignNode1" presStyleIdx="6" presStyleCnt="21"/>
      <dgm:spPr/>
    </dgm:pt>
    <dgm:pt modelId="{8D6071ED-DFD1-45AA-B699-55469B5E809A}" type="pres">
      <dgm:prSet presAssocID="{8D5BC5E1-91DD-4FB2-B8D3-A68968938BE5}" presName="childtext" presStyleLbl="solidFgAcc1" presStyleIdx="0" presStyleCnt="3">
        <dgm:presLayoutVars>
          <dgm:chMax/>
          <dgm:chPref val="0"/>
          <dgm:bulletEnabled val="1"/>
        </dgm:presLayoutVars>
      </dgm:prSet>
      <dgm:spPr/>
      <dgm:t>
        <a:bodyPr/>
        <a:lstStyle/>
        <a:p>
          <a:endParaRPr lang="zh-CN" altLang="en-US"/>
        </a:p>
      </dgm:t>
    </dgm:pt>
    <dgm:pt modelId="{DC9C933A-FACC-403C-9B18-7EDE7D3A0241}" type="pres">
      <dgm:prSet presAssocID="{2EB0D983-30DF-4AF9-9A37-9ED0C61D745D}" presName="sibTrans" presStyleCnt="0"/>
      <dgm:spPr/>
    </dgm:pt>
    <dgm:pt modelId="{D046D2AD-2B32-4418-9254-72058F6E7C60}" type="pres">
      <dgm:prSet presAssocID="{96A654AD-AEB9-4134-A484-EC654CFC5ECA}" presName="parenttextcomposite" presStyleCnt="0"/>
      <dgm:spPr/>
    </dgm:pt>
    <dgm:pt modelId="{B75D6D9C-AE1C-49A9-A2C1-24BE499AD90D}" type="pres">
      <dgm:prSet presAssocID="{96A654AD-AEB9-4134-A484-EC654CFC5ECA}" presName="parenttext" presStyleLbl="revTx" presStyleIdx="1" presStyleCnt="3">
        <dgm:presLayoutVars>
          <dgm:chMax/>
          <dgm:chPref val="2"/>
          <dgm:bulletEnabled val="1"/>
        </dgm:presLayoutVars>
      </dgm:prSet>
      <dgm:spPr/>
      <dgm:t>
        <a:bodyPr/>
        <a:lstStyle/>
        <a:p>
          <a:endParaRPr lang="zh-CN" altLang="en-US"/>
        </a:p>
      </dgm:t>
    </dgm:pt>
    <dgm:pt modelId="{3D0ED50D-8B5B-4FE7-9877-571BF38799F1}" type="pres">
      <dgm:prSet presAssocID="{96A654AD-AEB9-4134-A484-EC654CFC5ECA}" presName="composite" presStyleCnt="0"/>
      <dgm:spPr/>
    </dgm:pt>
    <dgm:pt modelId="{F037E89F-2DFD-42B9-AC3C-4689178E60B0}" type="pres">
      <dgm:prSet presAssocID="{96A654AD-AEB9-4134-A484-EC654CFC5ECA}" presName="chevron1" presStyleLbl="alignNode1" presStyleIdx="7" presStyleCnt="21"/>
      <dgm:spPr/>
    </dgm:pt>
    <dgm:pt modelId="{238EA064-9EFC-484B-884D-C6A86D4C4773}" type="pres">
      <dgm:prSet presAssocID="{96A654AD-AEB9-4134-A484-EC654CFC5ECA}" presName="chevron2" presStyleLbl="alignNode1" presStyleIdx="8" presStyleCnt="21"/>
      <dgm:spPr/>
    </dgm:pt>
    <dgm:pt modelId="{DCB71C96-21DD-47FF-9792-07753A809C15}" type="pres">
      <dgm:prSet presAssocID="{96A654AD-AEB9-4134-A484-EC654CFC5ECA}" presName="chevron3" presStyleLbl="alignNode1" presStyleIdx="9" presStyleCnt="21"/>
      <dgm:spPr/>
    </dgm:pt>
    <dgm:pt modelId="{52C55B78-7B7D-4080-B4A6-9C4E18499B0B}" type="pres">
      <dgm:prSet presAssocID="{96A654AD-AEB9-4134-A484-EC654CFC5ECA}" presName="chevron4" presStyleLbl="alignNode1" presStyleIdx="10" presStyleCnt="21"/>
      <dgm:spPr/>
    </dgm:pt>
    <dgm:pt modelId="{D1E50F23-1A6C-4D2A-B9FF-EE52568CE749}" type="pres">
      <dgm:prSet presAssocID="{96A654AD-AEB9-4134-A484-EC654CFC5ECA}" presName="chevron5" presStyleLbl="alignNode1" presStyleIdx="11" presStyleCnt="21"/>
      <dgm:spPr/>
    </dgm:pt>
    <dgm:pt modelId="{4B2E5AF2-8A92-43D6-AC47-46D75A1D5665}" type="pres">
      <dgm:prSet presAssocID="{96A654AD-AEB9-4134-A484-EC654CFC5ECA}" presName="chevron6" presStyleLbl="alignNode1" presStyleIdx="12" presStyleCnt="21"/>
      <dgm:spPr/>
    </dgm:pt>
    <dgm:pt modelId="{5E825400-9CC1-4434-9D48-1F08AE316075}" type="pres">
      <dgm:prSet presAssocID="{96A654AD-AEB9-4134-A484-EC654CFC5ECA}" presName="chevron7" presStyleLbl="alignNode1" presStyleIdx="13" presStyleCnt="21"/>
      <dgm:spPr/>
    </dgm:pt>
    <dgm:pt modelId="{66D285A8-20AE-4C59-96B1-DCA05DC1DEA3}" type="pres">
      <dgm:prSet presAssocID="{96A654AD-AEB9-4134-A484-EC654CFC5ECA}" presName="childtext" presStyleLbl="solidFgAcc1" presStyleIdx="1" presStyleCnt="3">
        <dgm:presLayoutVars>
          <dgm:chMax/>
          <dgm:chPref val="0"/>
          <dgm:bulletEnabled val="1"/>
        </dgm:presLayoutVars>
      </dgm:prSet>
      <dgm:spPr/>
      <dgm:t>
        <a:bodyPr/>
        <a:lstStyle/>
        <a:p>
          <a:endParaRPr lang="zh-CN" altLang="en-US"/>
        </a:p>
      </dgm:t>
    </dgm:pt>
    <dgm:pt modelId="{15D58BA2-BD2C-475F-83F6-53A0D0648481}" type="pres">
      <dgm:prSet presAssocID="{AA23F65D-98D4-4C65-A936-72F65DA6BDC1}" presName="sibTrans" presStyleCnt="0"/>
      <dgm:spPr/>
    </dgm:pt>
    <dgm:pt modelId="{37419D56-EA04-468C-A431-C4614685482A}" type="pres">
      <dgm:prSet presAssocID="{12B819ED-B87A-4A9C-853F-C621D647355A}" presName="parenttextcomposite" presStyleCnt="0"/>
      <dgm:spPr/>
    </dgm:pt>
    <dgm:pt modelId="{13A6DA73-B2B9-478B-A77D-21AFFD71C149}" type="pres">
      <dgm:prSet presAssocID="{12B819ED-B87A-4A9C-853F-C621D647355A}" presName="parenttext" presStyleLbl="revTx" presStyleIdx="2" presStyleCnt="3">
        <dgm:presLayoutVars>
          <dgm:chMax/>
          <dgm:chPref val="2"/>
          <dgm:bulletEnabled val="1"/>
        </dgm:presLayoutVars>
      </dgm:prSet>
      <dgm:spPr/>
      <dgm:t>
        <a:bodyPr/>
        <a:lstStyle/>
        <a:p>
          <a:endParaRPr lang="zh-CN" altLang="en-US"/>
        </a:p>
      </dgm:t>
    </dgm:pt>
    <dgm:pt modelId="{6731E8A5-E05A-49B4-9CB4-BDC26FF6E5EE}" type="pres">
      <dgm:prSet presAssocID="{12B819ED-B87A-4A9C-853F-C621D647355A}" presName="composite" presStyleCnt="0"/>
      <dgm:spPr/>
    </dgm:pt>
    <dgm:pt modelId="{1B582422-A317-4090-94E0-CEB89CED4B19}" type="pres">
      <dgm:prSet presAssocID="{12B819ED-B87A-4A9C-853F-C621D647355A}" presName="chevron1" presStyleLbl="alignNode1" presStyleIdx="14" presStyleCnt="21"/>
      <dgm:spPr/>
    </dgm:pt>
    <dgm:pt modelId="{CBE3B921-1FAB-4109-9F09-023922D31715}" type="pres">
      <dgm:prSet presAssocID="{12B819ED-B87A-4A9C-853F-C621D647355A}" presName="chevron2" presStyleLbl="alignNode1" presStyleIdx="15" presStyleCnt="21"/>
      <dgm:spPr/>
    </dgm:pt>
    <dgm:pt modelId="{B6573855-7D95-4C55-8B7B-83CCABAAFF36}" type="pres">
      <dgm:prSet presAssocID="{12B819ED-B87A-4A9C-853F-C621D647355A}" presName="chevron3" presStyleLbl="alignNode1" presStyleIdx="16" presStyleCnt="21"/>
      <dgm:spPr/>
    </dgm:pt>
    <dgm:pt modelId="{E786AFAB-DC9C-44E8-BC62-6488CF92D575}" type="pres">
      <dgm:prSet presAssocID="{12B819ED-B87A-4A9C-853F-C621D647355A}" presName="chevron4" presStyleLbl="alignNode1" presStyleIdx="17" presStyleCnt="21"/>
      <dgm:spPr/>
    </dgm:pt>
    <dgm:pt modelId="{9DFF1C05-7536-4EF8-AC79-FC282DF9E22C}" type="pres">
      <dgm:prSet presAssocID="{12B819ED-B87A-4A9C-853F-C621D647355A}" presName="chevron5" presStyleLbl="alignNode1" presStyleIdx="18" presStyleCnt="21"/>
      <dgm:spPr/>
    </dgm:pt>
    <dgm:pt modelId="{EE027502-DFC3-4694-9B68-880A0F97E0D9}" type="pres">
      <dgm:prSet presAssocID="{12B819ED-B87A-4A9C-853F-C621D647355A}" presName="chevron6" presStyleLbl="alignNode1" presStyleIdx="19" presStyleCnt="21"/>
      <dgm:spPr/>
    </dgm:pt>
    <dgm:pt modelId="{FF7C005D-3638-48D1-A1D0-3B2F31ED6541}" type="pres">
      <dgm:prSet presAssocID="{12B819ED-B87A-4A9C-853F-C621D647355A}" presName="chevron7" presStyleLbl="alignNode1" presStyleIdx="20" presStyleCnt="21"/>
      <dgm:spPr/>
    </dgm:pt>
    <dgm:pt modelId="{4E7D0C78-E5CC-45EE-8894-E90FA67CAB3F}" type="pres">
      <dgm:prSet presAssocID="{12B819ED-B87A-4A9C-853F-C621D647355A}" presName="childtext" presStyleLbl="solidFgAcc1" presStyleIdx="2" presStyleCnt="3">
        <dgm:presLayoutVars>
          <dgm:chMax/>
          <dgm:chPref val="0"/>
          <dgm:bulletEnabled val="1"/>
        </dgm:presLayoutVars>
      </dgm:prSet>
      <dgm:spPr/>
      <dgm:t>
        <a:bodyPr/>
        <a:lstStyle/>
        <a:p>
          <a:endParaRPr lang="zh-CN" altLang="en-US"/>
        </a:p>
      </dgm:t>
    </dgm:pt>
  </dgm:ptLst>
  <dgm:cxnLst>
    <dgm:cxn modelId="{6F3AB020-094D-4C7A-BCA7-277BE371C467}" srcId="{46F42A5A-4176-4352-A5CB-EFDD2D9FD659}" destId="{96A654AD-AEB9-4134-A484-EC654CFC5ECA}" srcOrd="1" destOrd="0" parTransId="{362A7AD6-7D2B-44A4-819D-47826D0C9D4A}" sibTransId="{AA23F65D-98D4-4C65-A936-72F65DA6BDC1}"/>
    <dgm:cxn modelId="{FB8BA51C-D11C-41BC-8831-3A640716C3E6}" type="presOf" srcId="{96A654AD-AEB9-4134-A484-EC654CFC5ECA}" destId="{B75D6D9C-AE1C-49A9-A2C1-24BE499AD90D}" srcOrd="0" destOrd="0" presId="urn:microsoft.com/office/officeart/2008/layout/VerticalAccentList"/>
    <dgm:cxn modelId="{4D98594A-0010-418A-AC54-0BE597A14CF4}" type="presOf" srcId="{AD247F3C-8C6E-4DFB-807E-8E0BD8309A72}" destId="{4E7D0C78-E5CC-45EE-8894-E90FA67CAB3F}" srcOrd="0" destOrd="0" presId="urn:microsoft.com/office/officeart/2008/layout/VerticalAccentList"/>
    <dgm:cxn modelId="{F2B9F831-2534-470C-ADEA-B322D27DF832}" type="presOf" srcId="{8D5BC5E1-91DD-4FB2-B8D3-A68968938BE5}" destId="{B953C526-CAA8-46C3-9A56-CCE200020AD7}" srcOrd="0" destOrd="0" presId="urn:microsoft.com/office/officeart/2008/layout/VerticalAccentList"/>
    <dgm:cxn modelId="{DD543F58-CA3B-47F2-B574-A60E2321FF25}" srcId="{46F42A5A-4176-4352-A5CB-EFDD2D9FD659}" destId="{12B819ED-B87A-4A9C-853F-C621D647355A}" srcOrd="2" destOrd="0" parTransId="{A5ECFA9B-7CEF-4DED-9000-D7ED1BC46394}" sibTransId="{9B6C133B-C277-4B6B-AB57-E407CC72FAA5}"/>
    <dgm:cxn modelId="{CCD93456-5B9A-4E86-B4C0-CF15CC6DDC84}" srcId="{96A654AD-AEB9-4134-A484-EC654CFC5ECA}" destId="{1EF2C411-F727-4EDA-8A17-6A48A94CEB47}" srcOrd="0" destOrd="0" parTransId="{3683FF87-EACD-47B6-9F2B-CAB7DFCB59B5}" sibTransId="{266E66A6-F3D3-446E-823A-31BB86C0553A}"/>
    <dgm:cxn modelId="{0C83D1B9-35FB-4DB7-B75C-EC30397942F5}" type="presOf" srcId="{1EF2C411-F727-4EDA-8A17-6A48A94CEB47}" destId="{66D285A8-20AE-4C59-96B1-DCA05DC1DEA3}" srcOrd="0" destOrd="0" presId="urn:microsoft.com/office/officeart/2008/layout/VerticalAccentList"/>
    <dgm:cxn modelId="{C8BEF228-25E4-4F58-9C64-9B2BC6F2AB73}" srcId="{12B819ED-B87A-4A9C-853F-C621D647355A}" destId="{AD247F3C-8C6E-4DFB-807E-8E0BD8309A72}" srcOrd="0" destOrd="0" parTransId="{BFEFDAE3-5530-4405-8E0D-1DF0DA364837}" sibTransId="{87759688-BB76-4827-A7AE-6FDEB13B12F9}"/>
    <dgm:cxn modelId="{D07C6747-5D4B-41BF-AB28-D53505EBC430}" type="presOf" srcId="{B74AE352-E54A-4877-9FA6-44075F3A4BAA}" destId="{8D6071ED-DFD1-45AA-B699-55469B5E809A}" srcOrd="0" destOrd="0" presId="urn:microsoft.com/office/officeart/2008/layout/VerticalAccentList"/>
    <dgm:cxn modelId="{CFA2A4A7-971D-46C6-B2EB-CD3F07FB84CE}" srcId="{46F42A5A-4176-4352-A5CB-EFDD2D9FD659}" destId="{8D5BC5E1-91DD-4FB2-B8D3-A68968938BE5}" srcOrd="0" destOrd="0" parTransId="{9F2E5FE8-5B88-46D8-B6AF-0EE7A1831769}" sibTransId="{2EB0D983-30DF-4AF9-9A37-9ED0C61D745D}"/>
    <dgm:cxn modelId="{9F07636D-4058-436F-8617-3D3C15879623}" srcId="{8D5BC5E1-91DD-4FB2-B8D3-A68968938BE5}" destId="{B74AE352-E54A-4877-9FA6-44075F3A4BAA}" srcOrd="0" destOrd="0" parTransId="{006A851E-71DB-4FCB-9C22-73932A05D897}" sibTransId="{69B2CB19-F89F-4B58-A001-150833F1D199}"/>
    <dgm:cxn modelId="{093B3468-B3FB-46F5-9190-EEE6E1114B0A}" type="presOf" srcId="{46F42A5A-4176-4352-A5CB-EFDD2D9FD659}" destId="{FD95A8AB-13B7-480E-8106-E3A6502919F5}" srcOrd="0" destOrd="0" presId="urn:microsoft.com/office/officeart/2008/layout/VerticalAccentList"/>
    <dgm:cxn modelId="{A95DD610-7CE3-4B4B-9925-81B6F862DFE0}" type="presOf" srcId="{12B819ED-B87A-4A9C-853F-C621D647355A}" destId="{13A6DA73-B2B9-478B-A77D-21AFFD71C149}" srcOrd="0" destOrd="0" presId="urn:microsoft.com/office/officeart/2008/layout/VerticalAccentList"/>
    <dgm:cxn modelId="{245D8E1A-1A5A-4474-AE05-571EB70EEF5B}" type="presParOf" srcId="{FD95A8AB-13B7-480E-8106-E3A6502919F5}" destId="{2E6FFD80-7FDA-4DA9-A782-118CD60C7D4E}" srcOrd="0" destOrd="0" presId="urn:microsoft.com/office/officeart/2008/layout/VerticalAccentList"/>
    <dgm:cxn modelId="{31C06B5F-4FD7-4186-9DD6-E1B3A3EEEA36}" type="presParOf" srcId="{2E6FFD80-7FDA-4DA9-A782-118CD60C7D4E}" destId="{B953C526-CAA8-46C3-9A56-CCE200020AD7}" srcOrd="0" destOrd="0" presId="urn:microsoft.com/office/officeart/2008/layout/VerticalAccentList"/>
    <dgm:cxn modelId="{ECF4A40B-711D-4A3A-AC74-72FB2E1D9DB6}" type="presParOf" srcId="{FD95A8AB-13B7-480E-8106-E3A6502919F5}" destId="{63FD4012-DE82-4F0F-BD66-8BBA1B5941E6}" srcOrd="1" destOrd="0" presId="urn:microsoft.com/office/officeart/2008/layout/VerticalAccentList"/>
    <dgm:cxn modelId="{ACF5A105-73EC-4F3B-8F1F-92D09DC66DE6}" type="presParOf" srcId="{63FD4012-DE82-4F0F-BD66-8BBA1B5941E6}" destId="{0A0C5698-EB6A-4970-95CF-2B57FFAD02D4}" srcOrd="0" destOrd="0" presId="urn:microsoft.com/office/officeart/2008/layout/VerticalAccentList"/>
    <dgm:cxn modelId="{8B539F9A-F316-48C0-8726-F98557C3F9D0}" type="presParOf" srcId="{63FD4012-DE82-4F0F-BD66-8BBA1B5941E6}" destId="{A46B6148-296A-4565-96E9-5B30DDBBE9CD}" srcOrd="1" destOrd="0" presId="urn:microsoft.com/office/officeart/2008/layout/VerticalAccentList"/>
    <dgm:cxn modelId="{6A794303-D0FA-4A43-9FC9-B99B79EAA2DD}" type="presParOf" srcId="{63FD4012-DE82-4F0F-BD66-8BBA1B5941E6}" destId="{661A6981-B6B6-4393-8A71-8D46647131A8}" srcOrd="2" destOrd="0" presId="urn:microsoft.com/office/officeart/2008/layout/VerticalAccentList"/>
    <dgm:cxn modelId="{92ECB748-5EC8-40B9-B193-98D7B2038552}" type="presParOf" srcId="{63FD4012-DE82-4F0F-BD66-8BBA1B5941E6}" destId="{4472CD8A-21E1-47EB-B7F1-777F0F9A2F39}" srcOrd="3" destOrd="0" presId="urn:microsoft.com/office/officeart/2008/layout/VerticalAccentList"/>
    <dgm:cxn modelId="{A558A110-C58A-4B7F-9290-A6E73000EFA7}" type="presParOf" srcId="{63FD4012-DE82-4F0F-BD66-8BBA1B5941E6}" destId="{305B35BB-BAD5-4E7A-B7B7-4C5DC82CDB39}" srcOrd="4" destOrd="0" presId="urn:microsoft.com/office/officeart/2008/layout/VerticalAccentList"/>
    <dgm:cxn modelId="{A9196A90-AD49-4EEB-996C-7554FA8C769B}" type="presParOf" srcId="{63FD4012-DE82-4F0F-BD66-8BBA1B5941E6}" destId="{3C7C9069-444E-41A9-979E-A4B00F4F8109}" srcOrd="5" destOrd="0" presId="urn:microsoft.com/office/officeart/2008/layout/VerticalAccentList"/>
    <dgm:cxn modelId="{1AAC5415-A130-4059-B430-B5196700F4DD}" type="presParOf" srcId="{63FD4012-DE82-4F0F-BD66-8BBA1B5941E6}" destId="{5EFD970B-656E-456A-8C2D-1A92C0C04A7F}" srcOrd="6" destOrd="0" presId="urn:microsoft.com/office/officeart/2008/layout/VerticalAccentList"/>
    <dgm:cxn modelId="{2924A262-B533-4A10-87A0-293C252EFAD3}" type="presParOf" srcId="{63FD4012-DE82-4F0F-BD66-8BBA1B5941E6}" destId="{8D6071ED-DFD1-45AA-B699-55469B5E809A}" srcOrd="7" destOrd="0" presId="urn:microsoft.com/office/officeart/2008/layout/VerticalAccentList"/>
    <dgm:cxn modelId="{48602960-66D5-4C26-8B40-CCD85EC4477D}" type="presParOf" srcId="{FD95A8AB-13B7-480E-8106-E3A6502919F5}" destId="{DC9C933A-FACC-403C-9B18-7EDE7D3A0241}" srcOrd="2" destOrd="0" presId="urn:microsoft.com/office/officeart/2008/layout/VerticalAccentList"/>
    <dgm:cxn modelId="{B0FF23E8-6978-424C-8759-5F213A169668}" type="presParOf" srcId="{FD95A8AB-13B7-480E-8106-E3A6502919F5}" destId="{D046D2AD-2B32-4418-9254-72058F6E7C60}" srcOrd="3" destOrd="0" presId="urn:microsoft.com/office/officeart/2008/layout/VerticalAccentList"/>
    <dgm:cxn modelId="{24CFD6F2-B506-44D3-9907-EC7A75CD93D2}" type="presParOf" srcId="{D046D2AD-2B32-4418-9254-72058F6E7C60}" destId="{B75D6D9C-AE1C-49A9-A2C1-24BE499AD90D}" srcOrd="0" destOrd="0" presId="urn:microsoft.com/office/officeart/2008/layout/VerticalAccentList"/>
    <dgm:cxn modelId="{0C8AD995-3359-4C02-BB31-CF964FA8EA3B}" type="presParOf" srcId="{FD95A8AB-13B7-480E-8106-E3A6502919F5}" destId="{3D0ED50D-8B5B-4FE7-9877-571BF38799F1}" srcOrd="4" destOrd="0" presId="urn:microsoft.com/office/officeart/2008/layout/VerticalAccentList"/>
    <dgm:cxn modelId="{F107738F-60F8-49D6-B17A-B05F035B79AD}" type="presParOf" srcId="{3D0ED50D-8B5B-4FE7-9877-571BF38799F1}" destId="{F037E89F-2DFD-42B9-AC3C-4689178E60B0}" srcOrd="0" destOrd="0" presId="urn:microsoft.com/office/officeart/2008/layout/VerticalAccentList"/>
    <dgm:cxn modelId="{420830D5-8474-4D9F-93F3-1B7AB3B8C087}" type="presParOf" srcId="{3D0ED50D-8B5B-4FE7-9877-571BF38799F1}" destId="{238EA064-9EFC-484B-884D-C6A86D4C4773}" srcOrd="1" destOrd="0" presId="urn:microsoft.com/office/officeart/2008/layout/VerticalAccentList"/>
    <dgm:cxn modelId="{13617933-EEA6-4A22-A92C-2D9EF8103D43}" type="presParOf" srcId="{3D0ED50D-8B5B-4FE7-9877-571BF38799F1}" destId="{DCB71C96-21DD-47FF-9792-07753A809C15}" srcOrd="2" destOrd="0" presId="urn:microsoft.com/office/officeart/2008/layout/VerticalAccentList"/>
    <dgm:cxn modelId="{AE853028-AF21-4109-9FA5-A5A52FB59F0D}" type="presParOf" srcId="{3D0ED50D-8B5B-4FE7-9877-571BF38799F1}" destId="{52C55B78-7B7D-4080-B4A6-9C4E18499B0B}" srcOrd="3" destOrd="0" presId="urn:microsoft.com/office/officeart/2008/layout/VerticalAccentList"/>
    <dgm:cxn modelId="{DB2C27AC-DEED-4AA0-8D44-D840E6A9F3F1}" type="presParOf" srcId="{3D0ED50D-8B5B-4FE7-9877-571BF38799F1}" destId="{D1E50F23-1A6C-4D2A-B9FF-EE52568CE749}" srcOrd="4" destOrd="0" presId="urn:microsoft.com/office/officeart/2008/layout/VerticalAccentList"/>
    <dgm:cxn modelId="{191354C3-E748-4E12-87DA-D7CB6BB7BDAE}" type="presParOf" srcId="{3D0ED50D-8B5B-4FE7-9877-571BF38799F1}" destId="{4B2E5AF2-8A92-43D6-AC47-46D75A1D5665}" srcOrd="5" destOrd="0" presId="urn:microsoft.com/office/officeart/2008/layout/VerticalAccentList"/>
    <dgm:cxn modelId="{35B67069-9268-49D8-9A3A-722EA8A4BFD1}" type="presParOf" srcId="{3D0ED50D-8B5B-4FE7-9877-571BF38799F1}" destId="{5E825400-9CC1-4434-9D48-1F08AE316075}" srcOrd="6" destOrd="0" presId="urn:microsoft.com/office/officeart/2008/layout/VerticalAccentList"/>
    <dgm:cxn modelId="{0BAA8243-2FF9-4FDF-9D42-5842BB8E28AC}" type="presParOf" srcId="{3D0ED50D-8B5B-4FE7-9877-571BF38799F1}" destId="{66D285A8-20AE-4C59-96B1-DCA05DC1DEA3}" srcOrd="7" destOrd="0" presId="urn:microsoft.com/office/officeart/2008/layout/VerticalAccentList"/>
    <dgm:cxn modelId="{7B398E37-74C4-4805-8D2E-3D6538E2DFD3}" type="presParOf" srcId="{FD95A8AB-13B7-480E-8106-E3A6502919F5}" destId="{15D58BA2-BD2C-475F-83F6-53A0D0648481}" srcOrd="5" destOrd="0" presId="urn:microsoft.com/office/officeart/2008/layout/VerticalAccentList"/>
    <dgm:cxn modelId="{65C95C3D-5F0E-44AF-8D3E-AABBF8B6A747}" type="presParOf" srcId="{FD95A8AB-13B7-480E-8106-E3A6502919F5}" destId="{37419D56-EA04-468C-A431-C4614685482A}" srcOrd="6" destOrd="0" presId="urn:microsoft.com/office/officeart/2008/layout/VerticalAccentList"/>
    <dgm:cxn modelId="{021DBC68-9798-4B90-976E-4074F51BBF9B}" type="presParOf" srcId="{37419D56-EA04-468C-A431-C4614685482A}" destId="{13A6DA73-B2B9-478B-A77D-21AFFD71C149}" srcOrd="0" destOrd="0" presId="urn:microsoft.com/office/officeart/2008/layout/VerticalAccentList"/>
    <dgm:cxn modelId="{4004AA07-F59A-4DF6-80AF-44D00490722D}" type="presParOf" srcId="{FD95A8AB-13B7-480E-8106-E3A6502919F5}" destId="{6731E8A5-E05A-49B4-9CB4-BDC26FF6E5EE}" srcOrd="7" destOrd="0" presId="urn:microsoft.com/office/officeart/2008/layout/VerticalAccentList"/>
    <dgm:cxn modelId="{C45D9A64-9726-45AA-ABBD-01C7B5B0F0C8}" type="presParOf" srcId="{6731E8A5-E05A-49B4-9CB4-BDC26FF6E5EE}" destId="{1B582422-A317-4090-94E0-CEB89CED4B19}" srcOrd="0" destOrd="0" presId="urn:microsoft.com/office/officeart/2008/layout/VerticalAccentList"/>
    <dgm:cxn modelId="{778ADD43-498E-4445-9CFB-2B93C2EAF4FA}" type="presParOf" srcId="{6731E8A5-E05A-49B4-9CB4-BDC26FF6E5EE}" destId="{CBE3B921-1FAB-4109-9F09-023922D31715}" srcOrd="1" destOrd="0" presId="urn:microsoft.com/office/officeart/2008/layout/VerticalAccentList"/>
    <dgm:cxn modelId="{F2B8311F-8C99-4CAA-9C44-0A1D81A0F378}" type="presParOf" srcId="{6731E8A5-E05A-49B4-9CB4-BDC26FF6E5EE}" destId="{B6573855-7D95-4C55-8B7B-83CCABAAFF36}" srcOrd="2" destOrd="0" presId="urn:microsoft.com/office/officeart/2008/layout/VerticalAccentList"/>
    <dgm:cxn modelId="{2EB9F1BE-957F-4D71-8836-915394012D4F}" type="presParOf" srcId="{6731E8A5-E05A-49B4-9CB4-BDC26FF6E5EE}" destId="{E786AFAB-DC9C-44E8-BC62-6488CF92D575}" srcOrd="3" destOrd="0" presId="urn:microsoft.com/office/officeart/2008/layout/VerticalAccentList"/>
    <dgm:cxn modelId="{3638F3CD-D2AC-40A2-823D-3828D72DFAA3}" type="presParOf" srcId="{6731E8A5-E05A-49B4-9CB4-BDC26FF6E5EE}" destId="{9DFF1C05-7536-4EF8-AC79-FC282DF9E22C}" srcOrd="4" destOrd="0" presId="urn:microsoft.com/office/officeart/2008/layout/VerticalAccentList"/>
    <dgm:cxn modelId="{9BBC146C-3764-4A34-AE0D-9AB493A00707}" type="presParOf" srcId="{6731E8A5-E05A-49B4-9CB4-BDC26FF6E5EE}" destId="{EE027502-DFC3-4694-9B68-880A0F97E0D9}" srcOrd="5" destOrd="0" presId="urn:microsoft.com/office/officeart/2008/layout/VerticalAccentList"/>
    <dgm:cxn modelId="{7519BE15-F497-41D3-BBC7-23E89EB01A81}" type="presParOf" srcId="{6731E8A5-E05A-49B4-9CB4-BDC26FF6E5EE}" destId="{FF7C005D-3638-48D1-A1D0-3B2F31ED6541}" srcOrd="6" destOrd="0" presId="urn:microsoft.com/office/officeart/2008/layout/VerticalAccentList"/>
    <dgm:cxn modelId="{8C44350C-7FF0-4301-8CA5-22BBFE0674F9}" type="presParOf" srcId="{6731E8A5-E05A-49B4-9CB4-BDC26FF6E5EE}" destId="{4E7D0C78-E5CC-45EE-8894-E90FA67CAB3F}" srcOrd="7" destOrd="0" presId="urn:microsoft.com/office/officeart/2008/layout/VerticalAccent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08912" cy="5156352"/>
        <a:chOff x="0" y="0"/>
        <a:chExt cx="8208912" cy="5156352"/>
      </a:xfrm>
    </dsp:grpSpPr>
    <dsp:sp modelId="{A694EB45-2770-4520-A848-1CA34FB93CF4}">
      <dsp:nvSpPr>
        <dsp:cNvPr id="3" name="椭圆 2"/>
        <dsp:cNvSpPr/>
      </dsp:nvSpPr>
      <dsp:spPr bwMode="white">
        <a:xfrm>
          <a:off x="1532459" y="738660"/>
          <a:ext cx="4413932" cy="4413837"/>
        </a:xfrm>
        <a:prstGeom prst="ellipse">
          <a:avLst/>
        </a:prstGeom>
      </dsp:spPr>
      <dsp:style>
        <a:lnRef idx="0">
          <a:schemeClr val="lt1"/>
        </a:lnRef>
        <a:fillRef idx="3">
          <a:schemeClr val="accent1"/>
        </a:fillRef>
        <a:effectRef idx="3">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森林（</a:t>
          </a:r>
          <a: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Forest</a:t>
          </a: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sp:txBody>
      <dsp:txXfrm>
        <a:off x="1532459" y="738660"/>
        <a:ext cx="4413932" cy="4413837"/>
      </dsp:txXfrm>
    </dsp:sp>
    <dsp:sp modelId="{0AC59BD7-BC9C-4326-9B72-6D59BF6E6BBA}">
      <dsp:nvSpPr>
        <dsp:cNvPr id="4" name="椭圆 3"/>
        <dsp:cNvSpPr/>
      </dsp:nvSpPr>
      <dsp:spPr bwMode="white">
        <a:xfrm>
          <a:off x="4066695" y="518168"/>
          <a:ext cx="490893" cy="490885"/>
        </a:xfrm>
        <a:prstGeom prst="ellipse">
          <a:avLst/>
        </a:prstGeom>
      </dsp:spPr>
      <dsp:style>
        <a:lnRef idx="0">
          <a:schemeClr val="lt1"/>
        </a:lnRef>
        <a:fillRef idx="3">
          <a:schemeClr val="accent2"/>
        </a:fillRef>
        <a:effectRef idx="3">
          <a:scrgbClr r="0" g="0" b="0"/>
        </a:effectRef>
        <a:fontRef idx="minor">
          <a:schemeClr val="lt1"/>
        </a:fontRef>
      </dsp:style>
      <dsp:txXfrm>
        <a:off x="4066695" y="518168"/>
        <a:ext cx="490893" cy="490885"/>
      </dsp:txXfrm>
    </dsp:sp>
    <dsp:sp modelId="{DE6CA954-DA17-435F-9776-699868884AD6}">
      <dsp:nvSpPr>
        <dsp:cNvPr id="5" name="椭圆 4"/>
        <dsp:cNvSpPr/>
      </dsp:nvSpPr>
      <dsp:spPr bwMode="white">
        <a:xfrm>
          <a:off x="2904313" y="4805159"/>
          <a:ext cx="355446" cy="355788"/>
        </a:xfrm>
        <a:prstGeom prst="ellipse">
          <a:avLst/>
        </a:prstGeom>
      </dsp:spPr>
      <dsp:style>
        <a:lnRef idx="0">
          <a:schemeClr val="lt1"/>
        </a:lnRef>
        <a:fillRef idx="3">
          <a:schemeClr val="accent3"/>
        </a:fillRef>
        <a:effectRef idx="3">
          <a:scrgbClr r="0" g="0" b="0"/>
        </a:effectRef>
        <a:fontRef idx="minor">
          <a:schemeClr val="lt1"/>
        </a:fontRef>
      </dsp:style>
      <dsp:txXfrm>
        <a:off x="2904313" y="4805159"/>
        <a:ext cx="355446" cy="355788"/>
      </dsp:txXfrm>
    </dsp:sp>
    <dsp:sp modelId="{E378153B-E589-4898-8BC6-0993C5BEC52F}">
      <dsp:nvSpPr>
        <dsp:cNvPr id="6" name="椭圆 5"/>
        <dsp:cNvSpPr/>
      </dsp:nvSpPr>
      <dsp:spPr bwMode="white">
        <a:xfrm>
          <a:off x="6246161" y="2510582"/>
          <a:ext cx="355446" cy="355788"/>
        </a:xfrm>
        <a:prstGeom prst="ellipse">
          <a:avLst/>
        </a:prstGeom>
      </dsp:spPr>
      <dsp:style>
        <a:lnRef idx="0">
          <a:schemeClr val="lt1"/>
        </a:lnRef>
        <a:fillRef idx="3">
          <a:schemeClr val="accent4"/>
        </a:fillRef>
        <a:effectRef idx="3">
          <a:scrgbClr r="0" g="0" b="0"/>
        </a:effectRef>
        <a:fontRef idx="minor">
          <a:schemeClr val="lt1"/>
        </a:fontRef>
      </dsp:style>
      <dsp:txXfrm>
        <a:off x="6246161" y="2510582"/>
        <a:ext cx="355446" cy="355788"/>
      </dsp:txXfrm>
    </dsp:sp>
    <dsp:sp modelId="{C9F2E59A-3C1E-4C5F-8DB9-DB790DD8A966}">
      <dsp:nvSpPr>
        <dsp:cNvPr id="7" name="椭圆 6"/>
        <dsp:cNvSpPr/>
      </dsp:nvSpPr>
      <dsp:spPr bwMode="white">
        <a:xfrm>
          <a:off x="4545275" y="5183635"/>
          <a:ext cx="490893" cy="490885"/>
        </a:xfrm>
        <a:prstGeom prst="ellipse">
          <a:avLst/>
        </a:prstGeom>
      </dsp:spPr>
      <dsp:style>
        <a:lnRef idx="0">
          <a:schemeClr val="lt1"/>
        </a:lnRef>
        <a:fillRef idx="3">
          <a:schemeClr val="accent5"/>
        </a:fillRef>
        <a:effectRef idx="3">
          <a:scrgbClr r="0" g="0" b="0"/>
        </a:effectRef>
        <a:fontRef idx="minor">
          <a:schemeClr val="lt1"/>
        </a:fontRef>
      </dsp:style>
      <dsp:txXfrm>
        <a:off x="4545275" y="5183635"/>
        <a:ext cx="490893" cy="490885"/>
      </dsp:txXfrm>
    </dsp:sp>
    <dsp:sp modelId="{1AC7C940-04D3-4334-A86D-B1471DFAD545}">
      <dsp:nvSpPr>
        <dsp:cNvPr id="8" name="椭圆 7"/>
        <dsp:cNvSpPr/>
      </dsp:nvSpPr>
      <dsp:spPr bwMode="white">
        <a:xfrm>
          <a:off x="3384376" y="909962"/>
          <a:ext cx="355446" cy="355788"/>
        </a:xfrm>
        <a:prstGeom prst="ellipse">
          <a:avLst/>
        </a:prstGeom>
      </dsp:spPr>
      <dsp:style>
        <a:lnRef idx="0">
          <a:schemeClr val="lt1"/>
        </a:lnRef>
        <a:fillRef idx="3">
          <a:schemeClr val="accent6"/>
        </a:fillRef>
        <a:effectRef idx="3">
          <a:scrgbClr r="0" g="0" b="0"/>
        </a:effectRef>
        <a:fontRef idx="minor">
          <a:schemeClr val="lt1"/>
        </a:fontRef>
      </dsp:style>
      <dsp:txXfrm>
        <a:off x="3384376" y="909962"/>
        <a:ext cx="355446" cy="355788"/>
      </dsp:txXfrm>
    </dsp:sp>
    <dsp:sp modelId="{F46BA391-6F5F-401F-9C51-996F78DD5A03}">
      <dsp:nvSpPr>
        <dsp:cNvPr id="9" name="椭圆 8"/>
        <dsp:cNvSpPr/>
      </dsp:nvSpPr>
      <dsp:spPr bwMode="white">
        <a:xfrm>
          <a:off x="1884766" y="3251035"/>
          <a:ext cx="355446" cy="355788"/>
        </a:xfrm>
        <a:prstGeom prst="ellipse">
          <a:avLst/>
        </a:prstGeom>
      </dsp:spPr>
      <dsp:style>
        <a:lnRef idx="0">
          <a:schemeClr val="lt1"/>
        </a:lnRef>
        <a:fillRef idx="3">
          <a:schemeClr val="accent2"/>
        </a:fillRef>
        <a:effectRef idx="3">
          <a:scrgbClr r="0" g="0" b="0"/>
        </a:effectRef>
        <a:fontRef idx="minor">
          <a:schemeClr val="lt1"/>
        </a:fontRef>
      </dsp:style>
      <dsp:txXfrm>
        <a:off x="1884766" y="3251035"/>
        <a:ext cx="355446" cy="355788"/>
      </dsp:txXfrm>
    </dsp:sp>
    <dsp:sp modelId="{CD15D049-D71B-4800-B2D2-AAC2B85BA95C}">
      <dsp:nvSpPr>
        <dsp:cNvPr id="10" name="椭圆 9"/>
        <dsp:cNvSpPr/>
      </dsp:nvSpPr>
      <dsp:spPr bwMode="white">
        <a:xfrm>
          <a:off x="1368149" y="693942"/>
          <a:ext cx="1794468" cy="1793895"/>
        </a:xfrm>
        <a:prstGeom prst="ellipse">
          <a:avLst/>
        </a:prstGeom>
      </dsp:spPr>
      <dsp:style>
        <a:lnRef idx="0">
          <a:schemeClr val="lt1"/>
        </a:lnRef>
        <a:fillRef idx="3">
          <a:schemeClr val="accent3"/>
        </a:fillRef>
        <a:effectRef idx="3">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林分（</a:t>
          </a:r>
          <a: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stands</a:t>
          </a: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sp:txBody>
      <dsp:txXfrm>
        <a:off x="1368149" y="693942"/>
        <a:ext cx="1794468" cy="1793895"/>
      </dsp:txXfrm>
    </dsp:sp>
    <dsp:sp modelId="{8812AE93-563B-433F-9E35-E8BF32F4C755}">
      <dsp:nvSpPr>
        <dsp:cNvPr id="11" name="椭圆 10"/>
        <dsp:cNvSpPr/>
      </dsp:nvSpPr>
      <dsp:spPr bwMode="white">
        <a:xfrm>
          <a:off x="3960438" y="1414018"/>
          <a:ext cx="490893" cy="490885"/>
        </a:xfrm>
        <a:prstGeom prst="ellipse">
          <a:avLst/>
        </a:prstGeom>
      </dsp:spPr>
      <dsp:style>
        <a:lnRef idx="0">
          <a:schemeClr val="lt1"/>
        </a:lnRef>
        <a:fillRef idx="3">
          <a:schemeClr val="accent4"/>
        </a:fillRef>
        <a:effectRef idx="3">
          <a:scrgbClr r="0" g="0" b="0"/>
        </a:effectRef>
        <a:fontRef idx="minor">
          <a:schemeClr val="lt1"/>
        </a:fontRef>
      </dsp:style>
      <dsp:txXfrm>
        <a:off x="3960438" y="1414018"/>
        <a:ext cx="490893" cy="490885"/>
      </dsp:txXfrm>
    </dsp:sp>
    <dsp:sp modelId="{520D90E8-6BB6-4F78-B7F0-04C0C7192497}">
      <dsp:nvSpPr>
        <dsp:cNvPr id="12" name="椭圆 11"/>
        <dsp:cNvSpPr/>
      </dsp:nvSpPr>
      <dsp:spPr bwMode="white">
        <a:xfrm>
          <a:off x="337386" y="3835765"/>
          <a:ext cx="887383" cy="887408"/>
        </a:xfrm>
        <a:prstGeom prst="ellipse">
          <a:avLst/>
        </a:prstGeom>
      </dsp:spPr>
      <dsp:style>
        <a:lnRef idx="0">
          <a:schemeClr val="lt1"/>
        </a:lnRef>
        <a:fillRef idx="3">
          <a:schemeClr val="accent5"/>
        </a:fillRef>
        <a:effectRef idx="3">
          <a:scrgbClr r="0" g="0" b="0"/>
        </a:effectRef>
        <a:fontRef idx="minor">
          <a:schemeClr val="lt1"/>
        </a:fontRef>
      </dsp:style>
      <dsp:txXfrm>
        <a:off x="337386" y="3835765"/>
        <a:ext cx="887383" cy="887408"/>
      </dsp:txXfrm>
    </dsp:sp>
    <dsp:sp modelId="{C43C2E45-0633-4DB2-A9FC-20A826991DAA}">
      <dsp:nvSpPr>
        <dsp:cNvPr id="13" name="椭圆 12"/>
        <dsp:cNvSpPr/>
      </dsp:nvSpPr>
      <dsp:spPr bwMode="white">
        <a:xfrm>
          <a:off x="4104479" y="3286232"/>
          <a:ext cx="1794468" cy="1793895"/>
        </a:xfrm>
        <a:prstGeom prst="ellipse">
          <a:avLst/>
        </a:prstGeom>
      </dsp:spPr>
      <dsp:style>
        <a:lnRef idx="0">
          <a:schemeClr val="lt1"/>
        </a:lnRef>
        <a:fillRef idx="3">
          <a:schemeClr val="accent6"/>
        </a:fillRef>
        <a:effectRef idx="3">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林分（</a:t>
          </a:r>
          <a: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stands</a:t>
          </a:r>
          <a:r>
            <a:rPr lang="zh-CN" altLang="en-US"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endParaRPr lang="zh-CN" altLang="en-US"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dsp:txBody>
      <dsp:txXfrm>
        <a:off x="4104479" y="3286232"/>
        <a:ext cx="1794468" cy="1793895"/>
      </dsp:txXfrm>
    </dsp:sp>
    <dsp:sp modelId="{EFB2B4D4-9156-41C9-8C9C-6DF3A86EACBC}">
      <dsp:nvSpPr>
        <dsp:cNvPr id="14" name="椭圆 13"/>
        <dsp:cNvSpPr/>
      </dsp:nvSpPr>
      <dsp:spPr bwMode="white">
        <a:xfrm>
          <a:off x="5614075" y="1910383"/>
          <a:ext cx="490893" cy="490885"/>
        </a:xfrm>
        <a:prstGeom prst="ellipse">
          <a:avLst/>
        </a:prstGeom>
      </dsp:spPr>
      <dsp:style>
        <a:lnRef idx="0">
          <a:schemeClr val="lt1"/>
        </a:lnRef>
        <a:fillRef idx="3">
          <a:schemeClr val="accent2"/>
        </a:fillRef>
        <a:effectRef idx="3">
          <a:scrgbClr r="0" g="0" b="0"/>
        </a:effectRef>
        <a:fontRef idx="minor">
          <a:schemeClr val="lt1"/>
        </a:fontRef>
      </dsp:style>
      <dsp:txXfrm>
        <a:off x="5614075" y="1910383"/>
        <a:ext cx="490893" cy="490885"/>
      </dsp:txXfrm>
    </dsp:sp>
    <dsp:sp modelId="{CF44EB1C-1A60-498A-B9F2-A7A6810A4318}">
      <dsp:nvSpPr>
        <dsp:cNvPr id="15" name="椭圆 14"/>
        <dsp:cNvSpPr/>
      </dsp:nvSpPr>
      <dsp:spPr bwMode="white">
        <a:xfrm>
          <a:off x="0" y="4891786"/>
          <a:ext cx="355446" cy="355788"/>
        </a:xfrm>
        <a:prstGeom prst="ellipse">
          <a:avLst/>
        </a:prstGeom>
      </dsp:spPr>
      <dsp:style>
        <a:lnRef idx="0">
          <a:schemeClr val="lt1"/>
        </a:lnRef>
        <a:fillRef idx="3">
          <a:schemeClr val="accent3"/>
        </a:fillRef>
        <a:effectRef idx="3">
          <a:scrgbClr r="0" g="0" b="0"/>
        </a:effectRef>
        <a:fontRef idx="minor">
          <a:schemeClr val="lt1"/>
        </a:fontRef>
      </dsp:style>
      <dsp:txXfrm>
        <a:off x="0" y="4891786"/>
        <a:ext cx="355446" cy="355788"/>
      </dsp:txXfrm>
    </dsp:sp>
    <dsp:sp modelId="{A45865C2-0C87-46D6-8A0C-88CC5CF23255}">
      <dsp:nvSpPr>
        <dsp:cNvPr id="16" name="椭圆 15"/>
        <dsp:cNvSpPr/>
      </dsp:nvSpPr>
      <dsp:spPr bwMode="white">
        <a:xfrm>
          <a:off x="2339117" y="3901635"/>
          <a:ext cx="355446" cy="355788"/>
        </a:xfrm>
        <a:prstGeom prst="ellipse">
          <a:avLst/>
        </a:prstGeom>
      </dsp:spPr>
      <dsp:style>
        <a:lnRef idx="0">
          <a:schemeClr val="lt1"/>
        </a:lnRef>
        <a:fillRef idx="3">
          <a:schemeClr val="accent4"/>
        </a:fillRef>
        <a:effectRef idx="3">
          <a:scrgbClr r="0" g="0" b="0"/>
        </a:effectRef>
        <a:fontRef idx="minor">
          <a:schemeClr val="lt1"/>
        </a:fontRef>
      </dsp:style>
      <dsp:txXfrm>
        <a:off x="2339117" y="3901635"/>
        <a:ext cx="355446" cy="355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80400" cy="4608513"/>
        <a:chOff x="0" y="0"/>
        <a:chExt cx="8280400" cy="4608513"/>
      </a:xfrm>
    </dsp:grpSpPr>
    <dsp:sp modelId="{3B4D1268-C323-46E4-928D-E945BAED4862}">
      <dsp:nvSpPr>
        <dsp:cNvPr id="3" name="圆角矩形 2"/>
        <dsp:cNvSpPr/>
      </dsp:nvSpPr>
      <dsp:spPr bwMode="white">
        <a:xfrm>
          <a:off x="0" y="0"/>
          <a:ext cx="6375908" cy="829532"/>
        </a:xfrm>
        <a:prstGeom prst="roundRect">
          <a:avLst>
            <a:gd name="adj" fmla="val 10000"/>
          </a:avLst>
        </a:prstGeom>
      </dsp:spPr>
      <dsp:style>
        <a:lnRef idx="0">
          <a:schemeClr val="lt1"/>
        </a:lnRef>
        <a:fillRef idx="3">
          <a:schemeClr val="accent5">
            <a:hueOff val="0"/>
            <a:satOff val="0"/>
            <a:lumOff val="0"/>
            <a:alpha val="100000"/>
          </a:schemeClr>
        </a:fillRef>
        <a:effectRef idx="3">
          <a:scrgbClr r="0" g="0" b="0"/>
        </a:effectRef>
        <a:fontRef idx="minor">
          <a:schemeClr val="lt1"/>
        </a:fontRef>
      </dsp:style>
      <dsp:txBody>
        <a:bodyPr lIns="129539" tIns="129539" rIns="129539" bIns="129539" anchor="ctr">
          <a:sp3d extrusionH="57150">
            <a:bevelT w="38100" h="38100" prst="relaxedInset"/>
          </a:sp3d>
        </a:bodyPr>
        <a:lstStyle>
          <a:lvl1pPr algn="l">
            <a:defRPr sz="34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pPr lvl="0">
            <a:lnSpc>
              <a:spcPct val="100000"/>
            </a:lnSpc>
            <a:spcBef>
              <a:spcPct val="0"/>
            </a:spcBef>
            <a:spcAft>
              <a:spcPct val="35000"/>
            </a:spcAft>
          </a:pPr>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经营取向不同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0" y="0"/>
        <a:ext cx="6375908" cy="829532"/>
      </dsp:txXfrm>
    </dsp:sp>
    <dsp:sp modelId="{1B93CCF0-D490-4ECF-8FA8-9DA243EC03E1}">
      <dsp:nvSpPr>
        <dsp:cNvPr id="4" name="圆角矩形 3"/>
        <dsp:cNvSpPr/>
      </dsp:nvSpPr>
      <dsp:spPr bwMode="white">
        <a:xfrm>
          <a:off x="476123" y="944745"/>
          <a:ext cx="6375908" cy="829532"/>
        </a:xfrm>
        <a:prstGeom prst="roundRect">
          <a:avLst>
            <a:gd name="adj" fmla="val 10000"/>
          </a:avLst>
        </a:prstGeom>
      </dsp:spPr>
      <dsp:style>
        <a:lnRef idx="0">
          <a:schemeClr val="lt1"/>
        </a:lnRef>
        <a:fillRef idx="3">
          <a:schemeClr val="accent5">
            <a:hueOff val="-2475000"/>
            <a:satOff val="10000"/>
            <a:lumOff val="2157"/>
            <a:alpha val="100000"/>
          </a:schemeClr>
        </a:fillRef>
        <a:effectRef idx="3">
          <a:scrgbClr r="0" g="0" b="0"/>
        </a:effectRef>
        <a:fontRef idx="minor">
          <a:schemeClr val="lt1"/>
        </a:fontRef>
      </dsp:style>
      <dsp:txBody>
        <a:bodyPr lIns="129539" tIns="129539" rIns="129539" bIns="129539" anchor="ctr">
          <a:sp3d extrusionH="57150">
            <a:bevelT w="38100" h="38100" prst="relaxedInset"/>
          </a:sp3d>
        </a:bodyPr>
        <a:lstStyle>
          <a:lvl1pPr algn="l">
            <a:defRPr sz="34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pPr lvl="0">
            <a:lnSpc>
              <a:spcPct val="100000"/>
            </a:lnSpc>
            <a:spcBef>
              <a:spcPct val="0"/>
            </a:spcBef>
            <a:spcAft>
              <a:spcPct val="35000"/>
            </a:spcAft>
          </a:pPr>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核心理论不同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476123" y="944745"/>
        <a:ext cx="6375908" cy="829532"/>
      </dsp:txXfrm>
    </dsp:sp>
    <dsp:sp modelId="{FE7E6F99-E5D3-44EA-9F77-9465166990A7}">
      <dsp:nvSpPr>
        <dsp:cNvPr id="5" name="圆角矩形 4"/>
        <dsp:cNvSpPr/>
      </dsp:nvSpPr>
      <dsp:spPr bwMode="white">
        <a:xfrm>
          <a:off x="952246" y="1889490"/>
          <a:ext cx="6375908" cy="829532"/>
        </a:xfrm>
        <a:prstGeom prst="roundRect">
          <a:avLst>
            <a:gd name="adj" fmla="val 10000"/>
          </a:avLst>
        </a:prstGeom>
      </dsp:spPr>
      <dsp:style>
        <a:lnRef idx="0">
          <a:schemeClr val="lt1"/>
        </a:lnRef>
        <a:fillRef idx="3">
          <a:schemeClr val="accent5">
            <a:hueOff val="-4950000"/>
            <a:satOff val="20000"/>
            <a:lumOff val="4314"/>
            <a:alpha val="100000"/>
          </a:schemeClr>
        </a:fillRef>
        <a:effectRef idx="3">
          <a:scrgbClr r="0" g="0" b="0"/>
        </a:effectRef>
        <a:fontRef idx="minor">
          <a:schemeClr val="lt1"/>
        </a:fontRef>
      </dsp:style>
      <dsp:txBody>
        <a:bodyPr lIns="129539" tIns="129539" rIns="129539" bIns="129539" anchor="ctr">
          <a:sp3d extrusionH="57150">
            <a:bevelT w="38100" h="38100" prst="relaxedInset"/>
          </a:sp3d>
        </a:bodyPr>
        <a:lstStyle>
          <a:lvl1pPr algn="l">
            <a:defRPr sz="34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pPr lvl="0">
            <a:lnSpc>
              <a:spcPct val="100000"/>
            </a:lnSpc>
            <a:spcBef>
              <a:spcPct val="0"/>
            </a:spcBef>
            <a:spcAft>
              <a:spcPct val="35000"/>
            </a:spcAft>
          </a:pPr>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技术保障体系不同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952246" y="1889490"/>
        <a:ext cx="6375908" cy="829532"/>
      </dsp:txXfrm>
    </dsp:sp>
    <dsp:sp modelId="{1B98866D-58BD-437D-ACA0-C518F5FBB307}">
      <dsp:nvSpPr>
        <dsp:cNvPr id="6" name="圆角矩形 5"/>
        <dsp:cNvSpPr/>
      </dsp:nvSpPr>
      <dsp:spPr bwMode="white">
        <a:xfrm>
          <a:off x="1428369" y="2834235"/>
          <a:ext cx="6375908" cy="829532"/>
        </a:xfrm>
        <a:prstGeom prst="roundRect">
          <a:avLst>
            <a:gd name="adj" fmla="val 10000"/>
          </a:avLst>
        </a:prstGeom>
      </dsp:spPr>
      <dsp:style>
        <a:lnRef idx="0">
          <a:schemeClr val="lt1"/>
        </a:lnRef>
        <a:fillRef idx="3">
          <a:schemeClr val="accent5">
            <a:hueOff val="-7425000"/>
            <a:satOff val="30000"/>
            <a:lumOff val="6471"/>
            <a:alpha val="100000"/>
          </a:schemeClr>
        </a:fillRef>
        <a:effectRef idx="3">
          <a:scrgbClr r="0" g="0" b="0"/>
        </a:effectRef>
        <a:fontRef idx="minor">
          <a:schemeClr val="lt1"/>
        </a:fontRef>
      </dsp:style>
      <dsp:txBody>
        <a:bodyPr lIns="129539" tIns="129539" rIns="129539" bIns="129539" anchor="ctr">
          <a:sp3d extrusionH="57150">
            <a:bevelT w="38100" h="38100" prst="relaxedInset"/>
          </a:sp3d>
        </a:bodyPr>
        <a:lstStyle>
          <a:lvl1pPr algn="l">
            <a:defRPr sz="34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pPr lvl="0">
            <a:lnSpc>
              <a:spcPct val="100000"/>
            </a:lnSpc>
            <a:spcBef>
              <a:spcPct val="0"/>
            </a:spcBef>
            <a:spcAft>
              <a:spcPct val="35000"/>
            </a:spcAft>
          </a:pPr>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评价尺度不同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1428369" y="2834235"/>
        <a:ext cx="6375908" cy="829532"/>
      </dsp:txXfrm>
    </dsp:sp>
    <dsp:sp modelId="{19F09A74-8D7B-4360-90C7-927DB1A03A2A}">
      <dsp:nvSpPr>
        <dsp:cNvPr id="7" name="圆角矩形 6"/>
        <dsp:cNvSpPr/>
      </dsp:nvSpPr>
      <dsp:spPr bwMode="white">
        <a:xfrm>
          <a:off x="1904492" y="3778981"/>
          <a:ext cx="6375908" cy="829532"/>
        </a:xfrm>
        <a:prstGeom prst="roundRect">
          <a:avLst>
            <a:gd name="adj" fmla="val 10000"/>
          </a:avLst>
        </a:prstGeom>
      </dsp:spPr>
      <dsp:style>
        <a:lnRef idx="0">
          <a:schemeClr val="lt1"/>
        </a:lnRef>
        <a:fillRef idx="3">
          <a:schemeClr val="accent5">
            <a:hueOff val="-9900000"/>
            <a:satOff val="40000"/>
            <a:lumOff val="8627"/>
            <a:alpha val="100000"/>
          </a:schemeClr>
        </a:fillRef>
        <a:effectRef idx="3">
          <a:scrgbClr r="0" g="0" b="0"/>
        </a:effectRef>
        <a:fontRef idx="minor">
          <a:schemeClr val="lt1"/>
        </a:fontRef>
      </dsp:style>
      <dsp:txBody>
        <a:bodyPr lIns="129539" tIns="129539" rIns="129539" bIns="129539" anchor="ctr">
          <a:sp3d extrusionH="57150">
            <a:bevelT w="38100" h="38100" prst="relaxedInset"/>
          </a:sp3d>
        </a:bodyPr>
        <a:lstStyle>
          <a:lvl1pPr algn="l">
            <a:defRPr sz="3400"/>
          </a:lvl1pPr>
          <a:lvl2pPr marL="228600" indent="-228600" algn="l">
            <a:defRPr sz="2600"/>
          </a:lvl2pPr>
          <a:lvl3pPr marL="457200" indent="-228600" algn="l">
            <a:defRPr sz="2600"/>
          </a:lvl3pPr>
          <a:lvl4pPr marL="685800" indent="-228600" algn="l">
            <a:defRPr sz="2600"/>
          </a:lvl4pPr>
          <a:lvl5pPr marL="914400" indent="-228600" algn="l">
            <a:defRPr sz="2600"/>
          </a:lvl5pPr>
          <a:lvl6pPr marL="1143000" indent="-228600" algn="l">
            <a:defRPr sz="2600"/>
          </a:lvl6pPr>
          <a:lvl7pPr marL="1371600" indent="-228600" algn="l">
            <a:defRPr sz="2600"/>
          </a:lvl7pPr>
          <a:lvl8pPr marL="1600200" indent="-228600" algn="l">
            <a:defRPr sz="2600"/>
          </a:lvl8pPr>
          <a:lvl9pPr marL="1828800" indent="-228600" algn="l">
            <a:defRPr sz="2600"/>
          </a:lvl9pPr>
        </a:lstStyle>
        <a:p>
          <a:pPr lvl="0">
            <a:lnSpc>
              <a:spcPct val="100000"/>
            </a:lnSpc>
            <a:spcBef>
              <a:spcPct val="0"/>
            </a:spcBef>
            <a:spcAft>
              <a:spcPct val="35000"/>
            </a:spcAft>
          </a:pPr>
          <a:r>
            <a:rPr lang="zh-CN" altLang="en-US" dirty="0" smtClean="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rPr>
            <a:t>空间操作尺度不同</a:t>
          </a:r>
          <a:endParaRPr lang="zh-CN" altLang="en-US" dirty="0">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1904492" y="3778981"/>
        <a:ext cx="6375908" cy="829532"/>
      </dsp:txXfrm>
    </dsp:sp>
    <dsp:sp modelId="{E3B93284-ED4B-4054-A9C8-168E1612820C}">
      <dsp:nvSpPr>
        <dsp:cNvPr id="8" name="下箭头 7"/>
        <dsp:cNvSpPr/>
      </dsp:nvSpPr>
      <dsp:spPr bwMode="white">
        <a:xfrm>
          <a:off x="5836712" y="606019"/>
          <a:ext cx="539196" cy="539196"/>
        </a:xfrm>
        <a:prstGeom prst="downArrow">
          <a:avLst>
            <a:gd name="adj1" fmla="val 55000"/>
            <a:gd name="adj2" fmla="val 45000"/>
          </a:avLst>
        </a:prstGeom>
      </dsp:spPr>
      <dsp:style>
        <a:lnRef idx="1">
          <a:schemeClr val="accent5">
            <a:tint val="40000"/>
            <a:alpha val="90000"/>
            <a:hueOff val="0"/>
            <a:satOff val="0"/>
            <a:lumOff val="0"/>
            <a:alpha val="90196"/>
          </a:schemeClr>
        </a:lnRef>
        <a:fillRef idx="1">
          <a:schemeClr val="accent5">
            <a:tint val="40000"/>
            <a:alpha val="90000"/>
            <a:hueOff val="0"/>
            <a:satOff val="0"/>
            <a:lumOff val="0"/>
            <a:alpha val="90196"/>
          </a:schemeClr>
        </a:fillRef>
        <a:effectRef idx="2">
          <a:scrgbClr r="0" g="0" b="0"/>
        </a:effectRef>
        <a:fontRef idx="minor"/>
      </dsp:style>
      <dsp:txBody>
        <a:bodyPr lIns="27940" tIns="27940" rIns="27940" bIns="27940" anchor="ctr">
          <a:scene3d>
            <a:camera prst="orthographicFront"/>
            <a:lightRig rig="threePt" dir="t"/>
          </a:scene3d>
          <a:sp3d extrusionH="57150">
            <a:bevelT w="6350" h="38100" prst="relaxedInset"/>
          </a:sp3d>
        </a:bodyP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5836712" y="606019"/>
        <a:ext cx="539196" cy="539196"/>
      </dsp:txXfrm>
    </dsp:sp>
    <dsp:sp modelId="{35D177A9-E08E-49CB-A747-07F51A22A1BE}">
      <dsp:nvSpPr>
        <dsp:cNvPr id="9" name="下箭头 8"/>
        <dsp:cNvSpPr/>
      </dsp:nvSpPr>
      <dsp:spPr bwMode="white">
        <a:xfrm>
          <a:off x="6312835" y="1550765"/>
          <a:ext cx="539196" cy="539196"/>
        </a:xfrm>
        <a:prstGeom prst="downArrow">
          <a:avLst>
            <a:gd name="adj1" fmla="val 55000"/>
            <a:gd name="adj2" fmla="val 45000"/>
          </a:avLst>
        </a:prstGeom>
      </dsp:spPr>
      <dsp:style>
        <a:lnRef idx="1">
          <a:schemeClr val="accent5">
            <a:tint val="40000"/>
            <a:alpha val="90000"/>
            <a:hueOff val="0"/>
            <a:satOff val="0"/>
            <a:lumOff val="0"/>
            <a:alpha val="90196"/>
          </a:schemeClr>
        </a:lnRef>
        <a:fillRef idx="1">
          <a:schemeClr val="accent5">
            <a:tint val="40000"/>
            <a:alpha val="90000"/>
            <a:hueOff val="-3559999"/>
            <a:satOff val="16732"/>
            <a:lumOff val="1176"/>
            <a:alpha val="90196"/>
          </a:schemeClr>
        </a:fillRef>
        <a:effectRef idx="2">
          <a:scrgbClr r="0" g="0" b="0"/>
        </a:effectRef>
        <a:fontRef idx="minor"/>
      </dsp:style>
      <dsp:txBody>
        <a:bodyPr lIns="27940" tIns="27940" rIns="27940" bIns="27940" anchor="ctr">
          <a:scene3d>
            <a:camera prst="orthographicFront"/>
            <a:lightRig rig="threePt" dir="t"/>
          </a:scene3d>
          <a:sp3d extrusionH="57150">
            <a:bevelT w="6350" h="38100" prst="relaxedInset"/>
          </a:sp3d>
        </a:bodyP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6312835" y="1550765"/>
        <a:ext cx="539196" cy="539196"/>
      </dsp:txXfrm>
    </dsp:sp>
    <dsp:sp modelId="{20A4A9C3-AC2C-4079-9AC8-AA813FF1BF48}">
      <dsp:nvSpPr>
        <dsp:cNvPr id="10" name="下箭头 9"/>
        <dsp:cNvSpPr/>
      </dsp:nvSpPr>
      <dsp:spPr bwMode="white">
        <a:xfrm>
          <a:off x="6788958" y="2481684"/>
          <a:ext cx="539196" cy="539196"/>
        </a:xfrm>
        <a:prstGeom prst="downArrow">
          <a:avLst>
            <a:gd name="adj1" fmla="val 55000"/>
            <a:gd name="adj2" fmla="val 45000"/>
          </a:avLst>
        </a:prstGeom>
      </dsp:spPr>
      <dsp:style>
        <a:lnRef idx="1">
          <a:schemeClr val="accent5">
            <a:tint val="40000"/>
            <a:alpha val="90000"/>
            <a:hueOff val="0"/>
            <a:satOff val="0"/>
            <a:lumOff val="0"/>
            <a:alpha val="90196"/>
          </a:schemeClr>
        </a:lnRef>
        <a:fillRef idx="1">
          <a:schemeClr val="accent5">
            <a:tint val="40000"/>
            <a:alpha val="90000"/>
            <a:hueOff val="-7119999"/>
            <a:satOff val="33464"/>
            <a:lumOff val="2353"/>
            <a:alpha val="90196"/>
          </a:schemeClr>
        </a:fillRef>
        <a:effectRef idx="2">
          <a:scrgbClr r="0" g="0" b="0"/>
        </a:effectRef>
        <a:fontRef idx="minor"/>
      </dsp:style>
      <dsp:txBody>
        <a:bodyPr lIns="27940" tIns="27940" rIns="27940" bIns="27940" anchor="ctr">
          <a:scene3d>
            <a:camera prst="orthographicFront"/>
            <a:lightRig rig="threePt" dir="t"/>
          </a:scene3d>
          <a:sp3d extrusionH="57150">
            <a:bevelT w="6350" h="38100" prst="relaxedInset"/>
          </a:sp3d>
        </a:bodyP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6788958" y="2481684"/>
        <a:ext cx="539196" cy="539196"/>
      </dsp:txXfrm>
    </dsp:sp>
    <dsp:sp modelId="{963519C4-07FD-4B98-80EF-94365446978B}">
      <dsp:nvSpPr>
        <dsp:cNvPr id="11" name="下箭头 10"/>
        <dsp:cNvSpPr/>
      </dsp:nvSpPr>
      <dsp:spPr bwMode="white">
        <a:xfrm>
          <a:off x="7265081" y="3435646"/>
          <a:ext cx="539196" cy="539196"/>
        </a:xfrm>
        <a:prstGeom prst="downArrow">
          <a:avLst>
            <a:gd name="adj1" fmla="val 55000"/>
            <a:gd name="adj2" fmla="val 45000"/>
          </a:avLst>
        </a:prstGeom>
      </dsp:spPr>
      <dsp:style>
        <a:lnRef idx="1">
          <a:schemeClr val="accent5">
            <a:tint val="40000"/>
            <a:alpha val="90000"/>
            <a:hueOff val="0"/>
            <a:satOff val="0"/>
            <a:lumOff val="0"/>
            <a:alpha val="90196"/>
          </a:schemeClr>
        </a:lnRef>
        <a:fillRef idx="1">
          <a:schemeClr val="accent5">
            <a:tint val="40000"/>
            <a:alpha val="90000"/>
            <a:hueOff val="-10680000"/>
            <a:satOff val="50196"/>
            <a:lumOff val="3529"/>
            <a:alpha val="90196"/>
          </a:schemeClr>
        </a:fillRef>
        <a:effectRef idx="2">
          <a:scrgbClr r="0" g="0" b="0"/>
        </a:effectRef>
        <a:fontRef idx="minor"/>
      </dsp:style>
      <dsp:txBody>
        <a:bodyPr lIns="27940" tIns="27940" rIns="27940" bIns="27940" anchor="ctr">
          <a:scene3d>
            <a:camera prst="orthographicFront"/>
            <a:lightRig rig="threePt" dir="t"/>
          </a:scene3d>
          <a:sp3d extrusionH="57150">
            <a:bevelT w="6350" h="38100" prst="relaxedInset"/>
          </a:sp3d>
        </a:bodyP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endParaRPr lang="zh-CN" altLang="en-US">
            <a:gradFill>
              <a:gsLst>
                <a:gs pos="0">
                  <a:schemeClr val="bg1"/>
                </a:gs>
                <a:gs pos="100000">
                  <a:srgbClr val="8E5ED4">
                    <a:alpha val="45000"/>
                  </a:srgbClr>
                </a:gs>
              </a:gsLst>
              <a:lin ang="5400000" scaled="1"/>
            </a:gradFill>
            <a:effectLst>
              <a:glow rad="38100">
                <a:schemeClr val="accent4">
                  <a:satMod val="175000"/>
                  <a:alpha val="47000"/>
                </a:schemeClr>
              </a:glow>
              <a:innerShdw blurRad="63500" dist="50800" dir="18900000">
                <a:prstClr val="black">
                  <a:alpha val="50000"/>
                </a:prstClr>
              </a:innerShdw>
            </a:effectLst>
            <a:latin typeface="黑体" panose="02010609060101010101" pitchFamily="49" charset="-122"/>
            <a:ea typeface="黑体" panose="02010609060101010101" pitchFamily="49" charset="-122"/>
          </a:endParaRPr>
        </a:p>
      </dsp:txBody>
      <dsp:txXfrm>
        <a:off x="7265081" y="3435646"/>
        <a:ext cx="539196" cy="539196"/>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892480" cy="5185247"/>
        <a:chOff x="0" y="0"/>
        <a:chExt cx="8892480" cy="5185247"/>
      </a:xfrm>
    </dsp:grpSpPr>
    <dsp:sp modelId="{B953C526-CAA8-46C3-9A56-CCE200020AD7}">
      <dsp:nvSpPr>
        <dsp:cNvPr id="3" name="矩形 2"/>
        <dsp:cNvSpPr/>
      </dsp:nvSpPr>
      <dsp:spPr bwMode="white">
        <a:xfrm>
          <a:off x="1073848" y="0"/>
          <a:ext cx="6070306" cy="55184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53340" tIns="53340" rIns="53340" bIns="53340" anchor="b"/>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b="0" i="0" dirty="0" smtClean="0">
              <a:solidFill>
                <a:schemeClr val="tx1"/>
              </a:solidFill>
              <a:latin typeface="黑体" panose="02010609060101010101" pitchFamily="49" charset="-122"/>
              <a:ea typeface="黑体" panose="02010609060101010101" pitchFamily="49" charset="-122"/>
            </a:rPr>
            <a:t>完善采伐指标的分配管理</a:t>
          </a:r>
          <a:endParaRPr lang="zh-CN" altLang="en-US" dirty="0">
            <a:solidFill>
              <a:schemeClr val="tx1"/>
            </a:solidFill>
            <a:latin typeface="黑体" panose="02010609060101010101" pitchFamily="49" charset="-122"/>
            <a:ea typeface="黑体" panose="02010609060101010101" pitchFamily="49" charset="-122"/>
          </a:endParaRPr>
        </a:p>
      </dsp:txBody>
      <dsp:txXfrm>
        <a:off x="1073848" y="0"/>
        <a:ext cx="6070306" cy="551846"/>
      </dsp:txXfrm>
    </dsp:sp>
    <dsp:sp modelId="{0A0C5698-EB6A-4970-95CF-2B57FFAD02D4}">
      <dsp:nvSpPr>
        <dsp:cNvPr id="4" name="燕尾形 3"/>
        <dsp:cNvSpPr/>
      </dsp:nvSpPr>
      <dsp:spPr bwMode="white">
        <a:xfrm>
          <a:off x="1175357" y="551846"/>
          <a:ext cx="1420452" cy="1124131"/>
        </a:xfrm>
        <a:prstGeom prst="chevron">
          <a:avLst>
            <a:gd name="adj" fmla="val 70610"/>
          </a:avLst>
        </a:prstGeom>
      </dsp:spPr>
      <dsp:style>
        <a:lnRef idx="1">
          <a:schemeClr val="accent5">
            <a:hueOff val="0"/>
            <a:satOff val="0"/>
            <a:lumOff val="0"/>
            <a:alpha val="100000"/>
          </a:schemeClr>
        </a:lnRef>
        <a:fillRef idx="3">
          <a:schemeClr val="accent5">
            <a:hueOff val="0"/>
            <a:satOff val="0"/>
            <a:lumOff val="0"/>
            <a:alpha val="100000"/>
          </a:schemeClr>
        </a:fillRef>
        <a:effectRef idx="3">
          <a:scrgbClr r="0" g="0" b="0"/>
        </a:effectRef>
        <a:fontRef idx="minor">
          <a:schemeClr val="lt1"/>
        </a:fontRef>
      </dsp:style>
      <dsp:txXfrm>
        <a:off x="1175357" y="551846"/>
        <a:ext cx="1420452" cy="1124131"/>
      </dsp:txXfrm>
    </dsp:sp>
    <dsp:sp modelId="{A46B6148-296A-4565-96E9-5B30DDBBE9CD}">
      <dsp:nvSpPr>
        <dsp:cNvPr id="5" name="燕尾形 4"/>
        <dsp:cNvSpPr/>
      </dsp:nvSpPr>
      <dsp:spPr bwMode="white">
        <a:xfrm>
          <a:off x="2028572" y="551846"/>
          <a:ext cx="1420452" cy="1124131"/>
        </a:xfrm>
        <a:prstGeom prst="chevron">
          <a:avLst>
            <a:gd name="adj" fmla="val 70610"/>
          </a:avLst>
        </a:prstGeom>
      </dsp:spPr>
      <dsp:style>
        <a:lnRef idx="1">
          <a:schemeClr val="accent5">
            <a:hueOff val="-495000"/>
            <a:satOff val="2000"/>
            <a:lumOff val="431"/>
            <a:alpha val="100000"/>
          </a:schemeClr>
        </a:lnRef>
        <a:fillRef idx="3">
          <a:schemeClr val="accent5">
            <a:hueOff val="-495000"/>
            <a:satOff val="2000"/>
            <a:lumOff val="431"/>
            <a:alpha val="100000"/>
          </a:schemeClr>
        </a:fillRef>
        <a:effectRef idx="3">
          <a:scrgbClr r="0" g="0" b="0"/>
        </a:effectRef>
        <a:fontRef idx="minor">
          <a:schemeClr val="lt1"/>
        </a:fontRef>
      </dsp:style>
      <dsp:txXfrm>
        <a:off x="2028572" y="551846"/>
        <a:ext cx="1420452" cy="1124131"/>
      </dsp:txXfrm>
    </dsp:sp>
    <dsp:sp modelId="{661A6981-B6B6-4393-8A71-8D46647131A8}">
      <dsp:nvSpPr>
        <dsp:cNvPr id="6" name="燕尾形 5"/>
        <dsp:cNvSpPr/>
      </dsp:nvSpPr>
      <dsp:spPr bwMode="white">
        <a:xfrm>
          <a:off x="2882462" y="551846"/>
          <a:ext cx="1420452" cy="1124131"/>
        </a:xfrm>
        <a:prstGeom prst="chevron">
          <a:avLst>
            <a:gd name="adj" fmla="val 70610"/>
          </a:avLst>
        </a:prstGeom>
      </dsp:spPr>
      <dsp:style>
        <a:lnRef idx="1">
          <a:schemeClr val="accent5">
            <a:hueOff val="-990000"/>
            <a:satOff val="4000"/>
            <a:lumOff val="863"/>
            <a:alpha val="100000"/>
          </a:schemeClr>
        </a:lnRef>
        <a:fillRef idx="3">
          <a:schemeClr val="accent5">
            <a:hueOff val="-990000"/>
            <a:satOff val="4000"/>
            <a:lumOff val="863"/>
            <a:alpha val="100000"/>
          </a:schemeClr>
        </a:fillRef>
        <a:effectRef idx="3">
          <a:scrgbClr r="0" g="0" b="0"/>
        </a:effectRef>
        <a:fontRef idx="minor">
          <a:schemeClr val="lt1"/>
        </a:fontRef>
      </dsp:style>
      <dsp:txXfrm>
        <a:off x="2882462" y="551846"/>
        <a:ext cx="1420452" cy="1124131"/>
      </dsp:txXfrm>
    </dsp:sp>
    <dsp:sp modelId="{4472CD8A-21E1-47EB-B7F1-777F0F9A2F39}">
      <dsp:nvSpPr>
        <dsp:cNvPr id="7" name="燕尾形 6"/>
        <dsp:cNvSpPr/>
      </dsp:nvSpPr>
      <dsp:spPr bwMode="white">
        <a:xfrm>
          <a:off x="3735677" y="551846"/>
          <a:ext cx="1420452" cy="1124131"/>
        </a:xfrm>
        <a:prstGeom prst="chevron">
          <a:avLst>
            <a:gd name="adj" fmla="val 70610"/>
          </a:avLst>
        </a:prstGeom>
      </dsp:spPr>
      <dsp:style>
        <a:lnRef idx="1">
          <a:schemeClr val="accent5">
            <a:hueOff val="-1485000"/>
            <a:satOff val="6000"/>
            <a:lumOff val="1294"/>
            <a:alpha val="100000"/>
          </a:schemeClr>
        </a:lnRef>
        <a:fillRef idx="3">
          <a:schemeClr val="accent5">
            <a:hueOff val="-1485000"/>
            <a:satOff val="6000"/>
            <a:lumOff val="1294"/>
            <a:alpha val="100000"/>
          </a:schemeClr>
        </a:fillRef>
        <a:effectRef idx="3">
          <a:scrgbClr r="0" g="0" b="0"/>
        </a:effectRef>
        <a:fontRef idx="minor">
          <a:schemeClr val="lt1"/>
        </a:fontRef>
      </dsp:style>
      <dsp:txXfrm>
        <a:off x="3735677" y="551846"/>
        <a:ext cx="1420452" cy="1124131"/>
      </dsp:txXfrm>
    </dsp:sp>
    <dsp:sp modelId="{305B35BB-BAD5-4E7A-B7B7-4C5DC82CDB39}">
      <dsp:nvSpPr>
        <dsp:cNvPr id="8" name="燕尾形 7"/>
        <dsp:cNvSpPr/>
      </dsp:nvSpPr>
      <dsp:spPr bwMode="white">
        <a:xfrm>
          <a:off x="4589567" y="551846"/>
          <a:ext cx="1420452" cy="1124131"/>
        </a:xfrm>
        <a:prstGeom prst="chevron">
          <a:avLst>
            <a:gd name="adj" fmla="val 70610"/>
          </a:avLst>
        </a:prstGeom>
      </dsp:spPr>
      <dsp:style>
        <a:lnRef idx="1">
          <a:schemeClr val="accent5">
            <a:hueOff val="-1980000"/>
            <a:satOff val="8000"/>
            <a:lumOff val="1725"/>
            <a:alpha val="100000"/>
          </a:schemeClr>
        </a:lnRef>
        <a:fillRef idx="3">
          <a:schemeClr val="accent5">
            <a:hueOff val="-1980000"/>
            <a:satOff val="8000"/>
            <a:lumOff val="1725"/>
            <a:alpha val="100000"/>
          </a:schemeClr>
        </a:fillRef>
        <a:effectRef idx="3">
          <a:scrgbClr r="0" g="0" b="0"/>
        </a:effectRef>
        <a:fontRef idx="minor">
          <a:schemeClr val="lt1"/>
        </a:fontRef>
      </dsp:style>
      <dsp:txXfrm>
        <a:off x="4589567" y="551846"/>
        <a:ext cx="1420452" cy="1124131"/>
      </dsp:txXfrm>
    </dsp:sp>
    <dsp:sp modelId="{3C7C9069-444E-41A9-979E-A4B00F4F8109}">
      <dsp:nvSpPr>
        <dsp:cNvPr id="9" name="燕尾形 8"/>
        <dsp:cNvSpPr/>
      </dsp:nvSpPr>
      <dsp:spPr bwMode="white">
        <a:xfrm>
          <a:off x="5442782" y="551846"/>
          <a:ext cx="1420452" cy="1124131"/>
        </a:xfrm>
        <a:prstGeom prst="chevron">
          <a:avLst>
            <a:gd name="adj" fmla="val 70610"/>
          </a:avLst>
        </a:prstGeom>
      </dsp:spPr>
      <dsp:style>
        <a:lnRef idx="1">
          <a:schemeClr val="accent5">
            <a:hueOff val="-2475000"/>
            <a:satOff val="10000"/>
            <a:lumOff val="2157"/>
            <a:alpha val="100000"/>
          </a:schemeClr>
        </a:lnRef>
        <a:fillRef idx="3">
          <a:schemeClr val="accent5">
            <a:hueOff val="-2475000"/>
            <a:satOff val="10000"/>
            <a:lumOff val="2157"/>
            <a:alpha val="100000"/>
          </a:schemeClr>
        </a:fillRef>
        <a:effectRef idx="3">
          <a:scrgbClr r="0" g="0" b="0"/>
        </a:effectRef>
        <a:fontRef idx="minor">
          <a:schemeClr val="lt1"/>
        </a:fontRef>
      </dsp:style>
      <dsp:txXfrm>
        <a:off x="5442782" y="551846"/>
        <a:ext cx="1420452" cy="1124131"/>
      </dsp:txXfrm>
    </dsp:sp>
    <dsp:sp modelId="{5EFD970B-656E-456A-8C2D-1A92C0C04A7F}">
      <dsp:nvSpPr>
        <dsp:cNvPr id="10" name="燕尾形 9"/>
        <dsp:cNvSpPr/>
      </dsp:nvSpPr>
      <dsp:spPr bwMode="white">
        <a:xfrm>
          <a:off x="6296672" y="551846"/>
          <a:ext cx="1420452" cy="1124131"/>
        </a:xfrm>
        <a:prstGeom prst="chevron">
          <a:avLst>
            <a:gd name="adj" fmla="val 70610"/>
          </a:avLst>
        </a:prstGeom>
      </dsp:spPr>
      <dsp:style>
        <a:lnRef idx="1">
          <a:schemeClr val="accent5">
            <a:hueOff val="-2970000"/>
            <a:satOff val="12000"/>
            <a:lumOff val="2588"/>
            <a:alpha val="100000"/>
          </a:schemeClr>
        </a:lnRef>
        <a:fillRef idx="3">
          <a:schemeClr val="accent5">
            <a:hueOff val="-2970000"/>
            <a:satOff val="12000"/>
            <a:lumOff val="2588"/>
            <a:alpha val="100000"/>
          </a:schemeClr>
        </a:fillRef>
        <a:effectRef idx="3">
          <a:scrgbClr r="0" g="0" b="0"/>
        </a:effectRef>
        <a:fontRef idx="minor">
          <a:schemeClr val="lt1"/>
        </a:fontRef>
      </dsp:style>
      <dsp:txXfrm>
        <a:off x="6296672" y="551846"/>
        <a:ext cx="1420452" cy="1124131"/>
      </dsp:txXfrm>
    </dsp:sp>
    <dsp:sp modelId="{8D6071ED-DFD1-45AA-B699-55469B5E809A}">
      <dsp:nvSpPr>
        <dsp:cNvPr id="11" name="矩形 10"/>
        <dsp:cNvSpPr/>
      </dsp:nvSpPr>
      <dsp:spPr bwMode="white">
        <a:xfrm>
          <a:off x="1175357" y="664259"/>
          <a:ext cx="6149220" cy="899305"/>
        </a:xfrm>
        <a:prstGeom prst="rect">
          <a:avLst/>
        </a:prstGeom>
      </dsp:spPr>
      <dsp:style>
        <a:lnRef idx="1">
          <a:schemeClr val="accent5">
            <a:hueOff val="0"/>
            <a:satOff val="0"/>
            <a:lumOff val="0"/>
            <a:alpha val="100000"/>
          </a:schemeClr>
        </a:lnRef>
        <a:fillRef idx="1">
          <a:schemeClr val="lt1"/>
        </a:fillRef>
        <a:effectRef idx="2">
          <a:scrgbClr r="0" g="0" b="0"/>
        </a:effectRef>
        <a:fontRef idx="minor"/>
      </dsp:style>
      <dsp:txBody>
        <a:bodyPr lIns="27940" tIns="27940" rIns="27940" bIns="2794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a:lnSpc>
              <a:spcPct val="100000"/>
            </a:lnSpc>
            <a:spcBef>
              <a:spcPct val="0"/>
            </a:spcBef>
            <a:spcAft>
              <a:spcPct val="35000"/>
            </a:spcAft>
          </a:pPr>
          <a:r>
            <a:rPr lang="zh-CN" altLang="en-US" b="0" i="0" dirty="0" smtClean="0">
              <a:solidFill>
                <a:schemeClr val="dk1"/>
              </a:solidFill>
              <a:latin typeface="黑体" panose="02010609060101010101" pitchFamily="49" charset="-122"/>
              <a:ea typeface="黑体" panose="02010609060101010101" pitchFamily="49" charset="-122"/>
            </a:rPr>
            <a:t>采伐限额和木材生产计划并轨，以采伐限额作为统一控制指标。</a:t>
          </a:r>
          <a:endParaRPr lang="zh-CN" altLang="en-US" dirty="0">
            <a:solidFill>
              <a:schemeClr val="dk1"/>
            </a:solidFill>
            <a:latin typeface="黑体" panose="02010609060101010101" pitchFamily="49" charset="-122"/>
            <a:ea typeface="黑体" panose="02010609060101010101" pitchFamily="49" charset="-122"/>
          </a:endParaRPr>
        </a:p>
      </dsp:txBody>
      <dsp:txXfrm>
        <a:off x="1175357" y="664259"/>
        <a:ext cx="6149220" cy="899305"/>
      </dsp:txXfrm>
    </dsp:sp>
    <dsp:sp modelId="{B75D6D9C-AE1C-49A9-A2C1-24BE499AD90D}">
      <dsp:nvSpPr>
        <dsp:cNvPr id="12" name="矩形 11"/>
        <dsp:cNvSpPr/>
      </dsp:nvSpPr>
      <dsp:spPr bwMode="white">
        <a:xfrm>
          <a:off x="1073848" y="1754635"/>
          <a:ext cx="6070306" cy="55184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53340" tIns="53340" rIns="53340" bIns="53340" anchor="b"/>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b="0" i="0" dirty="0" smtClean="0">
              <a:solidFill>
                <a:schemeClr val="tx1"/>
              </a:solidFill>
              <a:latin typeface="黑体" panose="02010609060101010101" pitchFamily="49" charset="-122"/>
              <a:ea typeface="黑体" panose="02010609060101010101" pitchFamily="49" charset="-122"/>
            </a:rPr>
            <a:t>简化林木采伐的审批手续，推行简便易行的伐区设计，改进采伐作业的监管方式。</a:t>
          </a:r>
          <a:endParaRPr lang="zh-CN" altLang="en-US" dirty="0">
            <a:solidFill>
              <a:schemeClr val="tx1"/>
            </a:solidFill>
            <a:latin typeface="黑体" panose="02010609060101010101" pitchFamily="49" charset="-122"/>
            <a:ea typeface="黑体" panose="02010609060101010101" pitchFamily="49" charset="-122"/>
          </a:endParaRPr>
        </a:p>
      </dsp:txBody>
      <dsp:txXfrm>
        <a:off x="1073848" y="1754635"/>
        <a:ext cx="6070306" cy="551846"/>
      </dsp:txXfrm>
    </dsp:sp>
    <dsp:sp modelId="{F037E89F-2DFD-42B9-AC3C-4689178E60B0}">
      <dsp:nvSpPr>
        <dsp:cNvPr id="13" name="燕尾形 12"/>
        <dsp:cNvSpPr/>
      </dsp:nvSpPr>
      <dsp:spPr bwMode="white">
        <a:xfrm>
          <a:off x="1175357" y="2306481"/>
          <a:ext cx="1420452" cy="1124131"/>
        </a:xfrm>
        <a:prstGeom prst="chevron">
          <a:avLst>
            <a:gd name="adj" fmla="val 70610"/>
          </a:avLst>
        </a:prstGeom>
      </dsp:spPr>
      <dsp:style>
        <a:lnRef idx="1">
          <a:schemeClr val="accent5">
            <a:hueOff val="-3464999"/>
            <a:satOff val="14000"/>
            <a:lumOff val="3020"/>
            <a:alpha val="100000"/>
          </a:schemeClr>
        </a:lnRef>
        <a:fillRef idx="3">
          <a:schemeClr val="accent5">
            <a:hueOff val="-3464999"/>
            <a:satOff val="14000"/>
            <a:lumOff val="3020"/>
            <a:alpha val="100000"/>
          </a:schemeClr>
        </a:fillRef>
        <a:effectRef idx="3">
          <a:scrgbClr r="0" g="0" b="0"/>
        </a:effectRef>
        <a:fontRef idx="minor">
          <a:schemeClr val="lt1"/>
        </a:fontRef>
      </dsp:style>
      <dsp:txXfrm>
        <a:off x="1175357" y="2306481"/>
        <a:ext cx="1420452" cy="1124131"/>
      </dsp:txXfrm>
    </dsp:sp>
    <dsp:sp modelId="{238EA064-9EFC-484B-884D-C6A86D4C4773}">
      <dsp:nvSpPr>
        <dsp:cNvPr id="14" name="燕尾形 13"/>
        <dsp:cNvSpPr/>
      </dsp:nvSpPr>
      <dsp:spPr bwMode="white">
        <a:xfrm>
          <a:off x="2028572" y="2306481"/>
          <a:ext cx="1420452" cy="1124131"/>
        </a:xfrm>
        <a:prstGeom prst="chevron">
          <a:avLst>
            <a:gd name="adj" fmla="val 70610"/>
          </a:avLst>
        </a:prstGeom>
      </dsp:spPr>
      <dsp:style>
        <a:lnRef idx="1">
          <a:schemeClr val="accent5">
            <a:hueOff val="-3960000"/>
            <a:satOff val="16000"/>
            <a:lumOff val="3451"/>
            <a:alpha val="100000"/>
          </a:schemeClr>
        </a:lnRef>
        <a:fillRef idx="3">
          <a:schemeClr val="accent5">
            <a:hueOff val="-3960000"/>
            <a:satOff val="16000"/>
            <a:lumOff val="3451"/>
            <a:alpha val="100000"/>
          </a:schemeClr>
        </a:fillRef>
        <a:effectRef idx="3">
          <a:scrgbClr r="0" g="0" b="0"/>
        </a:effectRef>
        <a:fontRef idx="minor">
          <a:schemeClr val="lt1"/>
        </a:fontRef>
      </dsp:style>
      <dsp:txXfrm>
        <a:off x="2028572" y="2306481"/>
        <a:ext cx="1420452" cy="1124131"/>
      </dsp:txXfrm>
    </dsp:sp>
    <dsp:sp modelId="{DCB71C96-21DD-47FF-9792-07753A809C15}">
      <dsp:nvSpPr>
        <dsp:cNvPr id="15" name="燕尾形 14"/>
        <dsp:cNvSpPr/>
      </dsp:nvSpPr>
      <dsp:spPr bwMode="white">
        <a:xfrm>
          <a:off x="2882462" y="2306481"/>
          <a:ext cx="1420452" cy="1124131"/>
        </a:xfrm>
        <a:prstGeom prst="chevron">
          <a:avLst>
            <a:gd name="adj" fmla="val 70610"/>
          </a:avLst>
        </a:prstGeom>
      </dsp:spPr>
      <dsp:style>
        <a:lnRef idx="1">
          <a:schemeClr val="accent5">
            <a:hueOff val="-4455000"/>
            <a:satOff val="18000"/>
            <a:lumOff val="3882"/>
            <a:alpha val="100000"/>
          </a:schemeClr>
        </a:lnRef>
        <a:fillRef idx="3">
          <a:schemeClr val="accent5">
            <a:hueOff val="-4455000"/>
            <a:satOff val="18000"/>
            <a:lumOff val="3882"/>
            <a:alpha val="100000"/>
          </a:schemeClr>
        </a:fillRef>
        <a:effectRef idx="3">
          <a:scrgbClr r="0" g="0" b="0"/>
        </a:effectRef>
        <a:fontRef idx="minor">
          <a:schemeClr val="lt1"/>
        </a:fontRef>
      </dsp:style>
      <dsp:txXfrm>
        <a:off x="2882462" y="2306481"/>
        <a:ext cx="1420452" cy="1124131"/>
      </dsp:txXfrm>
    </dsp:sp>
    <dsp:sp modelId="{52C55B78-7B7D-4080-B4A6-9C4E18499B0B}">
      <dsp:nvSpPr>
        <dsp:cNvPr id="16" name="燕尾形 15"/>
        <dsp:cNvSpPr/>
      </dsp:nvSpPr>
      <dsp:spPr bwMode="white">
        <a:xfrm>
          <a:off x="3735677" y="2306481"/>
          <a:ext cx="1420452" cy="1124131"/>
        </a:xfrm>
        <a:prstGeom prst="chevron">
          <a:avLst>
            <a:gd name="adj" fmla="val 70610"/>
          </a:avLst>
        </a:prstGeom>
      </dsp:spPr>
      <dsp:style>
        <a:lnRef idx="1">
          <a:schemeClr val="accent5">
            <a:hueOff val="-4950000"/>
            <a:satOff val="20000"/>
            <a:lumOff val="4314"/>
            <a:alpha val="100000"/>
          </a:schemeClr>
        </a:lnRef>
        <a:fillRef idx="3">
          <a:schemeClr val="accent5">
            <a:hueOff val="-4950000"/>
            <a:satOff val="20000"/>
            <a:lumOff val="4314"/>
            <a:alpha val="100000"/>
          </a:schemeClr>
        </a:fillRef>
        <a:effectRef idx="3">
          <a:scrgbClr r="0" g="0" b="0"/>
        </a:effectRef>
        <a:fontRef idx="minor">
          <a:schemeClr val="lt1"/>
        </a:fontRef>
      </dsp:style>
      <dsp:txXfrm>
        <a:off x="3735677" y="2306481"/>
        <a:ext cx="1420452" cy="1124131"/>
      </dsp:txXfrm>
    </dsp:sp>
    <dsp:sp modelId="{D1E50F23-1A6C-4D2A-B9FF-EE52568CE749}">
      <dsp:nvSpPr>
        <dsp:cNvPr id="17" name="燕尾形 16"/>
        <dsp:cNvSpPr/>
      </dsp:nvSpPr>
      <dsp:spPr bwMode="white">
        <a:xfrm>
          <a:off x="4589567" y="2306481"/>
          <a:ext cx="1420452" cy="1124131"/>
        </a:xfrm>
        <a:prstGeom prst="chevron">
          <a:avLst>
            <a:gd name="adj" fmla="val 70610"/>
          </a:avLst>
        </a:prstGeom>
      </dsp:spPr>
      <dsp:style>
        <a:lnRef idx="1">
          <a:schemeClr val="accent5">
            <a:hueOff val="-5445000"/>
            <a:satOff val="22000"/>
            <a:lumOff val="4745"/>
            <a:alpha val="100000"/>
          </a:schemeClr>
        </a:lnRef>
        <a:fillRef idx="3">
          <a:schemeClr val="accent5">
            <a:hueOff val="-5445000"/>
            <a:satOff val="22000"/>
            <a:lumOff val="4745"/>
            <a:alpha val="100000"/>
          </a:schemeClr>
        </a:fillRef>
        <a:effectRef idx="3">
          <a:scrgbClr r="0" g="0" b="0"/>
        </a:effectRef>
        <a:fontRef idx="minor">
          <a:schemeClr val="lt1"/>
        </a:fontRef>
      </dsp:style>
      <dsp:txXfrm>
        <a:off x="4589567" y="2306481"/>
        <a:ext cx="1420452" cy="1124131"/>
      </dsp:txXfrm>
    </dsp:sp>
    <dsp:sp modelId="{4B2E5AF2-8A92-43D6-AC47-46D75A1D5665}">
      <dsp:nvSpPr>
        <dsp:cNvPr id="18" name="燕尾形 17"/>
        <dsp:cNvSpPr/>
      </dsp:nvSpPr>
      <dsp:spPr bwMode="white">
        <a:xfrm>
          <a:off x="5442782" y="2306481"/>
          <a:ext cx="1420452" cy="1124131"/>
        </a:xfrm>
        <a:prstGeom prst="chevron">
          <a:avLst>
            <a:gd name="adj" fmla="val 70610"/>
          </a:avLst>
        </a:prstGeom>
      </dsp:spPr>
      <dsp:style>
        <a:lnRef idx="1">
          <a:schemeClr val="accent5">
            <a:hueOff val="-5940000"/>
            <a:satOff val="24000"/>
            <a:lumOff val="5176"/>
            <a:alpha val="100000"/>
          </a:schemeClr>
        </a:lnRef>
        <a:fillRef idx="3">
          <a:schemeClr val="accent5">
            <a:hueOff val="-5940000"/>
            <a:satOff val="24000"/>
            <a:lumOff val="5176"/>
            <a:alpha val="100000"/>
          </a:schemeClr>
        </a:fillRef>
        <a:effectRef idx="3">
          <a:scrgbClr r="0" g="0" b="0"/>
        </a:effectRef>
        <a:fontRef idx="minor">
          <a:schemeClr val="lt1"/>
        </a:fontRef>
      </dsp:style>
      <dsp:txXfrm>
        <a:off x="5442782" y="2306481"/>
        <a:ext cx="1420452" cy="1124131"/>
      </dsp:txXfrm>
    </dsp:sp>
    <dsp:sp modelId="{5E825400-9CC1-4434-9D48-1F08AE316075}">
      <dsp:nvSpPr>
        <dsp:cNvPr id="19" name="燕尾形 18"/>
        <dsp:cNvSpPr/>
      </dsp:nvSpPr>
      <dsp:spPr bwMode="white">
        <a:xfrm>
          <a:off x="6296672" y="2306481"/>
          <a:ext cx="1420452" cy="1124131"/>
        </a:xfrm>
        <a:prstGeom prst="chevron">
          <a:avLst>
            <a:gd name="adj" fmla="val 70610"/>
          </a:avLst>
        </a:prstGeom>
      </dsp:spPr>
      <dsp:style>
        <a:lnRef idx="1">
          <a:schemeClr val="accent5">
            <a:hueOff val="-6435000"/>
            <a:satOff val="26000"/>
            <a:lumOff val="5608"/>
            <a:alpha val="100000"/>
          </a:schemeClr>
        </a:lnRef>
        <a:fillRef idx="3">
          <a:schemeClr val="accent5">
            <a:hueOff val="-6435000"/>
            <a:satOff val="26000"/>
            <a:lumOff val="5608"/>
            <a:alpha val="100000"/>
          </a:schemeClr>
        </a:fillRef>
        <a:effectRef idx="3">
          <a:scrgbClr r="0" g="0" b="0"/>
        </a:effectRef>
        <a:fontRef idx="minor">
          <a:schemeClr val="lt1"/>
        </a:fontRef>
      </dsp:style>
      <dsp:txXfrm>
        <a:off x="6296672" y="2306481"/>
        <a:ext cx="1420452" cy="1124131"/>
      </dsp:txXfrm>
    </dsp:sp>
    <dsp:sp modelId="{66D285A8-20AE-4C59-96B1-DCA05DC1DEA3}">
      <dsp:nvSpPr>
        <dsp:cNvPr id="20" name="矩形 19"/>
        <dsp:cNvSpPr/>
      </dsp:nvSpPr>
      <dsp:spPr bwMode="white">
        <a:xfrm>
          <a:off x="1175357" y="2418894"/>
          <a:ext cx="6149220" cy="899305"/>
        </a:xfrm>
        <a:prstGeom prst="rect">
          <a:avLst/>
        </a:prstGeom>
      </dsp:spPr>
      <dsp:style>
        <a:lnRef idx="1">
          <a:schemeClr val="accent5">
            <a:hueOff val="-4950000"/>
            <a:satOff val="20000"/>
            <a:lumOff val="4314"/>
            <a:alpha val="100000"/>
          </a:schemeClr>
        </a:lnRef>
        <a:fillRef idx="1">
          <a:schemeClr val="lt1"/>
        </a:fillRef>
        <a:effectRef idx="2">
          <a:scrgbClr r="0" g="0" b="0"/>
        </a:effectRef>
        <a:fontRef idx="minor"/>
      </dsp:style>
      <dsp:txBody>
        <a:bodyPr lIns="27940" tIns="27940" rIns="27940" bIns="2794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a:lnSpc>
              <a:spcPct val="100000"/>
            </a:lnSpc>
            <a:spcBef>
              <a:spcPct val="0"/>
            </a:spcBef>
            <a:spcAft>
              <a:spcPct val="35000"/>
            </a:spcAft>
          </a:pPr>
          <a:r>
            <a:rPr lang="zh-CN" altLang="en-US" b="0" i="0" dirty="0" smtClean="0">
              <a:solidFill>
                <a:schemeClr val="dk1"/>
              </a:solidFill>
              <a:latin typeface="黑体" panose="02010609060101010101" pitchFamily="49" charset="-122"/>
              <a:ea typeface="黑体" panose="02010609060101010101" pitchFamily="49" charset="-122"/>
            </a:rPr>
            <a:t>一次采伐蓄积</a:t>
          </a:r>
          <a:r>
            <a:rPr lang="en-US" altLang="zh-CN" b="0" i="0" dirty="0" smtClean="0">
              <a:solidFill>
                <a:schemeClr val="dk1"/>
              </a:solidFill>
              <a:latin typeface="黑体" panose="02010609060101010101" pitchFamily="49" charset="-122"/>
              <a:ea typeface="黑体" panose="02010609060101010101" pitchFamily="49" charset="-122"/>
            </a:rPr>
            <a:t>5</a:t>
          </a:r>
          <a:r>
            <a:rPr lang="zh-CN" altLang="en-US" b="0" i="0" dirty="0" smtClean="0">
              <a:solidFill>
                <a:schemeClr val="dk1"/>
              </a:solidFill>
              <a:latin typeface="黑体" panose="02010609060101010101" pitchFamily="49" charset="-122"/>
              <a:ea typeface="黑体" panose="02010609060101010101" pitchFamily="49" charset="-122"/>
            </a:rPr>
            <a:t>立方米以下的可免于设计。</a:t>
          </a:r>
          <a:endParaRPr lang="en-US" altLang="zh-CN" b="0" i="0" dirty="0" smtClean="0">
            <a:solidFill>
              <a:schemeClr val="dk1"/>
            </a:solidFill>
            <a:latin typeface="黑体" panose="02010609060101010101" pitchFamily="49" charset="-122"/>
            <a:ea typeface="黑体" panose="02010609060101010101" pitchFamily="49" charset="-122"/>
          </a:endParaRPr>
        </a:p>
        <a:p>
          <a:pPr lvl="0">
            <a:lnSpc>
              <a:spcPct val="100000"/>
            </a:lnSpc>
            <a:spcBef>
              <a:spcPct val="0"/>
            </a:spcBef>
            <a:spcAft>
              <a:spcPct val="35000"/>
            </a:spcAft>
          </a:pPr>
          <a:r>
            <a:rPr lang="zh-CN" altLang="en-US" b="0" i="0" dirty="0" smtClean="0">
              <a:solidFill>
                <a:schemeClr val="dk1"/>
              </a:solidFill>
              <a:latin typeface="黑体" panose="02010609060101010101" pitchFamily="49" charset="-122"/>
              <a:ea typeface="黑体" panose="02010609060101010101" pitchFamily="49" charset="-122"/>
            </a:rPr>
            <a:t>采伐经济林、薪炭林、竹林以及非林地上的林木，可由经营者自行设计，自主决定采伐年龄和方式。</a:t>
          </a:r>
          <a:endParaRPr lang="en-US" altLang="zh-CN" b="0" i="0" dirty="0" smtClean="0">
            <a:solidFill>
              <a:schemeClr val="dk1"/>
            </a:solidFill>
            <a:latin typeface="黑体" panose="02010609060101010101" pitchFamily="49" charset="-122"/>
            <a:ea typeface="黑体" panose="02010609060101010101" pitchFamily="49" charset="-122"/>
          </a:endParaRPr>
        </a:p>
        <a:p>
          <a:pPr lvl="0">
            <a:lnSpc>
              <a:spcPct val="100000"/>
            </a:lnSpc>
            <a:spcBef>
              <a:spcPct val="0"/>
            </a:spcBef>
            <a:spcAft>
              <a:spcPct val="35000"/>
            </a:spcAft>
          </a:pPr>
          <a:r>
            <a:rPr lang="zh-CN" altLang="en-US" b="0" i="0" dirty="0" smtClean="0">
              <a:solidFill>
                <a:schemeClr val="dk1"/>
              </a:solidFill>
              <a:latin typeface="黑体" panose="02010609060101010101" pitchFamily="49" charset="-122"/>
              <a:ea typeface="黑体" panose="02010609060101010101" pitchFamily="49" charset="-122"/>
            </a:rPr>
            <a:t>林木采伐作业要以经营者自主管理、自我约束为主。</a:t>
          </a:r>
          <a:endParaRPr lang="zh-CN" altLang="en-US" dirty="0">
            <a:solidFill>
              <a:schemeClr val="dk1"/>
            </a:solidFill>
            <a:latin typeface="黑体" panose="02010609060101010101" pitchFamily="49" charset="-122"/>
            <a:ea typeface="黑体" panose="02010609060101010101" pitchFamily="49" charset="-122"/>
          </a:endParaRPr>
        </a:p>
      </dsp:txBody>
      <dsp:txXfrm>
        <a:off x="1175357" y="2418894"/>
        <a:ext cx="6149220" cy="899305"/>
      </dsp:txXfrm>
    </dsp:sp>
    <dsp:sp modelId="{13A6DA73-B2B9-478B-A77D-21AFFD71C149}">
      <dsp:nvSpPr>
        <dsp:cNvPr id="21" name="矩形 20"/>
        <dsp:cNvSpPr/>
      </dsp:nvSpPr>
      <dsp:spPr bwMode="white">
        <a:xfrm>
          <a:off x="1073848" y="3509270"/>
          <a:ext cx="6070306" cy="55184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53340" tIns="53340" rIns="53340" bIns="53340" anchor="b"/>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b="0" i="0" dirty="0" smtClean="0">
              <a:solidFill>
                <a:schemeClr val="tx1"/>
              </a:solidFill>
              <a:latin typeface="黑体" panose="02010609060101010101" pitchFamily="49" charset="-122"/>
              <a:ea typeface="黑体" panose="02010609060101010101" pitchFamily="49" charset="-122"/>
            </a:rPr>
            <a:t>推进采伐管理与科学经营的紧密结合。进一步放宽竹林经营利用的监督管理。进一步规范木材运输检查监管行为。</a:t>
          </a:r>
          <a:endParaRPr lang="zh-CN" altLang="en-US" dirty="0">
            <a:solidFill>
              <a:schemeClr val="tx1"/>
            </a:solidFill>
            <a:latin typeface="黑体" panose="02010609060101010101" pitchFamily="49" charset="-122"/>
            <a:ea typeface="黑体" panose="02010609060101010101" pitchFamily="49" charset="-122"/>
          </a:endParaRPr>
        </a:p>
      </dsp:txBody>
      <dsp:txXfrm>
        <a:off x="1073848" y="3509270"/>
        <a:ext cx="6070306" cy="551846"/>
      </dsp:txXfrm>
    </dsp:sp>
    <dsp:sp modelId="{1B582422-A317-4090-94E0-CEB89CED4B19}">
      <dsp:nvSpPr>
        <dsp:cNvPr id="22" name="燕尾形 21"/>
        <dsp:cNvSpPr/>
      </dsp:nvSpPr>
      <dsp:spPr bwMode="white">
        <a:xfrm>
          <a:off x="1175357" y="4061116"/>
          <a:ext cx="1420452" cy="1124131"/>
        </a:xfrm>
        <a:prstGeom prst="chevron">
          <a:avLst>
            <a:gd name="adj" fmla="val 70610"/>
          </a:avLst>
        </a:prstGeom>
      </dsp:spPr>
      <dsp:style>
        <a:lnRef idx="1">
          <a:schemeClr val="accent5">
            <a:hueOff val="-6929999"/>
            <a:satOff val="28000"/>
            <a:lumOff val="6039"/>
            <a:alpha val="100000"/>
          </a:schemeClr>
        </a:lnRef>
        <a:fillRef idx="3">
          <a:schemeClr val="accent5">
            <a:hueOff val="-6929999"/>
            <a:satOff val="28000"/>
            <a:lumOff val="6039"/>
            <a:alpha val="100000"/>
          </a:schemeClr>
        </a:fillRef>
        <a:effectRef idx="3">
          <a:scrgbClr r="0" g="0" b="0"/>
        </a:effectRef>
        <a:fontRef idx="minor">
          <a:schemeClr val="lt1"/>
        </a:fontRef>
      </dsp:style>
      <dsp:txXfrm>
        <a:off x="1175357" y="4061116"/>
        <a:ext cx="1420452" cy="1124131"/>
      </dsp:txXfrm>
    </dsp:sp>
    <dsp:sp modelId="{CBE3B921-1FAB-4109-9F09-023922D31715}">
      <dsp:nvSpPr>
        <dsp:cNvPr id="23" name="燕尾形 22"/>
        <dsp:cNvSpPr/>
      </dsp:nvSpPr>
      <dsp:spPr bwMode="white">
        <a:xfrm>
          <a:off x="2028572" y="4061116"/>
          <a:ext cx="1420452" cy="1124131"/>
        </a:xfrm>
        <a:prstGeom prst="chevron">
          <a:avLst>
            <a:gd name="adj" fmla="val 70610"/>
          </a:avLst>
        </a:prstGeom>
      </dsp:spPr>
      <dsp:style>
        <a:lnRef idx="1">
          <a:schemeClr val="accent5">
            <a:hueOff val="-7425000"/>
            <a:satOff val="30000"/>
            <a:lumOff val="6471"/>
            <a:alpha val="100000"/>
          </a:schemeClr>
        </a:lnRef>
        <a:fillRef idx="3">
          <a:schemeClr val="accent5">
            <a:hueOff val="-7425000"/>
            <a:satOff val="30000"/>
            <a:lumOff val="6471"/>
            <a:alpha val="100000"/>
          </a:schemeClr>
        </a:fillRef>
        <a:effectRef idx="3">
          <a:scrgbClr r="0" g="0" b="0"/>
        </a:effectRef>
        <a:fontRef idx="minor">
          <a:schemeClr val="lt1"/>
        </a:fontRef>
      </dsp:style>
      <dsp:txXfrm>
        <a:off x="2028572" y="4061116"/>
        <a:ext cx="1420452" cy="1124131"/>
      </dsp:txXfrm>
    </dsp:sp>
    <dsp:sp modelId="{B6573855-7D95-4C55-8B7B-83CCABAAFF36}">
      <dsp:nvSpPr>
        <dsp:cNvPr id="24" name="燕尾形 23"/>
        <dsp:cNvSpPr/>
      </dsp:nvSpPr>
      <dsp:spPr bwMode="white">
        <a:xfrm>
          <a:off x="2882462" y="4061116"/>
          <a:ext cx="1420452" cy="1124131"/>
        </a:xfrm>
        <a:prstGeom prst="chevron">
          <a:avLst>
            <a:gd name="adj" fmla="val 70610"/>
          </a:avLst>
        </a:prstGeom>
      </dsp:spPr>
      <dsp:style>
        <a:lnRef idx="1">
          <a:schemeClr val="accent5">
            <a:hueOff val="-7920000"/>
            <a:satOff val="32000"/>
            <a:lumOff val="6902"/>
            <a:alpha val="100000"/>
          </a:schemeClr>
        </a:lnRef>
        <a:fillRef idx="3">
          <a:schemeClr val="accent5">
            <a:hueOff val="-7920000"/>
            <a:satOff val="32000"/>
            <a:lumOff val="6902"/>
            <a:alpha val="100000"/>
          </a:schemeClr>
        </a:fillRef>
        <a:effectRef idx="3">
          <a:scrgbClr r="0" g="0" b="0"/>
        </a:effectRef>
        <a:fontRef idx="minor">
          <a:schemeClr val="lt1"/>
        </a:fontRef>
      </dsp:style>
      <dsp:txXfrm>
        <a:off x="2882462" y="4061116"/>
        <a:ext cx="1420452" cy="1124131"/>
      </dsp:txXfrm>
    </dsp:sp>
    <dsp:sp modelId="{E786AFAB-DC9C-44E8-BC62-6488CF92D575}">
      <dsp:nvSpPr>
        <dsp:cNvPr id="25" name="燕尾形 24"/>
        <dsp:cNvSpPr/>
      </dsp:nvSpPr>
      <dsp:spPr bwMode="white">
        <a:xfrm>
          <a:off x="3735677" y="4061116"/>
          <a:ext cx="1420452" cy="1124131"/>
        </a:xfrm>
        <a:prstGeom prst="chevron">
          <a:avLst>
            <a:gd name="adj" fmla="val 70610"/>
          </a:avLst>
        </a:prstGeom>
      </dsp:spPr>
      <dsp:style>
        <a:lnRef idx="1">
          <a:schemeClr val="accent5">
            <a:hueOff val="-8415000"/>
            <a:satOff val="34000"/>
            <a:lumOff val="7333"/>
            <a:alpha val="100000"/>
          </a:schemeClr>
        </a:lnRef>
        <a:fillRef idx="3">
          <a:schemeClr val="accent5">
            <a:hueOff val="-8415000"/>
            <a:satOff val="34000"/>
            <a:lumOff val="7333"/>
            <a:alpha val="100000"/>
          </a:schemeClr>
        </a:fillRef>
        <a:effectRef idx="3">
          <a:scrgbClr r="0" g="0" b="0"/>
        </a:effectRef>
        <a:fontRef idx="minor">
          <a:schemeClr val="lt1"/>
        </a:fontRef>
      </dsp:style>
      <dsp:txXfrm>
        <a:off x="3735677" y="4061116"/>
        <a:ext cx="1420452" cy="1124131"/>
      </dsp:txXfrm>
    </dsp:sp>
    <dsp:sp modelId="{9DFF1C05-7536-4EF8-AC79-FC282DF9E22C}">
      <dsp:nvSpPr>
        <dsp:cNvPr id="26" name="燕尾形 25"/>
        <dsp:cNvSpPr/>
      </dsp:nvSpPr>
      <dsp:spPr bwMode="white">
        <a:xfrm>
          <a:off x="4589567" y="4061116"/>
          <a:ext cx="1420452" cy="1124131"/>
        </a:xfrm>
        <a:prstGeom prst="chevron">
          <a:avLst>
            <a:gd name="adj" fmla="val 70610"/>
          </a:avLst>
        </a:prstGeom>
      </dsp:spPr>
      <dsp:style>
        <a:lnRef idx="1">
          <a:schemeClr val="accent5">
            <a:hueOff val="-8910000"/>
            <a:satOff val="36000"/>
            <a:lumOff val="7765"/>
            <a:alpha val="100000"/>
          </a:schemeClr>
        </a:lnRef>
        <a:fillRef idx="3">
          <a:schemeClr val="accent5">
            <a:hueOff val="-8910000"/>
            <a:satOff val="36000"/>
            <a:lumOff val="7765"/>
            <a:alpha val="100000"/>
          </a:schemeClr>
        </a:fillRef>
        <a:effectRef idx="3">
          <a:scrgbClr r="0" g="0" b="0"/>
        </a:effectRef>
        <a:fontRef idx="minor">
          <a:schemeClr val="lt1"/>
        </a:fontRef>
      </dsp:style>
      <dsp:txXfrm>
        <a:off x="4589567" y="4061116"/>
        <a:ext cx="1420452" cy="1124131"/>
      </dsp:txXfrm>
    </dsp:sp>
    <dsp:sp modelId="{EE027502-DFC3-4694-9B68-880A0F97E0D9}">
      <dsp:nvSpPr>
        <dsp:cNvPr id="27" name="燕尾形 26"/>
        <dsp:cNvSpPr/>
      </dsp:nvSpPr>
      <dsp:spPr bwMode="white">
        <a:xfrm>
          <a:off x="5442782" y="4061116"/>
          <a:ext cx="1420452" cy="1124131"/>
        </a:xfrm>
        <a:prstGeom prst="chevron">
          <a:avLst>
            <a:gd name="adj" fmla="val 70610"/>
          </a:avLst>
        </a:prstGeom>
      </dsp:spPr>
      <dsp:style>
        <a:lnRef idx="1">
          <a:schemeClr val="accent5">
            <a:hueOff val="-9405000"/>
            <a:satOff val="38000"/>
            <a:lumOff val="8196"/>
            <a:alpha val="100000"/>
          </a:schemeClr>
        </a:lnRef>
        <a:fillRef idx="3">
          <a:schemeClr val="accent5">
            <a:hueOff val="-9405000"/>
            <a:satOff val="38000"/>
            <a:lumOff val="8196"/>
            <a:alpha val="100000"/>
          </a:schemeClr>
        </a:fillRef>
        <a:effectRef idx="3">
          <a:scrgbClr r="0" g="0" b="0"/>
        </a:effectRef>
        <a:fontRef idx="minor">
          <a:schemeClr val="lt1"/>
        </a:fontRef>
      </dsp:style>
      <dsp:txXfrm>
        <a:off x="5442782" y="4061116"/>
        <a:ext cx="1420452" cy="1124131"/>
      </dsp:txXfrm>
    </dsp:sp>
    <dsp:sp modelId="{FF7C005D-3638-48D1-A1D0-3B2F31ED6541}">
      <dsp:nvSpPr>
        <dsp:cNvPr id="28" name="燕尾形 27"/>
        <dsp:cNvSpPr/>
      </dsp:nvSpPr>
      <dsp:spPr bwMode="white">
        <a:xfrm>
          <a:off x="6296672" y="4061116"/>
          <a:ext cx="1420452" cy="1124131"/>
        </a:xfrm>
        <a:prstGeom prst="chevron">
          <a:avLst>
            <a:gd name="adj" fmla="val 70610"/>
          </a:avLst>
        </a:prstGeom>
      </dsp:spPr>
      <dsp:style>
        <a:lnRef idx="1">
          <a:schemeClr val="accent5">
            <a:hueOff val="-9900000"/>
            <a:satOff val="40000"/>
            <a:lumOff val="8627"/>
            <a:alpha val="100000"/>
          </a:schemeClr>
        </a:lnRef>
        <a:fillRef idx="3">
          <a:schemeClr val="accent5">
            <a:hueOff val="-9900000"/>
            <a:satOff val="40000"/>
            <a:lumOff val="8627"/>
            <a:alpha val="100000"/>
          </a:schemeClr>
        </a:fillRef>
        <a:effectRef idx="3">
          <a:scrgbClr r="0" g="0" b="0"/>
        </a:effectRef>
        <a:fontRef idx="minor">
          <a:schemeClr val="lt1"/>
        </a:fontRef>
      </dsp:style>
      <dsp:txXfrm>
        <a:off x="6296672" y="4061116"/>
        <a:ext cx="1420452" cy="1124131"/>
      </dsp:txXfrm>
    </dsp:sp>
    <dsp:sp modelId="{4E7D0C78-E5CC-45EE-8894-E90FA67CAB3F}">
      <dsp:nvSpPr>
        <dsp:cNvPr id="29" name="矩形 28"/>
        <dsp:cNvSpPr/>
      </dsp:nvSpPr>
      <dsp:spPr bwMode="white">
        <a:xfrm>
          <a:off x="1175357" y="4173529"/>
          <a:ext cx="6149220" cy="899305"/>
        </a:xfrm>
        <a:prstGeom prst="rect">
          <a:avLst/>
        </a:prstGeom>
      </dsp:spPr>
      <dsp:style>
        <a:lnRef idx="1">
          <a:schemeClr val="accent5">
            <a:hueOff val="-9900000"/>
            <a:satOff val="40000"/>
            <a:lumOff val="8627"/>
            <a:alpha val="100000"/>
          </a:schemeClr>
        </a:lnRef>
        <a:fillRef idx="1">
          <a:schemeClr val="lt1"/>
        </a:fillRef>
        <a:effectRef idx="2">
          <a:scrgbClr r="0" g="0" b="0"/>
        </a:effectRef>
        <a:fontRef idx="minor"/>
      </dsp:style>
      <dsp:txBody>
        <a:bodyPr lIns="27940" tIns="27940" rIns="27940" bIns="2794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a:lnSpc>
              <a:spcPct val="100000"/>
            </a:lnSpc>
            <a:spcBef>
              <a:spcPct val="0"/>
            </a:spcBef>
            <a:spcAft>
              <a:spcPct val="35000"/>
            </a:spcAft>
          </a:pPr>
          <a:r>
            <a:rPr lang="zh-CN" altLang="en-US" b="0" i="0" dirty="0" smtClean="0">
              <a:solidFill>
                <a:schemeClr val="dk1"/>
              </a:solidFill>
              <a:latin typeface="黑体" panose="02010609060101010101" pitchFamily="49" charset="-122"/>
              <a:ea typeface="黑体" panose="02010609060101010101" pitchFamily="49" charset="-122"/>
            </a:rPr>
            <a:t>推动不同经营主体编制科学可行的森林经营方案，并督促其严格实施，构建以森林经营方案为基础确定森林采伐限额的林木采伐管理体系和森林经营体系。</a:t>
          </a:r>
          <a:endParaRPr lang="en-US" altLang="zh-CN" b="0" i="0" dirty="0" smtClean="0">
            <a:solidFill>
              <a:schemeClr val="dk1"/>
            </a:solidFill>
            <a:latin typeface="黑体" panose="02010609060101010101" pitchFamily="49" charset="-122"/>
            <a:ea typeface="黑体" panose="02010609060101010101" pitchFamily="49" charset="-122"/>
          </a:endParaRPr>
        </a:p>
        <a:p>
          <a:pPr lvl="0">
            <a:lnSpc>
              <a:spcPct val="100000"/>
            </a:lnSpc>
            <a:spcBef>
              <a:spcPct val="0"/>
            </a:spcBef>
            <a:spcAft>
              <a:spcPct val="35000"/>
            </a:spcAft>
          </a:pPr>
          <a:r>
            <a:rPr lang="zh-CN" altLang="en-US" b="0" i="0" dirty="0" smtClean="0">
              <a:solidFill>
                <a:schemeClr val="dk1"/>
              </a:solidFill>
              <a:latin typeface="黑体" panose="02010609060101010101" pitchFamily="49" charset="-122"/>
              <a:ea typeface="黑体" panose="02010609060101010101" pitchFamily="49" charset="-122"/>
            </a:rPr>
            <a:t>严禁擅自扩大凭证运输范围，严禁超范围实施木材运输检查，严禁乱罚款、乱收费。</a:t>
          </a:r>
          <a:endParaRPr lang="zh-CN" altLang="en-US" dirty="0">
            <a:solidFill>
              <a:schemeClr val="dk1"/>
            </a:solidFill>
            <a:latin typeface="黑体" panose="02010609060101010101" pitchFamily="49" charset="-122"/>
            <a:ea typeface="黑体" panose="02010609060101010101" pitchFamily="49" charset="-122"/>
          </a:endParaRPr>
        </a:p>
      </dsp:txBody>
      <dsp:txXfrm>
        <a:off x="1175357" y="4173529"/>
        <a:ext cx="6149220" cy="899305"/>
      </dsp:txXfrm>
    </dsp:sp>
  </dsp:spTree>
</dsp:drawing>
</file>

<file path=ppt/diagrams/layout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type="chevron" r:blip="" rot="180">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type="chevron" r:blip="" rot="180">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type="chevron" r:blip="" rot="180">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type="chevron" r:blip="" rot="180">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type="chevron" r:blip="" rot="180">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type="chevron" r:blip="" rot="180">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type="chevron" r:blip="" rot="180">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571472" y="1428736"/>
            <a:ext cx="7772400" cy="1470025"/>
          </a:xfrm>
        </p:spPr>
        <p:txBody>
          <a:bodyPr/>
          <a:lstStyle>
            <a:lvl1pPr>
              <a:defRPr>
                <a:solidFill>
                  <a:srgbClr val="002060"/>
                </a:solidFill>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noFill/>
        </p:spPr>
        <p:txBody>
          <a:bodyPr/>
          <a:lstStyle>
            <a:lvl1pPr marL="0" indent="0" algn="r">
              <a:buNone/>
              <a:defRPr>
                <a:solidFill>
                  <a:schemeClr val="accent4">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885DB699-9A93-48BA-B76B-FB2A325D5E2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97C4726-B27B-403D-B63D-2D1EF10A043D}"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0"/>
            <a:ext cx="8229600" cy="1000108"/>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089027"/>
            <a:ext cx="8229600" cy="4860253"/>
          </a:xfrm>
          <a:noFill/>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36FF7B59-CB60-44D0-A1D0-7BC9BB9CCD4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243E1DD-3A36-4E33-8898-CC795DFF4EB5}"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pPr>
              <a:defRPr/>
            </a:pPr>
            <a:fld id="{A6A1F3B0-38F5-48C8-ACF8-C277CEBEB73C}" type="datetimeFigureOut">
              <a:rPr lang="zh-CN" altLang="en-US" smtClean="0"/>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16925099-EFEC-41AF-940C-09572AEC0744}" type="slidenum">
              <a:rPr lang="zh-CN" altLang="en-US" smtClean="0"/>
            </a:fld>
            <a:endParaRPr lang="zh-CN" altLang="en-US"/>
          </a:p>
        </p:txBody>
      </p:sp>
      <p:sp>
        <p:nvSpPr>
          <p:cNvPr id="7" name="内容占位符 6"/>
          <p:cNvSpPr>
            <a:spLocks noGrp="1"/>
          </p:cNvSpPr>
          <p:nvPr>
            <p:ph sz="quarter" idx="13"/>
          </p:nvPr>
        </p:nvSpPr>
        <p:spPr>
          <a:xfrm>
            <a:off x="468313" y="1196975"/>
            <a:ext cx="8280400" cy="46085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229600" cy="5929353"/>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00FE0EA8-0B92-45A9-9ADC-6311BB1666F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CEBAF8D-2B7A-42A9-978F-2657328215C3}"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229600" cy="5929353"/>
          </a:xfrm>
          <a:noFill/>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00FE0EA8-0B92-45A9-9ADC-6311BB1666F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CEBAF8D-2B7A-42A9-978F-2657328215C3}"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11560" y="3140968"/>
            <a:ext cx="7772400" cy="2448272"/>
          </a:xfrm>
          <a:gradFill>
            <a:gsLst>
              <a:gs pos="0">
                <a:schemeClr val="accent4">
                  <a:lumMod val="20000"/>
                  <a:lumOff val="80000"/>
                </a:schemeClr>
              </a:gs>
              <a:gs pos="44000">
                <a:schemeClr val="accent4">
                  <a:lumMod val="60000"/>
                  <a:lumOff val="40000"/>
                  <a:alpha val="94000"/>
                </a:schemeClr>
              </a:gs>
              <a:gs pos="96000">
                <a:srgbClr val="D8CFE2">
                  <a:alpha val="79000"/>
                </a:srgbClr>
              </a:gs>
              <a:gs pos="100000">
                <a:schemeClr val="bg1"/>
              </a:gs>
            </a:gsLst>
            <a:lin ang="5400000" scaled="0"/>
          </a:gradFill>
          <a:effectLst>
            <a:outerShdw blurRad="203200" dist="88900" dir="2700000" algn="tl" rotWithShape="0">
              <a:prstClr val="black">
                <a:alpha val="40000"/>
              </a:prstClr>
            </a:outerShdw>
          </a:effectLst>
        </p:spPr>
        <p:txBody>
          <a:bodyPr anchor="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l">
              <a:defRPr sz="4000" b="1" cap="none"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1043608" y="1124744"/>
            <a:ext cx="7772400" cy="2004243"/>
          </a:xfrm>
        </p:spPr>
        <p:txBody>
          <a:bodyPr anchor="b"/>
          <a:lstStyle>
            <a:lvl1pPr marL="0" indent="0">
              <a:buNone/>
              <a:defRPr sz="36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lstStyle>
            <a:lvl1pPr>
              <a:defRPr/>
            </a:lvl1pPr>
          </a:lstStyle>
          <a:p>
            <a:pPr>
              <a:defRPr/>
            </a:pPr>
            <a:fld id="{F66145AF-D787-431F-B68C-FCBE406197A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51F6686-0D45-44B8-BA74-63B5AC5AAE70}"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9552" y="119675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565848" y="119675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9FA8FFD1-3A52-4717-8E44-6FCD9A89ED1F}"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3F774D0-D059-4E1E-B737-C3116C61D0E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9552" y="1196752"/>
            <a:ext cx="4038600" cy="4525963"/>
          </a:xfrm>
          <a:effectLst>
            <a:outerShdw blurRad="152400" dist="88900" dir="8100000" algn="tr" rotWithShape="0">
              <a:prstClr val="black">
                <a:alpha val="40000"/>
              </a:prstClr>
            </a:out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p:nvPr>
        </p:nvSpPr>
        <p:spPr>
          <a:xfrm>
            <a:off x="4565848" y="1196752"/>
            <a:ext cx="4038600" cy="4525963"/>
          </a:xfrm>
          <a:effectLst>
            <a:innerShdw blurRad="63500" dist="50800" dir="18900000">
              <a:prstClr val="black">
                <a:alpha val="50000"/>
              </a:prstClr>
            </a:innerShdw>
          </a:effectLst>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9FA8FFD1-3A52-4717-8E44-6FCD9A89ED1F}"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3F774D0-D059-4E1E-B737-C3116C61D0EB}"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9675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83651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9675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83651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DEE400B8-CA61-4058-A375-3C403C7CFA21}"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1D61F58-941B-42C7-BA0F-7DA452C624CF}"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3.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0"/>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00063" y="0"/>
            <a:ext cx="8229600" cy="980728"/>
          </a:xfrm>
          <a:prstGeom prst="rect">
            <a:avLst/>
          </a:prstGeom>
        </p:spPr>
        <p:txBody>
          <a:bodyPr vert="horz" lIns="91440" tIns="45720" rIns="91440" bIns="45720" rtlCol="0" anchor="ctr">
            <a:normAutofit/>
          </a:bodyPr>
          <a:lstStyle/>
          <a:p>
            <a:r>
              <a:rPr lang="en-US" altLang="zh-CN" dirty="0" smtClean="0"/>
              <a:t>The Title</a:t>
            </a:r>
            <a:endParaRPr lang="zh-CN" altLang="en-US" dirty="0"/>
          </a:p>
        </p:txBody>
      </p:sp>
      <p:sp>
        <p:nvSpPr>
          <p:cNvPr id="1027" name="文本占位符 2"/>
          <p:cNvSpPr>
            <a:spLocks noGrp="1"/>
          </p:cNvSpPr>
          <p:nvPr>
            <p:ph type="body" idx="1"/>
          </p:nvPr>
        </p:nvSpPr>
        <p:spPr bwMode="auto">
          <a:xfrm>
            <a:off x="539552" y="1268760"/>
            <a:ext cx="8229600" cy="4525963"/>
          </a:xfrm>
          <a:prstGeom prst="rect">
            <a:avLst/>
          </a:prstGeom>
          <a:gradFill>
            <a:gsLst>
              <a:gs pos="0">
                <a:schemeClr val="accent4">
                  <a:lumMod val="20000"/>
                  <a:lumOff val="80000"/>
                </a:schemeClr>
              </a:gs>
              <a:gs pos="44000">
                <a:schemeClr val="accent4">
                  <a:lumMod val="60000"/>
                  <a:lumOff val="40000"/>
                  <a:alpha val="94000"/>
                </a:schemeClr>
              </a:gs>
              <a:gs pos="96000">
                <a:srgbClr val="D8CFE2">
                  <a:alpha val="79000"/>
                </a:srgbClr>
              </a:gs>
              <a:gs pos="100000">
                <a:schemeClr val="bg1"/>
              </a:gs>
            </a:gsLst>
            <a:lin ang="5400000" scaled="0"/>
          </a:gradFill>
          <a:ln>
            <a:noFill/>
          </a:ln>
          <a:effectLst>
            <a:innerShdw blurRad="101600" dist="50800" dir="13500000">
              <a:prstClr val="black">
                <a:alpha val="50000"/>
              </a:prstClr>
            </a:innerShdw>
          </a:effec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A6A1F3B0-38F5-48C8-ACF8-C277CEBEB73C}"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16925099-EFEC-41AF-940C-09572AEC0744}"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rtl="0" fontAlgn="base">
        <a:spcBef>
          <a:spcPct val="0"/>
        </a:spcBef>
        <a:spcAft>
          <a:spcPct val="0"/>
        </a:spcAft>
        <a:defRPr sz="4600" kern="1200" baseline="0">
          <a:solidFill>
            <a:schemeClr val="bg1"/>
          </a:solidFill>
          <a:effectLst>
            <a:outerShdw blurRad="38100" dist="38100" dir="2700000" algn="tl">
              <a:srgbClr val="000000">
                <a:alpha val="43137"/>
              </a:srgbClr>
            </a:outerShdw>
          </a:effectLst>
          <a:latin typeface="Berlin Sans FB Demi" pitchFamily="34" charset="0"/>
          <a:ea typeface="隶书" pitchFamily="49" charset="-122"/>
          <a:cs typeface="+mj-cs"/>
        </a:defRPr>
      </a:lvl1pPr>
      <a:lvl2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2pPr>
      <a:lvl3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3pPr>
      <a:lvl4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4pPr>
      <a:lvl5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9pPr>
    </p:titleStyle>
    <p:bodyStyle>
      <a:lvl1pPr marL="342900" indent="-342900" algn="l" rtl="0" fontAlgn="base">
        <a:spcBef>
          <a:spcPct val="20000"/>
        </a:spcBef>
        <a:spcAft>
          <a:spcPct val="0"/>
        </a:spcAft>
        <a:buBlip>
          <a:blip r:embed="rId11"/>
        </a:buBlip>
        <a:defRPr sz="3200" kern="1200" baseline="0">
          <a:solidFill>
            <a:srgbClr val="002060"/>
          </a:solidFill>
          <a:latin typeface="Verdana" panose="020B0604030504040204" pitchFamily="34" charset="0"/>
          <a:ea typeface="黑体" panose="02010609060101010101" pitchFamily="49" charset="-122"/>
          <a:cs typeface="Times New Roman" panose="02020603050405020304" pitchFamily="18" charset="0"/>
        </a:defRPr>
      </a:lvl1pPr>
      <a:lvl2pPr marL="742950" indent="-285750" algn="l" rtl="0" fontAlgn="base">
        <a:spcBef>
          <a:spcPct val="20000"/>
        </a:spcBef>
        <a:spcAft>
          <a:spcPct val="0"/>
        </a:spcAft>
        <a:buBlip>
          <a:blip r:embed="rId12"/>
        </a:buBlip>
        <a:defRPr sz="2800" kern="1200" baseline="0">
          <a:solidFill>
            <a:srgbClr val="002060"/>
          </a:solidFill>
          <a:latin typeface="Verdana" panose="020B0604030504040204" pitchFamily="34" charset="0"/>
          <a:ea typeface="黑体" panose="02010609060101010101" pitchFamily="49" charset="-122"/>
          <a:cs typeface="Times New Roman" panose="02020603050405020304" pitchFamily="18" charset="0"/>
        </a:defRPr>
      </a:lvl2pPr>
      <a:lvl3pPr marL="1143000" indent="-228600" algn="l" rtl="0" fontAlgn="base">
        <a:spcBef>
          <a:spcPct val="20000"/>
        </a:spcBef>
        <a:spcAft>
          <a:spcPct val="0"/>
        </a:spcAft>
        <a:buBlip>
          <a:blip r:embed="rId13"/>
        </a:buBlip>
        <a:defRPr sz="2400" kern="1200" baseline="0">
          <a:solidFill>
            <a:srgbClr val="002060"/>
          </a:solidFill>
          <a:latin typeface="Verdana" panose="020B0604030504040204" pitchFamily="34" charset="0"/>
          <a:ea typeface="黑体" panose="02010609060101010101" pitchFamily="49" charset="-122"/>
          <a:cs typeface="Times New Roman" panose="02020603050405020304" pitchFamily="18" charset="0"/>
        </a:defRPr>
      </a:lvl3pPr>
      <a:lvl4pPr marL="1600200" indent="-228600" algn="l" rtl="0" fontAlgn="base">
        <a:spcBef>
          <a:spcPct val="20000"/>
        </a:spcBef>
        <a:spcAft>
          <a:spcPct val="0"/>
        </a:spcAft>
        <a:buBlip>
          <a:blip r:embed="rId13"/>
        </a:buBlip>
        <a:defRPr sz="2000" kern="1200" baseline="0">
          <a:solidFill>
            <a:srgbClr val="002060"/>
          </a:solidFill>
          <a:latin typeface="Verdana" panose="020B0604030504040204" pitchFamily="34" charset="0"/>
          <a:ea typeface="黑体" panose="02010609060101010101" pitchFamily="49" charset="-122"/>
          <a:cs typeface="Times New Roman" panose="02020603050405020304" pitchFamily="18" charset="0"/>
        </a:defRPr>
      </a:lvl4pPr>
      <a:lvl5pPr marL="2057400" indent="-228600" algn="l" rtl="0" fontAlgn="base">
        <a:spcBef>
          <a:spcPct val="20000"/>
        </a:spcBef>
        <a:spcAft>
          <a:spcPct val="0"/>
        </a:spcAft>
        <a:buBlip>
          <a:blip r:embed="rId13"/>
        </a:buBlip>
        <a:defRPr sz="2000" kern="1200" baseline="0">
          <a:solidFill>
            <a:srgbClr val="002060"/>
          </a:solidFill>
          <a:latin typeface="Verdana" panose="020B0604030504040204" pitchFamily="34" charset="0"/>
          <a:ea typeface="黑体" panose="02010609060101010101" pitchFamily="49" charset="-122"/>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9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71500" y="1428750"/>
            <a:ext cx="7772400" cy="1470025"/>
          </a:xfrm>
        </p:spPr>
        <p:txBody>
          <a:bodyPr>
            <a:normAutofit fontScale="90000"/>
          </a:bodyPr>
          <a:lstStyle/>
          <a:p>
            <a:pPr fontAlgn="auto">
              <a:spcAft>
                <a:spcPts val="0"/>
              </a:spcAft>
              <a:defRPr/>
            </a:pPr>
            <a:r>
              <a:rPr lang="en-US" altLang="zh-CN" b="1" dirty="0"/>
              <a:t>Regulating Harvests over Time </a:t>
            </a:r>
            <a:endParaRPr lang="zh-CN" altLang="en-US" dirty="0" smtClean="0"/>
          </a:p>
        </p:txBody>
      </p:sp>
      <p:sp>
        <p:nvSpPr>
          <p:cNvPr id="3" name="副标题 2"/>
          <p:cNvSpPr>
            <a:spLocks noGrp="1"/>
          </p:cNvSpPr>
          <p:nvPr>
            <p:ph type="subTitle" idx="1"/>
          </p:nvPr>
        </p:nvSpPr>
        <p:spPr/>
        <p:txBody>
          <a:bodyPr rtlCol="0">
            <a:normAutofit/>
          </a:bodyPr>
          <a:lstStyle/>
          <a:p>
            <a:pPr fontAlgn="auto">
              <a:spcAft>
                <a:spcPts val="0"/>
              </a:spcAft>
              <a:defRPr/>
            </a:pPr>
            <a:r>
              <a:rPr lang="zh-CN" altLang="en-US" dirty="0"/>
              <a:t>采伐限额和采伐速度</a:t>
            </a:r>
            <a:endParaRPr lang="zh-CN" alt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63" y="0"/>
            <a:ext cx="8229600" cy="1000125"/>
          </a:xfrm>
        </p:spPr>
        <p:txBody>
          <a:bodyPr/>
          <a:lstStyle/>
          <a:p>
            <a:pPr fontAlgn="auto">
              <a:spcAft>
                <a:spcPts val="0"/>
              </a:spcAft>
              <a:defRPr/>
            </a:pPr>
            <a:r>
              <a:rPr lang="en-US" altLang="zh-CN" dirty="0" smtClean="0"/>
              <a:t>Contents</a:t>
            </a:r>
            <a:endParaRPr lang="zh-CN" altLang="en-US" dirty="0" smtClean="0"/>
          </a:p>
        </p:txBody>
      </p:sp>
      <p:sp>
        <p:nvSpPr>
          <p:cNvPr id="5123" name="内容占位符 2"/>
          <p:cNvSpPr>
            <a:spLocks noGrp="1"/>
          </p:cNvSpPr>
          <p:nvPr>
            <p:ph idx="1"/>
          </p:nvPr>
        </p:nvSpPr>
        <p:spPr>
          <a:xfrm>
            <a:off x="457200" y="1089025"/>
            <a:ext cx="8229600" cy="4911725"/>
          </a:xfrm>
        </p:spPr>
        <p:txBody>
          <a:bodyPr>
            <a:normAutofit fontScale="92500"/>
          </a:bodyPr>
          <a:lstStyle/>
          <a:p>
            <a:r>
              <a:rPr lang="en-US" altLang="zh-CN" dirty="0"/>
              <a:t>The Stand and the Forest </a:t>
            </a:r>
            <a:endParaRPr lang="en-US" altLang="zh-CN" dirty="0" smtClean="0"/>
          </a:p>
          <a:p>
            <a:r>
              <a:rPr lang="en-US" altLang="zh-CN" dirty="0" smtClean="0"/>
              <a:t>Market </a:t>
            </a:r>
            <a:r>
              <a:rPr lang="en-US" altLang="zh-CN" dirty="0"/>
              <a:t>Solutions and </a:t>
            </a:r>
            <a:r>
              <a:rPr lang="en-US" altLang="zh-CN" dirty="0" smtClean="0"/>
              <a:t>Limitations</a:t>
            </a:r>
            <a:endParaRPr lang="en-US" altLang="zh-CN" dirty="0"/>
          </a:p>
          <a:p>
            <a:r>
              <a:rPr lang="en-US" altLang="zh-CN" dirty="0"/>
              <a:t>The Regulated </a:t>
            </a:r>
            <a:r>
              <a:rPr lang="en-US" altLang="zh-CN" dirty="0" smtClean="0"/>
              <a:t>Forest</a:t>
            </a:r>
            <a:endParaRPr lang="en-US" altLang="zh-CN" dirty="0"/>
          </a:p>
          <a:p>
            <a:r>
              <a:rPr lang="en-US" altLang="zh-CN" dirty="0"/>
              <a:t>Transition to a Normal Forest </a:t>
            </a:r>
            <a:endParaRPr lang="en-US" altLang="zh-CN" dirty="0"/>
          </a:p>
          <a:p>
            <a:r>
              <a:rPr lang="en-US" altLang="zh-CN" dirty="0"/>
              <a:t>Sustained Yield Rationale and Critique </a:t>
            </a:r>
            <a:endParaRPr lang="en-US" altLang="zh-CN" dirty="0"/>
          </a:p>
          <a:p>
            <a:r>
              <a:rPr lang="en-US" altLang="zh-CN" dirty="0"/>
              <a:t>Timber Harvests over Time in the Absence of Sustained Yield Policy: Market as a </a:t>
            </a:r>
            <a:r>
              <a:rPr lang="en-US" altLang="zh-CN" dirty="0" smtClean="0"/>
              <a:t>Regulator</a:t>
            </a:r>
            <a:endParaRPr lang="en-US" altLang="zh-CN" dirty="0"/>
          </a:p>
          <a:p>
            <a:r>
              <a:rPr lang="en-US" altLang="zh-CN" dirty="0"/>
              <a:t>New Approaches to Forest Regulation </a:t>
            </a:r>
            <a:endParaRPr lang="zh-CN" altLang="en-US" dirty="0" smtClean="0"/>
          </a:p>
        </p:txBody>
      </p:sp>
      <p:pic>
        <p:nvPicPr>
          <p:cNvPr id="5124" name="图片 3" descr="anniu4.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072438" y="5992813"/>
            <a:ext cx="696912"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Stand and the Forest </a:t>
            </a:r>
            <a:br>
              <a:rPr lang="en-US" altLang="zh-CN" dirty="0"/>
            </a:br>
            <a:endParaRPr lang="zh-CN" altLang="en-US" dirty="0"/>
          </a:p>
        </p:txBody>
      </p:sp>
      <p:sp>
        <p:nvSpPr>
          <p:cNvPr id="3" name="文本占位符 2"/>
          <p:cNvSpPr>
            <a:spLocks noGrp="1"/>
          </p:cNvSpPr>
          <p:nvPr>
            <p:ph type="body" idx="1"/>
          </p:nvPr>
        </p:nvSpPr>
        <p:spPr/>
        <p:txBody>
          <a:bodyPr/>
          <a:lstStyle/>
          <a:p>
            <a:r>
              <a:rPr lang="zh-CN" altLang="en-US" dirty="0" smtClean="0"/>
              <a:t>林分和森林</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200" dirty="0" smtClean="0"/>
              <a:t>The </a:t>
            </a:r>
            <a:r>
              <a:rPr lang="en-US" altLang="zh-CN" sz="3200" dirty="0"/>
              <a:t>difference and utility of the terms forest and </a:t>
            </a:r>
            <a:r>
              <a:rPr lang="en-US" altLang="zh-CN" sz="3200" dirty="0" smtClean="0"/>
              <a:t>stand</a:t>
            </a:r>
            <a:endParaRPr lang="zh-CN" altLang="en-US" sz="3200" dirty="0"/>
          </a:p>
        </p:txBody>
      </p:sp>
      <p:sp>
        <p:nvSpPr>
          <p:cNvPr id="3" name="内容占位符 2"/>
          <p:cNvSpPr>
            <a:spLocks noGrp="1"/>
          </p:cNvSpPr>
          <p:nvPr>
            <p:ph idx="1"/>
          </p:nvPr>
        </p:nvSpPr>
        <p:spPr/>
        <p:txBody>
          <a:bodyPr>
            <a:normAutofit fontScale="92500"/>
          </a:bodyPr>
          <a:lstStyle/>
          <a:p>
            <a:r>
              <a:rPr lang="en-US" altLang="zh-CN" dirty="0" smtClean="0">
                <a:solidFill>
                  <a:srgbClr val="FF0000"/>
                </a:solidFill>
              </a:rPr>
              <a:t>Forest</a:t>
            </a:r>
            <a:r>
              <a:rPr lang="en-US" altLang="zh-CN" dirty="0" smtClean="0"/>
              <a:t> </a:t>
            </a:r>
            <a:r>
              <a:rPr lang="en-US" altLang="zh-CN" dirty="0"/>
              <a:t>– A plant association predominantly of trees or other woody vegetation, a collection of </a:t>
            </a:r>
            <a:r>
              <a:rPr lang="en-US" altLang="zh-CN" dirty="0" smtClean="0"/>
              <a:t>stands</a:t>
            </a:r>
            <a:endParaRPr lang="en-US" altLang="zh-CN" dirty="0" smtClean="0"/>
          </a:p>
          <a:p>
            <a:r>
              <a:rPr lang="en-US" altLang="zh-CN" dirty="0">
                <a:solidFill>
                  <a:srgbClr val="FF0000"/>
                </a:solidFill>
              </a:rPr>
              <a:t>Stand </a:t>
            </a:r>
            <a:r>
              <a:rPr lang="en-US" altLang="zh-CN" dirty="0"/>
              <a:t>– An aggregation of trees or other growth occupying a specific area and sufficiently uniform in species composition, size, age, arrangement, and condition as to be distinguished from the forest or other growth on adjoining areas</a:t>
            </a:r>
            <a:r>
              <a:rPr lang="en-US" altLang="zh-CN" dirty="0" smtClean="0"/>
              <a:t>.</a:t>
            </a:r>
            <a:endParaRPr lang="en-US" altLang="zh-CN"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内容占位符 1"/>
          <p:cNvSpPr>
            <a:spLocks noGrp="1"/>
          </p:cNvSpPr>
          <p:nvPr>
            <p:ph idx="1"/>
          </p:nvPr>
        </p:nvSpPr>
        <p:spPr>
          <a:xfrm>
            <a:off x="457200" y="357188"/>
            <a:ext cx="8229600" cy="5929312"/>
          </a:xfrm>
        </p:spPr>
        <p:txBody>
          <a:bodyPr/>
          <a:lstStyle/>
          <a:p>
            <a:r>
              <a:rPr lang="zh-CN" altLang="en-US" dirty="0" smtClean="0"/>
              <a:t>在林业里，通常更关注的是“林分”（</a:t>
            </a:r>
            <a:r>
              <a:rPr lang="en-US" altLang="zh-CN" dirty="0" smtClean="0"/>
              <a:t>stand</a:t>
            </a:r>
            <a:r>
              <a:rPr lang="zh-CN" altLang="en-US" dirty="0" smtClean="0"/>
              <a:t>）</a:t>
            </a:r>
            <a:endParaRPr lang="en-US" altLang="zh-CN" dirty="0" smtClean="0"/>
          </a:p>
          <a:p>
            <a:r>
              <a:rPr lang="zh-CN" altLang="en-US" dirty="0" smtClean="0"/>
              <a:t>是指由树种、树龄、生长速度、以及其它</a:t>
            </a:r>
            <a:r>
              <a:rPr lang="zh-CN" altLang="en-US" b="1" dirty="0" smtClean="0">
                <a:ln w="6600">
                  <a:solidFill>
                    <a:schemeClr val="accent2"/>
                  </a:solidFill>
                  <a:prstDash val="solid"/>
                </a:ln>
                <a:solidFill>
                  <a:srgbClr val="FFFFFF"/>
                </a:solidFill>
                <a:effectLst>
                  <a:outerShdw dist="38100" dir="2700000" algn="tl" rotWithShape="0">
                    <a:schemeClr val="accent2"/>
                  </a:outerShdw>
                </a:effectLst>
              </a:rPr>
              <a:t>特征大体一致</a:t>
            </a:r>
            <a:r>
              <a:rPr lang="zh-CN" altLang="en-US" dirty="0" smtClean="0"/>
              <a:t>的树木所组成的，</a:t>
            </a:r>
            <a:r>
              <a:rPr lang="zh-CN" altLang="en-US"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与临近地段的森林有明显区别</a:t>
            </a:r>
            <a:r>
              <a:rPr lang="zh-CN" altLang="en-US" dirty="0" smtClean="0"/>
              <a:t>的一片树林</a:t>
            </a:r>
            <a:endParaRPr lang="en-US" altLang="zh-CN" dirty="0" smtClean="0"/>
          </a:p>
          <a:p>
            <a:r>
              <a:rPr lang="zh-CN" altLang="en-US" dirty="0" smtClean="0"/>
              <a:t>林分的大小可以有很大不同，但由于树木特征一致，使得管理者可以用统一方式加以管理</a:t>
            </a:r>
            <a:endParaRPr lang="en-US" altLang="zh-CN" dirty="0" smtClean="0"/>
          </a:p>
          <a:p>
            <a:r>
              <a:rPr lang="zh-CN" altLang="en-US" dirty="0" smtClean="0"/>
              <a:t>相反，森林（</a:t>
            </a:r>
            <a:r>
              <a:rPr lang="en-US" altLang="zh-CN" dirty="0" smtClean="0"/>
              <a:t>Forest</a:t>
            </a:r>
            <a:r>
              <a:rPr lang="zh-CN" altLang="en-US" dirty="0" smtClean="0"/>
              <a:t>）是由于所有权或者管理界限不同而划定的</a:t>
            </a:r>
            <a:endParaRPr lang="en-US" altLang="zh-CN" dirty="0" smtClean="0"/>
          </a:p>
          <a:p>
            <a:r>
              <a:rPr lang="zh-CN" altLang="en-US" dirty="0"/>
              <a:t>一</a:t>
            </a:r>
            <a:r>
              <a:rPr lang="zh-CN" altLang="en-US" dirty="0" smtClean="0"/>
              <a:t>片森林通常会包括许多个林分</a:t>
            </a:r>
            <a:endParaRPr lang="zh-CN" altLang="en-US" dirty="0" smtClean="0"/>
          </a:p>
        </p:txBody>
      </p:sp>
      <p:pic>
        <p:nvPicPr>
          <p:cNvPr id="6147" name="图片 3" descr="anniu3.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929563" y="5929313"/>
            <a:ext cx="636587"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内容占位符 2"/>
          <p:cNvGraphicFramePr>
            <a:graphicFrameLocks noGrp="1"/>
          </p:cNvGraphicFramePr>
          <p:nvPr>
            <p:ph idx="1"/>
          </p:nvPr>
        </p:nvGraphicFramePr>
        <p:xfrm>
          <a:off x="683568" y="404664"/>
          <a:ext cx="8208912" cy="61926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scene3d>
              <a:camera prst="orthographicFront"/>
              <a:lightRig rig="threePt" dir="t"/>
            </a:scene3d>
            <a:sp3d prstMaterial="plastic">
              <a:bevelT w="12700"/>
              <a:bevelB w="12700"/>
            </a:sp3d>
          </a:bodyPr>
          <a:lstStyle/>
          <a:p>
            <a:r>
              <a:rPr lang="zh-CN" altLang="en-US" dirty="0" smtClean="0"/>
              <a:t>从单一林分的角度考虑：最优轮伐期问题</a:t>
            </a:r>
            <a:endParaRPr lang="en-US" altLang="zh-CN" dirty="0" smtClean="0"/>
          </a:p>
          <a:p>
            <a:r>
              <a:rPr lang="zh-CN" altLang="en-US" dirty="0" smtClean="0"/>
              <a:t>从整个森林的角度考虑：面对多种不同的林分，如何随着时间变化来制定不同时间的采伐计划</a:t>
            </a:r>
            <a:endParaRPr lang="en-US" altLang="zh-CN" dirty="0" smtClean="0"/>
          </a:p>
          <a:p>
            <a:r>
              <a:rPr lang="en-US" altLang="zh-CN" sz="5400" dirty="0" smtClean="0">
                <a:ln>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a:gradFill flip="none" rotWithShape="1">
                  <a:gsLst>
                    <a:gs pos="0">
                      <a:schemeClr val="accent4">
                        <a:lumMod val="60000"/>
                        <a:lumOff val="40000"/>
                      </a:schemeClr>
                    </a:gs>
                    <a:gs pos="67000">
                      <a:srgbClr val="FFC000">
                        <a:alpha val="74000"/>
                      </a:srgbClr>
                    </a:gs>
                    <a:gs pos="100000">
                      <a:schemeClr val="accent5">
                        <a:lumMod val="40000"/>
                        <a:lumOff val="60000"/>
                      </a:schemeClr>
                    </a:gs>
                  </a:gsLst>
                  <a:path path="circle">
                    <a:fillToRect l="100000" t="100000"/>
                  </a:path>
                  <a:tileRect r="-100000" b="-100000"/>
                </a:gradFill>
                <a:effectLst>
                  <a:outerShdw blurRad="25400" dist="76200" dir="2700000" algn="tl" rotWithShape="0">
                    <a:prstClr val="black">
                      <a:alpha val="40000"/>
                    </a:prstClr>
                  </a:outerShdw>
                </a:effectLst>
              </a:rPr>
              <a:t>——</a:t>
            </a:r>
            <a:r>
              <a:rPr lang="zh-CN" altLang="en-US" sz="5400" dirty="0" smtClean="0">
                <a:ln>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a:gradFill flip="none" rotWithShape="1">
                  <a:gsLst>
                    <a:gs pos="0">
                      <a:schemeClr val="accent4">
                        <a:lumMod val="60000"/>
                        <a:lumOff val="40000"/>
                      </a:schemeClr>
                    </a:gs>
                    <a:gs pos="67000">
                      <a:srgbClr val="FFC000">
                        <a:alpha val="74000"/>
                      </a:srgbClr>
                    </a:gs>
                    <a:gs pos="100000">
                      <a:schemeClr val="accent5">
                        <a:lumMod val="40000"/>
                        <a:lumOff val="60000"/>
                      </a:schemeClr>
                    </a:gs>
                  </a:gsLst>
                  <a:path path="circle">
                    <a:fillToRect l="100000" t="100000"/>
                  </a:path>
                  <a:tileRect r="-100000" b="-100000"/>
                </a:gradFill>
                <a:effectLst>
                  <a:outerShdw blurRad="25400" dist="76200" dir="2700000" algn="tl" rotWithShape="0">
                    <a:prstClr val="black">
                      <a:alpha val="40000"/>
                    </a:prstClr>
                  </a:outerShdw>
                </a:effectLst>
              </a:rPr>
              <a:t>如何来调节采伐速度</a:t>
            </a:r>
            <a:endParaRPr lang="zh-CN" altLang="en-US" sz="5400" dirty="0">
              <a:ln>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a:gradFill flip="none" rotWithShape="1">
                <a:gsLst>
                  <a:gs pos="0">
                    <a:schemeClr val="accent4">
                      <a:lumMod val="60000"/>
                      <a:lumOff val="40000"/>
                    </a:schemeClr>
                  </a:gs>
                  <a:gs pos="67000">
                    <a:srgbClr val="FFC000">
                      <a:alpha val="74000"/>
                    </a:srgbClr>
                  </a:gs>
                  <a:gs pos="100000">
                    <a:schemeClr val="accent5">
                      <a:lumMod val="40000"/>
                      <a:lumOff val="60000"/>
                    </a:schemeClr>
                  </a:gs>
                </a:gsLst>
                <a:path path="circle">
                  <a:fillToRect l="100000" t="100000"/>
                </a:path>
                <a:tileRect r="-100000" b="-100000"/>
              </a:gradFill>
              <a:effectLst>
                <a:outerShdw blurRad="25400" dist="76200" dir="2700000" algn="tl" rotWithShape="0">
                  <a:prstClr val="black">
                    <a:alpha val="40000"/>
                  </a:prstClr>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Market Solutions and Limitations</a:t>
            </a:r>
            <a:br>
              <a:rPr lang="en-US" altLang="zh-CN" dirty="0"/>
            </a:br>
            <a:endParaRPr lang="zh-CN" altLang="en-US" dirty="0"/>
          </a:p>
        </p:txBody>
      </p:sp>
      <p:sp>
        <p:nvSpPr>
          <p:cNvPr id="3" name="文本占位符 2"/>
          <p:cNvSpPr>
            <a:spLocks noGrp="1"/>
          </p:cNvSpPr>
          <p:nvPr>
            <p:ph type="body" idx="1"/>
          </p:nvPr>
        </p:nvSpPr>
        <p:spPr/>
        <p:txBody>
          <a:bodyPr/>
          <a:lstStyle/>
          <a:p>
            <a:r>
              <a:rPr lang="zh-CN" altLang="en-US" dirty="0" smtClean="0"/>
              <a:t>市场规范法及其限制</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357167"/>
            <a:ext cx="8229600" cy="3503882"/>
          </a:xfrm>
        </p:spPr>
        <p:txBody>
          <a:bodyPr/>
          <a:lstStyle/>
          <a:p>
            <a:r>
              <a:rPr lang="zh-CN" altLang="en-US" dirty="0" smtClean="0"/>
              <a:t>在完全市场条件下</a:t>
            </a:r>
            <a:endParaRPr lang="en-US" altLang="zh-CN" dirty="0" smtClean="0"/>
          </a:p>
          <a:p>
            <a:r>
              <a:rPr lang="zh-CN" altLang="en-US" dirty="0" smtClean="0"/>
              <a:t>按照弗斯曼模型选择每片林分的最优轮伐期</a:t>
            </a:r>
            <a:endParaRPr lang="en-US" altLang="zh-CN" dirty="0" smtClean="0"/>
          </a:p>
          <a:p>
            <a:r>
              <a:rPr lang="zh-CN" altLang="en-US" dirty="0" smtClean="0"/>
              <a:t>假定：</a:t>
            </a:r>
            <a:endParaRPr lang="en-US" altLang="zh-CN" dirty="0" smtClean="0"/>
          </a:p>
          <a:p>
            <a:r>
              <a:rPr lang="zh-CN" altLang="en-US" dirty="0"/>
              <a:t>最</a:t>
            </a:r>
            <a:r>
              <a:rPr lang="zh-CN" altLang="en-US" dirty="0" smtClean="0"/>
              <a:t>优轮伐期为</a:t>
            </a:r>
            <a:r>
              <a:rPr lang="en-US" altLang="zh-CN" dirty="0" smtClean="0"/>
              <a:t>t</a:t>
            </a:r>
            <a:endParaRPr lang="en-US" altLang="zh-CN" dirty="0" smtClean="0"/>
          </a:p>
          <a:p>
            <a:r>
              <a:rPr lang="zh-CN" altLang="en-US" dirty="0" smtClean="0"/>
              <a:t>有</a:t>
            </a:r>
            <a:r>
              <a:rPr lang="en-US" altLang="zh-CN" dirty="0" smtClean="0"/>
              <a:t>t</a:t>
            </a:r>
            <a:r>
              <a:rPr lang="zh-CN" altLang="en-US" dirty="0" smtClean="0"/>
              <a:t>片林分</a:t>
            </a:r>
            <a:endParaRPr lang="en-US" altLang="zh-CN" dirty="0" smtClean="0"/>
          </a:p>
        </p:txBody>
      </p:sp>
      <p:sp>
        <p:nvSpPr>
          <p:cNvPr id="4" name="文本框 3"/>
          <p:cNvSpPr txBox="1"/>
          <p:nvPr/>
        </p:nvSpPr>
        <p:spPr>
          <a:xfrm>
            <a:off x="3578434" y="1556792"/>
            <a:ext cx="5122912" cy="3000732"/>
          </a:xfrm>
          <a:prstGeom prst="snipRound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pPr marL="571500" indent="-571500">
              <a:buFont typeface="Arial" panose="020B0604020202020204" pitchFamily="34" charset="0"/>
              <a:buChar char="•"/>
            </a:pPr>
            <a:r>
              <a:rPr lang="zh-CN" altLang="en-US" sz="3600" dirty="0">
                <a:solidFill>
                  <a:schemeClr val="tx2">
                    <a:lumMod val="60000"/>
                    <a:lumOff val="40000"/>
                  </a:schemeClr>
                </a:solidFill>
                <a:latin typeface="黑体" panose="02010609060101010101" pitchFamily="49" charset="-122"/>
                <a:ea typeface="黑体" panose="02010609060101010101" pitchFamily="49" charset="-122"/>
              </a:rPr>
              <a:t>如果每片林分的树龄从</a:t>
            </a:r>
            <a:r>
              <a:rPr lang="en-US" altLang="zh-CN" sz="3600" dirty="0">
                <a:solidFill>
                  <a:schemeClr val="tx2">
                    <a:lumMod val="60000"/>
                    <a:lumOff val="40000"/>
                  </a:schemeClr>
                </a:solidFill>
                <a:latin typeface="黑体" panose="02010609060101010101" pitchFamily="49" charset="-122"/>
                <a:ea typeface="黑体" panose="02010609060101010101" pitchFamily="49" charset="-122"/>
              </a:rPr>
              <a:t>0-t</a:t>
            </a:r>
            <a:r>
              <a:rPr lang="zh-CN" altLang="en-US" sz="3600" dirty="0">
                <a:solidFill>
                  <a:schemeClr val="tx2">
                    <a:lumMod val="60000"/>
                    <a:lumOff val="40000"/>
                  </a:schemeClr>
                </a:solidFill>
                <a:latin typeface="黑体" panose="02010609060101010101" pitchFamily="49" charset="-122"/>
                <a:ea typeface="黑体" panose="02010609060101010101" pitchFamily="49" charset="-122"/>
              </a:rPr>
              <a:t>分布</a:t>
            </a:r>
            <a:endParaRPr lang="en-US" altLang="zh-CN" sz="3600" dirty="0">
              <a:solidFill>
                <a:schemeClr val="tx2">
                  <a:lumMod val="60000"/>
                  <a:lumOff val="40000"/>
                </a:schemeClr>
              </a:solidFill>
              <a:latin typeface="黑体" panose="02010609060101010101" pitchFamily="49" charset="-122"/>
              <a:ea typeface="黑体" panose="02010609060101010101" pitchFamily="49" charset="-122"/>
            </a:endParaRPr>
          </a:p>
          <a:p>
            <a:pPr marL="571500" indent="-571500">
              <a:buFont typeface="Arial" panose="020B0604020202020204" pitchFamily="34" charset="0"/>
              <a:buChar char="•"/>
            </a:pPr>
            <a:r>
              <a:rPr lang="zh-CN" altLang="en-US" sz="3600" dirty="0">
                <a:solidFill>
                  <a:schemeClr val="tx2">
                    <a:lumMod val="60000"/>
                    <a:lumOff val="40000"/>
                  </a:schemeClr>
                </a:solidFill>
                <a:latin typeface="黑体" panose="02010609060101010101" pitchFamily="49" charset="-122"/>
                <a:ea typeface="黑体" panose="02010609060101010101" pitchFamily="49" charset="-122"/>
              </a:rPr>
              <a:t>则</a:t>
            </a:r>
            <a:r>
              <a:rPr lang="zh-CN" altLang="en-US" sz="3600" dirty="0" smtClean="0">
                <a:solidFill>
                  <a:schemeClr val="tx2">
                    <a:lumMod val="60000"/>
                    <a:lumOff val="40000"/>
                  </a:schemeClr>
                </a:solidFill>
                <a:latin typeface="黑体" panose="02010609060101010101" pitchFamily="49" charset="-122"/>
                <a:ea typeface="黑体" panose="02010609060101010101" pitchFamily="49" charset="-122"/>
              </a:rPr>
              <a:t>每年采伐一个林分</a:t>
            </a:r>
            <a:endParaRPr lang="en-US" altLang="zh-CN" sz="3600" dirty="0" smtClean="0">
              <a:solidFill>
                <a:schemeClr val="tx2">
                  <a:lumMod val="60000"/>
                  <a:lumOff val="40000"/>
                </a:schemeClr>
              </a:solidFill>
              <a:latin typeface="黑体" panose="02010609060101010101" pitchFamily="49" charset="-122"/>
              <a:ea typeface="黑体" panose="02010609060101010101" pitchFamily="49" charset="-122"/>
            </a:endParaRPr>
          </a:p>
          <a:p>
            <a:pPr marL="571500" indent="-571500">
              <a:buFont typeface="Arial" panose="020B0604020202020204" pitchFamily="34" charset="0"/>
              <a:buChar char="•"/>
            </a:pPr>
            <a:r>
              <a:rPr lang="zh-CN" altLang="en-US" sz="3600" dirty="0" smtClean="0">
                <a:solidFill>
                  <a:schemeClr val="tx2">
                    <a:lumMod val="60000"/>
                    <a:lumOff val="40000"/>
                  </a:schemeClr>
                </a:solidFill>
                <a:latin typeface="黑体" panose="02010609060101010101" pitchFamily="49" charset="-122"/>
                <a:ea typeface="黑体" panose="02010609060101010101" pitchFamily="49" charset="-122"/>
              </a:rPr>
              <a:t>每年的采伐量恒定</a:t>
            </a:r>
            <a:endParaRPr lang="zh-CN" altLang="en-US" sz="3600" dirty="0">
              <a:solidFill>
                <a:schemeClr val="tx2">
                  <a:lumMod val="60000"/>
                  <a:lumOff val="40000"/>
                </a:schemeClr>
              </a:solidFill>
              <a:latin typeface="黑体" panose="02010609060101010101" pitchFamily="49" charset="-122"/>
              <a:ea typeface="黑体" panose="02010609060101010101" pitchFamily="49" charset="-122"/>
            </a:endParaRPr>
          </a:p>
        </p:txBody>
      </p:sp>
      <p:sp>
        <p:nvSpPr>
          <p:cNvPr id="5" name="文本框 4"/>
          <p:cNvSpPr txBox="1"/>
          <p:nvPr/>
        </p:nvSpPr>
        <p:spPr>
          <a:xfrm>
            <a:off x="673553" y="4528037"/>
            <a:ext cx="8003232" cy="2031325"/>
          </a:xfrm>
          <a:prstGeom prst="rect">
            <a:avLst/>
          </a:prstGeom>
          <a:noFill/>
        </p:spPr>
        <p:txBody>
          <a:bodyPr wrap="square" rtlCol="0" anchor="ctr">
            <a:spAutoFit/>
          </a:bodyPr>
          <a:lstStyle/>
          <a:p>
            <a:pPr marL="571500" indent="-571500">
              <a:buFont typeface="Arial" panose="020B0604020202020204" pitchFamily="34" charset="0"/>
              <a:buChar char="•"/>
            </a:pPr>
            <a:r>
              <a:rPr lang="zh-CN" altLang="en-US" sz="3600" dirty="0">
                <a:solidFill>
                  <a:schemeClr val="accent3">
                    <a:lumMod val="75000"/>
                  </a:schemeClr>
                </a:solidFill>
                <a:latin typeface="黑体" panose="02010609060101010101" pitchFamily="49" charset="-122"/>
                <a:ea typeface="黑体" panose="02010609060101010101" pitchFamily="49" charset="-122"/>
              </a:rPr>
              <a:t>如果所有林分的年龄</a:t>
            </a:r>
            <a:r>
              <a:rPr lang="zh-CN" altLang="en-US" sz="3600" dirty="0" smtClean="0">
                <a:solidFill>
                  <a:schemeClr val="accent3">
                    <a:lumMod val="75000"/>
                  </a:schemeClr>
                </a:solidFill>
                <a:latin typeface="黑体" panose="02010609060101010101" pitchFamily="49" charset="-122"/>
                <a:ea typeface="黑体" panose="02010609060101010101" pitchFamily="49" charset="-122"/>
              </a:rPr>
              <a:t>相同</a:t>
            </a:r>
            <a:endParaRPr lang="en-US" altLang="zh-CN" sz="3600" dirty="0" smtClean="0">
              <a:solidFill>
                <a:schemeClr val="accent3">
                  <a:lumMod val="75000"/>
                </a:schemeClr>
              </a:solidFill>
              <a:latin typeface="黑体" panose="02010609060101010101" pitchFamily="49" charset="-122"/>
              <a:ea typeface="黑体" panose="02010609060101010101" pitchFamily="49" charset="-122"/>
            </a:endParaRPr>
          </a:p>
          <a:p>
            <a:pPr marL="571500" indent="-571500">
              <a:buFont typeface="Arial" panose="020B0604020202020204" pitchFamily="34" charset="0"/>
              <a:buChar char="•"/>
            </a:pPr>
            <a:r>
              <a:rPr lang="zh-CN" altLang="en-US" sz="3600" dirty="0" smtClean="0">
                <a:solidFill>
                  <a:schemeClr val="accent3">
                    <a:lumMod val="75000"/>
                  </a:schemeClr>
                </a:solidFill>
                <a:latin typeface="黑体" panose="02010609060101010101" pitchFamily="49" charset="-122"/>
                <a:ea typeface="黑体" panose="02010609060101010101" pitchFamily="49" charset="-122"/>
              </a:rPr>
              <a:t>则在最优轮伐期采伐所有树林</a:t>
            </a:r>
            <a:endParaRPr lang="en-US" altLang="zh-CN" sz="3600" dirty="0" smtClean="0">
              <a:solidFill>
                <a:schemeClr val="accent3">
                  <a:lumMod val="75000"/>
                </a:schemeClr>
              </a:solidFill>
              <a:latin typeface="黑体" panose="02010609060101010101" pitchFamily="49" charset="-122"/>
              <a:ea typeface="黑体" panose="02010609060101010101" pitchFamily="49" charset="-122"/>
            </a:endParaRPr>
          </a:p>
          <a:p>
            <a:pPr marL="571500" indent="-571500">
              <a:buFont typeface="Arial" panose="020B0604020202020204" pitchFamily="34" charset="0"/>
              <a:buChar char="•"/>
            </a:pPr>
            <a:r>
              <a:rPr lang="zh-CN" altLang="en-US" sz="3600" dirty="0" smtClean="0">
                <a:solidFill>
                  <a:schemeClr val="accent3">
                    <a:lumMod val="75000"/>
                  </a:schemeClr>
                </a:solidFill>
                <a:latin typeface="黑体" panose="02010609060101010101" pitchFamily="49" charset="-122"/>
                <a:ea typeface="黑体" panose="02010609060101010101" pitchFamily="49" charset="-122"/>
              </a:rPr>
              <a:t>其它时间无林可采</a:t>
            </a:r>
            <a:endParaRPr lang="en-US" altLang="zh-CN" sz="3600" dirty="0">
              <a:solidFill>
                <a:schemeClr val="accent3">
                  <a:lumMod val="75000"/>
                </a:schemeClr>
              </a:solidFill>
              <a:latin typeface="黑体" panose="02010609060101010101" pitchFamily="49" charset="-122"/>
              <a:ea typeface="黑体" panose="02010609060101010101" pitchFamily="49" charset="-122"/>
            </a:endParaRPr>
          </a:p>
          <a:p>
            <a:endParaRPr lang="zh-CN" altLang="en-US" dirty="0">
              <a:solidFill>
                <a:schemeClr val="accent3">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Two extremes</a:t>
            </a:r>
            <a:endParaRPr lang="zh-CN" altLang="en-US" dirty="0"/>
          </a:p>
        </p:txBody>
      </p:sp>
      <p:sp>
        <p:nvSpPr>
          <p:cNvPr id="3" name="内容占位符 2"/>
          <p:cNvSpPr>
            <a:spLocks noGrp="1"/>
          </p:cNvSpPr>
          <p:nvPr>
            <p:ph sz="half" idx="1"/>
          </p:nvPr>
        </p:nvSpPr>
        <p:spPr/>
        <p:txBody>
          <a:bodyPr/>
          <a:lstStyle/>
          <a:p>
            <a:r>
              <a:rPr lang="en-US" altLang="zh-CN" dirty="0" smtClean="0"/>
              <a:t>There was a stand of each age class from zero to the rotation age</a:t>
            </a:r>
            <a:r>
              <a:rPr lang="zh-CN" altLang="en-US" dirty="0" smtClean="0"/>
              <a:t>，</a:t>
            </a:r>
            <a:r>
              <a:rPr lang="en-US" altLang="zh-CN" dirty="0" smtClean="0"/>
              <a:t>the rule for maximizing returns would result in one stand being harvested each year forever</a:t>
            </a:r>
            <a:endParaRPr lang="zh-CN" altLang="en-US" dirty="0"/>
          </a:p>
        </p:txBody>
      </p:sp>
      <p:sp>
        <p:nvSpPr>
          <p:cNvPr id="4" name="内容占位符 3"/>
          <p:cNvSpPr>
            <a:spLocks noGrp="1"/>
          </p:cNvSpPr>
          <p:nvPr>
            <p:ph sz="half" idx="2"/>
          </p:nvPr>
        </p:nvSpPr>
        <p:spPr/>
        <p:txBody>
          <a:bodyPr/>
          <a:lstStyle/>
          <a:p>
            <a:r>
              <a:rPr lang="en-US" altLang="zh-CN" dirty="0" smtClean="0"/>
              <a:t>If all the stands were the same age</a:t>
            </a:r>
            <a:r>
              <a:rPr lang="zh-CN" altLang="en-US" dirty="0" smtClean="0"/>
              <a:t>，</a:t>
            </a:r>
            <a:r>
              <a:rPr lang="en-US" altLang="zh-CN" dirty="0" smtClean="0"/>
              <a:t>the whole</a:t>
            </a:r>
            <a:r>
              <a:rPr lang="zh-CN" altLang="en-US" dirty="0" smtClean="0"/>
              <a:t> </a:t>
            </a:r>
            <a:r>
              <a:rPr lang="en-US" altLang="zh-CN" dirty="0" smtClean="0"/>
              <a:t>forest would be</a:t>
            </a:r>
            <a:r>
              <a:rPr lang="en-US" altLang="zh-CN" dirty="0"/>
              <a:t> </a:t>
            </a:r>
            <a:r>
              <a:rPr lang="en-US" altLang="zh-CN" dirty="0" smtClean="0"/>
              <a:t>harvested in a single year in each rotation period.</a:t>
            </a:r>
            <a:endParaRPr lang="en-US" altLang="zh-CN"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以上两种为极端情况</a:t>
            </a:r>
            <a:endParaRPr lang="en-US" altLang="zh-CN" dirty="0" smtClean="0"/>
          </a:p>
          <a:p>
            <a:r>
              <a:rPr lang="zh-CN" altLang="en-US" dirty="0" smtClean="0"/>
              <a:t>而现实中的情形则介于两者之间</a:t>
            </a:r>
            <a:endParaRPr lang="en-US" altLang="zh-CN" dirty="0" smtClean="0"/>
          </a:p>
          <a:p>
            <a:r>
              <a:rPr lang="zh-CN" altLang="en-US" dirty="0" smtClean="0"/>
              <a:t>因此对森林的采伐量大小也会在不同年份间存在波动</a:t>
            </a:r>
            <a:endParaRPr lang="en-US" altLang="zh-CN" dirty="0" smtClean="0"/>
          </a:p>
          <a:p>
            <a:r>
              <a:rPr lang="zh-CN" altLang="en-US" dirty="0" smtClean="0"/>
              <a:t>此外，除了计算最优轮伐期外，还要考虑木材市场的价格、以及技术、成本等方面的变化。</a:t>
            </a:r>
            <a:endParaRPr lang="en-US" altLang="zh-CN" dirty="0" smtClean="0"/>
          </a:p>
          <a:p>
            <a:r>
              <a:rPr lang="zh-CN" altLang="en-US" dirty="0" smtClean="0"/>
              <a:t>这些都会对采伐速度和不同时间内的采伐产量带来影响</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短期内的产量变化可能导致高成本</a:t>
            </a:r>
            <a:endParaRPr lang="zh-CN" altLang="en-US" dirty="0"/>
          </a:p>
        </p:txBody>
      </p:sp>
      <p:sp>
        <p:nvSpPr>
          <p:cNvPr id="3" name="内容占位符 2"/>
          <p:cNvSpPr>
            <a:spLocks noGrp="1"/>
          </p:cNvSpPr>
          <p:nvPr>
            <p:ph sz="quarter" idx="13"/>
          </p:nvPr>
        </p:nvSpPr>
        <p:spPr>
          <a:xfrm>
            <a:off x="468312" y="1196975"/>
            <a:ext cx="8424168" cy="4896321"/>
          </a:xfrm>
          <a:gradFill>
            <a:gsLst>
              <a:gs pos="6468">
                <a:srgbClr val="DFD7E7">
                  <a:alpha val="36000"/>
                </a:srgbClr>
              </a:gs>
              <a:gs pos="0">
                <a:schemeClr val="accent4">
                  <a:lumMod val="20000"/>
                  <a:lumOff val="80000"/>
                </a:schemeClr>
              </a:gs>
              <a:gs pos="44000">
                <a:schemeClr val="accent4">
                  <a:lumMod val="60000"/>
                  <a:lumOff val="40000"/>
                  <a:alpha val="45000"/>
                </a:schemeClr>
              </a:gs>
              <a:gs pos="96000">
                <a:srgbClr val="D8CFE2">
                  <a:alpha val="53000"/>
                </a:srgbClr>
              </a:gs>
              <a:gs pos="100000">
                <a:schemeClr val="bg1"/>
              </a:gs>
            </a:gsLst>
          </a:gradFill>
        </p:spPr>
        <p:txBody>
          <a:bodyPr/>
          <a:lstStyle/>
          <a:p>
            <a:r>
              <a:rPr lang="zh-CN" altLang="en-US" dirty="0" smtClean="0"/>
              <a:t>最有效的产量调整方式是避免太大的产量波动</a:t>
            </a:r>
            <a:endParaRPr lang="en-US" altLang="zh-CN" dirty="0" smtClean="0"/>
          </a:p>
          <a:p>
            <a:r>
              <a:rPr lang="zh-CN" altLang="en-US" dirty="0"/>
              <a:t>但</a:t>
            </a:r>
            <a:r>
              <a:rPr lang="zh-CN" altLang="en-US" dirty="0" smtClean="0"/>
              <a:t>这并不意味着采伐速度不变</a:t>
            </a:r>
            <a:endParaRPr lang="en-US" altLang="zh-CN" dirty="0" smtClean="0"/>
          </a:p>
          <a:p>
            <a:r>
              <a:rPr lang="zh-CN" altLang="en-US" dirty="0" smtClean="0"/>
              <a:t>此外，各种市场不完善也会干扰生产者的决策，进而导致低效率的资源利用</a:t>
            </a:r>
            <a:endParaRPr lang="en-US" altLang="zh-CN" dirty="0" smtClean="0"/>
          </a:p>
          <a:p>
            <a:r>
              <a:rPr lang="zh-CN" altLang="en-US" dirty="0" smtClean="0"/>
              <a:t>而为了应对市场失灵，政府的干涉又可能和林主本身的利益之间发生矛盾</a:t>
            </a:r>
            <a:endParaRPr lang="en-US" altLang="zh-CN" dirty="0" smtClean="0"/>
          </a:p>
          <a:p>
            <a:r>
              <a:rPr lang="zh-CN" altLang="en-US" dirty="0" smtClean="0"/>
              <a:t>如何同时面对市场失灵和政府失灵，就成为森林资源管理规划的重要难题</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3528" y="260648"/>
            <a:ext cx="8435280" cy="6384202"/>
          </a:xfrm>
        </p:spPr>
        <p:txBody>
          <a:bodyPr/>
          <a:lstStyle/>
          <a:p>
            <a:r>
              <a:rPr lang="zh-CN" altLang="en-US" dirty="0" smtClean="0"/>
              <a:t>森林的永续利用：</a:t>
            </a:r>
            <a:endParaRPr lang="en-US" altLang="zh-CN" dirty="0" smtClean="0"/>
          </a:p>
          <a:p>
            <a:pPr lvl="1"/>
            <a:r>
              <a:rPr lang="en-US" altLang="zh-CN" dirty="0" smtClean="0"/>
              <a:t>1795</a:t>
            </a:r>
            <a:r>
              <a:rPr lang="zh-CN" altLang="en-US" dirty="0" smtClean="0"/>
              <a:t>，德国，</a:t>
            </a:r>
            <a:r>
              <a:rPr lang="en-US" altLang="zh-CN" dirty="0"/>
              <a:t>Georg Ludwig </a:t>
            </a:r>
            <a:r>
              <a:rPr lang="en-US" altLang="zh-CN" dirty="0" err="1" smtClean="0"/>
              <a:t>Hartig</a:t>
            </a:r>
            <a:r>
              <a:rPr lang="zh-CN" altLang="en-US" dirty="0" smtClean="0"/>
              <a:t>（</a:t>
            </a:r>
            <a:r>
              <a:rPr lang="en-US" altLang="zh-CN" dirty="0" smtClean="0"/>
              <a:t>G.L.</a:t>
            </a:r>
            <a:r>
              <a:rPr lang="zh-CN" altLang="en-US" dirty="0" smtClean="0"/>
              <a:t>哈蒂格）发表了关于森林永续利用思想的论述：“森林经营管理应该有这样调节的森林采伐量，以致世世代代从森林中得到好处，至少有我们这一代这样多”</a:t>
            </a:r>
            <a:endParaRPr lang="en-US" altLang="zh-CN" dirty="0" smtClean="0"/>
          </a:p>
          <a:p>
            <a:pPr lvl="1"/>
            <a:r>
              <a:rPr lang="en-US" altLang="zh-CN" dirty="0" smtClean="0"/>
              <a:t>1811</a:t>
            </a:r>
            <a:r>
              <a:rPr lang="zh-CN" altLang="en-US" dirty="0" smtClean="0"/>
              <a:t>年哈蒂格出任德国林业局长，并主张大力营造人工针叶纯林，到</a:t>
            </a:r>
            <a:r>
              <a:rPr lang="en-US" altLang="zh-CN" dirty="0" smtClean="0"/>
              <a:t>19</a:t>
            </a:r>
            <a:r>
              <a:rPr lang="zh-CN" altLang="en-US" dirty="0" smtClean="0"/>
              <a:t>世纪中叶，德国许多阔叶林变为人工纯针叶林</a:t>
            </a:r>
            <a:endParaRPr lang="en-US" altLang="zh-CN" dirty="0" smtClean="0"/>
          </a:p>
          <a:p>
            <a:pPr lvl="1"/>
            <a:r>
              <a:rPr lang="zh-CN" altLang="en-US" dirty="0" smtClean="0"/>
              <a:t>然而，单一林种也会带来较大的危害，包括土壤退化、地力下降、病虫害加剧等</a:t>
            </a:r>
            <a:endParaRPr lang="en-US" altLang="zh-CN" dirty="0" smtClean="0"/>
          </a:p>
          <a:p>
            <a:pPr lvl="1"/>
            <a:r>
              <a:rPr lang="en-US" altLang="zh-CN" dirty="0" smtClean="0"/>
              <a:t>1886</a:t>
            </a:r>
            <a:r>
              <a:rPr lang="zh-CN" altLang="en-US" dirty="0" smtClean="0"/>
              <a:t>年，德国林学家</a:t>
            </a:r>
            <a:r>
              <a:rPr lang="en-US" altLang="zh-CN" dirty="0"/>
              <a:t>Johann Christian Karl </a:t>
            </a:r>
            <a:r>
              <a:rPr lang="en-US" altLang="zh-CN" dirty="0" smtClean="0"/>
              <a:t>Gayer</a:t>
            </a:r>
            <a:r>
              <a:rPr lang="zh-CN" altLang="en-US" dirty="0" smtClean="0"/>
              <a:t>（</a:t>
            </a:r>
            <a:r>
              <a:rPr lang="en-US" altLang="zh-CN" dirty="0"/>
              <a:t>J.C.K.</a:t>
            </a:r>
            <a:r>
              <a:rPr lang="zh-CN" altLang="en-US" dirty="0"/>
              <a:t>盖耶尔</a:t>
            </a:r>
            <a:r>
              <a:rPr lang="zh-CN" altLang="en-US" dirty="0" smtClean="0"/>
              <a:t>）提出异龄林经营的“近自然林业”理论</a:t>
            </a:r>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dirty="0" smtClean="0"/>
              <a:t>1826</a:t>
            </a:r>
            <a:r>
              <a:rPr lang="zh-CN" altLang="en-US" dirty="0" smtClean="0"/>
              <a:t>年，另一名著名的德国林业学家</a:t>
            </a:r>
            <a:r>
              <a:rPr lang="de-DE" altLang="zh-CN" dirty="0"/>
              <a:t>Johann Christian Hundeshagen</a:t>
            </a:r>
            <a:endParaRPr lang="de-DE" altLang="zh-CN" dirty="0"/>
          </a:p>
          <a:p>
            <a:pPr marL="0" indent="0">
              <a:buNone/>
            </a:pPr>
            <a:r>
              <a:rPr lang="zh-CN" altLang="en-US" dirty="0" smtClean="0"/>
              <a:t>（</a:t>
            </a:r>
            <a:r>
              <a:rPr lang="en-US" altLang="zh-CN" dirty="0" smtClean="0"/>
              <a:t>J.C.</a:t>
            </a:r>
            <a:r>
              <a:rPr lang="zh-CN" altLang="en-US" dirty="0" smtClean="0"/>
              <a:t>洪德斯哈根）创立了“法正林”学说（</a:t>
            </a:r>
            <a:r>
              <a:rPr lang="en-US" altLang="zh-CN" dirty="0" smtClean="0"/>
              <a:t>The </a:t>
            </a:r>
            <a:r>
              <a:rPr lang="en-US" altLang="zh-CN" dirty="0"/>
              <a:t>Normal Forest </a:t>
            </a:r>
            <a:r>
              <a:rPr lang="zh-CN" altLang="en-US" dirty="0" smtClean="0"/>
              <a:t>）</a:t>
            </a:r>
            <a:endParaRPr lang="en-US" altLang="zh-CN" dirty="0" smtClean="0"/>
          </a:p>
          <a:p>
            <a:r>
              <a:rPr lang="zh-CN" altLang="en-US" dirty="0"/>
              <a:t>这</a:t>
            </a:r>
            <a:r>
              <a:rPr lang="zh-CN" altLang="en-US" dirty="0" smtClean="0"/>
              <a:t>一针对同龄林经营的永续利用理论的出现和完善，标志着在作业级水平上木材永续利用理论的成熟</a:t>
            </a:r>
            <a:endParaRPr lang="en-US" altLang="zh-CN" dirty="0" smtClean="0"/>
          </a:p>
          <a:p>
            <a:r>
              <a:rPr lang="en-US" altLang="zh-CN" dirty="0" smtClean="0"/>
              <a:t>1961</a:t>
            </a:r>
            <a:r>
              <a:rPr lang="zh-CN" altLang="en-US" dirty="0" smtClean="0"/>
              <a:t>年，日本名古屋大学铃木太七教授针对日本中幼林占优势，而成熟、过熟林占少数的特点，提出了广义法正林学说，核心思想是用森林累积面积分配示意图来判断某块林地是否处于法正状态。</a:t>
            </a:r>
            <a:endParaRPr lang="en-US" altLang="zh-CN" dirty="0"/>
          </a:p>
          <a:p>
            <a:pPr marL="0" indent="0">
              <a:buNone/>
            </a:pP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Regulated </a:t>
            </a:r>
            <a:r>
              <a:rPr lang="en-US" altLang="zh-CN" dirty="0" smtClean="0"/>
              <a:t>Forest</a:t>
            </a:r>
            <a:endParaRPr lang="zh-CN" altLang="en-US" dirty="0"/>
          </a:p>
        </p:txBody>
      </p:sp>
      <p:sp>
        <p:nvSpPr>
          <p:cNvPr id="3" name="文本占位符 2"/>
          <p:cNvSpPr>
            <a:spLocks noGrp="1"/>
          </p:cNvSpPr>
          <p:nvPr>
            <p:ph type="body" idx="1"/>
          </p:nvPr>
        </p:nvSpPr>
        <p:spPr/>
        <p:txBody>
          <a:bodyPr/>
          <a:lstStyle/>
          <a:p>
            <a:r>
              <a:rPr lang="zh-CN" altLang="en-US" dirty="0" smtClean="0"/>
              <a:t>法正林</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smtClean="0"/>
              <a:t>什么是“法正林”（</a:t>
            </a:r>
            <a:r>
              <a:rPr lang="en-US" altLang="zh-CN" sz="3600" dirty="0" smtClean="0"/>
              <a:t>the normal forest</a:t>
            </a:r>
            <a:r>
              <a:rPr lang="zh-CN" altLang="en-US" sz="3600" dirty="0" smtClean="0"/>
              <a:t>）</a:t>
            </a:r>
            <a:endParaRPr lang="zh-CN" altLang="en-US" sz="3600" dirty="0"/>
          </a:p>
        </p:txBody>
      </p:sp>
      <p:sp>
        <p:nvSpPr>
          <p:cNvPr id="3" name="内容占位符 2"/>
          <p:cNvSpPr>
            <a:spLocks noGrp="1"/>
          </p:cNvSpPr>
          <p:nvPr>
            <p:ph idx="1"/>
          </p:nvPr>
        </p:nvSpPr>
        <p:spPr/>
        <p:txBody>
          <a:bodyPr/>
          <a:lstStyle/>
          <a:p>
            <a:r>
              <a:rPr lang="en-US" altLang="zh-CN" dirty="0" smtClean="0"/>
              <a:t>The normal forest is a forest with an even distribution of age classes</a:t>
            </a:r>
            <a:r>
              <a:rPr lang="zh-CN" altLang="en-US" dirty="0" smtClean="0"/>
              <a:t>，</a:t>
            </a:r>
            <a:r>
              <a:rPr lang="en-US" altLang="zh-CN" dirty="0" smtClean="0"/>
              <a:t>so that it is capable of yielding the same volume of timber every year in perpetuity</a:t>
            </a:r>
            <a:endParaRPr lang="en-US" altLang="zh-CN" dirty="0" smtClean="0"/>
          </a:p>
          <a:p>
            <a:r>
              <a:rPr lang="zh-CN" altLang="en-US" dirty="0" smtClean="0"/>
              <a:t>法正林是具有均衡龄级分布，能永远地每年生产同样数量木材的森林</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1772816"/>
            <a:ext cx="8229600" cy="3096344"/>
          </a:xfrm>
        </p:spPr>
        <p:txBody>
          <a:bodyPr/>
          <a:lstStyle/>
          <a:p>
            <a:r>
              <a:rPr lang="zh-CN" altLang="en-US" dirty="0" smtClean="0"/>
              <a:t>法正林的条件</a:t>
            </a:r>
            <a:endParaRPr lang="en-US" altLang="zh-CN" dirty="0" smtClean="0"/>
          </a:p>
          <a:p>
            <a:pPr lvl="1"/>
            <a:r>
              <a:rPr lang="zh-CN" altLang="en-US" dirty="0" smtClean="0"/>
              <a:t>法正龄级分配（</a:t>
            </a:r>
            <a:r>
              <a:rPr lang="en-US" altLang="zh-CN" dirty="0" smtClean="0"/>
              <a:t>normal age class</a:t>
            </a:r>
            <a:r>
              <a:rPr lang="zh-CN" altLang="en-US" dirty="0" smtClean="0"/>
              <a:t>）</a:t>
            </a:r>
            <a:endParaRPr lang="en-US" altLang="zh-CN" dirty="0" smtClean="0"/>
          </a:p>
          <a:p>
            <a:pPr lvl="1"/>
            <a:r>
              <a:rPr lang="zh-CN" altLang="en-US" dirty="0" smtClean="0"/>
              <a:t>法正林分排列（</a:t>
            </a:r>
            <a:r>
              <a:rPr lang="en-US" altLang="zh-CN" dirty="0" smtClean="0"/>
              <a:t>normal stand arrangement</a:t>
            </a:r>
            <a:r>
              <a:rPr lang="zh-CN" altLang="en-US" dirty="0" smtClean="0"/>
              <a:t>）</a:t>
            </a:r>
            <a:endParaRPr lang="en-US" altLang="zh-CN" dirty="0" smtClean="0"/>
          </a:p>
          <a:p>
            <a:pPr lvl="1"/>
            <a:r>
              <a:rPr lang="zh-CN" altLang="en-US" dirty="0" smtClean="0"/>
              <a:t>法正生长量（</a:t>
            </a:r>
            <a:r>
              <a:rPr lang="en-US" altLang="zh-CN" dirty="0" smtClean="0"/>
              <a:t>normal growth</a:t>
            </a:r>
            <a:r>
              <a:rPr lang="zh-CN" altLang="en-US" dirty="0" smtClean="0"/>
              <a:t>）</a:t>
            </a:r>
            <a:endParaRPr lang="en-US" altLang="zh-CN" dirty="0" smtClean="0"/>
          </a:p>
          <a:p>
            <a:pPr lvl="1"/>
            <a:r>
              <a:rPr lang="zh-CN" altLang="en-US" dirty="0" smtClean="0"/>
              <a:t>法正蓄积量（</a:t>
            </a:r>
            <a:r>
              <a:rPr lang="en-US" altLang="zh-CN" dirty="0" smtClean="0"/>
              <a:t>normal growing stock</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9817" y="-29430"/>
            <a:ext cx="8229600" cy="980728"/>
          </a:xfrm>
        </p:spPr>
        <p:txBody>
          <a:bodyPr>
            <a:normAutofit fontScale="90000"/>
          </a:bodyPr>
          <a:lstStyle/>
          <a:p>
            <a:r>
              <a:rPr lang="zh-CN" altLang="en-US" dirty="0"/>
              <a:t>法正龄级分配（</a:t>
            </a:r>
            <a:r>
              <a:rPr lang="en-US" altLang="zh-CN" dirty="0"/>
              <a:t>normal age class</a:t>
            </a:r>
            <a:r>
              <a:rPr lang="zh-CN" altLang="en-US" dirty="0" smtClean="0"/>
              <a:t>）</a:t>
            </a:r>
            <a:endParaRPr lang="zh-CN" altLang="en-US" dirty="0"/>
          </a:p>
        </p:txBody>
      </p:sp>
      <p:sp>
        <p:nvSpPr>
          <p:cNvPr id="3" name="内容占位符 2"/>
          <p:cNvSpPr>
            <a:spLocks noGrp="1"/>
          </p:cNvSpPr>
          <p:nvPr>
            <p:ph sz="quarter" idx="13"/>
          </p:nvPr>
        </p:nvSpPr>
        <p:spPr>
          <a:xfrm>
            <a:off x="107504" y="1268760"/>
            <a:ext cx="5111799" cy="4608513"/>
          </a:xfrm>
        </p:spPr>
        <p:txBody>
          <a:bodyPr/>
          <a:lstStyle/>
          <a:p>
            <a:r>
              <a:rPr lang="zh-CN" altLang="en-US" sz="2800" dirty="0" smtClean="0"/>
              <a:t>具备</a:t>
            </a:r>
            <a:r>
              <a:rPr lang="en-US" altLang="zh-CN" sz="2800" dirty="0" smtClean="0"/>
              <a:t>1</a:t>
            </a:r>
            <a:r>
              <a:rPr lang="zh-CN" altLang="en-US" sz="2800" dirty="0" smtClean="0"/>
              <a:t>年生到轮伐期</a:t>
            </a:r>
            <a:r>
              <a:rPr lang="en-US" altLang="zh-CN" sz="2800" dirty="0" smtClean="0"/>
              <a:t>t</a:t>
            </a:r>
            <a:r>
              <a:rPr lang="zh-CN" altLang="en-US" sz="2800" dirty="0" smtClean="0"/>
              <a:t>年生的林分</a:t>
            </a:r>
            <a:endParaRPr lang="en-US" altLang="zh-CN" sz="2800" dirty="0" smtClean="0"/>
          </a:p>
          <a:p>
            <a:r>
              <a:rPr lang="zh-CN" altLang="en-US" sz="2800" dirty="0" smtClean="0"/>
              <a:t>各龄级面积相等</a:t>
            </a:r>
            <a:endParaRPr lang="en-US" altLang="zh-CN" sz="2800" dirty="0" smtClean="0"/>
          </a:p>
          <a:p>
            <a:r>
              <a:rPr lang="zh-CN" altLang="en-US" sz="2800" dirty="0" smtClean="0"/>
              <a:t>每年采伐</a:t>
            </a:r>
            <a:r>
              <a:rPr lang="en-US" altLang="zh-CN" sz="2800" dirty="0" smtClean="0"/>
              <a:t>t</a:t>
            </a:r>
            <a:r>
              <a:rPr lang="zh-CN" altLang="en-US" sz="2800" dirty="0" smtClean="0"/>
              <a:t>年生的林分</a:t>
            </a:r>
            <a:endParaRPr lang="en-US" altLang="zh-CN" sz="2800" dirty="0" smtClean="0"/>
          </a:p>
          <a:p>
            <a:r>
              <a:rPr lang="zh-CN" altLang="en-US" sz="2800" dirty="0" smtClean="0"/>
              <a:t>并造林，以在第二年形成</a:t>
            </a:r>
            <a:r>
              <a:rPr lang="en-US" altLang="zh-CN" sz="2800" dirty="0" smtClean="0"/>
              <a:t>1</a:t>
            </a:r>
            <a:r>
              <a:rPr lang="zh-CN" altLang="en-US" sz="2800" dirty="0" smtClean="0"/>
              <a:t>年生林分</a:t>
            </a:r>
            <a:endParaRPr lang="en-US" altLang="zh-CN" sz="2800" dirty="0" smtClean="0"/>
          </a:p>
          <a:p>
            <a:r>
              <a:rPr lang="zh-CN" altLang="en-US" sz="2800" dirty="0" smtClean="0"/>
              <a:t>由此，每年可持续收获定量木材</a:t>
            </a:r>
            <a:endParaRPr lang="en-US" altLang="zh-CN" sz="2800" dirty="0" smtClean="0"/>
          </a:p>
          <a:p>
            <a:r>
              <a:rPr lang="zh-CN" altLang="en-US" sz="2800" dirty="0" smtClean="0"/>
              <a:t>且保持龄级结构不变</a:t>
            </a:r>
            <a:endParaRPr lang="zh-CN" altLang="en-US" sz="2800" dirty="0"/>
          </a:p>
        </p:txBody>
      </p:sp>
      <p:cxnSp>
        <p:nvCxnSpPr>
          <p:cNvPr id="5" name="直接箭头连接符 4"/>
          <p:cNvCxnSpPr/>
          <p:nvPr/>
        </p:nvCxnSpPr>
        <p:spPr>
          <a:xfrm>
            <a:off x="5508104" y="1268760"/>
            <a:ext cx="0" cy="1728192"/>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076056" y="940078"/>
            <a:ext cx="1107996" cy="369332"/>
          </a:xfrm>
          <a:prstGeom prst="rect">
            <a:avLst/>
          </a:prstGeom>
          <a:noFill/>
        </p:spPr>
        <p:txBody>
          <a:bodyPr wrap="none" rtlCol="0">
            <a:spAutoFit/>
          </a:bodyPr>
          <a:lstStyle/>
          <a:p>
            <a:r>
              <a:rPr lang="zh-CN" altLang="en-US" dirty="0" smtClean="0"/>
              <a:t>森林面积</a:t>
            </a:r>
            <a:endParaRPr lang="zh-CN" altLang="en-US" dirty="0"/>
          </a:p>
        </p:txBody>
      </p:sp>
      <p:cxnSp>
        <p:nvCxnSpPr>
          <p:cNvPr id="8" name="直接箭头连接符 7"/>
          <p:cNvCxnSpPr/>
          <p:nvPr/>
        </p:nvCxnSpPr>
        <p:spPr>
          <a:xfrm flipH="1">
            <a:off x="5508104" y="2996952"/>
            <a:ext cx="3168352" cy="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5508104" y="1556792"/>
            <a:ext cx="2160238" cy="1441696"/>
            <a:chOff x="5508104" y="1556792"/>
            <a:chExt cx="2160238" cy="1441696"/>
          </a:xfrm>
        </p:grpSpPr>
        <p:sp>
          <p:nvSpPr>
            <p:cNvPr id="11" name="矩形 10"/>
            <p:cNvSpPr/>
            <p:nvPr/>
          </p:nvSpPr>
          <p:spPr>
            <a:xfrm>
              <a:off x="5508104" y="1556792"/>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940152" y="1558328"/>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372198" y="1558327"/>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804246" y="1558327"/>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236294" y="1558327"/>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p:nvSpPr>
        <p:spPr>
          <a:xfrm>
            <a:off x="7668341" y="1556790"/>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8100388" y="2990810"/>
            <a:ext cx="646331" cy="369332"/>
          </a:xfrm>
          <a:prstGeom prst="rect">
            <a:avLst/>
          </a:prstGeom>
          <a:noFill/>
        </p:spPr>
        <p:txBody>
          <a:bodyPr wrap="none" rtlCol="0">
            <a:spAutoFit/>
          </a:bodyPr>
          <a:lstStyle/>
          <a:p>
            <a:r>
              <a:rPr lang="zh-CN" altLang="en-US" dirty="0" smtClean="0"/>
              <a:t>林龄</a:t>
            </a:r>
            <a:endParaRPr lang="zh-CN" altLang="en-US" dirty="0"/>
          </a:p>
        </p:txBody>
      </p:sp>
      <p:sp>
        <p:nvSpPr>
          <p:cNvPr id="18" name="文本框 17"/>
          <p:cNvSpPr txBox="1"/>
          <p:nvPr/>
        </p:nvSpPr>
        <p:spPr>
          <a:xfrm>
            <a:off x="5494896" y="3094539"/>
            <a:ext cx="312906" cy="369332"/>
          </a:xfrm>
          <a:prstGeom prst="rect">
            <a:avLst/>
          </a:prstGeom>
          <a:noFill/>
        </p:spPr>
        <p:txBody>
          <a:bodyPr wrap="none" rtlCol="0">
            <a:spAutoFit/>
          </a:bodyPr>
          <a:lstStyle/>
          <a:p>
            <a:r>
              <a:rPr lang="en-US" altLang="zh-CN" dirty="0" smtClean="0"/>
              <a:t>1</a:t>
            </a:r>
            <a:endParaRPr lang="zh-CN" altLang="en-US" dirty="0"/>
          </a:p>
        </p:txBody>
      </p:sp>
      <p:sp>
        <p:nvSpPr>
          <p:cNvPr id="19" name="文本框 18"/>
          <p:cNvSpPr txBox="1"/>
          <p:nvPr/>
        </p:nvSpPr>
        <p:spPr>
          <a:xfrm>
            <a:off x="5987286" y="3094539"/>
            <a:ext cx="312906" cy="369332"/>
          </a:xfrm>
          <a:prstGeom prst="rect">
            <a:avLst/>
          </a:prstGeom>
          <a:noFill/>
        </p:spPr>
        <p:txBody>
          <a:bodyPr wrap="none" rtlCol="0">
            <a:spAutoFit/>
          </a:bodyPr>
          <a:lstStyle/>
          <a:p>
            <a:r>
              <a:rPr lang="en-US" altLang="zh-CN" dirty="0" smtClean="0"/>
              <a:t>2</a:t>
            </a:r>
            <a:endParaRPr lang="zh-CN" altLang="en-US" dirty="0"/>
          </a:p>
        </p:txBody>
      </p:sp>
      <p:sp>
        <p:nvSpPr>
          <p:cNvPr id="20" name="文本框 19"/>
          <p:cNvSpPr txBox="1"/>
          <p:nvPr/>
        </p:nvSpPr>
        <p:spPr>
          <a:xfrm>
            <a:off x="7740352" y="3094539"/>
            <a:ext cx="248786" cy="369332"/>
          </a:xfrm>
          <a:prstGeom prst="rect">
            <a:avLst/>
          </a:prstGeom>
          <a:noFill/>
        </p:spPr>
        <p:txBody>
          <a:bodyPr wrap="none" rtlCol="0">
            <a:spAutoFit/>
          </a:bodyPr>
          <a:lstStyle/>
          <a:p>
            <a:r>
              <a:rPr lang="en-US" altLang="zh-CN" dirty="0" smtClean="0"/>
              <a:t>t</a:t>
            </a:r>
            <a:endParaRPr lang="zh-CN" altLang="en-US" dirty="0"/>
          </a:p>
        </p:txBody>
      </p:sp>
      <p:sp>
        <p:nvSpPr>
          <p:cNvPr id="21" name="文本框 20"/>
          <p:cNvSpPr txBox="1"/>
          <p:nvPr/>
        </p:nvSpPr>
        <p:spPr>
          <a:xfrm>
            <a:off x="5476965" y="3604227"/>
            <a:ext cx="3416320" cy="461665"/>
          </a:xfrm>
          <a:prstGeom prst="rect">
            <a:avLst/>
          </a:prstGeom>
          <a:noFill/>
        </p:spPr>
        <p:txBody>
          <a:bodyPr wrap="none" rtlCol="0">
            <a:spAutoFit/>
          </a:bodyPr>
          <a:lstStyle/>
          <a:p>
            <a:r>
              <a:rPr lang="zh-CN" altLang="en-US" sz="2400" dirty="0" smtClean="0">
                <a:latin typeface="黑体" panose="02010609060101010101" pitchFamily="49" charset="-122"/>
                <a:ea typeface="黑体" panose="02010609060101010101" pitchFamily="49" charset="-122"/>
              </a:rPr>
              <a:t>每年采伐林龄为</a:t>
            </a:r>
            <a:r>
              <a:rPr lang="en-US" altLang="zh-CN" sz="2400" dirty="0" smtClean="0">
                <a:latin typeface="黑体" panose="02010609060101010101" pitchFamily="49" charset="-122"/>
                <a:ea typeface="黑体" panose="02010609060101010101" pitchFamily="49" charset="-122"/>
              </a:rPr>
              <a:t>t</a:t>
            </a:r>
            <a:r>
              <a:rPr lang="zh-CN" altLang="en-US" sz="2400" dirty="0" smtClean="0">
                <a:latin typeface="黑体" panose="02010609060101010101" pitchFamily="49" charset="-122"/>
                <a:ea typeface="黑体" panose="02010609060101010101" pitchFamily="49" charset="-122"/>
              </a:rPr>
              <a:t>的林分</a:t>
            </a:r>
            <a:endParaRPr lang="zh-CN" altLang="en-US" sz="2400" dirty="0">
              <a:latin typeface="黑体" panose="02010609060101010101" pitchFamily="49" charset="-122"/>
              <a:ea typeface="黑体" panose="02010609060101010101" pitchFamily="49" charset="-122"/>
            </a:endParaRPr>
          </a:p>
        </p:txBody>
      </p:sp>
      <p:sp>
        <p:nvSpPr>
          <p:cNvPr id="22" name="矩形 21"/>
          <p:cNvSpPr/>
          <p:nvPr/>
        </p:nvSpPr>
        <p:spPr>
          <a:xfrm>
            <a:off x="5508102" y="1556790"/>
            <a:ext cx="432048" cy="1440160"/>
          </a:xfrm>
          <a:prstGeom prst="rect">
            <a:avLst/>
          </a:prstGeom>
          <a:gradFill>
            <a:gsLst>
              <a:gs pos="0">
                <a:schemeClr val="accent3">
                  <a:lumMod val="75000"/>
                  <a:alpha val="62000"/>
                </a:schemeClr>
              </a:gs>
              <a:gs pos="98000">
                <a:schemeClr val="accent3">
                  <a:lumMod val="20000"/>
                  <a:lumOff val="80000"/>
                  <a:alpha val="86000"/>
                </a:schemeClr>
              </a:gs>
            </a:gsLst>
            <a:lin ang="108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5419904" y="4231220"/>
            <a:ext cx="3724096" cy="1200329"/>
          </a:xfrm>
          <a:prstGeom prst="rect">
            <a:avLst/>
          </a:prstGeom>
          <a:noFill/>
        </p:spPr>
        <p:txBody>
          <a:bodyPr wrap="none" rtlCol="0">
            <a:spAutoFit/>
          </a:bodyPr>
          <a:lstStyle/>
          <a:p>
            <a:r>
              <a:rPr lang="zh-CN" altLang="en-US" sz="2400" dirty="0" smtClean="0">
                <a:latin typeface="黑体" panose="02010609060101010101" pitchFamily="49" charset="-122"/>
                <a:ea typeface="黑体" panose="02010609060101010101" pitchFamily="49" charset="-122"/>
              </a:rPr>
              <a:t>第二年重新长出</a:t>
            </a:r>
            <a:r>
              <a:rPr lang="en-US" altLang="zh-CN" sz="2400" dirty="0" smtClean="0">
                <a:latin typeface="黑体" panose="02010609060101010101" pitchFamily="49" charset="-122"/>
                <a:ea typeface="黑体" panose="02010609060101010101" pitchFamily="49" charset="-122"/>
              </a:rPr>
              <a:t>1</a:t>
            </a:r>
            <a:r>
              <a:rPr lang="zh-CN" altLang="en-US" sz="2400" dirty="0" smtClean="0">
                <a:latin typeface="黑体" panose="02010609060101010101" pitchFamily="49" charset="-122"/>
                <a:ea typeface="黑体" panose="02010609060101010101" pitchFamily="49" charset="-122"/>
              </a:rPr>
              <a:t>年生林分</a:t>
            </a:r>
            <a:endParaRPr lang="en-US" altLang="zh-CN" sz="2400" dirty="0" smtClean="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dirty="0" smtClean="0">
                <a:latin typeface="黑体" panose="02010609060101010101" pitchFamily="49" charset="-122"/>
                <a:ea typeface="黑体" panose="02010609060101010101" pitchFamily="49" charset="-122"/>
              </a:rPr>
              <a:t>且又有</a:t>
            </a:r>
            <a:r>
              <a:rPr lang="en-US" altLang="zh-CN" sz="2400" dirty="0" smtClean="0">
                <a:latin typeface="黑体" panose="02010609060101010101" pitchFamily="49" charset="-122"/>
                <a:ea typeface="黑体" panose="02010609060101010101" pitchFamily="49" charset="-122"/>
              </a:rPr>
              <a:t>t</a:t>
            </a:r>
            <a:r>
              <a:rPr lang="zh-CN" altLang="en-US" sz="2400" dirty="0" smtClean="0">
                <a:latin typeface="黑体" panose="02010609060101010101" pitchFamily="49" charset="-122"/>
                <a:ea typeface="黑体" panose="02010609060101010101" pitchFamily="49" charset="-122"/>
              </a:rPr>
              <a:t>年生林分可供采伐</a:t>
            </a:r>
            <a:endParaRPr lang="zh-CN" altLang="en-US" sz="2400" dirty="0">
              <a:latin typeface="黑体" panose="02010609060101010101" pitchFamily="49" charset="-122"/>
              <a:ea typeface="黑体" panose="02010609060101010101" pitchFamily="49" charset="-122"/>
            </a:endParaRPr>
          </a:p>
        </p:txBody>
      </p:sp>
      <p:sp>
        <p:nvSpPr>
          <p:cNvPr id="26" name="文本框 25"/>
          <p:cNvSpPr txBox="1"/>
          <p:nvPr/>
        </p:nvSpPr>
        <p:spPr>
          <a:xfrm>
            <a:off x="7214374" y="3094539"/>
            <a:ext cx="453970" cy="369332"/>
          </a:xfrm>
          <a:prstGeom prst="rect">
            <a:avLst/>
          </a:prstGeom>
          <a:noFill/>
        </p:spPr>
        <p:txBody>
          <a:bodyPr wrap="none" rtlCol="0">
            <a:spAutoFit/>
          </a:bodyPr>
          <a:lstStyle/>
          <a:p>
            <a:r>
              <a:rPr lang="en-US" altLang="zh-CN" dirty="0" smtClean="0"/>
              <a:t>t-1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xit" presetSubtype="0" fill="hold" grpId="0" nodeType="withEffect">
                                  <p:stCondLst>
                                    <p:cond delay="0"/>
                                  </p:stCondLst>
                                  <p:childTnLst>
                                    <p:animEffect transition="out" filter="fade">
                                      <p:cBhvr>
                                        <p:cTn id="9" dur="500"/>
                                        <p:tgtEl>
                                          <p:spTgt spid="16"/>
                                        </p:tgtEl>
                                      </p:cBhvr>
                                    </p:animEffect>
                                    <p:set>
                                      <p:cBhvr>
                                        <p:cTn id="10" dur="1" fill="hold">
                                          <p:stCondLst>
                                            <p:cond delay="499"/>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3.88889E-6 4.07407E-6 L 0.04739 -0.00024 " pathEditMode="relative" rAng="0" ptsTypes="AA">
                                      <p:cBhvr>
                                        <p:cTn id="14" dur="2000" fill="hold"/>
                                        <p:tgtEl>
                                          <p:spTgt spid="23"/>
                                        </p:tgtEl>
                                        <p:attrNameLst>
                                          <p:attrName>ppt_x</p:attrName>
                                          <p:attrName>ppt_y</p:attrName>
                                        </p:attrNameLst>
                                      </p:cBhvr>
                                      <p:rCtr x="2361" y="-23"/>
                                    </p:animMotion>
                                  </p:childTnLst>
                                </p:cTn>
                              </p:par>
                            </p:childTnLst>
                          </p:cTn>
                        </p:par>
                        <p:par>
                          <p:cTn id="15" fill="hold">
                            <p:stCondLst>
                              <p:cond delay="2000"/>
                            </p:stCondLst>
                            <p:childTnLst>
                              <p:par>
                                <p:cTn id="16" presetID="22" presetClass="entr" presetSubtype="4" fill="hold" grpId="1"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down)">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p:bldP spid="22" grpId="1" animBg="1"/>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a:t>法正林分排列（</a:t>
            </a:r>
            <a:r>
              <a:rPr lang="en-US" altLang="zh-CN" sz="3600" dirty="0"/>
              <a:t>normal stand arrangement</a:t>
            </a:r>
            <a:r>
              <a:rPr lang="zh-CN" altLang="en-US" sz="3600" dirty="0" smtClean="0"/>
              <a:t>）</a:t>
            </a:r>
            <a:endParaRPr lang="zh-CN" altLang="en-US" sz="3600" dirty="0"/>
          </a:p>
        </p:txBody>
      </p:sp>
      <p:sp>
        <p:nvSpPr>
          <p:cNvPr id="3" name="内容占位符 2"/>
          <p:cNvSpPr>
            <a:spLocks noGrp="1"/>
          </p:cNvSpPr>
          <p:nvPr>
            <p:ph sz="quarter" idx="13"/>
          </p:nvPr>
        </p:nvSpPr>
        <p:spPr/>
        <p:txBody>
          <a:bodyPr/>
          <a:lstStyle/>
          <a:p>
            <a:r>
              <a:rPr lang="zh-CN" altLang="en-US" dirty="0" smtClean="0"/>
              <a:t>森林经营单位中各个龄级林分所处的位置符合采伐与天然下种更新及防风保护的要求</a:t>
            </a:r>
            <a:endParaRPr lang="en-US" altLang="zh-CN" dirty="0" smtClean="0"/>
          </a:p>
          <a:p>
            <a:r>
              <a:rPr lang="zh-CN" altLang="en-US" dirty="0" smtClean="0"/>
              <a:t>就采伐条件来说，最老龄级林分应靠近集材道路</a:t>
            </a:r>
            <a:endParaRPr lang="en-US" altLang="zh-CN" dirty="0" smtClean="0"/>
          </a:p>
          <a:p>
            <a:r>
              <a:rPr lang="zh-CN" altLang="en-US" dirty="0" smtClean="0"/>
              <a:t>就有利天然下种更新与防风条件要求而言，由老龄林分向幼龄林分的排列方向应该与主风方向相反，这样可以利用风向天然下种，保护幼树，并便于采运木材</a:t>
            </a: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H="1">
            <a:off x="2195736" y="4581126"/>
            <a:ext cx="3479589" cy="1"/>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直接箭头连接符 10"/>
          <p:cNvCxnSpPr/>
          <p:nvPr/>
        </p:nvCxnSpPr>
        <p:spPr>
          <a:xfrm>
            <a:off x="683568" y="2852936"/>
            <a:ext cx="1440160" cy="0"/>
          </a:xfrm>
          <a:prstGeom prst="straightConnector1">
            <a:avLst/>
          </a:prstGeom>
          <a:ln w="38100">
            <a:solidFill>
              <a:schemeClr val="accent3">
                <a:lumMod val="75000"/>
              </a:schemeClr>
            </a:solidFill>
            <a:tailEnd type="triangle"/>
          </a:ln>
          <a:effectLst>
            <a:glow rad="38100">
              <a:schemeClr val="bg1">
                <a:alpha val="40000"/>
              </a:schemeClr>
            </a:glow>
            <a:outerShdw blurRad="38100" dist="38100" dir="2700000" algn="tl" rotWithShape="0">
              <a:schemeClr val="accent5">
                <a:lumMod val="50000"/>
                <a:alpha val="40000"/>
              </a:schemeClr>
            </a:outerShdw>
          </a:effectLst>
          <a:scene3d>
            <a:camera prst="orthographicFront"/>
            <a:lightRig rig="threePt" dir="t"/>
          </a:scene3d>
          <a:sp3d>
            <a:bevelT w="25400" h="25400"/>
          </a:sp3d>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849650" y="2348880"/>
            <a:ext cx="1107996" cy="369332"/>
          </a:xfrm>
          <a:prstGeom prst="rect">
            <a:avLst/>
          </a:prstGeom>
          <a:noFill/>
        </p:spPr>
        <p:txBody>
          <a:bodyPr wrap="none" rtlCol="0">
            <a:spAutoFit/>
          </a:bodyPr>
          <a:lstStyle/>
          <a:p>
            <a:r>
              <a:rPr lang="zh-CN" altLang="en-US" dirty="0" smtClean="0"/>
              <a:t>主风方向</a:t>
            </a:r>
            <a:endParaRPr lang="zh-CN" altLang="en-US" dirty="0"/>
          </a:p>
        </p:txBody>
      </p:sp>
      <p:sp>
        <p:nvSpPr>
          <p:cNvPr id="13" name="矩形 12"/>
          <p:cNvSpPr/>
          <p:nvPr/>
        </p:nvSpPr>
        <p:spPr>
          <a:xfrm>
            <a:off x="2195736" y="3789039"/>
            <a:ext cx="576064" cy="792088"/>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62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771800" y="3284983"/>
            <a:ext cx="576064" cy="1296144"/>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62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339223" y="2780927"/>
            <a:ext cx="576064" cy="1800199"/>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62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928350" y="2204864"/>
            <a:ext cx="576064" cy="2376262"/>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62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517477" y="1710099"/>
            <a:ext cx="576064" cy="2871027"/>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62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099261" y="1196752"/>
            <a:ext cx="576064" cy="3384374"/>
          </a:xfrm>
          <a:prstGeom prst="rect">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162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p:nvPr/>
        </p:nvCxnSpPr>
        <p:spPr>
          <a:xfrm>
            <a:off x="6372200" y="2996952"/>
            <a:ext cx="1440160" cy="0"/>
          </a:xfrm>
          <a:prstGeom prst="straightConnector1">
            <a:avLst/>
          </a:prstGeom>
          <a:ln w="38100">
            <a:solidFill>
              <a:schemeClr val="accent4">
                <a:lumMod val="75000"/>
              </a:schemeClr>
            </a:solidFill>
            <a:headEnd type="triangle" w="med" len="med"/>
            <a:tailEnd type="none" w="med" len="med"/>
          </a:ln>
          <a:effectLst>
            <a:glow rad="38100">
              <a:schemeClr val="bg1">
                <a:alpha val="40000"/>
              </a:schemeClr>
            </a:glow>
            <a:outerShdw blurRad="38100" dist="38100" dir="2700000" algn="tl" rotWithShape="0">
              <a:schemeClr val="accent5">
                <a:lumMod val="50000"/>
                <a:alpha val="40000"/>
              </a:schemeClr>
            </a:outerShdw>
          </a:effectLst>
          <a:scene3d>
            <a:camera prst="orthographicFront"/>
            <a:lightRig rig="threePt" dir="t"/>
          </a:scene3d>
          <a:sp3d>
            <a:bevelT w="25400" h="25400"/>
          </a:sp3d>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588224" y="2411595"/>
            <a:ext cx="1107996" cy="369332"/>
          </a:xfrm>
          <a:prstGeom prst="rect">
            <a:avLst/>
          </a:prstGeom>
          <a:noFill/>
        </p:spPr>
        <p:txBody>
          <a:bodyPr wrap="none" rtlCol="0">
            <a:spAutoFit/>
          </a:bodyPr>
          <a:lstStyle/>
          <a:p>
            <a:r>
              <a:rPr lang="zh-CN" altLang="en-US" dirty="0" smtClean="0"/>
              <a:t>采伐方向</a:t>
            </a:r>
            <a:endParaRPr lang="zh-CN" altLang="en-US" dirty="0"/>
          </a:p>
        </p:txBody>
      </p:sp>
      <p:sp>
        <p:nvSpPr>
          <p:cNvPr id="22" name="文本框 21"/>
          <p:cNvSpPr txBox="1"/>
          <p:nvPr/>
        </p:nvSpPr>
        <p:spPr>
          <a:xfrm>
            <a:off x="2195736" y="4869160"/>
            <a:ext cx="3416320" cy="646331"/>
          </a:xfrm>
          <a:prstGeom prst="rect">
            <a:avLst/>
          </a:prstGeom>
          <a:noFill/>
        </p:spPr>
        <p:txBody>
          <a:bodyPr wrap="none" rtlCol="0">
            <a:spAutoFit/>
          </a:bodyPr>
          <a:lstStyle/>
          <a:p>
            <a:r>
              <a:rPr lang="zh-CN" altLang="en-US" sz="36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黑体" panose="02010609060101010101" pitchFamily="49" charset="-122"/>
                <a:ea typeface="黑体" panose="02010609060101010101" pitchFamily="49" charset="-122"/>
              </a:rPr>
              <a:t>法正的林分排列</a:t>
            </a:r>
            <a:endParaRPr lang="zh-CN" altLang="en-US" sz="3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法正生长量（</a:t>
            </a:r>
            <a:r>
              <a:rPr lang="en-US" altLang="zh-CN" dirty="0"/>
              <a:t>normal growth</a:t>
            </a:r>
            <a:r>
              <a:rPr lang="zh-CN" altLang="en-US" dirty="0" smtClean="0"/>
              <a:t>）</a:t>
            </a:r>
            <a:endParaRPr lang="zh-CN" altLang="en-US" dirty="0"/>
          </a:p>
        </p:txBody>
      </p:sp>
      <p:sp>
        <p:nvSpPr>
          <p:cNvPr id="3" name="内容占位符 2"/>
          <p:cNvSpPr>
            <a:spLocks noGrp="1"/>
          </p:cNvSpPr>
          <p:nvPr>
            <p:ph sz="quarter" idx="13"/>
          </p:nvPr>
        </p:nvSpPr>
        <p:spPr/>
        <p:txBody>
          <a:bodyPr/>
          <a:lstStyle/>
          <a:p>
            <a:r>
              <a:rPr lang="zh-CN" altLang="en-US" dirty="0" smtClean="0"/>
              <a:t>一个经营单位内各个龄级都有相等的、且各种立地条件标准（疏密度</a:t>
            </a:r>
            <a:r>
              <a:rPr lang="en-US" altLang="zh-CN" dirty="0" smtClean="0"/>
              <a:t>1.0</a:t>
            </a:r>
            <a:r>
              <a:rPr lang="zh-CN" altLang="en-US" dirty="0" smtClean="0"/>
              <a:t>）的生长量，因而整个经营单位可经常保持一定的、充分的总生长量</a:t>
            </a:r>
            <a:endParaRPr lang="en-US" altLang="zh-CN" dirty="0" smtClean="0"/>
          </a:p>
          <a:p>
            <a:r>
              <a:rPr lang="zh-CN" altLang="en-US" dirty="0" smtClean="0"/>
              <a:t>设轮伐期为</a:t>
            </a:r>
            <a:r>
              <a:rPr lang="en-US" altLang="zh-CN" dirty="0" smtClean="0"/>
              <a:t>t</a:t>
            </a:r>
            <a:r>
              <a:rPr lang="zh-CN" altLang="en-US" dirty="0" smtClean="0"/>
              <a:t>年，</a:t>
            </a:r>
            <a:r>
              <a:rPr lang="en-US" altLang="zh-CN" dirty="0" smtClean="0"/>
              <a:t>1-t</a:t>
            </a:r>
            <a:r>
              <a:rPr lang="zh-CN" altLang="en-US" dirty="0" smtClean="0"/>
              <a:t>年的林分蓄积量为</a:t>
            </a:r>
            <a:r>
              <a:rPr lang="en-US" altLang="zh-CN" dirty="0" smtClean="0"/>
              <a:t>y1</a:t>
            </a:r>
            <a:r>
              <a:rPr lang="zh-CN" altLang="en-US" dirty="0" smtClean="0"/>
              <a:t>，</a:t>
            </a:r>
            <a:r>
              <a:rPr lang="en-US" altLang="zh-CN" dirty="0" smtClean="0"/>
              <a:t>y2</a:t>
            </a:r>
            <a:r>
              <a:rPr lang="zh-CN" altLang="en-US" dirty="0" smtClean="0"/>
              <a:t>，</a:t>
            </a:r>
            <a:r>
              <a:rPr lang="en-US" altLang="zh-CN" dirty="0" smtClean="0"/>
              <a:t>……</a:t>
            </a:r>
            <a:r>
              <a:rPr lang="en-US" altLang="zh-CN" dirty="0" err="1" smtClean="0"/>
              <a:t>yt</a:t>
            </a:r>
            <a:r>
              <a:rPr lang="zh-CN" altLang="en-US" dirty="0" smtClean="0"/>
              <a:t>，构成一个等差级数，</a:t>
            </a:r>
            <a:r>
              <a:rPr lang="en-US" altLang="zh-CN" dirty="0" smtClean="0"/>
              <a:t>1-t</a:t>
            </a:r>
            <a:r>
              <a:rPr lang="zh-CN" altLang="en-US" dirty="0" smtClean="0"/>
              <a:t>年的生长量均为</a:t>
            </a:r>
            <a:r>
              <a:rPr lang="en-US" altLang="zh-CN" dirty="0" smtClean="0"/>
              <a:t>z</a:t>
            </a:r>
            <a:r>
              <a:rPr lang="zh-CN" altLang="en-US" dirty="0" smtClean="0"/>
              <a:t>，即</a:t>
            </a:r>
            <a:endParaRPr lang="en-US" altLang="zh-CN" dirty="0" smtClean="0"/>
          </a:p>
          <a:p>
            <a:r>
              <a:rPr lang="en-US" altLang="zh-CN" dirty="0" smtClean="0"/>
              <a:t>y1=z  </a:t>
            </a:r>
            <a:r>
              <a:rPr lang="en-US" altLang="zh-CN" dirty="0" err="1" smtClean="0"/>
              <a:t>tz</a:t>
            </a:r>
            <a:r>
              <a:rPr lang="en-US" altLang="zh-CN" dirty="0" smtClean="0"/>
              <a:t>=</a:t>
            </a:r>
            <a:r>
              <a:rPr lang="en-US" altLang="zh-CN" dirty="0" err="1" smtClean="0"/>
              <a:t>yt</a:t>
            </a: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59632" y="4848571"/>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Z=y1</a:t>
            </a:r>
            <a:endParaRPr lang="zh-CN" altLang="en-US" dirty="0"/>
          </a:p>
        </p:txBody>
      </p:sp>
      <p:sp>
        <p:nvSpPr>
          <p:cNvPr id="4" name="矩形 3"/>
          <p:cNvSpPr/>
          <p:nvPr/>
        </p:nvSpPr>
        <p:spPr>
          <a:xfrm>
            <a:off x="1979712" y="4851058"/>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y2</a:t>
            </a:r>
            <a:endParaRPr lang="zh-CN" altLang="en-US" dirty="0"/>
          </a:p>
        </p:txBody>
      </p:sp>
      <p:sp>
        <p:nvSpPr>
          <p:cNvPr id="5" name="矩形 4"/>
          <p:cNvSpPr/>
          <p:nvPr/>
        </p:nvSpPr>
        <p:spPr>
          <a:xfrm>
            <a:off x="1975168" y="4032810"/>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z</a:t>
            </a:r>
            <a:endParaRPr lang="zh-CN" altLang="en-US" dirty="0"/>
          </a:p>
        </p:txBody>
      </p:sp>
      <p:sp>
        <p:nvSpPr>
          <p:cNvPr id="6" name="矩形 5"/>
          <p:cNvSpPr/>
          <p:nvPr/>
        </p:nvSpPr>
        <p:spPr>
          <a:xfrm>
            <a:off x="2704336" y="4032810"/>
            <a:ext cx="720080" cy="1629034"/>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y3</a:t>
            </a:r>
            <a:endParaRPr lang="zh-CN" altLang="en-US" dirty="0"/>
          </a:p>
        </p:txBody>
      </p:sp>
      <p:sp>
        <p:nvSpPr>
          <p:cNvPr id="7" name="矩形 6"/>
          <p:cNvSpPr/>
          <p:nvPr/>
        </p:nvSpPr>
        <p:spPr>
          <a:xfrm>
            <a:off x="2708880" y="3217048"/>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z</a:t>
            </a:r>
            <a:endParaRPr lang="zh-CN" altLang="en-US" dirty="0"/>
          </a:p>
        </p:txBody>
      </p:sp>
      <p:sp>
        <p:nvSpPr>
          <p:cNvPr id="8" name="矩形 7"/>
          <p:cNvSpPr/>
          <p:nvPr/>
        </p:nvSpPr>
        <p:spPr>
          <a:xfrm>
            <a:off x="3438048" y="3217048"/>
            <a:ext cx="720080" cy="244230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3438048" y="2386920"/>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z</a:t>
            </a:r>
            <a:endParaRPr lang="zh-CN" altLang="en-US" dirty="0"/>
          </a:p>
        </p:txBody>
      </p:sp>
      <p:sp>
        <p:nvSpPr>
          <p:cNvPr id="10" name="矩形 9"/>
          <p:cNvSpPr/>
          <p:nvPr/>
        </p:nvSpPr>
        <p:spPr>
          <a:xfrm>
            <a:off x="4158128" y="2386920"/>
            <a:ext cx="720080" cy="327243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Y</a:t>
            </a:r>
            <a:r>
              <a:rPr lang="en-US" altLang="zh-CN" baseline="-25000" dirty="0" smtClean="0"/>
              <a:t>t-1</a:t>
            </a:r>
            <a:endParaRPr lang="zh-CN" altLang="en-US" baseline="-25000" dirty="0"/>
          </a:p>
        </p:txBody>
      </p:sp>
      <p:sp>
        <p:nvSpPr>
          <p:cNvPr id="11" name="矩形 10"/>
          <p:cNvSpPr/>
          <p:nvPr/>
        </p:nvSpPr>
        <p:spPr>
          <a:xfrm>
            <a:off x="4158128" y="1556792"/>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z</a:t>
            </a:r>
            <a:endParaRPr lang="zh-CN" altLang="en-US" dirty="0"/>
          </a:p>
        </p:txBody>
      </p:sp>
      <p:sp>
        <p:nvSpPr>
          <p:cNvPr id="13" name="矩形 12"/>
          <p:cNvSpPr/>
          <p:nvPr/>
        </p:nvSpPr>
        <p:spPr>
          <a:xfrm>
            <a:off x="4860032" y="1556793"/>
            <a:ext cx="720080" cy="4109746"/>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smtClean="0"/>
              <a:t>Y</a:t>
            </a:r>
            <a:r>
              <a:rPr lang="en-US" altLang="zh-CN" baseline="-25000" dirty="0" err="1" smtClean="0"/>
              <a:t>t</a:t>
            </a:r>
            <a:endParaRPr lang="zh-CN" altLang="en-US" baseline="-25000" dirty="0"/>
          </a:p>
        </p:txBody>
      </p:sp>
      <p:sp>
        <p:nvSpPr>
          <p:cNvPr id="14" name="矩形 13"/>
          <p:cNvSpPr/>
          <p:nvPr/>
        </p:nvSpPr>
        <p:spPr>
          <a:xfrm>
            <a:off x="4853663" y="745665"/>
            <a:ext cx="720080" cy="813273"/>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z</a:t>
            </a:r>
            <a:endParaRPr lang="zh-CN" altLang="en-US" dirty="0"/>
          </a:p>
        </p:txBody>
      </p:sp>
      <p:sp>
        <p:nvSpPr>
          <p:cNvPr id="15" name="文本框 14"/>
          <p:cNvSpPr txBox="1"/>
          <p:nvPr/>
        </p:nvSpPr>
        <p:spPr>
          <a:xfrm>
            <a:off x="6012160" y="2204864"/>
            <a:ext cx="2304256" cy="1754326"/>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法正生长量</a:t>
            </a:r>
            <a:endParaRPr lang="en-US" altLang="zh-CN" dirty="0" smtClean="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r>
              <a:rPr lang="zh-CN" altLang="en-US" dirty="0" smtClean="0">
                <a:latin typeface="黑体" panose="02010609060101010101" pitchFamily="49" charset="-122"/>
                <a:ea typeface="黑体" panose="02010609060101010101" pitchFamily="49" charset="-122"/>
              </a:rPr>
              <a:t>理想结构下，可以每年获得稳定的、法正的采伐量，实现严格意义上的永续利用</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dirty="0"/>
              <a:t>法正蓄积量（</a:t>
            </a:r>
            <a:r>
              <a:rPr lang="en-US" altLang="zh-CN" sz="4000" dirty="0"/>
              <a:t>normal growing stock</a:t>
            </a:r>
            <a:r>
              <a:rPr lang="zh-CN" altLang="en-US" sz="4000" dirty="0" smtClean="0"/>
              <a:t>）</a:t>
            </a:r>
            <a:endParaRPr lang="zh-CN" altLang="en-US" sz="4000" dirty="0"/>
          </a:p>
        </p:txBody>
      </p:sp>
      <p:sp>
        <p:nvSpPr>
          <p:cNvPr id="3" name="内容占位符 2"/>
          <p:cNvSpPr>
            <a:spLocks noGrp="1"/>
          </p:cNvSpPr>
          <p:nvPr>
            <p:ph sz="quarter" idx="13"/>
          </p:nvPr>
        </p:nvSpPr>
        <p:spPr/>
        <p:txBody>
          <a:bodyPr/>
          <a:lstStyle/>
          <a:p>
            <a:r>
              <a:rPr lang="zh-CN" altLang="en-US" dirty="0" smtClean="0"/>
              <a:t>在一个经营单位内，从</a:t>
            </a:r>
            <a:r>
              <a:rPr lang="en-US" altLang="zh-CN" dirty="0" smtClean="0"/>
              <a:t>1</a:t>
            </a:r>
            <a:r>
              <a:rPr lang="zh-CN" altLang="en-US" dirty="0" smtClean="0"/>
              <a:t>年生到轮伐期的各个龄级的林分蓄积量之和</a:t>
            </a:r>
            <a:endParaRPr lang="en-US" altLang="zh-CN" dirty="0" smtClean="0"/>
          </a:p>
          <a:p>
            <a:r>
              <a:rPr lang="zh-CN" altLang="en-US" dirty="0" smtClean="0"/>
              <a:t>在计算时，把</a:t>
            </a:r>
            <a:r>
              <a:rPr lang="en-US" altLang="zh-CN" dirty="0" smtClean="0"/>
              <a:t>t</a:t>
            </a:r>
            <a:r>
              <a:rPr lang="zh-CN" altLang="en-US" dirty="0" smtClean="0"/>
              <a:t>年蓄积（即年采伐量）列入计算的称为秋季法正蓄积</a:t>
            </a:r>
            <a:endParaRPr lang="en-US" altLang="zh-CN" dirty="0" smtClean="0"/>
          </a:p>
          <a:p>
            <a:r>
              <a:rPr lang="zh-CN" altLang="en-US" dirty="0" smtClean="0"/>
              <a:t>把</a:t>
            </a:r>
            <a:r>
              <a:rPr lang="en-US" altLang="zh-CN" dirty="0" smtClean="0"/>
              <a:t>t</a:t>
            </a:r>
            <a:r>
              <a:rPr lang="zh-CN" altLang="en-US" dirty="0" smtClean="0"/>
              <a:t>年蓄积（即年采伐量）不列入计算的成为春季法正蓄积</a:t>
            </a:r>
            <a:endParaRPr lang="en-US" altLang="zh-CN" dirty="0" smtClean="0"/>
          </a:p>
          <a:p>
            <a:r>
              <a:rPr lang="zh-CN" altLang="en-US" dirty="0" smtClean="0"/>
              <a:t>通常多采用春季和秋季平均值的夏季蓄积（即年采伐量的一半）</a:t>
            </a:r>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smtClean="0"/>
                  <a:t>设法正采伐量为</a:t>
                </a:r>
                <a:r>
                  <a:rPr lang="en-US" altLang="zh-CN" dirty="0" smtClean="0"/>
                  <a:t>Et</a:t>
                </a:r>
                <a:r>
                  <a:rPr lang="zh-CN" altLang="en-US" dirty="0" smtClean="0"/>
                  <a:t>，则法正蓄积量</a:t>
                </a:r>
                <a:r>
                  <a:rPr lang="en-US" altLang="zh-CN" dirty="0" err="1" smtClean="0"/>
                  <a:t>Vt</a:t>
                </a:r>
                <a:endParaRPr lang="en-US" altLang="zh-CN" dirty="0"/>
              </a:p>
              <a:p>
                <a:r>
                  <a:rPr lang="en-US" altLang="zh-CN" dirty="0" err="1" smtClean="0"/>
                  <a:t>Vt</a:t>
                </a:r>
                <a:r>
                  <a:rPr lang="en-US" altLang="zh-CN" dirty="0" smtClean="0"/>
                  <a:t>=y1+y2+……</a:t>
                </a:r>
                <a:r>
                  <a:rPr lang="en-US" altLang="zh-CN" dirty="0" err="1" smtClean="0"/>
                  <a:t>yt</a:t>
                </a:r>
                <a:r>
                  <a:rPr lang="en-US" altLang="zh-CN" dirty="0" smtClean="0"/>
                  <a:t>-</a:t>
                </a:r>
                <a:r>
                  <a:rPr lang="zh-CN" altLang="en-US" dirty="0" smtClean="0"/>
                  <a:t>（</a:t>
                </a:r>
                <a:r>
                  <a:rPr lang="en-US" altLang="zh-CN" dirty="0" smtClean="0"/>
                  <a:t>1/2</a:t>
                </a:r>
                <a:r>
                  <a:rPr lang="zh-CN" altLang="en-US" dirty="0" smtClean="0"/>
                  <a:t>）</a:t>
                </a:r>
                <a:r>
                  <a:rPr lang="en-US" altLang="zh-CN" dirty="0" smtClean="0"/>
                  <a:t>Et</a:t>
                </a:r>
                <a:endParaRPr lang="en-US" altLang="zh-CN" dirty="0" smtClean="0"/>
              </a:p>
              <a:p>
                <a:r>
                  <a:rPr lang="zh-CN" altLang="en-US" dirty="0" smtClean="0"/>
                  <a:t>由于</a:t>
                </a:r>
                <a:r>
                  <a:rPr lang="en-US" altLang="zh-CN" dirty="0" smtClean="0"/>
                  <a:t>y1=Z</a:t>
                </a:r>
                <a:r>
                  <a:rPr lang="zh-CN" altLang="en-US" dirty="0" smtClean="0"/>
                  <a:t>，</a:t>
                </a:r>
                <a:r>
                  <a:rPr lang="en-US" altLang="zh-CN" dirty="0" smtClean="0"/>
                  <a:t>y2=2Z</a:t>
                </a:r>
                <a:r>
                  <a:rPr lang="zh-CN" altLang="en-US" dirty="0" smtClean="0"/>
                  <a:t>，</a:t>
                </a:r>
                <a:r>
                  <a:rPr lang="en-US" altLang="zh-CN" dirty="0" err="1" smtClean="0"/>
                  <a:t>yt</a:t>
                </a:r>
                <a:r>
                  <a:rPr lang="en-US" altLang="zh-CN" dirty="0" smtClean="0"/>
                  <a:t>=</a:t>
                </a:r>
                <a:r>
                  <a:rPr lang="en-US" altLang="zh-CN" dirty="0" err="1" smtClean="0"/>
                  <a:t>tZ</a:t>
                </a:r>
                <a:r>
                  <a:rPr lang="zh-CN" altLang="en-US" dirty="0" smtClean="0"/>
                  <a:t>（</a:t>
                </a:r>
                <a:r>
                  <a:rPr lang="en-US" altLang="zh-CN" dirty="0" smtClean="0"/>
                  <a:t>Z</a:t>
                </a:r>
                <a:r>
                  <a:rPr lang="zh-CN" altLang="en-US" dirty="0" smtClean="0"/>
                  <a:t>即每年的法正生长量）</a:t>
                </a:r>
                <a:endParaRPr lang="en-US" altLang="zh-CN" dirty="0" smtClean="0"/>
              </a:p>
              <a:p>
                <a:r>
                  <a:rPr lang="zh-CN" altLang="en-US" dirty="0" smtClean="0"/>
                  <a:t>则</a:t>
                </a:r>
                <a:r>
                  <a:rPr lang="en-US" altLang="zh-CN" dirty="0" err="1" smtClean="0"/>
                  <a:t>Vt</a:t>
                </a:r>
                <a:r>
                  <a:rPr lang="en-US" altLang="zh-CN" dirty="0" smtClean="0"/>
                  <a:t>=</a:t>
                </a:r>
                <a:r>
                  <a:rPr lang="zh-CN" altLang="en-US" dirty="0" smtClean="0"/>
                  <a:t>（</a:t>
                </a:r>
                <a:r>
                  <a:rPr lang="en-US" altLang="zh-CN" dirty="0" smtClean="0"/>
                  <a:t>1+2+……t</a:t>
                </a:r>
                <a:r>
                  <a:rPr lang="zh-CN" altLang="en-US" dirty="0" smtClean="0"/>
                  <a:t>）</a:t>
                </a:r>
                <a:r>
                  <a:rPr lang="en-US" altLang="zh-CN" dirty="0" smtClean="0"/>
                  <a:t>Z-</a:t>
                </a:r>
                <a:r>
                  <a:rPr lang="zh-CN" altLang="en-US" dirty="0" smtClean="0"/>
                  <a:t>（</a:t>
                </a:r>
                <a:r>
                  <a:rPr lang="en-US" altLang="zh-CN" dirty="0" smtClean="0"/>
                  <a:t>1/2</a:t>
                </a:r>
                <a:r>
                  <a:rPr lang="zh-CN" altLang="en-US" dirty="0" smtClean="0"/>
                  <a:t>）</a:t>
                </a:r>
                <a:r>
                  <a:rPr lang="en-US" altLang="zh-CN" dirty="0" err="1" smtClean="0"/>
                  <a:t>tZ</a:t>
                </a:r>
                <a:endParaRPr lang="en-US" altLang="zh-CN" dirty="0" smtClean="0"/>
              </a:p>
              <a:p>
                <a:r>
                  <a:rPr lang="en-US" altLang="zh-CN" dirty="0" err="1" smtClean="0"/>
                  <a:t>Vt</a:t>
                </a:r>
                <a:r>
                  <a:rPr lang="en-US" altLang="zh-CN" dirty="0" smtClean="0"/>
                  <a:t>=</a:t>
                </a:r>
                <a:r>
                  <a:rPr lang="zh-CN" altLang="en-US" dirty="0" smtClean="0"/>
                  <a:t>（</a:t>
                </a:r>
                <a:r>
                  <a:rPr lang="en-US" altLang="zh-CN" dirty="0" smtClean="0"/>
                  <a:t>1/2</a:t>
                </a:r>
                <a:r>
                  <a:rPr lang="zh-CN" altLang="en-US" dirty="0" smtClean="0"/>
                  <a:t>）</a:t>
                </a:r>
                <a:r>
                  <a:rPr lang="en-US" altLang="zh-CN" dirty="0" smtClean="0"/>
                  <a:t>t</a:t>
                </a:r>
                <a:r>
                  <a:rPr lang="zh-CN" altLang="en-US" dirty="0" smtClean="0"/>
                  <a:t>（</a:t>
                </a:r>
                <a:r>
                  <a:rPr lang="en-US" altLang="zh-CN" dirty="0" smtClean="0"/>
                  <a:t>1+t-1</a:t>
                </a:r>
                <a:r>
                  <a:rPr lang="zh-CN" altLang="en-US" dirty="0" smtClean="0"/>
                  <a:t>）</a:t>
                </a:r>
                <a:r>
                  <a:rPr lang="en-US" altLang="zh-CN" dirty="0" smtClean="0"/>
                  <a:t>Z=</a:t>
                </a:r>
                <a14:m>
                  <m:oMath xmlns:m="http://schemas.openxmlformats.org/officeDocument/2006/math">
                    <m:f>
                      <m:fPr>
                        <m:ctrlPr>
                          <a:rPr lang="en-US" altLang="zh-CN" i="1" smtClean="0">
                            <a:latin typeface="Cambria Math" panose="02040503050406030204" pitchFamily="18" charset="0"/>
                          </a:rPr>
                        </m:ctrlPr>
                      </m:fPr>
                      <m:num>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𝑍</m:t>
                        </m:r>
                      </m:num>
                      <m:den>
                        <m:r>
                          <a:rPr lang="en-US" altLang="zh-CN" b="0" i="1" smtClean="0">
                            <a:latin typeface="Cambria Math" panose="02040503050406030204" pitchFamily="18" charset="0"/>
                          </a:rPr>
                          <m:t>2</m:t>
                        </m:r>
                      </m:den>
                    </m:f>
                  </m:oMath>
                </a14:m>
                <a:endParaRPr lang="en-US" altLang="zh-CN" dirty="0" smtClean="0"/>
              </a:p>
              <a:p>
                <a:r>
                  <a:rPr lang="zh-CN" altLang="en-US" dirty="0" smtClean="0"/>
                  <a:t>由此可得法正采伐率</a:t>
                </a:r>
                <a:r>
                  <a:rPr lang="en-US" altLang="zh-CN" dirty="0" smtClean="0"/>
                  <a:t>P</a:t>
                </a:r>
                <a:r>
                  <a:rPr lang="zh-CN" altLang="en-US" dirty="0" smtClean="0"/>
                  <a:t>：</a:t>
                </a:r>
                <a:endParaRPr lang="en-US" altLang="zh-CN" dirty="0" smtClean="0"/>
              </a:p>
              <a:p>
                <a:r>
                  <a:rPr lang="en-US" altLang="zh-CN" dirty="0" smtClean="0"/>
                  <a:t>P=</a:t>
                </a:r>
                <a14:m>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𝑡</m:t>
                            </m:r>
                          </m:sub>
                        </m:sSub>
                      </m:num>
                      <m:den>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𝑡</m:t>
                            </m:r>
                          </m:sub>
                        </m:sSub>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𝑡𝑍</m:t>
                        </m:r>
                      </m:num>
                      <m:den>
                        <m:f>
                          <m:fPr>
                            <m:ctrlPr>
                              <a:rPr lang="en-US" altLang="zh-CN" b="0" i="1" smtClean="0">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2</m:t>
                                </m:r>
                              </m:sup>
                            </m:sSup>
                            <m:r>
                              <a:rPr lang="en-US" altLang="zh-CN" i="1">
                                <a:latin typeface="Cambria Math" panose="02040503050406030204" pitchFamily="18" charset="0"/>
                              </a:rPr>
                              <m:t>𝑍</m:t>
                            </m:r>
                          </m:num>
                          <m:den>
                            <m:r>
                              <a:rPr lang="en-US" altLang="zh-CN" b="0" i="1" smtClean="0">
                                <a:latin typeface="Cambria Math" panose="02040503050406030204" pitchFamily="18" charset="0"/>
                              </a:rPr>
                              <m:t>2</m:t>
                            </m:r>
                          </m:den>
                        </m:f>
                      </m:den>
                    </m:f>
                  </m:oMath>
                </a14:m>
                <a:r>
                  <a:rPr lang="en-US" altLang="zh-CN" dirty="0" smtClean="0"/>
                  <a:t>=</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200</m:t>
                        </m:r>
                      </m:num>
                      <m:den>
                        <m:r>
                          <a:rPr lang="en-US" altLang="zh-CN" b="0" i="1" smtClean="0">
                            <a:latin typeface="Cambria Math" panose="02040503050406030204" pitchFamily="18" charset="0"/>
                          </a:rPr>
                          <m:t>𝑡</m:t>
                        </m:r>
                      </m:den>
                    </m:f>
                    <m:r>
                      <a:rPr lang="en-US" altLang="zh-CN" b="0" i="1" smtClean="0">
                        <a:latin typeface="Cambria Math" panose="02040503050406030204" pitchFamily="18" charset="0"/>
                      </a:rPr>
                      <m:t>%</m:t>
                    </m:r>
                  </m:oMath>
                </a14:m>
                <a:endParaRPr lang="en-US" altLang="zh-CN" dirty="0" smtClean="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对法正林的评价</a:t>
            </a:r>
            <a:endParaRPr lang="zh-CN" altLang="en-US" dirty="0"/>
          </a:p>
        </p:txBody>
      </p:sp>
      <p:sp>
        <p:nvSpPr>
          <p:cNvPr id="3" name="内容占位符 2"/>
          <p:cNvSpPr>
            <a:spLocks noGrp="1"/>
          </p:cNvSpPr>
          <p:nvPr>
            <p:ph idx="1"/>
          </p:nvPr>
        </p:nvSpPr>
        <p:spPr/>
        <p:txBody>
          <a:bodyPr/>
          <a:lstStyle/>
          <a:p>
            <a:r>
              <a:rPr lang="zh-CN" altLang="en-US" dirty="0" smtClean="0"/>
              <a:t>从法正林诞生起，就有不少人对法正林表示怀疑甚至批判</a:t>
            </a:r>
            <a:endParaRPr lang="en-US" altLang="zh-CN" dirty="0" smtClean="0"/>
          </a:p>
          <a:p>
            <a:r>
              <a:rPr lang="zh-CN" altLang="en-US" dirty="0" smtClean="0"/>
              <a:t>但法正林理论事实上更多是反映一种思想的理论模型，反映森林永续利用的最优状态</a:t>
            </a:r>
            <a:endParaRPr lang="en-US" altLang="zh-CN" dirty="0" smtClean="0"/>
          </a:p>
          <a:p>
            <a:r>
              <a:rPr lang="zh-CN" altLang="en-US" dirty="0" smtClean="0"/>
              <a:t>在欧洲，法正林理论作为实现永续利用的一种理想状态而得到了较为广泛的运用</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法正林的优点</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其基本原理仍然具有指导意义。我国</a:t>
            </a:r>
            <a:r>
              <a:rPr lang="en-US" altLang="zh-CN" dirty="0" smtClean="0"/>
              <a:t>《</a:t>
            </a:r>
            <a:r>
              <a:rPr lang="zh-CN" altLang="en-US" dirty="0" smtClean="0"/>
              <a:t>森林法</a:t>
            </a:r>
            <a:r>
              <a:rPr lang="en-US" altLang="zh-CN" dirty="0" smtClean="0"/>
              <a:t>》</a:t>
            </a:r>
            <a:r>
              <a:rPr lang="zh-CN" altLang="en-US" dirty="0" smtClean="0"/>
              <a:t>规定，国家根据森林资源的消耗量低于生长量的原则，严格控制森林年伐量，就是根据法正林理论中“年消耗量等于年生长量就能实现永续利用”这个原理制定的。</a:t>
            </a:r>
            <a:endParaRPr lang="en-US" altLang="zh-CN" dirty="0" smtClean="0"/>
          </a:p>
          <a:p>
            <a:r>
              <a:rPr lang="en-US" altLang="zh-CN" dirty="0" smtClean="0"/>
              <a:t>4</a:t>
            </a:r>
            <a:r>
              <a:rPr lang="zh-CN" altLang="en-US" dirty="0" smtClean="0"/>
              <a:t>个条件中的法正龄级分配是森林调整的首要条件</a:t>
            </a:r>
            <a:endParaRPr lang="en-US" altLang="zh-CN" dirty="0" smtClean="0"/>
          </a:p>
          <a:p>
            <a:r>
              <a:rPr lang="zh-CN" altLang="en-US" dirty="0"/>
              <a:t>法正林</a:t>
            </a:r>
            <a:r>
              <a:rPr lang="zh-CN" altLang="en-US" dirty="0" smtClean="0"/>
              <a:t>排列是从有利于天然林更新及采运、保护等条件出发的，对生态环境保护、国土保护有积极意义</a:t>
            </a:r>
            <a:endParaRPr lang="en-US" altLang="zh-CN" dirty="0" smtClean="0"/>
          </a:p>
          <a:p>
            <a:r>
              <a:rPr lang="zh-CN" altLang="en-US" dirty="0"/>
              <a:t>法正林</a:t>
            </a:r>
            <a:r>
              <a:rPr lang="zh-CN" altLang="en-US" dirty="0" smtClean="0"/>
              <a:t>理论简单易懂，可操作性强，容易为广大林业工作者所理解</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法正林的不足</a:t>
            </a:r>
            <a:endParaRPr lang="zh-CN" altLang="en-US" dirty="0"/>
          </a:p>
        </p:txBody>
      </p:sp>
      <p:sp>
        <p:nvSpPr>
          <p:cNvPr id="3" name="内容占位符 2"/>
          <p:cNvSpPr>
            <a:spLocks noGrp="1"/>
          </p:cNvSpPr>
          <p:nvPr>
            <p:ph idx="1"/>
          </p:nvPr>
        </p:nvSpPr>
        <p:spPr/>
        <p:txBody>
          <a:bodyPr/>
          <a:lstStyle/>
          <a:p>
            <a:r>
              <a:rPr lang="zh-CN" altLang="en-US" dirty="0" smtClean="0"/>
              <a:t>法正林在现实中很少见到，也是不容易在短期内实现的一种理想森林结构，要求的条件过于苛刻</a:t>
            </a:r>
            <a:endParaRPr lang="en-US" altLang="zh-CN" dirty="0" smtClean="0"/>
          </a:p>
          <a:p>
            <a:r>
              <a:rPr lang="zh-CN" altLang="en-US" dirty="0" smtClean="0"/>
              <a:t>法正林是一种简单再生产方式，是生产在原有基础上的重复，因此，采伐面积和更新面积相等</a:t>
            </a:r>
            <a:endParaRPr lang="en-US" altLang="zh-CN" dirty="0" smtClean="0"/>
          </a:p>
          <a:p>
            <a:r>
              <a:rPr lang="zh-CN" altLang="en-US" dirty="0" smtClean="0"/>
              <a:t>法正林只从森林内部条件出发来考虑其永续利用，显然没有考虑社会经济条件的可持续发展</a:t>
            </a: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smtClean="0"/>
              <a:t>完全调整林学说（</a:t>
            </a:r>
            <a:r>
              <a:rPr lang="en-US" altLang="zh-CN" sz="3600" dirty="0" smtClean="0"/>
              <a:t>fully regulated forest</a:t>
            </a:r>
            <a:r>
              <a:rPr lang="zh-CN" altLang="en-US" sz="3600" dirty="0" smtClean="0"/>
              <a:t>）</a:t>
            </a:r>
            <a:endParaRPr lang="zh-CN" altLang="en-US" sz="3600" dirty="0"/>
          </a:p>
        </p:txBody>
      </p:sp>
      <p:sp>
        <p:nvSpPr>
          <p:cNvPr id="3" name="内容占位符 2"/>
          <p:cNvSpPr>
            <a:spLocks noGrp="1"/>
          </p:cNvSpPr>
          <p:nvPr>
            <p:ph sz="quarter" idx="13"/>
          </p:nvPr>
        </p:nvSpPr>
        <p:spPr/>
        <p:txBody>
          <a:bodyPr/>
          <a:lstStyle/>
          <a:p>
            <a:r>
              <a:rPr lang="zh-CN" altLang="en-US" dirty="0" smtClean="0"/>
              <a:t>由于法正林的条件非常严格，也不符合扩大再生产的要求，因而追求严格意义上的法正理想结构是不切合实际的</a:t>
            </a:r>
            <a:endParaRPr lang="en-US" altLang="zh-CN" dirty="0" smtClean="0"/>
          </a:p>
          <a:p>
            <a:r>
              <a:rPr lang="zh-CN" altLang="en-US" dirty="0" smtClean="0"/>
              <a:t>随着森林资源经营理论的发展，美国林学家</a:t>
            </a:r>
            <a:r>
              <a:rPr lang="en-US" altLang="zh-CN" dirty="0" smtClean="0"/>
              <a:t>K.P.</a:t>
            </a:r>
            <a:r>
              <a:rPr lang="zh-CN" altLang="en-US" dirty="0" smtClean="0"/>
              <a:t>戴维斯（</a:t>
            </a:r>
            <a:r>
              <a:rPr lang="en-US" altLang="zh-CN" dirty="0" smtClean="0"/>
              <a:t>1954)</a:t>
            </a:r>
            <a:r>
              <a:rPr lang="zh-CN" altLang="en-US" dirty="0" smtClean="0"/>
              <a:t>，</a:t>
            </a:r>
            <a:r>
              <a:rPr lang="en-US" altLang="zh-CN" dirty="0" smtClean="0"/>
              <a:t>J.K.</a:t>
            </a:r>
            <a:r>
              <a:rPr lang="zh-CN" altLang="en-US" dirty="0" smtClean="0"/>
              <a:t>克拉特（</a:t>
            </a:r>
            <a:r>
              <a:rPr lang="en-US" altLang="zh-CN" dirty="0" smtClean="0"/>
              <a:t>1982</a:t>
            </a:r>
            <a:r>
              <a:rPr lang="zh-CN" altLang="en-US" dirty="0" smtClean="0"/>
              <a:t>）和</a:t>
            </a:r>
            <a:r>
              <a:rPr lang="en-US" altLang="zh-CN" dirty="0" smtClean="0"/>
              <a:t>W.A.</a:t>
            </a:r>
            <a:r>
              <a:rPr lang="zh-CN" altLang="en-US" dirty="0" smtClean="0"/>
              <a:t>鲁斯克纳（</a:t>
            </a:r>
            <a:r>
              <a:rPr lang="en-US" altLang="zh-CN" dirty="0" smtClean="0"/>
              <a:t>1984</a:t>
            </a:r>
            <a:r>
              <a:rPr lang="zh-CN" altLang="en-US" dirty="0" smtClean="0"/>
              <a:t>）先后提出用“完全调整林”学说来代替古典的法正林理论</a:t>
            </a:r>
            <a:endParaRPr lang="en-US" altLang="zh-CN"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ln w="0"/>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8100000" scaled="1"/>
                  <a:tileRect/>
                </a:gradFill>
                <a:effectLst>
                  <a:outerShdw blurRad="38100" dist="25400" dir="5400000" algn="ctr" rotWithShape="0">
                    <a:srgbClr val="6E747A">
                      <a:alpha val="43000"/>
                    </a:srgbClr>
                  </a:outerShdw>
                </a:effectLst>
              </a:rPr>
              <a:t>“The essential requirement of </a:t>
            </a:r>
            <a:r>
              <a:rPr lang="en-US" altLang="zh-CN" b="1" dirty="0">
                <a:ln w="22225">
                  <a:solidFill>
                    <a:schemeClr val="accent2"/>
                  </a:solidFill>
                  <a:prstDash val="solid"/>
                </a:ln>
                <a:solidFill>
                  <a:schemeClr val="accent2">
                    <a:lumMod val="40000"/>
                    <a:lumOff val="60000"/>
                  </a:schemeClr>
                </a:solidFill>
              </a:rPr>
              <a:t>a fully regulated forest </a:t>
            </a:r>
            <a:r>
              <a:rPr lang="en-US" altLang="zh-CN" dirty="0">
                <a:ln w="0"/>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8100000" scaled="1"/>
                  <a:tileRect/>
                </a:gradFill>
                <a:effectLst>
                  <a:outerShdw blurRad="38100" dist="25400" dir="5400000" algn="ctr" rotWithShape="0">
                    <a:srgbClr val="6E747A">
                      <a:alpha val="43000"/>
                    </a:srgbClr>
                  </a:outerShdw>
                </a:effectLst>
              </a:rPr>
              <a:t>is that age and size classes be represented in such proportion and be consistently growing at such rates that an approximately equal annual or periodic yield of products of desired size and quality may be obtained.”</a:t>
            </a:r>
            <a:r>
              <a:rPr lang="en-US" altLang="zh-CN" dirty="0">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8100000" scaled="1"/>
                  <a:tileRect/>
                </a:gradFill>
              </a:rPr>
              <a:t> </a:t>
            </a:r>
            <a:endParaRPr lang="en-US" altLang="zh-CN" dirty="0" smtClean="0">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8100000" scaled="1"/>
                <a:tileRect/>
              </a:gradFill>
            </a:endParaRPr>
          </a:p>
          <a:p>
            <a:r>
              <a:rPr lang="en-US" altLang="zh-CN" dirty="0" smtClean="0"/>
              <a:t>——</a:t>
            </a:r>
            <a:r>
              <a:rPr lang="en-US" altLang="zh-CN" dirty="0"/>
              <a:t>Dr. Kenneth Davis of the University of Michigan wrote in his 1954 text American Forest Management</a:t>
            </a:r>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zh-CN" altLang="en-US" dirty="0" smtClean="0"/>
              <a:t>完全调整林的理论要点</a:t>
            </a:r>
            <a:endParaRPr lang="zh-CN" altLang="en-US" dirty="0"/>
          </a:p>
        </p:txBody>
      </p:sp>
      <p:sp>
        <p:nvSpPr>
          <p:cNvPr id="2" name="内容占位符 1"/>
          <p:cNvSpPr>
            <a:spLocks noGrp="1"/>
          </p:cNvSpPr>
          <p:nvPr>
            <p:ph idx="1"/>
          </p:nvPr>
        </p:nvSpPr>
        <p:spPr/>
        <p:txBody>
          <a:bodyPr>
            <a:normAutofit fontScale="92500"/>
          </a:bodyPr>
          <a:lstStyle/>
          <a:p>
            <a:r>
              <a:rPr lang="zh-CN" altLang="en-US" dirty="0" smtClean="0"/>
              <a:t>（</a:t>
            </a:r>
            <a:r>
              <a:rPr lang="en-US" altLang="zh-CN" dirty="0" smtClean="0"/>
              <a:t>1</a:t>
            </a:r>
            <a:r>
              <a:rPr lang="zh-CN" altLang="en-US" dirty="0" smtClean="0"/>
              <a:t>）径级与株数分布规律</a:t>
            </a:r>
            <a:endParaRPr lang="en-US" altLang="zh-CN" dirty="0" smtClean="0"/>
          </a:p>
          <a:p>
            <a:pPr lvl="1"/>
            <a:r>
              <a:rPr lang="en-US" altLang="zh-CN" dirty="0" smtClean="0"/>
              <a:t>1.</a:t>
            </a:r>
            <a:r>
              <a:rPr lang="zh-CN" altLang="en-US" dirty="0" smtClean="0"/>
              <a:t>要求调整后的同龄林的每个林分内部，径级与株数两者呈正态分布</a:t>
            </a:r>
            <a:endParaRPr lang="en-US" altLang="zh-CN" dirty="0" smtClean="0"/>
          </a:p>
          <a:p>
            <a:pPr lvl="1"/>
            <a:r>
              <a:rPr lang="en-US" altLang="zh-CN" dirty="0" smtClean="0"/>
              <a:t>2</a:t>
            </a:r>
            <a:r>
              <a:rPr lang="zh-CN" altLang="en-US" dirty="0" smtClean="0"/>
              <a:t>、要求调整后在经营单位内各林分间每个正态分布曲线的峰顶连续构成递减曲线</a:t>
            </a:r>
            <a:endParaRPr lang="en-US" altLang="zh-CN" dirty="0" smtClean="0"/>
          </a:p>
          <a:p>
            <a:r>
              <a:rPr lang="zh-CN" altLang="en-US" dirty="0" smtClean="0"/>
              <a:t>（</a:t>
            </a:r>
            <a:r>
              <a:rPr lang="en-US" altLang="zh-CN" dirty="0" smtClean="0"/>
              <a:t>2</a:t>
            </a:r>
            <a:r>
              <a:rPr lang="zh-CN" altLang="en-US" dirty="0" smtClean="0"/>
              <a:t>）各林分面积状态</a:t>
            </a:r>
            <a:endParaRPr lang="en-US" altLang="zh-CN" dirty="0" smtClean="0"/>
          </a:p>
          <a:p>
            <a:pPr lvl="1"/>
            <a:r>
              <a:rPr lang="zh-CN" altLang="en-US" dirty="0" smtClean="0"/>
              <a:t>在整个经营单位内各龄级林分所占的面积都相等</a:t>
            </a:r>
            <a:endParaRPr lang="en-US" altLang="zh-CN" dirty="0" smtClean="0"/>
          </a:p>
          <a:p>
            <a:r>
              <a:rPr lang="zh-CN" altLang="en-US" dirty="0" smtClean="0"/>
              <a:t>（</a:t>
            </a:r>
            <a:r>
              <a:rPr lang="en-US" altLang="zh-CN" dirty="0" smtClean="0"/>
              <a:t>3</a:t>
            </a:r>
            <a:r>
              <a:rPr lang="zh-CN" altLang="en-US" dirty="0" smtClean="0"/>
              <a:t>）各林分蓄积状态</a:t>
            </a:r>
            <a:endParaRPr lang="en-US" altLang="zh-CN" dirty="0" smtClean="0"/>
          </a:p>
          <a:p>
            <a:pPr lvl="1"/>
            <a:r>
              <a:rPr lang="zh-CN" altLang="en-US" dirty="0" smtClean="0"/>
              <a:t>在整个经营单位内的各林分蓄积大小与龄级大小成正比</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flipV="1">
            <a:off x="971600" y="548680"/>
            <a:ext cx="0" cy="52565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 name="直接箭头连接符 4"/>
          <p:cNvCxnSpPr/>
          <p:nvPr/>
        </p:nvCxnSpPr>
        <p:spPr>
          <a:xfrm>
            <a:off x="971600" y="5805264"/>
            <a:ext cx="712879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弧形 7"/>
          <p:cNvSpPr/>
          <p:nvPr/>
        </p:nvSpPr>
        <p:spPr>
          <a:xfrm rot="10800000">
            <a:off x="1434465" y="1025226"/>
            <a:ext cx="6119049" cy="4564014"/>
          </a:xfrm>
          <a:custGeom>
            <a:avLst/>
            <a:gdLst>
              <a:gd name="connsiteX0" fmla="*/ 2664296 w 5328592"/>
              <a:gd name="connsiteY0" fmla="*/ 0 h 4680520"/>
              <a:gd name="connsiteX1" fmla="*/ 5321688 w 5328592"/>
              <a:gd name="connsiteY1" fmla="*/ 2171888 h 4680520"/>
              <a:gd name="connsiteX2" fmla="*/ 2664296 w 5328592"/>
              <a:gd name="connsiteY2" fmla="*/ 2340260 h 4680520"/>
              <a:gd name="connsiteX3" fmla="*/ 2664296 w 5328592"/>
              <a:gd name="connsiteY3" fmla="*/ 0 h 4680520"/>
              <a:gd name="connsiteX0-1" fmla="*/ 2664296 w 5328592"/>
              <a:gd name="connsiteY0-2" fmla="*/ 0 h 4680520"/>
              <a:gd name="connsiteX1-3" fmla="*/ 5321688 w 5328592"/>
              <a:gd name="connsiteY1-4" fmla="*/ 2171888 h 4680520"/>
              <a:gd name="connsiteX0-5" fmla="*/ 3017520 w 5674912"/>
              <a:gd name="connsiteY0-6" fmla="*/ 692332 h 3032592"/>
              <a:gd name="connsiteX1-7" fmla="*/ 5674912 w 5674912"/>
              <a:gd name="connsiteY1-8" fmla="*/ 2864220 h 3032592"/>
              <a:gd name="connsiteX2-9" fmla="*/ 3017520 w 5674912"/>
              <a:gd name="connsiteY2-10" fmla="*/ 3032592 h 3032592"/>
              <a:gd name="connsiteX3-11" fmla="*/ 3017520 w 5674912"/>
              <a:gd name="connsiteY3-12" fmla="*/ 692332 h 3032592"/>
              <a:gd name="connsiteX0-13" fmla="*/ 0 w 5674912"/>
              <a:gd name="connsiteY0-14" fmla="*/ 0 h 3032592"/>
              <a:gd name="connsiteX1-15" fmla="*/ 5674912 w 5674912"/>
              <a:gd name="connsiteY1-16" fmla="*/ 2864220 h 3032592"/>
              <a:gd name="connsiteX0-17" fmla="*/ 3017520 w 6119049"/>
              <a:gd name="connsiteY0-18" fmla="*/ 692332 h 4536266"/>
              <a:gd name="connsiteX1-19" fmla="*/ 5674912 w 6119049"/>
              <a:gd name="connsiteY1-20" fmla="*/ 2864220 h 4536266"/>
              <a:gd name="connsiteX2-21" fmla="*/ 3017520 w 6119049"/>
              <a:gd name="connsiteY2-22" fmla="*/ 3032592 h 4536266"/>
              <a:gd name="connsiteX3-23" fmla="*/ 3017520 w 6119049"/>
              <a:gd name="connsiteY3-24" fmla="*/ 692332 h 4536266"/>
              <a:gd name="connsiteX0-25" fmla="*/ 0 w 6119049"/>
              <a:gd name="connsiteY0-26" fmla="*/ 0 h 4536266"/>
              <a:gd name="connsiteX1-27" fmla="*/ 6119049 w 6119049"/>
              <a:gd name="connsiteY1-28" fmla="*/ 4536266 h 4536266"/>
              <a:gd name="connsiteX0-29" fmla="*/ 3017520 w 6119049"/>
              <a:gd name="connsiteY0-30" fmla="*/ 692332 h 4536266"/>
              <a:gd name="connsiteX1-31" fmla="*/ 5674912 w 6119049"/>
              <a:gd name="connsiteY1-32" fmla="*/ 2864220 h 4536266"/>
              <a:gd name="connsiteX2-33" fmla="*/ 3017520 w 6119049"/>
              <a:gd name="connsiteY2-34" fmla="*/ 3032592 h 4536266"/>
              <a:gd name="connsiteX3-35" fmla="*/ 3017520 w 6119049"/>
              <a:gd name="connsiteY3-36" fmla="*/ 692332 h 4536266"/>
              <a:gd name="connsiteX0-37" fmla="*/ 0 w 6119049"/>
              <a:gd name="connsiteY0-38" fmla="*/ 0 h 4536266"/>
              <a:gd name="connsiteX1-39" fmla="*/ 6119049 w 6119049"/>
              <a:gd name="connsiteY1-40" fmla="*/ 4536266 h 4536266"/>
            </a:gdLst>
            <a:ahLst/>
            <a:cxnLst>
              <a:cxn ang="0">
                <a:pos x="connsiteX0-1" y="connsiteY0-2"/>
              </a:cxn>
              <a:cxn ang="0">
                <a:pos x="connsiteX1-3" y="connsiteY1-4"/>
              </a:cxn>
            </a:cxnLst>
            <a:rect l="l" t="t" r="r" b="b"/>
            <a:pathLst>
              <a:path w="6119049" h="4536266" stroke="0" extrusionOk="0">
                <a:moveTo>
                  <a:pt x="3017520" y="692332"/>
                </a:moveTo>
                <a:cubicBezTo>
                  <a:pt x="4414594" y="692332"/>
                  <a:pt x="5574398" y="1640240"/>
                  <a:pt x="5674912" y="2864220"/>
                </a:cubicBezTo>
                <a:lnTo>
                  <a:pt x="3017520" y="3032592"/>
                </a:lnTo>
                <a:lnTo>
                  <a:pt x="3017520" y="692332"/>
                </a:lnTo>
                <a:close/>
              </a:path>
              <a:path w="6119049" h="4536266" fill="none">
                <a:moveTo>
                  <a:pt x="0" y="0"/>
                </a:moveTo>
                <a:cubicBezTo>
                  <a:pt x="1397074" y="0"/>
                  <a:pt x="5783403" y="347017"/>
                  <a:pt x="6119049" y="4536266"/>
                </a:cubicBezTo>
              </a:path>
            </a:pathLst>
          </a:custGeom>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179512" y="764704"/>
            <a:ext cx="646331" cy="369332"/>
          </a:xfrm>
          <a:prstGeom prst="rect">
            <a:avLst/>
          </a:prstGeom>
          <a:noFill/>
        </p:spPr>
        <p:txBody>
          <a:bodyPr wrap="none" rtlCol="0">
            <a:spAutoFit/>
          </a:bodyPr>
          <a:lstStyle/>
          <a:p>
            <a:r>
              <a:rPr lang="zh-CN" altLang="en-US" dirty="0" smtClean="0"/>
              <a:t>株数</a:t>
            </a:r>
            <a:endParaRPr lang="zh-CN" altLang="en-US" dirty="0"/>
          </a:p>
        </p:txBody>
      </p:sp>
      <p:sp>
        <p:nvSpPr>
          <p:cNvPr id="10" name="文本框 9"/>
          <p:cNvSpPr txBox="1"/>
          <p:nvPr/>
        </p:nvSpPr>
        <p:spPr>
          <a:xfrm>
            <a:off x="7553515" y="5864370"/>
            <a:ext cx="646331" cy="369332"/>
          </a:xfrm>
          <a:prstGeom prst="rect">
            <a:avLst/>
          </a:prstGeom>
          <a:noFill/>
        </p:spPr>
        <p:txBody>
          <a:bodyPr wrap="none" rtlCol="0">
            <a:spAutoFit/>
          </a:bodyPr>
          <a:lstStyle/>
          <a:p>
            <a:r>
              <a:rPr lang="zh-CN" altLang="en-US" dirty="0" smtClean="0"/>
              <a:t>径级</a:t>
            </a:r>
            <a:endParaRPr lang="zh-CN" altLang="en-US" dirty="0"/>
          </a:p>
        </p:txBody>
      </p:sp>
      <p:sp>
        <p:nvSpPr>
          <p:cNvPr id="11" name="文本框 10"/>
          <p:cNvSpPr txBox="1"/>
          <p:nvPr/>
        </p:nvSpPr>
        <p:spPr>
          <a:xfrm>
            <a:off x="3347864" y="764704"/>
            <a:ext cx="4108817" cy="369332"/>
          </a:xfrm>
          <a:prstGeom prst="rect">
            <a:avLst/>
          </a:prstGeom>
          <a:noFill/>
        </p:spPr>
        <p:txBody>
          <a:bodyPr wrap="none" rtlCol="0">
            <a:spAutoFit/>
          </a:bodyPr>
          <a:lstStyle/>
          <a:p>
            <a:r>
              <a:rPr lang="zh-CN" altLang="en-US" dirty="0" smtClean="0"/>
              <a:t>完全调整林各年龄林分径级与株数关系</a:t>
            </a:r>
            <a:endParaRPr lang="zh-CN" altLang="en-US" dirty="0"/>
          </a:p>
        </p:txBody>
      </p:sp>
      <p:sp>
        <p:nvSpPr>
          <p:cNvPr id="13" name="任意多边形 12"/>
          <p:cNvSpPr/>
          <p:nvPr/>
        </p:nvSpPr>
        <p:spPr>
          <a:xfrm>
            <a:off x="1117358" y="1412776"/>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1320965" y="2204864"/>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1619672" y="2990475"/>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2161711" y="3756546"/>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a:off x="2828149" y="4380715"/>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a:off x="3817895" y="4870827"/>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a:xfrm rot="21023934">
            <a:off x="4932040" y="5248689"/>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rot="20893420">
            <a:off x="6454373" y="5520228"/>
            <a:ext cx="754105" cy="185223"/>
          </a:xfrm>
          <a:custGeom>
            <a:avLst/>
            <a:gdLst>
              <a:gd name="connsiteX0" fmla="*/ 0 w 783772"/>
              <a:gd name="connsiteY0" fmla="*/ 169817 h 169817"/>
              <a:gd name="connsiteX1" fmla="*/ 783772 w 783772"/>
              <a:gd name="connsiteY1" fmla="*/ 0 h 169817"/>
              <a:gd name="connsiteX0-1" fmla="*/ 0 w 1018903"/>
              <a:gd name="connsiteY0-2" fmla="*/ 39188 h 39188"/>
              <a:gd name="connsiteX1-3" fmla="*/ 1018903 w 1018903"/>
              <a:gd name="connsiteY1-4" fmla="*/ 0 h 39188"/>
              <a:gd name="connsiteX0-5" fmla="*/ 0 w 1018903"/>
              <a:gd name="connsiteY0-6" fmla="*/ 171652 h 171652"/>
              <a:gd name="connsiteX1-7" fmla="*/ 1018903 w 1018903"/>
              <a:gd name="connsiteY1-8" fmla="*/ 132464 h 171652"/>
              <a:gd name="connsiteX0-9" fmla="*/ 0 w 1018903"/>
              <a:gd name="connsiteY0-10" fmla="*/ 213509 h 213509"/>
              <a:gd name="connsiteX1-11" fmla="*/ 1018903 w 1018903"/>
              <a:gd name="connsiteY1-12" fmla="*/ 174321 h 213509"/>
              <a:gd name="connsiteX0-13" fmla="*/ 0 w 1005840"/>
              <a:gd name="connsiteY0-14" fmla="*/ 276757 h 276757"/>
              <a:gd name="connsiteX1-15" fmla="*/ 1005840 w 1005840"/>
              <a:gd name="connsiteY1-16" fmla="*/ 146129 h 276757"/>
              <a:gd name="connsiteX0-17" fmla="*/ 0 w 1005840"/>
              <a:gd name="connsiteY0-18" fmla="*/ 318049 h 318049"/>
              <a:gd name="connsiteX1-19" fmla="*/ 1005840 w 1005840"/>
              <a:gd name="connsiteY1-20" fmla="*/ 187421 h 318049"/>
              <a:gd name="connsiteX0-21" fmla="*/ 0 w 1005840"/>
              <a:gd name="connsiteY0-22" fmla="*/ 318049 h 318049"/>
              <a:gd name="connsiteX1-23" fmla="*/ 1005840 w 1005840"/>
              <a:gd name="connsiteY1-24" fmla="*/ 187421 h 318049"/>
              <a:gd name="connsiteX0-25" fmla="*/ 0 w 1005840"/>
              <a:gd name="connsiteY0-26" fmla="*/ 329239 h 329239"/>
              <a:gd name="connsiteX1-27" fmla="*/ 1005840 w 1005840"/>
              <a:gd name="connsiteY1-28" fmla="*/ 198611 h 329239"/>
            </a:gdLst>
            <a:ahLst/>
            <a:cxnLst>
              <a:cxn ang="0">
                <a:pos x="connsiteX0-1" y="connsiteY0-2"/>
              </a:cxn>
              <a:cxn ang="0">
                <a:pos x="connsiteX1-3" y="connsiteY1-4"/>
              </a:cxn>
            </a:cxnLst>
            <a:rect l="l" t="t" r="r" b="b"/>
            <a:pathLst>
              <a:path w="1005840" h="329239">
                <a:moveTo>
                  <a:pt x="0" y="329239"/>
                </a:moveTo>
                <a:cubicBezTo>
                  <a:pt x="352697" y="-10395"/>
                  <a:pt x="483326" y="-141022"/>
                  <a:pt x="1005840" y="1986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对完全调整林学说的评价</a:t>
            </a:r>
            <a:endParaRPr lang="zh-CN" altLang="en-US" dirty="0"/>
          </a:p>
        </p:txBody>
      </p:sp>
      <p:sp>
        <p:nvSpPr>
          <p:cNvPr id="3" name="内容占位符 2"/>
          <p:cNvSpPr>
            <a:spLocks noGrp="1"/>
          </p:cNvSpPr>
          <p:nvPr>
            <p:ph sz="quarter" idx="13"/>
          </p:nvPr>
        </p:nvSpPr>
        <p:spPr/>
        <p:txBody>
          <a:bodyPr/>
          <a:lstStyle/>
          <a:p>
            <a:r>
              <a:rPr lang="zh-CN" altLang="en-US" dirty="0" smtClean="0"/>
              <a:t>与法正林思想基本一致，但相对更灵活和切合实际</a:t>
            </a:r>
            <a:endParaRPr lang="en-US" altLang="zh-CN" dirty="0" smtClean="0"/>
          </a:p>
          <a:p>
            <a:r>
              <a:rPr lang="zh-CN" altLang="en-US" dirty="0" smtClean="0"/>
              <a:t>既要求符合自然规律，又结合考虑林业生产要求</a:t>
            </a:r>
            <a:endParaRPr lang="en-US" altLang="zh-CN" dirty="0" smtClean="0"/>
          </a:p>
          <a:p>
            <a:r>
              <a:rPr lang="zh-CN" altLang="en-US" dirty="0" smtClean="0"/>
              <a:t>在形式上不要求长期维持平衡，符合扩大再生产的要求，边生产边调整，逐步创造符合森林永续利用要求的完全调整林</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广义法正林学说</a:t>
            </a:r>
            <a:endParaRPr lang="zh-CN" altLang="en-US" dirty="0"/>
          </a:p>
        </p:txBody>
      </p:sp>
      <p:cxnSp>
        <p:nvCxnSpPr>
          <p:cNvPr id="5" name="直接箭头连接符 4"/>
          <p:cNvCxnSpPr/>
          <p:nvPr/>
        </p:nvCxnSpPr>
        <p:spPr>
          <a:xfrm flipH="1" flipV="1">
            <a:off x="1043608" y="1691516"/>
            <a:ext cx="0" cy="2592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043608" y="4283804"/>
            <a:ext cx="2880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99014" y="952853"/>
            <a:ext cx="1107996" cy="369332"/>
          </a:xfrm>
          <a:prstGeom prst="rect">
            <a:avLst/>
          </a:prstGeom>
          <a:noFill/>
        </p:spPr>
        <p:txBody>
          <a:bodyPr wrap="none" rtlCol="0">
            <a:spAutoFit/>
          </a:bodyPr>
          <a:lstStyle/>
          <a:p>
            <a:r>
              <a:rPr lang="zh-CN" altLang="en-US" dirty="0" smtClean="0"/>
              <a:t>森林面积</a:t>
            </a:r>
            <a:endParaRPr lang="zh-CN" altLang="en-US" dirty="0"/>
          </a:p>
        </p:txBody>
      </p:sp>
      <p:sp>
        <p:nvSpPr>
          <p:cNvPr id="10" name="文本框 9"/>
          <p:cNvSpPr txBox="1"/>
          <p:nvPr/>
        </p:nvSpPr>
        <p:spPr>
          <a:xfrm>
            <a:off x="2843808" y="4283804"/>
            <a:ext cx="646331" cy="369332"/>
          </a:xfrm>
          <a:prstGeom prst="rect">
            <a:avLst/>
          </a:prstGeom>
          <a:noFill/>
        </p:spPr>
        <p:txBody>
          <a:bodyPr wrap="none" rtlCol="0">
            <a:spAutoFit/>
          </a:bodyPr>
          <a:lstStyle/>
          <a:p>
            <a:r>
              <a:rPr lang="zh-CN" altLang="en-US" dirty="0" smtClean="0"/>
              <a:t>龄级</a:t>
            </a:r>
            <a:endParaRPr lang="zh-CN" altLang="en-US" dirty="0"/>
          </a:p>
        </p:txBody>
      </p:sp>
      <p:cxnSp>
        <p:nvCxnSpPr>
          <p:cNvPr id="12" name="直接箭头连接符 11"/>
          <p:cNvCxnSpPr/>
          <p:nvPr/>
        </p:nvCxnSpPr>
        <p:spPr>
          <a:xfrm flipH="1" flipV="1">
            <a:off x="5290337" y="1000108"/>
            <a:ext cx="1" cy="3283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5290338" y="4283804"/>
            <a:ext cx="2880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171997" y="976481"/>
            <a:ext cx="1107996" cy="369332"/>
          </a:xfrm>
          <a:prstGeom prst="rect">
            <a:avLst/>
          </a:prstGeom>
          <a:noFill/>
        </p:spPr>
        <p:txBody>
          <a:bodyPr wrap="none" rtlCol="0">
            <a:spAutoFit/>
          </a:bodyPr>
          <a:lstStyle/>
          <a:p>
            <a:r>
              <a:rPr lang="zh-CN" altLang="en-US" dirty="0" smtClean="0"/>
              <a:t>森林面积</a:t>
            </a:r>
            <a:endParaRPr lang="zh-CN" altLang="en-US" dirty="0"/>
          </a:p>
        </p:txBody>
      </p:sp>
      <p:sp>
        <p:nvSpPr>
          <p:cNvPr id="15" name="文本框 14"/>
          <p:cNvSpPr txBox="1"/>
          <p:nvPr/>
        </p:nvSpPr>
        <p:spPr>
          <a:xfrm>
            <a:off x="7090538" y="4283804"/>
            <a:ext cx="646331" cy="369332"/>
          </a:xfrm>
          <a:prstGeom prst="rect">
            <a:avLst/>
          </a:prstGeom>
          <a:noFill/>
        </p:spPr>
        <p:txBody>
          <a:bodyPr wrap="none" rtlCol="0">
            <a:spAutoFit/>
          </a:bodyPr>
          <a:lstStyle/>
          <a:p>
            <a:r>
              <a:rPr lang="zh-CN" altLang="en-US" dirty="0" smtClean="0"/>
              <a:t>龄级</a:t>
            </a:r>
            <a:endParaRPr lang="zh-CN" altLang="en-US" dirty="0"/>
          </a:p>
        </p:txBody>
      </p:sp>
      <p:sp>
        <p:nvSpPr>
          <p:cNvPr id="16" name="矩形 15"/>
          <p:cNvSpPr/>
          <p:nvPr/>
        </p:nvSpPr>
        <p:spPr>
          <a:xfrm>
            <a:off x="1043608" y="3707738"/>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507010" y="3707738"/>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956204" y="370773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419606" y="370773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884462" y="3707738"/>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187624" y="4864516"/>
            <a:ext cx="6811142" cy="646331"/>
          </a:xfrm>
          <a:prstGeom prst="rect">
            <a:avLst/>
          </a:prstGeom>
          <a:noFill/>
        </p:spPr>
        <p:txBody>
          <a:bodyPr wrap="square" rtlCol="0">
            <a:spAutoFit/>
          </a:bodyPr>
          <a:lstStyle/>
          <a:p>
            <a:r>
              <a:rPr lang="zh-CN" altLang="en-US" dirty="0" smtClean="0"/>
              <a:t>把各龄级面积累积到左端，形成森林累积面积分布，若其累积面积始终分布在虚线之上，就被认为是广义的法正林状态</a:t>
            </a:r>
            <a:endParaRPr lang="zh-CN" altLang="en-US" dirty="0"/>
          </a:p>
        </p:txBody>
      </p:sp>
      <p:sp>
        <p:nvSpPr>
          <p:cNvPr id="23" name="矩形 22"/>
          <p:cNvSpPr/>
          <p:nvPr/>
        </p:nvSpPr>
        <p:spPr>
          <a:xfrm>
            <a:off x="5290337"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753739"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202933" y="3703093"/>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666882" y="3703091"/>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292080" y="3122380"/>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293544" y="2546315"/>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295287" y="1965603"/>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5292080" y="1367675"/>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761575" y="311841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763039" y="2542354"/>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5764782" y="196164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217507" y="256421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6684325" y="314028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6215764" y="314492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131191"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p:cNvCxnSpPr/>
          <p:nvPr/>
        </p:nvCxnSpPr>
        <p:spPr>
          <a:xfrm>
            <a:off x="5290337" y="1367675"/>
            <a:ext cx="2304256" cy="2911481"/>
          </a:xfrm>
          <a:prstGeom prst="line">
            <a:avLst/>
          </a:prstGeom>
          <a:ln>
            <a:prstDash val="sysDot"/>
          </a:ln>
        </p:spPr>
        <p:style>
          <a:lnRef idx="3">
            <a:schemeClr val="accent2"/>
          </a:lnRef>
          <a:fillRef idx="0">
            <a:schemeClr val="accent2"/>
          </a:fillRef>
          <a:effectRef idx="2">
            <a:schemeClr val="accent2"/>
          </a:effectRef>
          <a:fontRef idx="minor">
            <a:schemeClr val="tx1"/>
          </a:fontRef>
        </p:style>
      </p:cxnSp>
      <p:sp>
        <p:nvSpPr>
          <p:cNvPr id="3" name="文本框 2"/>
          <p:cNvSpPr txBox="1"/>
          <p:nvPr/>
        </p:nvSpPr>
        <p:spPr>
          <a:xfrm>
            <a:off x="3003499" y="1857126"/>
            <a:ext cx="1980029" cy="523220"/>
          </a:xfrm>
          <a:prstGeom prst="rect">
            <a:avLst/>
          </a:prstGeom>
          <a:noFill/>
        </p:spPr>
        <p:txBody>
          <a:bodyPr wrap="none" rtlCol="0">
            <a:spAutoFit/>
          </a:bodyPr>
          <a:lstStyle/>
          <a:p>
            <a:r>
              <a:rPr lang="zh-CN" altLang="en-US" sz="2800" b="1" dirty="0" smtClean="0">
                <a:ln w="9525">
                  <a:solidFill>
                    <a:schemeClr val="bg1"/>
                  </a:solidFill>
                  <a:prstDash val="solid"/>
                </a:ln>
                <a:solidFill>
                  <a:schemeClr val="accent3">
                    <a:lumMod val="75000"/>
                  </a:schemeClr>
                </a:solidFill>
                <a:effectLst>
                  <a:outerShdw blurRad="12700" dist="38100" dir="2700000" algn="tl" rotWithShape="0">
                    <a:schemeClr val="accent5">
                      <a:lumMod val="60000"/>
                      <a:lumOff val="40000"/>
                    </a:schemeClr>
                  </a:outerShdw>
                </a:effectLst>
                <a:latin typeface="黑体" panose="02010609060101010101" pitchFamily="49" charset="-122"/>
                <a:ea typeface="黑体" panose="02010609060101010101" pitchFamily="49" charset="-122"/>
              </a:rPr>
              <a:t>古典法正林</a:t>
            </a:r>
            <a:endParaRPr lang="zh-CN" altLang="en-US" sz="2800" b="1" dirty="0">
              <a:ln w="9525">
                <a:solidFill>
                  <a:schemeClr val="bg1"/>
                </a:solidFill>
                <a:prstDash val="solid"/>
              </a:ln>
              <a:solidFill>
                <a:schemeClr val="accent3">
                  <a:lumMod val="75000"/>
                </a:schemeClr>
              </a:solidFill>
              <a:effectLst>
                <a:outerShdw blurRad="12700" dist="38100" dir="2700000" algn="tl" rotWithShape="0">
                  <a:schemeClr val="accent5">
                    <a:lumMod val="60000"/>
                    <a:lumOff val="40000"/>
                  </a:schemeClr>
                </a:outerShdw>
              </a:effectLst>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广义法正林学说</a:t>
            </a:r>
            <a:endParaRPr lang="zh-CN" altLang="en-US" dirty="0"/>
          </a:p>
        </p:txBody>
      </p:sp>
      <p:cxnSp>
        <p:nvCxnSpPr>
          <p:cNvPr id="5" name="直接箭头连接符 4"/>
          <p:cNvCxnSpPr/>
          <p:nvPr/>
        </p:nvCxnSpPr>
        <p:spPr>
          <a:xfrm flipH="1" flipV="1">
            <a:off x="1043608" y="1691516"/>
            <a:ext cx="0" cy="2592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043608" y="4283804"/>
            <a:ext cx="2880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99014" y="952853"/>
            <a:ext cx="1107996" cy="369332"/>
          </a:xfrm>
          <a:prstGeom prst="rect">
            <a:avLst/>
          </a:prstGeom>
          <a:noFill/>
        </p:spPr>
        <p:txBody>
          <a:bodyPr wrap="none" rtlCol="0">
            <a:spAutoFit/>
          </a:bodyPr>
          <a:lstStyle/>
          <a:p>
            <a:r>
              <a:rPr lang="zh-CN" altLang="en-US" dirty="0" smtClean="0"/>
              <a:t>森林面积</a:t>
            </a:r>
            <a:endParaRPr lang="zh-CN" altLang="en-US" dirty="0"/>
          </a:p>
        </p:txBody>
      </p:sp>
      <p:sp>
        <p:nvSpPr>
          <p:cNvPr id="10" name="文本框 9"/>
          <p:cNvSpPr txBox="1"/>
          <p:nvPr/>
        </p:nvSpPr>
        <p:spPr>
          <a:xfrm>
            <a:off x="3299634" y="4283804"/>
            <a:ext cx="646331" cy="369332"/>
          </a:xfrm>
          <a:prstGeom prst="rect">
            <a:avLst/>
          </a:prstGeom>
          <a:noFill/>
        </p:spPr>
        <p:txBody>
          <a:bodyPr wrap="none" rtlCol="0">
            <a:spAutoFit/>
          </a:bodyPr>
          <a:lstStyle/>
          <a:p>
            <a:r>
              <a:rPr lang="zh-CN" altLang="en-US" dirty="0" smtClean="0"/>
              <a:t>龄级</a:t>
            </a:r>
            <a:endParaRPr lang="zh-CN" altLang="en-US" dirty="0"/>
          </a:p>
        </p:txBody>
      </p:sp>
      <p:cxnSp>
        <p:nvCxnSpPr>
          <p:cNvPr id="12" name="直接箭头连接符 11"/>
          <p:cNvCxnSpPr/>
          <p:nvPr/>
        </p:nvCxnSpPr>
        <p:spPr>
          <a:xfrm flipH="1" flipV="1">
            <a:off x="5290337" y="1000108"/>
            <a:ext cx="1" cy="3283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5290338" y="4283804"/>
            <a:ext cx="2880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171997" y="976481"/>
            <a:ext cx="1107996" cy="369332"/>
          </a:xfrm>
          <a:prstGeom prst="rect">
            <a:avLst/>
          </a:prstGeom>
          <a:noFill/>
        </p:spPr>
        <p:txBody>
          <a:bodyPr wrap="none" rtlCol="0">
            <a:spAutoFit/>
          </a:bodyPr>
          <a:lstStyle/>
          <a:p>
            <a:r>
              <a:rPr lang="zh-CN" altLang="en-US" dirty="0" smtClean="0"/>
              <a:t>森林面积</a:t>
            </a:r>
            <a:endParaRPr lang="zh-CN" altLang="en-US" dirty="0"/>
          </a:p>
        </p:txBody>
      </p:sp>
      <p:sp>
        <p:nvSpPr>
          <p:cNvPr id="15" name="文本框 14"/>
          <p:cNvSpPr txBox="1"/>
          <p:nvPr/>
        </p:nvSpPr>
        <p:spPr>
          <a:xfrm>
            <a:off x="7090538" y="4283804"/>
            <a:ext cx="646331" cy="369332"/>
          </a:xfrm>
          <a:prstGeom prst="rect">
            <a:avLst/>
          </a:prstGeom>
          <a:noFill/>
        </p:spPr>
        <p:txBody>
          <a:bodyPr wrap="none" rtlCol="0">
            <a:spAutoFit/>
          </a:bodyPr>
          <a:lstStyle/>
          <a:p>
            <a:r>
              <a:rPr lang="zh-CN" altLang="en-US" dirty="0" smtClean="0"/>
              <a:t>龄级</a:t>
            </a:r>
            <a:endParaRPr lang="zh-CN" altLang="en-US" dirty="0"/>
          </a:p>
        </p:txBody>
      </p:sp>
      <p:sp>
        <p:nvSpPr>
          <p:cNvPr id="19" name="矩形 18"/>
          <p:cNvSpPr/>
          <p:nvPr/>
        </p:nvSpPr>
        <p:spPr>
          <a:xfrm>
            <a:off x="2419606" y="370773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884462" y="3707738"/>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187624" y="4864516"/>
            <a:ext cx="6811142" cy="923330"/>
          </a:xfrm>
          <a:prstGeom prst="rect">
            <a:avLst/>
          </a:prstGeom>
          <a:noFill/>
        </p:spPr>
        <p:txBody>
          <a:bodyPr wrap="square" rtlCol="0">
            <a:spAutoFit/>
          </a:bodyPr>
          <a:lstStyle/>
          <a:p>
            <a:r>
              <a:rPr lang="zh-CN" altLang="en-US" dirty="0" smtClean="0"/>
              <a:t>如果是成、过熟林占优势，尽管缺乏第</a:t>
            </a:r>
            <a:r>
              <a:rPr lang="en-US" altLang="zh-CN" dirty="0" smtClean="0"/>
              <a:t>2</a:t>
            </a:r>
            <a:r>
              <a:rPr lang="zh-CN" altLang="en-US" dirty="0" smtClean="0"/>
              <a:t>、</a:t>
            </a:r>
            <a:r>
              <a:rPr lang="en-US" altLang="zh-CN" dirty="0" smtClean="0"/>
              <a:t>3</a:t>
            </a:r>
            <a:r>
              <a:rPr lang="zh-CN" altLang="en-US" dirty="0" smtClean="0"/>
              <a:t>级林分，但面积的累积分布依然在点线以上，标明更多的</a:t>
            </a:r>
            <a:r>
              <a:rPr lang="en-US" altLang="zh-CN" dirty="0" smtClean="0"/>
              <a:t>4</a:t>
            </a:r>
            <a:r>
              <a:rPr lang="zh-CN" altLang="en-US" dirty="0" smtClean="0"/>
              <a:t>、</a:t>
            </a:r>
            <a:r>
              <a:rPr lang="en-US" altLang="zh-CN" dirty="0" smtClean="0"/>
              <a:t>5</a:t>
            </a:r>
            <a:r>
              <a:rPr lang="zh-CN" altLang="en-US" dirty="0" smtClean="0"/>
              <a:t>级林可以替代缺失的</a:t>
            </a:r>
            <a:r>
              <a:rPr lang="en-US" altLang="zh-CN" dirty="0" smtClean="0"/>
              <a:t>2</a:t>
            </a:r>
            <a:r>
              <a:rPr lang="zh-CN" altLang="en-US" dirty="0" smtClean="0"/>
              <a:t>、</a:t>
            </a:r>
            <a:r>
              <a:rPr lang="en-US" altLang="zh-CN" dirty="0" smtClean="0"/>
              <a:t>3</a:t>
            </a:r>
            <a:r>
              <a:rPr lang="zh-CN" altLang="en-US" dirty="0" smtClean="0"/>
              <a:t>级林，这是扩展的法正林状态</a:t>
            </a:r>
            <a:endParaRPr lang="zh-CN" altLang="en-US" dirty="0"/>
          </a:p>
        </p:txBody>
      </p:sp>
      <p:sp>
        <p:nvSpPr>
          <p:cNvPr id="23" name="矩形 22"/>
          <p:cNvSpPr/>
          <p:nvPr/>
        </p:nvSpPr>
        <p:spPr>
          <a:xfrm>
            <a:off x="5290337"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753739"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202933" y="3703093"/>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666882" y="3703091"/>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292080" y="3122380"/>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293544" y="2546315"/>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761575" y="311841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5298173" y="194838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5771147" y="2533403"/>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232008" y="3109468"/>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3003499" y="1857126"/>
            <a:ext cx="1988045" cy="523220"/>
          </a:xfrm>
          <a:prstGeom prst="rect">
            <a:avLst/>
          </a:prstGeom>
          <a:noFill/>
        </p:spPr>
        <p:txBody>
          <a:bodyPr wrap="none" rtlCol="0">
            <a:spAutoFit/>
          </a:bodyPr>
          <a:lstStyle/>
          <a:p>
            <a:r>
              <a:rPr lang="zh-CN" altLang="en-US" sz="2800" b="1" dirty="0" smtClean="0">
                <a:ln w="9525">
                  <a:solidFill>
                    <a:schemeClr val="bg1"/>
                  </a:solidFill>
                  <a:prstDash val="solid"/>
                </a:ln>
                <a:solidFill>
                  <a:schemeClr val="accent3">
                    <a:lumMod val="75000"/>
                  </a:schemeClr>
                </a:solidFill>
                <a:effectLst>
                  <a:outerShdw blurRad="12700" dist="38100" dir="2700000" algn="tl" rotWithShape="0">
                    <a:schemeClr val="accent5">
                      <a:lumMod val="60000"/>
                      <a:lumOff val="40000"/>
                    </a:schemeClr>
                  </a:outerShdw>
                </a:effectLst>
                <a:latin typeface="黑体" panose="02010609060101010101" pitchFamily="49" charset="-122"/>
                <a:ea typeface="黑体" panose="02010609060101010101" pitchFamily="49" charset="-122"/>
              </a:rPr>
              <a:t>扩展法正林</a:t>
            </a:r>
            <a:endParaRPr lang="zh-CN" altLang="en-US" sz="2800" b="1" dirty="0">
              <a:ln w="9525">
                <a:solidFill>
                  <a:schemeClr val="bg1"/>
                </a:solidFill>
                <a:prstDash val="solid"/>
              </a:ln>
              <a:solidFill>
                <a:schemeClr val="accent3">
                  <a:lumMod val="75000"/>
                </a:schemeClr>
              </a:solidFill>
              <a:effectLst>
                <a:outerShdw blurRad="12700" dist="38100" dir="2700000" algn="tl" rotWithShape="0">
                  <a:schemeClr val="accent5">
                    <a:lumMod val="60000"/>
                    <a:lumOff val="40000"/>
                  </a:schemeClr>
                </a:outerShdw>
              </a:effectLst>
              <a:latin typeface="黑体" panose="02010609060101010101" pitchFamily="49" charset="-122"/>
              <a:ea typeface="黑体" panose="02010609060101010101" pitchFamily="49" charset="-122"/>
            </a:endParaRPr>
          </a:p>
        </p:txBody>
      </p:sp>
      <p:sp>
        <p:nvSpPr>
          <p:cNvPr id="44" name="文本框 43"/>
          <p:cNvSpPr txBox="1"/>
          <p:nvPr/>
        </p:nvSpPr>
        <p:spPr>
          <a:xfrm>
            <a:off x="1049530" y="4421215"/>
            <a:ext cx="312906" cy="369332"/>
          </a:xfrm>
          <a:prstGeom prst="rect">
            <a:avLst/>
          </a:prstGeom>
          <a:noFill/>
        </p:spPr>
        <p:txBody>
          <a:bodyPr wrap="none" rtlCol="0">
            <a:spAutoFit/>
          </a:bodyPr>
          <a:lstStyle/>
          <a:p>
            <a:r>
              <a:rPr lang="en-US" altLang="zh-CN" dirty="0" smtClean="0"/>
              <a:t>1</a:t>
            </a:r>
            <a:endParaRPr lang="zh-CN" altLang="en-US" dirty="0"/>
          </a:p>
        </p:txBody>
      </p:sp>
      <p:sp>
        <p:nvSpPr>
          <p:cNvPr id="45" name="文本框 44"/>
          <p:cNvSpPr txBox="1"/>
          <p:nvPr/>
        </p:nvSpPr>
        <p:spPr>
          <a:xfrm>
            <a:off x="1547664" y="4422188"/>
            <a:ext cx="312906" cy="369332"/>
          </a:xfrm>
          <a:prstGeom prst="rect">
            <a:avLst/>
          </a:prstGeom>
          <a:noFill/>
        </p:spPr>
        <p:txBody>
          <a:bodyPr wrap="none" rtlCol="0">
            <a:spAutoFit/>
          </a:bodyPr>
          <a:lstStyle/>
          <a:p>
            <a:r>
              <a:rPr lang="en-US" altLang="zh-CN" dirty="0" smtClean="0"/>
              <a:t>2</a:t>
            </a:r>
            <a:endParaRPr lang="zh-CN" altLang="en-US" dirty="0"/>
          </a:p>
        </p:txBody>
      </p:sp>
      <p:sp>
        <p:nvSpPr>
          <p:cNvPr id="46" name="文本框 45"/>
          <p:cNvSpPr txBox="1"/>
          <p:nvPr/>
        </p:nvSpPr>
        <p:spPr>
          <a:xfrm>
            <a:off x="2002986" y="4421215"/>
            <a:ext cx="312906" cy="369332"/>
          </a:xfrm>
          <a:prstGeom prst="rect">
            <a:avLst/>
          </a:prstGeom>
          <a:noFill/>
        </p:spPr>
        <p:txBody>
          <a:bodyPr wrap="none" rtlCol="0">
            <a:spAutoFit/>
          </a:bodyPr>
          <a:lstStyle/>
          <a:p>
            <a:r>
              <a:rPr lang="en-US" altLang="zh-CN" dirty="0" smtClean="0"/>
              <a:t>3</a:t>
            </a:r>
            <a:endParaRPr lang="zh-CN" altLang="en-US" dirty="0"/>
          </a:p>
        </p:txBody>
      </p:sp>
      <p:sp>
        <p:nvSpPr>
          <p:cNvPr id="47" name="文本框 46"/>
          <p:cNvSpPr txBox="1"/>
          <p:nvPr/>
        </p:nvSpPr>
        <p:spPr>
          <a:xfrm>
            <a:off x="2470461" y="4421215"/>
            <a:ext cx="312906" cy="369332"/>
          </a:xfrm>
          <a:prstGeom prst="rect">
            <a:avLst/>
          </a:prstGeom>
          <a:noFill/>
        </p:spPr>
        <p:txBody>
          <a:bodyPr wrap="none" rtlCol="0">
            <a:spAutoFit/>
          </a:bodyPr>
          <a:lstStyle/>
          <a:p>
            <a:r>
              <a:rPr lang="en-US" altLang="zh-CN" dirty="0" smtClean="0"/>
              <a:t>4</a:t>
            </a:r>
            <a:endParaRPr lang="zh-CN" altLang="en-US" dirty="0"/>
          </a:p>
        </p:txBody>
      </p:sp>
      <p:sp>
        <p:nvSpPr>
          <p:cNvPr id="48" name="文本框 47"/>
          <p:cNvSpPr txBox="1"/>
          <p:nvPr/>
        </p:nvSpPr>
        <p:spPr>
          <a:xfrm>
            <a:off x="2955989" y="4421215"/>
            <a:ext cx="312906" cy="369332"/>
          </a:xfrm>
          <a:prstGeom prst="rect">
            <a:avLst/>
          </a:prstGeom>
          <a:noFill/>
        </p:spPr>
        <p:txBody>
          <a:bodyPr wrap="none" rtlCol="0">
            <a:spAutoFit/>
          </a:bodyPr>
          <a:lstStyle/>
          <a:p>
            <a:r>
              <a:rPr lang="en-US" altLang="zh-CN" dirty="0" smtClean="0"/>
              <a:t>5</a:t>
            </a:r>
            <a:endParaRPr lang="zh-CN" altLang="en-US" dirty="0"/>
          </a:p>
        </p:txBody>
      </p:sp>
      <p:sp>
        <p:nvSpPr>
          <p:cNvPr id="50" name="矩形 49"/>
          <p:cNvSpPr/>
          <p:nvPr/>
        </p:nvSpPr>
        <p:spPr>
          <a:xfrm>
            <a:off x="2402210" y="3116561"/>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1037920" y="369755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234464" y="253107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6664289" y="3090041"/>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7145392" y="369755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2879813" y="310946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5314367" y="134496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5763086" y="195053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240689" y="193762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6674497" y="2513834"/>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0722" y="192038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132230" y="3112324"/>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p:cNvCxnSpPr/>
          <p:nvPr/>
        </p:nvCxnSpPr>
        <p:spPr>
          <a:xfrm>
            <a:off x="5288873" y="1385406"/>
            <a:ext cx="2305720" cy="2893750"/>
          </a:xfrm>
          <a:prstGeom prst="line">
            <a:avLst/>
          </a:prstGeom>
          <a:ln>
            <a:prstDash val="sysDot"/>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6209896" y="3104261"/>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6194232" y="252310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广义法正林学说</a:t>
            </a:r>
            <a:endParaRPr lang="zh-CN" altLang="en-US" dirty="0"/>
          </a:p>
        </p:txBody>
      </p:sp>
      <p:cxnSp>
        <p:nvCxnSpPr>
          <p:cNvPr id="5" name="直接箭头连接符 4"/>
          <p:cNvCxnSpPr/>
          <p:nvPr/>
        </p:nvCxnSpPr>
        <p:spPr>
          <a:xfrm flipH="1" flipV="1">
            <a:off x="1043608" y="1691516"/>
            <a:ext cx="0" cy="2592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043608" y="4283804"/>
            <a:ext cx="2880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99014" y="952853"/>
            <a:ext cx="1107996" cy="369332"/>
          </a:xfrm>
          <a:prstGeom prst="rect">
            <a:avLst/>
          </a:prstGeom>
          <a:noFill/>
        </p:spPr>
        <p:txBody>
          <a:bodyPr wrap="none" rtlCol="0">
            <a:spAutoFit/>
          </a:bodyPr>
          <a:lstStyle/>
          <a:p>
            <a:r>
              <a:rPr lang="zh-CN" altLang="en-US" dirty="0" smtClean="0"/>
              <a:t>森林面积</a:t>
            </a:r>
            <a:endParaRPr lang="zh-CN" altLang="en-US" dirty="0"/>
          </a:p>
        </p:txBody>
      </p:sp>
      <p:sp>
        <p:nvSpPr>
          <p:cNvPr id="10" name="文本框 9"/>
          <p:cNvSpPr txBox="1"/>
          <p:nvPr/>
        </p:nvSpPr>
        <p:spPr>
          <a:xfrm>
            <a:off x="3299634" y="4283804"/>
            <a:ext cx="646331" cy="369332"/>
          </a:xfrm>
          <a:prstGeom prst="rect">
            <a:avLst/>
          </a:prstGeom>
          <a:noFill/>
        </p:spPr>
        <p:txBody>
          <a:bodyPr wrap="none" rtlCol="0">
            <a:spAutoFit/>
          </a:bodyPr>
          <a:lstStyle/>
          <a:p>
            <a:r>
              <a:rPr lang="zh-CN" altLang="en-US" dirty="0" smtClean="0"/>
              <a:t>龄级</a:t>
            </a:r>
            <a:endParaRPr lang="zh-CN" altLang="en-US" dirty="0"/>
          </a:p>
        </p:txBody>
      </p:sp>
      <p:cxnSp>
        <p:nvCxnSpPr>
          <p:cNvPr id="12" name="直接箭头连接符 11"/>
          <p:cNvCxnSpPr/>
          <p:nvPr/>
        </p:nvCxnSpPr>
        <p:spPr>
          <a:xfrm flipH="1" flipV="1">
            <a:off x="5290337" y="1000108"/>
            <a:ext cx="1" cy="3283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5290338" y="4283804"/>
            <a:ext cx="2880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171997" y="976481"/>
            <a:ext cx="1107996" cy="369332"/>
          </a:xfrm>
          <a:prstGeom prst="rect">
            <a:avLst/>
          </a:prstGeom>
          <a:noFill/>
        </p:spPr>
        <p:txBody>
          <a:bodyPr wrap="none" rtlCol="0">
            <a:spAutoFit/>
          </a:bodyPr>
          <a:lstStyle/>
          <a:p>
            <a:r>
              <a:rPr lang="zh-CN" altLang="en-US" dirty="0" smtClean="0"/>
              <a:t>森林面积</a:t>
            </a:r>
            <a:endParaRPr lang="zh-CN" altLang="en-US" dirty="0"/>
          </a:p>
        </p:txBody>
      </p:sp>
      <p:sp>
        <p:nvSpPr>
          <p:cNvPr id="15" name="文本框 14"/>
          <p:cNvSpPr txBox="1"/>
          <p:nvPr/>
        </p:nvSpPr>
        <p:spPr>
          <a:xfrm>
            <a:off x="7090538" y="4283804"/>
            <a:ext cx="646331" cy="369332"/>
          </a:xfrm>
          <a:prstGeom prst="rect">
            <a:avLst/>
          </a:prstGeom>
          <a:noFill/>
        </p:spPr>
        <p:txBody>
          <a:bodyPr wrap="none" rtlCol="0">
            <a:spAutoFit/>
          </a:bodyPr>
          <a:lstStyle/>
          <a:p>
            <a:r>
              <a:rPr lang="zh-CN" altLang="en-US" dirty="0" smtClean="0"/>
              <a:t>龄级</a:t>
            </a:r>
            <a:endParaRPr lang="zh-CN" altLang="en-US" dirty="0"/>
          </a:p>
        </p:txBody>
      </p:sp>
      <p:sp>
        <p:nvSpPr>
          <p:cNvPr id="19" name="矩形 18"/>
          <p:cNvSpPr/>
          <p:nvPr/>
        </p:nvSpPr>
        <p:spPr>
          <a:xfrm>
            <a:off x="1506155" y="369450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884462" y="3707738"/>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187624" y="4864516"/>
            <a:ext cx="6811142" cy="646331"/>
          </a:xfrm>
          <a:prstGeom prst="rect">
            <a:avLst/>
          </a:prstGeom>
          <a:noFill/>
        </p:spPr>
        <p:txBody>
          <a:bodyPr wrap="square" rtlCol="0">
            <a:spAutoFit/>
          </a:bodyPr>
          <a:lstStyle/>
          <a:p>
            <a:r>
              <a:rPr lang="zh-CN" altLang="en-US" dirty="0" smtClean="0"/>
              <a:t>如果是中幼林占优势，第</a:t>
            </a:r>
            <a:r>
              <a:rPr lang="en-US" altLang="zh-CN" dirty="0" smtClean="0"/>
              <a:t>4</a:t>
            </a:r>
            <a:r>
              <a:rPr lang="zh-CN" altLang="en-US" dirty="0" smtClean="0"/>
              <a:t>级龄级森林累积面积处于虚线下方，所以也不是扩展法正林</a:t>
            </a:r>
            <a:endParaRPr lang="zh-CN" altLang="en-US" dirty="0"/>
          </a:p>
        </p:txBody>
      </p:sp>
      <p:sp>
        <p:nvSpPr>
          <p:cNvPr id="23" name="矩形 22"/>
          <p:cNvSpPr/>
          <p:nvPr/>
        </p:nvSpPr>
        <p:spPr>
          <a:xfrm>
            <a:off x="5290337"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753739" y="370309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202933" y="3703093"/>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666882" y="3703091"/>
            <a:ext cx="463402" cy="576065"/>
          </a:xfrm>
          <a:prstGeom prst="rect">
            <a:avLst/>
          </a:prstGeom>
          <a:solidFill>
            <a:schemeClr val="accent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292080" y="3122380"/>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293544" y="2546315"/>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724128" y="311841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5298173" y="194838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5733700" y="2533403"/>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2550347" y="1824087"/>
            <a:ext cx="2709396" cy="523220"/>
          </a:xfrm>
          <a:prstGeom prst="rect">
            <a:avLst/>
          </a:prstGeom>
          <a:noFill/>
        </p:spPr>
        <p:txBody>
          <a:bodyPr wrap="none" rtlCol="0">
            <a:spAutoFit/>
          </a:bodyPr>
          <a:lstStyle/>
          <a:p>
            <a:r>
              <a:rPr lang="zh-CN" altLang="en-US" sz="2800" dirty="0">
                <a:ln w="0"/>
                <a:solidFill>
                  <a:srgbClr val="FF0000"/>
                </a:solidFill>
                <a:effectLst>
                  <a:glow rad="101600">
                    <a:schemeClr val="accent4">
                      <a:satMod val="175000"/>
                      <a:alpha val="40000"/>
                    </a:schemeClr>
                  </a:glow>
                  <a:innerShdw blurRad="63500" dist="50800" dir="16200000">
                    <a:prstClr val="black">
                      <a:alpha val="50000"/>
                    </a:prstClr>
                  </a:innerShdw>
                </a:effectLst>
                <a:latin typeface="黑体" panose="02010609060101010101" pitchFamily="49" charset="-122"/>
                <a:ea typeface="黑体" panose="02010609060101010101" pitchFamily="49" charset="-122"/>
              </a:rPr>
              <a:t>不是</a:t>
            </a:r>
            <a:r>
              <a:rPr lang="zh-CN" altLang="en-US" sz="2800" dirty="0" smtClean="0">
                <a:ln w="0"/>
                <a:solidFill>
                  <a:srgbClr val="FF0000"/>
                </a:solidFill>
                <a:effectLst>
                  <a:glow rad="101600">
                    <a:schemeClr val="accent4">
                      <a:satMod val="175000"/>
                      <a:alpha val="40000"/>
                    </a:schemeClr>
                  </a:glow>
                  <a:innerShdw blurRad="63500" dist="50800" dir="16200000">
                    <a:prstClr val="black">
                      <a:alpha val="50000"/>
                    </a:prstClr>
                  </a:innerShdw>
                </a:effectLst>
                <a:latin typeface="黑体" panose="02010609060101010101" pitchFamily="49" charset="-122"/>
                <a:ea typeface="黑体" panose="02010609060101010101" pitchFamily="49" charset="-122"/>
              </a:rPr>
              <a:t>扩展法正林</a:t>
            </a:r>
            <a:endParaRPr lang="zh-CN" altLang="en-US" sz="2800" dirty="0">
              <a:ln w="0"/>
              <a:solidFill>
                <a:srgbClr val="FF0000"/>
              </a:solidFill>
              <a:effectLst>
                <a:glow rad="101600">
                  <a:schemeClr val="accent4">
                    <a:satMod val="175000"/>
                    <a:alpha val="40000"/>
                  </a:schemeClr>
                </a:glow>
                <a:innerShdw blurRad="63500" dist="50800" dir="16200000">
                  <a:prstClr val="black">
                    <a:alpha val="50000"/>
                  </a:prstClr>
                </a:innerShdw>
              </a:effectLst>
              <a:latin typeface="黑体" panose="02010609060101010101" pitchFamily="49" charset="-122"/>
              <a:ea typeface="黑体" panose="02010609060101010101" pitchFamily="49" charset="-122"/>
            </a:endParaRPr>
          </a:p>
        </p:txBody>
      </p:sp>
      <p:sp>
        <p:nvSpPr>
          <p:cNvPr id="44" name="文本框 43"/>
          <p:cNvSpPr txBox="1"/>
          <p:nvPr/>
        </p:nvSpPr>
        <p:spPr>
          <a:xfrm>
            <a:off x="1049530" y="4421215"/>
            <a:ext cx="312906" cy="369332"/>
          </a:xfrm>
          <a:prstGeom prst="rect">
            <a:avLst/>
          </a:prstGeom>
          <a:noFill/>
        </p:spPr>
        <p:txBody>
          <a:bodyPr wrap="none" rtlCol="0">
            <a:spAutoFit/>
          </a:bodyPr>
          <a:lstStyle/>
          <a:p>
            <a:r>
              <a:rPr lang="en-US" altLang="zh-CN" dirty="0" smtClean="0"/>
              <a:t>1</a:t>
            </a:r>
            <a:endParaRPr lang="zh-CN" altLang="en-US" dirty="0"/>
          </a:p>
        </p:txBody>
      </p:sp>
      <p:sp>
        <p:nvSpPr>
          <p:cNvPr id="45" name="文本框 44"/>
          <p:cNvSpPr txBox="1"/>
          <p:nvPr/>
        </p:nvSpPr>
        <p:spPr>
          <a:xfrm>
            <a:off x="1547664" y="4422188"/>
            <a:ext cx="312906" cy="369332"/>
          </a:xfrm>
          <a:prstGeom prst="rect">
            <a:avLst/>
          </a:prstGeom>
          <a:noFill/>
        </p:spPr>
        <p:txBody>
          <a:bodyPr wrap="none" rtlCol="0">
            <a:spAutoFit/>
          </a:bodyPr>
          <a:lstStyle/>
          <a:p>
            <a:r>
              <a:rPr lang="en-US" altLang="zh-CN" dirty="0" smtClean="0"/>
              <a:t>2</a:t>
            </a:r>
            <a:endParaRPr lang="zh-CN" altLang="en-US" dirty="0"/>
          </a:p>
        </p:txBody>
      </p:sp>
      <p:sp>
        <p:nvSpPr>
          <p:cNvPr id="46" name="文本框 45"/>
          <p:cNvSpPr txBox="1"/>
          <p:nvPr/>
        </p:nvSpPr>
        <p:spPr>
          <a:xfrm>
            <a:off x="2002986" y="4421215"/>
            <a:ext cx="312906" cy="369332"/>
          </a:xfrm>
          <a:prstGeom prst="rect">
            <a:avLst/>
          </a:prstGeom>
          <a:noFill/>
        </p:spPr>
        <p:txBody>
          <a:bodyPr wrap="none" rtlCol="0">
            <a:spAutoFit/>
          </a:bodyPr>
          <a:lstStyle/>
          <a:p>
            <a:r>
              <a:rPr lang="en-US" altLang="zh-CN" dirty="0" smtClean="0"/>
              <a:t>3</a:t>
            </a:r>
            <a:endParaRPr lang="zh-CN" altLang="en-US" dirty="0"/>
          </a:p>
        </p:txBody>
      </p:sp>
      <p:sp>
        <p:nvSpPr>
          <p:cNvPr id="47" name="文本框 46"/>
          <p:cNvSpPr txBox="1"/>
          <p:nvPr/>
        </p:nvSpPr>
        <p:spPr>
          <a:xfrm>
            <a:off x="2470461" y="4421215"/>
            <a:ext cx="312906" cy="369332"/>
          </a:xfrm>
          <a:prstGeom prst="rect">
            <a:avLst/>
          </a:prstGeom>
          <a:noFill/>
        </p:spPr>
        <p:txBody>
          <a:bodyPr wrap="none" rtlCol="0">
            <a:spAutoFit/>
          </a:bodyPr>
          <a:lstStyle/>
          <a:p>
            <a:r>
              <a:rPr lang="en-US" altLang="zh-CN" dirty="0" smtClean="0"/>
              <a:t>4</a:t>
            </a:r>
            <a:endParaRPr lang="zh-CN" altLang="en-US" dirty="0"/>
          </a:p>
        </p:txBody>
      </p:sp>
      <p:sp>
        <p:nvSpPr>
          <p:cNvPr id="48" name="文本框 47"/>
          <p:cNvSpPr txBox="1"/>
          <p:nvPr/>
        </p:nvSpPr>
        <p:spPr>
          <a:xfrm>
            <a:off x="2955989" y="4421215"/>
            <a:ext cx="312906" cy="369332"/>
          </a:xfrm>
          <a:prstGeom prst="rect">
            <a:avLst/>
          </a:prstGeom>
          <a:noFill/>
        </p:spPr>
        <p:txBody>
          <a:bodyPr wrap="none" rtlCol="0">
            <a:spAutoFit/>
          </a:bodyPr>
          <a:lstStyle/>
          <a:p>
            <a:r>
              <a:rPr lang="en-US" altLang="zh-CN" dirty="0" smtClean="0"/>
              <a:t>5</a:t>
            </a:r>
            <a:endParaRPr lang="zh-CN" altLang="en-US" dirty="0"/>
          </a:p>
        </p:txBody>
      </p:sp>
      <p:sp>
        <p:nvSpPr>
          <p:cNvPr id="50" name="矩形 49"/>
          <p:cNvSpPr/>
          <p:nvPr/>
        </p:nvSpPr>
        <p:spPr>
          <a:xfrm>
            <a:off x="1964035" y="308145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1037920" y="369755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7145392" y="3697552"/>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1949320" y="3694507"/>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5314367" y="1344969"/>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5755483" y="1952244"/>
            <a:ext cx="463402" cy="576065"/>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p:cNvCxnSpPr/>
          <p:nvPr/>
        </p:nvCxnSpPr>
        <p:spPr>
          <a:xfrm>
            <a:off x="5288873" y="1385406"/>
            <a:ext cx="2305720" cy="2893750"/>
          </a:xfrm>
          <a:prstGeom prst="line">
            <a:avLst/>
          </a:prstGeom>
          <a:ln>
            <a:prstDash val="sysDot"/>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理想的异龄林结构</a:t>
            </a:r>
            <a:endParaRPr lang="zh-CN" altLang="en-US" dirty="0"/>
          </a:p>
        </p:txBody>
      </p:sp>
      <p:sp>
        <p:nvSpPr>
          <p:cNvPr id="3" name="内容占位符 2"/>
          <p:cNvSpPr>
            <a:spLocks noGrp="1"/>
          </p:cNvSpPr>
          <p:nvPr>
            <p:ph idx="1"/>
          </p:nvPr>
        </p:nvSpPr>
        <p:spPr/>
        <p:txBody>
          <a:bodyPr/>
          <a:lstStyle/>
          <a:p>
            <a:r>
              <a:rPr lang="zh-CN" altLang="en-US" dirty="0" smtClean="0"/>
              <a:t>由于异龄林的林分在同一个地块上有各种年龄的林木，因此组织异龄林的永续利用时可以采用择伐作业（</a:t>
            </a:r>
            <a:r>
              <a:rPr lang="en-US" altLang="zh-CN" dirty="0" smtClean="0"/>
              <a:t>selective logging</a:t>
            </a:r>
            <a:r>
              <a:rPr lang="zh-CN" altLang="en-US" dirty="0" smtClean="0"/>
              <a:t>）</a:t>
            </a:r>
            <a:endParaRPr lang="en-US" altLang="zh-CN" dirty="0" smtClean="0"/>
          </a:p>
          <a:p>
            <a:r>
              <a:rPr lang="zh-CN" altLang="en-US" dirty="0" smtClean="0"/>
              <a:t>择伐异龄林所需要的理想森林结构条件如下</a:t>
            </a:r>
            <a:endParaRPr lang="en-US" altLang="zh-CN" dirty="0" smtClean="0"/>
          </a:p>
          <a:p>
            <a:pPr lvl="1"/>
            <a:r>
              <a:rPr lang="en-US" altLang="zh-CN" dirty="0" smtClean="0"/>
              <a:t>1</a:t>
            </a:r>
            <a:r>
              <a:rPr lang="zh-CN" altLang="en-US" dirty="0" smtClean="0"/>
              <a:t>、在一个林分内的株数按径级（年龄）形成倒</a:t>
            </a:r>
            <a:r>
              <a:rPr lang="en-US" altLang="zh-CN" dirty="0" smtClean="0"/>
              <a:t>J</a:t>
            </a:r>
            <a:r>
              <a:rPr lang="zh-CN" altLang="en-US" dirty="0" smtClean="0"/>
              <a:t>形分布</a:t>
            </a:r>
            <a:endParaRPr lang="en-US" altLang="zh-CN" dirty="0" smtClean="0"/>
          </a:p>
          <a:p>
            <a:pPr lvl="1"/>
            <a:r>
              <a:rPr lang="en-US" altLang="zh-CN" dirty="0" smtClean="0"/>
              <a:t>2</a:t>
            </a:r>
            <a:r>
              <a:rPr lang="zh-CN" altLang="en-US" dirty="0" smtClean="0"/>
              <a:t>、在一个林分内的材积按</a:t>
            </a:r>
            <a:r>
              <a:rPr lang="zh-CN" altLang="en-US" dirty="0"/>
              <a:t>径级（年龄）</a:t>
            </a:r>
            <a:r>
              <a:rPr lang="zh-CN" altLang="en-US" dirty="0" smtClean="0"/>
              <a:t>形成正</a:t>
            </a:r>
            <a:r>
              <a:rPr lang="en-US" altLang="zh-CN" dirty="0" smtClean="0"/>
              <a:t>J</a:t>
            </a:r>
            <a:r>
              <a:rPr lang="zh-CN" altLang="en-US" dirty="0"/>
              <a:t>形分布</a:t>
            </a:r>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07904" y="357166"/>
            <a:ext cx="4978896" cy="5929353"/>
          </a:xfrm>
        </p:spPr>
        <p:txBody>
          <a:bodyPr/>
          <a:lstStyle/>
          <a:p>
            <a:r>
              <a:rPr lang="zh-CN" altLang="en-US" dirty="0" smtClean="0"/>
              <a:t>在具备上述分布的条件下，就可以在此林分内每隔一定的间隔期（回归年）进行一次择伐</a:t>
            </a:r>
            <a:endParaRPr lang="en-US" altLang="zh-CN" dirty="0" smtClean="0"/>
          </a:p>
          <a:p>
            <a:r>
              <a:rPr lang="zh-CN" altLang="en-US" dirty="0" smtClean="0"/>
              <a:t>如在整个经营单位内组成与回归年数相同树木的异龄林分，进行轮流择伐，则可做到维持连年作业的森林资源永续利用</a:t>
            </a:r>
            <a:endParaRPr lang="zh-CN" altLang="en-US" dirty="0"/>
          </a:p>
        </p:txBody>
      </p:sp>
      <p:cxnSp>
        <p:nvCxnSpPr>
          <p:cNvPr id="4" name="直接箭头连接符 3"/>
          <p:cNvCxnSpPr/>
          <p:nvPr/>
        </p:nvCxnSpPr>
        <p:spPr>
          <a:xfrm flipV="1">
            <a:off x="611560" y="692696"/>
            <a:ext cx="0" cy="36004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直接箭头连接符 4"/>
          <p:cNvCxnSpPr/>
          <p:nvPr/>
        </p:nvCxnSpPr>
        <p:spPr>
          <a:xfrm>
            <a:off x="611560" y="4293096"/>
            <a:ext cx="309634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文本框 8"/>
          <p:cNvSpPr txBox="1"/>
          <p:nvPr/>
        </p:nvSpPr>
        <p:spPr>
          <a:xfrm>
            <a:off x="149895" y="836712"/>
            <a:ext cx="461665" cy="1246495"/>
          </a:xfrm>
          <a:prstGeom prst="rect">
            <a:avLst/>
          </a:prstGeom>
          <a:noFill/>
        </p:spPr>
        <p:txBody>
          <a:bodyPr vert="eaVert" wrap="none" rtlCol="0">
            <a:spAutoFit/>
          </a:bodyPr>
          <a:lstStyle/>
          <a:p>
            <a:r>
              <a:rPr lang="zh-CN" altLang="en-US" dirty="0" smtClean="0"/>
              <a:t>株数或材积</a:t>
            </a:r>
            <a:endParaRPr lang="zh-CN" altLang="en-US" dirty="0"/>
          </a:p>
        </p:txBody>
      </p:sp>
      <p:sp>
        <p:nvSpPr>
          <p:cNvPr id="10" name="文本框 9"/>
          <p:cNvSpPr txBox="1"/>
          <p:nvPr/>
        </p:nvSpPr>
        <p:spPr>
          <a:xfrm>
            <a:off x="2483768" y="4369038"/>
            <a:ext cx="1338828" cy="369332"/>
          </a:xfrm>
          <a:prstGeom prst="rect">
            <a:avLst/>
          </a:prstGeom>
          <a:noFill/>
        </p:spPr>
        <p:txBody>
          <a:bodyPr wrap="none" rtlCol="0">
            <a:spAutoFit/>
          </a:bodyPr>
          <a:lstStyle/>
          <a:p>
            <a:r>
              <a:rPr lang="zh-CN" altLang="en-US" dirty="0" smtClean="0"/>
              <a:t>径级或树龄</a:t>
            </a:r>
            <a:endParaRPr lang="zh-CN" altLang="en-US" dirty="0"/>
          </a:p>
        </p:txBody>
      </p:sp>
      <p:sp>
        <p:nvSpPr>
          <p:cNvPr id="11" name="任意多边形 10"/>
          <p:cNvSpPr/>
          <p:nvPr/>
        </p:nvSpPr>
        <p:spPr>
          <a:xfrm>
            <a:off x="822958" y="1463041"/>
            <a:ext cx="2756264" cy="2521130"/>
          </a:xfrm>
          <a:custGeom>
            <a:avLst/>
            <a:gdLst>
              <a:gd name="connsiteX0" fmla="*/ 0 w 2847755"/>
              <a:gd name="connsiteY0" fmla="*/ 3327444 h 3327444"/>
              <a:gd name="connsiteX1" fmla="*/ 2547257 w 2847755"/>
              <a:gd name="connsiteY1" fmla="*/ 806313 h 3327444"/>
              <a:gd name="connsiteX2" fmla="*/ 2743200 w 2847755"/>
              <a:gd name="connsiteY2" fmla="*/ 74793 h 3327444"/>
              <a:gd name="connsiteX3" fmla="*/ 2050869 w 2847755"/>
              <a:gd name="connsiteY3" fmla="*/ 61730 h 3327444"/>
              <a:gd name="connsiteX0-1" fmla="*/ 0 w 2637240"/>
              <a:gd name="connsiteY0-2" fmla="*/ 3265714 h 3265714"/>
              <a:gd name="connsiteX1-3" fmla="*/ 2547257 w 2637240"/>
              <a:gd name="connsiteY1-4" fmla="*/ 744583 h 3265714"/>
              <a:gd name="connsiteX2-5" fmla="*/ 2050869 w 2637240"/>
              <a:gd name="connsiteY2-6" fmla="*/ 0 h 3265714"/>
              <a:gd name="connsiteX0-7" fmla="*/ 0 w 2050869"/>
              <a:gd name="connsiteY0-8" fmla="*/ 3265714 h 3265714"/>
              <a:gd name="connsiteX1-9" fmla="*/ 2050869 w 2050869"/>
              <a:gd name="connsiteY1-10" fmla="*/ 0 h 3265714"/>
              <a:gd name="connsiteX0-11" fmla="*/ 0 w 2442755"/>
              <a:gd name="connsiteY0-12" fmla="*/ 1972491 h 1972491"/>
              <a:gd name="connsiteX1-13" fmla="*/ 2442755 w 2442755"/>
              <a:gd name="connsiteY1-14" fmla="*/ 0 h 1972491"/>
              <a:gd name="connsiteX0-15" fmla="*/ 0 w 2442755"/>
              <a:gd name="connsiteY0-16" fmla="*/ 1972491 h 1972491"/>
              <a:gd name="connsiteX1-17" fmla="*/ 2442755 w 2442755"/>
              <a:gd name="connsiteY1-18" fmla="*/ 0 h 1972491"/>
              <a:gd name="connsiteX0-19" fmla="*/ 0 w 2442755"/>
              <a:gd name="connsiteY0-20" fmla="*/ 1972491 h 1972491"/>
              <a:gd name="connsiteX1-21" fmla="*/ 2442755 w 2442755"/>
              <a:gd name="connsiteY1-22" fmla="*/ 0 h 1972491"/>
              <a:gd name="connsiteX0-23" fmla="*/ 0 w 2442755"/>
              <a:gd name="connsiteY0-24" fmla="*/ 1972491 h 1972491"/>
              <a:gd name="connsiteX1-25" fmla="*/ 2442755 w 2442755"/>
              <a:gd name="connsiteY1-26" fmla="*/ 0 h 1972491"/>
              <a:gd name="connsiteX0-27" fmla="*/ 0 w 2690949"/>
              <a:gd name="connsiteY0-28" fmla="*/ 2547256 h 2547256"/>
              <a:gd name="connsiteX1-29" fmla="*/ 2690949 w 2690949"/>
              <a:gd name="connsiteY1-30" fmla="*/ 0 h 2547256"/>
              <a:gd name="connsiteX0-31" fmla="*/ 0 w 2690949"/>
              <a:gd name="connsiteY0-32" fmla="*/ 2547256 h 2547256"/>
              <a:gd name="connsiteX1-33" fmla="*/ 2690949 w 2690949"/>
              <a:gd name="connsiteY1-34" fmla="*/ 0 h 2547256"/>
              <a:gd name="connsiteX0-35" fmla="*/ 0 w 2756264"/>
              <a:gd name="connsiteY0-36" fmla="*/ 2521130 h 2521130"/>
              <a:gd name="connsiteX1-37" fmla="*/ 2756264 w 2756264"/>
              <a:gd name="connsiteY1-38" fmla="*/ 0 h 2521130"/>
            </a:gdLst>
            <a:ahLst/>
            <a:cxnLst>
              <a:cxn ang="0">
                <a:pos x="connsiteX0-1" y="connsiteY0-2"/>
              </a:cxn>
              <a:cxn ang="0">
                <a:pos x="connsiteX1-3" y="connsiteY1-4"/>
              </a:cxn>
            </a:cxnLst>
            <a:rect l="l" t="t" r="r" b="b"/>
            <a:pathLst>
              <a:path w="2756264" h="2521130">
                <a:moveTo>
                  <a:pt x="0" y="2521130"/>
                </a:moveTo>
                <a:cubicBezTo>
                  <a:pt x="1663338" y="2164079"/>
                  <a:pt x="2412275" y="1441269"/>
                  <a:pt x="2756264" y="0"/>
                </a:cubicBezTo>
              </a:path>
            </a:pathLst>
          </a:cu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p:nvSpPr>
        <p:spPr>
          <a:xfrm rot="5400000">
            <a:off x="749306" y="1515110"/>
            <a:ext cx="2756264" cy="2416992"/>
          </a:xfrm>
          <a:custGeom>
            <a:avLst/>
            <a:gdLst>
              <a:gd name="connsiteX0" fmla="*/ 0 w 2847755"/>
              <a:gd name="connsiteY0" fmla="*/ 3327444 h 3327444"/>
              <a:gd name="connsiteX1" fmla="*/ 2547257 w 2847755"/>
              <a:gd name="connsiteY1" fmla="*/ 806313 h 3327444"/>
              <a:gd name="connsiteX2" fmla="*/ 2743200 w 2847755"/>
              <a:gd name="connsiteY2" fmla="*/ 74793 h 3327444"/>
              <a:gd name="connsiteX3" fmla="*/ 2050869 w 2847755"/>
              <a:gd name="connsiteY3" fmla="*/ 61730 h 3327444"/>
              <a:gd name="connsiteX0-1" fmla="*/ 0 w 2637240"/>
              <a:gd name="connsiteY0-2" fmla="*/ 3265714 h 3265714"/>
              <a:gd name="connsiteX1-3" fmla="*/ 2547257 w 2637240"/>
              <a:gd name="connsiteY1-4" fmla="*/ 744583 h 3265714"/>
              <a:gd name="connsiteX2-5" fmla="*/ 2050869 w 2637240"/>
              <a:gd name="connsiteY2-6" fmla="*/ 0 h 3265714"/>
              <a:gd name="connsiteX0-7" fmla="*/ 0 w 2050869"/>
              <a:gd name="connsiteY0-8" fmla="*/ 3265714 h 3265714"/>
              <a:gd name="connsiteX1-9" fmla="*/ 2050869 w 2050869"/>
              <a:gd name="connsiteY1-10" fmla="*/ 0 h 3265714"/>
              <a:gd name="connsiteX0-11" fmla="*/ 0 w 2442755"/>
              <a:gd name="connsiteY0-12" fmla="*/ 1972491 h 1972491"/>
              <a:gd name="connsiteX1-13" fmla="*/ 2442755 w 2442755"/>
              <a:gd name="connsiteY1-14" fmla="*/ 0 h 1972491"/>
              <a:gd name="connsiteX0-15" fmla="*/ 0 w 2442755"/>
              <a:gd name="connsiteY0-16" fmla="*/ 1972491 h 1972491"/>
              <a:gd name="connsiteX1-17" fmla="*/ 2442755 w 2442755"/>
              <a:gd name="connsiteY1-18" fmla="*/ 0 h 1972491"/>
              <a:gd name="connsiteX0-19" fmla="*/ 0 w 2442755"/>
              <a:gd name="connsiteY0-20" fmla="*/ 1972491 h 1972491"/>
              <a:gd name="connsiteX1-21" fmla="*/ 2442755 w 2442755"/>
              <a:gd name="connsiteY1-22" fmla="*/ 0 h 1972491"/>
              <a:gd name="connsiteX0-23" fmla="*/ 0 w 2442755"/>
              <a:gd name="connsiteY0-24" fmla="*/ 1972491 h 1972491"/>
              <a:gd name="connsiteX1-25" fmla="*/ 2442755 w 2442755"/>
              <a:gd name="connsiteY1-26" fmla="*/ 0 h 1972491"/>
              <a:gd name="connsiteX0-27" fmla="*/ 0 w 2690949"/>
              <a:gd name="connsiteY0-28" fmla="*/ 2547256 h 2547256"/>
              <a:gd name="connsiteX1-29" fmla="*/ 2690949 w 2690949"/>
              <a:gd name="connsiteY1-30" fmla="*/ 0 h 2547256"/>
              <a:gd name="connsiteX0-31" fmla="*/ 0 w 2690949"/>
              <a:gd name="connsiteY0-32" fmla="*/ 2547256 h 2547256"/>
              <a:gd name="connsiteX1-33" fmla="*/ 2690949 w 2690949"/>
              <a:gd name="connsiteY1-34" fmla="*/ 0 h 2547256"/>
              <a:gd name="connsiteX0-35" fmla="*/ 0 w 2756264"/>
              <a:gd name="connsiteY0-36" fmla="*/ 2521130 h 2521130"/>
              <a:gd name="connsiteX1-37" fmla="*/ 2756264 w 2756264"/>
              <a:gd name="connsiteY1-38" fmla="*/ 0 h 2521130"/>
            </a:gdLst>
            <a:ahLst/>
            <a:cxnLst>
              <a:cxn ang="0">
                <a:pos x="connsiteX0-1" y="connsiteY0-2"/>
              </a:cxn>
              <a:cxn ang="0">
                <a:pos x="connsiteX1-3" y="connsiteY1-4"/>
              </a:cxn>
            </a:cxnLst>
            <a:rect l="l" t="t" r="r" b="b"/>
            <a:pathLst>
              <a:path w="2756264" h="2521130">
                <a:moveTo>
                  <a:pt x="0" y="2521130"/>
                </a:moveTo>
                <a:cubicBezTo>
                  <a:pt x="1663338" y="2164079"/>
                  <a:pt x="2412275" y="1441269"/>
                  <a:pt x="2756264"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3" name="文本框 12"/>
          <p:cNvSpPr txBox="1"/>
          <p:nvPr/>
        </p:nvSpPr>
        <p:spPr>
          <a:xfrm>
            <a:off x="822958" y="1268760"/>
            <a:ext cx="1107996" cy="369332"/>
          </a:xfrm>
          <a:prstGeom prst="rect">
            <a:avLst/>
          </a:prstGeom>
          <a:noFill/>
        </p:spPr>
        <p:txBody>
          <a:bodyPr wrap="none" rtlCol="0">
            <a:spAutoFit/>
          </a:bodyPr>
          <a:lstStyle/>
          <a:p>
            <a:r>
              <a:rPr lang="zh-CN" altLang="en-US" dirty="0" smtClean="0"/>
              <a:t>株数曲线</a:t>
            </a:r>
            <a:endParaRPr lang="zh-CN" altLang="en-US" dirty="0"/>
          </a:p>
        </p:txBody>
      </p:sp>
      <p:sp>
        <p:nvSpPr>
          <p:cNvPr id="14" name="文本框 13"/>
          <p:cNvSpPr txBox="1"/>
          <p:nvPr/>
        </p:nvSpPr>
        <p:spPr>
          <a:xfrm>
            <a:off x="2781936" y="1713875"/>
            <a:ext cx="1107996" cy="369332"/>
          </a:xfrm>
          <a:prstGeom prst="rect">
            <a:avLst/>
          </a:prstGeom>
          <a:noFill/>
        </p:spPr>
        <p:txBody>
          <a:bodyPr wrap="none" rtlCol="0">
            <a:spAutoFit/>
          </a:bodyPr>
          <a:lstStyle/>
          <a:p>
            <a:r>
              <a:rPr lang="zh-CN" altLang="en-US" dirty="0" smtClean="0"/>
              <a:t>材积曲线</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向法正林过渡</a:t>
            </a:r>
            <a:endParaRPr lang="zh-CN" altLang="en-US" dirty="0"/>
          </a:p>
        </p:txBody>
      </p:sp>
      <p:sp>
        <p:nvSpPr>
          <p:cNvPr id="3" name="文本占位符 2"/>
          <p:cNvSpPr>
            <a:spLocks noGrp="1"/>
          </p:cNvSpPr>
          <p:nvPr>
            <p:ph type="body" idx="1"/>
          </p:nvPr>
        </p:nvSpPr>
        <p:spPr/>
        <p:txBody>
          <a:bodyPr/>
          <a:lstStyle/>
          <a:p>
            <a:r>
              <a:rPr lang="en-US" altLang="zh-CN" dirty="0"/>
              <a:t>Transition to a Normal Forest</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为什么要向法正林过渡？</a:t>
            </a:r>
            <a:endParaRPr lang="zh-CN" altLang="en-US" dirty="0"/>
          </a:p>
        </p:txBody>
      </p:sp>
      <p:sp>
        <p:nvSpPr>
          <p:cNvPr id="3" name="内容占位符 2"/>
          <p:cNvSpPr>
            <a:spLocks noGrp="1"/>
          </p:cNvSpPr>
          <p:nvPr>
            <p:ph idx="1"/>
          </p:nvPr>
        </p:nvSpPr>
        <p:spPr/>
        <p:txBody>
          <a:bodyPr/>
          <a:lstStyle/>
          <a:p>
            <a:r>
              <a:rPr lang="zh-CN" altLang="en-US" dirty="0" smtClean="0"/>
              <a:t>如果森林一开始的分布并不符合法正林理论原则，是否可以通过采伐规划，让森林的林分分布更符合法正林理论的要求？</a:t>
            </a:r>
            <a:endParaRPr lang="en-US" altLang="zh-CN" dirty="0" smtClean="0"/>
          </a:p>
          <a:p>
            <a:r>
              <a:rPr lang="zh-CN" altLang="en-US" dirty="0" smtClean="0"/>
              <a:t>两种情况：</a:t>
            </a:r>
            <a:endParaRPr lang="en-US" altLang="zh-CN" dirty="0" smtClean="0"/>
          </a:p>
          <a:p>
            <a:pPr lvl="1"/>
            <a:r>
              <a:rPr lang="zh-CN" altLang="en-US" dirty="0" smtClean="0"/>
              <a:t>加拿大、美国、俄国、巴西等以原始林为主的国家，过熟林较多</a:t>
            </a:r>
            <a:endParaRPr lang="en-US" altLang="zh-CN" dirty="0" smtClean="0"/>
          </a:p>
          <a:p>
            <a:pPr lvl="1"/>
            <a:r>
              <a:rPr lang="zh-CN" altLang="en-US" dirty="0" smtClean="0"/>
              <a:t>中国、英国、新西兰、葡萄牙等人工林较多的国家，中幼林较多，大龄级林分不足</a:t>
            </a:r>
            <a:endParaRPr lang="zh-CN"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两种方法</a:t>
            </a:r>
            <a:endParaRPr lang="zh-CN" altLang="en-US" dirty="0"/>
          </a:p>
        </p:txBody>
      </p:sp>
      <p:sp>
        <p:nvSpPr>
          <p:cNvPr id="6" name="内容占位符 5"/>
          <p:cNvSpPr>
            <a:spLocks noGrp="1"/>
          </p:cNvSpPr>
          <p:nvPr>
            <p:ph sz="half" idx="1"/>
          </p:nvPr>
        </p:nvSpPr>
        <p:spPr/>
        <p:txBody>
          <a:bodyPr/>
          <a:lstStyle/>
          <a:p>
            <a:r>
              <a:rPr lang="zh-CN" altLang="en-US" dirty="0" smtClean="0"/>
              <a:t>面积控制法</a:t>
            </a:r>
            <a:endParaRPr lang="en-US" altLang="zh-CN" dirty="0" smtClean="0"/>
          </a:p>
          <a:p>
            <a:r>
              <a:rPr lang="en-US" altLang="zh-CN" dirty="0" smtClean="0"/>
              <a:t>Area control</a:t>
            </a:r>
            <a:endParaRPr lang="en-US" altLang="zh-CN" dirty="0" smtClean="0"/>
          </a:p>
          <a:p>
            <a:pPr lvl="1"/>
            <a:r>
              <a:rPr lang="zh-CN" altLang="en-US" dirty="0" smtClean="0"/>
              <a:t>每年采伐和更新的森林面积</a:t>
            </a:r>
            <a:r>
              <a:rPr lang="en-US" altLang="zh-CN" dirty="0" smtClean="0"/>
              <a:t>=</a:t>
            </a:r>
            <a:r>
              <a:rPr lang="zh-CN" altLang="en-US" dirty="0" smtClean="0"/>
              <a:t>总面积</a:t>
            </a:r>
            <a:r>
              <a:rPr lang="en-US" altLang="zh-CN" dirty="0" smtClean="0"/>
              <a:t>/</a:t>
            </a:r>
            <a:r>
              <a:rPr lang="zh-CN" altLang="en-US" dirty="0" smtClean="0"/>
              <a:t>为下一轮森林选择的轮伐期</a:t>
            </a:r>
            <a:endParaRPr lang="en-US" altLang="zh-CN" dirty="0" smtClean="0"/>
          </a:p>
          <a:p>
            <a:pPr lvl="1"/>
            <a:r>
              <a:rPr lang="zh-CN" altLang="en-US" dirty="0" smtClean="0"/>
              <a:t>最后就能形成一个从</a:t>
            </a:r>
            <a:r>
              <a:rPr lang="en-US" altLang="zh-CN" dirty="0" smtClean="0"/>
              <a:t>0</a:t>
            </a:r>
            <a:r>
              <a:rPr lang="zh-CN" altLang="en-US" dirty="0" smtClean="0"/>
              <a:t>到采伐年龄的龄级分布，然后按照法正林进行管理</a:t>
            </a:r>
            <a:endParaRPr lang="en-US" altLang="zh-CN" dirty="0" smtClean="0"/>
          </a:p>
          <a:p>
            <a:pPr lvl="1"/>
            <a:r>
              <a:rPr lang="zh-CN" altLang="en-US" dirty="0" smtClean="0"/>
              <a:t>但在过渡阶段的木材产量很不稳定</a:t>
            </a:r>
            <a:endParaRPr lang="zh-CN" altLang="en-US" dirty="0"/>
          </a:p>
        </p:txBody>
      </p:sp>
      <p:sp>
        <p:nvSpPr>
          <p:cNvPr id="7" name="内容占位符 6"/>
          <p:cNvSpPr>
            <a:spLocks noGrp="1"/>
          </p:cNvSpPr>
          <p:nvPr>
            <p:ph sz="half" idx="2"/>
          </p:nvPr>
        </p:nvSpPr>
        <p:spPr/>
        <p:txBody>
          <a:bodyPr/>
          <a:lstStyle/>
          <a:p>
            <a:r>
              <a:rPr lang="zh-CN" altLang="en-US" dirty="0" smtClean="0"/>
              <a:t>采伐量控制法</a:t>
            </a:r>
            <a:endParaRPr lang="en-US" altLang="zh-CN" dirty="0" smtClean="0"/>
          </a:p>
          <a:p>
            <a:r>
              <a:rPr lang="en-US" altLang="zh-CN" dirty="0" smtClean="0"/>
              <a:t>Volume control</a:t>
            </a:r>
            <a:endParaRPr lang="en-US" altLang="zh-CN" dirty="0" smtClean="0"/>
          </a:p>
          <a:p>
            <a:pPr lvl="1"/>
            <a:r>
              <a:rPr lang="zh-CN" altLang="en-US" dirty="0" smtClean="0"/>
              <a:t>稳定过渡期的采伐量</a:t>
            </a:r>
            <a:endParaRPr lang="en-US" altLang="zh-CN" dirty="0" smtClean="0"/>
          </a:p>
          <a:p>
            <a:pPr lvl="1"/>
            <a:r>
              <a:rPr lang="zh-CN" altLang="en-US" dirty="0" smtClean="0"/>
              <a:t>因而允许采伐面积的变化</a:t>
            </a:r>
            <a:endParaRPr lang="en-US" altLang="zh-CN" dirty="0" smtClean="0"/>
          </a:p>
          <a:p>
            <a:pPr lvl="1"/>
            <a:r>
              <a:rPr lang="zh-CN" altLang="en-US" dirty="0"/>
              <a:t>这</a:t>
            </a:r>
            <a:r>
              <a:rPr lang="zh-CN" altLang="en-US" dirty="0" smtClean="0"/>
              <a:t>就需要确定每年的允许采伐量或年采伐限额（</a:t>
            </a:r>
            <a:r>
              <a:rPr lang="en-US" altLang="zh-CN" dirty="0" smtClean="0"/>
              <a:t>annual allowable cut</a:t>
            </a:r>
            <a:r>
              <a:rPr lang="zh-CN" altLang="en-US" dirty="0" smtClean="0"/>
              <a:t>，</a:t>
            </a:r>
            <a:r>
              <a:rPr lang="en-US" altLang="zh-CN" dirty="0" smtClean="0"/>
              <a:t>AAC</a:t>
            </a:r>
            <a:r>
              <a:rPr lang="zh-CN" altLang="en-US" dirty="0" smtClean="0"/>
              <a:t>）</a:t>
            </a:r>
            <a:endParaRPr lang="en-US" altLang="zh-CN" dirty="0" smtClean="0"/>
          </a:p>
          <a:p>
            <a:endParaRPr lang="en-US" altLang="zh-CN" dirty="0" smtClean="0"/>
          </a:p>
          <a:p>
            <a:pPr marL="0" indent="0">
              <a:buNone/>
            </a:pP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汉斯雷克公式（</a:t>
            </a:r>
            <a:r>
              <a:rPr lang="en-US" altLang="zh-CN" dirty="0" err="1" smtClean="0"/>
              <a:t>Hanzlik</a:t>
            </a:r>
            <a:r>
              <a:rPr lang="en-US" altLang="zh-CN" dirty="0" smtClean="0"/>
              <a:t> formula</a:t>
            </a:r>
            <a:r>
              <a:rPr lang="zh-CN" altLang="en-US" dirty="0" smtClean="0"/>
              <a:t>）</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10000"/>
              </a:bodyPr>
              <a:lstStyle/>
              <a:p>
                <a:r>
                  <a:rPr lang="zh-CN" altLang="en-US" dirty="0" smtClean="0"/>
                  <a:t>在美国和加拿大广泛运用</a:t>
                </a:r>
                <a:endParaRPr lang="en-US" altLang="zh-CN" dirty="0" smtClean="0"/>
              </a:p>
              <a:p>
                <a:r>
                  <a:rPr lang="zh-CN" altLang="en-US" dirty="0" smtClean="0"/>
                  <a:t>曾被用于指导在一个轮伐期内将太平洋西北部的原始森林转化为法正林</a:t>
                </a:r>
                <a:endParaRPr lang="en-US" altLang="zh-CN" dirty="0" smtClean="0"/>
              </a:p>
              <a:p>
                <a14:m>
                  <m:oMath xmlns:m="http://schemas.openxmlformats.org/officeDocument/2006/math">
                    <m:r>
                      <a:rPr lang="en-US" altLang="zh-CN" b="0" i="1" smtClean="0">
                        <a:latin typeface="Cambria Math" panose="02040503050406030204" pitchFamily="18" charset="0"/>
                      </a:rPr>
                      <m:t>𝐴𝐴𝐶</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𝑀</m:t>
                            </m:r>
                          </m:sub>
                        </m:sSub>
                      </m:num>
                      <m:den>
                        <m:r>
                          <a:rPr lang="en-US" altLang="zh-CN" b="0" i="1" smtClean="0">
                            <a:latin typeface="Cambria Math" panose="02040503050406030204" pitchFamily="18" charset="0"/>
                          </a:rPr>
                          <m:t>𝑡</m:t>
                        </m:r>
                      </m:den>
                    </m:f>
                    <m:r>
                      <a:rPr lang="en-US" altLang="zh-CN" b="0" i="1" smtClean="0">
                        <a:latin typeface="Cambria Math" panose="02040503050406030204" pitchFamily="18" charset="0"/>
                      </a:rPr>
                      <m:t>+</m:t>
                    </m:r>
                    <m:r>
                      <m:rPr>
                        <m:sty m:val="p"/>
                      </m:rPr>
                      <a:rPr lang="en-US" altLang="zh-CN" i="1">
                        <a:latin typeface="Cambria Math" panose="02040503050406030204" pitchFamily="18" charset="0"/>
                      </a:rPr>
                      <m:t>MAI</m:t>
                    </m:r>
                  </m:oMath>
                </a14:m>
                <a:endParaRPr lang="en-US" altLang="zh-CN" dirty="0" smtClean="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𝑀</m:t>
                        </m:r>
                      </m:sub>
                    </m:sSub>
                  </m:oMath>
                </a14:m>
                <a:r>
                  <a:rPr lang="zh-CN" altLang="en-US" dirty="0" smtClean="0"/>
                  <a:t>是森林中已经超过下一次森林轮伐年龄</a:t>
                </a:r>
                <a:r>
                  <a:rPr lang="en-US" altLang="zh-CN" dirty="0" smtClean="0"/>
                  <a:t>t</a:t>
                </a:r>
                <a:r>
                  <a:rPr lang="zh-CN" altLang="en-US" dirty="0" smtClean="0"/>
                  <a:t>的，生长量为</a:t>
                </a:r>
                <a:r>
                  <a:rPr lang="en-US" altLang="zh-CN" dirty="0" smtClean="0"/>
                  <a:t>0</a:t>
                </a:r>
                <a:r>
                  <a:rPr lang="zh-CN" altLang="en-US" dirty="0" smtClean="0"/>
                  <a:t>或者可以忽略不计的成、过熟林的木材蓄积量</a:t>
                </a:r>
                <a:endParaRPr lang="en-US" altLang="zh-CN" dirty="0" smtClean="0"/>
              </a:p>
              <a:p>
                <a:r>
                  <a:rPr lang="en-US" altLang="zh-CN" dirty="0" smtClean="0"/>
                  <a:t>MAI</a:t>
                </a:r>
                <a:r>
                  <a:rPr lang="zh-CN" altLang="en-US" dirty="0" smtClean="0"/>
                  <a:t>是可望在计划的轮伐期内非成熟林的平均年生长量</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1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03848" y="357166"/>
            <a:ext cx="5482952" cy="5929353"/>
          </a:xfrm>
        </p:spPr>
        <p:txBody>
          <a:bodyPr>
            <a:normAutofit fontScale="92500" lnSpcReduction="20000"/>
          </a:bodyPr>
          <a:lstStyle/>
          <a:p>
            <a:r>
              <a:rPr lang="zh-CN" altLang="en-US" dirty="0" smtClean="0"/>
              <a:t>注意！</a:t>
            </a:r>
            <a:endParaRPr lang="en-US" altLang="zh-CN" dirty="0" smtClean="0"/>
          </a:p>
          <a:p>
            <a:pPr lvl="1"/>
            <a:r>
              <a:rPr lang="zh-CN" altLang="en-US" dirty="0" smtClean="0"/>
              <a:t>如果一开始被采伐的是全部成熟或过熟的原始森林，则</a:t>
            </a:r>
            <a:r>
              <a:rPr lang="en-US" altLang="zh-CN" dirty="0" smtClean="0"/>
              <a:t>MAI</a:t>
            </a:r>
            <a:r>
              <a:rPr lang="zh-CN" altLang="en-US" dirty="0" smtClean="0"/>
              <a:t>变为</a:t>
            </a:r>
            <a:r>
              <a:rPr lang="en-US" altLang="zh-CN" dirty="0" smtClean="0"/>
              <a:t>0</a:t>
            </a:r>
            <a:endParaRPr lang="en-US" altLang="zh-CN" dirty="0" smtClean="0"/>
          </a:p>
          <a:p>
            <a:pPr lvl="1"/>
            <a:r>
              <a:rPr lang="zh-CN" altLang="en-US" dirty="0" smtClean="0"/>
              <a:t>每年以相等的数量采伐原始蓄积</a:t>
            </a:r>
            <a:endParaRPr lang="en-US" altLang="zh-CN" dirty="0" smtClean="0"/>
          </a:p>
          <a:p>
            <a:pPr lvl="1"/>
            <a:r>
              <a:rPr lang="zh-CN" altLang="en-US" dirty="0" smtClean="0"/>
              <a:t>如果一开始面对的是低于采伐年龄的中幼林</a:t>
            </a:r>
            <a:endParaRPr lang="en-US" altLang="zh-CN" dirty="0" smtClean="0"/>
          </a:p>
          <a:p>
            <a:pPr lvl="1"/>
            <a:r>
              <a:rPr lang="zh-CN" altLang="en-US" dirty="0" smtClean="0"/>
              <a:t>则每年的允许采伐量等于森林的年生长量</a:t>
            </a:r>
            <a:endParaRPr lang="en-US" altLang="zh-CN" dirty="0" smtClean="0"/>
          </a:p>
          <a:p>
            <a:pPr lvl="1"/>
            <a:r>
              <a:rPr lang="zh-CN" altLang="en-US" dirty="0" smtClean="0"/>
              <a:t>因此，如果原始林占绝对优势，每年生产的产量可能多出森林达到法正状态后产出的木材</a:t>
            </a:r>
            <a:endParaRPr lang="en-US" altLang="zh-CN" dirty="0" smtClean="0"/>
          </a:p>
          <a:p>
            <a:pPr lvl="1"/>
            <a:r>
              <a:rPr lang="zh-CN" altLang="en-US" dirty="0" smtClean="0"/>
              <a:t>则在过渡期将结束时，产量会下降，即“</a:t>
            </a:r>
            <a:r>
              <a:rPr lang="en-US" altLang="zh-CN" dirty="0" smtClean="0"/>
              <a:t>fall down</a:t>
            </a:r>
            <a:r>
              <a:rPr lang="zh-CN" altLang="en-US" dirty="0" smtClean="0"/>
              <a:t>”现象</a:t>
            </a:r>
            <a:endParaRPr lang="zh-CN" altLang="en-US" dirty="0"/>
          </a:p>
        </p:txBody>
      </p:sp>
      <mc:AlternateContent xmlns:mc="http://schemas.openxmlformats.org/markup-compatibility/2006">
        <mc:Choice xmlns:a14="http://schemas.microsoft.com/office/drawing/2010/main" Requires="a14">
          <p:sp>
            <p:nvSpPr>
              <p:cNvPr id="3" name="矩形 2"/>
              <p:cNvSpPr/>
              <p:nvPr/>
            </p:nvSpPr>
            <p:spPr>
              <a:xfrm>
                <a:off x="179512" y="1628800"/>
                <a:ext cx="3024336" cy="901785"/>
              </a:xfrm>
              <a:prstGeom prst="rect">
                <a:avLst/>
              </a:prstGeom>
            </p:spPr>
            <p:txBody>
              <a:bodyPr wrap="square">
                <a:spAutoFit/>
                <a:scene3d>
                  <a:camera prst="orthographicFront"/>
                  <a:lightRig rig="threePt" dir="t"/>
                </a:scene3d>
                <a:sp3d extrusionH="57150">
                  <a:bevelT h="25400" prst="softRound"/>
                </a:sp3d>
              </a:bodyPr>
              <a:lstStyle/>
              <a:p>
                <a14:m>
                  <m:oMathPara xmlns:m="http://schemas.openxmlformats.org/officeDocument/2006/math">
                    <m:oMathParaPr>
                      <m:jc m:val="centerGroup"/>
                    </m:oMathParaPr>
                    <m:oMath xmlns:m="http://schemas.openxmlformats.org/officeDocument/2006/math">
                      <m:r>
                        <a:rPr lang="en-US" altLang="zh-CN" sz="2800" i="1" smtClean="0">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𝐴𝐴𝐶</m:t>
                      </m:r>
                      <m:r>
                        <a:rPr lang="en-US" altLang="zh-CN" sz="2800" i="1" smtClean="0">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m:t>
                      </m:r>
                      <m:f>
                        <m:fPr>
                          <m:ctrlP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ctrlPr>
                        </m:fPr>
                        <m:num>
                          <m:sSub>
                            <m:sSubPr>
                              <m:ctrlP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ctrlPr>
                            </m:sSubPr>
                            <m:e>
                              <m: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𝑄</m:t>
                              </m:r>
                            </m:e>
                            <m:sub>
                              <m: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𝑀</m:t>
                              </m:r>
                            </m:sub>
                          </m:sSub>
                        </m:num>
                        <m:den>
                          <m: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𝑡</m:t>
                          </m:r>
                        </m:den>
                      </m:f>
                      <m: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m:t>
                      </m:r>
                      <m:r>
                        <m:rPr>
                          <m:sty m:val="p"/>
                        </m:rPr>
                        <a:rPr lang="en-US" altLang="zh-CN" sz="2800" i="1">
                          <a:ln w="3175">
                            <a:solidFill>
                              <a:srgbClr val="FFC000"/>
                            </a:solidFill>
                          </a:ln>
                          <a:solidFill>
                            <a:srgbClr val="FF0000"/>
                          </a:solidFill>
                          <a:effectLst>
                            <a:outerShdw blurRad="38100" dist="25400" dir="5400000" algn="ctr" rotWithShape="0">
                              <a:srgbClr val="6E747A">
                                <a:alpha val="43000"/>
                              </a:srgbClr>
                            </a:outerShdw>
                          </a:effectLst>
                          <a:latin typeface="Cambria Math" panose="02040503050406030204" pitchFamily="18" charset="0"/>
                        </a:rPr>
                        <m:t>MAI</m:t>
                      </m:r>
                    </m:oMath>
                  </m:oMathPara>
                </a14:m>
                <a:endParaRPr lang="en-US" altLang="zh-CN" sz="2800" dirty="0">
                  <a:ln w="3175">
                    <a:solidFill>
                      <a:srgbClr val="FFC000"/>
                    </a:solidFill>
                  </a:ln>
                  <a:solidFill>
                    <a:srgbClr val="FF0000"/>
                  </a:solidFill>
                  <a:effectLst>
                    <a:outerShdw blurRad="38100" dist="25400" dir="5400000" algn="ctr" rotWithShape="0">
                      <a:srgbClr val="6E747A">
                        <a:alpha val="43000"/>
                      </a:srgbClr>
                    </a:outerShdw>
                  </a:effectLst>
                </a:endParaRPr>
              </a:p>
            </p:txBody>
          </p:sp>
        </mc:Choice>
        <mc:Fallback>
          <p:sp>
            <p:nvSpPr>
              <p:cNvPr id="3" name="矩形 2"/>
              <p:cNvSpPr>
                <a:spLocks noRot="1" noChangeAspect="1" noMove="1" noResize="1" noEditPoints="1" noAdjustHandles="1" noChangeArrowheads="1" noChangeShapeType="1" noTextEdit="1"/>
              </p:cNvSpPr>
              <p:nvPr/>
            </p:nvSpPr>
            <p:spPr>
              <a:xfrm>
                <a:off x="179512" y="1628800"/>
                <a:ext cx="3024336" cy="901785"/>
              </a:xfrm>
              <a:prstGeom prst="rect">
                <a:avLst/>
              </a:prstGeom>
              <a:blipFill rotWithShape="1">
                <a:blip r:embed="rId1"/>
                <a:stretch>
                  <a:fillRect l="-15" t="-3" r="9" b="1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经济涵义</a:t>
            </a:r>
            <a:endParaRPr lang="zh-CN" altLang="en-US" dirty="0"/>
          </a:p>
        </p:txBody>
      </p:sp>
      <p:sp>
        <p:nvSpPr>
          <p:cNvPr id="4" name="内容占位符 3"/>
          <p:cNvSpPr>
            <a:spLocks noGrp="1"/>
          </p:cNvSpPr>
          <p:nvPr>
            <p:ph idx="1"/>
          </p:nvPr>
        </p:nvSpPr>
        <p:spPr/>
        <p:txBody>
          <a:bodyPr/>
          <a:lstStyle/>
          <a:p>
            <a:r>
              <a:rPr lang="zh-CN" altLang="en-US" dirty="0" smtClean="0"/>
              <a:t>上述调节采伐规划都没有考虑经济涵义</a:t>
            </a:r>
            <a:endParaRPr lang="en-US" altLang="zh-CN" dirty="0" smtClean="0"/>
          </a:p>
          <a:p>
            <a:r>
              <a:rPr lang="zh-CN" altLang="en-US" dirty="0" smtClean="0"/>
              <a:t>那么，采用这类永续采伐规划会对林主的经济效益带来怎样的影响？</a:t>
            </a:r>
            <a:endParaRPr lang="en-US" altLang="zh-CN" dirty="0" smtClean="0"/>
          </a:p>
          <a:p>
            <a:r>
              <a:rPr lang="zh-CN" altLang="en-US" dirty="0" smtClean="0"/>
              <a:t>可以用这些规划进行采伐的现值和使用最有效采伐方法进行采伐的现值之间的差额来表示</a:t>
            </a:r>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a:t>
            </a:r>
            <a:endParaRPr lang="zh-CN" altLang="en-US" dirty="0"/>
          </a:p>
        </p:txBody>
      </p:sp>
      <p:sp>
        <p:nvSpPr>
          <p:cNvPr id="3" name="内容占位符 2"/>
          <p:cNvSpPr>
            <a:spLocks noGrp="1"/>
          </p:cNvSpPr>
          <p:nvPr>
            <p:ph sz="quarter" idx="13"/>
          </p:nvPr>
        </p:nvSpPr>
        <p:spPr/>
        <p:txBody>
          <a:bodyPr/>
          <a:lstStyle/>
          <a:p>
            <a:r>
              <a:rPr lang="en-US" altLang="zh-CN" dirty="0" smtClean="0"/>
              <a:t>1000</a:t>
            </a:r>
            <a:r>
              <a:rPr lang="zh-CN" altLang="en-US" dirty="0" smtClean="0"/>
              <a:t>公顷原始过熟林</a:t>
            </a:r>
            <a:endParaRPr lang="en-US" altLang="zh-CN" dirty="0" smtClean="0"/>
          </a:p>
          <a:p>
            <a:r>
              <a:rPr lang="zh-CN" altLang="en-US" dirty="0"/>
              <a:t>每</a:t>
            </a:r>
            <a:r>
              <a:rPr lang="zh-CN" altLang="en-US" dirty="0" smtClean="0"/>
              <a:t>公顷价值</a:t>
            </a:r>
            <a:r>
              <a:rPr lang="en-US" altLang="zh-CN" dirty="0" smtClean="0"/>
              <a:t>20000</a:t>
            </a:r>
            <a:r>
              <a:rPr lang="zh-CN" altLang="en-US" dirty="0" smtClean="0"/>
              <a:t>元</a:t>
            </a:r>
            <a:endParaRPr lang="en-US" altLang="zh-CN" dirty="0" smtClean="0"/>
          </a:p>
          <a:p>
            <a:r>
              <a:rPr lang="zh-CN" altLang="en-US" dirty="0" smtClean="0"/>
              <a:t>第</a:t>
            </a:r>
            <a:r>
              <a:rPr lang="en-US" altLang="zh-CN" dirty="0" smtClean="0"/>
              <a:t>58</a:t>
            </a:r>
            <a:r>
              <a:rPr lang="zh-CN" altLang="en-US" dirty="0" smtClean="0"/>
              <a:t>年为最优轮伐期，此时每公顷立木价值</a:t>
            </a:r>
            <a:r>
              <a:rPr lang="en-US" altLang="zh-CN" dirty="0" smtClean="0"/>
              <a:t>13187</a:t>
            </a:r>
            <a:r>
              <a:rPr lang="zh-CN" altLang="en-US" dirty="0" smtClean="0"/>
              <a:t>元</a:t>
            </a:r>
            <a:endParaRPr lang="en-US" altLang="zh-CN" dirty="0" smtClean="0"/>
          </a:p>
          <a:p>
            <a:r>
              <a:rPr lang="zh-CN" altLang="en-US" dirty="0" smtClean="0"/>
              <a:t>成本和价格不变，且不受采伐率影响</a:t>
            </a:r>
            <a:endParaRPr lang="en-US" altLang="zh-CN" dirty="0" smtClean="0"/>
          </a:p>
          <a:p>
            <a:r>
              <a:rPr lang="en-US" altLang="zh-CN" dirty="0" err="1" smtClean="0"/>
              <a:t>i</a:t>
            </a:r>
            <a:r>
              <a:rPr lang="zh-CN" altLang="en-US" dirty="0" smtClean="0"/>
              <a:t>为</a:t>
            </a:r>
            <a:r>
              <a:rPr lang="en-US" altLang="zh-CN" dirty="0" smtClean="0"/>
              <a:t>5%</a:t>
            </a:r>
            <a:endParaRPr lang="en-US" altLang="zh-CN" dirty="0" smtClean="0"/>
          </a:p>
          <a:p>
            <a:pPr marL="0" indent="0">
              <a:buNone/>
            </a:pPr>
            <a:endParaRPr lang="en-US" altLang="zh-CN"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经济</a:t>
            </a:r>
            <a:r>
              <a:rPr lang="zh-CN" altLang="en-US" dirty="0" smtClean="0"/>
              <a:t>上最有效的做法</a:t>
            </a:r>
            <a:endParaRPr lang="en-US" altLang="zh-CN" dirty="0" smtClean="0"/>
          </a:p>
          <a:p>
            <a:r>
              <a:rPr lang="zh-CN" altLang="en-US" dirty="0" smtClean="0"/>
              <a:t>第一年采伐所有森林</a:t>
            </a:r>
            <a:endParaRPr lang="en-US" altLang="zh-CN" dirty="0" smtClean="0"/>
          </a:p>
          <a:p>
            <a:r>
              <a:rPr lang="zh-CN" altLang="en-US" dirty="0" smtClean="0"/>
              <a:t>收益为：</a:t>
            </a:r>
            <a:r>
              <a:rPr lang="en-US" altLang="zh-CN" dirty="0" smtClean="0"/>
              <a:t>20000</a:t>
            </a:r>
            <a:r>
              <a:rPr lang="zh-CN" altLang="en-US" dirty="0" smtClean="0"/>
              <a:t>*</a:t>
            </a:r>
            <a:r>
              <a:rPr lang="en-US" altLang="zh-CN" dirty="0" smtClean="0"/>
              <a:t>1000=2</a:t>
            </a:r>
            <a:r>
              <a:rPr lang="zh-CN" altLang="en-US" dirty="0" smtClean="0"/>
              <a:t>千万元</a:t>
            </a:r>
            <a:endParaRPr lang="en-US" altLang="zh-CN" dirty="0" smtClean="0"/>
          </a:p>
          <a:p>
            <a:r>
              <a:rPr lang="zh-CN" altLang="en-US" dirty="0" smtClean="0"/>
              <a:t>再加上将来这片土地上所有森林作物的现值</a:t>
            </a:r>
            <a:r>
              <a:rPr lang="en-US" altLang="zh-CN" dirty="0" smtClean="0"/>
              <a:t>13187/((1+0.05</a:t>
            </a:r>
            <a:r>
              <a:rPr lang="en-US" altLang="zh-CN" dirty="0"/>
              <a:t>)</a:t>
            </a:r>
            <a:r>
              <a:rPr lang="en-US" altLang="zh-CN" dirty="0" smtClean="0"/>
              <a:t>^58-1)=827</a:t>
            </a:r>
            <a:r>
              <a:rPr lang="zh-CN" altLang="en-US" dirty="0" smtClean="0"/>
              <a:t>元</a:t>
            </a:r>
            <a:r>
              <a:rPr lang="en-US" altLang="zh-CN" dirty="0" smtClean="0"/>
              <a:t>/</a:t>
            </a:r>
            <a:r>
              <a:rPr lang="zh-CN" altLang="en-US" dirty="0" smtClean="0"/>
              <a:t>公顷</a:t>
            </a:r>
            <a:endParaRPr lang="en-US" altLang="zh-CN" dirty="0" smtClean="0"/>
          </a:p>
          <a:p>
            <a:r>
              <a:rPr lang="zh-CN" altLang="en-US" dirty="0" smtClean="0"/>
              <a:t>因此，森林的总现值为</a:t>
            </a:r>
            <a:r>
              <a:rPr lang="en-US" altLang="zh-CN" dirty="0" smtClean="0"/>
              <a:t>20827000</a:t>
            </a:r>
            <a:r>
              <a:rPr lang="zh-CN" altLang="en-US" dirty="0" smtClean="0"/>
              <a:t>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smtClean="0"/>
                  <a:t>将这片森林调整为法正林</a:t>
                </a:r>
                <a:endParaRPr lang="en-US" altLang="zh-CN" dirty="0" smtClean="0"/>
              </a:p>
              <a:p>
                <a:r>
                  <a:rPr lang="zh-CN" altLang="en-US" dirty="0" smtClean="0"/>
                  <a:t>因为已经是过熟林了，根据</a:t>
                </a:r>
                <a14:m>
                  <m:oMath xmlns:m="http://schemas.openxmlformats.org/officeDocument/2006/math">
                    <m:r>
                      <a:rPr lang="en-US" altLang="zh-CN" i="1">
                        <a:latin typeface="Cambria Math" panose="02040503050406030204" pitchFamily="18" charset="0"/>
                      </a:rPr>
                      <m:t>𝐴𝐴𝐶</m:t>
                    </m:r>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𝑀</m:t>
                            </m:r>
                          </m:sub>
                        </m:sSub>
                      </m:num>
                      <m:den>
                        <m:r>
                          <a:rPr lang="en-US" altLang="zh-CN" i="1">
                            <a:latin typeface="Cambria Math" panose="02040503050406030204" pitchFamily="18" charset="0"/>
                          </a:rPr>
                          <m:t>𝑡</m:t>
                        </m:r>
                      </m:den>
                    </m:f>
                    <m:r>
                      <a:rPr lang="en-US" altLang="zh-CN" i="1">
                        <a:latin typeface="Cambria Math" panose="02040503050406030204" pitchFamily="18" charset="0"/>
                      </a:rPr>
                      <m:t>+</m:t>
                    </m:r>
                    <m:r>
                      <m:rPr>
                        <m:sty m:val="p"/>
                      </m:rPr>
                      <a:rPr lang="en-US" altLang="zh-CN" i="1">
                        <a:latin typeface="Cambria Math" panose="02040503050406030204" pitchFamily="18" charset="0"/>
                      </a:rPr>
                      <m:t>MAI</m:t>
                    </m:r>
                  </m:oMath>
                </a14:m>
                <a:r>
                  <a:rPr lang="zh-CN" altLang="en-US" dirty="0" smtClean="0"/>
                  <a:t>，所以每年的砍伐量就是</a:t>
                </a: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𝑀</m:t>
                            </m:r>
                          </m:sub>
                        </m:sSub>
                      </m:num>
                      <m:den>
                        <m:r>
                          <a:rPr lang="en-US" altLang="zh-CN" i="1">
                            <a:latin typeface="Cambria Math" panose="02040503050406030204" pitchFamily="18" charset="0"/>
                          </a:rPr>
                          <m:t>𝑡</m:t>
                        </m:r>
                      </m:den>
                    </m:f>
                  </m:oMath>
                </a14:m>
                <a:r>
                  <a:rPr lang="en-US" altLang="zh-CN" dirty="0" smtClean="0"/>
                  <a:t>=1000/58=17.24</a:t>
                </a:r>
                <a:r>
                  <a:rPr lang="zh-CN" altLang="en-US" dirty="0" smtClean="0"/>
                  <a:t>公顷</a:t>
                </a:r>
                <a:endParaRPr lang="en-US" altLang="zh-CN" dirty="0" smtClean="0"/>
              </a:p>
              <a:p>
                <a:r>
                  <a:rPr lang="zh-CN" altLang="en-US" dirty="0" smtClean="0"/>
                  <a:t>价值</a:t>
                </a:r>
                <a:r>
                  <a:rPr lang="en-US" altLang="zh-CN" dirty="0" smtClean="0"/>
                  <a:t>1000</a:t>
                </a:r>
                <a:r>
                  <a:rPr lang="zh-CN" altLang="en-US" dirty="0" smtClean="0"/>
                  <a:t>*</a:t>
                </a:r>
                <a:r>
                  <a:rPr lang="en-US" altLang="zh-CN" dirty="0" smtClean="0"/>
                  <a:t>20000/58=344828</a:t>
                </a:r>
                <a:r>
                  <a:rPr lang="zh-CN" altLang="en-US" dirty="0" smtClean="0"/>
                  <a:t>元</a:t>
                </a:r>
                <a:endParaRPr lang="en-US" altLang="zh-CN" dirty="0" smtClean="0"/>
              </a:p>
              <a:p>
                <a:r>
                  <a:rPr lang="zh-CN" altLang="en-US" dirty="0" smtClean="0"/>
                  <a:t>年金求现值</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𝑛</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𝑛</m:t>
                            </m:r>
                          </m:sup>
                        </m:sSup>
                      </m:den>
                    </m:f>
                  </m:oMath>
                </a14:m>
                <a:r>
                  <a:rPr lang="en-US" altLang="zh-CN" dirty="0" smtClean="0"/>
                  <a:t>=344828*((1+0.05)^58-1)/(0.05*(1+0.05</a:t>
                </a:r>
                <a:r>
                  <a:rPr lang="en-US" altLang="zh-CN" dirty="0"/>
                  <a:t>)^</a:t>
                </a:r>
                <a:r>
                  <a:rPr lang="en-US" altLang="zh-CN" dirty="0" smtClean="0"/>
                  <a:t>58)=6489505</a:t>
                </a:r>
                <a:r>
                  <a:rPr lang="zh-CN" altLang="en-US" dirty="0" smtClean="0"/>
                  <a:t>元</a:t>
                </a:r>
                <a:endParaRPr lang="en-US" altLang="zh-CN" dirty="0" smtClean="0"/>
              </a:p>
              <a:p>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smtClean="0"/>
                  <a:t>还要加上每年被砍伐的土地上所生长的未来林木的价值</a:t>
                </a:r>
                <a:endParaRPr lang="en-US" altLang="zh-CN" dirty="0" smtClean="0"/>
              </a:p>
              <a:p>
                <a:r>
                  <a:rPr lang="zh-CN" altLang="en-US" dirty="0" smtClean="0"/>
                  <a:t>即总的无林地地价的</a:t>
                </a:r>
                <a:r>
                  <a:rPr lang="en-US" altLang="zh-CN" dirty="0" smtClean="0"/>
                  <a:t>1/58</a:t>
                </a:r>
                <a:r>
                  <a:rPr lang="zh-CN" altLang="en-US" dirty="0" smtClean="0"/>
                  <a:t>，</a:t>
                </a:r>
                <a:r>
                  <a:rPr lang="en-US" altLang="zh-CN" dirty="0"/>
                  <a:t> </a:t>
                </a:r>
                <a:r>
                  <a:rPr lang="en-US" altLang="zh-CN" dirty="0" smtClean="0"/>
                  <a:t>827/58=14</a:t>
                </a:r>
                <a:r>
                  <a:rPr lang="zh-CN" altLang="en-US" dirty="0" smtClean="0"/>
                  <a:t>元每公顷</a:t>
                </a:r>
                <a:endParaRPr lang="en-US" altLang="zh-CN" dirty="0" smtClean="0"/>
              </a:p>
              <a:p>
                <a:r>
                  <a:rPr lang="zh-CN" altLang="en-US" dirty="0" smtClean="0"/>
                  <a:t>再用一次年金求现值公式</a:t>
                </a:r>
                <a:endParaRPr lang="en-US" altLang="zh-CN" dirty="0" smtClean="0"/>
              </a:p>
              <a:p>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1</m:t>
                        </m:r>
                        <m:r>
                          <a:rPr lang="en-US" altLang="zh-CN" i="1">
                            <a:latin typeface="Cambria Math" panose="02040503050406030204" pitchFamily="18" charset="0"/>
                          </a:rPr>
                          <m:t>+</m:t>
                        </m:r>
                        <m:r>
                          <a:rPr lang="en-US" altLang="zh-CN" i="1">
                            <a:latin typeface="Cambria Math" panose="02040503050406030204" pitchFamily="18" charset="0"/>
                          </a:rPr>
                          <m:t>𝑖</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𝑛</m:t>
                            </m:r>
                          </m:sup>
                        </m:sSup>
                        <m:r>
                          <a:rPr lang="en-US" altLang="zh-CN" i="1">
                            <a:latin typeface="Cambria Math" panose="02040503050406030204" pitchFamily="18" charset="0"/>
                          </a:rPr>
                          <m:t>−</m:t>
                        </m:r>
                        <m:r>
                          <a:rPr lang="en-US" altLang="zh-CN" i="1">
                            <a:latin typeface="Cambria Math" panose="02040503050406030204" pitchFamily="18" charset="0"/>
                          </a:rPr>
                          <m:t>1</m:t>
                        </m:r>
                        <m:r>
                          <a:rPr lang="en-US" altLang="zh-CN" i="1">
                            <a:latin typeface="Cambria Math" panose="02040503050406030204" pitchFamily="18" charset="0"/>
                          </a:rPr>
                          <m:t>]</m:t>
                        </m:r>
                      </m:num>
                      <m:den>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1</m:t>
                        </m:r>
                        <m:r>
                          <a:rPr lang="en-US" altLang="zh-CN" i="1">
                            <a:latin typeface="Cambria Math" panose="02040503050406030204" pitchFamily="18" charset="0"/>
                          </a:rPr>
                          <m:t>+</m:t>
                        </m:r>
                        <m:r>
                          <a:rPr lang="en-US" altLang="zh-CN" i="1">
                            <a:latin typeface="Cambria Math" panose="02040503050406030204" pitchFamily="18" charset="0"/>
                          </a:rPr>
                          <m:t>𝑖</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𝑛</m:t>
                            </m:r>
                          </m:sup>
                        </m:sSup>
                      </m:den>
                    </m:f>
                  </m:oMath>
                </a14:m>
                <a:r>
                  <a:rPr lang="en-US" altLang="zh-CN" dirty="0" smtClean="0"/>
                  <a:t>=14</a:t>
                </a:r>
                <a:r>
                  <a:rPr lang="zh-CN" altLang="en-US" dirty="0" smtClean="0"/>
                  <a:t>元</a:t>
                </a:r>
                <a:r>
                  <a:rPr lang="en-US" altLang="zh-CN" dirty="0" smtClean="0"/>
                  <a:t>/</a:t>
                </a:r>
                <a:r>
                  <a:rPr lang="zh-CN" altLang="en-US" dirty="0" smtClean="0"/>
                  <a:t>公顷*</a:t>
                </a:r>
                <a:r>
                  <a:rPr lang="en-US" altLang="zh-CN" dirty="0" smtClean="0"/>
                  <a:t>1000</a:t>
                </a:r>
                <a:r>
                  <a:rPr lang="zh-CN" altLang="en-US" dirty="0" smtClean="0"/>
                  <a:t>公顷</a:t>
                </a:r>
                <a:r>
                  <a:rPr lang="en-US" altLang="zh-CN" dirty="0" smtClean="0"/>
                  <a:t>*((</a:t>
                </a:r>
                <a:r>
                  <a:rPr lang="en-US" altLang="zh-CN" dirty="0"/>
                  <a:t>1+0.05)^58-1)/(0.05*(1+0.05)^58</a:t>
                </a:r>
                <a:r>
                  <a:rPr lang="en-US" altLang="zh-CN" dirty="0" smtClean="0"/>
                  <a:t>)=268341</a:t>
                </a:r>
                <a:r>
                  <a:rPr lang="zh-CN" altLang="en-US" dirty="0" smtClean="0"/>
                  <a:t>元</a:t>
                </a:r>
                <a:endParaRPr lang="en-US" altLang="zh-CN" dirty="0" smtClean="0"/>
              </a:p>
              <a:p>
                <a:r>
                  <a:rPr lang="zh-CN" altLang="en-US" dirty="0" smtClean="0"/>
                  <a:t>由此可得总现值为</a:t>
                </a:r>
                <a:r>
                  <a:rPr lang="en-US" altLang="zh-CN" dirty="0" smtClean="0"/>
                  <a:t>6489505+268341=6757846</a:t>
                </a:r>
                <a:r>
                  <a:rPr lang="zh-CN" altLang="en-US" dirty="0" smtClean="0"/>
                  <a:t>元</a:t>
                </a:r>
                <a:endParaRPr lang="en-US" altLang="zh-CN" dirty="0"/>
              </a:p>
              <a:p>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5" b="-568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相比一次采伐的现值</a:t>
            </a:r>
            <a:r>
              <a:rPr lang="en-US" altLang="zh-CN" dirty="0" smtClean="0"/>
              <a:t>20827000</a:t>
            </a:r>
            <a:r>
              <a:rPr lang="zh-CN" altLang="en-US" dirty="0" smtClean="0"/>
              <a:t>元，向法正林过渡期的采伐现值</a:t>
            </a:r>
            <a:r>
              <a:rPr lang="en-US" altLang="zh-CN" dirty="0" smtClean="0"/>
              <a:t>6757846</a:t>
            </a:r>
            <a:r>
              <a:rPr lang="zh-CN" altLang="en-US" dirty="0" smtClean="0"/>
              <a:t>元要减少了约</a:t>
            </a:r>
            <a:r>
              <a:rPr lang="en-US" altLang="zh-CN" dirty="0" smtClean="0"/>
              <a:t>2/3</a:t>
            </a:r>
            <a:endParaRPr lang="en-US" altLang="zh-CN" dirty="0" smtClean="0"/>
          </a:p>
          <a:p>
            <a:r>
              <a:rPr lang="zh-CN" altLang="en-US" dirty="0" smtClean="0"/>
              <a:t>可知：将采伐量分散到更远的将来，比最经济有效地进行采伐，要大幅降低森林的价值</a:t>
            </a:r>
            <a:endParaRPr lang="en-US" altLang="zh-CN" dirty="0" smtClean="0"/>
          </a:p>
          <a:p>
            <a:pPr lvl="1"/>
            <a:r>
              <a:rPr lang="zh-CN" altLang="en-US" dirty="0" smtClean="0"/>
              <a:t>原因</a:t>
            </a:r>
            <a:r>
              <a:rPr lang="en-US" altLang="zh-CN" dirty="0" smtClean="0"/>
              <a:t>1</a:t>
            </a:r>
            <a:r>
              <a:rPr lang="zh-CN" altLang="en-US" dirty="0" smtClean="0"/>
              <a:t>：推迟采伐将降低立木价值（</a:t>
            </a:r>
            <a:r>
              <a:rPr lang="en-US" altLang="zh-CN" dirty="0" smtClean="0"/>
              <a:t>2</a:t>
            </a:r>
            <a:r>
              <a:rPr lang="zh-CN" altLang="en-US" dirty="0" smtClean="0"/>
              <a:t>千万→</a:t>
            </a:r>
            <a:r>
              <a:rPr lang="en-US" altLang="zh-CN" dirty="0" smtClean="0"/>
              <a:t>0.65</a:t>
            </a:r>
            <a:r>
              <a:rPr lang="zh-CN" altLang="en-US" dirty="0" smtClean="0"/>
              <a:t>千万）</a:t>
            </a:r>
            <a:endParaRPr lang="en-US" altLang="zh-CN" dirty="0" smtClean="0"/>
          </a:p>
          <a:p>
            <a:pPr lvl="1"/>
            <a:r>
              <a:rPr lang="zh-CN" altLang="en-US" dirty="0" smtClean="0"/>
              <a:t>原因</a:t>
            </a:r>
            <a:r>
              <a:rPr lang="en-US" altLang="zh-CN" dirty="0" smtClean="0"/>
              <a:t>2</a:t>
            </a:r>
            <a:r>
              <a:rPr lang="zh-CN" altLang="en-US" dirty="0" smtClean="0"/>
              <a:t>：推迟更新森林将降低土地价值（</a:t>
            </a:r>
            <a:r>
              <a:rPr lang="en-US" altLang="zh-CN" dirty="0" smtClean="0"/>
              <a:t>827</a:t>
            </a:r>
            <a:r>
              <a:rPr lang="zh-CN" altLang="en-US" dirty="0" smtClean="0"/>
              <a:t>元</a:t>
            </a:r>
            <a:r>
              <a:rPr lang="en-US" altLang="zh-CN" dirty="0" smtClean="0"/>
              <a:t>/</a:t>
            </a:r>
            <a:r>
              <a:rPr lang="zh-CN" altLang="en-US" dirty="0" smtClean="0"/>
              <a:t>公顷→</a:t>
            </a:r>
            <a:r>
              <a:rPr lang="en-US" altLang="zh-CN" dirty="0" smtClean="0"/>
              <a:t>268</a:t>
            </a:r>
            <a:r>
              <a:rPr lang="zh-CN" altLang="en-US" dirty="0" smtClean="0"/>
              <a:t>元</a:t>
            </a:r>
            <a:r>
              <a:rPr lang="en-US" altLang="zh-CN" dirty="0" smtClean="0"/>
              <a:t>/</a:t>
            </a:r>
            <a:r>
              <a:rPr lang="zh-CN" altLang="en-US" dirty="0" smtClean="0"/>
              <a:t>公顷）</a:t>
            </a:r>
            <a:endParaRPr lang="en-US" altLang="zh-CN" dirty="0" smtClean="0"/>
          </a:p>
          <a:p>
            <a:pPr lvl="1"/>
            <a:r>
              <a:rPr lang="zh-CN" altLang="en-US" dirty="0" smtClean="0">
                <a:solidFill>
                  <a:schemeClr val="accent3">
                    <a:lumMod val="75000"/>
                  </a:schemeClr>
                </a:solidFill>
              </a:rPr>
              <a:t>原因</a:t>
            </a:r>
            <a:r>
              <a:rPr lang="en-US" altLang="zh-CN" dirty="0" smtClean="0">
                <a:solidFill>
                  <a:schemeClr val="accent3">
                    <a:lumMod val="75000"/>
                  </a:schemeClr>
                </a:solidFill>
              </a:rPr>
              <a:t>3</a:t>
            </a:r>
            <a:r>
              <a:rPr lang="zh-CN" altLang="en-US" dirty="0" smtClean="0">
                <a:solidFill>
                  <a:schemeClr val="accent3">
                    <a:lumMod val="75000"/>
                  </a:schemeClr>
                </a:solidFill>
              </a:rPr>
              <a:t>：生产者无法根据当时的市场价格波动来调节生产量</a:t>
            </a:r>
            <a:endParaRPr lang="zh-CN" altLang="en-US" dirty="0">
              <a:solidFill>
                <a:schemeClr val="accent3">
                  <a:lumMod val="75000"/>
                </a:schemeClr>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允许采伐效果</a:t>
            </a:r>
            <a:endParaRPr lang="zh-CN" altLang="en-US" dirty="0"/>
          </a:p>
        </p:txBody>
      </p:sp>
      <p:sp>
        <p:nvSpPr>
          <p:cNvPr id="3" name="内容占位符 2"/>
          <p:cNvSpPr>
            <a:spLocks noGrp="1"/>
          </p:cNvSpPr>
          <p:nvPr>
            <p:ph idx="1"/>
          </p:nvPr>
        </p:nvSpPr>
        <p:spPr/>
        <p:txBody>
          <a:bodyPr/>
          <a:lstStyle/>
          <a:p>
            <a:r>
              <a:rPr lang="zh-CN" altLang="en-US" dirty="0" smtClean="0"/>
              <a:t>将采伐量平均分配到不同时间的规划</a:t>
            </a:r>
            <a:endParaRPr lang="en-US" altLang="zh-CN" dirty="0" smtClean="0"/>
          </a:p>
          <a:p>
            <a:r>
              <a:rPr lang="zh-CN" altLang="en-US" dirty="0" smtClean="0"/>
              <a:t>人为地改变了林业投资的效果</a:t>
            </a:r>
            <a:endParaRPr lang="en-US" altLang="zh-CN" dirty="0" smtClean="0"/>
          </a:p>
          <a:p>
            <a:r>
              <a:rPr lang="zh-CN" altLang="en-US" dirty="0" smtClean="0"/>
              <a:t>考虑在一个森林生长周期开始时，以每公顷</a:t>
            </a:r>
            <a:r>
              <a:rPr lang="en-US" altLang="zh-CN" dirty="0" smtClean="0"/>
              <a:t>1000</a:t>
            </a:r>
            <a:r>
              <a:rPr lang="zh-CN" altLang="en-US" dirty="0" smtClean="0"/>
              <a:t>元进行投资，使林分增长量增加</a:t>
            </a:r>
            <a:r>
              <a:rPr lang="en-US" altLang="zh-CN" dirty="0" smtClean="0"/>
              <a:t>1</a:t>
            </a:r>
            <a:r>
              <a:rPr lang="zh-CN" altLang="en-US" dirty="0" smtClean="0"/>
              <a:t>倍</a:t>
            </a:r>
            <a:endParaRPr lang="en-US" altLang="zh-CN" dirty="0" smtClean="0"/>
          </a:p>
          <a:p>
            <a:r>
              <a:rPr lang="zh-CN" altLang="en-US" dirty="0" smtClean="0"/>
              <a:t>在第</a:t>
            </a:r>
            <a:r>
              <a:rPr lang="en-US" altLang="zh-CN" dirty="0" smtClean="0"/>
              <a:t>58</a:t>
            </a:r>
            <a:r>
              <a:rPr lang="zh-CN" altLang="en-US" dirty="0" smtClean="0"/>
              <a:t>年采伐时</a:t>
            </a:r>
            <a:endParaRPr lang="en-US" altLang="zh-CN" dirty="0" smtClean="0"/>
          </a:p>
          <a:p>
            <a:r>
              <a:rPr lang="zh-CN" altLang="en-US" dirty="0" smtClean="0"/>
              <a:t>森林比无投资时每公顷多产出</a:t>
            </a:r>
            <a:r>
              <a:rPr lang="en-US" altLang="zh-CN" dirty="0" smtClean="0"/>
              <a:t>995</a:t>
            </a:r>
            <a:r>
              <a:rPr lang="zh-CN" altLang="en-US" dirty="0" smtClean="0"/>
              <a:t>立方米</a:t>
            </a:r>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允许采伐效果</a:t>
            </a:r>
            <a:endParaRPr lang="zh-CN" altLang="en-US" dirty="0"/>
          </a:p>
        </p:txBody>
      </p:sp>
      <p:sp>
        <p:nvSpPr>
          <p:cNvPr id="3" name="内容占位符 2"/>
          <p:cNvSpPr>
            <a:spLocks noGrp="1"/>
          </p:cNvSpPr>
          <p:nvPr>
            <p:ph idx="1"/>
          </p:nvPr>
        </p:nvSpPr>
        <p:spPr/>
        <p:txBody>
          <a:bodyPr/>
          <a:lstStyle/>
          <a:p>
            <a:r>
              <a:rPr lang="zh-CN" altLang="en-US" dirty="0" smtClean="0"/>
              <a:t>但如果要使轮伐期的采伐水平保持稳定</a:t>
            </a:r>
            <a:endParaRPr lang="en-US" altLang="zh-CN" dirty="0"/>
          </a:p>
          <a:p>
            <a:r>
              <a:rPr lang="zh-CN" altLang="en-US" dirty="0" smtClean="0"/>
              <a:t>则每年可以多采伐</a:t>
            </a:r>
            <a:r>
              <a:rPr lang="en-US" altLang="zh-CN" dirty="0" smtClean="0"/>
              <a:t>995</a:t>
            </a:r>
            <a:r>
              <a:rPr lang="zh-CN" altLang="en-US" dirty="0" smtClean="0"/>
              <a:t>*</a:t>
            </a:r>
            <a:r>
              <a:rPr lang="en-US" altLang="zh-CN" dirty="0" smtClean="0"/>
              <a:t>1/58=17.16</a:t>
            </a:r>
            <a:r>
              <a:rPr lang="zh-CN" altLang="en-US" dirty="0" smtClean="0"/>
              <a:t>立方米木材</a:t>
            </a:r>
            <a:endParaRPr lang="en-US" altLang="zh-CN" dirty="0" smtClean="0"/>
          </a:p>
          <a:p>
            <a:r>
              <a:rPr lang="zh-CN" altLang="en-US" dirty="0" smtClean="0"/>
              <a:t>所以投资带来的生长量提高或虫害带来的生长量损失会被分散到整个轮伐期</a:t>
            </a:r>
            <a:endParaRPr lang="en-US" altLang="zh-CN" dirty="0" smtClean="0"/>
          </a:p>
          <a:p>
            <a:r>
              <a:rPr lang="zh-CN" altLang="en-US" dirty="0" smtClean="0"/>
              <a:t>由此会带来投资收益的高估</a:t>
            </a:r>
            <a:endParaRPr lang="zh-CN" altLang="en-US"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26944" y="3141222"/>
            <a:ext cx="7772400" cy="2448272"/>
          </a:xfrm>
        </p:spPr>
        <p:txBody>
          <a:bodyPr/>
          <a:lstStyle/>
          <a:p>
            <a:r>
              <a:rPr lang="en-US" altLang="zh-CN" dirty="0"/>
              <a:t>Sustained Yield Rationale and Critique </a:t>
            </a:r>
            <a:br>
              <a:rPr lang="en-US" altLang="zh-CN" dirty="0"/>
            </a:br>
            <a:endParaRPr lang="zh-CN" altLang="en-US" dirty="0"/>
          </a:p>
        </p:txBody>
      </p:sp>
      <p:sp>
        <p:nvSpPr>
          <p:cNvPr id="3" name="文本占位符 2"/>
          <p:cNvSpPr>
            <a:spLocks noGrp="1"/>
          </p:cNvSpPr>
          <p:nvPr>
            <p:ph type="body" idx="1"/>
          </p:nvPr>
        </p:nvSpPr>
        <p:spPr/>
        <p:txBody>
          <a:bodyPr/>
          <a:lstStyle/>
          <a:p>
            <a:r>
              <a:rPr lang="zh-CN" altLang="en-US" dirty="0" smtClean="0"/>
              <a:t>永续木材产量理论及评判</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effectLst>
                  <a:innerShdw blurRad="63500" dist="50800" dir="18900000">
                    <a:prstClr val="black">
                      <a:alpha val="50000"/>
                    </a:prstClr>
                  </a:innerShdw>
                </a:effectLst>
              </a:rPr>
              <a:t>Sustained yield</a:t>
            </a:r>
            <a:endParaRPr lang="zh-CN" altLang="en-US" b="1" dirty="0">
              <a:effectLst>
                <a:innerShdw blurRad="63500" dist="50800" dir="18900000">
                  <a:prstClr val="black">
                    <a:alpha val="50000"/>
                  </a:prstClr>
                </a:innerShdw>
              </a:effectLst>
            </a:endParaRPr>
          </a:p>
        </p:txBody>
      </p:sp>
      <p:sp>
        <p:nvSpPr>
          <p:cNvPr id="3" name="内容占位符 2"/>
          <p:cNvSpPr>
            <a:spLocks noGrp="1"/>
          </p:cNvSpPr>
          <p:nvPr>
            <p:ph idx="1"/>
          </p:nvPr>
        </p:nvSpPr>
        <p:spPr>
          <a:xfrm>
            <a:off x="457200" y="980728"/>
            <a:ext cx="8272434" cy="5148285"/>
          </a:xfrm>
          <a:ln>
            <a:noFill/>
          </a:ln>
        </p:spPr>
        <p:txBody>
          <a:bodyPr>
            <a:normAutofit/>
          </a:bodyPr>
          <a:lstStyle/>
          <a:p>
            <a:r>
              <a:rPr lang="en-US" altLang="zh-CN" dirty="0" smtClean="0"/>
              <a:t>The </a:t>
            </a:r>
            <a:r>
              <a:rPr lang="en-US" altLang="zh-CN" dirty="0"/>
              <a:t>words </a:t>
            </a:r>
            <a:r>
              <a:rPr lang="en-US" altLang="zh-CN" dirty="0">
                <a:solidFill>
                  <a:schemeClr val="bg2">
                    <a:lumMod val="60000"/>
                    <a:lumOff val="40000"/>
                  </a:schemeClr>
                </a:solidFill>
              </a:rPr>
              <a:t>sustainable forest </a:t>
            </a:r>
            <a:r>
              <a:rPr lang="en-US" altLang="zh-CN" dirty="0"/>
              <a:t>or </a:t>
            </a:r>
            <a:r>
              <a:rPr lang="en-US" altLang="zh-CN" dirty="0">
                <a:solidFill>
                  <a:schemeClr val="accent1">
                    <a:lumMod val="75000"/>
                  </a:schemeClr>
                </a:solidFill>
                <a:effectLst>
                  <a:innerShdw blurRad="63500" dist="50800" dir="16200000">
                    <a:prstClr val="black">
                      <a:alpha val="50000"/>
                    </a:prstClr>
                  </a:innerShdw>
                </a:effectLst>
              </a:rPr>
              <a:t>sustained yield </a:t>
            </a:r>
            <a:r>
              <a:rPr lang="en-US" altLang="zh-CN" dirty="0"/>
              <a:t>comes to us from foresters of the 18th and 19th century in Europe. </a:t>
            </a:r>
            <a:endParaRPr lang="en-US" altLang="zh-CN"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3"/>
          </p:nvPr>
        </p:nvSpPr>
        <p:spPr/>
        <p:txBody>
          <a:bodyPr/>
          <a:lstStyle/>
          <a:p>
            <a:r>
              <a:rPr lang="zh-CN" altLang="en-US" dirty="0" smtClean="0"/>
              <a:t>对</a:t>
            </a:r>
            <a:r>
              <a:rPr lang="zh-CN" altLang="en-US" dirty="0" smtClean="0"/>
              <a:t>“永续木材产量”理论的批评，主要集中在是否应该基于“永续木材产量”理论，由政府对采伐行为进行规制</a:t>
            </a:r>
            <a:endParaRPr lang="en-US" altLang="zh-CN" dirty="0" smtClean="0"/>
          </a:p>
          <a:p>
            <a:r>
              <a:rPr lang="zh-CN" altLang="en-US" dirty="0" smtClean="0"/>
              <a:t>如：基于“永续利用理论”的木材采伐限额管理政策</a:t>
            </a:r>
            <a:endParaRPr lang="en-US" altLang="zh-CN" dirty="0" smtClean="0"/>
          </a:p>
          <a:p>
            <a:r>
              <a:rPr lang="zh-CN" altLang="en-US" dirty="0" smtClean="0"/>
              <a:t>通过木材采伐限额实现“永续木材产量”，其带来的好处和可能产生的损失，究竟哪个比较大？有哪些可行的替代方案？</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推行永续木材产量的原因</a:t>
            </a:r>
            <a:endParaRPr lang="zh-CN" altLang="en-US" dirty="0"/>
          </a:p>
        </p:txBody>
      </p:sp>
      <p:sp>
        <p:nvSpPr>
          <p:cNvPr id="5" name="内容占位符 4"/>
          <p:cNvSpPr>
            <a:spLocks noGrp="1"/>
          </p:cNvSpPr>
          <p:nvPr>
            <p:ph sz="half" idx="1"/>
          </p:nvPr>
        </p:nvSpPr>
        <p:spPr>
          <a:xfrm>
            <a:off x="539552" y="980728"/>
            <a:ext cx="4026295" cy="5184576"/>
          </a:xfrm>
        </p:spPr>
        <p:txBody>
          <a:bodyPr/>
          <a:lstStyle/>
          <a:p>
            <a:r>
              <a:rPr lang="zh-CN" altLang="en-US" dirty="0" smtClean="0"/>
              <a:t>经济稳定</a:t>
            </a:r>
            <a:endParaRPr lang="en-US" altLang="zh-CN" dirty="0" smtClean="0"/>
          </a:p>
          <a:p>
            <a:r>
              <a:rPr lang="zh-CN" altLang="en-US" dirty="0" smtClean="0"/>
              <a:t>国家安全</a:t>
            </a:r>
            <a:endParaRPr lang="en-US" altLang="zh-CN" dirty="0" smtClean="0"/>
          </a:p>
          <a:p>
            <a:r>
              <a:rPr lang="zh-CN" altLang="en-US" dirty="0" smtClean="0"/>
              <a:t>道义责任</a:t>
            </a:r>
            <a:endParaRPr lang="en-US" altLang="zh-CN" dirty="0" smtClean="0"/>
          </a:p>
          <a:p>
            <a:r>
              <a:rPr lang="zh-CN" altLang="en-US" dirty="0" smtClean="0"/>
              <a:t>综合利用或非木材收益</a:t>
            </a:r>
            <a:endParaRPr lang="en-US" altLang="zh-CN" dirty="0" smtClean="0"/>
          </a:p>
          <a:p>
            <a:r>
              <a:rPr lang="zh-CN" altLang="en-US" dirty="0" smtClean="0"/>
              <a:t>其它论点（营林改善、降低风险，保护林主自己不受无知或短视的影响等）</a:t>
            </a:r>
            <a:endParaRPr lang="zh-CN" altLang="en-US" dirty="0"/>
          </a:p>
        </p:txBody>
      </p:sp>
      <p:sp>
        <p:nvSpPr>
          <p:cNvPr id="6" name="内容占位符 5"/>
          <p:cNvSpPr>
            <a:spLocks noGrp="1"/>
          </p:cNvSpPr>
          <p:nvPr>
            <p:ph sz="half" idx="2"/>
          </p:nvPr>
        </p:nvSpPr>
        <p:spPr>
          <a:xfrm>
            <a:off x="4565847" y="980728"/>
            <a:ext cx="4163816" cy="5184576"/>
          </a:xfrm>
        </p:spPr>
        <p:txBody>
          <a:bodyPr>
            <a:normAutofit fontScale="92500" lnSpcReduction="10000"/>
          </a:bodyPr>
          <a:lstStyle/>
          <a:p>
            <a:r>
              <a:rPr lang="en-US" altLang="zh-CN" dirty="0" smtClean="0"/>
              <a:t>Economic stability</a:t>
            </a:r>
            <a:endParaRPr lang="en-US" altLang="zh-CN" dirty="0" smtClean="0"/>
          </a:p>
          <a:p>
            <a:r>
              <a:rPr lang="en-US" altLang="zh-CN" dirty="0" smtClean="0"/>
              <a:t>National security</a:t>
            </a:r>
            <a:endParaRPr lang="en-US" altLang="zh-CN" dirty="0" smtClean="0"/>
          </a:p>
          <a:p>
            <a:r>
              <a:rPr lang="en-US" altLang="zh-CN" dirty="0" smtClean="0"/>
              <a:t>Moral obligation</a:t>
            </a:r>
            <a:endParaRPr lang="en-US" altLang="zh-CN" dirty="0" smtClean="0"/>
          </a:p>
          <a:p>
            <a:r>
              <a:rPr lang="en-US" altLang="zh-CN" dirty="0" smtClean="0"/>
              <a:t>Multiple use or non-timber benefits</a:t>
            </a:r>
            <a:endParaRPr lang="en-US" altLang="zh-CN" dirty="0" smtClean="0"/>
          </a:p>
          <a:p>
            <a:r>
              <a:rPr lang="en-US" altLang="zh-CN" dirty="0" smtClean="0"/>
              <a:t>Other argument</a:t>
            </a:r>
            <a:r>
              <a:rPr lang="zh-CN" altLang="en-US" dirty="0" smtClean="0"/>
              <a:t>：</a:t>
            </a:r>
            <a:r>
              <a:rPr lang="en-US" altLang="zh-CN" dirty="0" smtClean="0"/>
              <a:t>Silviculture imprisonment</a:t>
            </a:r>
            <a:r>
              <a:rPr lang="zh-CN" altLang="en-US" dirty="0" smtClean="0"/>
              <a:t>，</a:t>
            </a:r>
            <a:r>
              <a:rPr lang="en-US" altLang="zh-CN" dirty="0" smtClean="0"/>
              <a:t>risk reduction</a:t>
            </a:r>
            <a:r>
              <a:rPr lang="zh-CN" altLang="en-US" dirty="0" smtClean="0"/>
              <a:t>，</a:t>
            </a:r>
            <a:r>
              <a:rPr lang="en-US" altLang="zh-CN" dirty="0" smtClean="0"/>
              <a:t>protection of forest owners against their own ignorance or shortsightedness </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经济稳定</a:t>
            </a:r>
            <a:r>
              <a:rPr lang="en-US" altLang="zh-CN" dirty="0"/>
              <a:t> </a:t>
            </a:r>
            <a:r>
              <a:rPr lang="en-US" altLang="zh-CN" dirty="0" smtClean="0"/>
              <a:t>Economic Stability</a:t>
            </a:r>
            <a:endParaRPr lang="zh-CN" altLang="en-US" dirty="0"/>
          </a:p>
        </p:txBody>
      </p:sp>
      <p:sp>
        <p:nvSpPr>
          <p:cNvPr id="3" name="内容占位符 2"/>
          <p:cNvSpPr>
            <a:spLocks noGrp="1"/>
          </p:cNvSpPr>
          <p:nvPr>
            <p:ph sz="half" idx="1"/>
          </p:nvPr>
        </p:nvSpPr>
        <p:spPr/>
        <p:txBody>
          <a:bodyPr/>
          <a:lstStyle/>
          <a:p>
            <a:r>
              <a:rPr lang="zh-CN" altLang="en-US" dirty="0" smtClean="0"/>
              <a:t>优点</a:t>
            </a:r>
            <a:endParaRPr lang="en-US" altLang="zh-CN" dirty="0" smtClean="0"/>
          </a:p>
          <a:p>
            <a:pPr lvl="1"/>
            <a:r>
              <a:rPr lang="zh-CN" altLang="en-US" dirty="0" smtClean="0"/>
              <a:t>每年提供稳定的木材供给，使采伐和木材加工的工业生产量稳定，因而也能保障当地的就业和收入稳定</a:t>
            </a:r>
            <a:endParaRPr lang="en-US" altLang="zh-CN" dirty="0" smtClean="0"/>
          </a:p>
          <a:p>
            <a:pPr lvl="1"/>
            <a:r>
              <a:rPr lang="zh-CN" altLang="en-US" dirty="0" smtClean="0"/>
              <a:t>地区经济和工业的稳定</a:t>
            </a:r>
            <a:endParaRPr lang="en-US" altLang="zh-CN" dirty="0" smtClean="0"/>
          </a:p>
          <a:p>
            <a:pPr lvl="1"/>
            <a:r>
              <a:rPr lang="zh-CN" altLang="en-US" dirty="0" smtClean="0"/>
              <a:t>是永续利用的最主要的理论基础</a:t>
            </a:r>
            <a:endParaRPr lang="zh-CN" altLang="en-US" dirty="0"/>
          </a:p>
        </p:txBody>
      </p:sp>
      <p:sp>
        <p:nvSpPr>
          <p:cNvPr id="4" name="内容占位符 3"/>
          <p:cNvSpPr>
            <a:spLocks noGrp="1"/>
          </p:cNvSpPr>
          <p:nvPr>
            <p:ph sz="half" idx="2"/>
          </p:nvPr>
        </p:nvSpPr>
        <p:spPr/>
        <p:txBody>
          <a:bodyPr>
            <a:normAutofit fontScale="92500"/>
          </a:bodyPr>
          <a:lstStyle/>
          <a:p>
            <a:r>
              <a:rPr lang="zh-CN" altLang="en-US" dirty="0" smtClean="0"/>
              <a:t>缺点：</a:t>
            </a:r>
            <a:endParaRPr lang="en-US" altLang="zh-CN" dirty="0" smtClean="0"/>
          </a:p>
          <a:p>
            <a:pPr lvl="1"/>
            <a:r>
              <a:rPr lang="zh-CN" altLang="en-US" dirty="0" smtClean="0"/>
              <a:t>面对需求波动时，稳定供给并不能稳定价格，而采伐限额使得林主无法根据市场调节产量。可能加剧市场和价格的不稳定性</a:t>
            </a:r>
            <a:endParaRPr lang="en-US" altLang="zh-CN" dirty="0" smtClean="0"/>
          </a:p>
          <a:p>
            <a:pPr lvl="1"/>
            <a:r>
              <a:rPr lang="zh-CN" altLang="en-US" dirty="0" smtClean="0"/>
              <a:t>仅要求林业生产的稳定性，对稳定地区经济的意义可能并不大</a:t>
            </a:r>
            <a:endParaRPr lang="en-US" altLang="zh-CN" dirty="0" smtClean="0"/>
          </a:p>
          <a:p>
            <a:pPr lvl="1"/>
            <a:r>
              <a:rPr lang="zh-CN" altLang="en-US" dirty="0" smtClean="0"/>
              <a:t>由于技术进步等影响，在长期内稳定木材生产可能不能保证稳定的就业水平</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国家安全 </a:t>
            </a:r>
            <a:r>
              <a:rPr lang="en-US" altLang="zh-CN" dirty="0" smtClean="0"/>
              <a:t>National Security</a:t>
            </a:r>
            <a:endParaRPr lang="zh-CN" altLang="en-US" dirty="0"/>
          </a:p>
        </p:txBody>
      </p:sp>
      <p:sp>
        <p:nvSpPr>
          <p:cNvPr id="3" name="内容占位符 2"/>
          <p:cNvSpPr>
            <a:spLocks noGrp="1"/>
          </p:cNvSpPr>
          <p:nvPr>
            <p:ph sz="half" idx="1"/>
          </p:nvPr>
        </p:nvSpPr>
        <p:spPr>
          <a:effectLst>
            <a:innerShdw blurRad="63500" dist="50800" dir="13500000">
              <a:prstClr val="black">
                <a:alpha val="50000"/>
              </a:prstClr>
            </a:innerShdw>
          </a:effectLst>
        </p:spPr>
        <p:txBody>
          <a:bodyPr/>
          <a:lstStyle/>
          <a:p>
            <a:r>
              <a:rPr lang="zh-CN" altLang="en-US" dirty="0" smtClean="0"/>
              <a:t>永续利用理论在欧洲被提出的时候，正是木材对欧洲各国的能源、工业具有关键意义的时期</a:t>
            </a:r>
            <a:endParaRPr lang="en-US" altLang="zh-CN" dirty="0" smtClean="0"/>
          </a:p>
          <a:p>
            <a:r>
              <a:rPr lang="zh-CN" altLang="en-US" dirty="0" smtClean="0"/>
              <a:t>因此永续利用政策被认为是国防和经济稳定战略的一部分</a:t>
            </a:r>
            <a:endParaRPr lang="zh-CN" altLang="en-US" dirty="0"/>
          </a:p>
        </p:txBody>
      </p:sp>
      <p:sp>
        <p:nvSpPr>
          <p:cNvPr id="4" name="内容占位符 3"/>
          <p:cNvSpPr>
            <a:spLocks noGrp="1"/>
          </p:cNvSpPr>
          <p:nvPr>
            <p:ph sz="half" idx="2"/>
          </p:nvPr>
        </p:nvSpPr>
        <p:spPr>
          <a:effectLst>
            <a:outerShdw blurRad="50800" dist="38100" dir="2700000" algn="tl" rotWithShape="0">
              <a:prstClr val="black">
                <a:alpha val="40000"/>
              </a:prstClr>
            </a:outerShdw>
          </a:effectLst>
        </p:spPr>
        <p:txBody>
          <a:bodyPr/>
          <a:lstStyle/>
          <a:p>
            <a:r>
              <a:rPr lang="zh-CN" altLang="en-US" dirty="0" smtClean="0"/>
              <a:t>但随着时代的发展，如今虽然也需要保障一定的木材蓄积，却不像过去那样需要强调木材的永续利用</a:t>
            </a:r>
            <a:endParaRPr lang="en-US" altLang="zh-CN" dirty="0" smtClean="0"/>
          </a:p>
          <a:p>
            <a:r>
              <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本</a:t>
            </a:r>
            <a:r>
              <a:rPr lang="zh-CN" altLang="en-US"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书是从北美的角度来考虑问题，（加拿大森林覆盖率</a:t>
            </a:r>
            <a:r>
              <a:rPr lang="en-US" altLang="zh-CN"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34%</a:t>
            </a:r>
            <a:r>
              <a:rPr lang="zh-CN" altLang="en-US"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，美国森林覆盖率</a:t>
            </a:r>
            <a:r>
              <a:rPr lang="en-US" altLang="zh-CN"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33%</a:t>
            </a:r>
            <a:r>
              <a:rPr lang="zh-CN" altLang="en-US"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，中国森林覆盖率</a:t>
            </a:r>
            <a:r>
              <a:rPr lang="en-US" altLang="zh-CN"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22%</a:t>
            </a:r>
            <a:r>
              <a:rPr lang="zh-CN" altLang="en-US"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道义责任 </a:t>
            </a:r>
            <a:r>
              <a:rPr lang="en-US" altLang="zh-CN" dirty="0" smtClean="0"/>
              <a:t>Moral Obligation</a:t>
            </a:r>
            <a:r>
              <a:rPr lang="zh-CN" altLang="en-US" dirty="0" smtClean="0"/>
              <a:t> </a:t>
            </a:r>
            <a:endParaRPr lang="zh-CN" altLang="en-US" dirty="0"/>
          </a:p>
        </p:txBody>
      </p:sp>
      <p:sp>
        <p:nvSpPr>
          <p:cNvPr id="3" name="内容占位符 2"/>
          <p:cNvSpPr>
            <a:spLocks noGrp="1"/>
          </p:cNvSpPr>
          <p:nvPr>
            <p:ph sz="half" idx="1"/>
          </p:nvPr>
        </p:nvSpPr>
        <p:spPr/>
        <p:txBody>
          <a:bodyPr/>
          <a:lstStyle/>
          <a:p>
            <a:r>
              <a:rPr lang="zh-CN" altLang="en-US" dirty="0" smtClean="0"/>
              <a:t>通过可持续的木材产量，将森林资源传给下一代</a:t>
            </a:r>
            <a:endParaRPr lang="en-US" altLang="zh-CN" dirty="0" smtClean="0"/>
          </a:p>
          <a:p>
            <a:r>
              <a:rPr lang="zh-CN" altLang="en-US" dirty="0" smtClean="0"/>
              <a:t>自然资本和人造资本之间的可替代性很低，因而通过木材采伐限制保护自然资本显得非常有必要</a:t>
            </a:r>
            <a:endParaRPr lang="zh-CN" altLang="en-US" dirty="0"/>
          </a:p>
        </p:txBody>
      </p:sp>
      <p:sp>
        <p:nvSpPr>
          <p:cNvPr id="4" name="内容占位符 3"/>
          <p:cNvSpPr>
            <a:spLocks noGrp="1"/>
          </p:cNvSpPr>
          <p:nvPr>
            <p:ph sz="half" idx="2"/>
          </p:nvPr>
        </p:nvSpPr>
        <p:spPr/>
        <p:txBody>
          <a:bodyPr/>
          <a:lstStyle/>
          <a:p>
            <a:r>
              <a:rPr lang="zh-CN" altLang="en-US" dirty="0" smtClean="0"/>
              <a:t>采伐量限额可能降低经济意义上的森林生产力</a:t>
            </a:r>
            <a:endParaRPr lang="en-US" altLang="zh-CN" dirty="0" smtClean="0"/>
          </a:p>
          <a:p>
            <a:r>
              <a:rPr lang="zh-CN" altLang="en-US" dirty="0" smtClean="0"/>
              <a:t>把森林转化为一个平稳的年龄结构和保持一定采伐水平并不是保持未来森林生产力的关键</a:t>
            </a:r>
            <a:endParaRPr lang="en-US" altLang="zh-CN" dirty="0" smtClean="0"/>
          </a:p>
          <a:p>
            <a:r>
              <a:rPr lang="zh-CN" altLang="en-US" dirty="0"/>
              <a:t>也</a:t>
            </a:r>
            <a:r>
              <a:rPr lang="zh-CN" altLang="en-US" dirty="0" smtClean="0"/>
              <a:t>不是协调当代利益和后代利益的关键</a:t>
            </a:r>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综合利用 </a:t>
            </a:r>
            <a:r>
              <a:rPr lang="en-US" altLang="zh-CN" dirty="0" smtClean="0"/>
              <a:t>Multiple Use</a:t>
            </a:r>
            <a:endParaRPr lang="zh-CN" altLang="en-US" dirty="0"/>
          </a:p>
        </p:txBody>
      </p:sp>
      <p:sp>
        <p:nvSpPr>
          <p:cNvPr id="3" name="内容占位符 2"/>
          <p:cNvSpPr>
            <a:spLocks noGrp="1"/>
          </p:cNvSpPr>
          <p:nvPr>
            <p:ph sz="half" idx="1"/>
          </p:nvPr>
        </p:nvSpPr>
        <p:spPr>
          <a:effectLst>
            <a:innerShdw blurRad="63500" dist="50800" dir="13500000">
              <a:prstClr val="black">
                <a:alpha val="50000"/>
              </a:prstClr>
            </a:innerShdw>
          </a:effectLst>
        </p:spPr>
        <p:txBody>
          <a:bodyPr/>
          <a:lstStyle/>
          <a:p>
            <a:r>
              <a:rPr lang="zh-CN" altLang="en-US" dirty="0" smtClean="0"/>
              <a:t>森林的非木材价值如环境和游乐价值、动物饲料、蓄水和美化环境价值可以通过森林的永续利用而得到保护或提高</a:t>
            </a:r>
            <a:endParaRPr lang="zh-CN" altLang="en-US" dirty="0"/>
          </a:p>
        </p:txBody>
      </p:sp>
      <p:sp>
        <p:nvSpPr>
          <p:cNvPr id="4" name="内容占位符 3"/>
          <p:cNvSpPr>
            <a:spLocks noGrp="1"/>
          </p:cNvSpPr>
          <p:nvPr>
            <p:ph sz="half" idx="2"/>
          </p:nvPr>
        </p:nvSpPr>
        <p:spPr>
          <a:effectLst>
            <a:outerShdw blurRad="76200" dist="76200" dir="2700000" algn="tl" rotWithShape="0">
              <a:prstClr val="black">
                <a:alpha val="40000"/>
              </a:prstClr>
            </a:outerShdw>
          </a:effectLst>
        </p:spPr>
        <p:txBody>
          <a:bodyPr/>
          <a:lstStyle/>
          <a:p>
            <a:r>
              <a:rPr lang="zh-CN" altLang="en-US" dirty="0" smtClean="0"/>
              <a:t>不同林产品和效益需要不同的管理制度</a:t>
            </a:r>
            <a:endParaRPr lang="en-US" altLang="zh-CN" dirty="0" smtClean="0"/>
          </a:p>
          <a:p>
            <a:r>
              <a:rPr lang="zh-CN" altLang="en-US" dirty="0" smtClean="0"/>
              <a:t>而一个逐渐上升的龄级结构和一个稳定的采伐率不可能使任何某种特定非木材价值或它们的某种组合价值达到最大化。</a:t>
            </a:r>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内容占位符 2"/>
          <p:cNvSpPr>
            <a:spLocks noGrp="1"/>
          </p:cNvSpPr>
          <p:nvPr>
            <p:ph sz="quarter" idx="13"/>
          </p:nvPr>
        </p:nvSpPr>
        <p:spPr/>
        <p:txBody>
          <a:bodyPr/>
          <a:lstStyle/>
          <a:p>
            <a:r>
              <a:rPr lang="zh-CN" altLang="en-US" dirty="0" smtClean="0"/>
              <a:t>虽然保护森林资源是非常有必要的</a:t>
            </a:r>
            <a:endParaRPr lang="en-US" altLang="zh-CN" dirty="0" smtClean="0"/>
          </a:p>
          <a:p>
            <a:r>
              <a:rPr lang="zh-CN" altLang="en-US" dirty="0" smtClean="0"/>
              <a:t>但机械地运用以“法正林”为代表的永续利用理论来保护和管理森林，可能并不能实现预期目标</a:t>
            </a:r>
            <a:endParaRPr lang="en-US" altLang="zh-CN" dirty="0" smtClean="0"/>
          </a:p>
          <a:p>
            <a:r>
              <a:rPr lang="zh-CN" altLang="en-US" dirty="0" smtClean="0"/>
              <a:t>在没有采伐限额的情况下，依靠林主本身的理性决策，是否能够实现对森林资源的优化利用？</a:t>
            </a:r>
            <a:r>
              <a:rPr lang="en-US" altLang="zh-CN" b="1" dirty="0" smtClean="0">
                <a:ln w="13462">
                  <a:solidFill>
                    <a:schemeClr val="bg1"/>
                  </a:solidFill>
                  <a:prstDash val="solid"/>
                </a:ln>
                <a:solidFill>
                  <a:srgbClr val="8E5ED4"/>
                </a:solidFill>
                <a:effectLst>
                  <a:outerShdw dist="38100" dir="2700000" algn="bl" rotWithShape="0">
                    <a:schemeClr val="accent5"/>
                  </a:outerShdw>
                </a:effectLst>
              </a:rPr>
              <a:t>——</a:t>
            </a:r>
            <a:r>
              <a:rPr lang="zh-CN" altLang="en-US" b="1" dirty="0" smtClean="0">
                <a:ln w="13462">
                  <a:solidFill>
                    <a:schemeClr val="bg1"/>
                  </a:solidFill>
                  <a:prstDash val="solid"/>
                </a:ln>
                <a:solidFill>
                  <a:srgbClr val="8E5ED4"/>
                </a:solidFill>
                <a:effectLst>
                  <a:outerShdw dist="38100" dir="2700000" algn="bl" rotWithShape="0">
                    <a:schemeClr val="accent5"/>
                  </a:outerShdw>
                </a:effectLst>
              </a:rPr>
              <a:t>市场的力量</a:t>
            </a:r>
            <a:r>
              <a:rPr lang="zh-CN" altLang="en-US" b="1" dirty="0">
                <a:ln w="13462">
                  <a:solidFill>
                    <a:schemeClr val="bg1"/>
                  </a:solidFill>
                  <a:prstDash val="solid"/>
                </a:ln>
                <a:solidFill>
                  <a:srgbClr val="8E5ED4"/>
                </a:solidFill>
                <a:effectLst>
                  <a:outerShdw dist="38100" dir="2700000" algn="bl" rotWithShape="0">
                    <a:schemeClr val="accent5"/>
                  </a:outerShdw>
                </a:effectLst>
              </a:rPr>
              <a:t>能否</a:t>
            </a:r>
            <a:r>
              <a:rPr lang="zh-CN" altLang="en-US" b="1" dirty="0" smtClean="0">
                <a:ln w="13462">
                  <a:solidFill>
                    <a:schemeClr val="bg1"/>
                  </a:solidFill>
                  <a:prstDash val="solid"/>
                </a:ln>
                <a:solidFill>
                  <a:srgbClr val="8E5ED4"/>
                </a:solidFill>
                <a:effectLst>
                  <a:outerShdw dist="38100" dir="2700000" algn="bl" rotWithShape="0">
                    <a:schemeClr val="accent5"/>
                  </a:outerShdw>
                </a:effectLst>
              </a:rPr>
              <a:t>发挥作用？</a:t>
            </a:r>
            <a:endParaRPr lang="zh-CN" altLang="en-US" b="1" dirty="0">
              <a:ln w="13462">
                <a:solidFill>
                  <a:schemeClr val="bg1"/>
                </a:solidFill>
                <a:prstDash val="solid"/>
              </a:ln>
              <a:solidFill>
                <a:srgbClr val="8E5ED4"/>
              </a:solidFill>
              <a:effectLst>
                <a:outerShdw dist="38100" dir="2700000" algn="bl" rotWithShape="0">
                  <a:schemeClr val="accent5"/>
                </a:outerShdw>
              </a:effectLs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Timber Harvests over Time in the Absence of Sustained Yield Policy: Market as a Regulator</a:t>
            </a:r>
            <a:br>
              <a:rPr lang="en-US" altLang="zh-CN" dirty="0"/>
            </a:br>
            <a:endParaRPr lang="zh-CN" altLang="en-US" dirty="0"/>
          </a:p>
        </p:txBody>
      </p:sp>
      <p:sp>
        <p:nvSpPr>
          <p:cNvPr id="3" name="文本占位符 2"/>
          <p:cNvSpPr>
            <a:spLocks noGrp="1"/>
          </p:cNvSpPr>
          <p:nvPr>
            <p:ph type="body" idx="1"/>
          </p:nvPr>
        </p:nvSpPr>
        <p:spPr/>
        <p:txBody>
          <a:bodyPr/>
          <a:lstStyle/>
          <a:p>
            <a:r>
              <a:rPr lang="zh-CN" altLang="en-US" dirty="0" smtClean="0"/>
              <a:t>没有采伐限额情况下的木材生产：市场调控</a:t>
            </a:r>
            <a:endParaRPr lang="zh-CN" alt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600" dirty="0" smtClean="0"/>
              <a:t>1953-2007</a:t>
            </a:r>
            <a:r>
              <a:rPr lang="zh-CN" altLang="en-US" sz="3600" dirty="0" smtClean="0"/>
              <a:t>年美国私有林每英亩的平均年生长量、采伐量和蓄积量</a:t>
            </a:r>
            <a:endParaRPr lang="zh-CN" altLang="en-US" sz="3600" dirty="0"/>
          </a:p>
        </p:txBody>
      </p:sp>
      <p:pic>
        <p:nvPicPr>
          <p:cNvPr id="4" name="内容占位符 3"/>
          <p:cNvPicPr>
            <a:picLocks noGrp="1" noChangeAspect="1"/>
          </p:cNvPicPr>
          <p:nvPr>
            <p:ph sz="quarter" idx="13"/>
          </p:nvPr>
        </p:nvPicPr>
        <p:blipFill>
          <a:blip r:embed="rId1" cstate="print">
            <a:extLst>
              <a:ext uri="{28A0092B-C50C-407E-A947-70E740481C1C}">
                <a14:useLocalDpi xmlns:a14="http://schemas.microsoft.com/office/drawing/2010/main" val="0"/>
              </a:ext>
            </a:extLst>
          </a:blip>
          <a:stretch>
            <a:fillRect/>
          </a:stretch>
        </p:blipFill>
        <p:spPr>
          <a:xfrm>
            <a:off x="971600" y="1196975"/>
            <a:ext cx="7488832" cy="4608513"/>
          </a:xfr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smtClean="0"/>
              <a:t>美国</a:t>
            </a:r>
            <a:r>
              <a:rPr lang="en-US" altLang="zh-CN" dirty="0" smtClean="0"/>
              <a:t>70%</a:t>
            </a:r>
            <a:r>
              <a:rPr lang="zh-CN" altLang="en-US" dirty="0" smtClean="0"/>
              <a:t>的生产性林地（用材林地）为私人所有，在没有政府的采伐限额的情况下，林主通过自主调节采伐量和营林投资，实现了森林质量的提高</a:t>
            </a:r>
            <a:endParaRPr lang="en-US" altLang="zh-CN" dirty="0" smtClean="0"/>
          </a:p>
          <a:p>
            <a:r>
              <a:rPr lang="zh-CN" altLang="en-US" dirty="0" smtClean="0"/>
              <a:t>同样，市场也能够较好地调节采伐速度</a:t>
            </a:r>
            <a:endParaRPr lang="en-US" altLang="zh-CN" dirty="0" smtClean="0"/>
          </a:p>
          <a:p>
            <a:r>
              <a:rPr lang="zh-CN" altLang="en-US" dirty="0" smtClean="0"/>
              <a:t>以同龄林管理比较流行的俄勒冈州西部地区为例，该地区的轮伐期是</a:t>
            </a:r>
            <a:r>
              <a:rPr lang="en-US" altLang="zh-CN" dirty="0" smtClean="0"/>
              <a:t>50-60</a:t>
            </a:r>
            <a:r>
              <a:rPr lang="zh-CN" altLang="en-US" dirty="0" smtClean="0"/>
              <a:t>年，也形成了较为规整的私有林龄级分布</a:t>
            </a:r>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a:t>
            </a:r>
            <a:r>
              <a:rPr lang="en-US" altLang="zh-CN" dirty="0" smtClean="0"/>
              <a:t>5</a:t>
            </a:r>
            <a:r>
              <a:rPr lang="zh-CN" altLang="en-US" dirty="0" smtClean="0"/>
              <a:t>个龄级的面积较为接近</a:t>
            </a:r>
            <a:endParaRPr lang="zh-CN" altLang="en-US" dirty="0"/>
          </a:p>
        </p:txBody>
      </p:sp>
      <p:pic>
        <p:nvPicPr>
          <p:cNvPr id="4"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395537" y="1089025"/>
            <a:ext cx="8208912" cy="4860925"/>
          </a:xfr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由此可见</a:t>
            </a:r>
            <a:endParaRPr lang="zh-CN" altLang="en-US" dirty="0"/>
          </a:p>
        </p:txBody>
      </p:sp>
      <p:sp>
        <p:nvSpPr>
          <p:cNvPr id="3" name="内容占位符 2"/>
          <p:cNvSpPr>
            <a:spLocks noGrp="1"/>
          </p:cNvSpPr>
          <p:nvPr>
            <p:ph idx="1"/>
          </p:nvPr>
        </p:nvSpPr>
        <p:spPr/>
        <p:txBody>
          <a:bodyPr/>
          <a:lstStyle/>
          <a:p>
            <a:r>
              <a:rPr lang="zh-CN" altLang="en-US" dirty="0" smtClean="0"/>
              <a:t>在美国，相对安全的林权和市场的力量似乎能够吸引足够的投资来维护和提高私有林的森林蓄积量</a:t>
            </a:r>
            <a:endParaRPr lang="en-US" altLang="zh-CN" dirty="0" smtClean="0"/>
          </a:p>
          <a:p>
            <a:r>
              <a:rPr lang="zh-CN" altLang="en-US" dirty="0"/>
              <a:t>但</a:t>
            </a:r>
            <a:r>
              <a:rPr lang="zh-CN" altLang="en-US" dirty="0" smtClean="0"/>
              <a:t>这并不是说在市场和经济情况、产权、或其它制度安排上完全不同的国家和地区也不需要可持续生产的采伐规则</a:t>
            </a:r>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New Approaches to Forest Regulation </a:t>
            </a:r>
            <a:br>
              <a:rPr lang="zh-CN" altLang="en-US" dirty="0"/>
            </a:br>
            <a:endParaRPr lang="zh-CN" altLang="en-US" dirty="0"/>
          </a:p>
        </p:txBody>
      </p:sp>
      <p:sp>
        <p:nvSpPr>
          <p:cNvPr id="3" name="文本占位符 2"/>
          <p:cNvSpPr>
            <a:spLocks noGrp="1"/>
          </p:cNvSpPr>
          <p:nvPr>
            <p:ph type="body" idx="1"/>
          </p:nvPr>
        </p:nvSpPr>
        <p:spPr/>
        <p:txBody>
          <a:bodyPr/>
          <a:lstStyle/>
          <a:p>
            <a:r>
              <a:rPr lang="zh-CN" altLang="en-US" dirty="0" smtClean="0"/>
              <a:t>林业规划的新方法</a:t>
            </a:r>
            <a:endParaRPr lang="zh-CN" alt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强调非木材价值的新型林业规划</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公众对森林的非木材价值</a:t>
            </a:r>
            <a:r>
              <a:rPr lang="en-US" altLang="zh-CN" dirty="0" smtClean="0"/>
              <a:t>——</a:t>
            </a:r>
            <a:r>
              <a:rPr lang="zh-CN" altLang="en-US" dirty="0" smtClean="0"/>
              <a:t>保护野生动物、水源，以及其它环境效益，如野生地保护和固碳的需求越来越高</a:t>
            </a:r>
            <a:endParaRPr lang="en-US" altLang="zh-CN" dirty="0" smtClean="0"/>
          </a:p>
          <a:p>
            <a:r>
              <a:rPr lang="zh-CN" altLang="en-US" dirty="0" smtClean="0"/>
              <a:t>传统的永续森林利用规划方法只考虑木材生产量的稳定性，显然并不符合这些需求</a:t>
            </a:r>
            <a:endParaRPr lang="en-US" altLang="zh-CN" dirty="0" smtClean="0"/>
          </a:p>
          <a:p>
            <a:r>
              <a:rPr lang="zh-CN" altLang="en-US" dirty="0" smtClean="0"/>
              <a:t>一些新的数学技术，如控制论原理和一些基于建模技术和计算机技术的方法，能够对复杂的采伐系统进行更为精确的分析</a:t>
            </a:r>
            <a:endParaRPr lang="en-US" altLang="zh-CN" dirty="0" smtClean="0"/>
          </a:p>
          <a:p>
            <a:r>
              <a:rPr lang="zh-CN" altLang="en-US" dirty="0"/>
              <a:t>这</a:t>
            </a:r>
            <a:r>
              <a:rPr lang="zh-CN" altLang="en-US" dirty="0" smtClean="0"/>
              <a:t>类技术在私有林占主导的地区得到了更为广泛的运用</a:t>
            </a:r>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2800" dirty="0" smtClean="0"/>
              <a:t>森林可持续经营 </a:t>
            </a:r>
            <a:r>
              <a:rPr lang="en-US" altLang="zh-CN" sz="2800" dirty="0"/>
              <a:t>Sustainable Forest Management</a:t>
            </a:r>
            <a:endParaRPr lang="zh-CN" altLang="en-US" sz="2800" dirty="0"/>
          </a:p>
        </p:txBody>
      </p:sp>
      <p:sp>
        <p:nvSpPr>
          <p:cNvPr id="3" name="内容占位符 2"/>
          <p:cNvSpPr>
            <a:spLocks noGrp="1"/>
          </p:cNvSpPr>
          <p:nvPr>
            <p:ph sz="quarter" idx="13"/>
          </p:nvPr>
        </p:nvSpPr>
        <p:spPr/>
        <p:txBody>
          <a:bodyPr/>
          <a:lstStyle/>
          <a:p>
            <a:r>
              <a:rPr lang="zh-CN" altLang="en-US" dirty="0" smtClean="0"/>
              <a:t>森林可持续经营理念的提出，最早可以追溯到</a:t>
            </a:r>
            <a:r>
              <a:rPr lang="en-US" altLang="zh-CN" dirty="0" smtClean="0"/>
              <a:t>UNCED</a:t>
            </a:r>
            <a:r>
              <a:rPr lang="zh-CN" altLang="en-US" dirty="0" smtClean="0"/>
              <a:t>（</a:t>
            </a:r>
            <a:r>
              <a:rPr lang="en-US" altLang="zh-CN" dirty="0" smtClean="0"/>
              <a:t>United Nations Conference of Environment and Development</a:t>
            </a:r>
            <a:r>
              <a:rPr lang="zh-CN" altLang="en-US" dirty="0" smtClean="0"/>
              <a:t>，联合国环境与发展大会）</a:t>
            </a:r>
            <a:r>
              <a:rPr lang="en-US" altLang="zh-CN" dirty="0" smtClean="0"/>
              <a:t>1992</a:t>
            </a:r>
            <a:r>
              <a:rPr lang="zh-CN" altLang="en-US" dirty="0" smtClean="0"/>
              <a:t>年提出的“森林原则”（</a:t>
            </a:r>
            <a:r>
              <a:rPr lang="en-US" altLang="zh-CN" dirty="0"/>
              <a:t>The </a:t>
            </a:r>
            <a:r>
              <a:rPr lang="en-US" altLang="zh-CN" b="1" dirty="0"/>
              <a:t>Forest Principles</a:t>
            </a:r>
            <a:r>
              <a:rPr lang="en-US" altLang="zh-CN" dirty="0"/>
              <a:t> </a:t>
            </a:r>
            <a:r>
              <a:rPr lang="zh-CN" altLang="en-US" dirty="0" smtClean="0"/>
              <a:t>）</a:t>
            </a:r>
            <a:endParaRPr lang="en-US" altLang="zh-CN" dirty="0" smtClean="0"/>
          </a:p>
          <a:p>
            <a:r>
              <a:rPr lang="zh-CN" altLang="en-US" dirty="0" smtClean="0"/>
              <a:t>“森林资源和林地应可持续地经营以满足当代人和后代人的社会、经济、生态、文化和精神的需求”</a:t>
            </a:r>
            <a:endParaRPr lang="en-US" altLang="zh-CN" dirty="0" smtClean="0"/>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Sustainable forest management (SFM) </a:t>
            </a:r>
            <a:endParaRPr lang="zh-CN" altLang="en-US" dirty="0"/>
          </a:p>
        </p:txBody>
      </p:sp>
      <p:sp>
        <p:nvSpPr>
          <p:cNvPr id="3" name="内容占位符 2"/>
          <p:cNvSpPr>
            <a:spLocks noGrp="1"/>
          </p:cNvSpPr>
          <p:nvPr>
            <p:ph sz="quarter" idx="13"/>
          </p:nvPr>
        </p:nvSpPr>
        <p:spPr/>
        <p:txBody>
          <a:bodyPr/>
          <a:lstStyle/>
          <a:p>
            <a:r>
              <a:rPr lang="en-US" altLang="zh-CN" dirty="0">
                <a:ln w="0"/>
                <a:solidFill>
                  <a:schemeClr val="accent1"/>
                </a:solidFill>
                <a:effectLst>
                  <a:outerShdw blurRad="38100" dist="25400" dir="5400000" algn="ctr" rotWithShape="0">
                    <a:srgbClr val="6E747A">
                      <a:alpha val="43000"/>
                    </a:srgbClr>
                  </a:outerShdw>
                </a:effectLst>
              </a:rPr>
              <a:t>Sustainable forest management (SFM) </a:t>
            </a:r>
            <a:r>
              <a:rPr lang="en-US" altLang="zh-CN" dirty="0"/>
              <a:t>refers to the management of our private and public forests to ensure they continue to provide not only a sound supply of renewable timber for present and future generations, but also maintain their environmental values and social services.</a:t>
            </a:r>
            <a:endParaRPr lang="zh-CN" altLang="en-US" dirty="0"/>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森林可持续经营的标准</a:t>
            </a:r>
            <a:endParaRPr lang="zh-CN" altLang="en-US" dirty="0"/>
          </a:p>
        </p:txBody>
      </p:sp>
      <p:sp>
        <p:nvSpPr>
          <p:cNvPr id="3" name="内容占位符 2"/>
          <p:cNvSpPr>
            <a:spLocks noGrp="1"/>
          </p:cNvSpPr>
          <p:nvPr>
            <p:ph sz="quarter" idx="13"/>
          </p:nvPr>
        </p:nvSpPr>
        <p:spPr/>
        <p:txBody>
          <a:bodyPr/>
          <a:lstStyle/>
          <a:p>
            <a:r>
              <a:rPr lang="zh-CN" altLang="en-US" dirty="0" smtClean="0"/>
              <a:t>森林资源的范围</a:t>
            </a:r>
            <a:endParaRPr lang="en-US" altLang="zh-CN" dirty="0" smtClean="0"/>
          </a:p>
          <a:p>
            <a:r>
              <a:rPr lang="zh-CN" altLang="en-US" dirty="0" smtClean="0"/>
              <a:t>生物多样性</a:t>
            </a:r>
            <a:endParaRPr lang="en-US" altLang="zh-CN" dirty="0" smtClean="0"/>
          </a:p>
          <a:p>
            <a:r>
              <a:rPr lang="zh-CN" altLang="en-US" dirty="0" smtClean="0"/>
              <a:t>森林的健康和活力</a:t>
            </a:r>
            <a:endParaRPr lang="en-US" altLang="zh-CN" dirty="0" smtClean="0"/>
          </a:p>
          <a:p>
            <a:r>
              <a:rPr lang="zh-CN" altLang="en-US" dirty="0" smtClean="0"/>
              <a:t>森林资源的生产功能</a:t>
            </a:r>
            <a:endParaRPr lang="en-US" altLang="zh-CN" dirty="0" smtClean="0"/>
          </a:p>
          <a:p>
            <a:r>
              <a:rPr lang="zh-CN" altLang="en-US" dirty="0" smtClean="0"/>
              <a:t>森林资源的保护功能</a:t>
            </a:r>
            <a:endParaRPr lang="en-US" altLang="zh-CN" dirty="0" smtClean="0"/>
          </a:p>
          <a:p>
            <a:r>
              <a:rPr lang="zh-CN" altLang="en-US" dirty="0" smtClean="0"/>
              <a:t>森林资源的社会经济功能</a:t>
            </a:r>
            <a:endParaRPr lang="en-US" altLang="zh-CN" dirty="0" smtClean="0"/>
          </a:p>
          <a:p>
            <a:r>
              <a:rPr lang="zh-CN" altLang="en-US" dirty="0" smtClean="0"/>
              <a:t>法律、政策和制度框架</a:t>
            </a:r>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森林可持续经营与可持续林业</a:t>
            </a:r>
            <a:endParaRPr lang="zh-CN" altLang="en-US" dirty="0"/>
          </a:p>
        </p:txBody>
      </p:sp>
      <p:sp>
        <p:nvSpPr>
          <p:cNvPr id="5" name="文本占位符 4"/>
          <p:cNvSpPr>
            <a:spLocks noGrp="1"/>
          </p:cNvSpPr>
          <p:nvPr>
            <p:ph type="body" idx="1"/>
          </p:nvPr>
        </p:nvSpPr>
        <p:spPr/>
        <p:txBody>
          <a:bodyPr/>
          <a:lstStyle/>
          <a:p>
            <a:r>
              <a:rPr lang="zh-CN" altLang="en-US" dirty="0" smtClean="0"/>
              <a:t>森林可持续经营</a:t>
            </a:r>
            <a:endParaRPr lang="zh-CN" altLang="en-US" dirty="0"/>
          </a:p>
        </p:txBody>
      </p:sp>
      <p:sp>
        <p:nvSpPr>
          <p:cNvPr id="6" name="内容占位符 5"/>
          <p:cNvSpPr>
            <a:spLocks noGrp="1"/>
          </p:cNvSpPr>
          <p:nvPr>
            <p:ph sz="half" idx="2"/>
          </p:nvPr>
        </p:nvSpPr>
        <p:spPr/>
        <p:txBody>
          <a:bodyPr/>
          <a:lstStyle/>
          <a:p>
            <a:r>
              <a:rPr lang="zh-CN" altLang="en-US" dirty="0" smtClean="0"/>
              <a:t>是自然科学与经济学的结合</a:t>
            </a:r>
            <a:endParaRPr lang="en-US" altLang="zh-CN" dirty="0" smtClean="0"/>
          </a:p>
          <a:p>
            <a:r>
              <a:rPr lang="zh-CN" altLang="en-US" dirty="0" smtClean="0"/>
              <a:t>包括经营层次和技术层次两个方面</a:t>
            </a:r>
            <a:endParaRPr lang="en-US" altLang="zh-CN" dirty="0" smtClean="0"/>
          </a:p>
          <a:p>
            <a:r>
              <a:rPr lang="zh-CN" altLang="en-US" dirty="0"/>
              <a:t>经营</a:t>
            </a:r>
            <a:r>
              <a:rPr lang="zh-CN" altLang="en-US" dirty="0" smtClean="0"/>
              <a:t>层次包括经营目标、经营权、经营制度等</a:t>
            </a:r>
            <a:endParaRPr lang="en-US" altLang="zh-CN" dirty="0" smtClean="0"/>
          </a:p>
          <a:p>
            <a:r>
              <a:rPr lang="zh-CN" altLang="en-US" dirty="0"/>
              <a:t>技术</a:t>
            </a:r>
            <a:r>
              <a:rPr lang="zh-CN" altLang="en-US" dirty="0" smtClean="0"/>
              <a:t>层次包括区划、调查、规划、技术、实践、检测、评价、反馈等</a:t>
            </a:r>
            <a:endParaRPr lang="en-US" altLang="zh-CN" dirty="0" smtClean="0"/>
          </a:p>
          <a:p>
            <a:r>
              <a:rPr lang="zh-CN" altLang="en-US" dirty="0" smtClean="0"/>
              <a:t>研究范围较为集中</a:t>
            </a:r>
            <a:endParaRPr lang="zh-CN" altLang="en-US" dirty="0"/>
          </a:p>
        </p:txBody>
      </p:sp>
      <p:sp>
        <p:nvSpPr>
          <p:cNvPr id="7" name="文本占位符 6"/>
          <p:cNvSpPr>
            <a:spLocks noGrp="1"/>
          </p:cNvSpPr>
          <p:nvPr>
            <p:ph type="body" sz="quarter" idx="3"/>
          </p:nvPr>
        </p:nvSpPr>
        <p:spPr/>
        <p:txBody>
          <a:bodyPr/>
          <a:lstStyle/>
          <a:p>
            <a:r>
              <a:rPr lang="zh-CN" altLang="en-US" dirty="0" smtClean="0"/>
              <a:t>可持续林业</a:t>
            </a:r>
            <a:endParaRPr lang="zh-CN" altLang="en-US" dirty="0"/>
          </a:p>
        </p:txBody>
      </p:sp>
      <p:sp>
        <p:nvSpPr>
          <p:cNvPr id="8" name="内容占位符 7"/>
          <p:cNvSpPr>
            <a:spLocks noGrp="1"/>
          </p:cNvSpPr>
          <p:nvPr>
            <p:ph sz="quarter" idx="4"/>
          </p:nvPr>
        </p:nvSpPr>
        <p:spPr/>
        <p:txBody>
          <a:bodyPr>
            <a:normAutofit fontScale="92500" lnSpcReduction="20000"/>
          </a:bodyPr>
          <a:lstStyle/>
          <a:p>
            <a:r>
              <a:rPr lang="zh-CN" altLang="en-US" dirty="0" smtClean="0"/>
              <a:t>研究的内容更加广泛</a:t>
            </a:r>
            <a:endParaRPr lang="en-US" altLang="zh-CN" dirty="0" smtClean="0"/>
          </a:p>
          <a:p>
            <a:r>
              <a:rPr lang="zh-CN" altLang="en-US" dirty="0" smtClean="0"/>
              <a:t>要求对传统林业经济制度进行各种修正</a:t>
            </a:r>
            <a:endParaRPr lang="en-US" altLang="zh-CN" dirty="0" smtClean="0"/>
          </a:p>
          <a:p>
            <a:r>
              <a:rPr lang="zh-CN" altLang="en-US" dirty="0" smtClean="0"/>
              <a:t>如建立绿色国民经济核算制度、森林资源账户体系</a:t>
            </a:r>
            <a:endParaRPr lang="en-US" altLang="zh-CN" dirty="0" smtClean="0"/>
          </a:p>
          <a:p>
            <a:r>
              <a:rPr lang="zh-CN" altLang="en-US" dirty="0" smtClean="0"/>
              <a:t>建立绿色林业政策体系，包括可持续的森林资源利用政策、森林资源的配置政策、森林资源的价值与价格政策、产权政策、纠正森林及林业的外部不经济及“市场失灵”的政策、绿色消费政策等。</a:t>
            </a:r>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森林可持续经营与森林永续利用</a:t>
            </a:r>
            <a:endParaRPr lang="zh-CN" altLang="en-US" dirty="0"/>
          </a:p>
        </p:txBody>
      </p:sp>
      <p:graphicFrame>
        <p:nvGraphicFramePr>
          <p:cNvPr id="4" name="内容占位符 3"/>
          <p:cNvGraphicFramePr>
            <a:graphicFrameLocks noGrp="1"/>
          </p:cNvGraphicFramePr>
          <p:nvPr>
            <p:ph sz="quarter" idx="13"/>
          </p:nvPr>
        </p:nvGraphicFramePr>
        <p:xfrm>
          <a:off x="468313" y="1196975"/>
          <a:ext cx="8280400" cy="460851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经营取向不同</a:t>
            </a:r>
            <a:endParaRPr lang="zh-CN" altLang="en-US" dirty="0"/>
          </a:p>
        </p:txBody>
      </p:sp>
      <p:sp>
        <p:nvSpPr>
          <p:cNvPr id="3" name="文本占位符 2"/>
          <p:cNvSpPr>
            <a:spLocks noGrp="1"/>
          </p:cNvSpPr>
          <p:nvPr>
            <p:ph type="body" idx="1"/>
          </p:nvPr>
        </p:nvSpPr>
        <p:spPr/>
        <p:txBody>
          <a:bodyPr/>
          <a:lstStyle/>
          <a:p>
            <a:r>
              <a:rPr lang="zh-CN" altLang="en-US" dirty="0" smtClean="0"/>
              <a:t>永续利用理论</a:t>
            </a:r>
            <a:endParaRPr lang="zh-CN" altLang="en-US" dirty="0"/>
          </a:p>
        </p:txBody>
      </p:sp>
      <p:sp>
        <p:nvSpPr>
          <p:cNvPr id="4" name="内容占位符 3"/>
          <p:cNvSpPr>
            <a:spLocks noGrp="1"/>
          </p:cNvSpPr>
          <p:nvPr>
            <p:ph sz="half" idx="2"/>
          </p:nvPr>
        </p:nvSpPr>
        <p:spPr/>
        <p:txBody>
          <a:bodyPr/>
          <a:lstStyle/>
          <a:p>
            <a:r>
              <a:rPr lang="zh-CN" altLang="en-US" dirty="0" smtClean="0"/>
              <a:t>以森林使用价值为取向</a:t>
            </a:r>
            <a:endParaRPr lang="en-US" altLang="zh-CN" dirty="0" smtClean="0"/>
          </a:p>
          <a:p>
            <a:r>
              <a:rPr lang="zh-CN" altLang="en-US" dirty="0" smtClean="0"/>
              <a:t>更多以木材生产和木材产品的最大产出为中心，把森林生态系统的其它产品和环境服务放在从属</a:t>
            </a:r>
            <a:r>
              <a:rPr lang="zh-CN" altLang="en-US" dirty="0"/>
              <a:t>位置</a:t>
            </a:r>
            <a:endParaRPr lang="zh-CN" altLang="en-US" dirty="0"/>
          </a:p>
        </p:txBody>
      </p:sp>
      <p:sp>
        <p:nvSpPr>
          <p:cNvPr id="5" name="文本占位符 4"/>
          <p:cNvSpPr>
            <a:spLocks noGrp="1"/>
          </p:cNvSpPr>
          <p:nvPr>
            <p:ph type="body" sz="quarter" idx="3"/>
          </p:nvPr>
        </p:nvSpPr>
        <p:spPr/>
        <p:txBody>
          <a:bodyPr/>
          <a:lstStyle/>
          <a:p>
            <a:r>
              <a:rPr lang="zh-CN" altLang="en-US" dirty="0" smtClean="0"/>
              <a:t>可持续经营理论</a:t>
            </a:r>
            <a:endParaRPr lang="zh-CN" altLang="en-US" dirty="0"/>
          </a:p>
        </p:txBody>
      </p:sp>
      <p:sp>
        <p:nvSpPr>
          <p:cNvPr id="6" name="内容占位符 5"/>
          <p:cNvSpPr>
            <a:spLocks noGrp="1"/>
          </p:cNvSpPr>
          <p:nvPr>
            <p:ph sz="quarter" idx="4"/>
          </p:nvPr>
        </p:nvSpPr>
        <p:spPr/>
        <p:txBody>
          <a:bodyPr/>
          <a:lstStyle/>
          <a:p>
            <a:r>
              <a:rPr lang="zh-CN" altLang="en-US" dirty="0" smtClean="0"/>
              <a:t>以森林本身的价值为取向</a:t>
            </a:r>
            <a:endParaRPr lang="en-US" altLang="zh-CN" dirty="0" smtClean="0"/>
          </a:p>
          <a:p>
            <a:r>
              <a:rPr lang="zh-CN" altLang="en-US" dirty="0" smtClean="0"/>
              <a:t>目的是通过对森林生态系统的管理，向社会提供可持续的福利，而非仅仅是某种物质产品</a:t>
            </a:r>
            <a:endParaRPr lang="en-US" altLang="zh-CN" dirty="0" smtClean="0"/>
          </a:p>
          <a:p>
            <a:pPr marL="0" indent="0">
              <a:buNone/>
            </a:pPr>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核心理论不同</a:t>
            </a:r>
            <a:endParaRPr lang="zh-CN" altLang="en-US" dirty="0"/>
          </a:p>
        </p:txBody>
      </p:sp>
      <p:sp>
        <p:nvSpPr>
          <p:cNvPr id="3" name="文本占位符 2"/>
          <p:cNvSpPr>
            <a:spLocks noGrp="1"/>
          </p:cNvSpPr>
          <p:nvPr>
            <p:ph type="body" idx="1"/>
          </p:nvPr>
        </p:nvSpPr>
        <p:spPr/>
        <p:txBody>
          <a:bodyPr/>
          <a:lstStyle/>
          <a:p>
            <a:r>
              <a:rPr lang="zh-CN" altLang="en-US" dirty="0" smtClean="0"/>
              <a:t>永续利用理论</a:t>
            </a:r>
            <a:endParaRPr lang="zh-CN" altLang="en-US" dirty="0"/>
          </a:p>
        </p:txBody>
      </p:sp>
      <p:sp>
        <p:nvSpPr>
          <p:cNvPr id="4" name="内容占位符 3"/>
          <p:cNvSpPr>
            <a:spLocks noGrp="1"/>
          </p:cNvSpPr>
          <p:nvPr>
            <p:ph sz="half" idx="2"/>
          </p:nvPr>
        </p:nvSpPr>
        <p:spPr/>
        <p:txBody>
          <a:bodyPr/>
          <a:lstStyle/>
          <a:p>
            <a:r>
              <a:rPr lang="zh-CN" altLang="en-US" dirty="0" smtClean="0"/>
              <a:t>法正林理论是森林永续利用的核心理论</a:t>
            </a:r>
            <a:endParaRPr lang="en-US" altLang="zh-CN" dirty="0" smtClean="0"/>
          </a:p>
          <a:p>
            <a:r>
              <a:rPr lang="zh-CN" altLang="en-US" dirty="0" smtClean="0"/>
              <a:t>以森林生长量和采伐量的产期稳定为基础，追求蓄积量的稳定性，追求森林龄级结构的稳定状态</a:t>
            </a:r>
            <a:endParaRPr lang="zh-CN" altLang="en-US" dirty="0"/>
          </a:p>
        </p:txBody>
      </p:sp>
      <p:sp>
        <p:nvSpPr>
          <p:cNvPr id="5" name="文本占位符 4"/>
          <p:cNvSpPr>
            <a:spLocks noGrp="1"/>
          </p:cNvSpPr>
          <p:nvPr>
            <p:ph type="body" sz="quarter" idx="3"/>
          </p:nvPr>
        </p:nvSpPr>
        <p:spPr/>
        <p:txBody>
          <a:bodyPr/>
          <a:lstStyle/>
          <a:p>
            <a:r>
              <a:rPr lang="zh-CN" altLang="en-US" dirty="0" smtClean="0"/>
              <a:t>可持续经营理论</a:t>
            </a:r>
            <a:endParaRPr lang="zh-CN" altLang="en-US" dirty="0"/>
          </a:p>
        </p:txBody>
      </p:sp>
      <p:sp>
        <p:nvSpPr>
          <p:cNvPr id="6" name="内容占位符 5"/>
          <p:cNvSpPr>
            <a:spLocks noGrp="1"/>
          </p:cNvSpPr>
          <p:nvPr>
            <p:ph sz="quarter" idx="4"/>
          </p:nvPr>
        </p:nvSpPr>
        <p:spPr/>
        <p:txBody>
          <a:bodyPr/>
          <a:lstStyle/>
          <a:p>
            <a:r>
              <a:rPr lang="zh-CN" altLang="en-US" dirty="0" smtClean="0"/>
              <a:t>结构与功能关系的协调是森林可持续经营的核心理论</a:t>
            </a:r>
            <a:endParaRPr lang="en-US" altLang="zh-CN" dirty="0" smtClean="0"/>
          </a:p>
          <a:p>
            <a:r>
              <a:rPr lang="zh-CN" altLang="en-US" dirty="0" smtClean="0"/>
              <a:t>以人为中心，强调代内的横向公平以及代际的纵向公平性</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技术保障体系不同</a:t>
            </a:r>
            <a:endParaRPr lang="zh-CN" altLang="en-US" dirty="0"/>
          </a:p>
        </p:txBody>
      </p:sp>
      <p:sp>
        <p:nvSpPr>
          <p:cNvPr id="3" name="文本占位符 2"/>
          <p:cNvSpPr>
            <a:spLocks noGrp="1"/>
          </p:cNvSpPr>
          <p:nvPr>
            <p:ph type="body" idx="1"/>
          </p:nvPr>
        </p:nvSpPr>
        <p:spPr/>
        <p:txBody>
          <a:bodyPr/>
          <a:lstStyle/>
          <a:p>
            <a:r>
              <a:rPr lang="zh-CN" altLang="en-US" dirty="0" smtClean="0"/>
              <a:t>永续利用理论</a:t>
            </a:r>
            <a:endParaRPr lang="zh-CN" altLang="en-US" dirty="0"/>
          </a:p>
        </p:txBody>
      </p:sp>
      <p:sp>
        <p:nvSpPr>
          <p:cNvPr id="4" name="内容占位符 3"/>
          <p:cNvSpPr>
            <a:spLocks noGrp="1"/>
          </p:cNvSpPr>
          <p:nvPr>
            <p:ph sz="half" idx="2"/>
          </p:nvPr>
        </p:nvSpPr>
        <p:spPr/>
        <p:txBody>
          <a:bodyPr/>
          <a:lstStyle/>
          <a:p>
            <a:r>
              <a:rPr lang="zh-CN" altLang="en-US" dirty="0" smtClean="0"/>
              <a:t>收获调整和森林蓄积量经营管理是永续利用的技术保障体系的核心</a:t>
            </a:r>
            <a:endParaRPr lang="zh-CN" altLang="en-US" dirty="0"/>
          </a:p>
        </p:txBody>
      </p:sp>
      <p:sp>
        <p:nvSpPr>
          <p:cNvPr id="5" name="文本占位符 4"/>
          <p:cNvSpPr>
            <a:spLocks noGrp="1"/>
          </p:cNvSpPr>
          <p:nvPr>
            <p:ph type="body" sz="quarter" idx="3"/>
          </p:nvPr>
        </p:nvSpPr>
        <p:spPr/>
        <p:txBody>
          <a:bodyPr/>
          <a:lstStyle/>
          <a:p>
            <a:r>
              <a:rPr lang="zh-CN" altLang="en-US" dirty="0" smtClean="0"/>
              <a:t>可持续经营理论</a:t>
            </a:r>
            <a:endParaRPr lang="zh-CN" altLang="en-US" dirty="0"/>
          </a:p>
        </p:txBody>
      </p:sp>
      <p:sp>
        <p:nvSpPr>
          <p:cNvPr id="6" name="内容占位符 5"/>
          <p:cNvSpPr>
            <a:spLocks noGrp="1"/>
          </p:cNvSpPr>
          <p:nvPr>
            <p:ph sz="quarter" idx="4"/>
          </p:nvPr>
        </p:nvSpPr>
        <p:spPr/>
        <p:txBody>
          <a:bodyPr/>
          <a:lstStyle/>
          <a:p>
            <a:r>
              <a:rPr lang="zh-CN" altLang="en-US" dirty="0" smtClean="0"/>
              <a:t>生态系统管理是森林可持续经营技术保障体系的核心</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评价尺度不同</a:t>
            </a:r>
            <a:endParaRPr lang="zh-CN" altLang="en-US" dirty="0"/>
          </a:p>
        </p:txBody>
      </p:sp>
      <p:sp>
        <p:nvSpPr>
          <p:cNvPr id="3" name="文本占位符 2"/>
          <p:cNvSpPr>
            <a:spLocks noGrp="1"/>
          </p:cNvSpPr>
          <p:nvPr>
            <p:ph type="body" idx="1"/>
          </p:nvPr>
        </p:nvSpPr>
        <p:spPr/>
        <p:txBody>
          <a:bodyPr/>
          <a:lstStyle/>
          <a:p>
            <a:r>
              <a:rPr lang="zh-CN" altLang="en-US" dirty="0" smtClean="0"/>
              <a:t>永续利用理论</a:t>
            </a:r>
            <a:endParaRPr lang="zh-CN" altLang="en-US" dirty="0"/>
          </a:p>
        </p:txBody>
      </p:sp>
      <p:sp>
        <p:nvSpPr>
          <p:cNvPr id="4" name="内容占位符 3"/>
          <p:cNvSpPr>
            <a:spLocks noGrp="1"/>
          </p:cNvSpPr>
          <p:nvPr>
            <p:ph sz="half" idx="2"/>
          </p:nvPr>
        </p:nvSpPr>
        <p:spPr/>
        <p:txBody>
          <a:bodyPr/>
          <a:lstStyle/>
          <a:p>
            <a:r>
              <a:rPr lang="zh-CN" altLang="en-US" dirty="0" smtClean="0"/>
              <a:t>法正林状态是评价永续利用行为的基本尺度</a:t>
            </a:r>
            <a:endParaRPr lang="zh-CN" altLang="en-US" dirty="0"/>
          </a:p>
        </p:txBody>
      </p:sp>
      <p:sp>
        <p:nvSpPr>
          <p:cNvPr id="5" name="文本占位符 4"/>
          <p:cNvSpPr>
            <a:spLocks noGrp="1"/>
          </p:cNvSpPr>
          <p:nvPr>
            <p:ph type="body" sz="quarter" idx="3"/>
          </p:nvPr>
        </p:nvSpPr>
        <p:spPr/>
        <p:txBody>
          <a:bodyPr/>
          <a:lstStyle/>
          <a:p>
            <a:r>
              <a:rPr lang="zh-CN" altLang="en-US" dirty="0" smtClean="0"/>
              <a:t>可持续经营理论</a:t>
            </a:r>
            <a:endParaRPr lang="zh-CN" altLang="en-US" dirty="0"/>
          </a:p>
        </p:txBody>
      </p:sp>
      <p:sp>
        <p:nvSpPr>
          <p:cNvPr id="6" name="内容占位符 5"/>
          <p:cNvSpPr>
            <a:spLocks noGrp="1"/>
          </p:cNvSpPr>
          <p:nvPr>
            <p:ph sz="quarter" idx="4"/>
          </p:nvPr>
        </p:nvSpPr>
        <p:spPr/>
        <p:txBody>
          <a:bodyPr/>
          <a:lstStyle/>
          <a:p>
            <a:r>
              <a:rPr lang="zh-CN" altLang="en-US" dirty="0" smtClean="0"/>
              <a:t>森林生态系统结构、功能、效用三者关系协调统一是评价森林可持续经营行为的基本尺度</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空间操作尺度不同</a:t>
            </a:r>
            <a:endParaRPr lang="zh-CN" altLang="en-US" dirty="0"/>
          </a:p>
        </p:txBody>
      </p:sp>
      <p:sp>
        <p:nvSpPr>
          <p:cNvPr id="3" name="文本占位符 2"/>
          <p:cNvSpPr>
            <a:spLocks noGrp="1"/>
          </p:cNvSpPr>
          <p:nvPr>
            <p:ph type="body" idx="1"/>
          </p:nvPr>
        </p:nvSpPr>
        <p:spPr/>
        <p:txBody>
          <a:bodyPr/>
          <a:lstStyle/>
          <a:p>
            <a:r>
              <a:rPr lang="zh-CN" altLang="en-US" dirty="0" smtClean="0"/>
              <a:t>永续利用理论</a:t>
            </a:r>
            <a:endParaRPr lang="zh-CN" altLang="en-US" dirty="0"/>
          </a:p>
        </p:txBody>
      </p:sp>
      <p:sp>
        <p:nvSpPr>
          <p:cNvPr id="4" name="内容占位符 3"/>
          <p:cNvSpPr>
            <a:spLocks noGrp="1"/>
          </p:cNvSpPr>
          <p:nvPr>
            <p:ph sz="half" idx="2"/>
          </p:nvPr>
        </p:nvSpPr>
        <p:spPr/>
        <p:txBody>
          <a:bodyPr/>
          <a:lstStyle/>
          <a:p>
            <a:r>
              <a:rPr lang="zh-CN" altLang="en-US" dirty="0" smtClean="0"/>
              <a:t>以林业经营或生产部门为空间范围的林业生产管理组织形式</a:t>
            </a:r>
            <a:endParaRPr lang="zh-CN" altLang="en-US" dirty="0"/>
          </a:p>
        </p:txBody>
      </p:sp>
      <p:sp>
        <p:nvSpPr>
          <p:cNvPr id="5" name="文本占位符 4"/>
          <p:cNvSpPr>
            <a:spLocks noGrp="1"/>
          </p:cNvSpPr>
          <p:nvPr>
            <p:ph type="body" sz="quarter" idx="3"/>
          </p:nvPr>
        </p:nvSpPr>
        <p:spPr/>
        <p:txBody>
          <a:bodyPr/>
          <a:lstStyle/>
          <a:p>
            <a:r>
              <a:rPr lang="zh-CN" altLang="en-US" dirty="0" smtClean="0"/>
              <a:t>可持续经营理论</a:t>
            </a:r>
            <a:endParaRPr lang="zh-CN" altLang="en-US" dirty="0"/>
          </a:p>
        </p:txBody>
      </p:sp>
      <p:sp>
        <p:nvSpPr>
          <p:cNvPr id="6" name="内容占位符 5"/>
          <p:cNvSpPr>
            <a:spLocks noGrp="1"/>
          </p:cNvSpPr>
          <p:nvPr>
            <p:ph sz="quarter" idx="4"/>
          </p:nvPr>
        </p:nvSpPr>
        <p:spPr/>
        <p:txBody>
          <a:bodyPr/>
          <a:lstStyle/>
          <a:p>
            <a:r>
              <a:rPr lang="zh-CN" altLang="en-US" dirty="0" smtClean="0"/>
              <a:t>建立在景观尺度上的林业生产的区域化、社会化管理组织形式。</a:t>
            </a:r>
            <a:endParaRPr lang="en-US" altLang="zh-CN" dirty="0" smtClean="0"/>
          </a:p>
          <a:p>
            <a:r>
              <a:rPr lang="zh-CN" altLang="en-US" dirty="0"/>
              <a:t>这</a:t>
            </a:r>
            <a:r>
              <a:rPr lang="zh-CN" altLang="en-US" dirty="0" smtClean="0"/>
              <a:t>一管理组织形式是以森林可持续经营的机制、功能、效用三者关系协调理论为基础的。</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森林认证</a:t>
            </a:r>
            <a:endParaRPr lang="zh-CN" altLang="en-US" dirty="0"/>
          </a:p>
        </p:txBody>
      </p:sp>
      <p:sp>
        <p:nvSpPr>
          <p:cNvPr id="3" name="内容占位符 2"/>
          <p:cNvSpPr>
            <a:spLocks noGrp="1"/>
          </p:cNvSpPr>
          <p:nvPr>
            <p:ph idx="1"/>
          </p:nvPr>
        </p:nvSpPr>
        <p:spPr/>
        <p:txBody>
          <a:bodyPr/>
          <a:lstStyle/>
          <a:p>
            <a:r>
              <a:rPr lang="zh-CN" altLang="en-US" dirty="0" smtClean="0"/>
              <a:t>一般由非政府组织发起</a:t>
            </a:r>
            <a:endParaRPr lang="en-US" altLang="zh-CN" dirty="0" smtClean="0"/>
          </a:p>
          <a:p>
            <a:r>
              <a:rPr lang="zh-CN" altLang="en-US" dirty="0" smtClean="0"/>
              <a:t>其本质是寻求一种依靠市场机制来实现森林可持续经营的治理结构</a:t>
            </a:r>
            <a:endParaRPr lang="en-US" altLang="zh-CN" dirty="0" smtClean="0"/>
          </a:p>
          <a:p>
            <a:r>
              <a:rPr lang="zh-CN" altLang="en-US" dirty="0" smtClean="0"/>
              <a:t>于</a:t>
            </a:r>
            <a:r>
              <a:rPr lang="en-US" altLang="zh-CN" dirty="0" smtClean="0"/>
              <a:t>20</a:t>
            </a:r>
            <a:r>
              <a:rPr lang="zh-CN" altLang="en-US" dirty="0" smtClean="0"/>
              <a:t>世纪</a:t>
            </a:r>
            <a:r>
              <a:rPr lang="en-US" altLang="zh-CN" dirty="0" smtClean="0"/>
              <a:t>90</a:t>
            </a:r>
            <a:r>
              <a:rPr lang="zh-CN" altLang="en-US" dirty="0" smtClean="0"/>
              <a:t>年代初逐渐兴起和发展起来</a:t>
            </a:r>
            <a:endParaRPr lang="en-US" altLang="zh-CN" dirty="0" smtClean="0"/>
          </a:p>
          <a:p>
            <a:r>
              <a:rPr lang="zh-CN" altLang="en-US" dirty="0" smtClean="0"/>
              <a:t>起初是源于对热带森林过度毁林和伴随而来的生物多样性损失的关注</a:t>
            </a:r>
            <a:endParaRPr lang="en-US" altLang="zh-CN" dirty="0" smtClean="0"/>
          </a:p>
          <a:p>
            <a:r>
              <a:rPr lang="zh-CN" altLang="en-US" dirty="0" smtClean="0"/>
              <a:t>但随后更大程度上在林产品工业生产国盛行</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森林认证的概念</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包括森林经营认证和产销监管链认证</a:t>
            </a:r>
            <a:endParaRPr lang="en-US" altLang="zh-CN" dirty="0" smtClean="0"/>
          </a:p>
          <a:p>
            <a:r>
              <a:rPr lang="zh-CN" altLang="en-US" dirty="0" smtClean="0"/>
              <a:t>森林经营认证针对森林经营单位，由独立第三方认证机构根据所制定的森林经营的标准，按照规定的和公认的程序对森林经营绩效进行审核，以证明其过程达到可持续经营或负责任经营的要求</a:t>
            </a:r>
            <a:endParaRPr lang="en-US" altLang="zh-CN" dirty="0" smtClean="0"/>
          </a:p>
          <a:p>
            <a:r>
              <a:rPr lang="zh-CN" altLang="en-US" dirty="0"/>
              <a:t>产销监管</a:t>
            </a:r>
            <a:r>
              <a:rPr lang="zh-CN" altLang="en-US" dirty="0" smtClean="0"/>
              <a:t>链认证是对林产品生产加工企业的各个环节进行跟踪，以确保其最终产品源自经过认证的经营良好的森林或其它符合要求的来源</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森林认证的要素</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标准：</a:t>
            </a:r>
            <a:endParaRPr lang="en-US" altLang="zh-CN" dirty="0" smtClean="0"/>
          </a:p>
          <a:p>
            <a:pPr lvl="1"/>
            <a:r>
              <a:rPr lang="zh-CN" altLang="en-US" dirty="0" smtClean="0"/>
              <a:t>规定了森林经营者通过认证必须达到的森林经营的要求，是认证评估的基础</a:t>
            </a:r>
            <a:endParaRPr lang="en-US" altLang="zh-CN" dirty="0" smtClean="0"/>
          </a:p>
          <a:p>
            <a:r>
              <a:rPr lang="zh-CN" altLang="en-US" dirty="0" smtClean="0"/>
              <a:t>认证</a:t>
            </a:r>
            <a:endParaRPr lang="en-US" altLang="zh-CN" dirty="0" smtClean="0"/>
          </a:p>
          <a:p>
            <a:pPr lvl="1"/>
            <a:r>
              <a:rPr lang="zh-CN" altLang="en-US" dirty="0" smtClean="0"/>
              <a:t>由认证机构验证森林经营单位或企业是否达到认证标准要求的过程</a:t>
            </a:r>
            <a:endParaRPr lang="en-US" altLang="zh-CN" dirty="0" smtClean="0"/>
          </a:p>
          <a:p>
            <a:r>
              <a:rPr lang="zh-CN" altLang="en-US" dirty="0" smtClean="0"/>
              <a:t>认可</a:t>
            </a:r>
            <a:endParaRPr lang="en-US" altLang="zh-CN" dirty="0" smtClean="0"/>
          </a:p>
          <a:p>
            <a:pPr lvl="1"/>
            <a:r>
              <a:rPr lang="zh-CN" altLang="en-US" dirty="0" smtClean="0"/>
              <a:t>对认证机构的能力、可靠性和独立性进行认定，以提高第三方认证机构的可信度</a:t>
            </a:r>
            <a:endParaRPr lang="en-US" altLang="zh-CN" dirty="0" smtClean="0"/>
          </a:p>
          <a:p>
            <a:r>
              <a:rPr lang="zh-CN" altLang="en-US" dirty="0" smtClean="0"/>
              <a:t>认证声明：</a:t>
            </a:r>
            <a:endParaRPr lang="en-US" altLang="zh-CN" dirty="0" smtClean="0"/>
          </a:p>
          <a:p>
            <a:pPr lvl="1"/>
            <a:r>
              <a:rPr lang="zh-CN" altLang="en-US" dirty="0"/>
              <a:t>建立</a:t>
            </a:r>
            <a:r>
              <a:rPr lang="zh-CN" altLang="en-US" dirty="0" smtClean="0"/>
              <a:t>产品跟踪和标签体系，及产销监管认证制度和标签制度</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600" dirty="0" smtClean="0"/>
              <a:t>FSC</a:t>
            </a:r>
            <a:r>
              <a:rPr lang="zh-CN" altLang="en-US" sz="3600" dirty="0" smtClean="0"/>
              <a:t>全球森林认证体系（</a:t>
            </a:r>
            <a:r>
              <a:rPr lang="en-US" altLang="zh-CN" sz="3600" dirty="0" smtClean="0"/>
              <a:t>Forest Stewardship Council</a:t>
            </a:r>
            <a:r>
              <a:rPr lang="zh-CN" altLang="en-US" sz="3600" dirty="0" smtClean="0"/>
              <a:t>）</a:t>
            </a:r>
            <a:endParaRPr lang="zh-CN" altLang="en-US" sz="3600" dirty="0"/>
          </a:p>
        </p:txBody>
      </p:sp>
      <p:sp>
        <p:nvSpPr>
          <p:cNvPr id="3" name="内容占位符 2"/>
          <p:cNvSpPr>
            <a:spLocks noGrp="1"/>
          </p:cNvSpPr>
          <p:nvPr>
            <p:ph idx="1"/>
          </p:nvPr>
        </p:nvSpPr>
        <p:spPr/>
        <p:txBody>
          <a:bodyPr/>
          <a:lstStyle/>
          <a:p>
            <a:r>
              <a:rPr lang="zh-CN" altLang="en-US" dirty="0" smtClean="0"/>
              <a:t>是目前世界上最严格和可靠的认证体系之一</a:t>
            </a:r>
            <a:endParaRPr lang="en-US" altLang="zh-CN" dirty="0" smtClean="0"/>
          </a:p>
          <a:p>
            <a:r>
              <a:rPr lang="zh-CN" altLang="en-US" dirty="0" smtClean="0"/>
              <a:t>制定了全球统一的</a:t>
            </a:r>
            <a:r>
              <a:rPr lang="en-US" altLang="zh-CN" dirty="0" smtClean="0"/>
              <a:t>FSC</a:t>
            </a:r>
            <a:r>
              <a:rPr lang="zh-CN" altLang="en-US" dirty="0" smtClean="0"/>
              <a:t>原则与标准，通过其认可的认证机构来认证森林，并提供全球统一的</a:t>
            </a:r>
            <a:r>
              <a:rPr lang="en-US" altLang="zh-CN" dirty="0" smtClean="0"/>
              <a:t>FSC</a:t>
            </a:r>
            <a:r>
              <a:rPr lang="zh-CN" altLang="en-US" dirty="0" smtClean="0"/>
              <a:t>认证标志</a:t>
            </a:r>
            <a:endParaRPr lang="en-US" altLang="zh-CN" dirty="0" smtClean="0"/>
          </a:p>
          <a:p>
            <a:r>
              <a:rPr lang="zh-CN" altLang="en-US" dirty="0"/>
              <a:t>成立</a:t>
            </a:r>
            <a:r>
              <a:rPr lang="zh-CN" altLang="en-US" dirty="0" smtClean="0"/>
              <a:t>于</a:t>
            </a:r>
            <a:r>
              <a:rPr lang="en-US" altLang="zh-CN" dirty="0" smtClean="0"/>
              <a:t>1993</a:t>
            </a:r>
            <a:r>
              <a:rPr lang="zh-CN" altLang="en-US" dirty="0" smtClean="0"/>
              <a:t>年，由非政府组织发起</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直角三角形 6"/>
          <p:cNvSpPr/>
          <p:nvPr/>
        </p:nvSpPr>
        <p:spPr>
          <a:xfrm flipV="1">
            <a:off x="7660364" y="3501008"/>
            <a:ext cx="79989" cy="124937"/>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flipH="1" flipV="1">
            <a:off x="899592" y="3500389"/>
            <a:ext cx="152276" cy="125555"/>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stretch>
            <a:fillRect/>
          </a:stretch>
        </p:blipFill>
        <p:spPr>
          <a:xfrm>
            <a:off x="1043607" y="476672"/>
            <a:ext cx="6616757" cy="5737654"/>
          </a:xfrm>
          <a:prstGeom prst="rect">
            <a:avLst/>
          </a:prstGeom>
        </p:spPr>
      </p:pic>
      <p:sp>
        <p:nvSpPr>
          <p:cNvPr id="2" name="标题 1"/>
          <p:cNvSpPr>
            <a:spLocks noGrp="1"/>
          </p:cNvSpPr>
          <p:nvPr>
            <p:ph type="title"/>
          </p:nvPr>
        </p:nvSpPr>
        <p:spPr>
          <a:xfrm>
            <a:off x="899592" y="2492896"/>
            <a:ext cx="6840760" cy="1000108"/>
          </a:xfrm>
          <a:prstGeom prst="roundRect">
            <a:avLst>
              <a:gd name="adj" fmla="val 5910"/>
            </a:avLst>
          </a:prstGeom>
          <a:gradFill>
            <a:gsLst>
              <a:gs pos="0">
                <a:schemeClr val="bg1"/>
              </a:gs>
              <a:gs pos="100000">
                <a:srgbClr val="8E5ED4">
                  <a:alpha val="45000"/>
                </a:srgbClr>
              </a:gs>
            </a:gsLst>
            <a:lin ang="5400000" scaled="1"/>
          </a:gradFill>
          <a:effectLst>
            <a:outerShdw blurRad="50800" dist="38100" dir="5400000" algn="t" rotWithShape="0">
              <a:prstClr val="black">
                <a:alpha val="40000"/>
              </a:prstClr>
            </a:outerShdw>
          </a:effectLst>
        </p:spPr>
        <p:txBody>
          <a:bodyPr>
            <a:scene3d>
              <a:camera prst="orthographicFront"/>
              <a:lightRig rig="threePt" dir="t"/>
            </a:scene3d>
            <a:sp3d>
              <a:bevelT w="44450" h="44450"/>
            </a:sp3d>
          </a:bodyPr>
          <a:lstStyle/>
          <a:p>
            <a:r>
              <a:rPr lang="en-US" altLang="zh-CN" b="1" dirty="0">
                <a:gradFill flip="none" rotWithShape="1">
                  <a:gsLst>
                    <a:gs pos="0">
                      <a:schemeClr val="bg1"/>
                    </a:gs>
                    <a:gs pos="34000">
                      <a:schemeClr val="accent4">
                        <a:lumMod val="80000"/>
                        <a:lumOff val="20000"/>
                        <a:alpha val="65000"/>
                      </a:schemeClr>
                    </a:gs>
                  </a:gsLst>
                  <a:lin ang="18900000" scaled="1"/>
                  <a:tileRect/>
                </a:gradFill>
              </a:rPr>
              <a:t>http://info.fsc.org/</a:t>
            </a:r>
            <a:endParaRPr lang="zh-CN" altLang="en-US" b="1" dirty="0">
              <a:gradFill flip="none" rotWithShape="1">
                <a:gsLst>
                  <a:gs pos="0">
                    <a:schemeClr val="bg1"/>
                  </a:gs>
                  <a:gs pos="34000">
                    <a:schemeClr val="accent4">
                      <a:lumMod val="80000"/>
                      <a:lumOff val="20000"/>
                      <a:alpha val="65000"/>
                    </a:schemeClr>
                  </a:gs>
                </a:gsLst>
                <a:lin ang="18900000" scaled="1"/>
                <a:tileRect/>
              </a:gra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500034" y="188640"/>
            <a:ext cx="8010273" cy="6493116"/>
          </a:xfrm>
          <a:prstGeom prst="rect">
            <a:avLst/>
          </a:prstGeom>
        </p:spPr>
      </p:pic>
      <p:sp>
        <p:nvSpPr>
          <p:cNvPr id="5" name="标题 1"/>
          <p:cNvSpPr txBox="1"/>
          <p:nvPr/>
        </p:nvSpPr>
        <p:spPr>
          <a:xfrm>
            <a:off x="899592" y="2492896"/>
            <a:ext cx="6840760" cy="1000108"/>
          </a:xfrm>
          <a:prstGeom prst="roundRect">
            <a:avLst>
              <a:gd name="adj" fmla="val 5910"/>
            </a:avLst>
          </a:prstGeom>
          <a:gradFill>
            <a:gsLst>
              <a:gs pos="0">
                <a:schemeClr val="bg1"/>
              </a:gs>
              <a:gs pos="100000">
                <a:srgbClr val="8E5ED4">
                  <a:alpha val="45000"/>
                </a:srgbClr>
              </a:gs>
            </a:gsLst>
            <a:lin ang="5400000" scaled="1"/>
          </a:gradFill>
          <a:effectLst>
            <a:outerShdw blurRad="50800" dist="38100" dir="5400000" algn="t" rotWithShape="0">
              <a:prstClr val="black">
                <a:alpha val="40000"/>
              </a:prstClr>
            </a:outerShdw>
          </a:effectLst>
        </p:spPr>
        <p:txBody>
          <a:bodyPr vert="horz" lIns="91440" tIns="45720" rIns="91440" bIns="45720" rtlCol="0" anchor="ctr">
            <a:normAutofit/>
            <a:scene3d>
              <a:camera prst="orthographicFront"/>
              <a:lightRig rig="threePt" dir="t"/>
            </a:scene3d>
            <a:sp3d>
              <a:bevelT w="44450" h="44450"/>
            </a:sp3d>
          </a:bodyPr>
          <a:lstStyle>
            <a:lvl1pPr algn="ctr" rtl="0" fontAlgn="base">
              <a:spcBef>
                <a:spcPct val="0"/>
              </a:spcBef>
              <a:spcAft>
                <a:spcPct val="0"/>
              </a:spcAft>
              <a:defRPr sz="4600" kern="1200" baseline="0">
                <a:solidFill>
                  <a:schemeClr val="bg1"/>
                </a:solidFill>
                <a:effectLst>
                  <a:outerShdw blurRad="38100" dist="38100" dir="2700000" algn="tl">
                    <a:srgbClr val="000000">
                      <a:alpha val="43137"/>
                    </a:srgbClr>
                  </a:outerShdw>
                </a:effectLst>
                <a:latin typeface="Berlin Sans FB Demi" pitchFamily="34" charset="0"/>
                <a:ea typeface="隶书" pitchFamily="49" charset="-122"/>
                <a:cs typeface="+mj-cs"/>
              </a:defRPr>
            </a:lvl1pPr>
            <a:lvl2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2pPr>
            <a:lvl3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3pPr>
            <a:lvl4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4pPr>
            <a:lvl5pPr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Berlin Sans FB Demi" pitchFamily="34" charset="0"/>
                <a:ea typeface="宋体" panose="02010600030101010101" pitchFamily="2" charset="-122"/>
              </a:defRPr>
            </a:lvl9pPr>
          </a:lstStyle>
          <a:p>
            <a:r>
              <a:rPr lang="en-US" altLang="zh-CN" b="1" dirty="0" smtClean="0">
                <a:gradFill flip="none" rotWithShape="1">
                  <a:gsLst>
                    <a:gs pos="0">
                      <a:schemeClr val="bg1"/>
                    </a:gs>
                    <a:gs pos="34000">
                      <a:schemeClr val="accent4">
                        <a:lumMod val="80000"/>
                        <a:lumOff val="20000"/>
                        <a:alpha val="65000"/>
                      </a:schemeClr>
                    </a:gs>
                  </a:gsLst>
                  <a:lin ang="18900000" scaled="1"/>
                  <a:tileRect/>
                </a:gradFill>
              </a:rPr>
              <a:t>http://cn.fsc.org/</a:t>
            </a:r>
            <a:endParaRPr lang="zh-CN" altLang="en-US" b="1" dirty="0">
              <a:gradFill flip="none" rotWithShape="1">
                <a:gsLst>
                  <a:gs pos="0">
                    <a:schemeClr val="bg1"/>
                  </a:gs>
                  <a:gs pos="34000">
                    <a:schemeClr val="accent4">
                      <a:lumMod val="80000"/>
                      <a:lumOff val="20000"/>
                      <a:alpha val="65000"/>
                    </a:schemeClr>
                  </a:gs>
                </a:gsLst>
                <a:lin ang="18900000" scaled="1"/>
                <a:tileRect/>
              </a:gra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200" dirty="0"/>
              <a:t>Ten rules for responsible forest management</a:t>
            </a:r>
            <a:endParaRPr lang="zh-CN" altLang="en-US" sz="3200" dirty="0"/>
          </a:p>
        </p:txBody>
      </p:sp>
      <p:sp>
        <p:nvSpPr>
          <p:cNvPr id="3" name="内容占位符 2"/>
          <p:cNvSpPr>
            <a:spLocks noGrp="1"/>
          </p:cNvSpPr>
          <p:nvPr>
            <p:ph idx="1"/>
          </p:nvPr>
        </p:nvSpPr>
        <p:spPr/>
        <p:txBody>
          <a:bodyPr>
            <a:normAutofit fontScale="40000" lnSpcReduction="20000"/>
          </a:bodyPr>
          <a:lstStyle/>
          <a:p>
            <a:r>
              <a:rPr lang="en-US" altLang="zh-CN" b="1" dirty="0"/>
              <a:t>Principle 1:</a:t>
            </a:r>
            <a:r>
              <a:rPr lang="en-US" altLang="zh-CN" dirty="0"/>
              <a:t> Compliance with laws and FSC Principles – to comply with all laws, regulations, treaties, conventions and agreements, together with all FSC Principles and Criteria.</a:t>
            </a:r>
            <a:br>
              <a:rPr lang="en-US" altLang="zh-CN" dirty="0"/>
            </a:br>
            <a:br>
              <a:rPr lang="en-US" altLang="zh-CN" dirty="0"/>
            </a:br>
            <a:r>
              <a:rPr lang="en-US" altLang="zh-CN" b="1" dirty="0"/>
              <a:t>Principle 2:</a:t>
            </a:r>
            <a:r>
              <a:rPr lang="en-US" altLang="zh-CN" dirty="0"/>
              <a:t> Tenure and use rights and responsibilities – to define, document and legally establish long-term tenure and use rights.</a:t>
            </a:r>
            <a:br>
              <a:rPr lang="en-US" altLang="zh-CN" dirty="0"/>
            </a:br>
            <a:br>
              <a:rPr lang="en-US" altLang="zh-CN" dirty="0"/>
            </a:br>
            <a:r>
              <a:rPr lang="en-US" altLang="zh-CN" b="1" dirty="0"/>
              <a:t>Principle 3:</a:t>
            </a:r>
            <a:r>
              <a:rPr lang="en-US" altLang="zh-CN" dirty="0"/>
              <a:t> Indigenous peoples’ rights – to identify and uphold indigenous peoples’ rights of ownership and use of land and resources.</a:t>
            </a:r>
            <a:br>
              <a:rPr lang="en-US" altLang="zh-CN" dirty="0"/>
            </a:br>
            <a:br>
              <a:rPr lang="en-US" altLang="zh-CN" dirty="0"/>
            </a:br>
            <a:r>
              <a:rPr lang="en-US" altLang="zh-CN" b="1" dirty="0"/>
              <a:t>Principle 4:</a:t>
            </a:r>
            <a:r>
              <a:rPr lang="en-US" altLang="zh-CN" dirty="0"/>
              <a:t> Community relations and worker's rights – to maintain or enhance forest workers' and local communities’ social and economic well-being.</a:t>
            </a:r>
            <a:br>
              <a:rPr lang="en-US" altLang="zh-CN" dirty="0"/>
            </a:br>
            <a:br>
              <a:rPr lang="en-US" altLang="zh-CN" dirty="0"/>
            </a:br>
            <a:r>
              <a:rPr lang="en-US" altLang="zh-CN" b="1" dirty="0"/>
              <a:t>Principle 5:</a:t>
            </a:r>
            <a:r>
              <a:rPr lang="en-US" altLang="zh-CN" dirty="0"/>
              <a:t> Benefits from the forest – to maintain or enhance long term economic, social and environmental benefits from the forest.</a:t>
            </a:r>
            <a:br>
              <a:rPr lang="en-US" altLang="zh-CN" dirty="0"/>
            </a:br>
            <a:br>
              <a:rPr lang="en-US" altLang="zh-CN" dirty="0"/>
            </a:br>
            <a:r>
              <a:rPr lang="en-US" altLang="zh-CN" b="1" dirty="0"/>
              <a:t>Principle 6:</a:t>
            </a:r>
            <a:r>
              <a:rPr lang="en-US" altLang="zh-CN" dirty="0"/>
              <a:t> Environmental impact – to maintain or restore the ecosystem, its biodiversity, resources and landscapes.</a:t>
            </a:r>
            <a:br>
              <a:rPr lang="en-US" altLang="zh-CN" dirty="0"/>
            </a:br>
            <a:br>
              <a:rPr lang="en-US" altLang="zh-CN" dirty="0"/>
            </a:br>
            <a:r>
              <a:rPr lang="en-US" altLang="zh-CN" b="1" dirty="0"/>
              <a:t>Principle 7:</a:t>
            </a:r>
            <a:r>
              <a:rPr lang="en-US" altLang="zh-CN" dirty="0"/>
              <a:t> Management plan – to have a management plan, implemented, monitored and documented.</a:t>
            </a:r>
            <a:br>
              <a:rPr lang="en-US" altLang="zh-CN" dirty="0"/>
            </a:br>
            <a:br>
              <a:rPr lang="en-US" altLang="zh-CN" dirty="0"/>
            </a:br>
            <a:r>
              <a:rPr lang="en-US" altLang="zh-CN" b="1" dirty="0"/>
              <a:t>Principle 8:</a:t>
            </a:r>
            <a:r>
              <a:rPr lang="en-US" altLang="zh-CN" dirty="0"/>
              <a:t> Monitoring and assessment – to demonstrate progress towards management objectives.</a:t>
            </a:r>
            <a:br>
              <a:rPr lang="en-US" altLang="zh-CN" dirty="0"/>
            </a:br>
            <a:br>
              <a:rPr lang="en-US" altLang="zh-CN" dirty="0"/>
            </a:br>
            <a:r>
              <a:rPr lang="en-US" altLang="zh-CN" b="1" dirty="0"/>
              <a:t>Principle 9:</a:t>
            </a:r>
            <a:r>
              <a:rPr lang="en-US" altLang="zh-CN" dirty="0"/>
              <a:t> Maintenance of high conservation value forests – to maintain or enhance the attributes which define such forests.</a:t>
            </a:r>
            <a:br>
              <a:rPr lang="en-US" altLang="zh-CN" dirty="0"/>
            </a:br>
            <a:br>
              <a:rPr lang="en-US" altLang="zh-CN" dirty="0"/>
            </a:br>
            <a:r>
              <a:rPr lang="en-US" altLang="zh-CN" b="1" dirty="0"/>
              <a:t>Principle 10:</a:t>
            </a:r>
            <a:r>
              <a:rPr lang="en-US" altLang="zh-CN" dirty="0"/>
              <a:t> Plantations – to plan and manage plantations in accordance with FSC Principles and Criteria.</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FSC</a:t>
            </a:r>
            <a:r>
              <a:rPr lang="zh-CN" altLang="en-US" dirty="0" smtClean="0"/>
              <a:t>森林管理的十项原则</a:t>
            </a:r>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dirty="0" smtClean="0"/>
              <a:t>1</a:t>
            </a:r>
            <a:r>
              <a:rPr lang="zh-CN" altLang="en-US" dirty="0" smtClean="0"/>
              <a:t>、遵守法律及</a:t>
            </a:r>
            <a:r>
              <a:rPr lang="en-US" altLang="zh-CN" dirty="0" smtClean="0"/>
              <a:t>FSC</a:t>
            </a:r>
            <a:r>
              <a:rPr lang="zh-CN" altLang="en-US" dirty="0" smtClean="0"/>
              <a:t>的原则。</a:t>
            </a:r>
            <a:endParaRPr lang="en-US" altLang="zh-CN" dirty="0" smtClean="0"/>
          </a:p>
          <a:p>
            <a:pPr lvl="1"/>
            <a:r>
              <a:rPr lang="zh-CN" altLang="en-US" dirty="0" smtClean="0"/>
              <a:t>森林经营应遵守所在国法律及其国家签署的国际公约和协议，并遵守</a:t>
            </a:r>
            <a:r>
              <a:rPr lang="en-US" altLang="zh-CN" dirty="0" smtClean="0"/>
              <a:t>FSC</a:t>
            </a:r>
            <a:r>
              <a:rPr lang="zh-CN" altLang="en-US" dirty="0" smtClean="0"/>
              <a:t>的所有原则和标准</a:t>
            </a:r>
            <a:endParaRPr lang="en-US" altLang="zh-CN" dirty="0" smtClean="0"/>
          </a:p>
          <a:p>
            <a:r>
              <a:rPr lang="en-US" altLang="zh-CN" dirty="0" smtClean="0"/>
              <a:t>2</a:t>
            </a:r>
            <a:r>
              <a:rPr lang="zh-CN" altLang="en-US" dirty="0" smtClean="0"/>
              <a:t>、所有权、使用权及责任</a:t>
            </a:r>
            <a:endParaRPr lang="en-US" altLang="zh-CN" dirty="0" smtClean="0"/>
          </a:p>
          <a:p>
            <a:pPr lvl="1"/>
            <a:r>
              <a:rPr lang="zh-CN" altLang="en-US" dirty="0" smtClean="0"/>
              <a:t>对土地及森林资源的长期所有权和使用权应明确界定，建档并形成法律文件</a:t>
            </a:r>
            <a:endParaRPr lang="en-US" altLang="zh-CN" dirty="0" smtClean="0"/>
          </a:p>
          <a:p>
            <a:r>
              <a:rPr lang="en-US" altLang="zh-CN" dirty="0" smtClean="0"/>
              <a:t>3</a:t>
            </a:r>
            <a:r>
              <a:rPr lang="zh-CN" altLang="en-US" dirty="0" smtClean="0"/>
              <a:t>、原住居民的权利</a:t>
            </a:r>
            <a:endParaRPr lang="en-US" altLang="zh-CN" dirty="0" smtClean="0"/>
          </a:p>
          <a:p>
            <a:pPr lvl="1"/>
            <a:r>
              <a:rPr lang="zh-CN" altLang="en-US" dirty="0" smtClean="0"/>
              <a:t>应当承认并尊重当地居民拥有、使用和经营其土地、领地及资源的法定及传统权利</a:t>
            </a:r>
            <a:endParaRPr lang="en-US" altLang="zh-CN" dirty="0" smtClean="0"/>
          </a:p>
          <a:p>
            <a:r>
              <a:rPr lang="en-US" altLang="zh-CN" dirty="0" smtClean="0"/>
              <a:t>4</a:t>
            </a:r>
            <a:r>
              <a:rPr lang="zh-CN" altLang="en-US" dirty="0" smtClean="0"/>
              <a:t>、社区关系和劳动者的权利</a:t>
            </a:r>
            <a:endParaRPr lang="en-US" altLang="zh-CN" dirty="0" smtClean="0"/>
          </a:p>
          <a:p>
            <a:pPr lvl="1"/>
            <a:r>
              <a:rPr lang="zh-CN" altLang="en-US" dirty="0" smtClean="0"/>
              <a:t>森林经营活动应维护或提高森林劳动者和当地社区长期的社会及经济利益</a:t>
            </a:r>
            <a:endParaRPr lang="en-US" altLang="zh-CN" dirty="0" smtClean="0"/>
          </a:p>
          <a:p>
            <a:r>
              <a:rPr lang="en-US" altLang="zh-CN" dirty="0" smtClean="0"/>
              <a:t>5</a:t>
            </a:r>
            <a:r>
              <a:rPr lang="zh-CN" altLang="en-US" dirty="0" smtClean="0"/>
              <a:t>、森林带来的收益</a:t>
            </a:r>
            <a:endParaRPr lang="en-US" altLang="zh-CN" dirty="0" smtClean="0"/>
          </a:p>
          <a:p>
            <a:pPr lvl="1"/>
            <a:r>
              <a:rPr lang="zh-CN" altLang="en-US" dirty="0" smtClean="0"/>
              <a:t>森林经营活动应鼓励有效利用森林的多种产品和服务，以确保森林的经济效益、广泛的社会效益及环境效益</a:t>
            </a:r>
            <a:endParaRPr lang="en-US" altLang="zh-CN" dirty="0" smtClean="0"/>
          </a:p>
          <a:p>
            <a:pPr lvl="1"/>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FSC</a:t>
            </a:r>
            <a:r>
              <a:rPr lang="zh-CN" altLang="en-US" dirty="0"/>
              <a:t>森林管理的十项原则</a:t>
            </a:r>
            <a:endParaRPr lang="zh-CN" altLang="en-US" dirty="0"/>
          </a:p>
        </p:txBody>
      </p:sp>
      <p:sp>
        <p:nvSpPr>
          <p:cNvPr id="3" name="内容占位符 2"/>
          <p:cNvSpPr>
            <a:spLocks noGrp="1"/>
          </p:cNvSpPr>
          <p:nvPr>
            <p:ph idx="1"/>
          </p:nvPr>
        </p:nvSpPr>
        <p:spPr>
          <a:xfrm>
            <a:off x="457200" y="1089027"/>
            <a:ext cx="8272434" cy="5364309"/>
          </a:xfrm>
        </p:spPr>
        <p:txBody>
          <a:bodyPr>
            <a:normAutofit fontScale="70000" lnSpcReduction="20000"/>
          </a:bodyPr>
          <a:lstStyle/>
          <a:p>
            <a:r>
              <a:rPr lang="en-US" altLang="zh-CN" dirty="0" smtClean="0"/>
              <a:t>6</a:t>
            </a:r>
            <a:r>
              <a:rPr lang="zh-CN" altLang="en-US" dirty="0" smtClean="0"/>
              <a:t>、环境影响</a:t>
            </a:r>
            <a:endParaRPr lang="en-US" altLang="zh-CN" dirty="0" smtClean="0"/>
          </a:p>
          <a:p>
            <a:pPr lvl="1"/>
            <a:r>
              <a:rPr lang="zh-CN" altLang="en-US" dirty="0" smtClean="0"/>
              <a:t>森林经营应保护生物多样性及相关的价值，如水资源、土壤及独特和脆弱的生态系统与景观的价值，并以此来保持森林的生态功能及其完整性</a:t>
            </a:r>
            <a:endParaRPr lang="en-US" altLang="zh-CN" dirty="0" smtClean="0"/>
          </a:p>
          <a:p>
            <a:r>
              <a:rPr lang="en-US" altLang="zh-CN" dirty="0" smtClean="0"/>
              <a:t>7</a:t>
            </a:r>
            <a:r>
              <a:rPr lang="zh-CN" altLang="en-US" dirty="0" smtClean="0"/>
              <a:t>、经营规划</a:t>
            </a:r>
            <a:endParaRPr lang="en-US" altLang="zh-CN" dirty="0" smtClean="0"/>
          </a:p>
          <a:p>
            <a:pPr lvl="1"/>
            <a:r>
              <a:rPr lang="zh-CN" altLang="en-US" dirty="0"/>
              <a:t>应当制定</a:t>
            </a:r>
            <a:r>
              <a:rPr lang="zh-CN" altLang="en-US" dirty="0" smtClean="0"/>
              <a:t>和执行与森林经营规模和强度相适应的森林经营方案，并随时进行修改。应清楚地阐述经营的长期目标及实现这些目标的手段。</a:t>
            </a:r>
            <a:endParaRPr lang="en-US" altLang="zh-CN" dirty="0" smtClean="0"/>
          </a:p>
          <a:p>
            <a:r>
              <a:rPr lang="en-US" altLang="zh-CN" dirty="0" smtClean="0"/>
              <a:t>8</a:t>
            </a:r>
            <a:r>
              <a:rPr lang="zh-CN" altLang="en-US" dirty="0" smtClean="0"/>
              <a:t>、监测与评估</a:t>
            </a:r>
            <a:endParaRPr lang="en-US" altLang="zh-CN" dirty="0" smtClean="0"/>
          </a:p>
          <a:p>
            <a:pPr lvl="1"/>
            <a:r>
              <a:rPr lang="zh-CN" altLang="en-US" dirty="0" smtClean="0"/>
              <a:t>应按照森林经营的规模和强度进行监测，以评估森林状况，林产品产量、产销监管链、经营活动及其社会与环境影响。</a:t>
            </a:r>
            <a:endParaRPr lang="en-US" altLang="zh-CN" dirty="0" smtClean="0"/>
          </a:p>
          <a:p>
            <a:r>
              <a:rPr lang="en-US" altLang="zh-CN" dirty="0" smtClean="0"/>
              <a:t>9</a:t>
            </a:r>
            <a:r>
              <a:rPr lang="zh-CN" altLang="en-US" dirty="0" smtClean="0"/>
              <a:t>、维护高保护价值森林</a:t>
            </a:r>
            <a:endParaRPr lang="en-US" altLang="zh-CN" dirty="0" smtClean="0"/>
          </a:p>
          <a:p>
            <a:pPr lvl="1"/>
            <a:r>
              <a:rPr lang="zh-CN" altLang="en-US" dirty="0" smtClean="0"/>
              <a:t>在高保护价值森林中进行经营活动，应维护或加强这些森林的特征，并始终要以预防的方法来考虑关于高保护价值森林的各种决策。</a:t>
            </a:r>
            <a:endParaRPr lang="en-US" altLang="zh-CN" dirty="0" smtClean="0"/>
          </a:p>
          <a:p>
            <a:r>
              <a:rPr lang="en-US" altLang="zh-CN" dirty="0" smtClean="0"/>
              <a:t>10</a:t>
            </a:r>
            <a:r>
              <a:rPr lang="zh-CN" altLang="en-US" dirty="0" smtClean="0"/>
              <a:t>、人工林</a:t>
            </a:r>
            <a:endParaRPr lang="en-US" altLang="zh-CN" dirty="0" smtClean="0"/>
          </a:p>
          <a:p>
            <a:pPr lvl="1"/>
            <a:r>
              <a:rPr lang="zh-CN" altLang="en-US" dirty="0" smtClean="0"/>
              <a:t>应按照原则</a:t>
            </a:r>
            <a:r>
              <a:rPr lang="en-US" altLang="zh-CN" dirty="0" smtClean="0"/>
              <a:t>1-</a:t>
            </a:r>
            <a:r>
              <a:rPr lang="zh-CN" altLang="en-US" dirty="0" smtClean="0"/>
              <a:t>原则</a:t>
            </a:r>
            <a:r>
              <a:rPr lang="en-US" altLang="zh-CN" dirty="0" smtClean="0"/>
              <a:t>9</a:t>
            </a:r>
            <a:r>
              <a:rPr lang="zh-CN" altLang="en-US" dirty="0" smtClean="0"/>
              <a:t>及其标准来规划和经营人工林。</a:t>
            </a:r>
            <a:endParaRPr lang="en-US" altLang="zh-CN" dirty="0" smtClean="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森林认证的动力</a:t>
            </a:r>
            <a:endParaRPr lang="zh-CN" altLang="en-US" dirty="0"/>
          </a:p>
        </p:txBody>
      </p:sp>
      <p:sp>
        <p:nvSpPr>
          <p:cNvPr id="3" name="内容占位符 2"/>
          <p:cNvSpPr>
            <a:spLocks noGrp="1"/>
          </p:cNvSpPr>
          <p:nvPr>
            <p:ph idx="1"/>
          </p:nvPr>
        </p:nvSpPr>
        <p:spPr>
          <a:xfrm>
            <a:off x="457200" y="1089027"/>
            <a:ext cx="8272434" cy="5004269"/>
          </a:xfrm>
        </p:spPr>
        <p:txBody>
          <a:bodyPr>
            <a:normAutofit fontScale="92500" lnSpcReduction="20000"/>
          </a:bodyPr>
          <a:lstStyle/>
          <a:p>
            <a:r>
              <a:rPr lang="zh-CN" altLang="en-US" dirty="0" smtClean="0"/>
              <a:t>以市场为基础，并依靠贸易和国际市场来运作</a:t>
            </a:r>
            <a:endParaRPr lang="en-US" altLang="zh-CN" dirty="0" smtClean="0"/>
          </a:p>
          <a:p>
            <a:pPr lvl="1"/>
            <a:r>
              <a:rPr lang="zh-CN" altLang="en-US" dirty="0"/>
              <a:t>溢</a:t>
            </a:r>
            <a:r>
              <a:rPr lang="zh-CN" altLang="en-US" dirty="0" smtClean="0"/>
              <a:t>价：认证产品的价格通常比非认证产品要高</a:t>
            </a:r>
            <a:endParaRPr lang="en-US" altLang="zh-CN" dirty="0" smtClean="0"/>
          </a:p>
          <a:p>
            <a:pPr lvl="1"/>
            <a:r>
              <a:rPr lang="zh-CN" altLang="en-US" dirty="0"/>
              <a:t>维持</a:t>
            </a:r>
            <a:r>
              <a:rPr lang="zh-CN" altLang="en-US" dirty="0" smtClean="0"/>
              <a:t>市场：保持现有采购商对认证产品的需求</a:t>
            </a:r>
            <a:endParaRPr lang="en-US" altLang="zh-CN" dirty="0" smtClean="0"/>
          </a:p>
          <a:p>
            <a:pPr lvl="1"/>
            <a:r>
              <a:rPr lang="zh-CN" altLang="en-US" dirty="0" smtClean="0"/>
              <a:t>增加市场份额：争取比现有客户更大的订单</a:t>
            </a:r>
            <a:endParaRPr lang="en-US" altLang="zh-CN" dirty="0" smtClean="0"/>
          </a:p>
          <a:p>
            <a:pPr lvl="1"/>
            <a:r>
              <a:rPr lang="zh-CN" altLang="en-US" dirty="0" smtClean="0"/>
              <a:t>拓展新市场：寻求更多需要认证产品的新客户</a:t>
            </a:r>
            <a:endParaRPr lang="en-US" altLang="zh-CN" dirty="0" smtClean="0"/>
          </a:p>
          <a:p>
            <a:pPr lvl="1"/>
            <a:r>
              <a:rPr lang="zh-CN" altLang="en-US" dirty="0"/>
              <a:t>区分</a:t>
            </a:r>
            <a:r>
              <a:rPr lang="zh-CN" altLang="en-US" dirty="0" smtClean="0"/>
              <a:t>产品：认证产品可视为领先竞争对手的一种方式</a:t>
            </a:r>
            <a:endParaRPr lang="en-US" altLang="zh-CN" dirty="0" smtClean="0"/>
          </a:p>
          <a:p>
            <a:pPr lvl="1"/>
            <a:r>
              <a:rPr lang="zh-CN" altLang="en-US" dirty="0"/>
              <a:t>市场准</a:t>
            </a:r>
            <a:r>
              <a:rPr lang="zh-CN" altLang="en-US" dirty="0" smtClean="0"/>
              <a:t>入：很多生产商，特别是发展中国家的林产品需要进入欧美市场，必须先开展森林认证</a:t>
            </a:r>
            <a:endParaRPr lang="en-US" altLang="zh-CN" dirty="0" smtClean="0"/>
          </a:p>
          <a:p>
            <a:r>
              <a:rPr lang="zh-CN" altLang="en-US" dirty="0" smtClean="0"/>
              <a:t>然而，认证的动力并不取决于作为个体的消费者，政府出台的各类绿色相关政策对认证的推动也有重要作用</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47746" y="1003821"/>
            <a:ext cx="6734175" cy="5019675"/>
          </a:xfrm>
          <a:prstGeom prst="rect">
            <a:avLst/>
          </a:prstGeom>
          <a:effectLst>
            <a:outerShdw blurRad="127000" dist="127000" dir="2700000" algn="tl" rotWithShape="0">
              <a:prstClr val="black">
                <a:alpha val="40000"/>
              </a:prstClr>
            </a:outerShdw>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以“五年规划”为基础：采伐限额</a:t>
            </a:r>
            <a:r>
              <a:rPr lang="en-US" altLang="zh-CN" dirty="0" smtClean="0"/>
              <a:t>+</a:t>
            </a:r>
            <a:r>
              <a:rPr lang="zh-CN" altLang="en-US" dirty="0" smtClean="0"/>
              <a:t>采伐计划</a:t>
            </a:r>
            <a:r>
              <a:rPr lang="en-US" altLang="zh-CN" dirty="0" smtClean="0"/>
              <a:t>+</a:t>
            </a:r>
            <a:r>
              <a:rPr lang="zh-CN" altLang="en-US" dirty="0" smtClean="0"/>
              <a:t>指标层层分解</a:t>
            </a:r>
            <a:endParaRPr lang="zh-CN" altLang="en-US" dirty="0"/>
          </a:p>
        </p:txBody>
      </p:sp>
      <p:sp>
        <p:nvSpPr>
          <p:cNvPr id="3" name="文本占位符 2"/>
          <p:cNvSpPr>
            <a:spLocks noGrp="1"/>
          </p:cNvSpPr>
          <p:nvPr>
            <p:ph type="body" idx="1"/>
          </p:nvPr>
        </p:nvSpPr>
        <p:spPr/>
        <p:txBody>
          <a:bodyPr/>
          <a:lstStyle/>
          <a:p>
            <a:r>
              <a:rPr lang="zh-CN" altLang="en-US" dirty="0" smtClean="0"/>
              <a:t>中国如何进行森林采伐规划？</a:t>
            </a:r>
            <a:endParaRPr lang="zh-CN" alt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276225" y="404664"/>
            <a:ext cx="8591550" cy="6115050"/>
          </a:xfrm>
          <a:prstGeom prst="rect">
            <a:avLst/>
          </a:prstGeom>
        </p:spPr>
      </p:pic>
      <p:pic>
        <p:nvPicPr>
          <p:cNvPr id="5" name="图片 4"/>
          <p:cNvPicPr>
            <a:picLocks noChangeAspect="1"/>
          </p:cNvPicPr>
          <p:nvPr/>
        </p:nvPicPr>
        <p:blipFill>
          <a:blip r:embed="rId2"/>
          <a:stretch>
            <a:fillRect/>
          </a:stretch>
        </p:blipFill>
        <p:spPr>
          <a:xfrm>
            <a:off x="1633537" y="500054"/>
            <a:ext cx="5876925" cy="714375"/>
          </a:xfrm>
          <a:prstGeom prst="rect">
            <a:avLst/>
          </a:prstGeom>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主要政策要点</a:t>
            </a:r>
            <a:endParaRPr lang="zh-CN" altLang="en-US" dirty="0"/>
          </a:p>
        </p:txBody>
      </p:sp>
      <p:graphicFrame>
        <p:nvGraphicFramePr>
          <p:cNvPr id="4" name="内容占位符 3"/>
          <p:cNvGraphicFramePr>
            <a:graphicFrameLocks noGrp="1"/>
          </p:cNvGraphicFramePr>
          <p:nvPr>
            <p:ph idx="1"/>
          </p:nvPr>
        </p:nvGraphicFramePr>
        <p:xfrm>
          <a:off x="251520" y="836041"/>
          <a:ext cx="8892480" cy="518524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要点和讨论</a:t>
            </a:r>
            <a:endParaRPr lang="zh-CN" altLang="en-US" dirty="0"/>
          </a:p>
        </p:txBody>
      </p:sp>
      <p:sp>
        <p:nvSpPr>
          <p:cNvPr id="3" name="内容占位符 2"/>
          <p:cNvSpPr>
            <a:spLocks noGrp="1"/>
          </p:cNvSpPr>
          <p:nvPr>
            <p:ph idx="1"/>
          </p:nvPr>
        </p:nvSpPr>
        <p:spPr/>
        <p:txBody>
          <a:bodyPr/>
          <a:lstStyle/>
          <a:p>
            <a:r>
              <a:rPr lang="zh-CN" altLang="en-US" dirty="0" smtClean="0"/>
              <a:t>什么是“法正林”？</a:t>
            </a:r>
            <a:endParaRPr lang="en-US" altLang="zh-CN" dirty="0" smtClean="0"/>
          </a:p>
          <a:p>
            <a:r>
              <a:rPr lang="zh-CN" altLang="en-US" dirty="0" smtClean="0"/>
              <a:t>以“法正林”为代表的森林永续利用思想有哪些理由？可能带来哪些问题？</a:t>
            </a:r>
            <a:endParaRPr lang="en-US" altLang="zh-CN" dirty="0" smtClean="0"/>
          </a:p>
          <a:p>
            <a:r>
              <a:rPr lang="zh-CN" altLang="en-US" dirty="0" smtClean="0"/>
              <a:t>通过市场来调节，能够让林主实现木材采伐的最优化规划吗？</a:t>
            </a:r>
            <a:endParaRPr lang="en-US" altLang="zh-CN" dirty="0" smtClean="0"/>
          </a:p>
          <a:p>
            <a:r>
              <a:rPr lang="zh-CN" altLang="en-US" dirty="0" smtClean="0"/>
              <a:t>中国现在的森林采伐限额管理政策是否有其必要性？为什么？</a:t>
            </a:r>
            <a:endParaRPr lang="en-US" altLang="zh-CN" dirty="0" smtClean="0"/>
          </a:p>
          <a:p>
            <a:r>
              <a:rPr lang="zh-CN" altLang="en-US" dirty="0" smtClean="0"/>
              <a:t>产权的重要性</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12972</Words>
  <Application>WPS 演示</Application>
  <PresentationFormat>全屏显示(4:3)</PresentationFormat>
  <Paragraphs>698</Paragraphs>
  <Slides>91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91</vt:i4>
      </vt:variant>
    </vt:vector>
  </HeadingPairs>
  <TitlesOfParts>
    <vt:vector size="106" baseType="lpstr">
      <vt:lpstr>Arial</vt:lpstr>
      <vt:lpstr>宋体</vt:lpstr>
      <vt:lpstr>Wingdings</vt:lpstr>
      <vt:lpstr>Berlin Sans FB Demi</vt:lpstr>
      <vt:lpstr>苹方-简</vt:lpstr>
      <vt:lpstr>隶书</vt:lpstr>
      <vt:lpstr>报隶-简</vt:lpstr>
      <vt:lpstr>Verdana</vt:lpstr>
      <vt:lpstr>黑体</vt:lpstr>
      <vt:lpstr>Times New Roman</vt:lpstr>
      <vt:lpstr>Cambria Math</vt:lpstr>
      <vt:lpstr>微软雅黑</vt:lpstr>
      <vt:lpstr>Arial Unicode MS</vt:lpstr>
      <vt:lpstr>Calibri</vt:lpstr>
      <vt:lpstr>Office 主题</vt:lpstr>
      <vt:lpstr>Regulating Harvests over Time </vt:lpstr>
      <vt:lpstr>Contents</vt:lpstr>
      <vt:lpstr>The Stand and the Forest  </vt:lpstr>
      <vt:lpstr>The difference and utility of the terms forest and stand</vt:lpstr>
      <vt:lpstr>PowerPoint 演示文稿</vt:lpstr>
      <vt:lpstr>PowerPoint 演示文稿</vt:lpstr>
      <vt:lpstr>PowerPoint 演示文稿</vt:lpstr>
      <vt:lpstr>Market Solutions and Limitations </vt:lpstr>
      <vt:lpstr>PowerPoint 演示文稿</vt:lpstr>
      <vt:lpstr>Two extremes</vt:lpstr>
      <vt:lpstr>PowerPoint 演示文稿</vt:lpstr>
      <vt:lpstr>短期内的产量变化可能导致高成本</vt:lpstr>
      <vt:lpstr>PowerPoint 演示文稿</vt:lpstr>
      <vt:lpstr>PowerPoint 演示文稿</vt:lpstr>
      <vt:lpstr>The Regulated Forest</vt:lpstr>
      <vt:lpstr>什么是“法正林”（the normal forest）</vt:lpstr>
      <vt:lpstr>PowerPoint 演示文稿</vt:lpstr>
      <vt:lpstr>法正龄级分配（normal age class）</vt:lpstr>
      <vt:lpstr>法正林分排列（normal stand arrangement）</vt:lpstr>
      <vt:lpstr>PowerPoint 演示文稿</vt:lpstr>
      <vt:lpstr>法正生长量（normal growth）</vt:lpstr>
      <vt:lpstr>PowerPoint 演示文稿</vt:lpstr>
      <vt:lpstr>法正蓄积量（normal growing stock）</vt:lpstr>
      <vt:lpstr>PowerPoint 演示文稿</vt:lpstr>
      <vt:lpstr>对法正林的评价</vt:lpstr>
      <vt:lpstr>法正林的优点</vt:lpstr>
      <vt:lpstr>法正林的不足</vt:lpstr>
      <vt:lpstr>完全调整林学说（fully regulated forest）</vt:lpstr>
      <vt:lpstr>PowerPoint 演示文稿</vt:lpstr>
      <vt:lpstr>完全调整林的理论要点</vt:lpstr>
      <vt:lpstr>PowerPoint 演示文稿</vt:lpstr>
      <vt:lpstr>对完全调整林学说的评价</vt:lpstr>
      <vt:lpstr>广义法正林学说</vt:lpstr>
      <vt:lpstr>广义法正林学说</vt:lpstr>
      <vt:lpstr>广义法正林学说</vt:lpstr>
      <vt:lpstr>理想的异龄林结构</vt:lpstr>
      <vt:lpstr>PowerPoint 演示文稿</vt:lpstr>
      <vt:lpstr>向法正林过渡</vt:lpstr>
      <vt:lpstr>为什么要向法正林过渡？</vt:lpstr>
      <vt:lpstr>两种方法</vt:lpstr>
      <vt:lpstr>汉斯雷克公式（Hanzlik formula）</vt:lpstr>
      <vt:lpstr>PowerPoint 演示文稿</vt:lpstr>
      <vt:lpstr>经济涵义</vt:lpstr>
      <vt:lpstr>案例</vt:lpstr>
      <vt:lpstr>PowerPoint 演示文稿</vt:lpstr>
      <vt:lpstr>PowerPoint 演示文稿</vt:lpstr>
      <vt:lpstr>PowerPoint 演示文稿</vt:lpstr>
      <vt:lpstr>PowerPoint 演示文稿</vt:lpstr>
      <vt:lpstr>允许采伐效果</vt:lpstr>
      <vt:lpstr>允许采伐效果</vt:lpstr>
      <vt:lpstr>Sustained Yield Rationale and Critique  </vt:lpstr>
      <vt:lpstr>Sustained yield</vt:lpstr>
      <vt:lpstr>PowerPoint 演示文稿</vt:lpstr>
      <vt:lpstr>推行永续木材产量的原因</vt:lpstr>
      <vt:lpstr>经济稳定 Economic Stability</vt:lpstr>
      <vt:lpstr>国家安全 National Security</vt:lpstr>
      <vt:lpstr>道义责任 Moral Obligation </vt:lpstr>
      <vt:lpstr>综合利用 Multiple Use</vt:lpstr>
      <vt:lpstr>总结</vt:lpstr>
      <vt:lpstr>Timber Harvests over Time in the Absence of Sustained Yield Policy: Market as a Regulator </vt:lpstr>
      <vt:lpstr>1953-2007年美国私有林每英亩的平均年生长量、采伐量和蓄积量</vt:lpstr>
      <vt:lpstr>PowerPoint 演示文稿</vt:lpstr>
      <vt:lpstr>前5个龄级的面积较为接近</vt:lpstr>
      <vt:lpstr>由此可见</vt:lpstr>
      <vt:lpstr>New Approaches to Forest Regulation  </vt:lpstr>
      <vt:lpstr>强调非木材价值的新型林业规划</vt:lpstr>
      <vt:lpstr>森林可持续经营 Sustainable Forest Management</vt:lpstr>
      <vt:lpstr>Sustainable forest management (SFM) </vt:lpstr>
      <vt:lpstr>森林可持续经营的标准</vt:lpstr>
      <vt:lpstr>森林可持续经营与可持续林业</vt:lpstr>
      <vt:lpstr>森林可持续经营与森林永续利用</vt:lpstr>
      <vt:lpstr>经营取向不同</vt:lpstr>
      <vt:lpstr>核心理论不同</vt:lpstr>
      <vt:lpstr>技术保障体系不同</vt:lpstr>
      <vt:lpstr>评价尺度不同</vt:lpstr>
      <vt:lpstr>空间操作尺度不同</vt:lpstr>
      <vt:lpstr>森林认证</vt:lpstr>
      <vt:lpstr>森林认证的概念</vt:lpstr>
      <vt:lpstr>森林认证的要素</vt:lpstr>
      <vt:lpstr>FSC全球森林认证体系（Forest Stewardship Council）</vt:lpstr>
      <vt:lpstr>http://info.fsc.org/</vt:lpstr>
      <vt:lpstr>PowerPoint 演示文稿</vt:lpstr>
      <vt:lpstr>Ten rules for responsible forest management</vt:lpstr>
      <vt:lpstr>FSC森林管理的十项原则</vt:lpstr>
      <vt:lpstr>FSC森林管理的十项原则</vt:lpstr>
      <vt:lpstr>森林认证的动力</vt:lpstr>
      <vt:lpstr>PowerPoint 演示文稿</vt:lpstr>
      <vt:lpstr>以“五年规划”为基础：采伐限额+采伐计划+指标层层分解</vt:lpstr>
      <vt:lpstr>PowerPoint 演示文稿</vt:lpstr>
      <vt:lpstr>主要政策要点</vt:lpstr>
      <vt:lpstr>要点和讨论</vt:lpstr>
    </vt:vector>
  </TitlesOfParts>
  <Company>Lenovo (Beijing) Limited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郎晓娟</dc:creator>
  <cp:lastModifiedBy>lxj</cp:lastModifiedBy>
  <cp:revision>279</cp:revision>
  <dcterms:created xsi:type="dcterms:W3CDTF">2022-12-09T01:27:42Z</dcterms:created>
  <dcterms:modified xsi:type="dcterms:W3CDTF">2022-12-09T01:27:42Z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52A69C0A2C7D16770D8F9263A7ABD3B2</vt:lpwstr>
  </property>
  <property fmtid="{D5CDD505-2E9C-101B-9397-08002B2CF9AE}" pid="3" name="KSOProductBuildVer">
    <vt:lpwstr>2052-5.1.0.7657</vt:lpwstr>
  </property>
</Properties>
</file>