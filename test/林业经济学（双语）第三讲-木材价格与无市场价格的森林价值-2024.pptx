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12"/>
  </p:notesMasterIdLst>
  <p:sldIdLst>
    <p:sldId id="268" r:id="rId4"/>
    <p:sldId id="270" r:id="rId5"/>
    <p:sldId id="269" r:id="rId6"/>
    <p:sldId id="271" r:id="rId7"/>
    <p:sldId id="272" r:id="rId8"/>
    <p:sldId id="273" r:id="rId9"/>
    <p:sldId id="274" r:id="rId10"/>
    <p:sldId id="276" r:id="rId11"/>
    <p:sldId id="277" r:id="rId13"/>
    <p:sldId id="275" r:id="rId14"/>
    <p:sldId id="256" r:id="rId15"/>
    <p:sldId id="257" r:id="rId16"/>
    <p:sldId id="265" r:id="rId17"/>
    <p:sldId id="264" r:id="rId18"/>
    <p:sldId id="306" r:id="rId19"/>
    <p:sldId id="308" r:id="rId20"/>
    <p:sldId id="307" r:id="rId21"/>
    <p:sldId id="309" r:id="rId22"/>
    <p:sldId id="311" r:id="rId23"/>
    <p:sldId id="310" r:id="rId24"/>
    <p:sldId id="312" r:id="rId25"/>
    <p:sldId id="313" r:id="rId26"/>
    <p:sldId id="314" r:id="rId27"/>
    <p:sldId id="316" r:id="rId28"/>
    <p:sldId id="317" r:id="rId29"/>
    <p:sldId id="318" r:id="rId30"/>
    <p:sldId id="319" r:id="rId31"/>
    <p:sldId id="322" r:id="rId32"/>
    <p:sldId id="320" r:id="rId33"/>
    <p:sldId id="321" r:id="rId34"/>
    <p:sldId id="323" r:id="rId35"/>
    <p:sldId id="324" r:id="rId36"/>
    <p:sldId id="325" r:id="rId37"/>
    <p:sldId id="326" r:id="rId38"/>
    <p:sldId id="327" r:id="rId39"/>
    <p:sldId id="329" r:id="rId40"/>
    <p:sldId id="328" r:id="rId41"/>
    <p:sldId id="330" r:id="rId42"/>
    <p:sldId id="331" r:id="rId43"/>
    <p:sldId id="332" r:id="rId44"/>
    <p:sldId id="302" r:id="rId45"/>
    <p:sldId id="333" r:id="rId46"/>
    <p:sldId id="334" r:id="rId47"/>
    <p:sldId id="335" r:id="rId48"/>
    <p:sldId id="336" r:id="rId49"/>
    <p:sldId id="303" r:id="rId50"/>
    <p:sldId id="337" r:id="rId51"/>
    <p:sldId id="304" r:id="rId52"/>
    <p:sldId id="338" r:id="rId53"/>
    <p:sldId id="339" r:id="rId54"/>
    <p:sldId id="340" r:id="rId55"/>
    <p:sldId id="341" r:id="rId56"/>
    <p:sldId id="342" r:id="rId57"/>
    <p:sldId id="343" r:id="rId58"/>
    <p:sldId id="344" r:id="rId59"/>
    <p:sldId id="346" r:id="rId60"/>
    <p:sldId id="345" r:id="rId61"/>
    <p:sldId id="347" r:id="rId62"/>
    <p:sldId id="348" r:id="rId63"/>
    <p:sldId id="349" r:id="rId64"/>
    <p:sldId id="350" r:id="rId65"/>
    <p:sldId id="351" r:id="rId66"/>
    <p:sldId id="352" r:id="rId67"/>
    <p:sldId id="353" r:id="rId68"/>
    <p:sldId id="305" r:id="rId69"/>
    <p:sldId id="354" r:id="rId70"/>
    <p:sldId id="355" r:id="rId71"/>
    <p:sldId id="356" r:id="rId72"/>
    <p:sldId id="357" r:id="rId73"/>
    <p:sldId id="358" r:id="rId74"/>
    <p:sldId id="359" r:id="rId75"/>
    <p:sldId id="360" r:id="rId76"/>
    <p:sldId id="361" r:id="rId77"/>
    <p:sldId id="362" r:id="rId78"/>
    <p:sldId id="363" r:id="rId79"/>
  </p:sldIdLst>
  <p:sldSz cx="9144000" cy="6858000" type="screen4x3"/>
  <p:notesSz cx="6858000" cy="9144000"/>
  <p:custDataLst>
    <p:tags r:id="rId8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a:srgbClr val="4F81BD"/>
    <a:srgbClr val="CCFFFF"/>
    <a:srgbClr val="95D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575"/>
  </p:normalViewPr>
  <p:slideViewPr>
    <p:cSldViewPr showGuides="1">
      <p:cViewPr varScale="1">
        <p:scale>
          <a:sx n="112" d="100"/>
          <a:sy n="112" d="100"/>
        </p:scale>
        <p:origin x="62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27"/>
    </mc:Choice>
    <mc:Fallback>
      <c:style val="27"/>
    </mc:Fallback>
  </mc:AlternateContent>
  <c:chart>
    <c:autoTitleDeleted val="1"/>
    <c:plotArea>
      <c:layout/>
      <c:barChart>
        <c:barDir val="col"/>
        <c:grouping val="clustered"/>
        <c:varyColors val="0"/>
        <c:ser>
          <c:idx val="0"/>
          <c:order val="0"/>
          <c:tx>
            <c:strRef>
              <c:f>Sheet1!$B$1</c:f>
              <c:strCache>
                <c:ptCount val="1"/>
                <c:pt idx="0">
                  <c:v>愿意支出的金额</c:v>
                </c:pt>
              </c:strCache>
            </c:strRef>
          </c:tx>
          <c:invertIfNegative val="0"/>
          <c:dLbls>
            <c:delete val="1"/>
          </c:dLbls>
          <c:trendline>
            <c:trendlineType val="linear"/>
            <c:dispRSqr val="0"/>
            <c:dispEq val="0"/>
          </c:trendline>
          <c:cat>
            <c:strRef>
              <c:f>Sheet1!$A$2:$A$7</c:f>
              <c:strCache>
                <c:ptCount val="6"/>
                <c:pt idx="0">
                  <c:v>消费者 1</c:v>
                </c:pt>
                <c:pt idx="1">
                  <c:v>消费者 2</c:v>
                </c:pt>
                <c:pt idx="2">
                  <c:v>消费者 3</c:v>
                </c:pt>
                <c:pt idx="3">
                  <c:v>消费者 4</c:v>
                </c:pt>
                <c:pt idx="4">
                  <c:v>消费者 5</c:v>
                </c:pt>
                <c:pt idx="5">
                  <c:v>消费者 6</c:v>
                </c:pt>
              </c:strCache>
            </c:strRef>
          </c:cat>
          <c:val>
            <c:numRef>
              <c:f>Sheet1!$B$2:$B$7</c:f>
              <c:numCache>
                <c:formatCode>General</c:formatCode>
                <c:ptCount val="6"/>
                <c:pt idx="0">
                  <c:v>12</c:v>
                </c:pt>
                <c:pt idx="1">
                  <c:v>9</c:v>
                </c:pt>
                <c:pt idx="2">
                  <c:v>6</c:v>
                </c:pt>
                <c:pt idx="3">
                  <c:v>4</c:v>
                </c:pt>
                <c:pt idx="4">
                  <c:v>2</c:v>
                </c:pt>
                <c:pt idx="5">
                  <c:v>0</c:v>
                </c:pt>
              </c:numCache>
            </c:numRef>
          </c:val>
        </c:ser>
        <c:dLbls>
          <c:showLegendKey val="0"/>
          <c:showVal val="0"/>
          <c:showCatName val="0"/>
          <c:showSerName val="0"/>
          <c:showPercent val="0"/>
          <c:showBubbleSize val="0"/>
        </c:dLbls>
        <c:gapWidth val="150"/>
        <c:axId val="-2119002448"/>
        <c:axId val="-2118999872"/>
      </c:barChart>
      <c:catAx>
        <c:axId val="-211900244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2118999872"/>
        <c:crossesAt val="0"/>
        <c:auto val="1"/>
        <c:lblAlgn val="ctr"/>
        <c:lblOffset val="100"/>
        <c:noMultiLvlLbl val="0"/>
      </c:catAx>
      <c:valAx>
        <c:axId val="-2118999872"/>
        <c:scaling>
          <c:orientation val="minMax"/>
          <c:min val="0"/>
        </c:scaling>
        <c:delete val="0"/>
        <c:axPos val="l"/>
        <c:majorGridlines/>
        <c:title>
          <c:tx>
            <c:rich>
              <a:bodyPr rot="0" spcFirstLastPara="0" vertOverflow="ellipsis" vert="wordArtVertRtl" wrap="square" anchor="ctr" anchorCtr="1"/>
              <a:lstStyle/>
              <a:p>
                <a:pPr>
                  <a:defRPr lang="zh-CN" sz="1800" b="1" i="0" u="none" strike="noStrike" kern="1200" baseline="0">
                    <a:solidFill>
                      <a:schemeClr val="tx1"/>
                    </a:solidFill>
                    <a:latin typeface="+mn-lt"/>
                    <a:ea typeface="+mn-ea"/>
                    <a:cs typeface="+mn-cs"/>
                  </a:defRPr>
                </a:pPr>
                <a:r>
                  <a:rPr lang="zh-CN" altLang="en-US" dirty="0"/>
                  <a:t>愿意支出的金额</a:t>
                </a:r>
                <a:endParaRPr lang="zh-CN" altLang="en-US" dirty="0"/>
              </a:p>
            </c:rich>
          </c:tx>
          <c:layout/>
          <c:overlay val="0"/>
        </c:title>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2119002448"/>
        <c:crosses val="autoZero"/>
        <c:crossBetween val="between"/>
      </c:valAx>
    </c:plotArea>
    <c:plotVisOnly val="1"/>
    <c:dispBlanksAs val="gap"/>
    <c:showDLblsOverMax val="0"/>
  </c:chart>
  <c:txPr>
    <a:bodyPr/>
    <a:lstStyle/>
    <a:p>
      <a:pPr>
        <a:defRPr lang="zh-CN" sz="1800"/>
      </a:pPr>
    </a:p>
  </c:txPr>
  <c:externalData r:id="rId1">
    <c:autoUpdate val="0"/>
  </c:externalData>
</c:chartSpace>
</file>

<file path=ppt/diagrams/_rels/data1.xml.rels><?xml version="1.0" encoding="UTF-8" standalone="yes"?>
<Relationships xmlns="http://schemas.openxmlformats.org/package/2006/relationships"><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rawing1.xml.rels><?xml version="1.0" encoding="UTF-8" standalone="yes"?>
<Relationships xmlns="http://schemas.openxmlformats.org/package/2006/relationships"><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04A7F50-2E5D-464F-B21F-CE405CE7E9C7}" type="doc">
      <dgm:prSet loTypeId="urn:microsoft.com/office/officeart/2009/layout/CirclePictureHierarchy" loCatId="hierarchy" qsTypeId="urn:microsoft.com/office/officeart/2005/8/quickstyle/simple2" qsCatId="simple" csTypeId="urn:microsoft.com/office/officeart/2005/8/colors/colorful1" csCatId="colorful" phldr="1"/>
      <dgm:spPr/>
      <dgm:t>
        <a:bodyPr/>
        <a:lstStyle/>
        <a:p>
          <a:endParaRPr lang="zh-CN" altLang="en-US"/>
        </a:p>
      </dgm:t>
    </dgm:pt>
    <dgm:pt modelId="{8C16E252-FE74-48B5-B685-4769342C952C}">
      <dgm:prSet phldrT="[文本]"/>
      <dgm:spPr/>
      <dgm:t>
        <a:bodyPr/>
        <a:lstStyle/>
        <a:p>
          <a:r>
            <a:rPr lang="en-US" altLang="zh-CN" dirty="0"/>
            <a:t>non-timber benefits</a:t>
          </a:r>
          <a:endParaRPr lang="zh-CN" altLang="en-US" dirty="0"/>
        </a:p>
      </dgm:t>
    </dgm:pt>
    <dgm:pt modelId="{5DBF51BF-4366-495D-B2ED-E285A8DB6D7E}" cxnId="{F94F7654-7C41-4A45-9EC3-AAB0C5BD6C1F}" type="parTrans">
      <dgm:prSet/>
      <dgm:spPr/>
      <dgm:t>
        <a:bodyPr/>
        <a:lstStyle/>
        <a:p>
          <a:endParaRPr lang="zh-CN" altLang="en-US"/>
        </a:p>
      </dgm:t>
    </dgm:pt>
    <dgm:pt modelId="{FDE0539B-040D-4E57-85E9-DEB976D54A55}" cxnId="{F94F7654-7C41-4A45-9EC3-AAB0C5BD6C1F}" type="sibTrans">
      <dgm:prSet/>
      <dgm:spPr/>
      <dgm:t>
        <a:bodyPr/>
        <a:lstStyle/>
        <a:p>
          <a:endParaRPr lang="zh-CN" altLang="en-US"/>
        </a:p>
      </dgm:t>
    </dgm:pt>
    <dgm:pt modelId="{2E2F0172-920E-4D9A-9283-73160E233D04}">
      <dgm:prSet phldrT="[文本]"/>
      <dgm:spPr/>
      <dgm:t>
        <a:bodyPr/>
        <a:lstStyle/>
        <a:p>
          <a:r>
            <a:rPr lang="en-US" altLang="zh-CN" dirty="0"/>
            <a:t>Marketed products</a:t>
          </a:r>
          <a:endParaRPr lang="zh-CN" altLang="en-US" dirty="0"/>
        </a:p>
      </dgm:t>
    </dgm:pt>
    <dgm:pt modelId="{B78E5692-CAAC-4F76-9831-9C8CB651C613}" cxnId="{EC196D8A-2C73-41CE-991D-6AB03E247A98}" type="parTrans">
      <dgm:prSet/>
      <dgm:spPr/>
      <dgm:t>
        <a:bodyPr/>
        <a:lstStyle/>
        <a:p>
          <a:endParaRPr lang="zh-CN" altLang="en-US"/>
        </a:p>
      </dgm:t>
    </dgm:pt>
    <dgm:pt modelId="{F9D0331C-6F42-41CA-B94C-D694E22D582C}" cxnId="{EC196D8A-2C73-41CE-991D-6AB03E247A98}" type="sibTrans">
      <dgm:prSet/>
      <dgm:spPr/>
      <dgm:t>
        <a:bodyPr/>
        <a:lstStyle/>
        <a:p>
          <a:endParaRPr lang="zh-CN" altLang="en-US"/>
        </a:p>
      </dgm:t>
    </dgm:pt>
    <dgm:pt modelId="{2AA6D451-2A2D-4266-80A9-7A907B52DFB2}">
      <dgm:prSet phldrT="[文本]"/>
      <dgm:spPr/>
      <dgm:t>
        <a:bodyPr/>
        <a:lstStyle/>
        <a:p>
          <a:r>
            <a:rPr lang="en-US" altLang="zh-CN" dirty="0"/>
            <a:t>Grazing rights</a:t>
          </a:r>
          <a:endParaRPr lang="zh-CN" altLang="en-US" dirty="0"/>
        </a:p>
      </dgm:t>
    </dgm:pt>
    <dgm:pt modelId="{A5EC4D44-D321-4B9B-9D61-4BDD83050B28}" cxnId="{E8F56960-D327-49E5-84DD-4D33EBFBDBED}" type="parTrans">
      <dgm:prSet/>
      <dgm:spPr/>
      <dgm:t>
        <a:bodyPr/>
        <a:lstStyle/>
        <a:p>
          <a:endParaRPr lang="zh-CN" altLang="en-US"/>
        </a:p>
      </dgm:t>
    </dgm:pt>
    <dgm:pt modelId="{40506F90-0469-4BE9-86AD-DA5F5FE9D171}" cxnId="{E8F56960-D327-49E5-84DD-4D33EBFBDBED}" type="sibTrans">
      <dgm:prSet/>
      <dgm:spPr/>
      <dgm:t>
        <a:bodyPr/>
        <a:lstStyle/>
        <a:p>
          <a:endParaRPr lang="zh-CN" altLang="en-US"/>
        </a:p>
      </dgm:t>
    </dgm:pt>
    <dgm:pt modelId="{69F53F05-CC22-462C-B7F8-808FA9EA0573}">
      <dgm:prSet phldrT="[文本]"/>
      <dgm:spPr/>
      <dgm:t>
        <a:bodyPr/>
        <a:lstStyle/>
        <a:p>
          <a:r>
            <a:rPr lang="en-US" altLang="zh-CN" dirty="0" err="1"/>
            <a:t>Unmarketed</a:t>
          </a:r>
          <a:r>
            <a:rPr lang="en-US" altLang="zh-CN" dirty="0"/>
            <a:t> benefits</a:t>
          </a:r>
          <a:endParaRPr lang="zh-CN" altLang="en-US" dirty="0"/>
        </a:p>
      </dgm:t>
    </dgm:pt>
    <dgm:pt modelId="{E6747994-4590-44DF-B454-218090EB5483}" cxnId="{E5D03102-763E-42FD-9814-3EAA7D8E8A36}" type="parTrans">
      <dgm:prSet/>
      <dgm:spPr/>
      <dgm:t>
        <a:bodyPr/>
        <a:lstStyle/>
        <a:p>
          <a:endParaRPr lang="zh-CN" altLang="en-US"/>
        </a:p>
      </dgm:t>
    </dgm:pt>
    <dgm:pt modelId="{3441095F-EAE4-407C-A57F-6C733C0584B6}" cxnId="{E5D03102-763E-42FD-9814-3EAA7D8E8A36}" type="sibTrans">
      <dgm:prSet/>
      <dgm:spPr/>
      <dgm:t>
        <a:bodyPr/>
        <a:lstStyle/>
        <a:p>
          <a:endParaRPr lang="zh-CN" altLang="en-US"/>
        </a:p>
      </dgm:t>
    </dgm:pt>
    <dgm:pt modelId="{5F8C6E05-4ED6-453D-8688-DF0E1C061B37}">
      <dgm:prSet phldrT="[文本]"/>
      <dgm:spPr/>
      <dgm:t>
        <a:bodyPr/>
        <a:lstStyle/>
        <a:p>
          <a:r>
            <a:rPr lang="en-US" altLang="zh-CN" dirty="0"/>
            <a:t>products</a:t>
          </a:r>
          <a:endParaRPr lang="zh-CN" altLang="en-US" dirty="0"/>
        </a:p>
      </dgm:t>
    </dgm:pt>
    <dgm:pt modelId="{60072504-9286-4159-855E-9E6FCFD381E6}" cxnId="{B7B615C5-2D11-428B-8F5B-31DEB9F1B4AF}" type="parTrans">
      <dgm:prSet/>
      <dgm:spPr/>
      <dgm:t>
        <a:bodyPr/>
        <a:lstStyle/>
        <a:p>
          <a:endParaRPr lang="zh-CN" altLang="en-US"/>
        </a:p>
      </dgm:t>
    </dgm:pt>
    <dgm:pt modelId="{54D6DFD3-2610-49F5-85F6-EB9D8F59B840}" cxnId="{B7B615C5-2D11-428B-8F5B-31DEB9F1B4AF}" type="sibTrans">
      <dgm:prSet/>
      <dgm:spPr/>
      <dgm:t>
        <a:bodyPr/>
        <a:lstStyle/>
        <a:p>
          <a:endParaRPr lang="zh-CN" altLang="en-US"/>
        </a:p>
      </dgm:t>
    </dgm:pt>
    <dgm:pt modelId="{FF975CF1-E5F0-435B-A341-3D6266BC27A9}">
      <dgm:prSet phldrT="[文本]"/>
      <dgm:spPr/>
      <dgm:t>
        <a:bodyPr/>
        <a:lstStyle/>
        <a:p>
          <a:r>
            <a:rPr lang="en-US" altLang="zh-CN" dirty="0"/>
            <a:t>services</a:t>
          </a:r>
          <a:endParaRPr lang="zh-CN" altLang="en-US" dirty="0"/>
        </a:p>
      </dgm:t>
    </dgm:pt>
    <dgm:pt modelId="{598AA688-27FB-4E43-9800-3CB49900EDDB}" cxnId="{939719EC-6E73-47ED-A2CC-34805C2F0F69}" type="parTrans">
      <dgm:prSet/>
      <dgm:spPr/>
      <dgm:t>
        <a:bodyPr/>
        <a:lstStyle/>
        <a:p>
          <a:endParaRPr lang="zh-CN" altLang="en-US"/>
        </a:p>
      </dgm:t>
    </dgm:pt>
    <dgm:pt modelId="{D9DE3CC0-E5DE-4332-A6BA-3FDD4FFCF3A0}" cxnId="{939719EC-6E73-47ED-A2CC-34805C2F0F69}" type="sibTrans">
      <dgm:prSet/>
      <dgm:spPr/>
      <dgm:t>
        <a:bodyPr/>
        <a:lstStyle/>
        <a:p>
          <a:endParaRPr lang="zh-CN" altLang="en-US"/>
        </a:p>
      </dgm:t>
    </dgm:pt>
    <dgm:pt modelId="{765AFD0F-793A-4F19-986C-0ECCE4BB3C80}" type="pres">
      <dgm:prSet presAssocID="{504A7F50-2E5D-464F-B21F-CE405CE7E9C7}" presName="hierChild1" presStyleCnt="0">
        <dgm:presLayoutVars>
          <dgm:chPref val="1"/>
          <dgm:dir/>
          <dgm:animOne val="branch"/>
          <dgm:animLvl val="lvl"/>
          <dgm:resizeHandles/>
        </dgm:presLayoutVars>
      </dgm:prSet>
      <dgm:spPr/>
    </dgm:pt>
    <dgm:pt modelId="{77B58E31-F7D4-467A-B55A-92A35488E809}" type="pres">
      <dgm:prSet presAssocID="{8C16E252-FE74-48B5-B685-4769342C952C}" presName="hierRoot1" presStyleCnt="0"/>
      <dgm:spPr/>
    </dgm:pt>
    <dgm:pt modelId="{5CF0E404-939F-4916-B65C-487D27B640E8}" type="pres">
      <dgm:prSet presAssocID="{8C16E252-FE74-48B5-B685-4769342C952C}" presName="composite" presStyleCnt="0"/>
      <dgm:spPr/>
    </dgm:pt>
    <dgm:pt modelId="{B2E6AB3F-A7D3-44D9-9109-739E19C00291}" type="pres">
      <dgm:prSet presAssocID="{8C16E252-FE74-48B5-B685-4769342C952C}" presName="image" presStyleLbl="node0" presStyleIdx="0" presStyleCnt="1"/>
      <dgm:spPr>
        <a:blipFill>
          <a:blip xmlns:r="http://schemas.openxmlformats.org/officeDocument/2006/relationships" r:embed="rId1" cstate="screen"/>
          <a:srcRect/>
          <a:stretch>
            <a:fillRect/>
          </a:stretch>
        </a:blipFill>
      </dgm:spPr>
    </dgm:pt>
    <dgm:pt modelId="{9BB65D27-8700-46A0-83EC-34BF994AB0A1}" type="pres">
      <dgm:prSet presAssocID="{8C16E252-FE74-48B5-B685-4769342C952C}" presName="text" presStyleLbl="revTx" presStyleIdx="0" presStyleCnt="6" custScaleX="109108" custScaleY="95009">
        <dgm:presLayoutVars>
          <dgm:chPref val="3"/>
        </dgm:presLayoutVars>
      </dgm:prSet>
      <dgm:spPr/>
    </dgm:pt>
    <dgm:pt modelId="{8DF61D76-A082-44F4-9688-A7D6438818C7}" type="pres">
      <dgm:prSet presAssocID="{8C16E252-FE74-48B5-B685-4769342C952C}" presName="hierChild2" presStyleCnt="0"/>
      <dgm:spPr/>
    </dgm:pt>
    <dgm:pt modelId="{7171A96A-30EB-406C-AC4F-90DD5A7DC437}" type="pres">
      <dgm:prSet presAssocID="{B78E5692-CAAC-4F76-9831-9C8CB651C613}" presName="Name10" presStyleLbl="parChTrans1D2" presStyleIdx="0" presStyleCnt="2"/>
      <dgm:spPr/>
    </dgm:pt>
    <dgm:pt modelId="{463855BD-35A5-4111-8E19-DE5330E172B1}" type="pres">
      <dgm:prSet presAssocID="{2E2F0172-920E-4D9A-9283-73160E233D04}" presName="hierRoot2" presStyleCnt="0"/>
      <dgm:spPr/>
    </dgm:pt>
    <dgm:pt modelId="{B7F77B1C-EC62-4976-AF3C-E08B1E1DBE2B}" type="pres">
      <dgm:prSet presAssocID="{2E2F0172-920E-4D9A-9283-73160E233D04}" presName="composite2" presStyleCnt="0"/>
      <dgm:spPr/>
    </dgm:pt>
    <dgm:pt modelId="{4033EFAF-2B21-4EA6-82B8-0F9BEB9C3084}" type="pres">
      <dgm:prSet presAssocID="{2E2F0172-920E-4D9A-9283-73160E233D04}" presName="image2" presStyleLbl="node2" presStyleIdx="0" presStyleCnt="2"/>
      <dgm:spPr>
        <a:blipFill>
          <a:blip xmlns:r="http://schemas.openxmlformats.org/officeDocument/2006/relationships" r:embed="rId2" cstate="screen"/>
          <a:srcRect/>
          <a:stretch>
            <a:fillRect/>
          </a:stretch>
        </a:blipFill>
      </dgm:spPr>
    </dgm:pt>
    <dgm:pt modelId="{1EA2CAD5-3926-43C4-AA7B-D9F18FBCAAF1}" type="pres">
      <dgm:prSet presAssocID="{2E2F0172-920E-4D9A-9283-73160E233D04}" presName="text2" presStyleLbl="revTx" presStyleIdx="1" presStyleCnt="6">
        <dgm:presLayoutVars>
          <dgm:chPref val="3"/>
        </dgm:presLayoutVars>
      </dgm:prSet>
      <dgm:spPr/>
    </dgm:pt>
    <dgm:pt modelId="{59E58AB9-2F15-4498-A16F-397FCA1DE655}" type="pres">
      <dgm:prSet presAssocID="{2E2F0172-920E-4D9A-9283-73160E233D04}" presName="hierChild3" presStyleCnt="0"/>
      <dgm:spPr/>
    </dgm:pt>
    <dgm:pt modelId="{6B415EC3-696E-412D-8E43-4697BA633DA1}" type="pres">
      <dgm:prSet presAssocID="{A5EC4D44-D321-4B9B-9D61-4BDD83050B28}" presName="Name17" presStyleLbl="parChTrans1D3" presStyleIdx="0" presStyleCnt="3"/>
      <dgm:spPr/>
    </dgm:pt>
    <dgm:pt modelId="{EBCB7C62-879F-4166-AD1C-7F41174A7746}" type="pres">
      <dgm:prSet presAssocID="{2AA6D451-2A2D-4266-80A9-7A907B52DFB2}" presName="hierRoot3" presStyleCnt="0"/>
      <dgm:spPr/>
    </dgm:pt>
    <dgm:pt modelId="{6F9C9D36-CF92-4E0C-8AAE-C0D9A05A7AF6}" type="pres">
      <dgm:prSet presAssocID="{2AA6D451-2A2D-4266-80A9-7A907B52DFB2}" presName="composite3" presStyleCnt="0"/>
      <dgm:spPr/>
    </dgm:pt>
    <dgm:pt modelId="{B30897B3-FCB5-402E-910D-B1841A9E0FD2}" type="pres">
      <dgm:prSet presAssocID="{2AA6D451-2A2D-4266-80A9-7A907B52DFB2}" presName="image3" presStyleLbl="node3" presStyleIdx="0" presStyleCnt="3"/>
      <dgm:spPr>
        <a:blipFill>
          <a:blip xmlns:r="http://schemas.openxmlformats.org/officeDocument/2006/relationships" r:embed="rId3" cstate="screen"/>
          <a:srcRect/>
          <a:stretch>
            <a:fillRect/>
          </a:stretch>
        </a:blipFill>
      </dgm:spPr>
    </dgm:pt>
    <dgm:pt modelId="{CAA25CFC-F770-4AF2-B347-BA6CEAC0A90D}" type="pres">
      <dgm:prSet presAssocID="{2AA6D451-2A2D-4266-80A9-7A907B52DFB2}" presName="text3" presStyleLbl="revTx" presStyleIdx="2" presStyleCnt="6">
        <dgm:presLayoutVars>
          <dgm:chPref val="3"/>
        </dgm:presLayoutVars>
      </dgm:prSet>
      <dgm:spPr/>
    </dgm:pt>
    <dgm:pt modelId="{79DFB2B9-F590-4FC8-8255-0B2F5B665AA5}" type="pres">
      <dgm:prSet presAssocID="{2AA6D451-2A2D-4266-80A9-7A907B52DFB2}" presName="hierChild4" presStyleCnt="0"/>
      <dgm:spPr/>
    </dgm:pt>
    <dgm:pt modelId="{A2BF8570-E4C0-4D91-8434-27CBD08C8A4C}" type="pres">
      <dgm:prSet presAssocID="{E6747994-4590-44DF-B454-218090EB5483}" presName="Name10" presStyleLbl="parChTrans1D2" presStyleIdx="1" presStyleCnt="2"/>
      <dgm:spPr/>
    </dgm:pt>
    <dgm:pt modelId="{C69F9E57-5ACD-4EC3-876D-13100AFAA5BF}" type="pres">
      <dgm:prSet presAssocID="{69F53F05-CC22-462C-B7F8-808FA9EA0573}" presName="hierRoot2" presStyleCnt="0"/>
      <dgm:spPr/>
    </dgm:pt>
    <dgm:pt modelId="{1689DFF1-D627-4D9F-B3D3-04F3FD9DA419}" type="pres">
      <dgm:prSet presAssocID="{69F53F05-CC22-462C-B7F8-808FA9EA0573}" presName="composite2" presStyleCnt="0"/>
      <dgm:spPr/>
    </dgm:pt>
    <dgm:pt modelId="{6C66EC66-BBD9-42F6-B11B-AAC2504CB740}" type="pres">
      <dgm:prSet presAssocID="{69F53F05-CC22-462C-B7F8-808FA9EA0573}" presName="image2" presStyleLbl="node2" presStyleIdx="1" presStyleCnt="2"/>
      <dgm:spPr>
        <a:blipFill>
          <a:blip xmlns:r="http://schemas.openxmlformats.org/officeDocument/2006/relationships" r:embed="rId4" cstate="screen"/>
          <a:srcRect/>
          <a:stretch>
            <a:fillRect/>
          </a:stretch>
        </a:blipFill>
      </dgm:spPr>
    </dgm:pt>
    <dgm:pt modelId="{0F9F6D8D-8223-455F-B8DC-834F755D5EBC}" type="pres">
      <dgm:prSet presAssocID="{69F53F05-CC22-462C-B7F8-808FA9EA0573}" presName="text2" presStyleLbl="revTx" presStyleIdx="3" presStyleCnt="6">
        <dgm:presLayoutVars>
          <dgm:chPref val="3"/>
        </dgm:presLayoutVars>
      </dgm:prSet>
      <dgm:spPr/>
    </dgm:pt>
    <dgm:pt modelId="{BC5E1905-5346-4721-A40C-F214A08533E0}" type="pres">
      <dgm:prSet presAssocID="{69F53F05-CC22-462C-B7F8-808FA9EA0573}" presName="hierChild3" presStyleCnt="0"/>
      <dgm:spPr/>
    </dgm:pt>
    <dgm:pt modelId="{4F062968-6E3C-4D30-A189-9E382DEFBB02}" type="pres">
      <dgm:prSet presAssocID="{598AA688-27FB-4E43-9800-3CB49900EDDB}" presName="Name17" presStyleLbl="parChTrans1D3" presStyleIdx="1" presStyleCnt="3"/>
      <dgm:spPr/>
    </dgm:pt>
    <dgm:pt modelId="{32FF9C30-E3C8-428C-93D8-8C162439E37F}" type="pres">
      <dgm:prSet presAssocID="{FF975CF1-E5F0-435B-A341-3D6266BC27A9}" presName="hierRoot3" presStyleCnt="0"/>
      <dgm:spPr/>
    </dgm:pt>
    <dgm:pt modelId="{76B146AE-8293-4F2E-95D1-49DBDA58587B}" type="pres">
      <dgm:prSet presAssocID="{FF975CF1-E5F0-435B-A341-3D6266BC27A9}" presName="composite3" presStyleCnt="0"/>
      <dgm:spPr/>
    </dgm:pt>
    <dgm:pt modelId="{309C8916-5DE3-4D0C-9DD6-B26388DEF66F}" type="pres">
      <dgm:prSet presAssocID="{FF975CF1-E5F0-435B-A341-3D6266BC27A9}" presName="image3" presStyleLbl="node3" presStyleIdx="1" presStyleCnt="3"/>
      <dgm:spPr>
        <a:blipFill>
          <a:blip xmlns:r="http://schemas.openxmlformats.org/officeDocument/2006/relationships" r:embed="rId5" cstate="screen"/>
          <a:srcRect/>
          <a:stretch>
            <a:fillRect/>
          </a:stretch>
        </a:blipFill>
      </dgm:spPr>
    </dgm:pt>
    <dgm:pt modelId="{7FA18201-04E4-4ED5-9922-BB4A5FCBA50A}" type="pres">
      <dgm:prSet presAssocID="{FF975CF1-E5F0-435B-A341-3D6266BC27A9}" presName="text3" presStyleLbl="revTx" presStyleIdx="4" presStyleCnt="6">
        <dgm:presLayoutVars>
          <dgm:chPref val="3"/>
        </dgm:presLayoutVars>
      </dgm:prSet>
      <dgm:spPr/>
    </dgm:pt>
    <dgm:pt modelId="{4D5FA165-3D64-4F7E-9EEF-EF9E9559EBE5}" type="pres">
      <dgm:prSet presAssocID="{FF975CF1-E5F0-435B-A341-3D6266BC27A9}" presName="hierChild4" presStyleCnt="0"/>
      <dgm:spPr/>
    </dgm:pt>
    <dgm:pt modelId="{DF313CF9-4508-4CE7-B95D-6E8FC9BC2659}" type="pres">
      <dgm:prSet presAssocID="{60072504-9286-4159-855E-9E6FCFD381E6}" presName="Name17" presStyleLbl="parChTrans1D3" presStyleIdx="2" presStyleCnt="3"/>
      <dgm:spPr/>
    </dgm:pt>
    <dgm:pt modelId="{02F9A950-7172-4A0A-9552-A5749959C02A}" type="pres">
      <dgm:prSet presAssocID="{5F8C6E05-4ED6-453D-8688-DF0E1C061B37}" presName="hierRoot3" presStyleCnt="0"/>
      <dgm:spPr/>
    </dgm:pt>
    <dgm:pt modelId="{F69FD900-F361-447D-B669-A3BDC349F159}" type="pres">
      <dgm:prSet presAssocID="{5F8C6E05-4ED6-453D-8688-DF0E1C061B37}" presName="composite3" presStyleCnt="0"/>
      <dgm:spPr/>
    </dgm:pt>
    <dgm:pt modelId="{5994F302-69ED-4C99-97D9-9666EEF7DDE5}" type="pres">
      <dgm:prSet presAssocID="{5F8C6E05-4ED6-453D-8688-DF0E1C061B37}" presName="image3" presStyleLbl="node3" presStyleIdx="2" presStyleCnt="3"/>
      <dgm:spPr>
        <a:blipFill>
          <a:blip xmlns:r="http://schemas.openxmlformats.org/officeDocument/2006/relationships" r:embed="rId6" cstate="screen"/>
          <a:srcRect/>
          <a:stretch>
            <a:fillRect/>
          </a:stretch>
        </a:blipFill>
      </dgm:spPr>
    </dgm:pt>
    <dgm:pt modelId="{FCFF0558-E8A7-4C0C-B1BB-0626D5285838}" type="pres">
      <dgm:prSet presAssocID="{5F8C6E05-4ED6-453D-8688-DF0E1C061B37}" presName="text3" presStyleLbl="revTx" presStyleIdx="5" presStyleCnt="6">
        <dgm:presLayoutVars>
          <dgm:chPref val="3"/>
        </dgm:presLayoutVars>
      </dgm:prSet>
      <dgm:spPr/>
    </dgm:pt>
    <dgm:pt modelId="{CB5991BB-75E0-4479-92AD-E3798EDC8E53}" type="pres">
      <dgm:prSet presAssocID="{5F8C6E05-4ED6-453D-8688-DF0E1C061B37}" presName="hierChild4" presStyleCnt="0"/>
      <dgm:spPr/>
    </dgm:pt>
  </dgm:ptLst>
  <dgm:cxnLst>
    <dgm:cxn modelId="{E5D03102-763E-42FD-9814-3EAA7D8E8A36}" srcId="{8C16E252-FE74-48B5-B685-4769342C952C}" destId="{69F53F05-CC22-462C-B7F8-808FA9EA0573}" srcOrd="1" destOrd="0" parTransId="{E6747994-4590-44DF-B454-218090EB5483}" sibTransId="{3441095F-EAE4-407C-A57F-6C733C0584B6}"/>
    <dgm:cxn modelId="{AF480F03-8713-471F-BBB0-D908845D2A96}" type="presOf" srcId="{8C16E252-FE74-48B5-B685-4769342C952C}" destId="{9BB65D27-8700-46A0-83EC-34BF994AB0A1}" srcOrd="0" destOrd="0" presId="urn:microsoft.com/office/officeart/2009/layout/CirclePictureHierarchy"/>
    <dgm:cxn modelId="{32F98B05-F0BD-4883-8A44-4AB354AC7542}" type="presOf" srcId="{69F53F05-CC22-462C-B7F8-808FA9EA0573}" destId="{0F9F6D8D-8223-455F-B8DC-834F755D5EBC}" srcOrd="0" destOrd="0" presId="urn:microsoft.com/office/officeart/2009/layout/CirclePictureHierarchy"/>
    <dgm:cxn modelId="{1C266A06-B501-4A98-B92F-63C51ED96F17}" type="presOf" srcId="{B78E5692-CAAC-4F76-9831-9C8CB651C613}" destId="{7171A96A-30EB-406C-AC4F-90DD5A7DC437}" srcOrd="0" destOrd="0" presId="urn:microsoft.com/office/officeart/2009/layout/CirclePictureHierarchy"/>
    <dgm:cxn modelId="{A61A0A0A-3376-42CF-A376-84ABECD02BB3}" type="presOf" srcId="{2E2F0172-920E-4D9A-9283-73160E233D04}" destId="{1EA2CAD5-3926-43C4-AA7B-D9F18FBCAAF1}" srcOrd="0" destOrd="0" presId="urn:microsoft.com/office/officeart/2009/layout/CirclePictureHierarchy"/>
    <dgm:cxn modelId="{B44CD50F-2C1B-4BEB-8110-B3FDACB50BC6}" type="presOf" srcId="{E6747994-4590-44DF-B454-218090EB5483}" destId="{A2BF8570-E4C0-4D91-8434-27CBD08C8A4C}" srcOrd="0" destOrd="0" presId="urn:microsoft.com/office/officeart/2009/layout/CirclePictureHierarchy"/>
    <dgm:cxn modelId="{9BDA2D10-BE8F-4E2C-A295-0B2DE80BF0D3}" type="presOf" srcId="{FF975CF1-E5F0-435B-A341-3D6266BC27A9}" destId="{7FA18201-04E4-4ED5-9922-BB4A5FCBA50A}" srcOrd="0" destOrd="0" presId="urn:microsoft.com/office/officeart/2009/layout/CirclePictureHierarchy"/>
    <dgm:cxn modelId="{74DE8430-D6DC-46AF-B2A4-CE2D9726A2AA}" type="presOf" srcId="{60072504-9286-4159-855E-9E6FCFD381E6}" destId="{DF313CF9-4508-4CE7-B95D-6E8FC9BC2659}" srcOrd="0" destOrd="0" presId="urn:microsoft.com/office/officeart/2009/layout/CirclePictureHierarchy"/>
    <dgm:cxn modelId="{5D53144E-2FE9-48FF-A1FD-0C48FA7D48BE}" type="presOf" srcId="{A5EC4D44-D321-4B9B-9D61-4BDD83050B28}" destId="{6B415EC3-696E-412D-8E43-4697BA633DA1}" srcOrd="0" destOrd="0" presId="urn:microsoft.com/office/officeart/2009/layout/CirclePictureHierarchy"/>
    <dgm:cxn modelId="{F94F7654-7C41-4A45-9EC3-AAB0C5BD6C1F}" srcId="{504A7F50-2E5D-464F-B21F-CE405CE7E9C7}" destId="{8C16E252-FE74-48B5-B685-4769342C952C}" srcOrd="0" destOrd="0" parTransId="{5DBF51BF-4366-495D-B2ED-E285A8DB6D7E}" sibTransId="{FDE0539B-040D-4E57-85E9-DEB976D54A55}"/>
    <dgm:cxn modelId="{E8F56960-D327-49E5-84DD-4D33EBFBDBED}" srcId="{2E2F0172-920E-4D9A-9283-73160E233D04}" destId="{2AA6D451-2A2D-4266-80A9-7A907B52DFB2}" srcOrd="0" destOrd="0" parTransId="{A5EC4D44-D321-4B9B-9D61-4BDD83050B28}" sibTransId="{40506F90-0469-4BE9-86AD-DA5F5FE9D171}"/>
    <dgm:cxn modelId="{EC196D8A-2C73-41CE-991D-6AB03E247A98}" srcId="{8C16E252-FE74-48B5-B685-4769342C952C}" destId="{2E2F0172-920E-4D9A-9283-73160E233D04}" srcOrd="0" destOrd="0" parTransId="{B78E5692-CAAC-4F76-9831-9C8CB651C613}" sibTransId="{F9D0331C-6F42-41CA-B94C-D694E22D582C}"/>
    <dgm:cxn modelId="{41AD2D8D-B146-4531-8424-1D039921C6A2}" type="presOf" srcId="{5F8C6E05-4ED6-453D-8688-DF0E1C061B37}" destId="{FCFF0558-E8A7-4C0C-B1BB-0626D5285838}" srcOrd="0" destOrd="0" presId="urn:microsoft.com/office/officeart/2009/layout/CirclePictureHierarchy"/>
    <dgm:cxn modelId="{3A482B9F-1959-40F5-B0E8-81D54F4AFF8E}" type="presOf" srcId="{504A7F50-2E5D-464F-B21F-CE405CE7E9C7}" destId="{765AFD0F-793A-4F19-986C-0ECCE4BB3C80}" srcOrd="0" destOrd="0" presId="urn:microsoft.com/office/officeart/2009/layout/CirclePictureHierarchy"/>
    <dgm:cxn modelId="{DF2096AE-30BC-456D-AD0A-36128B5AE54E}" type="presOf" srcId="{2AA6D451-2A2D-4266-80A9-7A907B52DFB2}" destId="{CAA25CFC-F770-4AF2-B347-BA6CEAC0A90D}" srcOrd="0" destOrd="0" presId="urn:microsoft.com/office/officeart/2009/layout/CirclePictureHierarchy"/>
    <dgm:cxn modelId="{B7B615C5-2D11-428B-8F5B-31DEB9F1B4AF}" srcId="{69F53F05-CC22-462C-B7F8-808FA9EA0573}" destId="{5F8C6E05-4ED6-453D-8688-DF0E1C061B37}" srcOrd="1" destOrd="0" parTransId="{60072504-9286-4159-855E-9E6FCFD381E6}" sibTransId="{54D6DFD3-2610-49F5-85F6-EB9D8F59B840}"/>
    <dgm:cxn modelId="{49F363EA-747C-4FC5-83AE-9DD3E354E916}" type="presOf" srcId="{598AA688-27FB-4E43-9800-3CB49900EDDB}" destId="{4F062968-6E3C-4D30-A189-9E382DEFBB02}" srcOrd="0" destOrd="0" presId="urn:microsoft.com/office/officeart/2009/layout/CirclePictureHierarchy"/>
    <dgm:cxn modelId="{939719EC-6E73-47ED-A2CC-34805C2F0F69}" srcId="{69F53F05-CC22-462C-B7F8-808FA9EA0573}" destId="{FF975CF1-E5F0-435B-A341-3D6266BC27A9}" srcOrd="0" destOrd="0" parTransId="{598AA688-27FB-4E43-9800-3CB49900EDDB}" sibTransId="{D9DE3CC0-E5DE-4332-A6BA-3FDD4FFCF3A0}"/>
    <dgm:cxn modelId="{F027CB98-E746-4913-8AE4-E25FBCC470D0}" type="presParOf" srcId="{765AFD0F-793A-4F19-986C-0ECCE4BB3C80}" destId="{77B58E31-F7D4-467A-B55A-92A35488E809}" srcOrd="0" destOrd="0" presId="urn:microsoft.com/office/officeart/2009/layout/CirclePictureHierarchy"/>
    <dgm:cxn modelId="{FB06B2F9-8329-4E90-A464-F1234B7E675D}" type="presParOf" srcId="{77B58E31-F7D4-467A-B55A-92A35488E809}" destId="{5CF0E404-939F-4916-B65C-487D27B640E8}" srcOrd="0" destOrd="0" presId="urn:microsoft.com/office/officeart/2009/layout/CirclePictureHierarchy"/>
    <dgm:cxn modelId="{E7752074-F08C-41C2-B5CC-5AFD6A1BFC7A}" type="presParOf" srcId="{5CF0E404-939F-4916-B65C-487D27B640E8}" destId="{B2E6AB3F-A7D3-44D9-9109-739E19C00291}" srcOrd="0" destOrd="0" presId="urn:microsoft.com/office/officeart/2009/layout/CirclePictureHierarchy"/>
    <dgm:cxn modelId="{FF07C85C-5D96-40FD-9671-92F5E44BA787}" type="presParOf" srcId="{5CF0E404-939F-4916-B65C-487D27B640E8}" destId="{9BB65D27-8700-46A0-83EC-34BF994AB0A1}" srcOrd="1" destOrd="0" presId="urn:microsoft.com/office/officeart/2009/layout/CirclePictureHierarchy"/>
    <dgm:cxn modelId="{17267FE5-6306-481A-9C55-F7AFE793017E}" type="presParOf" srcId="{77B58E31-F7D4-467A-B55A-92A35488E809}" destId="{8DF61D76-A082-44F4-9688-A7D6438818C7}" srcOrd="1" destOrd="0" presId="urn:microsoft.com/office/officeart/2009/layout/CirclePictureHierarchy"/>
    <dgm:cxn modelId="{FDFF2662-CF11-455D-92C5-4D99B521A5AA}" type="presParOf" srcId="{8DF61D76-A082-44F4-9688-A7D6438818C7}" destId="{7171A96A-30EB-406C-AC4F-90DD5A7DC437}" srcOrd="0" destOrd="0" presId="urn:microsoft.com/office/officeart/2009/layout/CirclePictureHierarchy"/>
    <dgm:cxn modelId="{443AF14A-6D52-4402-BF8B-17A18347276B}" type="presParOf" srcId="{8DF61D76-A082-44F4-9688-A7D6438818C7}" destId="{463855BD-35A5-4111-8E19-DE5330E172B1}" srcOrd="1" destOrd="0" presId="urn:microsoft.com/office/officeart/2009/layout/CirclePictureHierarchy"/>
    <dgm:cxn modelId="{27A04444-6916-4050-B764-6E429D6DA783}" type="presParOf" srcId="{463855BD-35A5-4111-8E19-DE5330E172B1}" destId="{B7F77B1C-EC62-4976-AF3C-E08B1E1DBE2B}" srcOrd="0" destOrd="0" presId="urn:microsoft.com/office/officeart/2009/layout/CirclePictureHierarchy"/>
    <dgm:cxn modelId="{46E63045-1D2E-4FA9-9E0C-F4F2A2DC95D6}" type="presParOf" srcId="{B7F77B1C-EC62-4976-AF3C-E08B1E1DBE2B}" destId="{4033EFAF-2B21-4EA6-82B8-0F9BEB9C3084}" srcOrd="0" destOrd="0" presId="urn:microsoft.com/office/officeart/2009/layout/CirclePictureHierarchy"/>
    <dgm:cxn modelId="{462EB613-C311-4811-B96F-525D62940782}" type="presParOf" srcId="{B7F77B1C-EC62-4976-AF3C-E08B1E1DBE2B}" destId="{1EA2CAD5-3926-43C4-AA7B-D9F18FBCAAF1}" srcOrd="1" destOrd="0" presId="urn:microsoft.com/office/officeart/2009/layout/CirclePictureHierarchy"/>
    <dgm:cxn modelId="{BB99A347-FAC4-4F3C-940E-69B976BD4C8B}" type="presParOf" srcId="{463855BD-35A5-4111-8E19-DE5330E172B1}" destId="{59E58AB9-2F15-4498-A16F-397FCA1DE655}" srcOrd="1" destOrd="0" presId="urn:microsoft.com/office/officeart/2009/layout/CirclePictureHierarchy"/>
    <dgm:cxn modelId="{02B7C18C-9E86-455C-8D61-C49DE172F759}" type="presParOf" srcId="{59E58AB9-2F15-4498-A16F-397FCA1DE655}" destId="{6B415EC3-696E-412D-8E43-4697BA633DA1}" srcOrd="0" destOrd="0" presId="urn:microsoft.com/office/officeart/2009/layout/CirclePictureHierarchy"/>
    <dgm:cxn modelId="{DA3996B5-1914-4DB0-AD59-2D6A18206A7D}" type="presParOf" srcId="{59E58AB9-2F15-4498-A16F-397FCA1DE655}" destId="{EBCB7C62-879F-4166-AD1C-7F41174A7746}" srcOrd="1" destOrd="0" presId="urn:microsoft.com/office/officeart/2009/layout/CirclePictureHierarchy"/>
    <dgm:cxn modelId="{9A757150-7611-4287-B74B-9CBE5F16C96C}" type="presParOf" srcId="{EBCB7C62-879F-4166-AD1C-7F41174A7746}" destId="{6F9C9D36-CF92-4E0C-8AAE-C0D9A05A7AF6}" srcOrd="0" destOrd="0" presId="urn:microsoft.com/office/officeart/2009/layout/CirclePictureHierarchy"/>
    <dgm:cxn modelId="{6F4D061A-FD11-42B4-845D-A129819EDD34}" type="presParOf" srcId="{6F9C9D36-CF92-4E0C-8AAE-C0D9A05A7AF6}" destId="{B30897B3-FCB5-402E-910D-B1841A9E0FD2}" srcOrd="0" destOrd="0" presId="urn:microsoft.com/office/officeart/2009/layout/CirclePictureHierarchy"/>
    <dgm:cxn modelId="{9DBFB875-38F0-4799-B065-B629A78093C5}" type="presParOf" srcId="{6F9C9D36-CF92-4E0C-8AAE-C0D9A05A7AF6}" destId="{CAA25CFC-F770-4AF2-B347-BA6CEAC0A90D}" srcOrd="1" destOrd="0" presId="urn:microsoft.com/office/officeart/2009/layout/CirclePictureHierarchy"/>
    <dgm:cxn modelId="{192FAE29-169C-4431-A215-441E284017A9}" type="presParOf" srcId="{EBCB7C62-879F-4166-AD1C-7F41174A7746}" destId="{79DFB2B9-F590-4FC8-8255-0B2F5B665AA5}" srcOrd="1" destOrd="0" presId="urn:microsoft.com/office/officeart/2009/layout/CirclePictureHierarchy"/>
    <dgm:cxn modelId="{AA79445E-93C0-450C-AEB7-BAA46340D89B}" type="presParOf" srcId="{8DF61D76-A082-44F4-9688-A7D6438818C7}" destId="{A2BF8570-E4C0-4D91-8434-27CBD08C8A4C}" srcOrd="2" destOrd="0" presId="urn:microsoft.com/office/officeart/2009/layout/CirclePictureHierarchy"/>
    <dgm:cxn modelId="{DD1059CB-6D73-4651-A5B2-392267A1BD15}" type="presParOf" srcId="{8DF61D76-A082-44F4-9688-A7D6438818C7}" destId="{C69F9E57-5ACD-4EC3-876D-13100AFAA5BF}" srcOrd="3" destOrd="0" presId="urn:microsoft.com/office/officeart/2009/layout/CirclePictureHierarchy"/>
    <dgm:cxn modelId="{F93D4666-5370-493B-8F71-26E095F739CD}" type="presParOf" srcId="{C69F9E57-5ACD-4EC3-876D-13100AFAA5BF}" destId="{1689DFF1-D627-4D9F-B3D3-04F3FD9DA419}" srcOrd="0" destOrd="0" presId="urn:microsoft.com/office/officeart/2009/layout/CirclePictureHierarchy"/>
    <dgm:cxn modelId="{A3073B49-C51A-4849-A567-044825716320}" type="presParOf" srcId="{1689DFF1-D627-4D9F-B3D3-04F3FD9DA419}" destId="{6C66EC66-BBD9-42F6-B11B-AAC2504CB740}" srcOrd="0" destOrd="0" presId="urn:microsoft.com/office/officeart/2009/layout/CirclePictureHierarchy"/>
    <dgm:cxn modelId="{33ED7E16-AF34-43C5-B6F0-2E5AAB7C5236}" type="presParOf" srcId="{1689DFF1-D627-4D9F-B3D3-04F3FD9DA419}" destId="{0F9F6D8D-8223-455F-B8DC-834F755D5EBC}" srcOrd="1" destOrd="0" presId="urn:microsoft.com/office/officeart/2009/layout/CirclePictureHierarchy"/>
    <dgm:cxn modelId="{DCBEFCC5-E8C7-42EA-8BE5-082F6337A125}" type="presParOf" srcId="{C69F9E57-5ACD-4EC3-876D-13100AFAA5BF}" destId="{BC5E1905-5346-4721-A40C-F214A08533E0}" srcOrd="1" destOrd="0" presId="urn:microsoft.com/office/officeart/2009/layout/CirclePictureHierarchy"/>
    <dgm:cxn modelId="{A54D9797-F31D-4F73-9EE6-A867153C7B91}" type="presParOf" srcId="{BC5E1905-5346-4721-A40C-F214A08533E0}" destId="{4F062968-6E3C-4D30-A189-9E382DEFBB02}" srcOrd="0" destOrd="0" presId="urn:microsoft.com/office/officeart/2009/layout/CirclePictureHierarchy"/>
    <dgm:cxn modelId="{A3B9709E-E4EF-4D3C-A192-EA93CB155AB5}" type="presParOf" srcId="{BC5E1905-5346-4721-A40C-F214A08533E0}" destId="{32FF9C30-E3C8-428C-93D8-8C162439E37F}" srcOrd="1" destOrd="0" presId="urn:microsoft.com/office/officeart/2009/layout/CirclePictureHierarchy"/>
    <dgm:cxn modelId="{DF47E138-7D8E-4D7F-8F02-03E60D1FC72C}" type="presParOf" srcId="{32FF9C30-E3C8-428C-93D8-8C162439E37F}" destId="{76B146AE-8293-4F2E-95D1-49DBDA58587B}" srcOrd="0" destOrd="0" presId="urn:microsoft.com/office/officeart/2009/layout/CirclePictureHierarchy"/>
    <dgm:cxn modelId="{B37B830D-58A7-4067-8D62-7A208D3FA85A}" type="presParOf" srcId="{76B146AE-8293-4F2E-95D1-49DBDA58587B}" destId="{309C8916-5DE3-4D0C-9DD6-B26388DEF66F}" srcOrd="0" destOrd="0" presId="urn:microsoft.com/office/officeart/2009/layout/CirclePictureHierarchy"/>
    <dgm:cxn modelId="{5695180F-D343-433A-A1A6-D4BBF34B71D5}" type="presParOf" srcId="{76B146AE-8293-4F2E-95D1-49DBDA58587B}" destId="{7FA18201-04E4-4ED5-9922-BB4A5FCBA50A}" srcOrd="1" destOrd="0" presId="urn:microsoft.com/office/officeart/2009/layout/CirclePictureHierarchy"/>
    <dgm:cxn modelId="{66A6A2D9-890C-4BED-9CC6-FBEAAF92C2B8}" type="presParOf" srcId="{32FF9C30-E3C8-428C-93D8-8C162439E37F}" destId="{4D5FA165-3D64-4F7E-9EEF-EF9E9559EBE5}" srcOrd="1" destOrd="0" presId="urn:microsoft.com/office/officeart/2009/layout/CirclePictureHierarchy"/>
    <dgm:cxn modelId="{863314CD-ACAD-415B-9545-59ECEE08B6B3}" type="presParOf" srcId="{BC5E1905-5346-4721-A40C-F214A08533E0}" destId="{DF313CF9-4508-4CE7-B95D-6E8FC9BC2659}" srcOrd="2" destOrd="0" presId="urn:microsoft.com/office/officeart/2009/layout/CirclePictureHierarchy"/>
    <dgm:cxn modelId="{84701FF6-FCFB-4DF3-B7FC-809D2588BFF7}" type="presParOf" srcId="{BC5E1905-5346-4721-A40C-F214A08533E0}" destId="{02F9A950-7172-4A0A-9552-A5749959C02A}" srcOrd="3" destOrd="0" presId="urn:microsoft.com/office/officeart/2009/layout/CirclePictureHierarchy"/>
    <dgm:cxn modelId="{2A11A9AC-9658-4605-9CB0-D7FEB37D1C70}" type="presParOf" srcId="{02F9A950-7172-4A0A-9552-A5749959C02A}" destId="{F69FD900-F361-447D-B669-A3BDC349F159}" srcOrd="0" destOrd="0" presId="urn:microsoft.com/office/officeart/2009/layout/CirclePictureHierarchy"/>
    <dgm:cxn modelId="{6B35DEA9-95D9-47D2-BFE6-4C57D62B1B09}" type="presParOf" srcId="{F69FD900-F361-447D-B669-A3BDC349F159}" destId="{5994F302-69ED-4C99-97D9-9666EEF7DDE5}" srcOrd="0" destOrd="0" presId="urn:microsoft.com/office/officeart/2009/layout/CirclePictureHierarchy"/>
    <dgm:cxn modelId="{006076E1-9159-4787-9F51-8F9A0301CE55}" type="presParOf" srcId="{F69FD900-F361-447D-B669-A3BDC349F159}" destId="{FCFF0558-E8A7-4C0C-B1BB-0626D5285838}" srcOrd="1" destOrd="0" presId="urn:microsoft.com/office/officeart/2009/layout/CirclePictureHierarchy"/>
    <dgm:cxn modelId="{ED7963A3-2E62-40A3-8688-035C1FDDC3AC}" type="presParOf" srcId="{02F9A950-7172-4A0A-9552-A5749959C02A}" destId="{CB5991BB-75E0-4479-92AD-E3798EDC8E53}" srcOrd="1" destOrd="0" presId="urn:microsoft.com/office/officeart/2009/layout/CirclePictureHierarchy"/>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980EC8-CFB4-49D4-8A80-35CE1B3F555F}" type="doc">
      <dgm:prSet loTypeId="urn:microsoft.com/office/officeart/2005/8/layout/chevronAccent+Icon" loCatId="process" qsTypeId="urn:microsoft.com/office/officeart/2005/8/quickstyle/simple5" qsCatId="simple" csTypeId="urn:microsoft.com/office/officeart/2005/8/colors/colorful3" csCatId="colorful" phldr="1"/>
      <dgm:spPr/>
    </dgm:pt>
    <dgm:pt modelId="{7622A748-5EA4-43B4-886A-EF260D97B34F}">
      <dgm:prSet phldrT="[文本]"/>
      <dgm:spPr/>
      <dgm:t>
        <a:bodyPr/>
        <a:lstStyle/>
        <a:p>
          <a:r>
            <a:rPr lang="zh-CN" altLang="en-US" dirty="0"/>
            <a:t>产品或服务的价值或效用</a:t>
          </a:r>
        </a:p>
      </dgm:t>
    </dgm:pt>
    <dgm:pt modelId="{1A210025-36C9-4C8E-847E-BB9787DCBF22}" cxnId="{183D1B1C-2454-4758-8943-505127CB39F4}" type="parTrans">
      <dgm:prSet/>
      <dgm:spPr/>
      <dgm:t>
        <a:bodyPr/>
        <a:lstStyle/>
        <a:p>
          <a:endParaRPr lang="zh-CN" altLang="en-US"/>
        </a:p>
      </dgm:t>
    </dgm:pt>
    <dgm:pt modelId="{43386DD6-C6B6-4ED5-8BB1-757F7F797EFF}" cxnId="{183D1B1C-2454-4758-8943-505127CB39F4}" type="sibTrans">
      <dgm:prSet/>
      <dgm:spPr/>
      <dgm:t>
        <a:bodyPr/>
        <a:lstStyle/>
        <a:p>
          <a:endParaRPr lang="zh-CN" altLang="en-US"/>
        </a:p>
      </dgm:t>
    </dgm:pt>
    <dgm:pt modelId="{08FDD4B1-2134-4E7D-A0F3-73FDE9F5F804}">
      <dgm:prSet phldrT="[文本]"/>
      <dgm:spPr/>
      <dgm:t>
        <a:bodyPr/>
        <a:lstStyle/>
        <a:p>
          <a:r>
            <a:rPr lang="zh-CN" altLang="en-US" dirty="0"/>
            <a:t>消费者的需求曲线</a:t>
          </a:r>
        </a:p>
      </dgm:t>
    </dgm:pt>
    <dgm:pt modelId="{0204A59B-3CD0-4A9B-806E-B96EE9ACD115}" cxnId="{AA52409C-421F-491B-89C8-CFCC30020560}" type="parTrans">
      <dgm:prSet/>
      <dgm:spPr/>
      <dgm:t>
        <a:bodyPr/>
        <a:lstStyle/>
        <a:p>
          <a:endParaRPr lang="zh-CN" altLang="en-US"/>
        </a:p>
      </dgm:t>
    </dgm:pt>
    <dgm:pt modelId="{9EE06F7E-AE78-4FDE-BD99-B6BCBAA46BE7}" cxnId="{AA52409C-421F-491B-89C8-CFCC30020560}" type="sibTrans">
      <dgm:prSet/>
      <dgm:spPr/>
      <dgm:t>
        <a:bodyPr/>
        <a:lstStyle/>
        <a:p>
          <a:endParaRPr lang="zh-CN" altLang="en-US"/>
        </a:p>
      </dgm:t>
    </dgm:pt>
    <dgm:pt modelId="{4C92E30C-6E00-41B4-851A-1A2A7583B3B8}">
      <dgm:prSet phldrT="[文本]"/>
      <dgm:spPr/>
      <dgm:t>
        <a:bodyPr/>
        <a:lstStyle/>
        <a:p>
          <a:r>
            <a:rPr lang="en-US" altLang="zh-CN" dirty="0"/>
            <a:t>The value or utility</a:t>
          </a:r>
          <a:endParaRPr lang="zh-CN" altLang="en-US" dirty="0"/>
        </a:p>
      </dgm:t>
    </dgm:pt>
    <dgm:pt modelId="{568CD41D-3E8F-42F1-A306-3BA9D650CD3D}" cxnId="{8E622865-795A-4309-955C-433C1BB0BAA1}" type="parTrans">
      <dgm:prSet/>
      <dgm:spPr/>
      <dgm:t>
        <a:bodyPr/>
        <a:lstStyle/>
        <a:p>
          <a:endParaRPr lang="zh-CN" altLang="en-US"/>
        </a:p>
      </dgm:t>
    </dgm:pt>
    <dgm:pt modelId="{CB83BE41-94A2-409E-963C-13FC5874EBB7}" cxnId="{8E622865-795A-4309-955C-433C1BB0BAA1}" type="sibTrans">
      <dgm:prSet/>
      <dgm:spPr/>
      <dgm:t>
        <a:bodyPr/>
        <a:lstStyle/>
        <a:p>
          <a:endParaRPr lang="zh-CN" altLang="en-US"/>
        </a:p>
      </dgm:t>
    </dgm:pt>
    <dgm:pt modelId="{DF9BA63E-9D33-41DD-85D8-5E52AFF88240}">
      <dgm:prSet phldrT="[文本]"/>
      <dgm:spPr/>
      <dgm:t>
        <a:bodyPr/>
        <a:lstStyle/>
        <a:p>
          <a:r>
            <a:rPr lang="zh-CN" altLang="en-US" dirty="0"/>
            <a:t>消费者的支付意愿</a:t>
          </a:r>
        </a:p>
      </dgm:t>
    </dgm:pt>
    <dgm:pt modelId="{3256B25D-3F08-404F-8849-71222D9B2E66}" cxnId="{F989BAAC-337C-4BAC-AA26-649D675215B0}" type="parTrans">
      <dgm:prSet/>
      <dgm:spPr/>
      <dgm:t>
        <a:bodyPr/>
        <a:lstStyle/>
        <a:p>
          <a:endParaRPr lang="zh-CN" altLang="en-US"/>
        </a:p>
      </dgm:t>
    </dgm:pt>
    <dgm:pt modelId="{1D7D65BC-0B4C-4EAB-A63D-460C879D997C}" cxnId="{F989BAAC-337C-4BAC-AA26-649D675215B0}" type="sibTrans">
      <dgm:prSet/>
      <dgm:spPr/>
      <dgm:t>
        <a:bodyPr/>
        <a:lstStyle/>
        <a:p>
          <a:endParaRPr lang="zh-CN" altLang="en-US"/>
        </a:p>
      </dgm:t>
    </dgm:pt>
    <dgm:pt modelId="{266EF833-7C57-4935-8820-7CA8D323F578}">
      <dgm:prSet phldrT="[文本]"/>
      <dgm:spPr/>
      <dgm:t>
        <a:bodyPr/>
        <a:lstStyle/>
        <a:p>
          <a:r>
            <a:rPr lang="en-US" altLang="zh-CN" dirty="0"/>
            <a:t>Willingness to pay</a:t>
          </a:r>
          <a:endParaRPr lang="zh-CN" altLang="en-US" dirty="0"/>
        </a:p>
      </dgm:t>
    </dgm:pt>
    <dgm:pt modelId="{19C65964-B12D-478B-9ED4-D241BBF09F0E}" cxnId="{0A116110-D809-4CCA-909A-7778609CAE30}" type="parTrans">
      <dgm:prSet/>
      <dgm:spPr/>
      <dgm:t>
        <a:bodyPr/>
        <a:lstStyle/>
        <a:p>
          <a:endParaRPr lang="zh-CN" altLang="en-US"/>
        </a:p>
      </dgm:t>
    </dgm:pt>
    <dgm:pt modelId="{CF1F7610-83BF-4743-B4ED-7986E0180ED6}" cxnId="{0A116110-D809-4CCA-909A-7778609CAE30}" type="sibTrans">
      <dgm:prSet/>
      <dgm:spPr/>
      <dgm:t>
        <a:bodyPr/>
        <a:lstStyle/>
        <a:p>
          <a:endParaRPr lang="zh-CN" altLang="en-US"/>
        </a:p>
      </dgm:t>
    </dgm:pt>
    <dgm:pt modelId="{09A570ED-40B2-4C3B-AE5E-ED28EF9A6E2B}">
      <dgm:prSet phldrT="[文本]"/>
      <dgm:spPr/>
      <dgm:t>
        <a:bodyPr/>
        <a:lstStyle/>
        <a:p>
          <a:r>
            <a:rPr lang="en-US" altLang="zh-CN" dirty="0"/>
            <a:t>Demand curve</a:t>
          </a:r>
          <a:endParaRPr lang="zh-CN" altLang="en-US" dirty="0"/>
        </a:p>
      </dgm:t>
    </dgm:pt>
    <dgm:pt modelId="{398847F6-C7AF-48C3-AB7B-F93F308DA065}" cxnId="{6634075A-F335-4032-886A-FCD70874C309}" type="parTrans">
      <dgm:prSet/>
      <dgm:spPr/>
      <dgm:t>
        <a:bodyPr/>
        <a:lstStyle/>
        <a:p>
          <a:endParaRPr lang="zh-CN" altLang="en-US"/>
        </a:p>
      </dgm:t>
    </dgm:pt>
    <dgm:pt modelId="{E25F5C03-F567-4CE2-A5F2-5C14962BECA3}" cxnId="{6634075A-F335-4032-886A-FCD70874C309}" type="sibTrans">
      <dgm:prSet/>
      <dgm:spPr/>
      <dgm:t>
        <a:bodyPr/>
        <a:lstStyle/>
        <a:p>
          <a:endParaRPr lang="zh-CN" altLang="en-US"/>
        </a:p>
      </dgm:t>
    </dgm:pt>
    <dgm:pt modelId="{AAD714DB-D1A1-46D2-9E79-CB184DB04AEB}" type="pres">
      <dgm:prSet presAssocID="{71980EC8-CFB4-49D4-8A80-35CE1B3F555F}" presName="Name0" presStyleCnt="0">
        <dgm:presLayoutVars>
          <dgm:dir/>
          <dgm:resizeHandles val="exact"/>
        </dgm:presLayoutVars>
      </dgm:prSet>
      <dgm:spPr/>
    </dgm:pt>
    <dgm:pt modelId="{77FD6555-8597-47C8-A349-3BD12A2E5E53}" type="pres">
      <dgm:prSet presAssocID="{4C92E30C-6E00-41B4-851A-1A2A7583B3B8}" presName="composite" presStyleCnt="0"/>
      <dgm:spPr/>
    </dgm:pt>
    <dgm:pt modelId="{6AC94CC9-4A46-4A04-87E2-64C83057C1F2}" type="pres">
      <dgm:prSet presAssocID="{4C92E30C-6E00-41B4-851A-1A2A7583B3B8}" presName="bgChev" presStyleLbl="node1" presStyleIdx="0" presStyleCnt="3" custScaleY="168541"/>
      <dgm:spPr/>
    </dgm:pt>
    <dgm:pt modelId="{54D49D4F-A886-4E85-B7FD-BF47BBC672E7}" type="pres">
      <dgm:prSet presAssocID="{4C92E30C-6E00-41B4-851A-1A2A7583B3B8}" presName="txNode" presStyleLbl="fgAcc1" presStyleIdx="0" presStyleCnt="3">
        <dgm:presLayoutVars>
          <dgm:bulletEnabled val="1"/>
        </dgm:presLayoutVars>
      </dgm:prSet>
      <dgm:spPr/>
    </dgm:pt>
    <dgm:pt modelId="{2EE873EE-E5BC-473B-B56E-B6699A291BBD}" type="pres">
      <dgm:prSet presAssocID="{CB83BE41-94A2-409E-963C-13FC5874EBB7}" presName="compositeSpace" presStyleCnt="0"/>
      <dgm:spPr/>
    </dgm:pt>
    <dgm:pt modelId="{7AC2AF0F-B1BB-42C0-8863-E791BD81983A}" type="pres">
      <dgm:prSet presAssocID="{266EF833-7C57-4935-8820-7CA8D323F578}" presName="composite" presStyleCnt="0"/>
      <dgm:spPr/>
    </dgm:pt>
    <dgm:pt modelId="{EE4217A3-7A4B-47DB-A85A-61F997229FFF}" type="pres">
      <dgm:prSet presAssocID="{266EF833-7C57-4935-8820-7CA8D323F578}" presName="bgChev" presStyleLbl="node1" presStyleIdx="1" presStyleCnt="3" custScaleY="168541"/>
      <dgm:spPr/>
    </dgm:pt>
    <dgm:pt modelId="{404A044D-55C5-41AA-95B5-71CB9019A8AF}" type="pres">
      <dgm:prSet presAssocID="{266EF833-7C57-4935-8820-7CA8D323F578}" presName="txNode" presStyleLbl="fgAcc1" presStyleIdx="1" presStyleCnt="3">
        <dgm:presLayoutVars>
          <dgm:bulletEnabled val="1"/>
        </dgm:presLayoutVars>
      </dgm:prSet>
      <dgm:spPr/>
    </dgm:pt>
    <dgm:pt modelId="{B959147A-3A85-4A52-A31F-66B672992708}" type="pres">
      <dgm:prSet presAssocID="{CF1F7610-83BF-4743-B4ED-7986E0180ED6}" presName="compositeSpace" presStyleCnt="0"/>
      <dgm:spPr/>
    </dgm:pt>
    <dgm:pt modelId="{399042A1-7870-4A63-A404-B5E2BF1CB4B3}" type="pres">
      <dgm:prSet presAssocID="{09A570ED-40B2-4C3B-AE5E-ED28EF9A6E2B}" presName="composite" presStyleCnt="0"/>
      <dgm:spPr/>
    </dgm:pt>
    <dgm:pt modelId="{D7FD6AFA-F0F6-4973-9D65-84F939016CBE}" type="pres">
      <dgm:prSet presAssocID="{09A570ED-40B2-4C3B-AE5E-ED28EF9A6E2B}" presName="bgChev" presStyleLbl="node1" presStyleIdx="2" presStyleCnt="3" custScaleY="168541"/>
      <dgm:spPr/>
    </dgm:pt>
    <dgm:pt modelId="{8E3446E3-B659-459B-B287-77AB9BEDBF13}" type="pres">
      <dgm:prSet presAssocID="{09A570ED-40B2-4C3B-AE5E-ED28EF9A6E2B}" presName="txNode" presStyleLbl="fgAcc1" presStyleIdx="2" presStyleCnt="3">
        <dgm:presLayoutVars>
          <dgm:bulletEnabled val="1"/>
        </dgm:presLayoutVars>
      </dgm:prSet>
      <dgm:spPr/>
    </dgm:pt>
  </dgm:ptLst>
  <dgm:cxnLst>
    <dgm:cxn modelId="{0A116110-D809-4CCA-909A-7778609CAE30}" srcId="{71980EC8-CFB4-49D4-8A80-35CE1B3F555F}" destId="{266EF833-7C57-4935-8820-7CA8D323F578}" srcOrd="1" destOrd="0" parTransId="{19C65964-B12D-478B-9ED4-D241BBF09F0E}" sibTransId="{CF1F7610-83BF-4743-B4ED-7986E0180ED6}"/>
    <dgm:cxn modelId="{9F1C8E1B-2F32-4594-8F93-482C9A8937BB}" type="presOf" srcId="{266EF833-7C57-4935-8820-7CA8D323F578}" destId="{404A044D-55C5-41AA-95B5-71CB9019A8AF}" srcOrd="0" destOrd="0" presId="urn:microsoft.com/office/officeart/2005/8/layout/chevronAccent+Icon"/>
    <dgm:cxn modelId="{183D1B1C-2454-4758-8943-505127CB39F4}" srcId="{4C92E30C-6E00-41B4-851A-1A2A7583B3B8}" destId="{7622A748-5EA4-43B4-886A-EF260D97B34F}" srcOrd="0" destOrd="0" parTransId="{1A210025-36C9-4C8E-847E-BB9787DCBF22}" sibTransId="{43386DD6-C6B6-4ED5-8BB1-757F7F797EFF}"/>
    <dgm:cxn modelId="{21EEE63B-81DE-490B-B062-0F44BCD0F4D5}" type="presOf" srcId="{71980EC8-CFB4-49D4-8A80-35CE1B3F555F}" destId="{AAD714DB-D1A1-46D2-9E79-CB184DB04AEB}" srcOrd="0" destOrd="0" presId="urn:microsoft.com/office/officeart/2005/8/layout/chevronAccent+Icon"/>
    <dgm:cxn modelId="{0664B147-8D7E-4726-81CD-2DE3CB704F4E}" type="presOf" srcId="{09A570ED-40B2-4C3B-AE5E-ED28EF9A6E2B}" destId="{8E3446E3-B659-459B-B287-77AB9BEDBF13}" srcOrd="0" destOrd="0" presId="urn:microsoft.com/office/officeart/2005/8/layout/chevronAccent+Icon"/>
    <dgm:cxn modelId="{6634075A-F335-4032-886A-FCD70874C309}" srcId="{71980EC8-CFB4-49D4-8A80-35CE1B3F555F}" destId="{09A570ED-40B2-4C3B-AE5E-ED28EF9A6E2B}" srcOrd="2" destOrd="0" parTransId="{398847F6-C7AF-48C3-AB7B-F93F308DA065}" sibTransId="{E25F5C03-F567-4CE2-A5F2-5C14962BECA3}"/>
    <dgm:cxn modelId="{8E622865-795A-4309-955C-433C1BB0BAA1}" srcId="{71980EC8-CFB4-49D4-8A80-35CE1B3F555F}" destId="{4C92E30C-6E00-41B4-851A-1A2A7583B3B8}" srcOrd="0" destOrd="0" parTransId="{568CD41D-3E8F-42F1-A306-3BA9D650CD3D}" sibTransId="{CB83BE41-94A2-409E-963C-13FC5874EBB7}"/>
    <dgm:cxn modelId="{80F4D772-3A47-47EF-A973-4AD1F0CE6374}" type="presOf" srcId="{08FDD4B1-2134-4E7D-A0F3-73FDE9F5F804}" destId="{8E3446E3-B659-459B-B287-77AB9BEDBF13}" srcOrd="0" destOrd="1" presId="urn:microsoft.com/office/officeart/2005/8/layout/chevronAccent+Icon"/>
    <dgm:cxn modelId="{AA52409C-421F-491B-89C8-CFCC30020560}" srcId="{09A570ED-40B2-4C3B-AE5E-ED28EF9A6E2B}" destId="{08FDD4B1-2134-4E7D-A0F3-73FDE9F5F804}" srcOrd="0" destOrd="0" parTransId="{0204A59B-3CD0-4A9B-806E-B96EE9ACD115}" sibTransId="{9EE06F7E-AE78-4FDE-BD99-B6BCBAA46BE7}"/>
    <dgm:cxn modelId="{42A27EA9-E9D3-4866-883B-6A90CE8095CD}" type="presOf" srcId="{7622A748-5EA4-43B4-886A-EF260D97B34F}" destId="{54D49D4F-A886-4E85-B7FD-BF47BBC672E7}" srcOrd="0" destOrd="1" presId="urn:microsoft.com/office/officeart/2005/8/layout/chevronAccent+Icon"/>
    <dgm:cxn modelId="{F989BAAC-337C-4BAC-AA26-649D675215B0}" srcId="{266EF833-7C57-4935-8820-7CA8D323F578}" destId="{DF9BA63E-9D33-41DD-85D8-5E52AFF88240}" srcOrd="0" destOrd="0" parTransId="{3256B25D-3F08-404F-8849-71222D9B2E66}" sibTransId="{1D7D65BC-0B4C-4EAB-A63D-460C879D997C}"/>
    <dgm:cxn modelId="{4502C8B1-D828-4EE3-8BC0-3B898A1580AD}" type="presOf" srcId="{4C92E30C-6E00-41B4-851A-1A2A7583B3B8}" destId="{54D49D4F-A886-4E85-B7FD-BF47BBC672E7}" srcOrd="0" destOrd="0" presId="urn:microsoft.com/office/officeart/2005/8/layout/chevronAccent+Icon"/>
    <dgm:cxn modelId="{ED25EFD7-FDBE-4539-BC99-61C367D26A97}" type="presOf" srcId="{DF9BA63E-9D33-41DD-85D8-5E52AFF88240}" destId="{404A044D-55C5-41AA-95B5-71CB9019A8AF}" srcOrd="0" destOrd="1" presId="urn:microsoft.com/office/officeart/2005/8/layout/chevronAccent+Icon"/>
    <dgm:cxn modelId="{0AAAB993-BC0F-49D1-A855-BFC8A7F748F6}" type="presParOf" srcId="{AAD714DB-D1A1-46D2-9E79-CB184DB04AEB}" destId="{77FD6555-8597-47C8-A349-3BD12A2E5E53}" srcOrd="0" destOrd="0" presId="urn:microsoft.com/office/officeart/2005/8/layout/chevronAccent+Icon"/>
    <dgm:cxn modelId="{3CAA67D9-4FDD-4A2C-94E3-112069E9E04E}" type="presParOf" srcId="{77FD6555-8597-47C8-A349-3BD12A2E5E53}" destId="{6AC94CC9-4A46-4A04-87E2-64C83057C1F2}" srcOrd="0" destOrd="0" presId="urn:microsoft.com/office/officeart/2005/8/layout/chevronAccent+Icon"/>
    <dgm:cxn modelId="{3F0087D6-2C14-4290-B4FE-F74DA33E4AB0}" type="presParOf" srcId="{77FD6555-8597-47C8-A349-3BD12A2E5E53}" destId="{54D49D4F-A886-4E85-B7FD-BF47BBC672E7}" srcOrd="1" destOrd="0" presId="urn:microsoft.com/office/officeart/2005/8/layout/chevronAccent+Icon"/>
    <dgm:cxn modelId="{6E841724-B14D-4531-BACA-50D6A33EC5B5}" type="presParOf" srcId="{AAD714DB-D1A1-46D2-9E79-CB184DB04AEB}" destId="{2EE873EE-E5BC-473B-B56E-B6699A291BBD}" srcOrd="1" destOrd="0" presId="urn:microsoft.com/office/officeart/2005/8/layout/chevronAccent+Icon"/>
    <dgm:cxn modelId="{2F57D1A3-7DF3-4A53-AE6B-551FB0B9CAFA}" type="presParOf" srcId="{AAD714DB-D1A1-46D2-9E79-CB184DB04AEB}" destId="{7AC2AF0F-B1BB-42C0-8863-E791BD81983A}" srcOrd="2" destOrd="0" presId="urn:microsoft.com/office/officeart/2005/8/layout/chevronAccent+Icon"/>
    <dgm:cxn modelId="{0AA5D803-147A-4516-886C-FF47B2B4569B}" type="presParOf" srcId="{7AC2AF0F-B1BB-42C0-8863-E791BD81983A}" destId="{EE4217A3-7A4B-47DB-A85A-61F997229FFF}" srcOrd="0" destOrd="0" presId="urn:microsoft.com/office/officeart/2005/8/layout/chevronAccent+Icon"/>
    <dgm:cxn modelId="{63DBFAE3-C9AD-4319-AC66-A04D8D0A6F13}" type="presParOf" srcId="{7AC2AF0F-B1BB-42C0-8863-E791BD81983A}" destId="{404A044D-55C5-41AA-95B5-71CB9019A8AF}" srcOrd="1" destOrd="0" presId="urn:microsoft.com/office/officeart/2005/8/layout/chevronAccent+Icon"/>
    <dgm:cxn modelId="{98CF771D-273C-4D4D-A014-4ADD7E04673E}" type="presParOf" srcId="{AAD714DB-D1A1-46D2-9E79-CB184DB04AEB}" destId="{B959147A-3A85-4A52-A31F-66B672992708}" srcOrd="3" destOrd="0" presId="urn:microsoft.com/office/officeart/2005/8/layout/chevronAccent+Icon"/>
    <dgm:cxn modelId="{B4F5931D-AD8C-4A87-BBCF-43F0BDD795E8}" type="presParOf" srcId="{AAD714DB-D1A1-46D2-9E79-CB184DB04AEB}" destId="{399042A1-7870-4A63-A404-B5E2BF1CB4B3}" srcOrd="4" destOrd="0" presId="urn:microsoft.com/office/officeart/2005/8/layout/chevronAccent+Icon"/>
    <dgm:cxn modelId="{54F21FC4-A0D9-4813-BEA0-8E320BF0A98E}" type="presParOf" srcId="{399042A1-7870-4A63-A404-B5E2BF1CB4B3}" destId="{D7FD6AFA-F0F6-4973-9D65-84F939016CBE}" srcOrd="0" destOrd="0" presId="urn:microsoft.com/office/officeart/2005/8/layout/chevronAccent+Icon"/>
    <dgm:cxn modelId="{E4A2DC2E-7DFA-41FE-AF6F-DBA10D1A2165}" type="presParOf" srcId="{399042A1-7870-4A63-A404-B5E2BF1CB4B3}" destId="{8E3446E3-B659-459B-B287-77AB9BEDBF13}" srcOrd="1" destOrd="0" presId="urn:microsoft.com/office/officeart/2005/8/layout/chevronAccent+Icon"/>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796F2E-8CD7-41B4-85B2-F64506CAEE83}" type="doc">
      <dgm:prSet loTypeId="urn:microsoft.com/office/officeart/2005/8/layout/architecture+Icon" loCatId="hierarchy" qsTypeId="urn:microsoft.com/office/officeart/2005/8/quickstyle/simple5" qsCatId="simple" csTypeId="urn:microsoft.com/office/officeart/2005/8/colors/colorful4" csCatId="colorful" phldr="1"/>
      <dgm:spPr/>
    </dgm:pt>
    <dgm:pt modelId="{7857E098-6B2D-4DBB-A708-0136DA0D556E}">
      <dgm:prSet phldrT="[文本]"/>
      <dgm:spPr/>
      <dgm:t>
        <a:bodyPr/>
        <a:lstStyle/>
        <a:p>
          <a:r>
            <a:rPr lang="zh-CN" altLang="en-US" baseline="0" dirty="0">
              <a:effectLst>
                <a:innerShdw blurRad="63500" dist="50800" dir="16200000">
                  <a:prstClr val="black">
                    <a:alpha val="50000"/>
                  </a:prstClr>
                </a:innerShdw>
              </a:effectLst>
              <a:ea typeface="黑体" panose="02010609060101010101" pitchFamily="49" charset="-122"/>
            </a:rPr>
            <a:t>显示型方法（</a:t>
          </a:r>
          <a:r>
            <a:rPr lang="en-US" altLang="zh-CN" baseline="0" dirty="0">
              <a:effectLst>
                <a:innerShdw blurRad="63500" dist="50800" dir="16200000">
                  <a:prstClr val="black">
                    <a:alpha val="50000"/>
                  </a:prstClr>
                </a:innerShdw>
              </a:effectLst>
              <a:ea typeface="黑体" panose="02010609060101010101" pitchFamily="49" charset="-122"/>
            </a:rPr>
            <a:t>Revealed preference</a:t>
          </a:r>
          <a:r>
            <a:rPr lang="zh-CN" altLang="en-US" baseline="0" dirty="0">
              <a:effectLst>
                <a:innerShdw blurRad="63500" dist="50800" dir="16200000">
                  <a:prstClr val="black">
                    <a:alpha val="50000"/>
                  </a:prstClr>
                </a:innerShdw>
              </a:effectLst>
              <a:ea typeface="黑体" panose="02010609060101010101" pitchFamily="49" charset="-122"/>
            </a:rPr>
            <a:t>）：了解被调查者的实际选择结果</a:t>
          </a:r>
        </a:p>
      </dgm:t>
    </dgm:pt>
    <dgm:pt modelId="{AA3A9374-AB54-401E-8858-A76A4F87474F}" cxnId="{592898B8-2A1D-47C0-B998-C0A3456395E9}" type="parTrans">
      <dgm:prSet/>
      <dgm:spPr/>
      <dgm:t>
        <a:bodyPr/>
        <a:lstStyle/>
        <a:p>
          <a:endParaRPr lang="zh-CN" altLang="en-US"/>
        </a:p>
      </dgm:t>
    </dgm:pt>
    <dgm:pt modelId="{F9E2D31C-7EB6-4620-95E0-021D293C7DF2}" cxnId="{592898B8-2A1D-47C0-B998-C0A3456395E9}" type="sibTrans">
      <dgm:prSet/>
      <dgm:spPr/>
      <dgm:t>
        <a:bodyPr/>
        <a:lstStyle/>
        <a:p>
          <a:endParaRPr lang="zh-CN" altLang="en-US"/>
        </a:p>
      </dgm:t>
    </dgm:pt>
    <dgm:pt modelId="{18366D06-B41E-4A83-BF12-AAFB733A30D0}">
      <dgm:prSet phldrT="[文本]"/>
      <dgm:spPr/>
      <dgm:t>
        <a:bodyPr>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zh-CN" altLang="en-US" b="1" cap="none" spc="0" dirty="0">
              <a:solidFill>
                <a:schemeClr val="accent3">
                  <a:lumMod val="50000"/>
                </a:schemeClr>
              </a:solidFill>
              <a:effectLst>
                <a:innerShdw blurRad="63500" dist="50800" dir="13500000">
                  <a:prstClr val="black">
                    <a:alpha val="50000"/>
                  </a:prstClr>
                </a:innerShdw>
              </a:effectLst>
              <a:latin typeface="黑体" panose="02010609060101010101" pitchFamily="49" charset="-122"/>
              <a:ea typeface="黑体" panose="02010609060101010101" pitchFamily="49" charset="-122"/>
            </a:rPr>
            <a:t>表述型方法（</a:t>
          </a:r>
          <a:r>
            <a:rPr lang="en-US" altLang="zh-CN" b="1" cap="none" spc="0" dirty="0">
              <a:solidFill>
                <a:schemeClr val="accent3">
                  <a:lumMod val="50000"/>
                </a:schemeClr>
              </a:solidFill>
              <a:effectLst>
                <a:innerShdw blurRad="63500" dist="50800" dir="13500000">
                  <a:prstClr val="black">
                    <a:alpha val="50000"/>
                  </a:prstClr>
                </a:innerShdw>
              </a:effectLst>
              <a:latin typeface="黑体" panose="02010609060101010101" pitchFamily="49" charset="-122"/>
              <a:ea typeface="黑体" panose="02010609060101010101" pitchFamily="49" charset="-122"/>
            </a:rPr>
            <a:t>Stated preference</a:t>
          </a:r>
          <a:r>
            <a:rPr lang="zh-CN" altLang="en-US" b="1" cap="none" spc="0" dirty="0">
              <a:solidFill>
                <a:schemeClr val="accent3">
                  <a:lumMod val="50000"/>
                </a:schemeClr>
              </a:solidFill>
              <a:effectLst>
                <a:innerShdw blurRad="63500" dist="50800" dir="13500000">
                  <a:prstClr val="black">
                    <a:alpha val="50000"/>
                  </a:prstClr>
                </a:innerShdw>
              </a:effectLst>
              <a:latin typeface="黑体" panose="02010609060101010101" pitchFamily="49" charset="-122"/>
              <a:ea typeface="黑体" panose="02010609060101010101" pitchFamily="49" charset="-122"/>
            </a:rPr>
            <a:t>）：了解被调查者在假设情况下的回答</a:t>
          </a:r>
        </a:p>
      </dgm:t>
    </dgm:pt>
    <dgm:pt modelId="{2450CBA2-E619-4E8B-9064-3BEAA1057CEE}" cxnId="{0637F19C-BB60-418D-AF27-40622F8A6825}" type="parTrans">
      <dgm:prSet/>
      <dgm:spPr/>
      <dgm:t>
        <a:bodyPr/>
        <a:lstStyle/>
        <a:p>
          <a:endParaRPr lang="zh-CN" altLang="en-US"/>
        </a:p>
      </dgm:t>
    </dgm:pt>
    <dgm:pt modelId="{18F5C483-BC17-4C96-B34A-B36F4E9838D5}" cxnId="{0637F19C-BB60-418D-AF27-40622F8A6825}" type="sibTrans">
      <dgm:prSet/>
      <dgm:spPr/>
      <dgm:t>
        <a:bodyPr/>
        <a:lstStyle/>
        <a:p>
          <a:endParaRPr lang="zh-CN" altLang="en-US"/>
        </a:p>
      </dgm:t>
    </dgm:pt>
    <dgm:pt modelId="{7652087E-7DBD-4A4C-A85D-C7F8BD16BB3F}">
      <dgm:prSet phldrT="[文本]"/>
      <dgm:spPr/>
      <dgm:t>
        <a:bodyPr/>
        <a:lstStyle/>
        <a:p>
          <a:r>
            <a:rPr lang="zh-CN" altLang="en-US" dirty="0">
              <a:latin typeface="黑体" panose="02010609060101010101" pitchFamily="49" charset="-122"/>
              <a:ea typeface="黑体" panose="02010609060101010101" pitchFamily="49" charset="-122"/>
            </a:rPr>
            <a:t>条件价值法</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C</a:t>
          </a:r>
          <a:r>
            <a:rPr lang="en-US" altLang="en-US" dirty="0">
              <a:latin typeface="黑体" panose="02010609060101010101" pitchFamily="49" charset="-122"/>
              <a:ea typeface="黑体" panose="02010609060101010101" pitchFamily="49" charset="-122"/>
            </a:rPr>
            <a:t>ontingent</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valuation</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method</a:t>
          </a:r>
          <a:endParaRPr lang="zh-CN" altLang="en-US" dirty="0">
            <a:latin typeface="黑体" panose="02010609060101010101" pitchFamily="49" charset="-122"/>
            <a:ea typeface="黑体" panose="02010609060101010101" pitchFamily="49" charset="-122"/>
          </a:endParaRPr>
        </a:p>
      </dgm:t>
    </dgm:pt>
    <dgm:pt modelId="{CB4D8BFA-21D1-49A8-B36F-CEA3CD15CE28}" cxnId="{6A25A541-6ADF-428A-86A7-6D8D1E1E7F0D}" type="parTrans">
      <dgm:prSet/>
      <dgm:spPr/>
      <dgm:t>
        <a:bodyPr/>
        <a:lstStyle/>
        <a:p>
          <a:endParaRPr lang="zh-CN" altLang="en-US"/>
        </a:p>
      </dgm:t>
    </dgm:pt>
    <dgm:pt modelId="{6E2F4B84-0453-4607-8CF9-14B2568F21A7}" cxnId="{6A25A541-6ADF-428A-86A7-6D8D1E1E7F0D}" type="sibTrans">
      <dgm:prSet/>
      <dgm:spPr/>
      <dgm:t>
        <a:bodyPr/>
        <a:lstStyle/>
        <a:p>
          <a:endParaRPr lang="zh-CN" altLang="en-US"/>
        </a:p>
      </dgm:t>
    </dgm:pt>
    <dgm:pt modelId="{3F4012CB-E00E-4D23-B534-ABFF06CB4BDA}">
      <dgm:prSet phldrT="[文本]"/>
      <dgm:spPr/>
      <dgm:t>
        <a:bodyPr/>
        <a:lstStyle/>
        <a:p>
          <a:r>
            <a:rPr lang="zh-CN" altLang="en-US" baseline="0" dirty="0">
              <a:effectLst>
                <a:innerShdw blurRad="63500" dist="50800" dir="16200000">
                  <a:prstClr val="black">
                    <a:alpha val="50000"/>
                  </a:prstClr>
                </a:innerShdw>
              </a:effectLst>
              <a:ea typeface="黑体" panose="02010609060101010101" pitchFamily="49" charset="-122"/>
            </a:rPr>
            <a:t>实地试验方法</a:t>
          </a:r>
          <a:endParaRPr lang="en-US" altLang="zh-CN" baseline="0" dirty="0">
            <a:effectLst>
              <a:innerShdw blurRad="63500" dist="50800" dir="16200000">
                <a:prstClr val="black">
                  <a:alpha val="50000"/>
                </a:prstClr>
              </a:innerShdw>
            </a:effectLst>
            <a:ea typeface="黑体" panose="02010609060101010101" pitchFamily="49" charset="-122"/>
          </a:endParaRPr>
        </a:p>
        <a:p>
          <a:r>
            <a:rPr lang="en-US" altLang="zh-CN" baseline="0" dirty="0">
              <a:effectLst>
                <a:innerShdw blurRad="63500" dist="50800" dir="16200000">
                  <a:prstClr val="black">
                    <a:alpha val="50000"/>
                  </a:prstClr>
                </a:innerShdw>
              </a:effectLst>
              <a:ea typeface="黑体" panose="02010609060101010101" pitchFamily="49" charset="-122"/>
            </a:rPr>
            <a:t>F</a:t>
          </a:r>
          <a:r>
            <a:rPr lang="en-US" altLang="en-US" baseline="0" dirty="0">
              <a:effectLst>
                <a:innerShdw blurRad="63500" dist="50800" dir="16200000">
                  <a:prstClr val="black">
                    <a:alpha val="50000"/>
                  </a:prstClr>
                </a:innerShdw>
              </a:effectLst>
              <a:ea typeface="黑体" panose="02010609060101010101" pitchFamily="49" charset="-122"/>
            </a:rPr>
            <a:t>ield</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experiment</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method</a:t>
          </a:r>
        </a:p>
      </dgm:t>
    </dgm:pt>
    <dgm:pt modelId="{82ACF6EA-1AED-4636-94B2-CB1B9E713A6E}" cxnId="{6B9A441E-31C2-4EC9-B4FE-F5431342F2B6}" type="parTrans">
      <dgm:prSet/>
      <dgm:spPr/>
      <dgm:t>
        <a:bodyPr/>
        <a:lstStyle/>
        <a:p>
          <a:endParaRPr lang="zh-CN" altLang="en-US"/>
        </a:p>
      </dgm:t>
    </dgm:pt>
    <dgm:pt modelId="{96C78F01-6D4F-40E1-962A-1563677F1C6E}" cxnId="{6B9A441E-31C2-4EC9-B4FE-F5431342F2B6}" type="sibTrans">
      <dgm:prSet/>
      <dgm:spPr/>
      <dgm:t>
        <a:bodyPr/>
        <a:lstStyle/>
        <a:p>
          <a:endParaRPr lang="zh-CN" altLang="en-US"/>
        </a:p>
      </dgm:t>
    </dgm:pt>
    <dgm:pt modelId="{1AD9855B-E2A4-4F3E-8225-D609A64F4915}">
      <dgm:prSet phldrT="[文本]"/>
      <dgm:spPr/>
      <dgm:t>
        <a:bodyPr/>
        <a:lstStyle/>
        <a:p>
          <a:r>
            <a:rPr lang="zh-CN" altLang="en-US" baseline="0" dirty="0">
              <a:effectLst>
                <a:innerShdw blurRad="63500" dist="50800" dir="16200000">
                  <a:prstClr val="black">
                    <a:alpha val="50000"/>
                  </a:prstClr>
                </a:innerShdw>
              </a:effectLst>
              <a:ea typeface="黑体" panose="02010609060101010101" pitchFamily="49" charset="-122"/>
            </a:rPr>
            <a:t>旅行费用法</a:t>
          </a:r>
          <a:endParaRPr lang="en-US" altLang="zh-CN" baseline="0" dirty="0">
            <a:effectLst>
              <a:innerShdw blurRad="63500" dist="50800" dir="16200000">
                <a:prstClr val="black">
                  <a:alpha val="50000"/>
                </a:prstClr>
              </a:innerShdw>
            </a:effectLst>
            <a:ea typeface="黑体" panose="02010609060101010101" pitchFamily="49" charset="-122"/>
          </a:endParaRPr>
        </a:p>
        <a:p>
          <a:r>
            <a:rPr lang="en-US" altLang="en-US" baseline="0" dirty="0">
              <a:effectLst>
                <a:innerShdw blurRad="63500" dist="50800" dir="16200000">
                  <a:prstClr val="black">
                    <a:alpha val="50000"/>
                  </a:prstClr>
                </a:innerShdw>
              </a:effectLst>
              <a:ea typeface="黑体" panose="02010609060101010101" pitchFamily="49" charset="-122"/>
            </a:rPr>
            <a:t>Travel</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cost</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approach</a:t>
          </a:r>
        </a:p>
        <a:p>
          <a:endParaRPr lang="zh-CN" altLang="en-US" baseline="0" dirty="0">
            <a:effectLst>
              <a:innerShdw blurRad="63500" dist="50800" dir="16200000">
                <a:prstClr val="black">
                  <a:alpha val="50000"/>
                </a:prstClr>
              </a:innerShdw>
            </a:effectLst>
            <a:ea typeface="黑体" panose="02010609060101010101" pitchFamily="49" charset="-122"/>
          </a:endParaRPr>
        </a:p>
      </dgm:t>
    </dgm:pt>
    <dgm:pt modelId="{779C085E-7823-4E9A-903A-2B45975DC78A}" cxnId="{FFAF7154-3D7B-4228-9C1D-4F14AEA11E3B}" type="parTrans">
      <dgm:prSet/>
      <dgm:spPr/>
      <dgm:t>
        <a:bodyPr/>
        <a:lstStyle/>
        <a:p>
          <a:endParaRPr lang="zh-CN" altLang="en-US"/>
        </a:p>
      </dgm:t>
    </dgm:pt>
    <dgm:pt modelId="{3A45D2D1-F7BD-4DB0-ACF3-08DD57D49132}" cxnId="{FFAF7154-3D7B-4228-9C1D-4F14AEA11E3B}" type="sibTrans">
      <dgm:prSet/>
      <dgm:spPr/>
      <dgm:t>
        <a:bodyPr/>
        <a:lstStyle/>
        <a:p>
          <a:endParaRPr lang="zh-CN" altLang="en-US"/>
        </a:p>
      </dgm:t>
    </dgm:pt>
    <dgm:pt modelId="{0BDD489C-08FB-44AA-8202-BF7116419FA5}">
      <dgm:prSet phldrT="[文本]"/>
      <dgm:spPr/>
      <dgm:t>
        <a:bodyPr/>
        <a:lstStyle/>
        <a:p>
          <a:r>
            <a:rPr lang="zh-CN" altLang="en-US" baseline="0" dirty="0">
              <a:effectLst>
                <a:innerShdw blurRad="63500" dist="50800" dir="16200000">
                  <a:prstClr val="black">
                    <a:alpha val="50000"/>
                  </a:prstClr>
                </a:innerShdw>
              </a:effectLst>
              <a:ea typeface="黑体" panose="02010609060101010101" pitchFamily="49" charset="-122"/>
            </a:rPr>
            <a:t>特征法</a:t>
          </a:r>
          <a:endParaRPr lang="en-US" altLang="zh-CN" baseline="0" dirty="0">
            <a:effectLst>
              <a:innerShdw blurRad="63500" dist="50800" dir="16200000">
                <a:prstClr val="black">
                  <a:alpha val="50000"/>
                </a:prstClr>
              </a:innerShdw>
            </a:effectLst>
            <a:ea typeface="黑体" panose="02010609060101010101" pitchFamily="49" charset="-122"/>
          </a:endParaRPr>
        </a:p>
        <a:p>
          <a:r>
            <a:rPr lang="en-US" altLang="zh-CN" baseline="0" dirty="0">
              <a:effectLst>
                <a:innerShdw blurRad="63500" dist="50800" dir="16200000">
                  <a:prstClr val="black">
                    <a:alpha val="50000"/>
                  </a:prstClr>
                </a:innerShdw>
              </a:effectLst>
              <a:ea typeface="黑体" panose="02010609060101010101" pitchFamily="49" charset="-122"/>
            </a:rPr>
            <a:t>H</a:t>
          </a:r>
          <a:r>
            <a:rPr lang="en-US" altLang="en-US" baseline="0" dirty="0">
              <a:effectLst>
                <a:innerShdw blurRad="63500" dist="50800" dir="16200000">
                  <a:prstClr val="black">
                    <a:alpha val="50000"/>
                  </a:prstClr>
                </a:innerShdw>
              </a:effectLst>
              <a:ea typeface="黑体" panose="02010609060101010101" pitchFamily="49" charset="-122"/>
            </a:rPr>
            <a:t>edonic</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method</a:t>
          </a:r>
          <a:endParaRPr lang="zh-CN" altLang="en-US" baseline="0" dirty="0">
            <a:effectLst>
              <a:innerShdw blurRad="63500" dist="50800" dir="16200000">
                <a:prstClr val="black">
                  <a:alpha val="50000"/>
                </a:prstClr>
              </a:innerShdw>
            </a:effectLst>
            <a:ea typeface="黑体" panose="02010609060101010101" pitchFamily="49" charset="-122"/>
          </a:endParaRPr>
        </a:p>
      </dgm:t>
    </dgm:pt>
    <dgm:pt modelId="{5AF6ADFA-992D-4F63-9578-FDF963B4F0BA}" cxnId="{4F641278-180D-4A6B-9491-396E2D174E95}" type="parTrans">
      <dgm:prSet/>
      <dgm:spPr/>
      <dgm:t>
        <a:bodyPr/>
        <a:lstStyle/>
        <a:p>
          <a:endParaRPr lang="zh-CN" altLang="en-US"/>
        </a:p>
      </dgm:t>
    </dgm:pt>
    <dgm:pt modelId="{08EF3ED8-4AFF-4F72-B7BA-B63339F53535}" cxnId="{4F641278-180D-4A6B-9491-396E2D174E95}" type="sibTrans">
      <dgm:prSet/>
      <dgm:spPr/>
      <dgm:t>
        <a:bodyPr/>
        <a:lstStyle/>
        <a:p>
          <a:endParaRPr lang="zh-CN" altLang="en-US"/>
        </a:p>
      </dgm:t>
    </dgm:pt>
    <dgm:pt modelId="{EDA46273-1722-43EC-A61D-BDC24E85B14B}">
      <dgm:prSet phldrT="[文本]"/>
      <dgm:spPr>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zh-CN" altLang="en-US" dirty="0">
              <a:latin typeface="黑体" panose="02010609060101010101" pitchFamily="49" charset="-122"/>
              <a:ea typeface="黑体" panose="02010609060101010101" pitchFamily="49" charset="-122"/>
            </a:rPr>
            <a:t>条件选择法</a:t>
          </a:r>
          <a:endParaRPr lang="en-US" altLang="zh-CN" dirty="0">
            <a:latin typeface="黑体" panose="02010609060101010101" pitchFamily="49" charset="-122"/>
            <a:ea typeface="黑体" panose="02010609060101010101" pitchFamily="49" charset="-122"/>
          </a:endParaRPr>
        </a:p>
        <a:p>
          <a:r>
            <a:rPr lang="en-US" altLang="zh-CN" dirty="0">
              <a:latin typeface="黑体" panose="02010609060101010101" pitchFamily="49" charset="-122"/>
              <a:ea typeface="黑体" panose="02010609060101010101" pitchFamily="49" charset="-122"/>
            </a:rPr>
            <a:t>C</a:t>
          </a:r>
          <a:r>
            <a:rPr lang="en-US" altLang="en-US" dirty="0">
              <a:latin typeface="黑体" panose="02010609060101010101" pitchFamily="49" charset="-122"/>
              <a:ea typeface="黑体" panose="02010609060101010101" pitchFamily="49" charset="-122"/>
            </a:rPr>
            <a:t>ontingent</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choice</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method</a:t>
          </a:r>
          <a:endParaRPr lang="zh-CN" altLang="en-US" dirty="0">
            <a:latin typeface="黑体" panose="02010609060101010101" pitchFamily="49" charset="-122"/>
            <a:ea typeface="黑体" panose="02010609060101010101" pitchFamily="49" charset="-122"/>
          </a:endParaRPr>
        </a:p>
      </dgm:t>
    </dgm:pt>
    <dgm:pt modelId="{C5B67834-81BD-4F10-B0AF-101CD952DAC2}" cxnId="{165BD59F-77CF-479E-88E0-C1C756D19D0C}" type="parTrans">
      <dgm:prSet/>
      <dgm:spPr/>
      <dgm:t>
        <a:bodyPr/>
        <a:lstStyle/>
        <a:p>
          <a:endParaRPr lang="zh-CN" altLang="en-US"/>
        </a:p>
      </dgm:t>
    </dgm:pt>
    <dgm:pt modelId="{5F2FE573-7B5F-4D9F-AEC2-F9BDB3341859}" cxnId="{165BD59F-77CF-479E-88E0-C1C756D19D0C}" type="sibTrans">
      <dgm:prSet/>
      <dgm:spPr/>
      <dgm:t>
        <a:bodyPr/>
        <a:lstStyle/>
        <a:p>
          <a:endParaRPr lang="zh-CN" altLang="en-US"/>
        </a:p>
      </dgm:t>
    </dgm:pt>
    <dgm:pt modelId="{79E75D19-7F51-43E6-A83E-5A405C81B091}" type="pres">
      <dgm:prSet presAssocID="{AD796F2E-8CD7-41B4-85B2-F64506CAEE83}" presName="Name0" presStyleCnt="0">
        <dgm:presLayoutVars>
          <dgm:chPref val="1"/>
          <dgm:dir/>
          <dgm:animOne val="branch"/>
          <dgm:animLvl val="lvl"/>
          <dgm:resizeHandles/>
        </dgm:presLayoutVars>
      </dgm:prSet>
      <dgm:spPr/>
    </dgm:pt>
    <dgm:pt modelId="{F318C0A0-3FA6-43AA-AF30-73BB2548011A}" type="pres">
      <dgm:prSet presAssocID="{7857E098-6B2D-4DBB-A708-0136DA0D556E}" presName="vertOne" presStyleCnt="0"/>
      <dgm:spPr/>
    </dgm:pt>
    <dgm:pt modelId="{157E8439-12B2-47B4-9ED0-79EEF458FC00}" type="pres">
      <dgm:prSet presAssocID="{7857E098-6B2D-4DBB-A708-0136DA0D556E}" presName="txOne" presStyleLbl="node0" presStyleIdx="0" presStyleCnt="2">
        <dgm:presLayoutVars>
          <dgm:chPref val="3"/>
        </dgm:presLayoutVars>
      </dgm:prSet>
      <dgm:spPr/>
    </dgm:pt>
    <dgm:pt modelId="{EA5C38DB-E69E-457D-B62C-23BC79E14CD1}" type="pres">
      <dgm:prSet presAssocID="{7857E098-6B2D-4DBB-A708-0136DA0D556E}" presName="parTransOne" presStyleCnt="0"/>
      <dgm:spPr/>
    </dgm:pt>
    <dgm:pt modelId="{B629B56A-D18C-4B09-83E1-F5EE03548FF5}" type="pres">
      <dgm:prSet presAssocID="{7857E098-6B2D-4DBB-A708-0136DA0D556E}" presName="horzOne" presStyleCnt="0"/>
      <dgm:spPr/>
    </dgm:pt>
    <dgm:pt modelId="{8B37948D-7A8F-44A4-84C8-BF95DE98E8AD}" type="pres">
      <dgm:prSet presAssocID="{3F4012CB-E00E-4D23-B534-ABFF06CB4BDA}" presName="vertTwo" presStyleCnt="0"/>
      <dgm:spPr/>
    </dgm:pt>
    <dgm:pt modelId="{CE29CC67-E021-4773-8E67-9A2B35D3A4DE}" type="pres">
      <dgm:prSet presAssocID="{3F4012CB-E00E-4D23-B534-ABFF06CB4BDA}" presName="txTwo" presStyleLbl="node2" presStyleIdx="0" presStyleCnt="5">
        <dgm:presLayoutVars>
          <dgm:chPref val="3"/>
        </dgm:presLayoutVars>
      </dgm:prSet>
      <dgm:spPr/>
    </dgm:pt>
    <dgm:pt modelId="{0E8F3ADB-F7B2-4490-9A0D-FF66E77BEB7A}" type="pres">
      <dgm:prSet presAssocID="{3F4012CB-E00E-4D23-B534-ABFF06CB4BDA}" presName="horzTwo" presStyleCnt="0"/>
      <dgm:spPr/>
    </dgm:pt>
    <dgm:pt modelId="{70706DCC-A191-4267-BB1A-A1319F538AFD}" type="pres">
      <dgm:prSet presAssocID="{96C78F01-6D4F-40E1-962A-1563677F1C6E}" presName="sibSpaceTwo" presStyleCnt="0"/>
      <dgm:spPr/>
    </dgm:pt>
    <dgm:pt modelId="{32A16C76-163B-4C52-AFD7-6EC250232565}" type="pres">
      <dgm:prSet presAssocID="{1AD9855B-E2A4-4F3E-8225-D609A64F4915}" presName="vertTwo" presStyleCnt="0"/>
      <dgm:spPr/>
    </dgm:pt>
    <dgm:pt modelId="{13517A9A-8486-42B3-A1E0-21C8E63A10C6}" type="pres">
      <dgm:prSet presAssocID="{1AD9855B-E2A4-4F3E-8225-D609A64F4915}" presName="txTwo" presStyleLbl="node2" presStyleIdx="1" presStyleCnt="5">
        <dgm:presLayoutVars>
          <dgm:chPref val="3"/>
        </dgm:presLayoutVars>
      </dgm:prSet>
      <dgm:spPr/>
    </dgm:pt>
    <dgm:pt modelId="{6CCA0EEF-EA0E-4C89-A69F-6B9CC7133762}" type="pres">
      <dgm:prSet presAssocID="{1AD9855B-E2A4-4F3E-8225-D609A64F4915}" presName="horzTwo" presStyleCnt="0"/>
      <dgm:spPr/>
    </dgm:pt>
    <dgm:pt modelId="{F6071E68-DD91-4AF9-AD43-9102974F766D}" type="pres">
      <dgm:prSet presAssocID="{3A45D2D1-F7BD-4DB0-ACF3-08DD57D49132}" presName="sibSpaceTwo" presStyleCnt="0"/>
      <dgm:spPr/>
    </dgm:pt>
    <dgm:pt modelId="{78129917-6DFF-4A4F-99FC-D2B4ECD0CDE3}" type="pres">
      <dgm:prSet presAssocID="{0BDD489C-08FB-44AA-8202-BF7116419FA5}" presName="vertTwo" presStyleCnt="0"/>
      <dgm:spPr/>
    </dgm:pt>
    <dgm:pt modelId="{22C6DCC2-4249-4427-9B25-DF350A21F48B}" type="pres">
      <dgm:prSet presAssocID="{0BDD489C-08FB-44AA-8202-BF7116419FA5}" presName="txTwo" presStyleLbl="node2" presStyleIdx="2" presStyleCnt="5">
        <dgm:presLayoutVars>
          <dgm:chPref val="3"/>
        </dgm:presLayoutVars>
      </dgm:prSet>
      <dgm:spPr/>
    </dgm:pt>
    <dgm:pt modelId="{B93ECDF5-C7D2-4838-8963-65D371DC94AD}" type="pres">
      <dgm:prSet presAssocID="{0BDD489C-08FB-44AA-8202-BF7116419FA5}" presName="horzTwo" presStyleCnt="0"/>
      <dgm:spPr/>
    </dgm:pt>
    <dgm:pt modelId="{EBBBB3CD-54E2-4A6D-9D10-6231B106C49B}" type="pres">
      <dgm:prSet presAssocID="{F9E2D31C-7EB6-4620-95E0-021D293C7DF2}" presName="sibSpaceOne" presStyleCnt="0"/>
      <dgm:spPr/>
    </dgm:pt>
    <dgm:pt modelId="{53039381-C6C0-4169-B2FB-77958DDD0E4D}" type="pres">
      <dgm:prSet presAssocID="{18366D06-B41E-4A83-BF12-AAFB733A30D0}" presName="vertOne" presStyleCnt="0"/>
      <dgm:spPr/>
    </dgm:pt>
    <dgm:pt modelId="{EDBEDE36-DFA5-460C-B589-00C96DD2D2D0}" type="pres">
      <dgm:prSet presAssocID="{18366D06-B41E-4A83-BF12-AAFB733A30D0}" presName="txOne" presStyleLbl="node0" presStyleIdx="1" presStyleCnt="2">
        <dgm:presLayoutVars>
          <dgm:chPref val="3"/>
        </dgm:presLayoutVars>
      </dgm:prSet>
      <dgm:spPr/>
    </dgm:pt>
    <dgm:pt modelId="{623F7966-C475-4D3F-B697-C227A9CE20EB}" type="pres">
      <dgm:prSet presAssocID="{18366D06-B41E-4A83-BF12-AAFB733A30D0}" presName="parTransOne" presStyleCnt="0"/>
      <dgm:spPr/>
    </dgm:pt>
    <dgm:pt modelId="{F99911DA-225E-4FE7-A67C-D8DDCEB846B6}" type="pres">
      <dgm:prSet presAssocID="{18366D06-B41E-4A83-BF12-AAFB733A30D0}" presName="horzOne" presStyleCnt="0"/>
      <dgm:spPr/>
    </dgm:pt>
    <dgm:pt modelId="{952E38AB-D84B-40E8-8338-2B7B5BD60658}" type="pres">
      <dgm:prSet presAssocID="{7652087E-7DBD-4A4C-A85D-C7F8BD16BB3F}" presName="vertTwo" presStyleCnt="0"/>
      <dgm:spPr/>
    </dgm:pt>
    <dgm:pt modelId="{2068B400-5B22-4759-BDA3-454135E60CD7}" type="pres">
      <dgm:prSet presAssocID="{7652087E-7DBD-4A4C-A85D-C7F8BD16BB3F}" presName="txTwo" presStyleLbl="node2" presStyleIdx="3" presStyleCnt="5">
        <dgm:presLayoutVars>
          <dgm:chPref val="3"/>
        </dgm:presLayoutVars>
      </dgm:prSet>
      <dgm:spPr/>
    </dgm:pt>
    <dgm:pt modelId="{8BAB39B3-9995-46AC-A2A8-B400BC9DA161}" type="pres">
      <dgm:prSet presAssocID="{7652087E-7DBD-4A4C-A85D-C7F8BD16BB3F}" presName="horzTwo" presStyleCnt="0"/>
      <dgm:spPr/>
    </dgm:pt>
    <dgm:pt modelId="{A4D368D7-FF16-4238-A655-CDDAF9C3C54C}" type="pres">
      <dgm:prSet presAssocID="{6E2F4B84-0453-4607-8CF9-14B2568F21A7}" presName="sibSpaceTwo" presStyleCnt="0"/>
      <dgm:spPr/>
    </dgm:pt>
    <dgm:pt modelId="{69F2258D-CDA0-479B-B8C6-E64694276E1A}" type="pres">
      <dgm:prSet presAssocID="{EDA46273-1722-43EC-A61D-BDC24E85B14B}" presName="vertTwo" presStyleCnt="0"/>
      <dgm:spPr/>
    </dgm:pt>
    <dgm:pt modelId="{83D01DDA-2E64-4341-A779-92AC0B8A85BF}" type="pres">
      <dgm:prSet presAssocID="{EDA46273-1722-43EC-A61D-BDC24E85B14B}" presName="txTwo" presStyleLbl="node2" presStyleIdx="4" presStyleCnt="5">
        <dgm:presLayoutVars>
          <dgm:chPref val="3"/>
        </dgm:presLayoutVars>
      </dgm:prSet>
      <dgm:spPr/>
    </dgm:pt>
    <dgm:pt modelId="{D8E548B7-D3B2-4B0B-A020-4842067DDA1F}" type="pres">
      <dgm:prSet presAssocID="{EDA46273-1722-43EC-A61D-BDC24E85B14B}" presName="horzTwo" presStyleCnt="0"/>
      <dgm:spPr/>
    </dgm:pt>
  </dgm:ptLst>
  <dgm:cxnLst>
    <dgm:cxn modelId="{6B9A441E-31C2-4EC9-B4FE-F5431342F2B6}" srcId="{7857E098-6B2D-4DBB-A708-0136DA0D556E}" destId="{3F4012CB-E00E-4D23-B534-ABFF06CB4BDA}" srcOrd="0" destOrd="0" parTransId="{82ACF6EA-1AED-4636-94B2-CB1B9E713A6E}" sibTransId="{96C78F01-6D4F-40E1-962A-1563677F1C6E}"/>
    <dgm:cxn modelId="{EA7FF130-2E04-4430-86D5-87E0EA5FC07F}" type="presOf" srcId="{18366D06-B41E-4A83-BF12-AAFB733A30D0}" destId="{EDBEDE36-DFA5-460C-B589-00C96DD2D2D0}" srcOrd="0" destOrd="0" presId="urn:microsoft.com/office/officeart/2005/8/layout/architecture+Icon"/>
    <dgm:cxn modelId="{2B0DFF3D-D74A-4E30-AD5A-ADC0A2DDF1D1}" type="presOf" srcId="{3F4012CB-E00E-4D23-B534-ABFF06CB4BDA}" destId="{CE29CC67-E021-4773-8E67-9A2B35D3A4DE}" srcOrd="0" destOrd="0" presId="urn:microsoft.com/office/officeart/2005/8/layout/architecture+Icon"/>
    <dgm:cxn modelId="{6A25A541-6ADF-428A-86A7-6D8D1E1E7F0D}" srcId="{18366D06-B41E-4A83-BF12-AAFB733A30D0}" destId="{7652087E-7DBD-4A4C-A85D-C7F8BD16BB3F}" srcOrd="0" destOrd="0" parTransId="{CB4D8BFA-21D1-49A8-B36F-CEA3CD15CE28}" sibTransId="{6E2F4B84-0453-4607-8CF9-14B2568F21A7}"/>
    <dgm:cxn modelId="{FFAF7154-3D7B-4228-9C1D-4F14AEA11E3B}" srcId="{7857E098-6B2D-4DBB-A708-0136DA0D556E}" destId="{1AD9855B-E2A4-4F3E-8225-D609A64F4915}" srcOrd="1" destOrd="0" parTransId="{779C085E-7823-4E9A-903A-2B45975DC78A}" sibTransId="{3A45D2D1-F7BD-4DB0-ACF3-08DD57D49132}"/>
    <dgm:cxn modelId="{7022AD58-FBA5-43AE-BC85-914D78E7081E}" type="presOf" srcId="{0BDD489C-08FB-44AA-8202-BF7116419FA5}" destId="{22C6DCC2-4249-4427-9B25-DF350A21F48B}" srcOrd="0" destOrd="0" presId="urn:microsoft.com/office/officeart/2005/8/layout/architecture+Icon"/>
    <dgm:cxn modelId="{55BC6E76-9246-4C53-98AF-F71DC9FB7A77}" type="presOf" srcId="{7652087E-7DBD-4A4C-A85D-C7F8BD16BB3F}" destId="{2068B400-5B22-4759-BDA3-454135E60CD7}" srcOrd="0" destOrd="0" presId="urn:microsoft.com/office/officeart/2005/8/layout/architecture+Icon"/>
    <dgm:cxn modelId="{4F641278-180D-4A6B-9491-396E2D174E95}" srcId="{7857E098-6B2D-4DBB-A708-0136DA0D556E}" destId="{0BDD489C-08FB-44AA-8202-BF7116419FA5}" srcOrd="2" destOrd="0" parTransId="{5AF6ADFA-992D-4F63-9578-FDF963B4F0BA}" sibTransId="{08EF3ED8-4AFF-4F72-B7BA-B63339F53535}"/>
    <dgm:cxn modelId="{0637F19C-BB60-418D-AF27-40622F8A6825}" srcId="{AD796F2E-8CD7-41B4-85B2-F64506CAEE83}" destId="{18366D06-B41E-4A83-BF12-AAFB733A30D0}" srcOrd="1" destOrd="0" parTransId="{2450CBA2-E619-4E8B-9064-3BEAA1057CEE}" sibTransId="{18F5C483-BC17-4C96-B34A-B36F4E9838D5}"/>
    <dgm:cxn modelId="{165BD59F-77CF-479E-88E0-C1C756D19D0C}" srcId="{18366D06-B41E-4A83-BF12-AAFB733A30D0}" destId="{EDA46273-1722-43EC-A61D-BDC24E85B14B}" srcOrd="1" destOrd="0" parTransId="{C5B67834-81BD-4F10-B0AF-101CD952DAC2}" sibTransId="{5F2FE573-7B5F-4D9F-AEC2-F9BDB3341859}"/>
    <dgm:cxn modelId="{485C21A5-789D-4CBD-85C3-13A09243D929}" type="presOf" srcId="{1AD9855B-E2A4-4F3E-8225-D609A64F4915}" destId="{13517A9A-8486-42B3-A1E0-21C8E63A10C6}" srcOrd="0" destOrd="0" presId="urn:microsoft.com/office/officeart/2005/8/layout/architecture+Icon"/>
    <dgm:cxn modelId="{592898B8-2A1D-47C0-B998-C0A3456395E9}" srcId="{AD796F2E-8CD7-41B4-85B2-F64506CAEE83}" destId="{7857E098-6B2D-4DBB-A708-0136DA0D556E}" srcOrd="0" destOrd="0" parTransId="{AA3A9374-AB54-401E-8858-A76A4F87474F}" sibTransId="{F9E2D31C-7EB6-4620-95E0-021D293C7DF2}"/>
    <dgm:cxn modelId="{63807BBF-CDBA-4CCE-8C6C-3CA2D42D5FF2}" type="presOf" srcId="{7857E098-6B2D-4DBB-A708-0136DA0D556E}" destId="{157E8439-12B2-47B4-9ED0-79EEF458FC00}" srcOrd="0" destOrd="0" presId="urn:microsoft.com/office/officeart/2005/8/layout/architecture+Icon"/>
    <dgm:cxn modelId="{BA6A24CE-C516-47B7-A21A-39BA9EFBE23E}" type="presOf" srcId="{EDA46273-1722-43EC-A61D-BDC24E85B14B}" destId="{83D01DDA-2E64-4341-A779-92AC0B8A85BF}" srcOrd="0" destOrd="0" presId="urn:microsoft.com/office/officeart/2005/8/layout/architecture+Icon"/>
    <dgm:cxn modelId="{B4FE50EA-05A3-4F03-B7ED-BEBED67B3A9C}" type="presOf" srcId="{AD796F2E-8CD7-41B4-85B2-F64506CAEE83}" destId="{79E75D19-7F51-43E6-A83E-5A405C81B091}" srcOrd="0" destOrd="0" presId="urn:microsoft.com/office/officeart/2005/8/layout/architecture+Icon"/>
    <dgm:cxn modelId="{334D5EA5-9477-477B-AAED-10CB32716425}" type="presParOf" srcId="{79E75D19-7F51-43E6-A83E-5A405C81B091}" destId="{F318C0A0-3FA6-43AA-AF30-73BB2548011A}" srcOrd="0" destOrd="0" presId="urn:microsoft.com/office/officeart/2005/8/layout/architecture+Icon"/>
    <dgm:cxn modelId="{016B0C89-EB05-41B8-81DD-9CA87BE9CE36}" type="presParOf" srcId="{F318C0A0-3FA6-43AA-AF30-73BB2548011A}" destId="{157E8439-12B2-47B4-9ED0-79EEF458FC00}" srcOrd="0" destOrd="0" presId="urn:microsoft.com/office/officeart/2005/8/layout/architecture+Icon"/>
    <dgm:cxn modelId="{9AD08397-9EBB-4111-A1D0-01A9C4295D04}" type="presParOf" srcId="{F318C0A0-3FA6-43AA-AF30-73BB2548011A}" destId="{EA5C38DB-E69E-457D-B62C-23BC79E14CD1}" srcOrd="1" destOrd="0" presId="urn:microsoft.com/office/officeart/2005/8/layout/architecture+Icon"/>
    <dgm:cxn modelId="{29DC8883-EF8B-4E4B-9BFA-56292D976569}" type="presParOf" srcId="{F318C0A0-3FA6-43AA-AF30-73BB2548011A}" destId="{B629B56A-D18C-4B09-83E1-F5EE03548FF5}" srcOrd="2" destOrd="0" presId="urn:microsoft.com/office/officeart/2005/8/layout/architecture+Icon"/>
    <dgm:cxn modelId="{75508DD3-7B68-431E-B234-30D660411AA5}" type="presParOf" srcId="{B629B56A-D18C-4B09-83E1-F5EE03548FF5}" destId="{8B37948D-7A8F-44A4-84C8-BF95DE98E8AD}" srcOrd="0" destOrd="0" presId="urn:microsoft.com/office/officeart/2005/8/layout/architecture+Icon"/>
    <dgm:cxn modelId="{2768D16C-CCDD-468A-812C-DABA7222CB1F}" type="presParOf" srcId="{8B37948D-7A8F-44A4-84C8-BF95DE98E8AD}" destId="{CE29CC67-E021-4773-8E67-9A2B35D3A4DE}" srcOrd="0" destOrd="0" presId="urn:microsoft.com/office/officeart/2005/8/layout/architecture+Icon"/>
    <dgm:cxn modelId="{CFFC3427-B311-44A9-8218-A1CE1DE3531A}" type="presParOf" srcId="{8B37948D-7A8F-44A4-84C8-BF95DE98E8AD}" destId="{0E8F3ADB-F7B2-4490-9A0D-FF66E77BEB7A}" srcOrd="1" destOrd="0" presId="urn:microsoft.com/office/officeart/2005/8/layout/architecture+Icon"/>
    <dgm:cxn modelId="{95D9E33A-575E-46A4-9836-686B00CF9B7B}" type="presParOf" srcId="{B629B56A-D18C-4B09-83E1-F5EE03548FF5}" destId="{70706DCC-A191-4267-BB1A-A1319F538AFD}" srcOrd="1" destOrd="0" presId="urn:microsoft.com/office/officeart/2005/8/layout/architecture+Icon"/>
    <dgm:cxn modelId="{4EA45FCC-7918-4F75-BBA6-AF59EBF76DAC}" type="presParOf" srcId="{B629B56A-D18C-4B09-83E1-F5EE03548FF5}" destId="{32A16C76-163B-4C52-AFD7-6EC250232565}" srcOrd="2" destOrd="0" presId="urn:microsoft.com/office/officeart/2005/8/layout/architecture+Icon"/>
    <dgm:cxn modelId="{DF1A19B5-E77F-472E-8161-3EDF87322C09}" type="presParOf" srcId="{32A16C76-163B-4C52-AFD7-6EC250232565}" destId="{13517A9A-8486-42B3-A1E0-21C8E63A10C6}" srcOrd="0" destOrd="0" presId="urn:microsoft.com/office/officeart/2005/8/layout/architecture+Icon"/>
    <dgm:cxn modelId="{AE05DBA8-97D8-4CC9-9FED-AB73183F3680}" type="presParOf" srcId="{32A16C76-163B-4C52-AFD7-6EC250232565}" destId="{6CCA0EEF-EA0E-4C89-A69F-6B9CC7133762}" srcOrd="1" destOrd="0" presId="urn:microsoft.com/office/officeart/2005/8/layout/architecture+Icon"/>
    <dgm:cxn modelId="{18C449BC-0CF8-499D-9ACC-95B8C13C9E71}" type="presParOf" srcId="{B629B56A-D18C-4B09-83E1-F5EE03548FF5}" destId="{F6071E68-DD91-4AF9-AD43-9102974F766D}" srcOrd="3" destOrd="0" presId="urn:microsoft.com/office/officeart/2005/8/layout/architecture+Icon"/>
    <dgm:cxn modelId="{E9F1CF01-8204-4273-8463-4E81C4399943}" type="presParOf" srcId="{B629B56A-D18C-4B09-83E1-F5EE03548FF5}" destId="{78129917-6DFF-4A4F-99FC-D2B4ECD0CDE3}" srcOrd="4" destOrd="0" presId="urn:microsoft.com/office/officeart/2005/8/layout/architecture+Icon"/>
    <dgm:cxn modelId="{D206554E-1559-4995-A245-7959E7CCF5BD}" type="presParOf" srcId="{78129917-6DFF-4A4F-99FC-D2B4ECD0CDE3}" destId="{22C6DCC2-4249-4427-9B25-DF350A21F48B}" srcOrd="0" destOrd="0" presId="urn:microsoft.com/office/officeart/2005/8/layout/architecture+Icon"/>
    <dgm:cxn modelId="{05E61EE6-52FF-49E1-8E3B-438E5C3E6D02}" type="presParOf" srcId="{78129917-6DFF-4A4F-99FC-D2B4ECD0CDE3}" destId="{B93ECDF5-C7D2-4838-8963-65D371DC94AD}" srcOrd="1" destOrd="0" presId="urn:microsoft.com/office/officeart/2005/8/layout/architecture+Icon"/>
    <dgm:cxn modelId="{28DD44B1-C4A1-4228-8C48-DE24A6C73F84}" type="presParOf" srcId="{79E75D19-7F51-43E6-A83E-5A405C81B091}" destId="{EBBBB3CD-54E2-4A6D-9D10-6231B106C49B}" srcOrd="1" destOrd="0" presId="urn:microsoft.com/office/officeart/2005/8/layout/architecture+Icon"/>
    <dgm:cxn modelId="{5D5DB11E-B61B-4FF4-99AD-45B22F3E80FE}" type="presParOf" srcId="{79E75D19-7F51-43E6-A83E-5A405C81B091}" destId="{53039381-C6C0-4169-B2FB-77958DDD0E4D}" srcOrd="2" destOrd="0" presId="urn:microsoft.com/office/officeart/2005/8/layout/architecture+Icon"/>
    <dgm:cxn modelId="{8093AF13-73DF-4EE0-99FB-0F4C84A7ECAB}" type="presParOf" srcId="{53039381-C6C0-4169-B2FB-77958DDD0E4D}" destId="{EDBEDE36-DFA5-460C-B589-00C96DD2D2D0}" srcOrd="0" destOrd="0" presId="urn:microsoft.com/office/officeart/2005/8/layout/architecture+Icon"/>
    <dgm:cxn modelId="{AD0B577B-65C5-41C4-B530-2EFFB4C1FA21}" type="presParOf" srcId="{53039381-C6C0-4169-B2FB-77958DDD0E4D}" destId="{623F7966-C475-4D3F-B697-C227A9CE20EB}" srcOrd="1" destOrd="0" presId="urn:microsoft.com/office/officeart/2005/8/layout/architecture+Icon"/>
    <dgm:cxn modelId="{556DA39D-A615-4097-8AF6-D29B8890F264}" type="presParOf" srcId="{53039381-C6C0-4169-B2FB-77958DDD0E4D}" destId="{F99911DA-225E-4FE7-A67C-D8DDCEB846B6}" srcOrd="2" destOrd="0" presId="urn:microsoft.com/office/officeart/2005/8/layout/architecture+Icon"/>
    <dgm:cxn modelId="{91692827-3552-44E4-A18E-C1DEC2FC86C5}" type="presParOf" srcId="{F99911DA-225E-4FE7-A67C-D8DDCEB846B6}" destId="{952E38AB-D84B-40E8-8338-2B7B5BD60658}" srcOrd="0" destOrd="0" presId="urn:microsoft.com/office/officeart/2005/8/layout/architecture+Icon"/>
    <dgm:cxn modelId="{4355AD39-630A-40C0-8C16-1F60EE47B576}" type="presParOf" srcId="{952E38AB-D84B-40E8-8338-2B7B5BD60658}" destId="{2068B400-5B22-4759-BDA3-454135E60CD7}" srcOrd="0" destOrd="0" presId="urn:microsoft.com/office/officeart/2005/8/layout/architecture+Icon"/>
    <dgm:cxn modelId="{4DFF2837-1947-4D8C-8A4F-FFD343EA3B7E}" type="presParOf" srcId="{952E38AB-D84B-40E8-8338-2B7B5BD60658}" destId="{8BAB39B3-9995-46AC-A2A8-B400BC9DA161}" srcOrd="1" destOrd="0" presId="urn:microsoft.com/office/officeart/2005/8/layout/architecture+Icon"/>
    <dgm:cxn modelId="{9C1220E3-571D-4558-A019-925647844A5D}" type="presParOf" srcId="{F99911DA-225E-4FE7-A67C-D8DDCEB846B6}" destId="{A4D368D7-FF16-4238-A655-CDDAF9C3C54C}" srcOrd="1" destOrd="0" presId="urn:microsoft.com/office/officeart/2005/8/layout/architecture+Icon"/>
    <dgm:cxn modelId="{60628CE8-A0BD-4544-9347-E4576CA32FC5}" type="presParOf" srcId="{F99911DA-225E-4FE7-A67C-D8DDCEB846B6}" destId="{69F2258D-CDA0-479B-B8C6-E64694276E1A}" srcOrd="2" destOrd="0" presId="urn:microsoft.com/office/officeart/2005/8/layout/architecture+Icon"/>
    <dgm:cxn modelId="{7F334CA4-7DBB-4B81-AC2C-57C8288244DD}" type="presParOf" srcId="{69F2258D-CDA0-479B-B8C6-E64694276E1A}" destId="{83D01DDA-2E64-4341-A779-92AC0B8A85BF}" srcOrd="0" destOrd="0" presId="urn:microsoft.com/office/officeart/2005/8/layout/architecture+Icon"/>
    <dgm:cxn modelId="{E29F71AC-24A4-4A44-B2FF-8E30D0B3CADE}" type="presParOf" srcId="{69F2258D-CDA0-479B-B8C6-E64694276E1A}" destId="{D8E548B7-D3B2-4B0B-A020-4842067DDA1F}" srcOrd="1" destOrd="0" presId="urn:microsoft.com/office/officeart/2005/8/layout/architecture+Icon"/>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353425" cy="5040312"/>
        <a:chOff x="0" y="0"/>
        <a:chExt cx="8353425" cy="5040312"/>
      </a:xfrm>
    </dsp:grpSpPr>
    <dsp:sp modelId="{7171A96A-30EB-406C-AC4F-90DD5A7DC437}">
      <dsp:nvSpPr>
        <dsp:cNvPr id="5" name="任意多边形 4"/>
        <dsp:cNvSpPr/>
      </dsp:nvSpPr>
      <dsp:spPr bwMode="white">
        <a:xfrm>
          <a:off x="522089" y="1410740"/>
          <a:ext cx="1987431" cy="600402"/>
        </a:xfrm>
        <a:custGeom>
          <a:avLst/>
          <a:gdLst/>
          <a:ahLst/>
          <a:cxnLst/>
          <a:pathLst>
            <a:path w="3130" h="946">
              <a:moveTo>
                <a:pt x="3130" y="0"/>
              </a:moveTo>
              <a:lnTo>
                <a:pt x="3130" y="714"/>
              </a:lnTo>
              <a:lnTo>
                <a:pt x="0" y="714"/>
              </a:lnTo>
              <a:lnTo>
                <a:pt x="0" y="946"/>
              </a:lnTo>
            </a:path>
          </a:pathLst>
        </a:custGeom>
      </dsp:spPr>
      <dsp:style>
        <a:lnRef idx="2">
          <a:schemeClr val="accent2"/>
        </a:lnRef>
        <a:fillRef idx="0">
          <a:schemeClr val="accent3">
            <a:tint val="90000"/>
          </a:schemeClr>
        </a:fillRef>
        <a:effectRef idx="0">
          <a:scrgbClr r="0" g="0" b="0"/>
        </a:effectRef>
        <a:fontRef idx="minor"/>
      </dsp:style>
      <dsp:txXfrm>
        <a:off x="522089" y="1410740"/>
        <a:ext cx="1987431" cy="600402"/>
      </dsp:txXfrm>
    </dsp:sp>
    <dsp:sp modelId="{6B415EC3-696E-412D-8E43-4697BA633DA1}">
      <dsp:nvSpPr>
        <dsp:cNvPr id="8" name="任意多边形 7"/>
        <dsp:cNvSpPr/>
      </dsp:nvSpPr>
      <dsp:spPr bwMode="white">
        <a:xfrm>
          <a:off x="522089" y="3055321"/>
          <a:ext cx="0" cy="587350"/>
        </a:xfrm>
        <a:custGeom>
          <a:avLst/>
          <a:gdLst/>
          <a:ahLst/>
          <a:cxnLst/>
          <a:pathLst>
            <a:path h="925">
              <a:moveTo>
                <a:pt x="0" y="0"/>
              </a:moveTo>
              <a:lnTo>
                <a:pt x="0" y="925"/>
              </a:lnTo>
            </a:path>
          </a:pathLst>
        </a:custGeom>
      </dsp:spPr>
      <dsp:style>
        <a:lnRef idx="2">
          <a:schemeClr val="accent3"/>
        </a:lnRef>
        <a:fillRef idx="0">
          <a:schemeClr val="accent4">
            <a:tint val="70000"/>
          </a:schemeClr>
        </a:fillRef>
        <a:effectRef idx="0">
          <a:scrgbClr r="0" g="0" b="0"/>
        </a:effectRef>
        <a:fontRef idx="minor"/>
      </dsp:style>
      <dsp:txXfrm>
        <a:off x="522089" y="3055321"/>
        <a:ext cx="0" cy="587350"/>
      </dsp:txXfrm>
    </dsp:sp>
    <dsp:sp modelId="{A2BF8570-E4C0-4D91-8434-27CBD08C8A4C}">
      <dsp:nvSpPr>
        <dsp:cNvPr id="11" name="任意多边形 10"/>
        <dsp:cNvSpPr/>
      </dsp:nvSpPr>
      <dsp:spPr bwMode="white">
        <a:xfrm>
          <a:off x="2509520" y="1410740"/>
          <a:ext cx="2319804" cy="600402"/>
        </a:xfrm>
        <a:custGeom>
          <a:avLst/>
          <a:gdLst/>
          <a:ahLst/>
          <a:cxnLst/>
          <a:pathLst>
            <a:path w="3653" h="946">
              <a:moveTo>
                <a:pt x="0" y="0"/>
              </a:moveTo>
              <a:lnTo>
                <a:pt x="0" y="714"/>
              </a:lnTo>
              <a:lnTo>
                <a:pt x="3653" y="714"/>
              </a:lnTo>
              <a:lnTo>
                <a:pt x="3653" y="946"/>
              </a:lnTo>
            </a:path>
          </a:pathLst>
        </a:custGeom>
      </dsp:spPr>
      <dsp:style>
        <a:lnRef idx="2">
          <a:schemeClr val="accent2"/>
        </a:lnRef>
        <a:fillRef idx="0">
          <a:schemeClr val="accent3">
            <a:tint val="90000"/>
          </a:schemeClr>
        </a:fillRef>
        <a:effectRef idx="0">
          <a:scrgbClr r="0" g="0" b="0"/>
        </a:effectRef>
        <a:fontRef idx="minor"/>
      </dsp:style>
      <dsp:txXfrm>
        <a:off x="2509520" y="1410740"/>
        <a:ext cx="2319804" cy="600402"/>
      </dsp:txXfrm>
    </dsp:sp>
    <dsp:sp modelId="{4F062968-6E3C-4D30-A189-9E382DEFBB02}">
      <dsp:nvSpPr>
        <dsp:cNvPr id="14" name="任意多边形 13"/>
        <dsp:cNvSpPr/>
      </dsp:nvSpPr>
      <dsp:spPr bwMode="white">
        <a:xfrm>
          <a:off x="3393579" y="3055321"/>
          <a:ext cx="1435745" cy="587350"/>
        </a:xfrm>
        <a:custGeom>
          <a:avLst/>
          <a:gdLst/>
          <a:ahLst/>
          <a:cxnLst/>
          <a:pathLst>
            <a:path w="2261" h="925">
              <a:moveTo>
                <a:pt x="2261" y="0"/>
              </a:moveTo>
              <a:lnTo>
                <a:pt x="2261" y="693"/>
              </a:lnTo>
              <a:lnTo>
                <a:pt x="0" y="693"/>
              </a:lnTo>
              <a:lnTo>
                <a:pt x="0" y="925"/>
              </a:lnTo>
            </a:path>
          </a:pathLst>
        </a:custGeom>
      </dsp:spPr>
      <dsp:style>
        <a:lnRef idx="2">
          <a:schemeClr val="accent3"/>
        </a:lnRef>
        <a:fillRef idx="0">
          <a:schemeClr val="accent4">
            <a:tint val="70000"/>
          </a:schemeClr>
        </a:fillRef>
        <a:effectRef idx="0">
          <a:scrgbClr r="0" g="0" b="0"/>
        </a:effectRef>
        <a:fontRef idx="minor"/>
      </dsp:style>
      <dsp:txXfrm>
        <a:off x="3393579" y="3055321"/>
        <a:ext cx="1435745" cy="587350"/>
      </dsp:txXfrm>
    </dsp:sp>
    <dsp:sp modelId="{DF313CF9-4508-4CE7-B95D-6E8FC9BC2659}">
      <dsp:nvSpPr>
        <dsp:cNvPr id="17" name="任意多边形 16"/>
        <dsp:cNvSpPr/>
      </dsp:nvSpPr>
      <dsp:spPr bwMode="white">
        <a:xfrm>
          <a:off x="4829324" y="3055321"/>
          <a:ext cx="1435745" cy="587350"/>
        </a:xfrm>
        <a:custGeom>
          <a:avLst/>
          <a:gdLst/>
          <a:ahLst/>
          <a:cxnLst/>
          <a:pathLst>
            <a:path w="2261" h="925">
              <a:moveTo>
                <a:pt x="0" y="0"/>
              </a:moveTo>
              <a:lnTo>
                <a:pt x="0" y="693"/>
              </a:lnTo>
              <a:lnTo>
                <a:pt x="2261" y="693"/>
              </a:lnTo>
              <a:lnTo>
                <a:pt x="2261" y="925"/>
              </a:lnTo>
            </a:path>
          </a:pathLst>
        </a:custGeom>
      </dsp:spPr>
      <dsp:style>
        <a:lnRef idx="2">
          <a:schemeClr val="accent3"/>
        </a:lnRef>
        <a:fillRef idx="0">
          <a:schemeClr val="accent4">
            <a:tint val="70000"/>
          </a:schemeClr>
        </a:fillRef>
        <a:effectRef idx="0">
          <a:scrgbClr r="0" g="0" b="0"/>
        </a:effectRef>
        <a:fontRef idx="minor"/>
      </dsp:style>
      <dsp:txXfrm>
        <a:off x="4829324" y="3055321"/>
        <a:ext cx="1435745" cy="587350"/>
      </dsp:txXfrm>
    </dsp:sp>
    <dsp:sp modelId="{B2E6AB3F-A7D3-44D9-9109-739E19C00291}">
      <dsp:nvSpPr>
        <dsp:cNvPr id="3" name="椭圆 2"/>
        <dsp:cNvSpPr/>
      </dsp:nvSpPr>
      <dsp:spPr bwMode="white">
        <a:xfrm>
          <a:off x="1987431" y="366562"/>
          <a:ext cx="1044178" cy="1044178"/>
        </a:xfrm>
        <a:prstGeom prst="ellipse">
          <a:avLst/>
        </a:prstGeom>
        <a:blipFill>
          <a:blip r:embed="rId1" cstate="screen"/>
          <a:srcRect/>
          <a:stretch>
            <a:fillRect/>
          </a:stretch>
        </a:blipFill>
      </dsp:spPr>
      <dsp:style>
        <a:lnRef idx="3">
          <a:schemeClr val="lt1"/>
        </a:lnRef>
        <a:fillRef idx="1">
          <a:schemeClr val="accent1"/>
        </a:fillRef>
        <a:effectRef idx="1">
          <a:scrgbClr r="0" g="0" b="0"/>
        </a:effectRef>
        <a:fontRef idx="minor">
          <a:schemeClr val="lt1"/>
        </a:fontRef>
      </dsp:style>
      <dsp:txXfrm>
        <a:off x="1987431" y="366562"/>
        <a:ext cx="1044178" cy="1044178"/>
      </dsp:txXfrm>
    </dsp:sp>
    <dsp:sp modelId="{9BB65D27-8700-46A0-83EC-34BF994AB0A1}">
      <dsp:nvSpPr>
        <dsp:cNvPr id="4" name="矩形 3"/>
        <dsp:cNvSpPr/>
      </dsp:nvSpPr>
      <dsp:spPr bwMode="white">
        <a:xfrm>
          <a:off x="2960282" y="366515"/>
          <a:ext cx="1708923" cy="99206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altLang="zh-CN" dirty="0">
              <a:solidFill>
                <a:schemeClr val="tx1"/>
              </a:solidFill>
            </a:rPr>
            <a:t>non-timber benefits</a:t>
          </a:r>
          <a:endParaRPr lang="zh-CN" altLang="en-US" dirty="0">
            <a:solidFill>
              <a:schemeClr val="tx1"/>
            </a:solidFill>
          </a:endParaRPr>
        </a:p>
      </dsp:txBody>
      <dsp:txXfrm>
        <a:off x="2960282" y="366515"/>
        <a:ext cx="1708923" cy="992063"/>
      </dsp:txXfrm>
    </dsp:sp>
    <dsp:sp modelId="{4033EFAF-2B21-4EA6-82B8-0F9BEB9C3084}">
      <dsp:nvSpPr>
        <dsp:cNvPr id="6" name="椭圆 5"/>
        <dsp:cNvSpPr/>
      </dsp:nvSpPr>
      <dsp:spPr bwMode="white">
        <a:xfrm>
          <a:off x="0" y="2011143"/>
          <a:ext cx="1044178" cy="1044178"/>
        </a:xfrm>
        <a:prstGeom prst="ellipse">
          <a:avLst/>
        </a:prstGeom>
        <a:blipFill>
          <a:blip r:embed="rId2" cstate="screen"/>
          <a:srcRect/>
          <a:stretch>
            <a:fillRect/>
          </a:stretch>
        </a:blipFill>
      </dsp:spPr>
      <dsp:style>
        <a:lnRef idx="3">
          <a:schemeClr val="lt1"/>
        </a:lnRef>
        <a:fillRef idx="1">
          <a:schemeClr val="accent2">
            <a:hueOff val="0"/>
            <a:satOff val="0"/>
            <a:lumOff val="0"/>
            <a:alpha val="100000"/>
          </a:schemeClr>
        </a:fillRef>
        <a:effectRef idx="1">
          <a:scrgbClr r="0" g="0" b="0"/>
        </a:effectRef>
        <a:fontRef idx="minor">
          <a:schemeClr val="lt1"/>
        </a:fontRef>
      </dsp:style>
      <dsp:txXfrm>
        <a:off x="0" y="2011143"/>
        <a:ext cx="1044178" cy="1044178"/>
      </dsp:txXfrm>
    </dsp:sp>
    <dsp:sp modelId="{1EA2CAD5-3926-43C4-AA7B-D9F18FBCAAF1}">
      <dsp:nvSpPr>
        <dsp:cNvPr id="7" name="矩形 6"/>
        <dsp:cNvSpPr/>
      </dsp:nvSpPr>
      <dsp:spPr bwMode="white">
        <a:xfrm>
          <a:off x="1044178" y="1985038"/>
          <a:ext cx="1566267" cy="104417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altLang="zh-CN" dirty="0">
              <a:solidFill>
                <a:schemeClr val="tx1"/>
              </a:solidFill>
            </a:rPr>
            <a:t>Marketed products</a:t>
          </a:r>
          <a:endParaRPr lang="zh-CN" altLang="en-US" dirty="0">
            <a:solidFill>
              <a:schemeClr val="tx1"/>
            </a:solidFill>
          </a:endParaRPr>
        </a:p>
      </dsp:txBody>
      <dsp:txXfrm>
        <a:off x="1044178" y="1985038"/>
        <a:ext cx="1566267" cy="1044178"/>
      </dsp:txXfrm>
    </dsp:sp>
    <dsp:sp modelId="{B30897B3-FCB5-402E-910D-B1841A9E0FD2}">
      <dsp:nvSpPr>
        <dsp:cNvPr id="9" name="椭圆 8"/>
        <dsp:cNvSpPr/>
      </dsp:nvSpPr>
      <dsp:spPr bwMode="white">
        <a:xfrm>
          <a:off x="0" y="3642671"/>
          <a:ext cx="1044178" cy="1044178"/>
        </a:xfrm>
        <a:prstGeom prst="ellipse">
          <a:avLst/>
        </a:prstGeom>
        <a:blipFill>
          <a:blip r:embed="rId3" cstate="screen"/>
          <a:srcRect/>
          <a:stretch>
            <a:fillRect/>
          </a:stretch>
        </a:blipFill>
      </dsp:spPr>
      <dsp:style>
        <a:lnRef idx="3">
          <a:schemeClr val="lt1"/>
        </a:lnRef>
        <a:fillRef idx="1">
          <a:schemeClr val="accent3">
            <a:hueOff val="0"/>
            <a:satOff val="0"/>
            <a:lumOff val="0"/>
            <a:alpha val="100000"/>
          </a:schemeClr>
        </a:fillRef>
        <a:effectRef idx="1">
          <a:scrgbClr r="0" g="0" b="0"/>
        </a:effectRef>
        <a:fontRef idx="minor">
          <a:schemeClr val="lt1"/>
        </a:fontRef>
      </dsp:style>
      <dsp:txXfrm>
        <a:off x="0" y="3642671"/>
        <a:ext cx="1044178" cy="1044178"/>
      </dsp:txXfrm>
    </dsp:sp>
    <dsp:sp modelId="{CAA25CFC-F770-4AF2-B347-BA6CEAC0A90D}">
      <dsp:nvSpPr>
        <dsp:cNvPr id="10" name="矩形 9"/>
        <dsp:cNvSpPr/>
      </dsp:nvSpPr>
      <dsp:spPr bwMode="white">
        <a:xfrm>
          <a:off x="1044178" y="3616567"/>
          <a:ext cx="1566267" cy="104417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altLang="zh-CN" dirty="0">
              <a:solidFill>
                <a:schemeClr val="tx1"/>
              </a:solidFill>
            </a:rPr>
            <a:t>Grazing rights</a:t>
          </a:r>
          <a:endParaRPr lang="zh-CN" altLang="en-US" dirty="0">
            <a:solidFill>
              <a:schemeClr val="tx1"/>
            </a:solidFill>
          </a:endParaRPr>
        </a:p>
      </dsp:txBody>
      <dsp:txXfrm>
        <a:off x="1044178" y="3616567"/>
        <a:ext cx="1566267" cy="1044178"/>
      </dsp:txXfrm>
    </dsp:sp>
    <dsp:sp modelId="{6C66EC66-BBD9-42F6-B11B-AAC2504CB740}">
      <dsp:nvSpPr>
        <dsp:cNvPr id="12" name="椭圆 11"/>
        <dsp:cNvSpPr/>
      </dsp:nvSpPr>
      <dsp:spPr bwMode="white">
        <a:xfrm>
          <a:off x="4307235" y="2011143"/>
          <a:ext cx="1044178" cy="1044178"/>
        </a:xfrm>
        <a:prstGeom prst="ellipse">
          <a:avLst/>
        </a:prstGeom>
        <a:blipFill>
          <a:blip r:embed="rId4" cstate="screen"/>
          <a:srcRect/>
          <a:stretch>
            <a:fillRect/>
          </a:stretch>
        </a:blipFill>
      </dsp:spPr>
      <dsp:style>
        <a:lnRef idx="3">
          <a:schemeClr val="lt1"/>
        </a:lnRef>
        <a:fillRef idx="1">
          <a:schemeClr val="accent2">
            <a:hueOff val="0"/>
            <a:satOff val="0"/>
            <a:lumOff val="0"/>
            <a:alpha val="100000"/>
          </a:schemeClr>
        </a:fillRef>
        <a:effectRef idx="1">
          <a:scrgbClr r="0" g="0" b="0"/>
        </a:effectRef>
        <a:fontRef idx="minor">
          <a:schemeClr val="lt1"/>
        </a:fontRef>
      </dsp:style>
      <dsp:txXfrm>
        <a:off x="4307235" y="2011143"/>
        <a:ext cx="1044178" cy="1044178"/>
      </dsp:txXfrm>
    </dsp:sp>
    <dsp:sp modelId="{0F9F6D8D-8223-455F-B8DC-834F755D5EBC}">
      <dsp:nvSpPr>
        <dsp:cNvPr id="13" name="矩形 12"/>
        <dsp:cNvSpPr/>
      </dsp:nvSpPr>
      <dsp:spPr bwMode="white">
        <a:xfrm>
          <a:off x="5351413" y="1985038"/>
          <a:ext cx="1566267" cy="104417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altLang="zh-CN" dirty="0" err="1">
              <a:solidFill>
                <a:schemeClr val="tx1"/>
              </a:solidFill>
            </a:rPr>
            <a:t>Unmarketed</a:t>
          </a:r>
          <a:r>
            <a:rPr lang="en-US" altLang="zh-CN" dirty="0">
              <a:solidFill>
                <a:schemeClr val="tx1"/>
              </a:solidFill>
            </a:rPr>
            <a:t> benefits</a:t>
          </a:r>
          <a:endParaRPr lang="zh-CN" altLang="en-US" dirty="0">
            <a:solidFill>
              <a:schemeClr val="tx1"/>
            </a:solidFill>
          </a:endParaRPr>
        </a:p>
      </dsp:txBody>
      <dsp:txXfrm>
        <a:off x="5351413" y="1985038"/>
        <a:ext cx="1566267" cy="1044178"/>
      </dsp:txXfrm>
    </dsp:sp>
    <dsp:sp modelId="{309C8916-5DE3-4D0C-9DD6-B26388DEF66F}">
      <dsp:nvSpPr>
        <dsp:cNvPr id="15" name="椭圆 14"/>
        <dsp:cNvSpPr/>
      </dsp:nvSpPr>
      <dsp:spPr bwMode="white">
        <a:xfrm>
          <a:off x="2871490" y="3642671"/>
          <a:ext cx="1044178" cy="1044178"/>
        </a:xfrm>
        <a:prstGeom prst="ellipse">
          <a:avLst/>
        </a:prstGeom>
        <a:blipFill>
          <a:blip r:embed="rId5" cstate="screen"/>
          <a:srcRect/>
          <a:stretch>
            <a:fillRect/>
          </a:stretch>
        </a:blipFill>
      </dsp:spPr>
      <dsp:style>
        <a:lnRef idx="3">
          <a:schemeClr val="lt1"/>
        </a:lnRef>
        <a:fillRef idx="1">
          <a:schemeClr val="accent3">
            <a:hueOff val="0"/>
            <a:satOff val="0"/>
            <a:lumOff val="0"/>
            <a:alpha val="100000"/>
          </a:schemeClr>
        </a:fillRef>
        <a:effectRef idx="1">
          <a:scrgbClr r="0" g="0" b="0"/>
        </a:effectRef>
        <a:fontRef idx="minor">
          <a:schemeClr val="lt1"/>
        </a:fontRef>
      </dsp:style>
      <dsp:txXfrm>
        <a:off x="2871490" y="3642671"/>
        <a:ext cx="1044178" cy="1044178"/>
      </dsp:txXfrm>
    </dsp:sp>
    <dsp:sp modelId="{7FA18201-04E4-4ED5-9922-BB4A5FCBA50A}">
      <dsp:nvSpPr>
        <dsp:cNvPr id="16" name="矩形 15"/>
        <dsp:cNvSpPr/>
      </dsp:nvSpPr>
      <dsp:spPr bwMode="white">
        <a:xfrm>
          <a:off x="3915668" y="3616567"/>
          <a:ext cx="1566267" cy="104417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altLang="zh-CN" dirty="0">
              <a:solidFill>
                <a:schemeClr val="tx1"/>
              </a:solidFill>
            </a:rPr>
            <a:t>services</a:t>
          </a:r>
          <a:endParaRPr lang="zh-CN" altLang="en-US" dirty="0">
            <a:solidFill>
              <a:schemeClr val="tx1"/>
            </a:solidFill>
          </a:endParaRPr>
        </a:p>
      </dsp:txBody>
      <dsp:txXfrm>
        <a:off x="3915668" y="3616567"/>
        <a:ext cx="1566267" cy="1044178"/>
      </dsp:txXfrm>
    </dsp:sp>
    <dsp:sp modelId="{5994F302-69ED-4C99-97D9-9666EEF7DDE5}">
      <dsp:nvSpPr>
        <dsp:cNvPr id="18" name="椭圆 17"/>
        <dsp:cNvSpPr/>
      </dsp:nvSpPr>
      <dsp:spPr bwMode="white">
        <a:xfrm>
          <a:off x="5742980" y="3642671"/>
          <a:ext cx="1044178" cy="1044178"/>
        </a:xfrm>
        <a:prstGeom prst="ellipse">
          <a:avLst/>
        </a:prstGeom>
        <a:blipFill>
          <a:blip r:embed="rId6" cstate="screen"/>
          <a:srcRect/>
          <a:stretch>
            <a:fillRect/>
          </a:stretch>
        </a:blipFill>
      </dsp:spPr>
      <dsp:style>
        <a:lnRef idx="3">
          <a:schemeClr val="lt1"/>
        </a:lnRef>
        <a:fillRef idx="1">
          <a:schemeClr val="accent3">
            <a:hueOff val="0"/>
            <a:satOff val="0"/>
            <a:lumOff val="0"/>
            <a:alpha val="100000"/>
          </a:schemeClr>
        </a:fillRef>
        <a:effectRef idx="1">
          <a:scrgbClr r="0" g="0" b="0"/>
        </a:effectRef>
        <a:fontRef idx="minor">
          <a:schemeClr val="lt1"/>
        </a:fontRef>
      </dsp:style>
      <dsp:txXfrm>
        <a:off x="5742980" y="3642671"/>
        <a:ext cx="1044178" cy="1044178"/>
      </dsp:txXfrm>
    </dsp:sp>
    <dsp:sp modelId="{FCFF0558-E8A7-4C0C-B1BB-0626D5285838}">
      <dsp:nvSpPr>
        <dsp:cNvPr id="19" name="矩形 18"/>
        <dsp:cNvSpPr/>
      </dsp:nvSpPr>
      <dsp:spPr bwMode="white">
        <a:xfrm>
          <a:off x="6787158" y="3616567"/>
          <a:ext cx="1566267" cy="1044178"/>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0010" tIns="80010" rIns="80010" bIns="80010" anchor="ctr"/>
        <a:lstStyle>
          <a:lvl1pPr algn="l">
            <a:defRPr sz="21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0">
            <a:lnSpc>
              <a:spcPct val="100000"/>
            </a:lnSpc>
            <a:spcBef>
              <a:spcPct val="0"/>
            </a:spcBef>
            <a:spcAft>
              <a:spcPct val="35000"/>
            </a:spcAft>
          </a:pPr>
          <a:r>
            <a:rPr lang="en-US" altLang="zh-CN" dirty="0">
              <a:solidFill>
                <a:schemeClr val="tx1"/>
              </a:solidFill>
            </a:rPr>
            <a:t>products</a:t>
          </a:r>
          <a:endParaRPr lang="zh-CN" altLang="en-US" dirty="0">
            <a:solidFill>
              <a:schemeClr val="tx1"/>
            </a:solidFill>
          </a:endParaRPr>
        </a:p>
      </dsp:txBody>
      <dsp:txXfrm>
        <a:off x="6787158" y="3616567"/>
        <a:ext cx="1566267" cy="1044178"/>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86737" cy="5929313"/>
        <a:chOff x="0" y="0"/>
        <a:chExt cx="8186737" cy="5929313"/>
      </a:xfrm>
    </dsp:grpSpPr>
    <dsp:sp modelId="{6AC94CC9-4A46-4A04-87E2-64C83057C1F2}">
      <dsp:nvSpPr>
        <dsp:cNvPr id="3" name="燕尾形 2"/>
        <dsp:cNvSpPr/>
      </dsp:nvSpPr>
      <dsp:spPr bwMode="white">
        <a:xfrm>
          <a:off x="0" y="2382999"/>
          <a:ext cx="2411015" cy="930652"/>
        </a:xfrm>
        <a:prstGeom prst="chevron">
          <a:avLst>
            <a:gd name="adj" fmla="val 40000"/>
          </a:avLst>
        </a:prstGeom>
      </dsp:spPr>
      <dsp:style>
        <a:lnRef idx="0">
          <a:schemeClr val="lt1"/>
        </a:lnRef>
        <a:fillRef idx="3">
          <a:schemeClr val="accent3">
            <a:hueOff val="0"/>
            <a:satOff val="0"/>
            <a:lumOff val="0"/>
            <a:alpha val="100000"/>
          </a:schemeClr>
        </a:fillRef>
        <a:effectRef idx="3">
          <a:scrgbClr r="0" g="0" b="0"/>
        </a:effectRef>
        <a:fontRef idx="minor">
          <a:schemeClr val="lt1"/>
        </a:fontRef>
      </dsp:style>
      <dsp:txXfrm>
        <a:off x="0" y="2382999"/>
        <a:ext cx="2411015" cy="930652"/>
      </dsp:txXfrm>
    </dsp:sp>
    <dsp:sp modelId="{54D49D4F-A886-4E85-B7FD-BF47BBC672E7}">
      <dsp:nvSpPr>
        <dsp:cNvPr id="4" name="圆角矩形 3"/>
        <dsp:cNvSpPr/>
      </dsp:nvSpPr>
      <dsp:spPr bwMode="white">
        <a:xfrm>
          <a:off x="642937" y="2615662"/>
          <a:ext cx="2035969" cy="930652"/>
        </a:xfrm>
        <a:prstGeom prst="roundRect">
          <a:avLst>
            <a:gd name="adj" fmla="val 10000"/>
          </a:avLst>
        </a:prstGeom>
      </dsp:spPr>
      <dsp:style>
        <a:lnRef idx="1">
          <a:schemeClr val="accent3">
            <a:hueOff val="0"/>
            <a:satOff val="0"/>
            <a:lumOff val="0"/>
            <a:alpha val="100000"/>
          </a:schemeClr>
        </a:lnRef>
        <a:fillRef idx="1">
          <a:schemeClr val="lt1">
            <a:alpha val="90000"/>
          </a:schemeClr>
        </a:fillRef>
        <a:effectRef idx="2">
          <a:scrgbClr r="0" g="0" b="0"/>
        </a:effectRef>
        <a:fontRef idx="minor"/>
      </dsp:style>
      <dsp:txBody>
        <a:bodyPr lIns="106680" tIns="106680" rIns="106680" bIns="106680" anchor="t"/>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0">
            <a:lnSpc>
              <a:spcPct val="100000"/>
            </a:lnSpc>
            <a:spcBef>
              <a:spcPct val="0"/>
            </a:spcBef>
            <a:spcAft>
              <a:spcPct val="35000"/>
            </a:spcAft>
          </a:pPr>
          <a:r>
            <a:rPr lang="en-US" altLang="zh-CN" dirty="0">
              <a:solidFill>
                <a:schemeClr val="dk1"/>
              </a:solidFill>
            </a:rPr>
            <a:t>The value or utility</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产品或服务的价值或效用</a:t>
          </a:r>
          <a:endParaRPr>
            <a:solidFill>
              <a:schemeClr val="dk1"/>
            </a:solidFill>
          </a:endParaRPr>
        </a:p>
      </dsp:txBody>
      <dsp:txXfrm>
        <a:off x="642937" y="2615662"/>
        <a:ext cx="2035969" cy="930652"/>
      </dsp:txXfrm>
    </dsp:sp>
    <dsp:sp modelId="{EE4217A3-7A4B-47DB-A85A-61F997229FFF}">
      <dsp:nvSpPr>
        <dsp:cNvPr id="5" name="燕尾形 4"/>
        <dsp:cNvSpPr/>
      </dsp:nvSpPr>
      <dsp:spPr bwMode="white">
        <a:xfrm>
          <a:off x="2753915" y="2382999"/>
          <a:ext cx="2411015" cy="930652"/>
        </a:xfrm>
        <a:prstGeom prst="chevron">
          <a:avLst>
            <a:gd name="adj" fmla="val 40000"/>
          </a:avLst>
        </a:prstGeom>
      </dsp:spPr>
      <dsp:style>
        <a:lnRef idx="0">
          <a:schemeClr val="lt1"/>
        </a:lnRef>
        <a:fillRef idx="3">
          <a:schemeClr val="accent3">
            <a:hueOff val="5640000"/>
            <a:satOff val="-8430"/>
            <a:lumOff val="-1372"/>
            <a:alpha val="100000"/>
          </a:schemeClr>
        </a:fillRef>
        <a:effectRef idx="3">
          <a:scrgbClr r="0" g="0" b="0"/>
        </a:effectRef>
        <a:fontRef idx="minor">
          <a:schemeClr val="lt1"/>
        </a:fontRef>
      </dsp:style>
      <dsp:txXfrm>
        <a:off x="2753915" y="2382999"/>
        <a:ext cx="2411015" cy="930652"/>
      </dsp:txXfrm>
    </dsp:sp>
    <dsp:sp modelId="{404A044D-55C5-41AA-95B5-71CB9019A8AF}">
      <dsp:nvSpPr>
        <dsp:cNvPr id="6" name="圆角矩形 5"/>
        <dsp:cNvSpPr/>
      </dsp:nvSpPr>
      <dsp:spPr bwMode="white">
        <a:xfrm>
          <a:off x="3396853" y="2615662"/>
          <a:ext cx="2035969" cy="930652"/>
        </a:xfrm>
        <a:prstGeom prst="roundRect">
          <a:avLst>
            <a:gd name="adj" fmla="val 10000"/>
          </a:avLst>
        </a:prstGeom>
      </dsp:spPr>
      <dsp:style>
        <a:lnRef idx="1">
          <a:schemeClr val="accent3">
            <a:hueOff val="5640000"/>
            <a:satOff val="-8430"/>
            <a:lumOff val="-1372"/>
            <a:alpha val="100000"/>
          </a:schemeClr>
        </a:lnRef>
        <a:fillRef idx="1">
          <a:schemeClr val="lt1">
            <a:alpha val="90000"/>
          </a:schemeClr>
        </a:fillRef>
        <a:effectRef idx="2">
          <a:scrgbClr r="0" g="0" b="0"/>
        </a:effectRef>
        <a:fontRef idx="minor"/>
      </dsp:style>
      <dsp:txBody>
        <a:bodyPr lIns="106680" tIns="106680" rIns="106680" bIns="106680" anchor="t"/>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0">
            <a:lnSpc>
              <a:spcPct val="100000"/>
            </a:lnSpc>
            <a:spcBef>
              <a:spcPct val="0"/>
            </a:spcBef>
            <a:spcAft>
              <a:spcPct val="35000"/>
            </a:spcAft>
          </a:pPr>
          <a:r>
            <a:rPr lang="en-US" altLang="zh-CN" dirty="0">
              <a:solidFill>
                <a:schemeClr val="dk1"/>
              </a:solidFill>
            </a:rPr>
            <a:t>Willingness to pay</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消费者的支付意愿</a:t>
          </a:r>
          <a:endParaRPr>
            <a:solidFill>
              <a:schemeClr val="dk1"/>
            </a:solidFill>
          </a:endParaRPr>
        </a:p>
      </dsp:txBody>
      <dsp:txXfrm>
        <a:off x="3396853" y="2615662"/>
        <a:ext cx="2035969" cy="930652"/>
      </dsp:txXfrm>
    </dsp:sp>
    <dsp:sp modelId="{D7FD6AFA-F0F6-4973-9D65-84F939016CBE}">
      <dsp:nvSpPr>
        <dsp:cNvPr id="7" name="燕尾形 6"/>
        <dsp:cNvSpPr/>
      </dsp:nvSpPr>
      <dsp:spPr bwMode="white">
        <a:xfrm>
          <a:off x="5507831" y="2382999"/>
          <a:ext cx="2411015" cy="930652"/>
        </a:xfrm>
        <a:prstGeom prst="chevron">
          <a:avLst>
            <a:gd name="adj" fmla="val 40000"/>
          </a:avLst>
        </a:prstGeom>
      </dsp:spPr>
      <dsp:style>
        <a:lnRef idx="0">
          <a:schemeClr val="lt1"/>
        </a:lnRef>
        <a:fillRef idx="3">
          <a:schemeClr val="accent3">
            <a:hueOff val="11280000"/>
            <a:satOff val="-16862"/>
            <a:lumOff val="-2744"/>
            <a:alpha val="100000"/>
          </a:schemeClr>
        </a:fillRef>
        <a:effectRef idx="3">
          <a:scrgbClr r="0" g="0" b="0"/>
        </a:effectRef>
        <a:fontRef idx="minor">
          <a:schemeClr val="lt1"/>
        </a:fontRef>
      </dsp:style>
      <dsp:txXfrm>
        <a:off x="5507831" y="2382999"/>
        <a:ext cx="2411015" cy="930652"/>
      </dsp:txXfrm>
    </dsp:sp>
    <dsp:sp modelId="{8E3446E3-B659-459B-B287-77AB9BEDBF13}">
      <dsp:nvSpPr>
        <dsp:cNvPr id="8" name="圆角矩形 7"/>
        <dsp:cNvSpPr/>
      </dsp:nvSpPr>
      <dsp:spPr bwMode="white">
        <a:xfrm>
          <a:off x="6150768" y="2615662"/>
          <a:ext cx="2035969" cy="930652"/>
        </a:xfrm>
        <a:prstGeom prst="roundRect">
          <a:avLst>
            <a:gd name="adj" fmla="val 10000"/>
          </a:avLst>
        </a:prstGeom>
      </dsp:spPr>
      <dsp:style>
        <a:lnRef idx="1">
          <a:schemeClr val="accent3">
            <a:hueOff val="11280000"/>
            <a:satOff val="-16862"/>
            <a:lumOff val="-2744"/>
            <a:alpha val="100000"/>
          </a:schemeClr>
        </a:lnRef>
        <a:fillRef idx="1">
          <a:schemeClr val="lt1">
            <a:alpha val="90000"/>
          </a:schemeClr>
        </a:fillRef>
        <a:effectRef idx="2">
          <a:scrgbClr r="0" g="0" b="0"/>
        </a:effectRef>
        <a:fontRef idx="minor"/>
      </dsp:style>
      <dsp:txBody>
        <a:bodyPr lIns="106680" tIns="106680" rIns="106680" bIns="106680" anchor="t"/>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0">
            <a:lnSpc>
              <a:spcPct val="100000"/>
            </a:lnSpc>
            <a:spcBef>
              <a:spcPct val="0"/>
            </a:spcBef>
            <a:spcAft>
              <a:spcPct val="35000"/>
            </a:spcAft>
          </a:pPr>
          <a:r>
            <a:rPr lang="en-US" altLang="zh-CN" dirty="0">
              <a:solidFill>
                <a:schemeClr val="dk1"/>
              </a:solidFill>
            </a:rPr>
            <a:t>Demand curve</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消费者的需求曲线</a:t>
          </a:r>
          <a:endParaRPr>
            <a:solidFill>
              <a:schemeClr val="dk1"/>
            </a:solidFill>
          </a:endParaRPr>
        </a:p>
      </dsp:txBody>
      <dsp:txXfrm>
        <a:off x="6150768" y="2615662"/>
        <a:ext cx="2035969" cy="930652"/>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86737" cy="5929313"/>
        <a:chOff x="0" y="0"/>
        <a:chExt cx="8186737" cy="5929313"/>
      </a:xfrm>
    </dsp:grpSpPr>
    <dsp:sp modelId="{157E8439-12B2-47B4-9ED0-79EEF458FC00}">
      <dsp:nvSpPr>
        <dsp:cNvPr id="3" name="圆角矩形 2"/>
        <dsp:cNvSpPr/>
      </dsp:nvSpPr>
      <dsp:spPr bwMode="white">
        <a:xfrm>
          <a:off x="0" y="3075005"/>
          <a:ext cx="4785163" cy="2854308"/>
        </a:xfrm>
        <a:prstGeom prst="roundRect">
          <a:avLst>
            <a:gd name="adj" fmla="val 10000"/>
          </a:avLst>
        </a:prstGeom>
      </dsp:spPr>
      <dsp:style>
        <a:lnRef idx="0">
          <a:schemeClr val="lt1"/>
        </a:lnRef>
        <a:fillRef idx="3">
          <a:schemeClr val="accent3"/>
        </a:fillRef>
        <a:effectRef idx="3">
          <a:scrgbClr r="0" g="0" b="0"/>
        </a:effectRef>
        <a:fontRef idx="minor">
          <a:schemeClr val="lt1"/>
        </a:fontRef>
      </dsp:style>
      <dsp:txBody>
        <a:bodyPr lIns="133350" tIns="133350" rIns="133350" bIns="133350" anchor="ctr"/>
        <a:lstStyle>
          <a:lvl1pPr algn="ctr">
            <a:defRPr sz="3500"/>
          </a:lvl1pPr>
          <a:lvl2pPr marL="228600" indent="-228600" algn="ctr">
            <a:defRPr sz="2700"/>
          </a:lvl2pPr>
          <a:lvl3pPr marL="457200" indent="-228600" algn="ctr">
            <a:defRPr sz="2700"/>
          </a:lvl3pPr>
          <a:lvl4pPr marL="685800" indent="-228600" algn="ctr">
            <a:defRPr sz="2700"/>
          </a:lvl4pPr>
          <a:lvl5pPr marL="914400" indent="-228600" algn="ctr">
            <a:defRPr sz="2700"/>
          </a:lvl5pPr>
          <a:lvl6pPr marL="1143000" indent="-228600" algn="ctr">
            <a:defRPr sz="2700"/>
          </a:lvl6pPr>
          <a:lvl7pPr marL="1371600" indent="-228600" algn="ctr">
            <a:defRPr sz="2700"/>
          </a:lvl7pPr>
          <a:lvl8pPr marL="1600200" indent="-228600" algn="ctr">
            <a:defRPr sz="2700"/>
          </a:lvl8pPr>
          <a:lvl9pPr marL="1828800" indent="-228600" algn="ctr">
            <a:defRPr sz="2700"/>
          </a:lvl9pPr>
        </a:lstStyle>
        <a:p>
          <a:pPr lvl="0">
            <a:lnSpc>
              <a:spcPct val="100000"/>
            </a:lnSpc>
            <a:spcBef>
              <a:spcPct val="0"/>
            </a:spcBef>
            <a:spcAft>
              <a:spcPct val="35000"/>
            </a:spcAft>
          </a:pPr>
          <a:r>
            <a:rPr lang="zh-CN" altLang="en-US" baseline="0" dirty="0">
              <a:effectLst>
                <a:innerShdw blurRad="63500" dist="50800" dir="16200000">
                  <a:prstClr val="black">
                    <a:alpha val="50000"/>
                  </a:prstClr>
                </a:innerShdw>
              </a:effectLst>
              <a:ea typeface="黑体" panose="02010609060101010101" pitchFamily="49" charset="-122"/>
            </a:rPr>
            <a:t>显示型方法（</a:t>
          </a:r>
          <a:r>
            <a:rPr lang="en-US" altLang="zh-CN" baseline="0" dirty="0">
              <a:effectLst>
                <a:innerShdw blurRad="63500" dist="50800" dir="16200000">
                  <a:prstClr val="black">
                    <a:alpha val="50000"/>
                  </a:prstClr>
                </a:innerShdw>
              </a:effectLst>
              <a:ea typeface="黑体" panose="02010609060101010101" pitchFamily="49" charset="-122"/>
            </a:rPr>
            <a:t>Revealed preference</a:t>
          </a:r>
          <a:r>
            <a:rPr lang="zh-CN" altLang="en-US" baseline="0" dirty="0">
              <a:effectLst>
                <a:innerShdw blurRad="63500" dist="50800" dir="16200000">
                  <a:prstClr val="black">
                    <a:alpha val="50000"/>
                  </a:prstClr>
                </a:innerShdw>
              </a:effectLst>
              <a:ea typeface="黑体" panose="02010609060101010101" pitchFamily="49" charset="-122"/>
            </a:rPr>
            <a:t>）：了解被调查者的实际选择结果</a:t>
          </a:r>
        </a:p>
      </dsp:txBody>
      <dsp:txXfrm>
        <a:off x="0" y="3075005"/>
        <a:ext cx="4785163" cy="2854308"/>
      </dsp:txXfrm>
    </dsp:sp>
    <dsp:sp modelId="{CE29CC67-E021-4773-8E67-9A2B35D3A4DE}">
      <dsp:nvSpPr>
        <dsp:cNvPr id="4" name="圆角矩形 3"/>
        <dsp:cNvSpPr/>
      </dsp:nvSpPr>
      <dsp:spPr bwMode="white">
        <a:xfrm>
          <a:off x="0" y="0"/>
          <a:ext cx="1510468" cy="2854308"/>
        </a:xfrm>
        <a:prstGeom prst="roundRect">
          <a:avLst>
            <a:gd name="adj" fmla="val 10000"/>
          </a:avLst>
        </a:prstGeom>
      </dsp:spPr>
      <dsp:style>
        <a:lnRef idx="0">
          <a:schemeClr val="lt1"/>
        </a:lnRef>
        <a:fillRef idx="3">
          <a:schemeClr val="accent5">
            <a:hueOff val="0"/>
            <a:satOff val="0"/>
            <a:lumOff val="0"/>
            <a:alpha val="100000"/>
          </a:schemeClr>
        </a:fillRef>
        <a:effectRef idx="3">
          <a:scrgbClr r="0" g="0" b="0"/>
        </a:effectRef>
        <a:fontRef idx="minor">
          <a:schemeClr val="lt1"/>
        </a:fontRef>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baseline="0" dirty="0">
              <a:effectLst>
                <a:innerShdw blurRad="63500" dist="50800" dir="16200000">
                  <a:prstClr val="black">
                    <a:alpha val="50000"/>
                  </a:prstClr>
                </a:innerShdw>
              </a:effectLst>
              <a:ea typeface="黑体" panose="02010609060101010101" pitchFamily="49" charset="-122"/>
            </a:rPr>
            <a:t>实地试验方法</a:t>
          </a:r>
          <a:endParaRPr lang="en-US" altLang="zh-CN" baseline="0" dirty="0">
            <a:effectLst>
              <a:innerShdw blurRad="63500" dist="50800" dir="16200000">
                <a:prstClr val="black">
                  <a:alpha val="50000"/>
                </a:prstClr>
              </a:innerShdw>
            </a:effectLst>
            <a:ea typeface="黑体" panose="02010609060101010101" pitchFamily="49" charset="-122"/>
          </a:endParaRPr>
        </a:p>
        <a:p>
          <a:pPr lvl="0">
            <a:lnSpc>
              <a:spcPct val="100000"/>
            </a:lnSpc>
            <a:spcBef>
              <a:spcPct val="0"/>
            </a:spcBef>
            <a:spcAft>
              <a:spcPct val="35000"/>
            </a:spcAft>
          </a:pPr>
          <a:r>
            <a:rPr lang="en-US" altLang="zh-CN" baseline="0" dirty="0">
              <a:effectLst>
                <a:innerShdw blurRad="63500" dist="50800" dir="16200000">
                  <a:prstClr val="black">
                    <a:alpha val="50000"/>
                  </a:prstClr>
                </a:innerShdw>
              </a:effectLst>
              <a:ea typeface="黑体" panose="02010609060101010101" pitchFamily="49" charset="-122"/>
            </a:rPr>
            <a:t>F</a:t>
          </a:r>
          <a:r>
            <a:rPr lang="en-US" altLang="en-US" baseline="0" dirty="0">
              <a:effectLst>
                <a:innerShdw blurRad="63500" dist="50800" dir="16200000">
                  <a:prstClr val="black">
                    <a:alpha val="50000"/>
                  </a:prstClr>
                </a:innerShdw>
              </a:effectLst>
              <a:ea typeface="黑体" panose="02010609060101010101" pitchFamily="49" charset="-122"/>
            </a:rPr>
            <a:t>ield</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experiment</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method</a:t>
          </a:r>
        </a:p>
      </dsp:txBody>
      <dsp:txXfrm>
        <a:off x="0" y="0"/>
        <a:ext cx="1510468" cy="2854308"/>
      </dsp:txXfrm>
    </dsp:sp>
    <dsp:sp modelId="{13517A9A-8486-42B3-A1E0-21C8E63A10C6}">
      <dsp:nvSpPr>
        <dsp:cNvPr id="5" name="圆角矩形 4"/>
        <dsp:cNvSpPr/>
      </dsp:nvSpPr>
      <dsp:spPr bwMode="white">
        <a:xfrm>
          <a:off x="1637347" y="0"/>
          <a:ext cx="1510468" cy="2854308"/>
        </a:xfrm>
        <a:prstGeom prst="roundRect">
          <a:avLst>
            <a:gd name="adj" fmla="val 10000"/>
          </a:avLst>
        </a:prstGeom>
      </dsp:spPr>
      <dsp:style>
        <a:lnRef idx="0">
          <a:schemeClr val="lt1"/>
        </a:lnRef>
        <a:fillRef idx="3">
          <a:schemeClr val="accent5">
            <a:hueOff val="0"/>
            <a:satOff val="0"/>
            <a:lumOff val="0"/>
            <a:alpha val="100000"/>
          </a:schemeClr>
        </a:fillRef>
        <a:effectRef idx="3">
          <a:scrgbClr r="0" g="0" b="0"/>
        </a:effectRef>
        <a:fontRef idx="minor">
          <a:schemeClr val="lt1"/>
        </a:fontRef>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baseline="0" dirty="0">
              <a:effectLst>
                <a:innerShdw blurRad="63500" dist="50800" dir="16200000">
                  <a:prstClr val="black">
                    <a:alpha val="50000"/>
                  </a:prstClr>
                </a:innerShdw>
              </a:effectLst>
              <a:ea typeface="黑体" panose="02010609060101010101" pitchFamily="49" charset="-122"/>
            </a:rPr>
            <a:t>旅行费用法</a:t>
          </a:r>
          <a:endParaRPr lang="en-US" altLang="zh-CN" baseline="0" dirty="0">
            <a:effectLst>
              <a:innerShdw blurRad="63500" dist="50800" dir="16200000">
                <a:prstClr val="black">
                  <a:alpha val="50000"/>
                </a:prstClr>
              </a:innerShdw>
            </a:effectLst>
            <a:ea typeface="黑体" panose="02010609060101010101" pitchFamily="49" charset="-122"/>
          </a:endParaRPr>
        </a:p>
        <a:p>
          <a:pPr lvl="0">
            <a:lnSpc>
              <a:spcPct val="100000"/>
            </a:lnSpc>
            <a:spcBef>
              <a:spcPct val="0"/>
            </a:spcBef>
            <a:spcAft>
              <a:spcPct val="35000"/>
            </a:spcAft>
          </a:pPr>
          <a:r>
            <a:rPr lang="en-US" altLang="en-US" baseline="0" dirty="0">
              <a:effectLst>
                <a:innerShdw blurRad="63500" dist="50800" dir="16200000">
                  <a:prstClr val="black">
                    <a:alpha val="50000"/>
                  </a:prstClr>
                </a:innerShdw>
              </a:effectLst>
              <a:ea typeface="黑体" panose="02010609060101010101" pitchFamily="49" charset="-122"/>
            </a:rPr>
            <a:t>Travel</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cost</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approach</a:t>
          </a:r>
          <a:endParaRPr lang="en-US" altLang="en-US" baseline="0" dirty="0">
            <a:effectLst>
              <a:innerShdw blurRad="63500" dist="50800" dir="16200000">
                <a:prstClr val="black">
                  <a:alpha val="50000"/>
                </a:prstClr>
              </a:innerShdw>
            </a:effectLst>
            <a:ea typeface="黑体" panose="02010609060101010101" pitchFamily="49" charset="-122"/>
          </a:endParaRPr>
        </a:p>
        <a:p>
          <a:pPr lvl="0">
            <a:lnSpc>
              <a:spcPct val="100000"/>
            </a:lnSpc>
            <a:spcBef>
              <a:spcPct val="0"/>
            </a:spcBef>
            <a:spcAft>
              <a:spcPct val="35000"/>
            </a:spcAft>
          </a:pPr>
          <a:endParaRPr lang="zh-CN" altLang="en-US" baseline="0" dirty="0">
            <a:effectLst>
              <a:innerShdw blurRad="63500" dist="50800" dir="16200000">
                <a:prstClr val="black">
                  <a:alpha val="50000"/>
                </a:prstClr>
              </a:innerShdw>
            </a:effectLst>
            <a:ea typeface="黑体" panose="02010609060101010101" pitchFamily="49" charset="-122"/>
          </a:endParaRPr>
        </a:p>
      </dsp:txBody>
      <dsp:txXfrm>
        <a:off x="1637347" y="0"/>
        <a:ext cx="1510468" cy="2854308"/>
      </dsp:txXfrm>
    </dsp:sp>
    <dsp:sp modelId="{22C6DCC2-4249-4427-9B25-DF350A21F48B}">
      <dsp:nvSpPr>
        <dsp:cNvPr id="6" name="圆角矩形 5"/>
        <dsp:cNvSpPr/>
      </dsp:nvSpPr>
      <dsp:spPr bwMode="white">
        <a:xfrm>
          <a:off x="3274695" y="0"/>
          <a:ext cx="1510468" cy="2854308"/>
        </a:xfrm>
        <a:prstGeom prst="roundRect">
          <a:avLst>
            <a:gd name="adj" fmla="val 10000"/>
          </a:avLst>
        </a:prstGeom>
      </dsp:spPr>
      <dsp:style>
        <a:lnRef idx="0">
          <a:schemeClr val="lt1"/>
        </a:lnRef>
        <a:fillRef idx="3">
          <a:schemeClr val="accent5">
            <a:hueOff val="0"/>
            <a:satOff val="0"/>
            <a:lumOff val="0"/>
            <a:alpha val="100000"/>
          </a:schemeClr>
        </a:fillRef>
        <a:effectRef idx="3">
          <a:scrgbClr r="0" g="0" b="0"/>
        </a:effectRef>
        <a:fontRef idx="minor">
          <a:schemeClr val="lt1"/>
        </a:fontRef>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baseline="0" dirty="0">
              <a:effectLst>
                <a:innerShdw blurRad="63500" dist="50800" dir="16200000">
                  <a:prstClr val="black">
                    <a:alpha val="50000"/>
                  </a:prstClr>
                </a:innerShdw>
              </a:effectLst>
              <a:ea typeface="黑体" panose="02010609060101010101" pitchFamily="49" charset="-122"/>
            </a:rPr>
            <a:t>特征法</a:t>
          </a:r>
          <a:endParaRPr lang="en-US" altLang="zh-CN" baseline="0" dirty="0">
            <a:effectLst>
              <a:innerShdw blurRad="63500" dist="50800" dir="16200000">
                <a:prstClr val="black">
                  <a:alpha val="50000"/>
                </a:prstClr>
              </a:innerShdw>
            </a:effectLst>
            <a:ea typeface="黑体" panose="02010609060101010101" pitchFamily="49" charset="-122"/>
          </a:endParaRPr>
        </a:p>
        <a:p>
          <a:pPr lvl="0">
            <a:lnSpc>
              <a:spcPct val="100000"/>
            </a:lnSpc>
            <a:spcBef>
              <a:spcPct val="0"/>
            </a:spcBef>
            <a:spcAft>
              <a:spcPct val="35000"/>
            </a:spcAft>
          </a:pPr>
          <a:r>
            <a:rPr lang="en-US" altLang="zh-CN" baseline="0" dirty="0">
              <a:effectLst>
                <a:innerShdw blurRad="63500" dist="50800" dir="16200000">
                  <a:prstClr val="black">
                    <a:alpha val="50000"/>
                  </a:prstClr>
                </a:innerShdw>
              </a:effectLst>
              <a:ea typeface="黑体" panose="02010609060101010101" pitchFamily="49" charset="-122"/>
            </a:rPr>
            <a:t>H</a:t>
          </a:r>
          <a:r>
            <a:rPr lang="en-US" altLang="en-US" baseline="0" dirty="0">
              <a:effectLst>
                <a:innerShdw blurRad="63500" dist="50800" dir="16200000">
                  <a:prstClr val="black">
                    <a:alpha val="50000"/>
                  </a:prstClr>
                </a:innerShdw>
              </a:effectLst>
              <a:ea typeface="黑体" panose="02010609060101010101" pitchFamily="49" charset="-122"/>
            </a:rPr>
            <a:t>edonic</a:t>
          </a:r>
          <a:r>
            <a:rPr lang="en-US" altLang="en-US" baseline="0" dirty="0">
              <a:effectLst>
                <a:innerShdw blurRad="63500" dist="50800" dir="16200000">
                  <a:prstClr val="black">
                    <a:alpha val="50000"/>
                  </a:prstClr>
                </a:innerShdw>
              </a:effectLst>
              <a:ea typeface="黑体" panose="02010609060101010101" pitchFamily="49" charset="-122"/>
            </a:rPr>
            <a:t> </a:t>
          </a:r>
          <a:r>
            <a:rPr lang="en-US" altLang="en-US" baseline="0" dirty="0">
              <a:effectLst>
                <a:innerShdw blurRad="63500" dist="50800" dir="16200000">
                  <a:prstClr val="black">
                    <a:alpha val="50000"/>
                  </a:prstClr>
                </a:innerShdw>
              </a:effectLst>
              <a:ea typeface="黑体" panose="02010609060101010101" pitchFamily="49" charset="-122"/>
            </a:rPr>
            <a:t>method</a:t>
          </a:r>
          <a:endParaRPr lang="zh-CN" altLang="en-US" baseline="0" dirty="0">
            <a:effectLst>
              <a:innerShdw blurRad="63500" dist="50800" dir="16200000">
                <a:prstClr val="black">
                  <a:alpha val="50000"/>
                </a:prstClr>
              </a:innerShdw>
            </a:effectLst>
            <a:ea typeface="黑体" panose="02010609060101010101" pitchFamily="49" charset="-122"/>
          </a:endParaRPr>
        </a:p>
      </dsp:txBody>
      <dsp:txXfrm>
        <a:off x="3274695" y="0"/>
        <a:ext cx="1510468" cy="2854308"/>
      </dsp:txXfrm>
    </dsp:sp>
    <dsp:sp modelId="{EDBEDE36-DFA5-460C-B589-00C96DD2D2D0}">
      <dsp:nvSpPr>
        <dsp:cNvPr id="7" name="圆角矩形 6"/>
        <dsp:cNvSpPr/>
      </dsp:nvSpPr>
      <dsp:spPr bwMode="white">
        <a:xfrm>
          <a:off x="5038922" y="2125325"/>
          <a:ext cx="3147815" cy="3803988"/>
        </a:xfrm>
        <a:prstGeom prst="roundRect">
          <a:avLst>
            <a:gd name="adj" fmla="val 10000"/>
          </a:avLst>
        </a:prstGeom>
      </dsp:spPr>
      <dsp:style>
        <a:lnRef idx="0">
          <a:schemeClr val="lt1"/>
        </a:lnRef>
        <a:fillRef idx="3">
          <a:schemeClr val="accent3"/>
        </a:fillRef>
        <a:effectRef idx="3">
          <a:scrgbClr r="0" g="0" b="0"/>
        </a:effectRef>
        <a:fontRef idx="minor">
          <a:schemeClr val="lt1"/>
        </a:fontRef>
      </dsp:style>
      <dsp:txBody>
        <a:bodyPr lIns="133350" tIns="133350" rIns="133350" bIns="133350" anchor="ctr">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lvl1pPr algn="ctr">
            <a:defRPr sz="3500"/>
          </a:lvl1pPr>
          <a:lvl2pPr marL="228600" indent="-228600" algn="ctr">
            <a:defRPr sz="2700"/>
          </a:lvl2pPr>
          <a:lvl3pPr marL="457200" indent="-228600" algn="ctr">
            <a:defRPr sz="2700"/>
          </a:lvl3pPr>
          <a:lvl4pPr marL="685800" indent="-228600" algn="ctr">
            <a:defRPr sz="2700"/>
          </a:lvl4pPr>
          <a:lvl5pPr marL="914400" indent="-228600" algn="ctr">
            <a:defRPr sz="2700"/>
          </a:lvl5pPr>
          <a:lvl6pPr marL="1143000" indent="-228600" algn="ctr">
            <a:defRPr sz="2700"/>
          </a:lvl6pPr>
          <a:lvl7pPr marL="1371600" indent="-228600" algn="ctr">
            <a:defRPr sz="2700"/>
          </a:lvl7pPr>
          <a:lvl8pPr marL="1600200" indent="-228600" algn="ctr">
            <a:defRPr sz="2700"/>
          </a:lvl8pPr>
          <a:lvl9pPr marL="1828800" indent="-228600" algn="ctr">
            <a:defRPr sz="2700"/>
          </a:lvl9pPr>
        </a:lstStyle>
        <a:p>
          <a:pPr lvl="0">
            <a:lnSpc>
              <a:spcPct val="100000"/>
            </a:lnSpc>
            <a:spcBef>
              <a:spcPct val="0"/>
            </a:spcBef>
            <a:spcAft>
              <a:spcPct val="35000"/>
            </a:spcAft>
          </a:pPr>
          <a:r>
            <a:rPr lang="zh-CN" altLang="en-US" b="1" cap="none" spc="0" dirty="0">
              <a:solidFill>
                <a:schemeClr val="accent3">
                  <a:lumMod val="50000"/>
                </a:schemeClr>
              </a:solidFill>
              <a:effectLst>
                <a:innerShdw blurRad="63500" dist="50800" dir="13500000">
                  <a:prstClr val="black">
                    <a:alpha val="50000"/>
                  </a:prstClr>
                </a:innerShdw>
              </a:effectLst>
              <a:latin typeface="黑体" panose="02010609060101010101" pitchFamily="49" charset="-122"/>
              <a:ea typeface="黑体" panose="02010609060101010101" pitchFamily="49" charset="-122"/>
            </a:rPr>
            <a:t>表述型方法（</a:t>
          </a:r>
          <a:r>
            <a:rPr lang="en-US" altLang="zh-CN" b="1" cap="none" spc="0" dirty="0">
              <a:solidFill>
                <a:schemeClr val="accent3">
                  <a:lumMod val="50000"/>
                </a:schemeClr>
              </a:solidFill>
              <a:effectLst>
                <a:innerShdw blurRad="63500" dist="50800" dir="13500000">
                  <a:prstClr val="black">
                    <a:alpha val="50000"/>
                  </a:prstClr>
                </a:innerShdw>
              </a:effectLst>
              <a:latin typeface="黑体" panose="02010609060101010101" pitchFamily="49" charset="-122"/>
              <a:ea typeface="黑体" panose="02010609060101010101" pitchFamily="49" charset="-122"/>
            </a:rPr>
            <a:t>Stated preference</a:t>
          </a:r>
          <a:r>
            <a:rPr lang="zh-CN" altLang="en-US" b="1" cap="none" spc="0" dirty="0">
              <a:solidFill>
                <a:schemeClr val="accent3">
                  <a:lumMod val="50000"/>
                </a:schemeClr>
              </a:solidFill>
              <a:effectLst>
                <a:innerShdw blurRad="63500" dist="50800" dir="13500000">
                  <a:prstClr val="black">
                    <a:alpha val="50000"/>
                  </a:prstClr>
                </a:innerShdw>
              </a:effectLst>
              <a:latin typeface="黑体" panose="02010609060101010101" pitchFamily="49" charset="-122"/>
              <a:ea typeface="黑体" panose="02010609060101010101" pitchFamily="49" charset="-122"/>
            </a:rPr>
            <a:t>）：了解被调查者在假设情况下的回答</a:t>
          </a:r>
        </a:p>
      </dsp:txBody>
      <dsp:txXfrm>
        <a:off x="5038922" y="2125325"/>
        <a:ext cx="3147815" cy="3803988"/>
      </dsp:txXfrm>
    </dsp:sp>
    <dsp:sp modelId="{2068B400-5B22-4759-BDA3-454135E60CD7}">
      <dsp:nvSpPr>
        <dsp:cNvPr id="8" name="圆角矩形 7"/>
        <dsp:cNvSpPr/>
      </dsp:nvSpPr>
      <dsp:spPr bwMode="white">
        <a:xfrm>
          <a:off x="5038922" y="0"/>
          <a:ext cx="1510468" cy="1831199"/>
        </a:xfrm>
        <a:prstGeom prst="roundRect">
          <a:avLst>
            <a:gd name="adj" fmla="val 10000"/>
          </a:avLst>
        </a:prstGeom>
      </dsp:spPr>
      <dsp:style>
        <a:lnRef idx="0">
          <a:schemeClr val="lt1"/>
        </a:lnRef>
        <a:fillRef idx="3">
          <a:schemeClr val="accent5">
            <a:hueOff val="0"/>
            <a:satOff val="0"/>
            <a:lumOff val="0"/>
            <a:alpha val="100000"/>
          </a:schemeClr>
        </a:fillRef>
        <a:effectRef idx="3">
          <a:scrgbClr r="0" g="0" b="0"/>
        </a:effectRef>
        <a:fontRef idx="minor">
          <a:schemeClr val="lt1"/>
        </a:fontRef>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a:latin typeface="黑体" panose="02010609060101010101" pitchFamily="49" charset="-122"/>
              <a:ea typeface="黑体" panose="02010609060101010101" pitchFamily="49" charset="-122"/>
            </a:rPr>
            <a:t>条件价值法</a:t>
          </a:r>
          <a:endParaRPr lang="en-US" altLang="zh-CN" dirty="0">
            <a:latin typeface="黑体" panose="02010609060101010101" pitchFamily="49" charset="-122"/>
            <a:ea typeface="黑体" panose="02010609060101010101" pitchFamily="49" charset="-122"/>
          </a:endParaRPr>
        </a:p>
        <a:p>
          <a:pPr lvl="0">
            <a:lnSpc>
              <a:spcPct val="100000"/>
            </a:lnSpc>
            <a:spcBef>
              <a:spcPct val="0"/>
            </a:spcBef>
            <a:spcAft>
              <a:spcPct val="35000"/>
            </a:spcAft>
          </a:pPr>
          <a:r>
            <a:rPr lang="en-US" altLang="zh-CN" dirty="0">
              <a:latin typeface="黑体" panose="02010609060101010101" pitchFamily="49" charset="-122"/>
              <a:ea typeface="黑体" panose="02010609060101010101" pitchFamily="49" charset="-122"/>
            </a:rPr>
            <a:t>C</a:t>
          </a:r>
          <a:r>
            <a:rPr lang="en-US" altLang="en-US" dirty="0">
              <a:latin typeface="黑体" panose="02010609060101010101" pitchFamily="49" charset="-122"/>
              <a:ea typeface="黑体" panose="02010609060101010101" pitchFamily="49" charset="-122"/>
            </a:rPr>
            <a:t>ontingent</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valuation</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method</a:t>
          </a:r>
          <a:endParaRPr lang="zh-CN" altLang="en-US" dirty="0">
            <a:latin typeface="黑体" panose="02010609060101010101" pitchFamily="49" charset="-122"/>
            <a:ea typeface="黑体" panose="02010609060101010101" pitchFamily="49" charset="-122"/>
          </a:endParaRPr>
        </a:p>
      </dsp:txBody>
      <dsp:txXfrm>
        <a:off x="5038922" y="0"/>
        <a:ext cx="1510468" cy="1831199"/>
      </dsp:txXfrm>
    </dsp:sp>
    <dsp:sp modelId="{83D01DDA-2E64-4341-A779-92AC0B8A85BF}">
      <dsp:nvSpPr>
        <dsp:cNvPr id="9" name="圆角矩形 8"/>
        <dsp:cNvSpPr/>
      </dsp:nvSpPr>
      <dsp:spPr bwMode="white">
        <a:xfrm>
          <a:off x="6676269" y="0"/>
          <a:ext cx="1510468" cy="1831199"/>
        </a:xfrm>
        <a:prstGeom prst="roundRect">
          <a:avLst>
            <a:gd name="adj" fmla="val 10000"/>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sp:spPr>
      <dsp:style>
        <a:lnRef idx="0">
          <a:schemeClr val="lt1"/>
        </a:lnRef>
        <a:fillRef idx="3">
          <a:schemeClr val="accent5">
            <a:hueOff val="0"/>
            <a:satOff val="0"/>
            <a:lumOff val="0"/>
            <a:alpha val="100000"/>
          </a:schemeClr>
        </a:fillRef>
        <a:effectRef idx="3">
          <a:scrgbClr r="0" g="0" b="0"/>
        </a:effectRef>
        <a:fontRef idx="minor">
          <a:schemeClr val="lt1"/>
        </a:fontRef>
      </dsp:style>
      <dsp:txBody>
        <a:bodyPr lIns="72390" tIns="72390" rIns="72390" bIns="7239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a:latin typeface="黑体" panose="02010609060101010101" pitchFamily="49" charset="-122"/>
              <a:ea typeface="黑体" panose="02010609060101010101" pitchFamily="49" charset="-122"/>
            </a:rPr>
            <a:t>条件选择法</a:t>
          </a:r>
          <a:endParaRPr lang="en-US" altLang="zh-CN" dirty="0">
            <a:latin typeface="黑体" panose="02010609060101010101" pitchFamily="49" charset="-122"/>
            <a:ea typeface="黑体" panose="02010609060101010101" pitchFamily="49" charset="-122"/>
          </a:endParaRPr>
        </a:p>
        <a:p>
          <a:pPr lvl="0">
            <a:lnSpc>
              <a:spcPct val="100000"/>
            </a:lnSpc>
            <a:spcBef>
              <a:spcPct val="0"/>
            </a:spcBef>
            <a:spcAft>
              <a:spcPct val="35000"/>
            </a:spcAft>
          </a:pPr>
          <a:r>
            <a:rPr lang="en-US" altLang="zh-CN" dirty="0">
              <a:latin typeface="黑体" panose="02010609060101010101" pitchFamily="49" charset="-122"/>
              <a:ea typeface="黑体" panose="02010609060101010101" pitchFamily="49" charset="-122"/>
            </a:rPr>
            <a:t>C</a:t>
          </a:r>
          <a:r>
            <a:rPr lang="en-US" altLang="en-US" dirty="0">
              <a:latin typeface="黑体" panose="02010609060101010101" pitchFamily="49" charset="-122"/>
              <a:ea typeface="黑体" panose="02010609060101010101" pitchFamily="49" charset="-122"/>
            </a:rPr>
            <a:t>ontingent</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choice</a:t>
          </a:r>
          <a:r>
            <a:rPr lang="en-US" altLang="en-US" dirty="0">
              <a:latin typeface="黑体" panose="02010609060101010101" pitchFamily="49" charset="-122"/>
              <a:ea typeface="黑体" panose="02010609060101010101" pitchFamily="49" charset="-122"/>
            </a:rPr>
            <a:t> </a:t>
          </a:r>
          <a:r>
            <a:rPr lang="en-US" altLang="en-US" dirty="0">
              <a:latin typeface="黑体" panose="02010609060101010101" pitchFamily="49" charset="-122"/>
              <a:ea typeface="黑体" panose="02010609060101010101" pitchFamily="49" charset="-122"/>
            </a:rPr>
            <a:t>method</a:t>
          </a:r>
          <a:endParaRPr lang="zh-CN" altLang="en-US" dirty="0">
            <a:latin typeface="黑体" panose="02010609060101010101" pitchFamily="49" charset="-122"/>
            <a:ea typeface="黑体" panose="02010609060101010101" pitchFamily="49" charset="-122"/>
          </a:endParaRPr>
        </a:p>
      </dsp:txBody>
      <dsp:txXfrm>
        <a:off x="6676269" y="0"/>
        <a:ext cx="1510468" cy="1831199"/>
      </dsp:txXfrm>
    </dsp:sp>
  </dsp:spTree>
</dsp:drawing>
</file>

<file path=ppt/diagrams/layout1.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image"/>
                    <dgm:param type="dstNode" val="image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image2"/>
                            <dgm:param type="dstNode" val="image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image3"/>
                                        <dgm:param type="dstNode" val="image4"/>
                                        <dgm:param type="dim" val="1D"/>
                                        <dgm:param type="endSty" val="noArr"/>
                                        <dgm:param type="connRout" val="bend"/>
                                        <dgm:param type="begPts" val="bCtr"/>
                                        <dgm:param type="endPts" val="tCtr"/>
                                        <dgm:param type="bendPt" val="end"/>
                                      </dgm:alg>
                                    </dgm:if>
                                    <dgm:else name="Name26">
                                      <dgm:alg type="conn">
                                        <dgm:param type="srcNode" val="image4"/>
                                        <dgm:param type="dstNode" val="image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Accent+Icon">
  <dgm:title val="V 型符号流程"/>
  <dgm:desc val="用于显示任务、流程或工作流的连续步骤，或用于强调移动或方向。非常适合于少量的 1 级和 2 级文本。"/>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type="chevron" r:blip="" rot="180">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chitecture+Icon">
  <dgm:title val="结构布局"/>
  <dgm:desc val="用于显示自下而上构建的层级关系。 此布局适用于显示构建在其他对象上的结构组件或对象。"/>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FCBDE9-7F91-4406-9BC5-6EF5B15161C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015238-DE38-4DFE-8632-480252B1AC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9BD95CC6-8901-4BDF-A56C-4B6F73E59766}" type="slidenum">
              <a:rPr kumimoji="0" lang="en-CA"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fld>
            <a:endParaRPr kumimoji="0" lang="en-CA"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2AFAF1-E3F7-4002-9CA5-94BFDE321D8B}" type="slidenum">
              <a:rPr lang="en-CA">
                <a:latin typeface="Calibri" panose="020F0502020204030204" pitchFamily="34" charset="0"/>
              </a:rPr>
            </a:fld>
            <a:endParaRPr lang="en-CA">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5015238-DE38-4DFE-8632-480252B1AC1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F5CC00-B570-4AE0-8C08-10C43A4D12F9}" type="slidenum">
              <a:rPr lang="en-CA">
                <a:latin typeface="Calibri" panose="020F0502020204030204" pitchFamily="34" charset="0"/>
              </a:rPr>
            </a:fld>
            <a:endParaRPr lang="en-CA">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2C8EFC-6907-4EFB-82DA-1EC29B0ED74C}" type="slidenum">
              <a:rPr lang="en-CA">
                <a:latin typeface="Calibri" panose="020F0502020204030204" pitchFamily="34" charset="0"/>
              </a:rPr>
            </a:fld>
            <a:endParaRPr lang="en-CA">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2C8EFC-6907-4EFB-82DA-1EC29B0ED74C}" type="slidenum">
              <a:rPr lang="en-CA">
                <a:latin typeface="Calibri" panose="020F0502020204030204" pitchFamily="34" charset="0"/>
              </a:rPr>
            </a:fld>
            <a:endParaRPr lang="en-CA">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4" name="图片 6" descr="2.png"/>
          <p:cNvPicPr>
            <a:picLocks noChangeAspect="1"/>
          </p:cNvPicPr>
          <p:nvPr/>
        </p:nvPicPr>
        <p:blipFill>
          <a:blip r:embed="rId2"/>
          <a:srcRect/>
          <a:stretch>
            <a:fillRect/>
          </a:stretch>
        </p:blipFill>
        <p:spPr bwMode="auto">
          <a:xfrm>
            <a:off x="0" y="3643313"/>
            <a:ext cx="82867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lgn="ctr">
              <a:defRPr>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r">
              <a:buNone/>
              <a:defRPr b="1">
                <a:solidFill>
                  <a:schemeClr val="accent5">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D48AA2BA-16F5-46D6-AB8E-7B93D22CA167}"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6B87D1E-61D7-4F90-BAA9-07041F134658}"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16632"/>
            <a:ext cx="8115300" cy="796925"/>
          </a:xfrm>
        </p:spPr>
        <p:txBody>
          <a:bodyPr/>
          <a:lstStyle/>
          <a:p>
            <a:r>
              <a:rPr lang="zh-CN" altLang="en-US"/>
              <a:t>单击此处编辑母版标题样式</a:t>
            </a:r>
            <a:endParaRPr lang="zh-CN" altLang="en-US" dirty="0"/>
          </a:p>
        </p:txBody>
      </p:sp>
      <p:sp>
        <p:nvSpPr>
          <p:cNvPr id="3" name="内容占位符 2"/>
          <p:cNvSpPr>
            <a:spLocks noGrp="1"/>
          </p:cNvSpPr>
          <p:nvPr>
            <p:ph idx="1"/>
          </p:nvPr>
        </p:nvSpPr>
        <p:spPr>
          <a:xfrm>
            <a:off x="467544" y="1124744"/>
            <a:ext cx="8280920" cy="51845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5AD4CAC-830A-40B9-B7EC-4BA78BD08B8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B560545-C273-4CB7-A7F2-596963855D3E}"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428604"/>
            <a:ext cx="8186766" cy="592935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1CC78E2-CB7C-4AAF-81E4-597CB6B3E64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25DBFE0-9032-49E3-BF30-EC1B018ADD01}"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pic>
        <p:nvPicPr>
          <p:cNvPr id="5" name="图片 6" descr="anniu21.png"/>
          <p:cNvPicPr>
            <a:picLocks noChangeAspect="1"/>
          </p:cNvPicPr>
          <p:nvPr/>
        </p:nvPicPr>
        <p:blipFill>
          <a:blip r:embed="rId2"/>
          <a:srcRect/>
          <a:stretch>
            <a:fillRect/>
          </a:stretch>
        </p:blipFill>
        <p:spPr bwMode="auto">
          <a:xfrm>
            <a:off x="352425" y="1071563"/>
            <a:ext cx="40052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7" descr="anniu21.png"/>
          <p:cNvPicPr>
            <a:picLocks noChangeAspect="1"/>
          </p:cNvPicPr>
          <p:nvPr/>
        </p:nvPicPr>
        <p:blipFill>
          <a:blip r:embed="rId2"/>
          <a:srcRect/>
          <a:stretch>
            <a:fillRect/>
          </a:stretch>
        </p:blipFill>
        <p:spPr bwMode="auto">
          <a:xfrm>
            <a:off x="4572000" y="1071563"/>
            <a:ext cx="4214813" cy="515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内容占位符 9"/>
          <p:cNvSpPr>
            <a:spLocks noGrp="1"/>
          </p:cNvSpPr>
          <p:nvPr>
            <p:ph sz="quarter" idx="13"/>
          </p:nvPr>
        </p:nvSpPr>
        <p:spPr>
          <a:xfrm>
            <a:off x="500035" y="1214422"/>
            <a:ext cx="3714776" cy="471490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11" name="内容占位符 9"/>
          <p:cNvSpPr>
            <a:spLocks noGrp="1"/>
          </p:cNvSpPr>
          <p:nvPr>
            <p:ph sz="quarter" idx="14"/>
          </p:nvPr>
        </p:nvSpPr>
        <p:spPr>
          <a:xfrm>
            <a:off x="4714876" y="1285860"/>
            <a:ext cx="3929090" cy="471490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标题 1"/>
          <p:cNvSpPr>
            <a:spLocks noGrp="1"/>
          </p:cNvSpPr>
          <p:nvPr>
            <p:ph type="title"/>
          </p:nvPr>
        </p:nvSpPr>
        <p:spPr>
          <a:xfrm>
            <a:off x="285720" y="214290"/>
            <a:ext cx="8115328" cy="796908"/>
          </a:xfrm>
        </p:spPr>
        <p:txBody>
          <a:bodyPr/>
          <a:lstStyle/>
          <a:p>
            <a:r>
              <a:rPr lang="zh-CN" altLang="en-US"/>
              <a:t>单击此处编辑母版标题样式</a:t>
            </a:r>
            <a:endParaRPr lang="zh-CN" altLang="en-US" dirty="0"/>
          </a:p>
        </p:txBody>
      </p:sp>
      <p:sp>
        <p:nvSpPr>
          <p:cNvPr id="7" name="日期占位符 2"/>
          <p:cNvSpPr>
            <a:spLocks noGrp="1"/>
          </p:cNvSpPr>
          <p:nvPr>
            <p:ph type="dt" sz="half" idx="15"/>
          </p:nvPr>
        </p:nvSpPr>
        <p:spPr/>
        <p:txBody>
          <a:bodyPr/>
          <a:lstStyle>
            <a:lvl1pPr>
              <a:defRPr/>
            </a:lvl1pPr>
          </a:lstStyle>
          <a:p>
            <a:pPr>
              <a:defRPr/>
            </a:pPr>
            <a:fld id="{25948CB4-2DE7-4658-9224-FE7744055088}" type="datetimeFigureOut">
              <a:rPr lang="zh-CN" altLang="en-US"/>
            </a:fld>
            <a:endParaRPr lang="zh-CN" altLang="en-US"/>
          </a:p>
        </p:txBody>
      </p:sp>
      <p:sp>
        <p:nvSpPr>
          <p:cNvPr id="8" name="页脚占位符 3"/>
          <p:cNvSpPr>
            <a:spLocks noGrp="1"/>
          </p:cNvSpPr>
          <p:nvPr>
            <p:ph type="ftr" sz="quarter" idx="16"/>
          </p:nvPr>
        </p:nvSpPr>
        <p:spPr/>
        <p:txBody>
          <a:bodyPr/>
          <a:lstStyle>
            <a:lvl1pPr>
              <a:defRPr/>
            </a:lvl1pPr>
          </a:lstStyle>
          <a:p>
            <a:pPr>
              <a:defRPr/>
            </a:pPr>
            <a:endParaRPr lang="zh-CN" altLang="en-US"/>
          </a:p>
        </p:txBody>
      </p:sp>
      <p:sp>
        <p:nvSpPr>
          <p:cNvPr id="9" name="灯片编号占位符 4"/>
          <p:cNvSpPr>
            <a:spLocks noGrp="1"/>
          </p:cNvSpPr>
          <p:nvPr>
            <p:ph type="sldNum" sz="quarter" idx="17"/>
          </p:nvPr>
        </p:nvSpPr>
        <p:spPr/>
        <p:txBody>
          <a:bodyPr/>
          <a:lstStyle>
            <a:lvl1pPr>
              <a:defRPr/>
            </a:lvl1pPr>
          </a:lstStyle>
          <a:p>
            <a:pPr>
              <a:defRPr/>
            </a:pPr>
            <a:fld id="{FE5F87C5-7305-4193-9C48-C9348E8E2230}"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4800">
                <a:solidFill>
                  <a:schemeClr val="accent5">
                    <a:lumMod val="50000"/>
                  </a:schemeClr>
                </a:solidFill>
                <a:effectLst>
                  <a:outerShdw blurRad="38100" dist="38100" dir="2700000" algn="tl">
                    <a:srgbClr val="000000">
                      <a:alpha val="43137"/>
                    </a:srgbClr>
                  </a:outerShdw>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B6942633-8F65-4CD6-96E9-085D2BED8E4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1DAC9E8-7143-4C79-BC79-D0E59204439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467544" y="3068960"/>
            <a:ext cx="7772400" cy="2232248"/>
          </a:xfrm>
          <a:noFill/>
          <a:effectLst/>
        </p:spPr>
        <p:txBody>
          <a:bodyPr anchor="t"/>
          <a:lstStyle>
            <a:lvl1pPr algn="l">
              <a:defRPr sz="4000" b="0" cap="none" spc="0">
                <a:ln w="0"/>
                <a:solidFill>
                  <a:schemeClr val="tx1"/>
                </a:solidFill>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043608" y="1196752"/>
            <a:ext cx="7772400" cy="1860227"/>
          </a:xfrm>
          <a:noFill/>
          <a:effectLst>
            <a:innerShdw blurRad="114300" dist="88900" dir="16200000">
              <a:prstClr val="black">
                <a:alpha val="50000"/>
              </a:prstClr>
            </a:innerShdw>
          </a:effectLst>
        </p:spPr>
        <p:txBody>
          <a:bodyPr anchor="b"/>
          <a:lstStyle>
            <a:lvl1pPr marL="0" indent="0">
              <a:buNone/>
              <a:defRPr sz="4800">
                <a:solidFill>
                  <a:schemeClr val="accent5">
                    <a:lumMod val="50000"/>
                  </a:schemeClr>
                </a:solidFill>
                <a:effectLst>
                  <a:innerShdw blurRad="63500" dist="50800" dir="13500000">
                    <a:prstClr val="black">
                      <a:alpha val="50000"/>
                    </a:prstClr>
                  </a:innerShdw>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B6942633-8F65-4CD6-96E9-085D2BED8E4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1DAC9E8-7143-4C79-BC79-D0E59204439D}"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CDF6B5EB-2C26-4DF2-A766-99EC7A22D625}"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E2DF9CB-0E97-4609-8325-5A8FC50A518E}"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E7599869-346F-4ECC-9250-2729F27ADD05}"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E1B61E1-1E91-4825-BE4A-1EFD986133F3}"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C5177997-213C-472F-BEA0-0DA3B2D48ADF}"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D148A4C-777A-46FF-81B5-D790A4CD9B1B}"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0E06C1E-88AC-49B9-BADC-D9EBC3EF9F42}"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1094074-DB24-4D25-ACF2-4AED84D54357}"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DFC98039-C37F-41C4-86B2-6D2251205506}"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C2C80E9-A817-4BD3-B5FC-BC9DF952C4DE}"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E5455C99-DCE0-4D3E-A585-34E8C93D675F}"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B843112-C456-4609-9A8A-B7114B9D2EA5}"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27A8036-F0BB-4333-952B-3F0745A967A5}"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BE7C96-1249-445A-8F00-A28B62DB8B75}"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E1C25CB-3E27-467C-ADC9-FE5815A0362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A44AD10-71CB-4B92-BB04-FFD070137486}"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0" y="4321212"/>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gradFill>
            <a:gsLst>
              <a:gs pos="0">
                <a:schemeClr val="accent1">
                  <a:lumMod val="5000"/>
                  <a:lumOff val="95000"/>
                </a:schemeClr>
              </a:gs>
              <a:gs pos="74000">
                <a:schemeClr val="accent1">
                  <a:lumMod val="45000"/>
                  <a:lumOff val="55000"/>
                  <a:alpha val="44000"/>
                </a:schemeClr>
              </a:gs>
              <a:gs pos="83000">
                <a:schemeClr val="accent1">
                  <a:lumMod val="45000"/>
                  <a:lumOff val="55000"/>
                  <a:alpha val="66000"/>
                </a:schemeClr>
              </a:gs>
              <a:gs pos="100000">
                <a:schemeClr val="accent1">
                  <a:lumMod val="30000"/>
                  <a:lumOff val="70000"/>
                </a:schemeClr>
              </a:gs>
            </a:gsLst>
            <a:lin ang="5400000" scaled="1"/>
          </a:gradFill>
          <a:ln>
            <a:noFill/>
          </a:ln>
          <a:effectLst>
            <a:outerShdw blurRad="50800" dist="38100" dir="8100000" algn="tr" rotWithShape="0">
              <a:prstClr val="black">
                <a:alpha val="40000"/>
              </a:prstClr>
            </a:outerShdw>
          </a:effectLst>
        </p:spPr>
      </p:sp>
      <p:sp>
        <p:nvSpPr>
          <p:cNvPr id="6" name="Slide Number Placeholder 5"/>
          <p:cNvSpPr>
            <a:spLocks noGrp="1"/>
          </p:cNvSpPr>
          <p:nvPr>
            <p:ph type="sldNum" sz="quarter" idx="12"/>
          </p:nvPr>
        </p:nvSpPr>
        <p:spPr>
          <a:xfrm>
            <a:off x="423334" y="4529541"/>
            <a:ext cx="584978" cy="365125"/>
          </a:xfrm>
        </p:spPr>
        <p:txBody>
          <a:bodyPr/>
          <a:lstStyle/>
          <a:p>
            <a:fld id="{D57F1E4F-1CFF-5643-939E-217C01CDF565}" type="slidenum">
              <a:rPr lang="en-US" smtClean="0"/>
            </a:fld>
            <a:endParaRPr lang="en-US" dirty="0"/>
          </a:p>
        </p:txBody>
      </p:sp>
      <p:sp>
        <p:nvSpPr>
          <p:cNvPr id="7" name="直角三角形 6"/>
          <p:cNvSpPr/>
          <p:nvPr userDrawn="1"/>
        </p:nvSpPr>
        <p:spPr>
          <a:xfrm flipH="1" flipV="1">
            <a:off x="-8165" y="5102991"/>
            <a:ext cx="187779" cy="113987"/>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gradFill flip="none" rotWithShape="1">
            <a:gsLst>
              <a:gs pos="0">
                <a:schemeClr val="bg2">
                  <a:tint val="90000"/>
                  <a:satMod val="92000"/>
                  <a:lumMod val="120000"/>
                </a:schemeClr>
              </a:gs>
              <a:gs pos="100000">
                <a:schemeClr val="accent1">
                  <a:lumMod val="75000"/>
                  <a:alpha val="62000"/>
                </a:schemeClr>
              </a:gs>
            </a:gsLst>
            <a:lin ang="16200000" scaled="1"/>
            <a:tileRect/>
          </a:gradFill>
          <a:ln>
            <a:noFill/>
          </a:ln>
          <a:effectLst>
            <a:outerShdw blurRad="50800" dist="38100" dir="8100000" algn="tr" rotWithShape="0">
              <a:prstClr val="black">
                <a:alpha val="40000"/>
              </a:prstClr>
            </a:outerShdw>
          </a:effectLst>
        </p:spPr>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8" name="直角三角形 7"/>
          <p:cNvSpPr/>
          <p:nvPr userDrawn="1"/>
        </p:nvSpPr>
        <p:spPr>
          <a:xfrm flipH="1" flipV="1">
            <a:off x="-8106" y="1207561"/>
            <a:ext cx="187779" cy="113987"/>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gradFill flip="none" rotWithShape="1">
            <a:gsLst>
              <a:gs pos="0">
                <a:schemeClr val="accent1">
                  <a:lumMod val="0"/>
                  <a:lumOff val="100000"/>
                  <a:alpha val="85000"/>
                </a:schemeClr>
              </a:gs>
              <a:gs pos="100000">
                <a:schemeClr val="accent1">
                  <a:lumMod val="100000"/>
                </a:schemeClr>
              </a:gs>
            </a:gsLst>
            <a:lin ang="5400000" scaled="1"/>
            <a:tileRect/>
          </a:gradFill>
          <a:ln>
            <a:noFill/>
          </a:ln>
          <a:effectLst>
            <a:outerShdw blurRad="50800" dist="38100" dir="8100000" algn="tr" rotWithShape="0">
              <a:prstClr val="black">
                <a:alpha val="40000"/>
              </a:prstClr>
            </a:outerShdw>
          </a:effectLst>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fld>
            <a:endParaRPr lang="en-US" dirty="0"/>
          </a:p>
        </p:txBody>
      </p:sp>
      <p:sp>
        <p:nvSpPr>
          <p:cNvPr id="8" name="直角三角形 7"/>
          <p:cNvSpPr/>
          <p:nvPr userDrawn="1"/>
        </p:nvSpPr>
        <p:spPr>
          <a:xfrm flipH="1" flipV="1">
            <a:off x="58" y="3674532"/>
            <a:ext cx="187779" cy="113987"/>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942415" y="2802888"/>
            <a:ext cx="3197532" cy="3105703"/>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gradFill flip="none" rotWithShape="1">
            <a:gsLst>
              <a:gs pos="0">
                <a:schemeClr val="accent1">
                  <a:lumMod val="5000"/>
                  <a:lumOff val="95000"/>
                </a:schemeClr>
              </a:gs>
              <a:gs pos="74000">
                <a:schemeClr val="accent1">
                  <a:lumMod val="45000"/>
                  <a:lumOff val="55000"/>
                  <a:alpha val="70000"/>
                </a:schemeClr>
              </a:gs>
              <a:gs pos="83000">
                <a:schemeClr val="accent1">
                  <a:lumMod val="45000"/>
                  <a:lumOff val="55000"/>
                  <a:alpha val="58000"/>
                </a:schemeClr>
              </a:gs>
              <a:gs pos="100000">
                <a:schemeClr val="accent1">
                  <a:lumMod val="30000"/>
                  <a:lumOff val="70000"/>
                  <a:alpha val="53000"/>
                </a:schemeClr>
              </a:gs>
            </a:gsLst>
            <a:lin ang="16200000" scaled="1"/>
            <a:tileRect/>
          </a:gradFill>
          <a:ln>
            <a:noFill/>
          </a:ln>
          <a:effectLst>
            <a:outerShdw blurRad="50800" dist="38100" dir="8100000" algn="tr" rotWithShape="0">
              <a:prstClr val="black">
                <a:alpha val="40000"/>
              </a:prstClr>
            </a:outerShdw>
          </a:effectLst>
        </p:spPr>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
        <p:nvSpPr>
          <p:cNvPr id="7" name="直角三角形 6"/>
          <p:cNvSpPr/>
          <p:nvPr userDrawn="1"/>
        </p:nvSpPr>
        <p:spPr>
          <a:xfrm flipH="1" flipV="1">
            <a:off x="-16328" y="1219199"/>
            <a:ext cx="187779" cy="113987"/>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gradFill flip="none" rotWithShape="1">
            <a:gsLst>
              <a:gs pos="0">
                <a:schemeClr val="accent1">
                  <a:lumMod val="5000"/>
                  <a:lumOff val="95000"/>
                </a:schemeClr>
              </a:gs>
              <a:gs pos="74000">
                <a:schemeClr val="accent1">
                  <a:lumMod val="45000"/>
                  <a:lumOff val="55000"/>
                  <a:alpha val="57000"/>
                </a:schemeClr>
              </a:gs>
              <a:gs pos="83000">
                <a:schemeClr val="accent1">
                  <a:lumMod val="45000"/>
                  <a:lumOff val="55000"/>
                  <a:alpha val="47000"/>
                </a:schemeClr>
              </a:gs>
              <a:gs pos="100000">
                <a:schemeClr val="accent1">
                  <a:lumMod val="30000"/>
                  <a:lumOff val="70000"/>
                  <a:alpha val="56000"/>
                </a:schemeClr>
              </a:gs>
            </a:gsLst>
            <a:lin ang="5400000" scaled="1"/>
            <a:tileRect/>
          </a:gradFill>
          <a:ln>
            <a:noFill/>
          </a:ln>
          <a:effectLst>
            <a:outerShdw blurRad="50800" dist="38100" dir="8100000" algn="tr" rotWithShape="0">
              <a:prstClr val="black">
                <a:alpha val="40000"/>
              </a:prstClr>
            </a:outerShdw>
          </a:effectLst>
        </p:spPr>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
        <p:nvSpPr>
          <p:cNvPr id="7" name="直角三角形 6"/>
          <p:cNvSpPr/>
          <p:nvPr userDrawn="1"/>
        </p:nvSpPr>
        <p:spPr>
          <a:xfrm flipH="1" flipV="1">
            <a:off x="-8106" y="1219199"/>
            <a:ext cx="187779" cy="113987"/>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fld>
            <a:endParaRPr lang="en-US" dirty="0"/>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fld>
            <a:endParaRPr lang="en-US" dirty="0"/>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6.png"/><Relationship Id="rId17" Type="http://schemas.openxmlformats.org/officeDocument/2006/relationships/image" Target="../media/image5.png"/><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slideLayout" Target="../slideLayouts/slideLayout30.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285750" y="214313"/>
            <a:ext cx="8115300"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59B897F1-79D6-4AE7-938A-0B78A0C32565}"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AD9FE749-CB2A-4055-AF41-8592ECA94BB9}"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fontAlgn="base">
        <a:spcBef>
          <a:spcPct val="0"/>
        </a:spcBef>
        <a:spcAft>
          <a:spcPct val="0"/>
        </a:spcAft>
        <a:defRPr sz="4600" kern="1200" baseline="0">
          <a:solidFill>
            <a:schemeClr val="tx1"/>
          </a:solidFill>
          <a:latin typeface="Verdana" panose="020B0604030504040204" pitchFamily="34" charset="0"/>
          <a:ea typeface="隶书" panose="02010509060101010101" pitchFamily="49" charset="-122"/>
          <a:cs typeface="Times New Roman" panose="02020603050405020304" pitchFamily="18" charset="0"/>
        </a:defRPr>
      </a:lvl1pPr>
      <a:lvl2pPr algn="l" rtl="0" fontAlgn="base">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algn="l" rtl="0" fontAlgn="base">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algn="l" rtl="0" fontAlgn="base">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algn="l" rtl="0" fontAlgn="base">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457200" algn="l" rtl="0" eaLnBrk="1" fontAlgn="base" hangingPunct="1">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6pPr>
      <a:lvl7pPr marL="914400" algn="l" rtl="0" eaLnBrk="1" fontAlgn="base" hangingPunct="1">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7pPr>
      <a:lvl8pPr marL="1371600" algn="l" rtl="0" eaLnBrk="1" fontAlgn="base" hangingPunct="1">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8pPr>
      <a:lvl9pPr marL="1828800" algn="l" rtl="0" eaLnBrk="1" fontAlgn="base" hangingPunct="1">
        <a:spcBef>
          <a:spcPct val="0"/>
        </a:spcBef>
        <a:spcAft>
          <a:spcPct val="0"/>
        </a:spcAft>
        <a:defRPr sz="44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9pPr>
    </p:titleStyle>
    <p:bodyStyle>
      <a:lvl1pPr marL="342900" indent="-342900" algn="l" rtl="0" fontAlgn="base">
        <a:spcBef>
          <a:spcPct val="20000"/>
        </a:spcBef>
        <a:spcAft>
          <a:spcPct val="0"/>
        </a:spcAft>
        <a:buBlip>
          <a:blip r:embed="rId15"/>
        </a:buBlip>
        <a:defRPr sz="3200" kern="1200" baseline="0">
          <a:solidFill>
            <a:schemeClr val="tx1"/>
          </a:solidFill>
          <a:latin typeface="Verdana" panose="020B0604030504040204" pitchFamily="34" charset="0"/>
          <a:ea typeface="黑体" panose="02010609060101010101" pitchFamily="49" charset="-122"/>
          <a:cs typeface="Times New Roman" panose="02020603050405020304" pitchFamily="18" charset="0"/>
        </a:defRPr>
      </a:lvl1pPr>
      <a:lvl2pPr marL="742950" indent="-285750" algn="l" rtl="0" fontAlgn="base">
        <a:spcBef>
          <a:spcPct val="20000"/>
        </a:spcBef>
        <a:spcAft>
          <a:spcPct val="0"/>
        </a:spcAft>
        <a:buBlip>
          <a:blip r:embed="rId16"/>
        </a:buBlip>
        <a:defRPr sz="2800" kern="1200" baseline="0">
          <a:solidFill>
            <a:schemeClr val="tx1"/>
          </a:solidFill>
          <a:latin typeface="Verdana" panose="020B0604030504040204" pitchFamily="34" charset="0"/>
          <a:ea typeface="黑体" panose="02010609060101010101" pitchFamily="49" charset="-122"/>
          <a:cs typeface="Times New Roman" panose="02020603050405020304" pitchFamily="18" charset="0"/>
        </a:defRPr>
      </a:lvl2pPr>
      <a:lvl3pPr marL="1143000" indent="-228600" algn="l" rtl="0" fontAlgn="base">
        <a:spcBef>
          <a:spcPct val="20000"/>
        </a:spcBef>
        <a:spcAft>
          <a:spcPct val="0"/>
        </a:spcAft>
        <a:buBlip>
          <a:blip r:embed="rId17"/>
        </a:buBlip>
        <a:defRPr sz="2400" kern="1200" baseline="0">
          <a:solidFill>
            <a:schemeClr val="tx1"/>
          </a:solidFill>
          <a:latin typeface="Verdana" panose="020B0604030504040204" pitchFamily="34" charset="0"/>
          <a:ea typeface="黑体" panose="02010609060101010101" pitchFamily="49" charset="-122"/>
          <a:cs typeface="Times New Roman" panose="02020603050405020304" pitchFamily="18" charset="0"/>
        </a:defRPr>
      </a:lvl3pPr>
      <a:lvl4pPr marL="1600200" indent="-228600" algn="l" rtl="0" fontAlgn="base">
        <a:spcBef>
          <a:spcPct val="20000"/>
        </a:spcBef>
        <a:spcAft>
          <a:spcPct val="0"/>
        </a:spcAft>
        <a:buBlip>
          <a:blip r:embed="rId18"/>
        </a:buBlip>
        <a:defRPr sz="2000" kern="1200" baseline="0">
          <a:solidFill>
            <a:schemeClr val="tx1"/>
          </a:solidFill>
          <a:latin typeface="Verdana" panose="020B0604030504040204" pitchFamily="34" charset="0"/>
          <a:ea typeface="黑体" panose="02010609060101010101" pitchFamily="49" charset="-122"/>
          <a:cs typeface="Times New Roman" panose="02020603050405020304" pitchFamily="18" charset="0"/>
        </a:defRPr>
      </a:lvl4pPr>
      <a:lvl5pPr marL="2057400" indent="-228600" algn="l" rtl="0" fontAlgn="base">
        <a:spcBef>
          <a:spcPct val="20000"/>
        </a:spcBef>
        <a:spcAft>
          <a:spcPct val="0"/>
        </a:spcAft>
        <a:buBlip>
          <a:blip r:embed="rId18"/>
        </a:buBlip>
        <a:defRPr sz="2000" kern="1200" baseline="0">
          <a:solidFill>
            <a:schemeClr val="tx1"/>
          </a:solidFill>
          <a:latin typeface="Verdana" panose="020B0604030504040204" pitchFamily="34" charset="0"/>
          <a:ea typeface="黑体" panose="02010609060101010101" pitchFamily="49" charset="-122"/>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63019" y="14259"/>
            <a:ext cx="1952272" cy="6852968"/>
            <a:chOff x="6627813" y="195717"/>
            <a:chExt cx="1952625" cy="5678034"/>
          </a:xfrm>
          <a:effectLst>
            <a:outerShdw blurRad="50800" dist="38100" dir="8100000" algn="tr" rotWithShape="0">
              <a:prstClr val="black">
                <a:alpha val="40000"/>
              </a:prstClr>
            </a:outerShdw>
          </a:effectLst>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p:txStyles>
    <p:titleStyle>
      <a:lvl1pPr algn="l" defTabSz="457200" rtl="0" eaLnBrk="1" latinLnBrk="0" hangingPunct="1">
        <a:spcBef>
          <a:spcPct val="0"/>
        </a:spcBef>
        <a:buNone/>
        <a:defRPr sz="3600" b="1" kern="1200">
          <a:solidFill>
            <a:schemeClr val="tx1">
              <a:lumMod val="85000"/>
              <a:lumOff val="15000"/>
            </a:schemeClr>
          </a:solidFill>
          <a:latin typeface="黑体" panose="02010609060101010101" pitchFamily="49" charset="-122"/>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黑体" panose="02010609060101010101" pitchFamily="49" charset="-122"/>
          <a:ea typeface="黑体" panose="02010609060101010101" pitchFamily="49" charset="-122"/>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黑体" panose="02010609060101010101" pitchFamily="49" charset="-122"/>
          <a:ea typeface="黑体" panose="02010609060101010101" pitchFamily="49" charset="-122"/>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黑体" panose="02010609060101010101" pitchFamily="49" charset="-122"/>
          <a:ea typeface="黑体" panose="02010609060101010101" pitchFamily="49" charset="-122"/>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黑体" panose="02010609060101010101" pitchFamily="49" charset="-122"/>
          <a:ea typeface="黑体" panose="02010609060101010101" pitchFamily="49" charset="-122"/>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黑体" panose="02010609060101010101" pitchFamily="49" charset="-122"/>
          <a:ea typeface="黑体" panose="02010609060101010101" pitchFamily="49" charset="-122"/>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jpeg"/><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5.png"/><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0.jpeg"/><Relationship Id="rId1" Type="http://schemas.openxmlformats.org/officeDocument/2006/relationships/image" Target="../media/image19.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木材价格</a:t>
            </a:r>
            <a:endParaRPr lang="zh-CN" altLang="en-US" dirty="0"/>
          </a:p>
        </p:txBody>
      </p:sp>
      <p:sp>
        <p:nvSpPr>
          <p:cNvPr id="3" name="文本占位符 2"/>
          <p:cNvSpPr>
            <a:spLocks noGrp="1"/>
          </p:cNvSpPr>
          <p:nvPr>
            <p:ph type="body" idx="1"/>
          </p:nvPr>
        </p:nvSpPr>
        <p:spPr/>
        <p:txBody>
          <a:bodyPr/>
          <a:lstStyle/>
          <a:p>
            <a:r>
              <a:rPr lang="en-US" altLang="zh-CN" dirty="0"/>
              <a:t>Supply</a:t>
            </a:r>
            <a:r>
              <a:rPr lang="zh-CN" altLang="en-US" dirty="0"/>
              <a:t>，</a:t>
            </a:r>
            <a:r>
              <a:rPr lang="en-US" altLang="zh-CN" dirty="0"/>
              <a:t>Demand and Price Equilibrium</a:t>
            </a:r>
            <a:endParaRPr lang="en-US" altLang="zh-CN" dirty="0"/>
          </a:p>
          <a:p>
            <a:r>
              <a:rPr lang="zh-CN" altLang="en-US" dirty="0"/>
              <a:t>供给和需求决定木材价格</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三个不同的市场</a:t>
            </a:r>
            <a:endParaRPr lang="zh-CN" altLang="en-US" dirty="0"/>
          </a:p>
        </p:txBody>
      </p:sp>
      <p:sp>
        <p:nvSpPr>
          <p:cNvPr id="3" name="内容占位符 2"/>
          <p:cNvSpPr>
            <a:spLocks noGrp="1"/>
          </p:cNvSpPr>
          <p:nvPr>
            <p:ph idx="1"/>
          </p:nvPr>
        </p:nvSpPr>
        <p:spPr/>
        <p:txBody>
          <a:bodyPr/>
          <a:lstStyle/>
          <a:p>
            <a:r>
              <a:rPr lang="zh-CN" altLang="en-US" dirty="0"/>
              <a:t>活立木市场</a:t>
            </a:r>
            <a:endParaRPr lang="en-US" altLang="zh-CN" dirty="0"/>
          </a:p>
          <a:p>
            <a:pPr lvl="1"/>
            <a:r>
              <a:rPr lang="en-US" altLang="zh-CN" dirty="0"/>
              <a:t>The stumpage market</a:t>
            </a:r>
            <a:endParaRPr lang="en-US" altLang="zh-CN" dirty="0"/>
          </a:p>
          <a:p>
            <a:r>
              <a:rPr lang="zh-CN" altLang="en-US" dirty="0"/>
              <a:t>原木市场</a:t>
            </a:r>
            <a:endParaRPr lang="en-US" altLang="zh-CN" dirty="0"/>
          </a:p>
          <a:p>
            <a:pPr lvl="1"/>
            <a:r>
              <a:rPr lang="en-US" altLang="zh-CN" dirty="0"/>
              <a:t>The log market</a:t>
            </a:r>
            <a:endParaRPr lang="en-US" altLang="zh-CN" dirty="0"/>
          </a:p>
          <a:p>
            <a:r>
              <a:rPr lang="zh-CN" altLang="en-US" dirty="0"/>
              <a:t>林产品市场</a:t>
            </a:r>
            <a:endParaRPr lang="en-US" altLang="zh-CN" dirty="0"/>
          </a:p>
          <a:p>
            <a:pPr lvl="1"/>
            <a:r>
              <a:rPr lang="en-US" altLang="zh-CN" dirty="0"/>
              <a:t>The market for manufactured products.</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p:cNvPicPr>
            <a:picLocks noChangeAspect="1" noChangeArrowheads="1"/>
          </p:cNvPicPr>
          <p:nvPr/>
        </p:nvPicPr>
        <p:blipFill>
          <a:blip r:embed="rId1" cstate="screen"/>
          <a:srcRect/>
          <a:stretch>
            <a:fillRect/>
          </a:stretch>
        </p:blipFill>
        <p:spPr bwMode="auto">
          <a:xfrm>
            <a:off x="4237572" y="2306107"/>
            <a:ext cx="8001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noChangeArrowheads="1"/>
          </p:cNvPicPr>
          <p:nvPr/>
        </p:nvPicPr>
        <p:blipFill>
          <a:blip r:embed="rId2" cstate="print"/>
          <a:srcRect/>
          <a:stretch>
            <a:fillRect/>
          </a:stretch>
        </p:blipFill>
        <p:spPr bwMode="auto">
          <a:xfrm>
            <a:off x="7549097" y="1782232"/>
            <a:ext cx="101282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p:cNvPicPr>
            <a:picLocks noChangeAspect="1" noChangeArrowheads="1"/>
          </p:cNvPicPr>
          <p:nvPr/>
        </p:nvPicPr>
        <p:blipFill>
          <a:blip r:embed="rId3" cstate="screen"/>
          <a:srcRect/>
          <a:stretch>
            <a:fillRect/>
          </a:stretch>
        </p:blipFill>
        <p:spPr bwMode="auto">
          <a:xfrm>
            <a:off x="7549097" y="2629957"/>
            <a:ext cx="10128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ree"/>
          <p:cNvSpPr>
            <a:spLocks noEditPoints="1" noChangeArrowheads="1"/>
          </p:cNvSpPr>
          <p:nvPr/>
        </p:nvSpPr>
        <p:spPr bwMode="auto">
          <a:xfrm>
            <a:off x="1378485" y="2071157"/>
            <a:ext cx="882650" cy="1117600"/>
          </a:xfrm>
          <a:custGeom>
            <a:avLst/>
            <a:gdLst>
              <a:gd name="G0" fmla="+- 0 0 0"/>
              <a:gd name="G1" fmla="*/ 18900 1 3"/>
              <a:gd name="G2" fmla="*/ 18900 2 3"/>
              <a:gd name="G3" fmla="+- 18900 0 0"/>
              <a:gd name="T0" fmla="*/ 10800 w 21600"/>
              <a:gd name="T1" fmla="*/ 0 h 21600"/>
              <a:gd name="T2" fmla="*/ 6171 w 21600"/>
              <a:gd name="T3" fmla="*/ 6300 h 21600"/>
              <a:gd name="T4" fmla="*/ 3086 w 21600"/>
              <a:gd name="T5" fmla="*/ 12600 h 21600"/>
              <a:gd name="T6" fmla="*/ 0 w 21600"/>
              <a:gd name="T7" fmla="*/ 18900 h 21600"/>
              <a:gd name="T8" fmla="*/ 15429 w 21600"/>
              <a:gd name="T9" fmla="*/ 6300 h 21600"/>
              <a:gd name="T10" fmla="*/ 18514 w 21600"/>
              <a:gd name="T11" fmla="*/ 12600 h 21600"/>
              <a:gd name="T12" fmla="*/ 21600 w 21600"/>
              <a:gd name="T13" fmla="*/ 18900 h 21600"/>
              <a:gd name="T14" fmla="*/ 17694720 60000 65536"/>
              <a:gd name="T15" fmla="*/ 11796480 60000 65536"/>
              <a:gd name="T16" fmla="*/ 11796480 60000 65536"/>
              <a:gd name="T17" fmla="*/ 11796480 60000 65536"/>
              <a:gd name="T18" fmla="*/ 0 60000 65536"/>
              <a:gd name="T19" fmla="*/ 0 60000 65536"/>
              <a:gd name="T20" fmla="*/ 0 60000 65536"/>
              <a:gd name="T21" fmla="*/ 761 w 21600"/>
              <a:gd name="T22" fmla="*/ 22454 h 21600"/>
              <a:gd name="T23" fmla="*/ 21069 w 21600"/>
              <a:gd name="T24" fmla="*/ 28282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0" y="18900"/>
                </a:moveTo>
                <a:lnTo>
                  <a:pt x="9257" y="18900"/>
                </a:lnTo>
                <a:lnTo>
                  <a:pt x="9257" y="21600"/>
                </a:lnTo>
                <a:lnTo>
                  <a:pt x="12343" y="21600"/>
                </a:lnTo>
                <a:lnTo>
                  <a:pt x="12343" y="18900"/>
                </a:lnTo>
                <a:lnTo>
                  <a:pt x="21600" y="18900"/>
                </a:lnTo>
                <a:lnTo>
                  <a:pt x="12343" y="12600"/>
                </a:lnTo>
                <a:lnTo>
                  <a:pt x="18514" y="12600"/>
                </a:lnTo>
                <a:lnTo>
                  <a:pt x="12343" y="6300"/>
                </a:lnTo>
                <a:lnTo>
                  <a:pt x="15429" y="6300"/>
                </a:lnTo>
                <a:lnTo>
                  <a:pt x="10800" y="0"/>
                </a:lnTo>
                <a:close/>
              </a:path>
            </a:pathLst>
          </a:custGeom>
          <a:solidFill>
            <a:srgbClr val="008000"/>
          </a:solidFill>
          <a:ln w="9525">
            <a:solidFill>
              <a:srgbClr val="000000"/>
            </a:solidFill>
            <a:miter lim="800000"/>
          </a:ln>
          <a:effectLst>
            <a:outerShdw dist="107763" dir="2700000" algn="ctr" rotWithShape="0">
              <a:srgbClr val="808080"/>
            </a:outerShdw>
          </a:effectLst>
        </p:spPr>
        <p:txBody>
          <a:bodyPr upright="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CA" sz="1800" b="0" i="0" u="none" strike="noStrike" kern="1200" cap="none" spc="0" normalizeH="0" baseline="0" noProof="0">
              <a:ln>
                <a:noFill/>
              </a:ln>
              <a:solidFill>
                <a:srgbClr val="92AA4C">
                  <a:lumMod val="75000"/>
                </a:srgbClr>
              </a:solidFill>
              <a:effectLst/>
              <a:uLnTx/>
              <a:uFillTx/>
              <a:latin typeface="Century Gothic" panose="020B0502020202020204"/>
              <a:ea typeface="+mn-ea"/>
              <a:cs typeface="+mn-cs"/>
            </a:endParaRPr>
          </a:p>
        </p:txBody>
      </p:sp>
      <p:sp>
        <p:nvSpPr>
          <p:cNvPr id="6" name="Text Box 1930"/>
          <p:cNvSpPr txBox="1">
            <a:spLocks noChangeArrowheads="1"/>
          </p:cNvSpPr>
          <p:nvPr/>
        </p:nvSpPr>
        <p:spPr bwMode="auto">
          <a:xfrm>
            <a:off x="2408772" y="2071157"/>
            <a:ext cx="1468438" cy="1254125"/>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Logging and</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transportation costs</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7" name="Text Box 1931"/>
          <p:cNvSpPr txBox="1">
            <a:spLocks noChangeArrowheads="1"/>
          </p:cNvSpPr>
          <p:nvPr/>
        </p:nvSpPr>
        <p:spPr bwMode="auto">
          <a:xfrm>
            <a:off x="5390097" y="2144182"/>
            <a:ext cx="1798638" cy="1044575"/>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Manufacturing</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costs</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cxnSp>
        <p:nvCxnSpPr>
          <p:cNvPr id="8" name="AutoShape 1932"/>
          <p:cNvCxnSpPr>
            <a:cxnSpLocks noChangeShapeType="1"/>
          </p:cNvCxnSpPr>
          <p:nvPr/>
        </p:nvCxnSpPr>
        <p:spPr bwMode="auto">
          <a:xfrm>
            <a:off x="2797710" y="4155545"/>
            <a:ext cx="1084262" cy="0"/>
          </a:xfrm>
          <a:prstGeom prst="straightConnector1">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cxnSp>
      <p:cxnSp>
        <p:nvCxnSpPr>
          <p:cNvPr id="9" name="AutoShape 1933"/>
          <p:cNvCxnSpPr>
            <a:cxnSpLocks noChangeShapeType="1"/>
          </p:cNvCxnSpPr>
          <p:nvPr/>
        </p:nvCxnSpPr>
        <p:spPr bwMode="auto">
          <a:xfrm>
            <a:off x="5677435" y="4155545"/>
            <a:ext cx="1309687" cy="0"/>
          </a:xfrm>
          <a:prstGeom prst="straightConnector1">
            <a:avLst/>
          </a:prstGeom>
          <a:noFill/>
          <a:ln w="9525">
            <a:solidFill>
              <a:srgbClr val="000000"/>
            </a:solidFill>
            <a:prstDash val="lgDash"/>
            <a:round/>
            <a:tailEnd type="triangle" w="med" len="med"/>
          </a:ln>
          <a:extLst>
            <a:ext uri="{909E8E84-426E-40DD-AFC4-6F175D3DCCD1}">
              <a14:hiddenFill xmlns:a14="http://schemas.microsoft.com/office/drawing/2010/main">
                <a:noFill/>
              </a14:hiddenFill>
            </a:ext>
          </a:extLst>
        </p:spPr>
      </p:cxnSp>
      <p:sp>
        <p:nvSpPr>
          <p:cNvPr id="10" name="TextBox 13"/>
          <p:cNvSpPr txBox="1">
            <a:spLocks noChangeArrowheads="1"/>
          </p:cNvSpPr>
          <p:nvPr/>
        </p:nvSpPr>
        <p:spPr bwMode="auto">
          <a:xfrm>
            <a:off x="1500722" y="3971395"/>
            <a:ext cx="12969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Standing timber</a:t>
            </a:r>
            <a:endParaRPr kumimoji="0" lang="en-CA"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1" name="TextBox 25"/>
          <p:cNvSpPr txBox="1">
            <a:spLocks noChangeArrowheads="1"/>
          </p:cNvSpPr>
          <p:nvPr/>
        </p:nvSpPr>
        <p:spPr bwMode="auto">
          <a:xfrm>
            <a:off x="4272497" y="3971395"/>
            <a:ext cx="14049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Delivered logs</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2" name="TextBox 26"/>
          <p:cNvSpPr txBox="1">
            <a:spLocks noChangeArrowheads="1"/>
          </p:cNvSpPr>
          <p:nvPr/>
        </p:nvSpPr>
        <p:spPr bwMode="auto">
          <a:xfrm>
            <a:off x="7333197" y="3971395"/>
            <a:ext cx="15843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Forest Products</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林产品的供给和需求</a:t>
            </a:r>
            <a:endParaRPr lang="zh-CN" altLang="en-US" dirty="0"/>
          </a:p>
        </p:txBody>
      </p:sp>
      <p:sp>
        <p:nvSpPr>
          <p:cNvPr id="3" name="内容占位符 2"/>
          <p:cNvSpPr>
            <a:spLocks noGrp="1"/>
          </p:cNvSpPr>
          <p:nvPr>
            <p:ph idx="1"/>
          </p:nvPr>
        </p:nvSpPr>
        <p:spPr>
          <a:xfrm>
            <a:off x="1942415" y="1524000"/>
            <a:ext cx="6591985" cy="4387222"/>
          </a:xfrm>
        </p:spPr>
        <p:txBody>
          <a:bodyPr/>
          <a:lstStyle/>
          <a:p>
            <a:r>
              <a:rPr lang="zh-CN" altLang="en-US" dirty="0"/>
              <a:t>林产品供给</a:t>
            </a:r>
            <a:endParaRPr lang="en-US" altLang="zh-CN" dirty="0"/>
          </a:p>
          <a:p>
            <a:pPr lvl="1"/>
            <a:r>
              <a:rPr lang="en-US" altLang="zh-CN" dirty="0"/>
              <a:t>Q=</a:t>
            </a:r>
            <a:r>
              <a:rPr lang="zh-CN" altLang="en-US" dirty="0"/>
              <a:t>（</a:t>
            </a:r>
            <a:r>
              <a:rPr lang="en-US" altLang="zh-CN" dirty="0" err="1"/>
              <a:t>P</a:t>
            </a:r>
            <a:r>
              <a:rPr lang="en-US" altLang="zh-CN" baseline="-25000" dirty="0" err="1"/>
              <a:t>putout</a:t>
            </a:r>
            <a:r>
              <a:rPr lang="zh-CN" altLang="en-US" dirty="0"/>
              <a:t>，</a:t>
            </a:r>
            <a:r>
              <a:rPr lang="en-US" altLang="zh-CN" dirty="0"/>
              <a:t>C1</a:t>
            </a:r>
            <a:r>
              <a:rPr lang="zh-CN" altLang="en-US" dirty="0"/>
              <a:t>，</a:t>
            </a:r>
            <a:r>
              <a:rPr lang="en-US" altLang="zh-CN" dirty="0"/>
              <a:t>……Cn</a:t>
            </a:r>
            <a:r>
              <a:rPr lang="zh-CN" altLang="en-US" dirty="0"/>
              <a:t>）</a:t>
            </a:r>
            <a:endParaRPr lang="en-US" altLang="zh-CN" dirty="0"/>
          </a:p>
          <a:p>
            <a:pPr lvl="1"/>
            <a:r>
              <a:rPr lang="en-US" altLang="zh-CN" dirty="0"/>
              <a:t>Q</a:t>
            </a:r>
            <a:r>
              <a:rPr lang="zh-CN" altLang="en-US" dirty="0"/>
              <a:t>是产品供给量，</a:t>
            </a:r>
            <a:r>
              <a:rPr lang="en-US" altLang="zh-CN" dirty="0"/>
              <a:t> </a:t>
            </a:r>
            <a:r>
              <a:rPr lang="en-US" altLang="zh-CN" dirty="0" err="1"/>
              <a:t>P</a:t>
            </a:r>
            <a:r>
              <a:rPr lang="en-US" altLang="zh-CN" baseline="-25000" dirty="0" err="1"/>
              <a:t>putout</a:t>
            </a:r>
            <a:r>
              <a:rPr lang="zh-CN" altLang="en-US" dirty="0"/>
              <a:t>是产品价格，</a:t>
            </a:r>
            <a:r>
              <a:rPr lang="en-US" altLang="zh-CN" dirty="0"/>
              <a:t>C1</a:t>
            </a:r>
            <a:r>
              <a:rPr lang="zh-CN" altLang="en-US" dirty="0"/>
              <a:t>到</a:t>
            </a:r>
            <a:r>
              <a:rPr lang="en-US" altLang="zh-CN" dirty="0"/>
              <a:t>Cn</a:t>
            </a:r>
            <a:r>
              <a:rPr lang="zh-CN" altLang="en-US" dirty="0"/>
              <a:t>是各种投入的单位成本，包括木材、资本（机械或设备）、劳动力和能源等</a:t>
            </a:r>
            <a:endParaRPr lang="en-US" altLang="zh-CN" dirty="0"/>
          </a:p>
          <a:p>
            <a:r>
              <a:rPr lang="zh-CN" altLang="en-US" dirty="0"/>
              <a:t>林产品需求</a:t>
            </a:r>
            <a:endParaRPr lang="en-US" altLang="zh-CN" dirty="0"/>
          </a:p>
          <a:p>
            <a:pPr lvl="1"/>
            <a:r>
              <a:rPr lang="zh-CN" altLang="en-US" dirty="0"/>
              <a:t>总量测算法（通过产品价格、人均收入、替代品价格等，测出总的消费量）</a:t>
            </a:r>
            <a:endParaRPr lang="en-US" altLang="zh-CN" dirty="0"/>
          </a:p>
          <a:p>
            <a:pPr lvl="1"/>
            <a:r>
              <a:rPr lang="zh-CN" altLang="en-US" dirty="0"/>
              <a:t>利用因子法（识别每一个不同终端市场对产品的平均需求；再估算总需求）</a:t>
            </a:r>
            <a:endParaRPr lang="en-US" altLang="zh-CN" dirty="0"/>
          </a:p>
          <a:p>
            <a:r>
              <a:rPr lang="zh-CN" altLang="en-US" dirty="0"/>
              <a:t>价格（模型）方程</a:t>
            </a:r>
            <a:endParaRPr lang="en-US" altLang="zh-CN" dirty="0"/>
          </a:p>
          <a:p>
            <a:pPr lvl="1"/>
            <a:r>
              <a:rPr lang="en-US" altLang="zh-CN" dirty="0"/>
              <a:t>WP</a:t>
            </a:r>
            <a:r>
              <a:rPr lang="zh-CN" altLang="en-US" dirty="0"/>
              <a:t>供给（</a:t>
            </a:r>
            <a:r>
              <a:rPr lang="en-US" altLang="zh-CN" dirty="0"/>
              <a:t>p</a:t>
            </a:r>
            <a:r>
              <a:rPr lang="zh-CN" altLang="en-US" dirty="0"/>
              <a:t>，供给因素）</a:t>
            </a:r>
            <a:r>
              <a:rPr lang="en-US" altLang="zh-CN" dirty="0"/>
              <a:t>=WP</a:t>
            </a:r>
            <a:r>
              <a:rPr lang="zh-CN" altLang="en-US" dirty="0"/>
              <a:t>需求（</a:t>
            </a:r>
            <a:r>
              <a:rPr lang="en-US" altLang="zh-CN" dirty="0"/>
              <a:t>p</a:t>
            </a:r>
            <a:r>
              <a:rPr lang="zh-CN" altLang="en-US" dirty="0"/>
              <a:t>，需求因素，政策变量）</a:t>
            </a:r>
            <a:endParaRPr lang="en-US" altLang="zh-CN" dirty="0"/>
          </a:p>
          <a:p>
            <a:pPr lvl="1"/>
            <a:r>
              <a:rPr lang="en-US" altLang="zh-CN" dirty="0"/>
              <a:t>P=f</a:t>
            </a:r>
            <a:r>
              <a:rPr lang="zh-CN" altLang="en-US" dirty="0"/>
              <a:t>（需求因素，供给因素，政策变量）</a:t>
            </a:r>
            <a:endParaRPr lang="zh-CN" altLang="en-US" dirty="0"/>
          </a:p>
          <a:p>
            <a:pPr lvl="1"/>
            <a:endParaRPr lang="en-US" altLang="zh-CN" dirty="0"/>
          </a:p>
          <a:p>
            <a:pPr lvl="1"/>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木材的供给和需求</a:t>
            </a:r>
            <a:endParaRPr lang="zh-CN" altLang="en-US" dirty="0"/>
          </a:p>
        </p:txBody>
      </p:sp>
      <p:sp>
        <p:nvSpPr>
          <p:cNvPr id="3" name="内容占位符 2"/>
          <p:cNvSpPr>
            <a:spLocks noGrp="1"/>
          </p:cNvSpPr>
          <p:nvPr>
            <p:ph idx="1"/>
          </p:nvPr>
        </p:nvSpPr>
        <p:spPr/>
        <p:txBody>
          <a:bodyPr/>
          <a:lstStyle/>
          <a:p>
            <a:r>
              <a:rPr lang="zh-CN" altLang="en-US" dirty="0"/>
              <a:t>木材的需求</a:t>
            </a:r>
            <a:endParaRPr lang="en-US" altLang="zh-CN" dirty="0"/>
          </a:p>
          <a:p>
            <a:pPr lvl="1"/>
            <a:r>
              <a:rPr lang="zh-CN" altLang="en-US" dirty="0"/>
              <a:t>是一种派生需求，取决于对最终木材制品的需求</a:t>
            </a:r>
            <a:endParaRPr lang="en-US" altLang="zh-CN" dirty="0"/>
          </a:p>
          <a:p>
            <a:pPr lvl="1"/>
            <a:r>
              <a:rPr lang="zh-CN" altLang="en-US" dirty="0"/>
              <a:t>派生原木的需求量，与原木价格、林产品价格、以及制造该林产品的投入（劳动力、资本和能源）价格有关</a:t>
            </a:r>
            <a:endParaRPr lang="en-US" altLang="zh-CN" dirty="0"/>
          </a:p>
          <a:p>
            <a:r>
              <a:rPr lang="zh-CN" altLang="en-US" dirty="0"/>
              <a:t>原木需求量</a:t>
            </a:r>
            <a:endParaRPr lang="en-US" altLang="zh-CN" dirty="0"/>
          </a:p>
          <a:p>
            <a:pPr lvl="1"/>
            <a:r>
              <a:rPr lang="zh-CN" altLang="en-US" dirty="0"/>
              <a:t>是包括原木在内的所有投入品价格和林产品产量的函数</a:t>
            </a:r>
            <a:endParaRPr lang="en-US" altLang="zh-CN" dirty="0"/>
          </a:p>
          <a:p>
            <a:r>
              <a:rPr lang="zh-CN" altLang="en-US" dirty="0"/>
              <a:t>原木供给量</a:t>
            </a:r>
            <a:endParaRPr lang="en-US" altLang="zh-CN" dirty="0"/>
          </a:p>
          <a:p>
            <a:pPr lvl="1"/>
            <a:r>
              <a:rPr lang="zh-CN" altLang="en-US" dirty="0"/>
              <a:t>是原木价格、采伐成本和活立木蓄积量的函数</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短期和长期的木材供给</a:t>
            </a:r>
            <a:endParaRPr lang="zh-CN" altLang="en-US" dirty="0"/>
          </a:p>
        </p:txBody>
      </p:sp>
      <p:sp>
        <p:nvSpPr>
          <p:cNvPr id="3" name="内容占位符 2"/>
          <p:cNvSpPr>
            <a:spLocks noGrp="1"/>
          </p:cNvSpPr>
          <p:nvPr>
            <p:ph idx="1"/>
          </p:nvPr>
        </p:nvSpPr>
        <p:spPr/>
        <p:txBody>
          <a:bodyPr/>
          <a:lstStyle/>
          <a:p>
            <a:r>
              <a:rPr lang="zh-CN" altLang="en-US" dirty="0"/>
              <a:t>短期</a:t>
            </a:r>
            <a:endParaRPr lang="en-US" altLang="zh-CN" dirty="0"/>
          </a:p>
          <a:p>
            <a:pPr lvl="1"/>
            <a:r>
              <a:rPr lang="zh-CN" altLang="en-US" dirty="0"/>
              <a:t>无法改变固定成本，在边际收益</a:t>
            </a:r>
            <a:r>
              <a:rPr lang="en-US" altLang="zh-CN" dirty="0"/>
              <a:t>=</a:t>
            </a:r>
            <a:r>
              <a:rPr lang="zh-CN" altLang="en-US" dirty="0"/>
              <a:t>边际可变成本时，实现利润最大化</a:t>
            </a:r>
            <a:endParaRPr lang="en-US" altLang="zh-CN" dirty="0"/>
          </a:p>
          <a:p>
            <a:pPr lvl="1"/>
            <a:r>
              <a:rPr lang="en-US" altLang="zh-CN" dirty="0"/>
              <a:t>Q=</a:t>
            </a:r>
            <a:r>
              <a:rPr lang="zh-CN" altLang="en-US" dirty="0"/>
              <a:t>（</a:t>
            </a:r>
            <a:r>
              <a:rPr lang="en-US" altLang="zh-CN" dirty="0"/>
              <a:t>P</a:t>
            </a:r>
            <a:r>
              <a:rPr lang="zh-CN" altLang="en-US" dirty="0"/>
              <a:t>，</a:t>
            </a:r>
            <a:r>
              <a:rPr lang="en-US" altLang="zh-CN" dirty="0"/>
              <a:t>I</a:t>
            </a:r>
            <a:r>
              <a:rPr lang="zh-CN" altLang="en-US" dirty="0"/>
              <a:t>，</a:t>
            </a:r>
            <a:r>
              <a:rPr lang="en-US" altLang="zh-CN" dirty="0"/>
              <a:t>Z</a:t>
            </a:r>
            <a:r>
              <a:rPr lang="zh-CN" altLang="en-US" dirty="0"/>
              <a:t>）</a:t>
            </a:r>
            <a:endParaRPr lang="en-US" altLang="zh-CN" dirty="0"/>
          </a:p>
          <a:p>
            <a:pPr lvl="1"/>
            <a:r>
              <a:rPr lang="en-US" altLang="zh-CN" dirty="0"/>
              <a:t>Q</a:t>
            </a:r>
            <a:r>
              <a:rPr lang="zh-CN" altLang="en-US" dirty="0"/>
              <a:t>：年采伐量；</a:t>
            </a:r>
            <a:r>
              <a:rPr lang="en-US" altLang="zh-CN" dirty="0"/>
              <a:t>I</a:t>
            </a:r>
            <a:r>
              <a:rPr lang="zh-CN" altLang="en-US" dirty="0"/>
              <a:t>：目前的蓄积量；</a:t>
            </a:r>
            <a:r>
              <a:rPr lang="en-US" altLang="zh-CN" dirty="0"/>
              <a:t>Z</a:t>
            </a:r>
            <a:r>
              <a:rPr lang="zh-CN" altLang="en-US" dirty="0"/>
              <a:t>：一系列影响供给的因素（如利率、森林所有权的特征等）所组成的向量</a:t>
            </a:r>
            <a:endParaRPr lang="zh-CN" altLang="en-US" dirty="0"/>
          </a:p>
          <a:p>
            <a:pPr lvl="1"/>
            <a:r>
              <a:rPr lang="zh-CN" altLang="en-US" dirty="0"/>
              <a:t>由于短期内蓄积量变化极为缓慢，可假定蓄积量的供给弹性为</a:t>
            </a:r>
            <a:r>
              <a:rPr lang="en-US" altLang="zh-CN" dirty="0"/>
              <a:t>1</a:t>
            </a:r>
            <a:r>
              <a:rPr lang="zh-CN" altLang="en-US" dirty="0"/>
              <a:t>，将函数形式写为</a:t>
            </a:r>
            <a:endParaRPr lang="zh-CN" altLang="en-US" dirty="0"/>
          </a:p>
          <a:p>
            <a:pPr lvl="1"/>
            <a:r>
              <a:rPr lang="en-US" altLang="zh-CN" dirty="0"/>
              <a:t>Q/I=f</a:t>
            </a:r>
            <a:r>
              <a:rPr lang="zh-CN" altLang="en-US" dirty="0"/>
              <a:t>（</a:t>
            </a:r>
            <a:r>
              <a:rPr lang="en-US" altLang="zh-CN" dirty="0"/>
              <a:t>P</a:t>
            </a:r>
            <a:r>
              <a:rPr lang="zh-CN" altLang="en-US" dirty="0"/>
              <a:t>，</a:t>
            </a:r>
            <a:r>
              <a:rPr lang="en-US" altLang="zh-CN" dirty="0"/>
              <a:t>Z</a:t>
            </a:r>
            <a:r>
              <a:rPr lang="zh-CN" altLang="en-US" dirty="0"/>
              <a:t>）</a:t>
            </a:r>
            <a:endParaRPr lang="zh-CN" altLang="en-US" dirty="0"/>
          </a:p>
          <a:p>
            <a:pPr lvl="1"/>
            <a:endParaRPr lang="en-US" altLang="zh-CN" dirty="0"/>
          </a:p>
          <a:p>
            <a:pPr lvl="1"/>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短期和长期的木材供给</a:t>
            </a:r>
            <a:endParaRPr lang="zh-CN" altLang="en-US" dirty="0"/>
          </a:p>
        </p:txBody>
      </p:sp>
      <p:sp>
        <p:nvSpPr>
          <p:cNvPr id="3" name="内容占位符 2"/>
          <p:cNvSpPr>
            <a:spLocks noGrp="1"/>
          </p:cNvSpPr>
          <p:nvPr>
            <p:ph idx="1"/>
          </p:nvPr>
        </p:nvSpPr>
        <p:spPr>
          <a:xfrm>
            <a:off x="1942415" y="1625600"/>
            <a:ext cx="6591985" cy="5003800"/>
          </a:xfrm>
        </p:spPr>
        <p:txBody>
          <a:bodyPr>
            <a:normAutofit fontScale="92500" lnSpcReduction="20000"/>
          </a:bodyPr>
          <a:lstStyle/>
          <a:p>
            <a:r>
              <a:rPr lang="zh-CN" altLang="en-US" dirty="0"/>
              <a:t>长期</a:t>
            </a:r>
            <a:endParaRPr lang="en-US" altLang="zh-CN" dirty="0"/>
          </a:p>
          <a:p>
            <a:pPr lvl="1"/>
            <a:r>
              <a:rPr lang="zh-CN" altLang="en-US" dirty="0"/>
              <a:t>生产者可以调整生产能力，对价格变化的反应更灵活</a:t>
            </a:r>
            <a:endParaRPr lang="en-US" altLang="zh-CN" dirty="0"/>
          </a:p>
          <a:p>
            <a:pPr lvl="1"/>
            <a:r>
              <a:rPr lang="zh-CN" altLang="en-US" dirty="0"/>
              <a:t>长期供给曲线比短期供给曲线更有弹性</a:t>
            </a:r>
            <a:endParaRPr lang="en-US" altLang="zh-CN" dirty="0"/>
          </a:p>
          <a:p>
            <a:pPr lvl="1"/>
            <a:r>
              <a:rPr lang="zh-CN" altLang="en-US" dirty="0"/>
              <a:t>但森林资本尚未发生明显变化</a:t>
            </a:r>
            <a:endParaRPr lang="en-US" altLang="zh-CN" dirty="0"/>
          </a:p>
          <a:p>
            <a:pPr lvl="1"/>
            <a:endParaRPr lang="en-US" altLang="zh-CN" dirty="0"/>
          </a:p>
          <a:p>
            <a:r>
              <a:rPr lang="zh-CN" altLang="en-US" dirty="0"/>
              <a:t>超长期</a:t>
            </a:r>
            <a:endParaRPr lang="en-US" altLang="zh-CN" dirty="0"/>
          </a:p>
          <a:p>
            <a:pPr lvl="1"/>
            <a:r>
              <a:rPr lang="zh-CN" altLang="en-US" dirty="0"/>
              <a:t>森林资本发生变化（需要经历至少一个完整的生长周期）</a:t>
            </a:r>
            <a:endParaRPr lang="en-US" altLang="zh-CN" dirty="0"/>
          </a:p>
          <a:p>
            <a:pPr lvl="1"/>
            <a:r>
              <a:rPr lang="zh-CN" altLang="en-US" dirty="0"/>
              <a:t>生产者可以调整所有投入（可变投入、厂房、机器等固定投入、森林资本）</a:t>
            </a:r>
            <a:endParaRPr lang="en-US" altLang="zh-CN" dirty="0"/>
          </a:p>
          <a:p>
            <a:pPr lvl="1"/>
            <a:r>
              <a:rPr lang="zh-CN" altLang="en-US" dirty="0"/>
              <a:t>供给对市场价格上升的反应更大</a:t>
            </a:r>
            <a:endParaRPr lang="en-US" altLang="zh-CN" dirty="0"/>
          </a:p>
          <a:p>
            <a:endParaRPr lang="en-US" altLang="zh-CN" dirty="0"/>
          </a:p>
          <a:p>
            <a:r>
              <a:rPr lang="zh-CN" altLang="en-US" dirty="0"/>
              <a:t>长期木材供给预测</a:t>
            </a:r>
            <a:endParaRPr lang="en-US" altLang="zh-CN" dirty="0"/>
          </a:p>
          <a:p>
            <a:pPr lvl="1"/>
            <a:r>
              <a:rPr lang="zh-CN" altLang="en-US" dirty="0"/>
              <a:t>根据林地面积、蓄积量、树木年龄组成和生长率，以及永续利用采伐政策等，可预测未来</a:t>
            </a:r>
            <a:r>
              <a:rPr lang="en-US" altLang="zh-CN" dirty="0"/>
              <a:t>50</a:t>
            </a:r>
            <a:r>
              <a:rPr lang="zh-CN" altLang="en-US" dirty="0"/>
              <a:t>到</a:t>
            </a:r>
            <a:r>
              <a:rPr lang="en-US" altLang="zh-CN" dirty="0"/>
              <a:t>100</a:t>
            </a:r>
            <a:r>
              <a:rPr lang="zh-CN" altLang="en-US" dirty="0"/>
              <a:t>年的长期木材供给</a:t>
            </a:r>
            <a:endParaRPr lang="en-US" altLang="zh-CN" dirty="0"/>
          </a:p>
          <a:p>
            <a:pPr lvl="1"/>
            <a:r>
              <a:rPr lang="zh-CN" altLang="en-US" dirty="0"/>
              <a:t>然而，在这种预测中，并未考虑价格的影响，其结果只能在政府干预下才能实现（有时甚至在政府干预下也难以实现）</a:t>
            </a:r>
            <a:endParaRPr lang="en-US" altLang="zh-CN" dirty="0"/>
          </a:p>
          <a:p>
            <a:pPr lvl="1"/>
            <a:endParaRPr lang="en-US" altLang="zh-CN" dirty="0"/>
          </a:p>
          <a:p>
            <a:pPr lvl="1"/>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1"/>
          <p:cNvSpPr>
            <a:spLocks noChangeArrowheads="1"/>
          </p:cNvSpPr>
          <p:nvPr/>
        </p:nvSpPr>
        <p:spPr bwMode="auto">
          <a:xfrm rot="10800000" flipV="1">
            <a:off x="1309688" y="387341"/>
            <a:ext cx="675798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w="9525">
                  <a:solidFill>
                    <a:prstClr val="white"/>
                  </a:solidFill>
                  <a:prstDash val="solid"/>
                </a:ln>
                <a:solidFill>
                  <a:srgbClr val="92AA4C"/>
                </a:solidFill>
                <a:effectLst>
                  <a:outerShdw blurRad="12700" dist="38100" dir="2700000" algn="tl" rotWithShape="0">
                    <a:srgbClr val="92AA4C">
                      <a:lumMod val="60000"/>
                      <a:lumOff val="40000"/>
                    </a:srgbClr>
                  </a:outerShdw>
                </a:effectLst>
                <a:uLnTx/>
                <a:uFillTx/>
                <a:latin typeface="Times New Roman" panose="02020603050405020304" pitchFamily="18" charset="0"/>
                <a:cs typeface="Times New Roman" panose="02020603050405020304" pitchFamily="18" charset="0"/>
              </a:rPr>
              <a:t>Figure 4.7: Long-run supply response when demand shifts upward</a:t>
            </a:r>
            <a:endParaRPr kumimoji="0" lang="en-CA" sz="2800" b="1" i="0" u="none" strike="noStrike" kern="1200" cap="none" spc="0" normalizeH="0" baseline="0" noProof="0" dirty="0">
              <a:ln w="9525">
                <a:solidFill>
                  <a:prstClr val="white"/>
                </a:solidFill>
                <a:prstDash val="solid"/>
              </a:ln>
              <a:solidFill>
                <a:srgbClr val="92AA4C"/>
              </a:solidFill>
              <a:effectLst>
                <a:outerShdw blurRad="12700" dist="38100" dir="2700000" algn="tl" rotWithShape="0">
                  <a:srgbClr val="92AA4C">
                    <a:lumMod val="60000"/>
                    <a:lumOff val="40000"/>
                  </a:srgbClr>
                </a:outerShdw>
              </a:effectLst>
              <a:uLnTx/>
              <a:uFillTx/>
              <a:latin typeface="Times New Roman" panose="02020603050405020304" pitchFamily="18" charset="0"/>
              <a:ea typeface="+mn-ea"/>
              <a:cs typeface="Times New Roman" panose="02020603050405020304" pitchFamily="18" charset="0"/>
            </a:endParaRPr>
          </a:p>
        </p:txBody>
      </p:sp>
      <p:grpSp>
        <p:nvGrpSpPr>
          <p:cNvPr id="19459" name="Group 2"/>
          <p:cNvGrpSpPr/>
          <p:nvPr/>
        </p:nvGrpSpPr>
        <p:grpSpPr bwMode="auto">
          <a:xfrm>
            <a:off x="395288" y="1412875"/>
            <a:ext cx="7499350" cy="4922838"/>
            <a:chOff x="1043" y="1249"/>
            <a:chExt cx="8191" cy="7198"/>
          </a:xfrm>
        </p:grpSpPr>
        <p:sp>
          <p:nvSpPr>
            <p:cNvPr id="19464" name="Text Box 2768"/>
            <p:cNvSpPr txBox="1">
              <a:spLocks noChangeArrowheads="1"/>
            </p:cNvSpPr>
            <p:nvPr/>
          </p:nvSpPr>
          <p:spPr bwMode="auto">
            <a:xfrm>
              <a:off x="5383" y="4312"/>
              <a:ext cx="34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a</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65" name="Text Box 2769"/>
            <p:cNvSpPr txBox="1">
              <a:spLocks noChangeArrowheads="1"/>
            </p:cNvSpPr>
            <p:nvPr/>
          </p:nvSpPr>
          <p:spPr bwMode="auto">
            <a:xfrm>
              <a:off x="6478" y="2622"/>
              <a:ext cx="275"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b</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66" name="Text Box 2770"/>
            <p:cNvSpPr txBox="1">
              <a:spLocks noChangeArrowheads="1"/>
            </p:cNvSpPr>
            <p:nvPr/>
          </p:nvSpPr>
          <p:spPr bwMode="auto">
            <a:xfrm>
              <a:off x="6835" y="3480"/>
              <a:ext cx="217"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c</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7" name="Text Box 2771"/>
            <p:cNvSpPr txBox="1">
              <a:spLocks noChangeArrowheads="1"/>
            </p:cNvSpPr>
            <p:nvPr/>
          </p:nvSpPr>
          <p:spPr bwMode="auto">
            <a:xfrm>
              <a:off x="5901" y="7110"/>
              <a:ext cx="995" cy="773"/>
            </a:xfrm>
            <a:prstGeom prst="rect">
              <a:avLst/>
            </a:prstGeom>
            <a:noFill/>
            <a:ln w="9525">
              <a:noFill/>
              <a:miter lim="800000"/>
            </a:ln>
          </p:spPr>
          <p:txBody>
            <a:bodyPr/>
            <a:lstStyle>
              <a:lvl1pPr indent="1079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10795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Q</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2001</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10795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68" name="Text Box 2773"/>
            <p:cNvSpPr txBox="1">
              <a:spLocks noChangeArrowheads="1"/>
            </p:cNvSpPr>
            <p:nvPr/>
          </p:nvSpPr>
          <p:spPr bwMode="auto">
            <a:xfrm>
              <a:off x="1043" y="3343"/>
              <a:ext cx="1322" cy="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71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5715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per unit</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69" name="Text Box 2774"/>
            <p:cNvSpPr txBox="1">
              <a:spLocks noChangeArrowheads="1"/>
            </p:cNvSpPr>
            <p:nvPr/>
          </p:nvSpPr>
          <p:spPr bwMode="auto">
            <a:xfrm>
              <a:off x="6726" y="7112"/>
              <a:ext cx="818"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Q</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2005</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1" name="Text Box 2775"/>
            <p:cNvSpPr txBox="1">
              <a:spLocks noChangeArrowheads="1"/>
            </p:cNvSpPr>
            <p:nvPr/>
          </p:nvSpPr>
          <p:spPr bwMode="auto">
            <a:xfrm>
              <a:off x="4922" y="7110"/>
              <a:ext cx="922" cy="411"/>
            </a:xfrm>
            <a:prstGeom prst="rect">
              <a:avLst/>
            </a:prstGeom>
            <a:noFill/>
            <a:ln w="9525">
              <a:noFill/>
              <a:miter lim="800000"/>
            </a:ln>
          </p:spPr>
          <p:txBody>
            <a:bodyPr/>
            <a:lstStyle>
              <a:lvl1pPr indent="571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5715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Q</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2000</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5715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2" name="Text Box 2776"/>
            <p:cNvSpPr txBox="1">
              <a:spLocks noChangeArrowheads="1"/>
            </p:cNvSpPr>
            <p:nvPr/>
          </p:nvSpPr>
          <p:spPr bwMode="auto">
            <a:xfrm>
              <a:off x="5558" y="6249"/>
              <a:ext cx="924" cy="411"/>
            </a:xfrm>
            <a:prstGeom prst="rect">
              <a:avLst/>
            </a:prstGeom>
            <a:noFill/>
            <a:ln w="9525">
              <a:noFill/>
              <a:miter lim="800000"/>
            </a:ln>
          </p:spPr>
          <p:txBody>
            <a:bodyPr/>
            <a:lstStyle>
              <a:lvl1pPr indent="508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5080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D</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2000</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5080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2" name="Text Box 2777"/>
            <p:cNvSpPr txBox="1">
              <a:spLocks noChangeArrowheads="1"/>
            </p:cNvSpPr>
            <p:nvPr/>
          </p:nvSpPr>
          <p:spPr bwMode="auto">
            <a:xfrm>
              <a:off x="6896" y="1249"/>
              <a:ext cx="1729" cy="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S</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2000 </a:t>
              </a: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a:t>
              </a: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S</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2001</a:t>
              </a: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3" name="Text Box 2778"/>
            <p:cNvSpPr txBox="1">
              <a:spLocks noChangeArrowheads="1"/>
            </p:cNvSpPr>
            <p:nvPr/>
          </p:nvSpPr>
          <p:spPr bwMode="auto">
            <a:xfrm>
              <a:off x="7452" y="1970"/>
              <a:ext cx="833"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S</a:t>
              </a:r>
              <a:r>
                <a:rPr kumimoji="0" lang="en-US" altLang="zh-CN" sz="1800" b="0" i="1"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005</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4" name="Text Box 2779"/>
            <p:cNvSpPr txBox="1">
              <a:spLocks noChangeArrowheads="1"/>
            </p:cNvSpPr>
            <p:nvPr/>
          </p:nvSpPr>
          <p:spPr bwMode="auto">
            <a:xfrm>
              <a:off x="8285" y="2490"/>
              <a:ext cx="94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S</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2000-05</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5" name="Text Box 2780"/>
            <p:cNvSpPr txBox="1">
              <a:spLocks noChangeArrowheads="1"/>
            </p:cNvSpPr>
            <p:nvPr/>
          </p:nvSpPr>
          <p:spPr bwMode="auto">
            <a:xfrm>
              <a:off x="7220" y="5824"/>
              <a:ext cx="1304"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D</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2001-05</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6" name="Text Box 2781"/>
            <p:cNvSpPr txBox="1">
              <a:spLocks noChangeArrowheads="1"/>
            </p:cNvSpPr>
            <p:nvPr/>
          </p:nvSpPr>
          <p:spPr bwMode="auto">
            <a:xfrm>
              <a:off x="2435" y="2540"/>
              <a:ext cx="924" cy="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P</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2001</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7" name="Text Box 2782"/>
            <p:cNvSpPr txBox="1">
              <a:spLocks noChangeArrowheads="1"/>
            </p:cNvSpPr>
            <p:nvPr/>
          </p:nvSpPr>
          <p:spPr bwMode="auto">
            <a:xfrm>
              <a:off x="2433" y="3462"/>
              <a:ext cx="924"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P</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2005</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19478" name="Text Box 2783"/>
            <p:cNvSpPr txBox="1">
              <a:spLocks noChangeArrowheads="1"/>
            </p:cNvSpPr>
            <p:nvPr/>
          </p:nvSpPr>
          <p:spPr bwMode="auto">
            <a:xfrm>
              <a:off x="2445" y="4278"/>
              <a:ext cx="924"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P</a:t>
              </a:r>
              <a:r>
                <a:rPr kumimoji="0" lang="en-US" altLang="zh-CN" sz="1800" b="0" i="0" u="none" strike="noStrike" kern="1200" cap="none" spc="0" normalizeH="0" baseline="-2500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2000</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cxnSp>
          <p:nvCxnSpPr>
            <p:cNvPr id="19479" name="AutoShape 2784"/>
            <p:cNvCxnSpPr>
              <a:cxnSpLocks noChangeShapeType="1"/>
            </p:cNvCxnSpPr>
            <p:nvPr/>
          </p:nvCxnSpPr>
          <p:spPr bwMode="auto">
            <a:xfrm>
              <a:off x="3136" y="1774"/>
              <a:ext cx="0" cy="537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9480" name="AutoShape 2785"/>
            <p:cNvCxnSpPr>
              <a:cxnSpLocks noChangeShapeType="1"/>
            </p:cNvCxnSpPr>
            <p:nvPr/>
          </p:nvCxnSpPr>
          <p:spPr bwMode="auto">
            <a:xfrm>
              <a:off x="3136" y="7145"/>
              <a:ext cx="6025"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19481" name="Text Box 2787"/>
            <p:cNvSpPr txBox="1">
              <a:spLocks noChangeArrowheads="1"/>
            </p:cNvSpPr>
            <p:nvPr/>
          </p:nvSpPr>
          <p:spPr bwMode="auto">
            <a:xfrm>
              <a:off x="5319" y="7882"/>
              <a:ext cx="1319" cy="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 Quantity </a:t>
              </a: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cxnSp>
          <p:nvCxnSpPr>
            <p:cNvPr id="19482" name="AutoShape 2788"/>
            <p:cNvCxnSpPr>
              <a:cxnSpLocks noChangeShapeType="1"/>
            </p:cNvCxnSpPr>
            <p:nvPr/>
          </p:nvCxnSpPr>
          <p:spPr bwMode="auto">
            <a:xfrm>
              <a:off x="6223" y="2338"/>
              <a:ext cx="1519" cy="3567"/>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9483" name="AutoShape 2789"/>
            <p:cNvCxnSpPr>
              <a:cxnSpLocks noChangeShapeType="1"/>
            </p:cNvCxnSpPr>
            <p:nvPr/>
          </p:nvCxnSpPr>
          <p:spPr bwMode="auto">
            <a:xfrm flipV="1">
              <a:off x="5020" y="2540"/>
              <a:ext cx="2616" cy="3593"/>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9484" name="AutoShape 2790"/>
            <p:cNvCxnSpPr>
              <a:cxnSpLocks noChangeShapeType="1"/>
            </p:cNvCxnSpPr>
            <p:nvPr/>
          </p:nvCxnSpPr>
          <p:spPr bwMode="auto">
            <a:xfrm flipV="1">
              <a:off x="3369" y="2867"/>
              <a:ext cx="4916" cy="2718"/>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9485" name="AutoShape 2791"/>
            <p:cNvCxnSpPr>
              <a:cxnSpLocks noChangeShapeType="1"/>
            </p:cNvCxnSpPr>
            <p:nvPr/>
          </p:nvCxnSpPr>
          <p:spPr bwMode="auto">
            <a:xfrm>
              <a:off x="3136" y="3692"/>
              <a:ext cx="3668" cy="0"/>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9486" name="AutoShape 2792"/>
            <p:cNvCxnSpPr>
              <a:cxnSpLocks noChangeShapeType="1"/>
            </p:cNvCxnSpPr>
            <p:nvPr/>
          </p:nvCxnSpPr>
          <p:spPr bwMode="auto">
            <a:xfrm>
              <a:off x="4386" y="2418"/>
              <a:ext cx="1731" cy="3928"/>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9487" name="AutoShape 2793"/>
            <p:cNvCxnSpPr>
              <a:cxnSpLocks noChangeShapeType="1"/>
            </p:cNvCxnSpPr>
            <p:nvPr/>
          </p:nvCxnSpPr>
          <p:spPr bwMode="auto">
            <a:xfrm flipV="1">
              <a:off x="4109" y="1929"/>
              <a:ext cx="3078" cy="4214"/>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9488" name="AutoShape 2794"/>
            <p:cNvCxnSpPr>
              <a:cxnSpLocks noChangeShapeType="1"/>
            </p:cNvCxnSpPr>
            <p:nvPr/>
          </p:nvCxnSpPr>
          <p:spPr bwMode="auto">
            <a:xfrm>
              <a:off x="6804" y="3627"/>
              <a:ext cx="0" cy="3496"/>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9489" name="AutoShape 2795"/>
            <p:cNvCxnSpPr>
              <a:cxnSpLocks noChangeShapeType="1"/>
            </p:cNvCxnSpPr>
            <p:nvPr/>
          </p:nvCxnSpPr>
          <p:spPr bwMode="auto">
            <a:xfrm>
              <a:off x="6467" y="2893"/>
              <a:ext cx="0" cy="4243"/>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9490" name="AutoShape 2796"/>
            <p:cNvCxnSpPr>
              <a:cxnSpLocks noChangeShapeType="1"/>
            </p:cNvCxnSpPr>
            <p:nvPr/>
          </p:nvCxnSpPr>
          <p:spPr bwMode="auto">
            <a:xfrm>
              <a:off x="4640" y="2719"/>
              <a:ext cx="1609" cy="0"/>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cxnSp>
          <p:nvCxnSpPr>
            <p:cNvPr id="19491" name="AutoShape 2797"/>
            <p:cNvCxnSpPr>
              <a:cxnSpLocks noChangeShapeType="1"/>
            </p:cNvCxnSpPr>
            <p:nvPr/>
          </p:nvCxnSpPr>
          <p:spPr bwMode="auto">
            <a:xfrm>
              <a:off x="6757" y="2622"/>
              <a:ext cx="643" cy="0"/>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cxnSp>
          <p:nvCxnSpPr>
            <p:cNvPr id="19492" name="AutoShape 2798"/>
            <p:cNvCxnSpPr>
              <a:cxnSpLocks noChangeShapeType="1"/>
            </p:cNvCxnSpPr>
            <p:nvPr/>
          </p:nvCxnSpPr>
          <p:spPr bwMode="auto">
            <a:xfrm>
              <a:off x="4635" y="5567"/>
              <a:ext cx="707" cy="1"/>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cxnSp>
          <p:nvCxnSpPr>
            <p:cNvPr id="19493" name="AutoShape 2799"/>
            <p:cNvCxnSpPr>
              <a:cxnSpLocks noChangeShapeType="1"/>
            </p:cNvCxnSpPr>
            <p:nvPr/>
          </p:nvCxnSpPr>
          <p:spPr bwMode="auto">
            <a:xfrm>
              <a:off x="5893" y="5559"/>
              <a:ext cx="1559" cy="0"/>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cxnSp>
          <p:nvCxnSpPr>
            <p:cNvPr id="19494" name="AutoShape 2800"/>
            <p:cNvCxnSpPr>
              <a:cxnSpLocks noChangeShapeType="1"/>
            </p:cNvCxnSpPr>
            <p:nvPr/>
          </p:nvCxnSpPr>
          <p:spPr bwMode="auto">
            <a:xfrm>
              <a:off x="5290" y="4580"/>
              <a:ext cx="0" cy="2565"/>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9495" name="AutoShape 2801"/>
            <p:cNvCxnSpPr>
              <a:cxnSpLocks noChangeShapeType="1"/>
            </p:cNvCxnSpPr>
            <p:nvPr/>
          </p:nvCxnSpPr>
          <p:spPr bwMode="auto">
            <a:xfrm flipH="1">
              <a:off x="3136" y="2913"/>
              <a:ext cx="3331" cy="0"/>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9496" name="AutoShape 2802"/>
            <p:cNvCxnSpPr>
              <a:cxnSpLocks noChangeShapeType="1"/>
            </p:cNvCxnSpPr>
            <p:nvPr/>
          </p:nvCxnSpPr>
          <p:spPr bwMode="auto">
            <a:xfrm>
              <a:off x="3136" y="4508"/>
              <a:ext cx="2151" cy="0"/>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sp>
          <p:nvSpPr>
            <p:cNvPr id="19497" name="Arc 2803"/>
            <p:cNvSpPr/>
            <p:nvPr/>
          </p:nvSpPr>
          <p:spPr bwMode="auto">
            <a:xfrm flipH="1" flipV="1">
              <a:off x="4292" y="5141"/>
              <a:ext cx="172" cy="353"/>
            </a:xfrm>
            <a:custGeom>
              <a:avLst/>
              <a:gdLst>
                <a:gd name="T0" fmla="*/ 0 w 21600"/>
                <a:gd name="T1" fmla="*/ 0 h 21600"/>
                <a:gd name="T2" fmla="*/ 1 w 21600"/>
                <a:gd name="T3" fmla="*/ 6 h 21600"/>
                <a:gd name="T4" fmla="*/ 0 w 21600"/>
                <a:gd name="T5" fmla="*/ 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2AA4C">
                    <a:lumMod val="75000"/>
                  </a:srgbClr>
                </a:solidFill>
                <a:effectLst/>
                <a:uLnTx/>
                <a:uFillTx/>
                <a:latin typeface="Century Gothic" panose="020B0502020202020204"/>
                <a:cs typeface="+mn-cs"/>
              </a:endParaRPr>
            </a:p>
          </p:txBody>
        </p:sp>
        <p:sp>
          <p:nvSpPr>
            <p:cNvPr id="19498" name="Arc 2804"/>
            <p:cNvSpPr/>
            <p:nvPr/>
          </p:nvSpPr>
          <p:spPr bwMode="auto">
            <a:xfrm rot="9600000" flipH="1" flipV="1">
              <a:off x="7583" y="2749"/>
              <a:ext cx="172" cy="353"/>
            </a:xfrm>
            <a:custGeom>
              <a:avLst/>
              <a:gdLst>
                <a:gd name="T0" fmla="*/ 0 w 21600"/>
                <a:gd name="T1" fmla="*/ 0 h 21600"/>
                <a:gd name="T2" fmla="*/ 1 w 21600"/>
                <a:gd name="T3" fmla="*/ 6 h 21600"/>
                <a:gd name="T4" fmla="*/ 0 w 21600"/>
                <a:gd name="T5" fmla="*/ 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2AA4C">
                    <a:lumMod val="75000"/>
                  </a:srgbClr>
                </a:solidFill>
                <a:effectLst/>
                <a:uLnTx/>
                <a:uFillTx/>
                <a:latin typeface="Century Gothic" panose="020B0502020202020204"/>
                <a:cs typeface="+mn-cs"/>
              </a:endParaRPr>
            </a:p>
          </p:txBody>
        </p:sp>
        <p:sp>
          <p:nvSpPr>
            <p:cNvPr id="41" name="AutoShape 2805"/>
            <p:cNvSpPr>
              <a:spLocks noChangeArrowheads="1"/>
            </p:cNvSpPr>
            <p:nvPr/>
          </p:nvSpPr>
          <p:spPr bwMode="auto">
            <a:xfrm>
              <a:off x="5232" y="4450"/>
              <a:ext cx="137" cy="137"/>
            </a:xfrm>
            <a:prstGeom prst="flowChartConnector">
              <a:avLst/>
            </a:prstGeom>
            <a:solidFill>
              <a:schemeClr val="tx1">
                <a:lumMod val="100000"/>
                <a:lumOff val="0"/>
              </a:schemeClr>
            </a:solidFill>
            <a:ln w="9525">
              <a:solidFill>
                <a:srgbClr val="000000"/>
              </a:solidFill>
              <a:round/>
            </a:ln>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sp>
          <p:nvSpPr>
            <p:cNvPr id="42" name="AutoShape 2806"/>
            <p:cNvSpPr>
              <a:spLocks noChangeArrowheads="1"/>
            </p:cNvSpPr>
            <p:nvPr/>
          </p:nvSpPr>
          <p:spPr bwMode="auto">
            <a:xfrm>
              <a:off x="6749" y="3621"/>
              <a:ext cx="137" cy="135"/>
            </a:xfrm>
            <a:prstGeom prst="flowChartConnector">
              <a:avLst/>
            </a:prstGeom>
            <a:solidFill>
              <a:schemeClr val="tx1">
                <a:lumMod val="100000"/>
                <a:lumOff val="0"/>
              </a:schemeClr>
            </a:solidFill>
            <a:ln w="9525">
              <a:solidFill>
                <a:srgbClr val="000000"/>
              </a:solidFill>
              <a:round/>
            </a:ln>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CA"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Times New Roman" panose="02020603050405020304" pitchFamily="18" charset="0"/>
              </a:endParaRPr>
            </a:p>
          </p:txBody>
        </p:sp>
      </p:grpSp>
      <p:sp>
        <p:nvSpPr>
          <p:cNvPr id="19460" name="Rectangle 60"/>
          <p:cNvSpPr>
            <a:spLocks noChangeArrowheads="1"/>
          </p:cNvSpPr>
          <p:nvPr/>
        </p:nvSpPr>
        <p:spPr bwMode="auto">
          <a:xfrm>
            <a:off x="0" y="4200525"/>
            <a:ext cx="18415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br>
              <a:rPr kumimoji="0" lang="en-US" altLang="zh-CN" sz="1000" b="0" i="0" u="none" strike="noStrike" kern="1200" cap="none" spc="0" normalizeH="0" baseline="0" noProof="0">
                <a:ln>
                  <a:noFill/>
                </a:ln>
                <a:solidFill>
                  <a:srgbClr val="92AA4C">
                    <a:lumMod val="75000"/>
                  </a:srgbClr>
                </a:solidFill>
                <a:effectLst/>
                <a:uLnTx/>
                <a:uFillTx/>
                <a:latin typeface="Roman 10cpi"/>
                <a:ea typeface="Roman 10cpi"/>
                <a:cs typeface="Times New Roman" panose="02020603050405020304" pitchFamily="18" charset="0"/>
              </a:rPr>
            </a:br>
            <a:endParaRPr kumimoji="0" lang="en-CA" sz="1100" b="0" i="0" u="none" strike="noStrike" kern="1200" cap="none" spc="0" normalizeH="0" baseline="0" noProof="0">
              <a:ln>
                <a:noFill/>
              </a:ln>
              <a:solidFill>
                <a:srgbClr val="92AA4C">
                  <a:lumMod val="75000"/>
                </a:srgbClr>
              </a:solidFill>
              <a:effectLst/>
              <a:uLnTx/>
              <a:uFillTx/>
              <a:latin typeface="Century Gothic" panose="020B0502020202020204"/>
              <a:ea typeface="Roman 10cpi"/>
              <a:cs typeface="Times New Roman" panose="02020603050405020304" pitchFamily="18" charset="0"/>
            </a:endParaRPr>
          </a:p>
          <a:p>
            <a:pPr marL="0" marR="0" lvl="0" indent="0" algn="l" defTabSz="457200" rtl="0" eaLnBrk="0" fontAlgn="auto" latinLnBrk="0" hangingPunct="0">
              <a:lnSpc>
                <a:spcPct val="100000"/>
              </a:lnSpc>
              <a:spcBef>
                <a:spcPts val="0"/>
              </a:spcBef>
              <a:spcAft>
                <a:spcPts val="0"/>
              </a:spcAft>
              <a:buClrTx/>
              <a:buSzTx/>
              <a:buFontTx/>
              <a:buNone/>
              <a:defRPr/>
            </a:pPr>
            <a:endParaRPr kumimoji="0" lang="en-CA" sz="1800" b="0" i="0" u="none" strike="noStrike" kern="1200" cap="none" spc="0" normalizeH="0" baseline="0" noProof="0">
              <a:ln>
                <a:noFill/>
              </a:ln>
              <a:solidFill>
                <a:srgbClr val="92AA4C">
                  <a:lumMod val="75000"/>
                </a:srgbClr>
              </a:solidFill>
              <a:effectLst/>
              <a:uLnTx/>
              <a:uFillTx/>
              <a:latin typeface="Century Gothic" panose="020B0502020202020204"/>
              <a:ea typeface="Roman 10cpi"/>
              <a:cs typeface="Times New Roman" panose="02020603050405020304" pitchFamily="18" charset="0"/>
            </a:endParaRPr>
          </a:p>
        </p:txBody>
      </p:sp>
      <p:sp>
        <p:nvSpPr>
          <p:cNvPr id="19461" name="Text Box 42"/>
          <p:cNvSpPr txBox="1">
            <a:spLocks noChangeArrowheads="1"/>
          </p:cNvSpPr>
          <p:nvPr/>
        </p:nvSpPr>
        <p:spPr bwMode="auto">
          <a:xfrm>
            <a:off x="7812088" y="5229225"/>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CA"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mn-cs"/>
              </a:rPr>
              <a:t>Q</a:t>
            </a:r>
            <a:endPar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mn-cs"/>
            </a:endParaRPr>
          </a:p>
        </p:txBody>
      </p:sp>
      <p:sp>
        <p:nvSpPr>
          <p:cNvPr id="19462" name="Text Box 43"/>
          <p:cNvSpPr txBox="1">
            <a:spLocks noChangeArrowheads="1"/>
          </p:cNvSpPr>
          <p:nvPr/>
        </p:nvSpPr>
        <p:spPr bwMode="auto">
          <a:xfrm>
            <a:off x="2195513" y="1484313"/>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CA"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ea typeface="+mn-ea"/>
                <a:cs typeface="+mn-cs"/>
              </a:rPr>
              <a:t>P</a:t>
            </a:r>
            <a:endPar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mn-cs"/>
            </a:endParaRPr>
          </a:p>
        </p:txBody>
      </p:sp>
      <p:sp>
        <p:nvSpPr>
          <p:cNvPr id="45"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srgbClr val="898989"/>
                </a:solidFill>
                <a:effectLst/>
                <a:uLnTx/>
                <a:uFillTx/>
                <a:latin typeface="Calibri" panose="020F0502020204030204" pitchFamily="34" charset="0"/>
                <a:cs typeface="+mn-cs"/>
              </a:rPr>
              <a:t>Adapted from </a:t>
            </a:r>
            <a:r>
              <a:rPr kumimoji="0" lang="en-US" altLang="zh-CN" sz="900" b="0" i="1" u="none" strike="noStrike" kern="1200" cap="none" spc="0" normalizeH="0" baseline="0" noProof="0">
                <a:ln>
                  <a:noFill/>
                </a:ln>
                <a:solidFill>
                  <a:srgbClr val="898989"/>
                </a:solidFill>
                <a:effectLst/>
                <a:uLnTx/>
                <a:uFillTx/>
                <a:latin typeface="Calibri" panose="020F0502020204030204" pitchFamily="34" charset="0"/>
                <a:cs typeface="+mn-cs"/>
              </a:rPr>
              <a:t>Forest Economics </a:t>
            </a:r>
            <a:r>
              <a:rPr kumimoji="0" lang="en-US" altLang="zh-CN" sz="900" b="0" i="0" u="none" strike="noStrike" kern="1200" cap="none" spc="0" normalizeH="0" baseline="0" noProof="0">
                <a:ln>
                  <a:noFill/>
                </a:ln>
                <a:solidFill>
                  <a:srgbClr val="898989"/>
                </a:solidFill>
                <a:effectLst/>
                <a:uLnTx/>
                <a:uFillTx/>
                <a:latin typeface="Calibri" panose="020F0502020204030204" pitchFamily="34" charset="0"/>
                <a:cs typeface="+mn-cs"/>
              </a:rPr>
              <a:t>by Daowei Zhang and Peter H. Pearse, published by UBC Press, 2011. </a:t>
            </a:r>
            <a:endParaRPr kumimoji="0" lang="en-CA" sz="9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cxnSp>
        <p:nvCxnSpPr>
          <p:cNvPr id="3" name="直接连接符 2"/>
          <p:cNvCxnSpPr/>
          <p:nvPr/>
        </p:nvCxnSpPr>
        <p:spPr>
          <a:xfrm>
            <a:off x="3448680" y="2212375"/>
            <a:ext cx="1566000" cy="2686428"/>
          </a:xfrm>
          <a:prstGeom prst="line">
            <a:avLst/>
          </a:prstGeom>
        </p:spPr>
        <p:style>
          <a:lnRef idx="3">
            <a:schemeClr val="accent2"/>
          </a:lnRef>
          <a:fillRef idx="0">
            <a:schemeClr val="accent2"/>
          </a:fillRef>
          <a:effectRef idx="2">
            <a:schemeClr val="accent2"/>
          </a:effectRef>
          <a:fontRef idx="minor">
            <a:schemeClr val="tx1"/>
          </a:fontRef>
        </p:style>
      </p:cxnSp>
      <p:cxnSp>
        <p:nvCxnSpPr>
          <p:cNvPr id="47" name="直接连接符 46"/>
          <p:cNvCxnSpPr/>
          <p:nvPr/>
        </p:nvCxnSpPr>
        <p:spPr>
          <a:xfrm flipV="1">
            <a:off x="3203848" y="1844824"/>
            <a:ext cx="2818093" cy="2882027"/>
          </a:xfrm>
          <a:prstGeom prst="line">
            <a:avLst/>
          </a:prstGeom>
          <a:ln>
            <a:solidFill>
              <a:srgbClr val="FFFF00"/>
            </a:solidFill>
          </a:ln>
        </p:spPr>
        <p:style>
          <a:lnRef idx="3">
            <a:schemeClr val="accent2"/>
          </a:lnRef>
          <a:fillRef idx="0">
            <a:schemeClr val="accent2"/>
          </a:fillRef>
          <a:effectRef idx="2">
            <a:schemeClr val="accent2"/>
          </a:effectRef>
          <a:fontRef idx="minor">
            <a:schemeClr val="tx1"/>
          </a:fontRef>
        </p:style>
      </p:cxnSp>
      <p:sp>
        <p:nvSpPr>
          <p:cNvPr id="9" name="椭圆 8"/>
          <p:cNvSpPr/>
          <p:nvPr/>
        </p:nvSpPr>
        <p:spPr>
          <a:xfrm>
            <a:off x="4230568" y="3555589"/>
            <a:ext cx="138249" cy="13824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2AA4C">
                  <a:lumMod val="75000"/>
                </a:srgbClr>
              </a:solidFill>
              <a:effectLst/>
              <a:uLnTx/>
              <a:uFillTx/>
              <a:latin typeface="Century Gothic" panose="020B0502020202020204"/>
              <a:cs typeface="+mn-cs"/>
            </a:endParaRPr>
          </a:p>
        </p:txBody>
      </p:sp>
      <p:sp>
        <p:nvSpPr>
          <p:cNvPr id="53" name="椭圆 52"/>
          <p:cNvSpPr/>
          <p:nvPr/>
        </p:nvSpPr>
        <p:spPr>
          <a:xfrm>
            <a:off x="5292080" y="2498663"/>
            <a:ext cx="138249" cy="13824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2AA4C">
                  <a:lumMod val="75000"/>
                </a:srgbClr>
              </a:solidFill>
              <a:effectLst/>
              <a:uLnTx/>
              <a:uFillTx/>
              <a:latin typeface="Century Gothic" panose="020B0502020202020204"/>
              <a:cs typeface="+mn-cs"/>
            </a:endParaRPr>
          </a:p>
        </p:txBody>
      </p:sp>
      <p:sp>
        <p:nvSpPr>
          <p:cNvPr id="55" name="椭圆 54"/>
          <p:cNvSpPr/>
          <p:nvPr/>
        </p:nvSpPr>
        <p:spPr>
          <a:xfrm>
            <a:off x="5623134" y="3014560"/>
            <a:ext cx="138249" cy="138249"/>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2AA4C">
                  <a:lumMod val="75000"/>
                </a:srgbClr>
              </a:solidFill>
              <a:effectLst/>
              <a:uLnTx/>
              <a:uFillTx/>
              <a:latin typeface="Century Gothic" panose="020B0502020202020204"/>
              <a:cs typeface="+mn-cs"/>
            </a:endParaRPr>
          </a:p>
        </p:txBody>
      </p:sp>
      <p:cxnSp>
        <p:nvCxnSpPr>
          <p:cNvPr id="13" name="直接连接符 12"/>
          <p:cNvCxnSpPr/>
          <p:nvPr/>
        </p:nvCxnSpPr>
        <p:spPr>
          <a:xfrm flipV="1">
            <a:off x="2513893" y="2519453"/>
            <a:ext cx="4511879" cy="1858888"/>
          </a:xfrm>
          <a:prstGeom prst="line">
            <a:avLst/>
          </a:prstGeom>
          <a:ln>
            <a:prstDash val="dashDot"/>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left)">
                                      <p:cBhvr>
                                        <p:cTn id="12" dur="500"/>
                                        <p:tgtEl>
                                          <p:spTgt spid="47"/>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par>
                          <p:cTn id="16" fill="hold">
                            <p:stCondLst>
                              <p:cond delay="500"/>
                            </p:stCondLst>
                            <p:childTnLst>
                              <p:par>
                                <p:cTn id="17" presetID="26" presetClass="emph" presetSubtype="0" repeatCount="3000" fill="hold" grpId="1" nodeType="afterEffect">
                                  <p:stCondLst>
                                    <p:cond delay="0"/>
                                  </p:stCondLst>
                                  <p:childTnLst>
                                    <p:animEffect transition="out" filter="fade">
                                      <p:cBhvr>
                                        <p:cTn id="18" dur="1000" tmFilter="0, 0; .2, .5; .8, .5; 1, 0"/>
                                        <p:tgtEl>
                                          <p:spTgt spid="9"/>
                                        </p:tgtEl>
                                      </p:cBhvr>
                                    </p:animEffect>
                                    <p:animScale>
                                      <p:cBhvr>
                                        <p:cTn id="19" dur="500" autoRev="1" fill="hold"/>
                                        <p:tgtEl>
                                          <p:spTgt spid="9"/>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3.61111E-6 1.48148E-6 L 0.179 -0.01852 " pathEditMode="relative" rAng="0" ptsTypes="AA">
                                      <p:cBhvr>
                                        <p:cTn id="23" dur="2000" fill="hold"/>
                                        <p:tgtEl>
                                          <p:spTgt spid="3"/>
                                        </p:tgtEl>
                                        <p:attrNameLst>
                                          <p:attrName>ppt_x</p:attrName>
                                          <p:attrName>ppt_y</p:attrName>
                                        </p:attrNameLst>
                                      </p:cBhvr>
                                      <p:rCtr x="8941" y="-926"/>
                                    </p:animMotion>
                                  </p:childTnLst>
                                </p:cTn>
                              </p:par>
                            </p:childTnLst>
                          </p:cTn>
                        </p:par>
                        <p:par>
                          <p:cTn id="24" fill="hold">
                            <p:stCondLst>
                              <p:cond delay="2000"/>
                            </p:stCondLst>
                            <p:childTnLst>
                              <p:par>
                                <p:cTn id="25" presetID="1" presetClass="entr" presetSubtype="0" fill="hold" grpId="0" nodeType="after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par>
                          <p:cTn id="27" fill="hold">
                            <p:stCondLst>
                              <p:cond delay="2000"/>
                            </p:stCondLst>
                            <p:childTnLst>
                              <p:par>
                                <p:cTn id="28" presetID="26" presetClass="emph" presetSubtype="0" repeatCount="3000" fill="hold" grpId="1" nodeType="afterEffect">
                                  <p:stCondLst>
                                    <p:cond delay="0"/>
                                  </p:stCondLst>
                                  <p:childTnLst>
                                    <p:animEffect transition="out" filter="fade">
                                      <p:cBhvr>
                                        <p:cTn id="29" dur="1000" tmFilter="0, 0; .2, .5; .8, .5; 1, 0"/>
                                        <p:tgtEl>
                                          <p:spTgt spid="53"/>
                                        </p:tgtEl>
                                      </p:cBhvr>
                                    </p:animEffect>
                                    <p:animScale>
                                      <p:cBhvr>
                                        <p:cTn id="30" dur="500" autoRev="1" fill="hold"/>
                                        <p:tgtEl>
                                          <p:spTgt spid="53"/>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nodeType="clickEffect">
                                  <p:stCondLst>
                                    <p:cond delay="0"/>
                                  </p:stCondLst>
                                  <p:childTnLst>
                                    <p:animMotion origin="layout" path="M -2.77778E-7 3.33333E-6 L 0.04288 0.07338 " pathEditMode="relative" rAng="0" ptsTypes="AA">
                                      <p:cBhvr>
                                        <p:cTn id="34" dur="2000" fill="hold"/>
                                        <p:tgtEl>
                                          <p:spTgt spid="47"/>
                                        </p:tgtEl>
                                        <p:attrNameLst>
                                          <p:attrName>ppt_x</p:attrName>
                                          <p:attrName>ppt_y</p:attrName>
                                        </p:attrNameLst>
                                      </p:cBhvr>
                                      <p:rCtr x="2135" y="3657"/>
                                    </p:animMotion>
                                  </p:childTnLst>
                                </p:cTn>
                              </p:par>
                            </p:childTnLst>
                          </p:cTn>
                        </p:par>
                        <p:par>
                          <p:cTn id="35" fill="hold">
                            <p:stCondLst>
                              <p:cond delay="2000"/>
                            </p:stCondLst>
                            <p:childTnLst>
                              <p:par>
                                <p:cTn id="36" presetID="1" presetClass="entr" presetSubtype="0" fill="hold" grpId="0" nodeType="afterEffect">
                                  <p:stCondLst>
                                    <p:cond delay="0"/>
                                  </p:stCondLst>
                                  <p:childTnLst>
                                    <p:set>
                                      <p:cBhvr>
                                        <p:cTn id="37" dur="1" fill="hold">
                                          <p:stCondLst>
                                            <p:cond delay="0"/>
                                          </p:stCondLst>
                                        </p:cTn>
                                        <p:tgtEl>
                                          <p:spTgt spid="55"/>
                                        </p:tgtEl>
                                        <p:attrNameLst>
                                          <p:attrName>style.visibility</p:attrName>
                                        </p:attrNameLst>
                                      </p:cBhvr>
                                      <p:to>
                                        <p:strVal val="visible"/>
                                      </p:to>
                                    </p:set>
                                  </p:childTnLst>
                                </p:cTn>
                              </p:par>
                            </p:childTnLst>
                          </p:cTn>
                        </p:par>
                        <p:par>
                          <p:cTn id="38" fill="hold">
                            <p:stCondLst>
                              <p:cond delay="2000"/>
                            </p:stCondLst>
                            <p:childTnLst>
                              <p:par>
                                <p:cTn id="39" presetID="26" presetClass="emph" presetSubtype="0" repeatCount="3000" fill="hold" grpId="1" nodeType="afterEffect">
                                  <p:stCondLst>
                                    <p:cond delay="0"/>
                                  </p:stCondLst>
                                  <p:childTnLst>
                                    <p:animEffect transition="out" filter="fade">
                                      <p:cBhvr>
                                        <p:cTn id="40" dur="1000" tmFilter="0, 0; .2, .5; .8, .5; 1, 0"/>
                                        <p:tgtEl>
                                          <p:spTgt spid="55"/>
                                        </p:tgtEl>
                                      </p:cBhvr>
                                    </p:animEffect>
                                    <p:animScale>
                                      <p:cBhvr>
                                        <p:cTn id="41" dur="500" autoRev="1" fill="hold"/>
                                        <p:tgtEl>
                                          <p:spTgt spid="55"/>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down)">
                                      <p:cBhvr>
                                        <p:cTn id="4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53" grpId="0" animBg="1"/>
      <p:bldP spid="53" grpId="1" animBg="1"/>
      <p:bldP spid="55" grpId="0" animBg="1"/>
      <p:bldP spid="5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0"/>
          <p:cNvSpPr>
            <a:spLocks noChangeArrowheads="1"/>
          </p:cNvSpPr>
          <p:nvPr/>
        </p:nvSpPr>
        <p:spPr bwMode="auto">
          <a:xfrm>
            <a:off x="1116013" y="700088"/>
            <a:ext cx="7416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Figure 4.6: Timber demand and supply for timber in short and long-run</a:t>
            </a:r>
            <a:endParaRPr kumimoji="0" lang="en-CA"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nvGrpSpPr>
          <p:cNvPr id="18435" name="Group 2"/>
          <p:cNvGrpSpPr/>
          <p:nvPr/>
        </p:nvGrpSpPr>
        <p:grpSpPr bwMode="auto">
          <a:xfrm>
            <a:off x="1027113" y="1628775"/>
            <a:ext cx="7073900" cy="4248150"/>
            <a:chOff x="2604" y="1338"/>
            <a:chExt cx="7005" cy="4569"/>
          </a:xfrm>
        </p:grpSpPr>
        <p:sp>
          <p:nvSpPr>
            <p:cNvPr id="18439" name="Text Box 1811"/>
            <p:cNvSpPr txBox="1">
              <a:spLocks noChangeArrowheads="1"/>
            </p:cNvSpPr>
            <p:nvPr/>
          </p:nvSpPr>
          <p:spPr bwMode="auto">
            <a:xfrm>
              <a:off x="3594" y="2832"/>
              <a:ext cx="33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71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5715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p</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0" name="Text Box 1812"/>
            <p:cNvSpPr txBox="1">
              <a:spLocks noChangeArrowheads="1"/>
            </p:cNvSpPr>
            <p:nvPr/>
          </p:nvSpPr>
          <p:spPr bwMode="auto">
            <a:xfrm>
              <a:off x="3886" y="2715"/>
              <a:ext cx="1846"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Equilibrium price</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1" name="Text Box 1813"/>
            <p:cNvSpPr txBox="1">
              <a:spLocks noChangeArrowheads="1"/>
            </p:cNvSpPr>
            <p:nvPr/>
          </p:nvSpPr>
          <p:spPr bwMode="auto">
            <a:xfrm>
              <a:off x="7776" y="4140"/>
              <a:ext cx="1034"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Demand</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2" name="Text Box 1814"/>
            <p:cNvSpPr txBox="1">
              <a:spLocks noChangeArrowheads="1"/>
            </p:cNvSpPr>
            <p:nvPr/>
          </p:nvSpPr>
          <p:spPr bwMode="auto">
            <a:xfrm>
              <a:off x="7776" y="2397"/>
              <a:ext cx="1833"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Very long-run supply</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3" name="Text Box 1815"/>
            <p:cNvSpPr txBox="1">
              <a:spLocks noChangeArrowheads="1"/>
            </p:cNvSpPr>
            <p:nvPr/>
          </p:nvSpPr>
          <p:spPr bwMode="auto">
            <a:xfrm>
              <a:off x="7275" y="1920"/>
              <a:ext cx="1417"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Long-run supply</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4" name="Text Box 1816"/>
            <p:cNvSpPr txBox="1">
              <a:spLocks noChangeArrowheads="1"/>
            </p:cNvSpPr>
            <p:nvPr/>
          </p:nvSpPr>
          <p:spPr bwMode="auto">
            <a:xfrm>
              <a:off x="6776" y="1338"/>
              <a:ext cx="1774"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2AA4C">
                      <a:lumMod val="75000"/>
                    </a:srgbClr>
                  </a:solidFill>
                  <a:effectLst/>
                  <a:uLnTx/>
                  <a:uFillTx/>
                  <a:latin typeface="Times New Roman" panose="02020603050405020304" pitchFamily="18" charset="0"/>
                  <a:cs typeface="Times New Roman" panose="02020603050405020304" pitchFamily="18" charset="0"/>
                </a:rPr>
                <a:t>Short-run supply</a:t>
              </a:r>
              <a:endParaRPr kumimoji="0" lang="en-CA" sz="1800" b="0" i="0" u="none" strike="noStrike" kern="1200" cap="none" spc="0" normalizeH="0" baseline="0" noProof="0" dirty="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5" name="Text Box 1817"/>
            <p:cNvSpPr txBox="1">
              <a:spLocks noChangeArrowheads="1"/>
            </p:cNvSpPr>
            <p:nvPr/>
          </p:nvSpPr>
          <p:spPr bwMode="auto">
            <a:xfrm>
              <a:off x="3568" y="4812"/>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0</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18446" name="Text Box 1819"/>
            <p:cNvSpPr txBox="1">
              <a:spLocks noChangeArrowheads="1"/>
            </p:cNvSpPr>
            <p:nvPr/>
          </p:nvSpPr>
          <p:spPr bwMode="auto">
            <a:xfrm>
              <a:off x="2604" y="1625"/>
              <a:ext cx="1245"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143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11430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Price ($)</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cxnSp>
          <p:nvCxnSpPr>
            <p:cNvPr id="18447" name="AutoShape 1820"/>
            <p:cNvCxnSpPr>
              <a:cxnSpLocks noChangeShapeType="1"/>
            </p:cNvCxnSpPr>
            <p:nvPr/>
          </p:nvCxnSpPr>
          <p:spPr bwMode="auto">
            <a:xfrm>
              <a:off x="3923" y="4931"/>
              <a:ext cx="4910"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4" name="AutoShape 1821"/>
            <p:cNvCxnSpPr>
              <a:cxnSpLocks noChangeShapeType="1"/>
            </p:cNvCxnSpPr>
            <p:nvPr/>
          </p:nvCxnSpPr>
          <p:spPr bwMode="auto">
            <a:xfrm>
              <a:off x="3923" y="1615"/>
              <a:ext cx="2" cy="3316"/>
            </a:xfrm>
            <a:prstGeom prst="straightConnector1">
              <a:avLst/>
            </a:prstGeom>
            <a:noFill/>
            <a:ln w="9525">
              <a:solidFill>
                <a:schemeClr val="tx1">
                  <a:lumMod val="100000"/>
                  <a:lumOff val="0"/>
                </a:schemeClr>
              </a:solidFill>
              <a:round/>
            </a:ln>
          </p:spPr>
        </p:cxnSp>
        <p:sp>
          <p:nvSpPr>
            <p:cNvPr id="18449" name="Text Box 1822"/>
            <p:cNvSpPr txBox="1">
              <a:spLocks noChangeArrowheads="1"/>
            </p:cNvSpPr>
            <p:nvPr/>
          </p:nvSpPr>
          <p:spPr bwMode="auto">
            <a:xfrm>
              <a:off x="3894" y="5325"/>
              <a:ext cx="5011"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Quantity of timber demanded and supplied per period</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cxnSp>
          <p:nvCxnSpPr>
            <p:cNvPr id="18450" name="AutoShape 1823"/>
            <p:cNvCxnSpPr>
              <a:cxnSpLocks noChangeShapeType="1"/>
            </p:cNvCxnSpPr>
            <p:nvPr/>
          </p:nvCxnSpPr>
          <p:spPr bwMode="auto">
            <a:xfrm>
              <a:off x="4603" y="2070"/>
              <a:ext cx="3270" cy="2220"/>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8451" name="AutoShape 1824"/>
            <p:cNvCxnSpPr>
              <a:cxnSpLocks noChangeShapeType="1"/>
            </p:cNvCxnSpPr>
            <p:nvPr/>
          </p:nvCxnSpPr>
          <p:spPr bwMode="auto">
            <a:xfrm flipV="1">
              <a:off x="5503" y="1770"/>
              <a:ext cx="1290" cy="2430"/>
            </a:xfrm>
            <a:prstGeom prst="straightConnector1">
              <a:avLst/>
            </a:prstGeom>
            <a:noFill/>
            <a:ln w="19050">
              <a:solidFill>
                <a:srgbClr val="000000"/>
              </a:solidFill>
              <a:round/>
            </a:ln>
            <a:extLst>
              <a:ext uri="{909E8E84-426E-40DD-AFC4-6F175D3DCCD1}">
                <a14:hiddenFill xmlns:a14="http://schemas.microsoft.com/office/drawing/2010/main">
                  <a:noFill/>
                </a14:hiddenFill>
              </a:ext>
            </a:extLst>
          </p:spPr>
        </p:cxnSp>
        <p:cxnSp>
          <p:nvCxnSpPr>
            <p:cNvPr id="18452" name="AutoShape 1825"/>
            <p:cNvCxnSpPr>
              <a:cxnSpLocks noChangeShapeType="1"/>
            </p:cNvCxnSpPr>
            <p:nvPr/>
          </p:nvCxnSpPr>
          <p:spPr bwMode="auto">
            <a:xfrm flipV="1">
              <a:off x="5083" y="2247"/>
              <a:ext cx="2011" cy="1695"/>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18453" name="AutoShape 1826"/>
            <p:cNvCxnSpPr>
              <a:cxnSpLocks noChangeShapeType="1"/>
            </p:cNvCxnSpPr>
            <p:nvPr/>
          </p:nvCxnSpPr>
          <p:spPr bwMode="auto">
            <a:xfrm flipV="1">
              <a:off x="4873" y="2715"/>
              <a:ext cx="2790" cy="672"/>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8454" name="AutoShape 1827"/>
            <p:cNvCxnSpPr>
              <a:cxnSpLocks noChangeShapeType="1"/>
            </p:cNvCxnSpPr>
            <p:nvPr/>
          </p:nvCxnSpPr>
          <p:spPr bwMode="auto">
            <a:xfrm>
              <a:off x="3923" y="3090"/>
              <a:ext cx="2210"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18455" name="AutoShape 1828"/>
            <p:cNvCxnSpPr>
              <a:cxnSpLocks noChangeShapeType="1"/>
            </p:cNvCxnSpPr>
            <p:nvPr/>
          </p:nvCxnSpPr>
          <p:spPr bwMode="auto">
            <a:xfrm flipH="1">
              <a:off x="6088" y="3136"/>
              <a:ext cx="30" cy="1782"/>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grpSp>
      <p:sp>
        <p:nvSpPr>
          <p:cNvPr id="18436" name="Rectangle 31"/>
          <p:cNvSpPr>
            <a:spLocks noChangeArrowheads="1"/>
          </p:cNvSpPr>
          <p:nvPr/>
        </p:nvSpPr>
        <p:spPr bwMode="auto">
          <a:xfrm>
            <a:off x="0" y="3163888"/>
            <a:ext cx="10985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Roman 10cpi"/>
                <a:cs typeface="Times New Roman" panose="02020603050405020304" pitchFamily="18" charset="0"/>
              </a:rPr>
              <a:t>	</a:t>
            </a:r>
            <a:endParaRPr kumimoji="0" lang="en-US" altLang="zh-CN" sz="1800" b="0" i="0" u="none" strike="noStrike" kern="1200" cap="none" spc="0" normalizeH="0" baseline="0" noProof="0">
              <a:ln>
                <a:noFill/>
              </a:ln>
              <a:solidFill>
                <a:prstClr val="black"/>
              </a:solidFill>
              <a:effectLst/>
              <a:uLnTx/>
              <a:uFillTx/>
              <a:latin typeface="Century Gothic" panose="020B0502020202020204"/>
              <a:ea typeface="Roman 10cpi"/>
              <a:cs typeface="Times New Roman" panose="02020603050405020304" pitchFamily="18" charset="0"/>
            </a:endParaRPr>
          </a:p>
        </p:txBody>
      </p:sp>
      <p:sp>
        <p:nvSpPr>
          <p:cNvPr id="18437" name="Rectangle 22"/>
          <p:cNvSpPr>
            <a:spLocks noChangeArrowheads="1"/>
          </p:cNvSpPr>
          <p:nvPr/>
        </p:nvSpPr>
        <p:spPr bwMode="auto">
          <a:xfrm>
            <a:off x="4406900" y="4957763"/>
            <a:ext cx="454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57150" algn="l" defTabSz="457200" rtl="0" eaLnBrk="1" fontAlgn="auto" latinLnBrk="0" hangingPunct="1">
              <a:lnSpc>
                <a:spcPct val="100000"/>
              </a:lnSpc>
              <a:spcBef>
                <a:spcPts val="0"/>
              </a:spcBef>
              <a:spcAft>
                <a:spcPts val="0"/>
              </a:spcAft>
              <a:buClrTx/>
              <a:buSzTx/>
              <a:buFontTx/>
              <a:buNone/>
              <a:defRPr/>
            </a:pPr>
            <a:r>
              <a:rPr kumimoji="0" lang="en-US" altLang="zh-CN" sz="1800" b="0" i="1" u="none" strike="noStrike" kern="1200" cap="none" spc="0" normalizeH="0" baseline="0" noProof="0">
                <a:ln>
                  <a:noFill/>
                </a:ln>
                <a:solidFill>
                  <a:srgbClr val="92AA4C">
                    <a:lumMod val="75000"/>
                  </a:srgbClr>
                </a:solidFill>
                <a:effectLst/>
                <a:uLnTx/>
                <a:uFillTx/>
                <a:latin typeface="Times New Roman" panose="02020603050405020304" pitchFamily="18" charset="0"/>
                <a:cs typeface="Times New Roman" panose="02020603050405020304" pitchFamily="18" charset="0"/>
              </a:rPr>
              <a:t>q</a:t>
            </a:r>
            <a:endParaRPr kumimoji="0" lang="en-CA" sz="1800" b="0" i="0" u="none" strike="noStrike" kern="1200" cap="none" spc="0" normalizeH="0" baseline="0" noProof="0">
              <a:ln>
                <a:noFill/>
              </a:ln>
              <a:solidFill>
                <a:srgbClr val="92AA4C">
                  <a:lumMod val="75000"/>
                </a:srgbClr>
              </a:solidFill>
              <a:effectLst/>
              <a:uLnTx/>
              <a:uFillTx/>
              <a:latin typeface="Roman 10cpi"/>
              <a:ea typeface="+mn-ea"/>
              <a:cs typeface="Times New Roman" panose="02020603050405020304" pitchFamily="18" charset="0"/>
            </a:endParaRPr>
          </a:p>
        </p:txBody>
      </p:sp>
      <p:sp>
        <p:nvSpPr>
          <p:cNvPr id="24"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srgbClr val="898989"/>
                </a:solidFill>
                <a:effectLst/>
                <a:uLnTx/>
                <a:uFillTx/>
                <a:latin typeface="Calibri" panose="020F0502020204030204" pitchFamily="34" charset="0"/>
                <a:cs typeface="+mn-cs"/>
              </a:rPr>
              <a:t>Adapted from </a:t>
            </a:r>
            <a:r>
              <a:rPr kumimoji="0" lang="en-US" altLang="zh-CN" sz="900" b="0" i="1" u="none" strike="noStrike" kern="1200" cap="none" spc="0" normalizeH="0" baseline="0" noProof="0">
                <a:ln>
                  <a:noFill/>
                </a:ln>
                <a:solidFill>
                  <a:srgbClr val="898989"/>
                </a:solidFill>
                <a:effectLst/>
                <a:uLnTx/>
                <a:uFillTx/>
                <a:latin typeface="Calibri" panose="020F0502020204030204" pitchFamily="34" charset="0"/>
                <a:cs typeface="+mn-cs"/>
              </a:rPr>
              <a:t>Forest Economics </a:t>
            </a:r>
            <a:r>
              <a:rPr kumimoji="0" lang="en-US" altLang="zh-CN" sz="900" b="0" i="0" u="none" strike="noStrike" kern="1200" cap="none" spc="0" normalizeH="0" baseline="0" noProof="0">
                <a:ln>
                  <a:noFill/>
                </a:ln>
                <a:solidFill>
                  <a:srgbClr val="898989"/>
                </a:solidFill>
                <a:effectLst/>
                <a:uLnTx/>
                <a:uFillTx/>
                <a:latin typeface="Calibri" panose="020F0502020204030204" pitchFamily="34" charset="0"/>
                <a:cs typeface="+mn-cs"/>
              </a:rPr>
              <a:t>by Daowei Zhang and Peter H. Pearse, published by UBC Press, 2011. </a:t>
            </a:r>
            <a:endParaRPr kumimoji="0" lang="en-CA" sz="9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cxnSp>
        <p:nvCxnSpPr>
          <p:cNvPr id="3" name="直接连接符 2"/>
          <p:cNvCxnSpPr/>
          <p:nvPr/>
        </p:nvCxnSpPr>
        <p:spPr>
          <a:xfrm flipV="1">
            <a:off x="3954627" y="2030439"/>
            <a:ext cx="1285521" cy="2259358"/>
          </a:xfrm>
          <a:prstGeom prst="line">
            <a:avLst/>
          </a:prstGeom>
        </p:spPr>
        <p:style>
          <a:lnRef idx="3">
            <a:schemeClr val="accent3"/>
          </a:lnRef>
          <a:fillRef idx="0">
            <a:schemeClr val="accent3"/>
          </a:fillRef>
          <a:effectRef idx="2">
            <a:schemeClr val="accent3"/>
          </a:effectRef>
          <a:fontRef idx="minor">
            <a:schemeClr val="tx1"/>
          </a:fontRef>
        </p:style>
      </p:cxnSp>
      <p:cxnSp>
        <p:nvCxnSpPr>
          <p:cNvPr id="26" name="直接连接符 25"/>
          <p:cNvCxnSpPr/>
          <p:nvPr/>
        </p:nvCxnSpPr>
        <p:spPr>
          <a:xfrm flipV="1">
            <a:off x="3530496" y="2473942"/>
            <a:ext cx="2030780" cy="1575973"/>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接连接符 28"/>
          <p:cNvCxnSpPr/>
          <p:nvPr/>
        </p:nvCxnSpPr>
        <p:spPr>
          <a:xfrm flipV="1">
            <a:off x="3318431" y="2909078"/>
            <a:ext cx="2817441" cy="624811"/>
          </a:xfrm>
          <a:prstGeom prst="line">
            <a:avLst/>
          </a:prstGeom>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down)">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立木价格的决定因素</a:t>
            </a:r>
            <a:endParaRPr lang="zh-CN" altLang="en-US" dirty="0"/>
          </a:p>
        </p:txBody>
      </p:sp>
      <p:sp>
        <p:nvSpPr>
          <p:cNvPr id="3" name="内容占位符 2"/>
          <p:cNvSpPr>
            <a:spLocks noGrp="1"/>
          </p:cNvSpPr>
          <p:nvPr>
            <p:ph idx="1"/>
          </p:nvPr>
        </p:nvSpPr>
        <p:spPr/>
        <p:txBody>
          <a:bodyPr/>
          <a:lstStyle/>
          <a:p>
            <a:r>
              <a:rPr lang="zh-CN" altLang="en-US" dirty="0"/>
              <a:t>树种组成</a:t>
            </a:r>
            <a:endParaRPr lang="en-US" altLang="zh-CN" dirty="0"/>
          </a:p>
          <a:p>
            <a:r>
              <a:rPr lang="zh-CN" altLang="en-US" dirty="0"/>
              <a:t>木材的大小和质量（产品组合）</a:t>
            </a:r>
            <a:endParaRPr lang="en-US" altLang="zh-CN" dirty="0"/>
          </a:p>
          <a:p>
            <a:r>
              <a:rPr lang="zh-CN" altLang="en-US" dirty="0"/>
              <a:t>活立木密度（影响采伐成本）</a:t>
            </a:r>
            <a:endParaRPr lang="en-US" altLang="zh-CN" dirty="0"/>
          </a:p>
          <a:p>
            <a:r>
              <a:rPr lang="zh-CN" altLang="en-US" dirty="0"/>
              <a:t>集材道大小及所处的地形，活立木与集材道间的距离（影响采伐成本）</a:t>
            </a:r>
            <a:endParaRPr lang="en-US" altLang="zh-CN" dirty="0"/>
          </a:p>
          <a:p>
            <a:r>
              <a:rPr lang="zh-CN" altLang="en-US" dirty="0"/>
              <a:t>位置（与市场或加工厂间的距离）</a:t>
            </a:r>
            <a:endParaRPr lang="zh-CN" altLang="en-US" dirty="0"/>
          </a:p>
          <a:p>
            <a:r>
              <a:rPr lang="zh-CN" altLang="en-US" dirty="0"/>
              <a:t>法律法规</a:t>
            </a:r>
            <a:endParaRPr lang="en-US" altLang="zh-CN" dirty="0"/>
          </a:p>
          <a:p>
            <a:r>
              <a:rPr lang="zh-CN" altLang="en-US" dirty="0"/>
              <a:t>销售方式</a:t>
            </a:r>
            <a:endParaRPr lang="en-US" altLang="zh-CN" dirty="0"/>
          </a:p>
          <a:p>
            <a:r>
              <a:rPr lang="en-US" altLang="zh-CN" dirty="0"/>
              <a:t>……</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p:txBody>
          <a:bodyPr/>
          <a:lstStyle/>
          <a:p>
            <a:r>
              <a:rPr lang="en-US" altLang="zh-CN" b="1" dirty="0"/>
              <a:t>Unpriced Forest Values </a:t>
            </a:r>
            <a:endParaRPr lang="zh-CN" altLang="en-US" dirty="0"/>
          </a:p>
        </p:txBody>
      </p:sp>
      <p:sp>
        <p:nvSpPr>
          <p:cNvPr id="3" name="副标题 2"/>
          <p:cNvSpPr>
            <a:spLocks noGrp="1"/>
          </p:cNvSpPr>
          <p:nvPr>
            <p:ph type="subTitle" idx="1"/>
          </p:nvPr>
        </p:nvSpPr>
        <p:spPr/>
        <p:txBody>
          <a:bodyPr rtlCol="0">
            <a:normAutofit/>
          </a:bodyPr>
          <a:lstStyle/>
          <a:p>
            <a:pPr fontAlgn="auto">
              <a:spcAft>
                <a:spcPts val="0"/>
              </a:spcAft>
              <a:defRPr/>
            </a:pPr>
            <a:r>
              <a:rPr lang="zh-CN" altLang="en-US" dirty="0"/>
              <a:t>无市场价格的森林价值</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en-US" altLang="zh-CN" dirty="0"/>
              <a:t>Contents</a:t>
            </a:r>
            <a:endParaRPr lang="zh-CN" altLang="en-US" dirty="0"/>
          </a:p>
        </p:txBody>
      </p:sp>
      <p:sp>
        <p:nvSpPr>
          <p:cNvPr id="6147" name="内容占位符 2"/>
          <p:cNvSpPr>
            <a:spLocks noGrp="1"/>
          </p:cNvSpPr>
          <p:nvPr>
            <p:ph idx="1"/>
          </p:nvPr>
        </p:nvSpPr>
        <p:spPr>
          <a:xfrm>
            <a:off x="467544" y="1340768"/>
            <a:ext cx="8352928" cy="5184576"/>
          </a:xfrm>
        </p:spPr>
        <p:txBody>
          <a:bodyPr/>
          <a:lstStyle/>
          <a:p>
            <a:r>
              <a:rPr lang="en-US" altLang="zh-CN" dirty="0"/>
              <a:t>Unpriced Values: A Problem of Measurement </a:t>
            </a:r>
            <a:endParaRPr lang="en-US" altLang="zh-CN" dirty="0"/>
          </a:p>
          <a:p>
            <a:r>
              <a:rPr lang="en-US" altLang="zh-CN" dirty="0"/>
              <a:t>Consumer Surplus as a Measure of Value </a:t>
            </a:r>
            <a:endParaRPr lang="en-US" altLang="zh-CN" dirty="0"/>
          </a:p>
          <a:p>
            <a:r>
              <a:rPr lang="en-US" altLang="zh-CN" dirty="0"/>
              <a:t>Evaluating </a:t>
            </a:r>
            <a:r>
              <a:rPr lang="en-US" altLang="zh-CN" dirty="0" err="1"/>
              <a:t>Unpriced</a:t>
            </a:r>
            <a:r>
              <a:rPr lang="en-US" altLang="zh-CN" dirty="0"/>
              <a:t> Recreation</a:t>
            </a:r>
            <a:endParaRPr lang="en-US" altLang="zh-CN" dirty="0"/>
          </a:p>
          <a:p>
            <a:r>
              <a:rPr lang="en-US" altLang="zh-CN" dirty="0"/>
              <a:t>Other Considerations in Valuing Recreational Resources</a:t>
            </a:r>
            <a:endParaRPr lang="en-US" altLang="zh-CN" dirty="0"/>
          </a:p>
          <a:p>
            <a:r>
              <a:rPr lang="en-US" altLang="zh-CN" dirty="0"/>
              <a:t>Externalities and Intrinsic Value </a:t>
            </a:r>
            <a:endParaRPr lang="en-US" altLang="zh-CN" dirty="0"/>
          </a:p>
          <a:p>
            <a:r>
              <a:rPr lang="en-US" altLang="zh-CN" dirty="0"/>
              <a:t>Other Practical Complications</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2312" y="4406900"/>
            <a:ext cx="8242175" cy="1758404"/>
          </a:xfrm>
        </p:spPr>
        <p:txBody>
          <a:bodyPr>
            <a:normAutofit/>
          </a:bodyPr>
          <a:lstStyle/>
          <a:p>
            <a:r>
              <a:rPr lang="en-US" altLang="zh-CN" cap="none" dirty="0"/>
              <a:t>Unpriced Values: A Problem of Measurement</a:t>
            </a:r>
            <a:endParaRPr lang="zh-CN" altLang="en-US" cap="none" dirty="0"/>
          </a:p>
        </p:txBody>
      </p:sp>
      <p:sp>
        <p:nvSpPr>
          <p:cNvPr id="3" name="文本占位符 2"/>
          <p:cNvSpPr>
            <a:spLocks noGrp="1"/>
          </p:cNvSpPr>
          <p:nvPr>
            <p:ph type="body" idx="1"/>
          </p:nvPr>
        </p:nvSpPr>
        <p:spPr/>
        <p:txBody>
          <a:bodyPr/>
          <a:lstStyle/>
          <a:p>
            <a:r>
              <a:rPr lang="zh-CN" altLang="en-US" dirty="0"/>
              <a:t>一、无价格的价值：计量问题</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640960" cy="864096"/>
          </a:xfrm>
        </p:spPr>
        <p:txBody>
          <a:bodyPr>
            <a:noAutofit/>
          </a:bodyPr>
          <a:lstStyle/>
          <a:p>
            <a:r>
              <a:rPr lang="zh-CN" altLang="en-US" sz="3200" dirty="0"/>
              <a:t>森林的非木材效益 </a:t>
            </a:r>
            <a:r>
              <a:rPr lang="en-US" altLang="zh-CN" sz="3200" dirty="0"/>
              <a:t>non-timber benefits</a:t>
            </a:r>
            <a:endParaRPr lang="zh-CN" altLang="en-US" sz="3200" dirty="0"/>
          </a:p>
        </p:txBody>
      </p:sp>
      <p:graphicFrame>
        <p:nvGraphicFramePr>
          <p:cNvPr id="4" name="内容占位符 3"/>
          <p:cNvGraphicFramePr>
            <a:graphicFrameLocks noGrp="1"/>
          </p:cNvGraphicFramePr>
          <p:nvPr>
            <p:ph idx="1"/>
          </p:nvPr>
        </p:nvGraphicFramePr>
        <p:xfrm>
          <a:off x="395288" y="1268413"/>
          <a:ext cx="8353425" cy="504031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200" dirty="0"/>
              <a:t>Why some forest benefits are not priced and sold</a:t>
            </a:r>
            <a:r>
              <a:rPr lang="zh-CN" altLang="en-US" sz="3200" dirty="0"/>
              <a:t>？</a:t>
            </a:r>
            <a:endParaRPr lang="zh-CN" altLang="en-US" sz="3200" dirty="0"/>
          </a:p>
        </p:txBody>
      </p:sp>
      <p:sp>
        <p:nvSpPr>
          <p:cNvPr id="3" name="文本占位符 2"/>
          <p:cNvSpPr>
            <a:spLocks noGrp="1"/>
          </p:cNvSpPr>
          <p:nvPr>
            <p:ph type="body" idx="1"/>
          </p:nvPr>
        </p:nvSpPr>
        <p:spPr/>
        <p:txBody>
          <a:bodyPr/>
          <a:lstStyle/>
          <a:p>
            <a:r>
              <a:rPr lang="en-US" altLang="zh-CN" dirty="0"/>
              <a:t>The technical reason</a:t>
            </a:r>
            <a:endParaRPr lang="zh-CN" altLang="en-US" dirty="0"/>
          </a:p>
        </p:txBody>
      </p:sp>
      <p:sp>
        <p:nvSpPr>
          <p:cNvPr id="4" name="内容占位符 3"/>
          <p:cNvSpPr>
            <a:spLocks noGrp="1"/>
          </p:cNvSpPr>
          <p:nvPr>
            <p:ph sz="half" idx="2"/>
          </p:nvPr>
        </p:nvSpPr>
        <p:spPr/>
        <p:txBody>
          <a:bodyPr/>
          <a:lstStyle/>
          <a:p>
            <a:r>
              <a:rPr lang="en-US" altLang="zh-CN" dirty="0"/>
              <a:t>Certain forest values are difficult to price and market in the usual way</a:t>
            </a:r>
            <a:endParaRPr lang="en-US" altLang="zh-CN" dirty="0"/>
          </a:p>
          <a:p>
            <a:endParaRPr lang="zh-CN" altLang="en-US" dirty="0"/>
          </a:p>
        </p:txBody>
      </p:sp>
      <p:sp>
        <p:nvSpPr>
          <p:cNvPr id="5" name="文本占位符 4"/>
          <p:cNvSpPr>
            <a:spLocks noGrp="1"/>
          </p:cNvSpPr>
          <p:nvPr>
            <p:ph type="body" sz="quarter" idx="3"/>
          </p:nvPr>
        </p:nvSpPr>
        <p:spPr/>
        <p:txBody>
          <a:bodyPr/>
          <a:lstStyle/>
          <a:p>
            <a:r>
              <a:rPr lang="en-US" altLang="zh-CN" dirty="0"/>
              <a:t>The political reason</a:t>
            </a:r>
            <a:endParaRPr lang="zh-CN" altLang="en-US" dirty="0"/>
          </a:p>
        </p:txBody>
      </p:sp>
      <p:sp>
        <p:nvSpPr>
          <p:cNvPr id="6" name="内容占位符 5"/>
          <p:cNvSpPr>
            <a:spLocks noGrp="1"/>
          </p:cNvSpPr>
          <p:nvPr>
            <p:ph sz="quarter" idx="4"/>
          </p:nvPr>
        </p:nvSpPr>
        <p:spPr/>
        <p:txBody>
          <a:bodyPr/>
          <a:lstStyle/>
          <a:p>
            <a:r>
              <a:rPr lang="en-US" altLang="zh-CN" dirty="0"/>
              <a:t>Some products and services are not marketed because of public choice</a:t>
            </a:r>
            <a:endParaRPr lang="en-US" altLang="zh-CN" dirty="0"/>
          </a:p>
          <a:p>
            <a:r>
              <a:rPr lang="en-US" altLang="zh-CN" dirty="0"/>
              <a:t>It is typically a nominal administrative fee rather than a market-determined price</a:t>
            </a:r>
            <a:endParaRPr lang="zh-CN" altLang="en-US" dirty="0"/>
          </a:p>
        </p:txBody>
      </p:sp>
      <p:pic>
        <p:nvPicPr>
          <p:cNvPr id="1026" name="Picture 2" descr="http://wallpapers.7savers.com/chinese-forest-wallpapers_11559_1280x800.jpg"/>
          <p:cNvPicPr>
            <a:picLocks noChangeAspect="1" noChangeArrowheads="1"/>
          </p:cNvPicPr>
          <p:nvPr/>
        </p:nvPicPr>
        <p:blipFill>
          <a:blip r:embed="rId1" cstate="screen"/>
          <a:srcRect/>
          <a:stretch>
            <a:fillRect/>
          </a:stretch>
        </p:blipFill>
        <p:spPr bwMode="auto">
          <a:xfrm>
            <a:off x="251520" y="3717032"/>
            <a:ext cx="4204800" cy="26280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0034" y="428604"/>
            <a:ext cx="8186766" cy="3216420"/>
          </a:xfrm>
        </p:spPr>
        <p:txBody>
          <a:bodyPr/>
          <a:lstStyle/>
          <a:p>
            <a:r>
              <a:rPr lang="en-US" altLang="zh-CN" dirty="0"/>
              <a:t>Pressure from voters who argue that they have a right to free use of the public domain, that they pay for such use through taxes</a:t>
            </a:r>
            <a:endParaRPr lang="en-US" altLang="zh-CN" dirty="0"/>
          </a:p>
          <a:p>
            <a:r>
              <a:rPr lang="en-US" altLang="zh-CN" dirty="0"/>
              <a:t>And that prices are unfair to people with low incomes</a:t>
            </a:r>
            <a:endParaRPr lang="zh-CN" altLang="en-US" dirty="0"/>
          </a:p>
        </p:txBody>
      </p:sp>
      <p:pic>
        <p:nvPicPr>
          <p:cNvPr id="2050" name="Picture 2" descr="http://www.justconservation.org/assets/images/2013/fig04.jpeg"/>
          <p:cNvPicPr>
            <a:picLocks noChangeAspect="1" noChangeArrowheads="1"/>
          </p:cNvPicPr>
          <p:nvPr/>
        </p:nvPicPr>
        <p:blipFill>
          <a:blip r:embed="rId1" cstate="screen"/>
          <a:srcRect/>
          <a:stretch>
            <a:fillRect/>
          </a:stretch>
        </p:blipFill>
        <p:spPr bwMode="auto">
          <a:xfrm rot="174959">
            <a:off x="395536" y="3762296"/>
            <a:ext cx="4680000" cy="2731235"/>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rotWithShape="1">
          <a:blip r:embed="rId2" cstate="screen"/>
          <a:srcRect/>
          <a:stretch>
            <a:fillRect/>
          </a:stretch>
        </p:blipFill>
        <p:spPr>
          <a:xfrm>
            <a:off x="4572000" y="3356992"/>
            <a:ext cx="3962400" cy="3010603"/>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406900"/>
            <a:ext cx="8280920" cy="1974428"/>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742950" indent="-742950">
              <a:buBlip>
                <a:blip r:embed="rId1"/>
              </a:buBlip>
            </a:pPr>
            <a:r>
              <a:rPr lang="zh-CN" altLang="en-US" sz="3200" cap="none" spc="50" dirty="0">
                <a:ln w="11430"/>
                <a:solidFill>
                  <a:srgbClr val="00B0F0"/>
                </a:solidFill>
                <a:effectLst>
                  <a:outerShdw blurRad="76200" dist="50800" dir="5400000" algn="tl" rotWithShape="0">
                    <a:srgbClr val="000000">
                      <a:alpha val="65000"/>
                    </a:srgbClr>
                  </a:outerShdw>
                </a:effectLst>
              </a:rPr>
              <a:t>没有价格并非意味着没有价值</a:t>
            </a:r>
            <a:br>
              <a:rPr lang="en-US" altLang="zh-CN" sz="3200" cap="none" spc="50" dirty="0">
                <a:ln w="11430"/>
                <a:solidFill>
                  <a:schemeClr val="accent6">
                    <a:lumMod val="75000"/>
                  </a:schemeClr>
                </a:solidFill>
                <a:effectLst>
                  <a:outerShdw blurRad="76200" dist="50800" dir="5400000" algn="tl" rotWithShape="0">
                    <a:srgbClr val="000000">
                      <a:alpha val="65000"/>
                    </a:srgbClr>
                  </a:outerShdw>
                </a:effectLst>
              </a:rPr>
            </a:br>
            <a:r>
              <a:rPr lang="zh-CN" altLang="en-US" sz="3200" cap="none" spc="50" dirty="0">
                <a:ln w="11430"/>
                <a:solidFill>
                  <a:schemeClr val="accent6">
                    <a:lumMod val="75000"/>
                  </a:schemeClr>
                </a:solidFill>
                <a:effectLst>
                  <a:outerShdw blurRad="76200" dist="50800" dir="5400000" algn="tl" rotWithShape="0">
                    <a:srgbClr val="000000">
                      <a:alpha val="65000"/>
                    </a:srgbClr>
                  </a:outerShdw>
                </a:effectLst>
              </a:rPr>
              <a:t>如何在没有市场价格指标的情况下来衡量森林产品及服务的价值？</a:t>
            </a:r>
            <a:endParaRPr lang="zh-CN" altLang="en-US" sz="3200" cap="none" spc="50" dirty="0">
              <a:ln w="11430"/>
              <a:solidFill>
                <a:schemeClr val="accent6">
                  <a:lumMod val="75000"/>
                </a:schemeClr>
              </a:solidFill>
              <a:effectLst>
                <a:outerShdw blurRad="76200" dist="50800" dir="5400000" algn="tl" rotWithShape="0">
                  <a:srgbClr val="000000">
                    <a:alpha val="65000"/>
                  </a:srgbClr>
                </a:outerShdw>
              </a:effectLst>
            </a:endParaRPr>
          </a:p>
        </p:txBody>
      </p:sp>
      <p:sp>
        <p:nvSpPr>
          <p:cNvPr id="3" name="文本占位符 2"/>
          <p:cNvSpPr>
            <a:spLocks noGrp="1"/>
          </p:cNvSpPr>
          <p:nvPr>
            <p:ph type="body" idx="1"/>
          </p:nvPr>
        </p:nvSpPr>
        <p:spPr>
          <a:xfrm>
            <a:off x="683568" y="764705"/>
            <a:ext cx="7811145" cy="3642196"/>
          </a:xfrm>
        </p:spPr>
        <p:txBody>
          <a:bodyPr>
            <a:normAutofit fontScale="92500" lnSpcReduction="20000"/>
          </a:bodyPr>
          <a:lstStyle/>
          <a:p>
            <a:r>
              <a:rPr lang="en-US" altLang="zh-CN" dirty="0"/>
              <a:t>The absence of prices to indicate the value of these resources to consumers raises the problem of </a:t>
            </a:r>
            <a:r>
              <a:rPr lang="en-US" altLang="zh-CN"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rPr>
              <a:t>measuring their value by other means</a:t>
            </a:r>
            <a:endParaRPr lang="zh-CN" altLang="en-US"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估计消费者愿意支付多少？</a:t>
            </a:r>
            <a:endParaRPr lang="zh-CN" altLang="en-US"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文本占位符 2"/>
          <p:cNvSpPr>
            <a:spLocks noGrp="1"/>
          </p:cNvSpPr>
          <p:nvPr>
            <p:ph type="body" idx="1"/>
          </p:nvPr>
        </p:nvSpPr>
        <p:spPr/>
        <p:txBody>
          <a:bodyPr/>
          <a:lstStyle/>
          <a:p>
            <a:r>
              <a:rPr lang="zh-CN" altLang="en-US" dirty="0"/>
              <a:t>基本思路：从需求出发</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二、消费者剩余作为价值的计量</a:t>
            </a:r>
            <a:endParaRPr lang="zh-CN" altLang="en-US" dirty="0"/>
          </a:p>
        </p:txBody>
      </p:sp>
      <p:sp>
        <p:nvSpPr>
          <p:cNvPr id="5" name="文本占位符 4"/>
          <p:cNvSpPr>
            <a:spLocks noGrp="1"/>
          </p:cNvSpPr>
          <p:nvPr>
            <p:ph type="body" idx="1"/>
          </p:nvPr>
        </p:nvSpPr>
        <p:spPr/>
        <p:txBody>
          <a:bodyPr/>
          <a:lstStyle/>
          <a:p>
            <a:r>
              <a:rPr lang="en-US" altLang="zh-CN" dirty="0"/>
              <a:t>Consumer surplus as a measure of value</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Willingness-to-pay</a:t>
            </a:r>
            <a:endParaRPr lang="zh-CN" altLang="en-US" dirty="0"/>
          </a:p>
        </p:txBody>
      </p:sp>
      <p:sp>
        <p:nvSpPr>
          <p:cNvPr id="3" name="内容占位符 2"/>
          <p:cNvSpPr>
            <a:spLocks noGrp="1"/>
          </p:cNvSpPr>
          <p:nvPr>
            <p:ph idx="1"/>
          </p:nvPr>
        </p:nvSpPr>
        <p:spPr/>
        <p:txBody>
          <a:bodyPr/>
          <a:lstStyle/>
          <a:p>
            <a:r>
              <a:rPr lang="zh-CN" altLang="en-US" dirty="0"/>
              <a:t>支付意愿</a:t>
            </a:r>
            <a:r>
              <a:rPr lang="en-US" altLang="zh-CN" dirty="0"/>
              <a:t>willingness-to-pay (WTP)</a:t>
            </a:r>
            <a:endParaRPr lang="en-US" altLang="zh-CN" dirty="0"/>
          </a:p>
          <a:p>
            <a:r>
              <a:rPr lang="en-US" altLang="zh-CN" dirty="0"/>
              <a:t>The value or utility that consumers gain from a good or service is reflected in their willingness to pay for it</a:t>
            </a:r>
            <a:endParaRPr lang="en-US" altLang="zh-CN" dirty="0"/>
          </a:p>
          <a:p>
            <a:r>
              <a:rPr lang="en-US" altLang="zh-CN" dirty="0"/>
              <a:t>Their willingness to pay indicates their willingness to give up other things</a:t>
            </a:r>
            <a:r>
              <a:rPr lang="zh-CN" altLang="en-US" dirty="0"/>
              <a:t>，</a:t>
            </a:r>
            <a:r>
              <a:rPr lang="en-US" altLang="zh-CN" dirty="0"/>
              <a:t>or income</a:t>
            </a:r>
            <a:r>
              <a:rPr lang="zh-CN" altLang="en-US" dirty="0"/>
              <a:t>，</a:t>
            </a:r>
            <a:r>
              <a:rPr lang="en-US" altLang="zh-CN" dirty="0"/>
              <a:t>in order to obtain that particular good</a:t>
            </a:r>
            <a:endParaRPr lang="en-US" altLang="zh-CN"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内容占位符 2"/>
          <p:cNvGraphicFramePr>
            <a:graphicFrameLocks noGrp="1"/>
          </p:cNvGraphicFramePr>
          <p:nvPr>
            <p:ph idx="1"/>
          </p:nvPr>
        </p:nvGraphicFramePr>
        <p:xfrm>
          <a:off x="500063" y="428625"/>
          <a:ext cx="8186737" cy="592931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0"/>
          <p:cNvSpPr>
            <a:spLocks noChangeArrowheads="1"/>
          </p:cNvSpPr>
          <p:nvPr/>
        </p:nvSpPr>
        <p:spPr bwMode="auto">
          <a:xfrm>
            <a:off x="1691680" y="404664"/>
            <a:ext cx="5162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b="1" dirty="0">
                <a:solidFill>
                  <a:srgbClr val="000000"/>
                </a:solidFill>
                <a:latin typeface="Times New Roman" panose="02020603050405020304" pitchFamily="18" charset="0"/>
                <a:cs typeface="Times New Roman" panose="02020603050405020304" pitchFamily="18" charset="0"/>
              </a:rPr>
              <a:t>Figure 5.1: Market demand and consumer surplus</a:t>
            </a:r>
            <a:endParaRPr lang="en-CA" b="1" dirty="0">
              <a:latin typeface="Times New Roman" panose="02020603050405020304" pitchFamily="18" charset="0"/>
              <a:cs typeface="Times New Roman" panose="02020603050405020304" pitchFamily="18" charset="0"/>
            </a:endParaRPr>
          </a:p>
        </p:txBody>
      </p:sp>
      <p:grpSp>
        <p:nvGrpSpPr>
          <p:cNvPr id="22531" name="Group 2"/>
          <p:cNvGrpSpPr/>
          <p:nvPr/>
        </p:nvGrpSpPr>
        <p:grpSpPr bwMode="auto">
          <a:xfrm>
            <a:off x="827584" y="1124744"/>
            <a:ext cx="7848872" cy="4749714"/>
            <a:chOff x="2025" y="2190"/>
            <a:chExt cx="6225" cy="4246"/>
          </a:xfrm>
        </p:grpSpPr>
        <p:sp>
          <p:nvSpPr>
            <p:cNvPr id="22535" name="Text Box 1983"/>
            <p:cNvSpPr txBox="1">
              <a:spLocks noChangeArrowheads="1"/>
            </p:cNvSpPr>
            <p:nvPr/>
          </p:nvSpPr>
          <p:spPr bwMode="auto">
            <a:xfrm>
              <a:off x="5859" y="3514"/>
              <a:ext cx="607"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s</a:t>
              </a:r>
              <a:r>
                <a:rPr lang="en-US" altLang="zh-CN">
                  <a:latin typeface="Times New Roman" panose="02020603050405020304" pitchFamily="18" charset="0"/>
                  <a:cs typeface="Times New Roman" panose="02020603050405020304" pitchFamily="18" charset="0"/>
                  <a:sym typeface="Symbol" panose="05050102010706020507" pitchFamily="18" charset="2"/>
                </a:rPr>
                <a:t></a:t>
              </a:r>
              <a:endParaRPr lang="en-CA">
                <a:latin typeface="Times New Roman" panose="02020603050405020304" pitchFamily="18" charset="0"/>
                <a:cs typeface="Times New Roman" panose="02020603050405020304" pitchFamily="18" charset="0"/>
              </a:endParaRPr>
            </a:p>
          </p:txBody>
        </p:sp>
        <p:sp>
          <p:nvSpPr>
            <p:cNvPr id="22536" name="Text Box 1984"/>
            <p:cNvSpPr txBox="1">
              <a:spLocks noChangeArrowheads="1"/>
            </p:cNvSpPr>
            <p:nvPr/>
          </p:nvSpPr>
          <p:spPr bwMode="auto">
            <a:xfrm>
              <a:off x="4140" y="4530"/>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s</a:t>
              </a:r>
              <a:endParaRPr lang="en-CA">
                <a:latin typeface="Times New Roman" panose="02020603050405020304" pitchFamily="18" charset="0"/>
                <a:cs typeface="Times New Roman" panose="02020603050405020304" pitchFamily="18" charset="0"/>
              </a:endParaRPr>
            </a:p>
          </p:txBody>
        </p:sp>
        <p:sp>
          <p:nvSpPr>
            <p:cNvPr id="22537" name="Text Box 1985"/>
            <p:cNvSpPr txBox="1">
              <a:spLocks noChangeArrowheads="1"/>
            </p:cNvSpPr>
            <p:nvPr/>
          </p:nvSpPr>
          <p:spPr bwMode="auto">
            <a:xfrm>
              <a:off x="2025" y="2890"/>
              <a:ext cx="101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28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dirty="0">
                  <a:latin typeface="Times New Roman" panose="02020603050405020304" pitchFamily="18" charset="0"/>
                  <a:cs typeface="Times New Roman" panose="02020603050405020304" pitchFamily="18" charset="0"/>
                </a:rPr>
                <a:t>Price ($)</a:t>
              </a:r>
              <a:endParaRPr lang="en-CA" dirty="0">
                <a:latin typeface="Times New Roman" panose="02020603050405020304" pitchFamily="18" charset="0"/>
                <a:cs typeface="Times New Roman" panose="02020603050405020304" pitchFamily="18" charset="0"/>
              </a:endParaRPr>
            </a:p>
          </p:txBody>
        </p:sp>
        <p:sp>
          <p:nvSpPr>
            <p:cNvPr id="22538" name="Text Box 1986"/>
            <p:cNvSpPr txBox="1">
              <a:spLocks noChangeArrowheads="1"/>
            </p:cNvSpPr>
            <p:nvPr/>
          </p:nvSpPr>
          <p:spPr bwMode="auto">
            <a:xfrm>
              <a:off x="7515" y="5525"/>
              <a:ext cx="420"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d</a:t>
              </a:r>
              <a:r>
                <a:rPr lang="en-US" altLang="zh-CN">
                  <a:latin typeface="Times New Roman" panose="02020603050405020304" pitchFamily="18" charset="0"/>
                  <a:cs typeface="Times New Roman" panose="02020603050405020304" pitchFamily="18" charset="0"/>
                  <a:sym typeface="Symbol" panose="05050102010706020507" pitchFamily="18" charset="2"/>
                </a:rPr>
                <a:t></a:t>
              </a:r>
              <a:endParaRPr lang="en-CA">
                <a:latin typeface="Times New Roman" panose="02020603050405020304" pitchFamily="18" charset="0"/>
                <a:cs typeface="Times New Roman" panose="02020603050405020304" pitchFamily="18" charset="0"/>
              </a:endParaRPr>
            </a:p>
          </p:txBody>
        </p:sp>
        <p:sp>
          <p:nvSpPr>
            <p:cNvPr id="22539" name="Text Box 1987"/>
            <p:cNvSpPr txBox="1">
              <a:spLocks noChangeArrowheads="1"/>
            </p:cNvSpPr>
            <p:nvPr/>
          </p:nvSpPr>
          <p:spPr bwMode="auto">
            <a:xfrm>
              <a:off x="3211" y="5119"/>
              <a:ext cx="1726"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Total payment</a:t>
              </a:r>
              <a:endParaRPr lang="en-CA">
                <a:latin typeface="Times New Roman" panose="02020603050405020304" pitchFamily="18" charset="0"/>
                <a:cs typeface="Times New Roman" panose="02020603050405020304" pitchFamily="18" charset="0"/>
              </a:endParaRPr>
            </a:p>
          </p:txBody>
        </p:sp>
        <p:sp>
          <p:nvSpPr>
            <p:cNvPr id="22540" name="Text Box 1988"/>
            <p:cNvSpPr txBox="1">
              <a:spLocks noChangeArrowheads="1"/>
            </p:cNvSpPr>
            <p:nvPr/>
          </p:nvSpPr>
          <p:spPr bwMode="auto">
            <a:xfrm>
              <a:off x="5152" y="4008"/>
              <a:ext cx="473"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endParaRPr lang="en-CA">
                <a:latin typeface="Times New Roman" panose="02020603050405020304" pitchFamily="18" charset="0"/>
                <a:cs typeface="Times New Roman" panose="02020603050405020304" pitchFamily="18" charset="0"/>
              </a:endParaRPr>
            </a:p>
          </p:txBody>
        </p:sp>
        <p:sp>
          <p:nvSpPr>
            <p:cNvPr id="22541" name="Text Box 1989"/>
            <p:cNvSpPr txBox="1">
              <a:spLocks noChangeArrowheads="1"/>
            </p:cNvSpPr>
            <p:nvPr/>
          </p:nvSpPr>
          <p:spPr bwMode="auto">
            <a:xfrm>
              <a:off x="2756" y="4320"/>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71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p</a:t>
              </a:r>
              <a:endParaRPr lang="en-CA">
                <a:latin typeface="Times New Roman" panose="02020603050405020304" pitchFamily="18" charset="0"/>
                <a:cs typeface="Times New Roman" panose="02020603050405020304" pitchFamily="18" charset="0"/>
              </a:endParaRPr>
            </a:p>
          </p:txBody>
        </p:sp>
        <p:sp>
          <p:nvSpPr>
            <p:cNvPr id="22542" name="Text Box 1990"/>
            <p:cNvSpPr txBox="1">
              <a:spLocks noChangeArrowheads="1"/>
            </p:cNvSpPr>
            <p:nvPr/>
          </p:nvSpPr>
          <p:spPr bwMode="auto">
            <a:xfrm>
              <a:off x="3195" y="3801"/>
              <a:ext cx="1225"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Consumer surplus</a:t>
              </a:r>
              <a:endParaRPr lang="en-CA">
                <a:latin typeface="Times New Roman" panose="02020603050405020304" pitchFamily="18" charset="0"/>
                <a:cs typeface="Times New Roman" panose="02020603050405020304" pitchFamily="18" charset="0"/>
              </a:endParaRPr>
            </a:p>
          </p:txBody>
        </p:sp>
        <p:sp>
          <p:nvSpPr>
            <p:cNvPr id="22543" name="Text Box 1991"/>
            <p:cNvSpPr txBox="1">
              <a:spLocks noChangeArrowheads="1"/>
            </p:cNvSpPr>
            <p:nvPr/>
          </p:nvSpPr>
          <p:spPr bwMode="auto">
            <a:xfrm>
              <a:off x="2730" y="5940"/>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0</a:t>
              </a:r>
              <a:endParaRPr lang="en-CA">
                <a:latin typeface="Times New Roman" panose="02020603050405020304" pitchFamily="18" charset="0"/>
                <a:cs typeface="Times New Roman" panose="02020603050405020304" pitchFamily="18" charset="0"/>
              </a:endParaRPr>
            </a:p>
          </p:txBody>
        </p:sp>
        <p:sp>
          <p:nvSpPr>
            <p:cNvPr id="22544" name="Text Box 1992"/>
            <p:cNvSpPr txBox="1">
              <a:spLocks noChangeArrowheads="1"/>
            </p:cNvSpPr>
            <p:nvPr/>
          </p:nvSpPr>
          <p:spPr bwMode="auto">
            <a:xfrm>
              <a:off x="5152" y="6016"/>
              <a:ext cx="721"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q</a:t>
              </a:r>
              <a:endParaRPr lang="en-CA">
                <a:latin typeface="Times New Roman" panose="02020603050405020304" pitchFamily="18" charset="0"/>
                <a:cs typeface="Times New Roman" panose="02020603050405020304" pitchFamily="18" charset="0"/>
              </a:endParaRPr>
            </a:p>
          </p:txBody>
        </p:sp>
        <p:cxnSp>
          <p:nvCxnSpPr>
            <p:cNvPr id="22545" name="AutoShape 1993"/>
            <p:cNvCxnSpPr>
              <a:cxnSpLocks noChangeShapeType="1"/>
            </p:cNvCxnSpPr>
            <p:nvPr/>
          </p:nvCxnSpPr>
          <p:spPr bwMode="auto">
            <a:xfrm>
              <a:off x="3085" y="6059"/>
              <a:ext cx="5165"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22547" name="AutoShape 1995"/>
            <p:cNvCxnSpPr>
              <a:cxnSpLocks noChangeShapeType="1"/>
            </p:cNvCxnSpPr>
            <p:nvPr/>
          </p:nvCxnSpPr>
          <p:spPr bwMode="auto">
            <a:xfrm>
              <a:off x="3085" y="4548"/>
              <a:ext cx="2210"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sp>
          <p:nvSpPr>
            <p:cNvPr id="22548" name="Arc 1996"/>
            <p:cNvSpPr/>
            <p:nvPr/>
          </p:nvSpPr>
          <p:spPr bwMode="auto">
            <a:xfrm flipV="1">
              <a:off x="4453" y="3801"/>
              <a:ext cx="1367" cy="930"/>
            </a:xfrm>
            <a:custGeom>
              <a:avLst/>
              <a:gdLst>
                <a:gd name="T0" fmla="*/ 0 w 21600"/>
                <a:gd name="T1" fmla="*/ 0 h 21600"/>
                <a:gd name="T2" fmla="*/ 87 w 21600"/>
                <a:gd name="T3" fmla="*/ 40 h 21600"/>
                <a:gd name="T4" fmla="*/ 0 w 21600"/>
                <a:gd name="T5" fmla="*/ 4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cxnSp>
          <p:nvCxnSpPr>
            <p:cNvPr id="22549" name="AutoShape 1997"/>
            <p:cNvCxnSpPr>
              <a:cxnSpLocks noChangeShapeType="1"/>
            </p:cNvCxnSpPr>
            <p:nvPr/>
          </p:nvCxnSpPr>
          <p:spPr bwMode="auto">
            <a:xfrm>
              <a:off x="5294" y="4549"/>
              <a:ext cx="1" cy="1548"/>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sp>
          <p:nvSpPr>
            <p:cNvPr id="22550" name="Text Box 1998"/>
            <p:cNvSpPr txBox="1">
              <a:spLocks noChangeArrowheads="1"/>
            </p:cNvSpPr>
            <p:nvPr/>
          </p:nvSpPr>
          <p:spPr bwMode="auto">
            <a:xfrm>
              <a:off x="3089" y="2545"/>
              <a:ext cx="49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d</a:t>
              </a:r>
              <a:endParaRPr lang="en-CA">
                <a:latin typeface="Times New Roman" panose="02020603050405020304" pitchFamily="18" charset="0"/>
                <a:cs typeface="Times New Roman" panose="02020603050405020304" pitchFamily="18" charset="0"/>
              </a:endParaRPr>
            </a:p>
          </p:txBody>
        </p:sp>
        <p:cxnSp>
          <p:nvCxnSpPr>
            <p:cNvPr id="20" name="AutoShape 1999"/>
            <p:cNvCxnSpPr>
              <a:cxnSpLocks noChangeShapeType="1"/>
            </p:cNvCxnSpPr>
            <p:nvPr/>
          </p:nvCxnSpPr>
          <p:spPr bwMode="auto">
            <a:xfrm flipH="1">
              <a:off x="3086" y="2190"/>
              <a:ext cx="3" cy="3868"/>
            </a:xfrm>
            <a:prstGeom prst="straightConnector1">
              <a:avLst/>
            </a:prstGeom>
            <a:noFill/>
            <a:ln w="9525">
              <a:solidFill>
                <a:schemeClr val="tx1">
                  <a:lumMod val="100000"/>
                  <a:lumOff val="0"/>
                </a:schemeClr>
              </a:solidFill>
              <a:round/>
            </a:ln>
          </p:spPr>
        </p:cxnSp>
        <p:cxnSp>
          <p:nvCxnSpPr>
            <p:cNvPr id="22552" name="AutoShape 2000"/>
            <p:cNvCxnSpPr>
              <a:cxnSpLocks noChangeShapeType="1"/>
            </p:cNvCxnSpPr>
            <p:nvPr/>
          </p:nvCxnSpPr>
          <p:spPr bwMode="auto">
            <a:xfrm>
              <a:off x="3085" y="3021"/>
              <a:ext cx="4430" cy="3037"/>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sp>
        <p:nvSpPr>
          <p:cNvPr id="22532" name="Rectangle 33"/>
          <p:cNvSpPr>
            <a:spLocks noChangeArrowheads="1"/>
          </p:cNvSpPr>
          <p:nvPr/>
        </p:nvSpPr>
        <p:spPr bwMode="auto">
          <a:xfrm>
            <a:off x="457200" y="3060700"/>
            <a:ext cx="18415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br>
              <a:rPr lang="en-US" altLang="zh-CN" sz="1000">
                <a:latin typeface="Roman 10cpi"/>
                <a:ea typeface="Roman 10cpi"/>
                <a:cs typeface="Times New Roman" panose="02020603050405020304" pitchFamily="18" charset="0"/>
              </a:rPr>
            </a:br>
            <a:endParaRPr lang="en-CA" sz="1100">
              <a:ea typeface="Roman 10cpi"/>
              <a:cs typeface="Times New Roman" panose="02020603050405020304" pitchFamily="18" charset="0"/>
            </a:endParaRPr>
          </a:p>
          <a:p>
            <a:pPr eaLnBrk="0" hangingPunct="0"/>
            <a:endParaRPr lang="en-CA">
              <a:ea typeface="Roman 10cpi"/>
              <a:cs typeface="Times New Roman" panose="02020603050405020304" pitchFamily="18" charset="0"/>
            </a:endParaRPr>
          </a:p>
        </p:txBody>
      </p:sp>
      <p:sp>
        <p:nvSpPr>
          <p:cNvPr id="22533" name="Text Box 23"/>
          <p:cNvSpPr txBox="1">
            <a:spLocks noChangeArrowheads="1"/>
          </p:cNvSpPr>
          <p:nvPr/>
        </p:nvSpPr>
        <p:spPr bwMode="auto">
          <a:xfrm>
            <a:off x="4893998" y="5981947"/>
            <a:ext cx="1981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dirty="0">
                <a:latin typeface="Times New Roman" panose="02020603050405020304" pitchFamily="18" charset="0"/>
              </a:rPr>
              <a:t>Quantity demanded</a:t>
            </a:r>
            <a:endParaRPr lang="en-US" altLang="zh-CN" dirty="0">
              <a:latin typeface="Times New Roman" panose="02020603050405020304" pitchFamily="18" charset="0"/>
            </a:endParaRPr>
          </a:p>
        </p:txBody>
      </p:sp>
      <p:sp>
        <p:nvSpPr>
          <p:cNvPr id="25"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pitchFamily="34" charset="0"/>
              </a:rPr>
              <a:t>Adapted from </a:t>
            </a:r>
            <a:r>
              <a:rPr lang="en-US" altLang="zh-CN" i="1">
                <a:solidFill>
                  <a:srgbClr val="898989"/>
                </a:solidFill>
                <a:latin typeface="Calibri" panose="020F0502020204030204" pitchFamily="34" charset="0"/>
              </a:rPr>
              <a:t>Forest Economics </a:t>
            </a:r>
            <a:r>
              <a:rPr lang="en-US" altLang="zh-CN">
                <a:solidFill>
                  <a:srgbClr val="898989"/>
                </a:solidFill>
                <a:latin typeface="Calibri" panose="020F0502020204030204" pitchFamily="34" charset="0"/>
              </a:rPr>
              <a:t>by Daowei Zhang and Peter H. Pearse, published by UBC Press, 2011. </a:t>
            </a:r>
            <a:endParaRPr lang="en-CA">
              <a:solidFill>
                <a:srgbClr val="898989"/>
              </a:solidFill>
              <a:latin typeface="Calibri" panose="020F0502020204030204" pitchFamily="34" charset="0"/>
            </a:endParaRPr>
          </a:p>
        </p:txBody>
      </p:sp>
      <p:cxnSp>
        <p:nvCxnSpPr>
          <p:cNvPr id="3" name="直接连接符 2"/>
          <p:cNvCxnSpPr/>
          <p:nvPr/>
        </p:nvCxnSpPr>
        <p:spPr>
          <a:xfrm>
            <a:off x="2169143" y="2054328"/>
            <a:ext cx="5580579" cy="3399525"/>
          </a:xfrm>
          <a:prstGeom prst="line">
            <a:avLst/>
          </a:prstGeom>
        </p:spPr>
        <p:style>
          <a:lnRef idx="3">
            <a:schemeClr val="accent4"/>
          </a:lnRef>
          <a:fillRef idx="0">
            <a:schemeClr val="accent4"/>
          </a:fillRef>
          <a:effectRef idx="2">
            <a:schemeClr val="accent4"/>
          </a:effectRef>
          <a:fontRef idx="minor">
            <a:schemeClr val="tx1"/>
          </a:fontRef>
        </p:style>
      </p:cxnSp>
      <p:sp>
        <p:nvSpPr>
          <p:cNvPr id="4" name="TextBox 3"/>
          <p:cNvSpPr txBox="1"/>
          <p:nvPr/>
        </p:nvSpPr>
        <p:spPr>
          <a:xfrm rot="1789104">
            <a:off x="3203848" y="2470459"/>
            <a:ext cx="1107996" cy="369332"/>
          </a:xfrm>
          <a:prstGeom prst="rect">
            <a:avLst/>
          </a:prstGeom>
          <a:noFill/>
        </p:spPr>
        <p:txBody>
          <a:bodyPr wrap="none" rtlCol="0">
            <a:spAutoFit/>
          </a:bodyPr>
          <a:lstStyle/>
          <a:p>
            <a:r>
              <a:rPr lang="zh-CN"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黑体" panose="02010609060101010101" pitchFamily="49" charset="-122"/>
                <a:ea typeface="黑体" panose="02010609060101010101" pitchFamily="49" charset="-122"/>
              </a:rPr>
              <a:t>需求曲线</a:t>
            </a:r>
            <a:endParaRPr lang="zh-CN"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黑体" panose="02010609060101010101" pitchFamily="49" charset="-122"/>
              <a:ea typeface="黑体" panose="02010609060101010101" pitchFamily="49" charset="-122"/>
            </a:endParaRPr>
          </a:p>
        </p:txBody>
      </p:sp>
      <p:sp>
        <p:nvSpPr>
          <p:cNvPr id="5" name="椭圆 4"/>
          <p:cNvSpPr/>
          <p:nvPr/>
        </p:nvSpPr>
        <p:spPr>
          <a:xfrm>
            <a:off x="1691680" y="3565537"/>
            <a:ext cx="359346" cy="3536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963539" y="3938595"/>
            <a:ext cx="1145082" cy="646331"/>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若以价格</a:t>
            </a:r>
            <a:r>
              <a:rPr lang="en-US" altLang="zh-CN"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P</a:t>
            </a:r>
            <a:r>
              <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销售</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endParaRPr>
          </a:p>
        </p:txBody>
      </p:sp>
      <p:sp>
        <p:nvSpPr>
          <p:cNvPr id="7" name="矩形 6"/>
          <p:cNvSpPr/>
          <p:nvPr/>
        </p:nvSpPr>
        <p:spPr>
          <a:xfrm>
            <a:off x="2169143" y="3789224"/>
            <a:ext cx="2772000" cy="1656000"/>
          </a:xfrm>
          <a:prstGeom prst="rect">
            <a:avLst/>
          </a:prstGeom>
          <a:gradFill flip="none" rotWithShape="1">
            <a:gsLst>
              <a:gs pos="0">
                <a:srgbClr val="FF0000"/>
              </a:gs>
              <a:gs pos="51000">
                <a:srgbClr val="FF0000">
                  <a:alpha val="54000"/>
                </a:srgbClr>
              </a:gs>
              <a:gs pos="3315">
                <a:srgbClr val="FF0000">
                  <a:alpha val="58000"/>
                </a:srgbClr>
              </a:gs>
              <a:gs pos="100000">
                <a:schemeClr val="bg1">
                  <a:alpha val="89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所有消费者支付的总额</a:t>
            </a:r>
            <a:endPar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endParaRPr>
          </a:p>
        </p:txBody>
      </p:sp>
      <p:sp>
        <p:nvSpPr>
          <p:cNvPr id="8" name="等腰三角形 7"/>
          <p:cNvSpPr/>
          <p:nvPr/>
        </p:nvSpPr>
        <p:spPr>
          <a:xfrm>
            <a:off x="2164099" y="2054328"/>
            <a:ext cx="2729899" cy="1693760"/>
          </a:xfrm>
          <a:prstGeom prst="triangle">
            <a:avLst>
              <a:gd name="adj" fmla="val 0"/>
            </a:avLst>
          </a:prstGeom>
          <a:solidFill>
            <a:srgbClr val="4F81BD">
              <a:alpha val="61961"/>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1600" b="1" spc="50" dirty="0">
                <a:ln w="11430"/>
                <a:solidFill>
                  <a:srgbClr val="00B0F0"/>
                </a:soli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愿意支付更多的消费者实际得到的价值</a:t>
            </a:r>
            <a:endParaRPr lang="zh-CN" altLang="en-US" sz="1600" b="1" spc="50" dirty="0">
              <a:ln w="11430"/>
              <a:solidFill>
                <a:srgbClr val="00B0F0"/>
              </a:soli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endParaRPr>
          </a:p>
        </p:txBody>
      </p:sp>
      <p:sp>
        <p:nvSpPr>
          <p:cNvPr id="9" name="椭圆 8"/>
          <p:cNvSpPr/>
          <p:nvPr/>
        </p:nvSpPr>
        <p:spPr>
          <a:xfrm>
            <a:off x="7677722" y="5404633"/>
            <a:ext cx="72000" cy="72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10" name="TextBox 9"/>
          <p:cNvSpPr txBox="1"/>
          <p:nvPr/>
        </p:nvSpPr>
        <p:spPr>
          <a:xfrm>
            <a:off x="6980188" y="5554529"/>
            <a:ext cx="1467068" cy="369332"/>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rPr>
              <a:t>若价格降为</a:t>
            </a:r>
            <a:r>
              <a:rPr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rPr>
              <a:t>0</a:t>
            </a:r>
            <a:endPar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endParaRPr>
          </a:p>
        </p:txBody>
      </p:sp>
      <p:sp>
        <p:nvSpPr>
          <p:cNvPr id="34" name="等腰三角形 33"/>
          <p:cNvSpPr/>
          <p:nvPr/>
        </p:nvSpPr>
        <p:spPr>
          <a:xfrm>
            <a:off x="2179717" y="2073739"/>
            <a:ext cx="5488627" cy="3366894"/>
          </a:xfrm>
          <a:prstGeom prst="triangle">
            <a:avLst>
              <a:gd name="adj" fmla="val 0"/>
            </a:avLst>
          </a:prstGeom>
          <a:solidFill>
            <a:srgbClr val="4F81BD">
              <a:alpha val="61961"/>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1600" b="1" spc="50" dirty="0">
                <a:ln w="11430"/>
                <a:solidFill>
                  <a:srgbClr val="00B0F0"/>
                </a:soli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消费者得到的所有价值都以消费者剩余的形式存在</a:t>
            </a:r>
            <a:endParaRPr lang="zh-CN" altLang="en-US" sz="1600" b="1" spc="50" dirty="0">
              <a:ln w="11430"/>
              <a:solidFill>
                <a:srgbClr val="00B0F0"/>
              </a:soli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left)">
                                      <p:cBhvr>
                                        <p:cTn id="25" dur="500"/>
                                        <p:tgtEl>
                                          <p:spTgt spid="7">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bg/>
                                          </p:spTgt>
                                        </p:tgtEl>
                                        <p:attrNameLst>
                                          <p:attrName>style.visibility</p:attrName>
                                        </p:attrNameLst>
                                      </p:cBhvr>
                                      <p:to>
                                        <p:strVal val="visible"/>
                                      </p:to>
                                    </p:set>
                                    <p:animEffect transition="in" filter="fade">
                                      <p:cBhvr>
                                        <p:cTn id="28" dur="500"/>
                                        <p:tgtEl>
                                          <p:spTgt spid="7">
                                            <p:bg/>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500"/>
                                        <p:tgtEl>
                                          <p:spTgt spid="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left)">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0-#ppt_w/2"/>
                                          </p:val>
                                        </p:tav>
                                        <p:tav tm="100000">
                                          <p:val>
                                            <p:strVal val="#ppt_x"/>
                                          </p:val>
                                        </p:tav>
                                      </p:tavLst>
                                    </p:anim>
                                    <p:anim calcmode="lin" valueType="num">
                                      <p:cBhvr additive="base">
                                        <p:cTn id="42" dur="500" fill="hold"/>
                                        <p:tgtEl>
                                          <p:spTgt spid="10"/>
                                        </p:tgtEl>
                                        <p:attrNameLst>
                                          <p:attrName>ppt_y</p:attrName>
                                        </p:attrNameLst>
                                      </p:cBhvr>
                                      <p:tavLst>
                                        <p:tav tm="0">
                                          <p:val>
                                            <p:strVal val="#ppt_y"/>
                                          </p:val>
                                        </p:tav>
                                        <p:tav tm="100000">
                                          <p:val>
                                            <p:strVal val="#ppt_y"/>
                                          </p:val>
                                        </p:tav>
                                      </p:tavLst>
                                    </p:anim>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par>
                          <p:cTn id="45" fill="hold">
                            <p:stCondLst>
                              <p:cond delay="500"/>
                            </p:stCondLst>
                            <p:childTnLst>
                              <p:par>
                                <p:cTn id="46" presetID="26" presetClass="emph" presetSubtype="0" repeatCount="indefinite" fill="hold" grpId="1" nodeType="afterEffect">
                                  <p:stCondLst>
                                    <p:cond delay="0"/>
                                  </p:stCondLst>
                                  <p:endCondLst>
                                    <p:cond evt="onNext" delay="0">
                                      <p:tgtEl>
                                        <p:sldTgt/>
                                      </p:tgtEl>
                                    </p:cond>
                                  </p:endCondLst>
                                  <p:childTnLst>
                                    <p:animEffect transition="out" filter="fade">
                                      <p:cBhvr>
                                        <p:cTn id="47" dur="500" tmFilter="0, 0; .2, .5; .8, .5; 1, 0"/>
                                        <p:tgtEl>
                                          <p:spTgt spid="9"/>
                                        </p:tgtEl>
                                      </p:cBhvr>
                                    </p:animEffect>
                                    <p:animScale>
                                      <p:cBhvr>
                                        <p:cTn id="48" dur="250" autoRev="1" fill="hold"/>
                                        <p:tgtEl>
                                          <p:spTgt spid="9"/>
                                        </p:tgtEl>
                                      </p:cBhvr>
                                      <p:by x="105000" y="105000"/>
                                    </p:animScale>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7">
                                            <p:txEl>
                                              <p:pRg st="0" end="0"/>
                                            </p:txEl>
                                          </p:spTgt>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7">
                                            <p:bg/>
                                          </p:spTgt>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8"/>
                                        </p:tgtEl>
                                        <p:attrNameLst>
                                          <p:attrName>style.visibility</p:attrName>
                                        </p:attrNameLst>
                                      </p:cBhvr>
                                      <p:to>
                                        <p:strVal val="hidden"/>
                                      </p:to>
                                    </p:set>
                                  </p:childTnLst>
                                </p:cTn>
                              </p:par>
                              <p:par>
                                <p:cTn id="57" presetID="22" presetClass="entr" presetSubtype="1"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wipe(up)">
                                      <p:cBhvr>
                                        <p:cTn id="5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build="allAtOnce"/>
      <p:bldP spid="7" grpId="1" animBg="1" build="allAtOnce"/>
      <p:bldP spid="8" grpId="0" animBg="1"/>
      <p:bldP spid="8" grpId="1" animBg="1"/>
      <p:bldP spid="9" grpId="0" animBg="1"/>
      <p:bldP spid="9" grpId="1" animBg="1"/>
      <p:bldP spid="10" grpId="0"/>
      <p:bldP spid="3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soft" dir="tl">
                <a:rot lat="0" lon="0" rev="0"/>
              </a:lightRig>
            </a:scene3d>
            <a:sp3d extrusionH="57150" contourW="25400" prstMaterial="matte">
              <a:bevelT w="25400" h="55880" prst="angle"/>
              <a:contourClr>
                <a:schemeClr val="accent2">
                  <a:tint val="20000"/>
                </a:schemeClr>
              </a:contourClr>
            </a:sp3d>
          </a:bodyPr>
          <a:lstStyle/>
          <a:p>
            <a:r>
              <a:rPr lang="zh-CN" altLang="en-US" dirty="0"/>
              <a:t>需要估计它所产生的消费者剩余</a:t>
            </a:r>
            <a:br>
              <a:rPr lang="en-US" altLang="zh-CN" dirty="0"/>
            </a:br>
            <a:r>
              <a:rPr lang="zh-CN" altLang="en-US" dirty="0">
                <a:gradFill flip="none" rotWithShape="1">
                  <a:gsLst>
                    <a:gs pos="0">
                      <a:schemeClr val="bg1"/>
                    </a:gs>
                    <a:gs pos="52000">
                      <a:srgbClr val="FF0000">
                        <a:alpha val="54000"/>
                      </a:srgbClr>
                    </a:gs>
                    <a:gs pos="29000">
                      <a:srgbClr val="FF0000">
                        <a:alpha val="58000"/>
                      </a:srgbClr>
                    </a:gs>
                    <a:gs pos="100000">
                      <a:schemeClr val="bg1">
                        <a:alpha val="89000"/>
                      </a:schemeClr>
                    </a:gs>
                  </a:gsLst>
                  <a:lin ang="16200000" scaled="1"/>
                  <a:tileRect/>
                </a:gradFill>
              </a:rPr>
              <a:t>需要确定消费者的需求曲线并测量曲线以下的面积</a:t>
            </a:r>
            <a:endParaRPr lang="zh-CN" altLang="en-US" dirty="0">
              <a:gradFill flip="none" rotWithShape="1">
                <a:gsLst>
                  <a:gs pos="0">
                    <a:schemeClr val="bg1"/>
                  </a:gs>
                  <a:gs pos="52000">
                    <a:srgbClr val="FF0000">
                      <a:alpha val="54000"/>
                    </a:srgbClr>
                  </a:gs>
                  <a:gs pos="29000">
                    <a:srgbClr val="FF0000">
                      <a:alpha val="58000"/>
                    </a:srgbClr>
                  </a:gs>
                  <a:gs pos="100000">
                    <a:schemeClr val="bg1">
                      <a:alpha val="89000"/>
                    </a:schemeClr>
                  </a:gs>
                </a:gsLst>
                <a:lin ang="16200000" scaled="1"/>
                <a:tileRect/>
              </a:gradFill>
            </a:endParaRPr>
          </a:p>
        </p:txBody>
      </p:sp>
      <p:sp>
        <p:nvSpPr>
          <p:cNvPr id="3" name="文本占位符 2"/>
          <p:cNvSpPr>
            <a:spLocks noGrp="1"/>
          </p:cNvSpPr>
          <p:nvPr>
            <p:ph type="body" idx="1"/>
          </p:nvPr>
        </p:nvSpPr>
        <p:spPr/>
        <p:txBody>
          <a:bodyPr/>
          <a:lstStyle/>
          <a:p>
            <a:r>
              <a:rPr lang="zh-CN" altLang="en-US" dirty="0"/>
              <a:t>要找出没有收费的商品或服务的价值</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三、对无价格的野外游憩的评价</a:t>
            </a:r>
            <a:endParaRPr lang="zh-CN" altLang="en-US" dirty="0"/>
          </a:p>
        </p:txBody>
      </p:sp>
      <p:sp>
        <p:nvSpPr>
          <p:cNvPr id="3" name="文本占位符 2"/>
          <p:cNvSpPr>
            <a:spLocks noGrp="1"/>
          </p:cNvSpPr>
          <p:nvPr>
            <p:ph type="body" idx="1"/>
          </p:nvPr>
        </p:nvSpPr>
        <p:spPr/>
        <p:txBody>
          <a:bodyPr/>
          <a:lstStyle/>
          <a:p>
            <a:r>
              <a:rPr lang="en-US" altLang="zh-CN" dirty="0"/>
              <a:t>Evaluating unpriced recreation</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对野外游憩地的需求</a:t>
            </a:r>
            <a:endParaRPr lang="zh-CN" altLang="en-US" dirty="0"/>
          </a:p>
        </p:txBody>
      </p:sp>
      <p:sp>
        <p:nvSpPr>
          <p:cNvPr id="3" name="内容占位符 2"/>
          <p:cNvSpPr>
            <a:spLocks noGrp="1"/>
          </p:cNvSpPr>
          <p:nvPr>
            <p:ph idx="1"/>
          </p:nvPr>
        </p:nvSpPr>
        <p:spPr>
          <a:xfrm>
            <a:off x="467544" y="1124744"/>
            <a:ext cx="4320480" cy="5184576"/>
          </a:xfrm>
        </p:spPr>
        <p:txBody>
          <a:bodyPr>
            <a:normAutofit fontScale="92500" lnSpcReduction="20000"/>
          </a:bodyPr>
          <a:lstStyle/>
          <a:p>
            <a:r>
              <a:rPr lang="zh-CN" altLang="en-US" dirty="0"/>
              <a:t>许多游乐活动由期望、往返于目的地的旅行、在目的地活动和活动后重新整理回忆等环节组成</a:t>
            </a:r>
            <a:endParaRPr lang="en-US" altLang="zh-CN" dirty="0"/>
          </a:p>
          <a:p>
            <a:r>
              <a:rPr lang="zh-CN" altLang="en-US" dirty="0"/>
              <a:t>对某一特定游憩地点的需求，是由它所能提供的游憩活动的需求中派生出来的</a:t>
            </a:r>
            <a:endParaRPr lang="en-US" altLang="zh-CN" dirty="0"/>
          </a:p>
          <a:p>
            <a:r>
              <a:rPr lang="zh-CN" altLang="en-US" dirty="0"/>
              <a:t>任务是预测在价格大于零时消费游乐的数量</a:t>
            </a:r>
            <a:endParaRPr lang="zh-CN" altLang="en-US" dirty="0"/>
          </a:p>
        </p:txBody>
      </p:sp>
      <p:pic>
        <p:nvPicPr>
          <p:cNvPr id="3074" name="Picture 2" descr="https://encrypted-tbn1.gstatic.com/images?q=tbn:ANd9GcRXSnmo2TAVfW2sxnJ8q5rm-gkGWzOsK_hPkR5u4WZ3pcrXRH8J"/>
          <p:cNvPicPr>
            <a:picLocks noChangeAspect="1" noChangeArrowheads="1"/>
          </p:cNvPicPr>
          <p:nvPr/>
        </p:nvPicPr>
        <p:blipFill>
          <a:blip r:embed="rId1"/>
          <a:srcRect/>
          <a:stretch>
            <a:fillRect/>
          </a:stretch>
        </p:blipFill>
        <p:spPr bwMode="auto">
          <a:xfrm>
            <a:off x="5004048" y="1175719"/>
            <a:ext cx="3613745" cy="4824536"/>
          </a:xfrm>
          <a:prstGeom prst="rect">
            <a:avLst/>
          </a:prstGeom>
          <a:ln w="76200">
            <a:solidFill>
              <a:schemeClr val="bg1"/>
            </a:solidFill>
          </a:ln>
          <a:effectLst>
            <a:outerShdw blurRad="292100" dist="139700" dir="2700000" algn="tl" rotWithShape="0">
              <a:srgbClr val="333333">
                <a:alpha val="65000"/>
              </a:srgbClr>
            </a:outerShdw>
          </a:effectLst>
          <a:scene3d>
            <a:camera prst="orthographicFront"/>
            <a:lightRig rig="threePt" dir="t"/>
          </a:scene3d>
          <a:sp3d>
            <a:bevelT prst="relaxedInset"/>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直接向消费者询问</a:t>
            </a:r>
            <a:endParaRPr lang="zh-CN" altLang="en-US" dirty="0"/>
          </a:p>
        </p:txBody>
      </p:sp>
      <p:sp>
        <p:nvSpPr>
          <p:cNvPr id="3" name="文本占位符 2"/>
          <p:cNvSpPr>
            <a:spLocks noGrp="1"/>
          </p:cNvSpPr>
          <p:nvPr>
            <p:ph type="body" idx="1"/>
          </p:nvPr>
        </p:nvSpPr>
        <p:spPr/>
        <p:txBody>
          <a:bodyPr>
            <a:normAutofit fontScale="77500" lnSpcReduction="20000"/>
          </a:bodyPr>
          <a:lstStyle/>
          <a:p>
            <a:r>
              <a:rPr lang="en-US" altLang="zh-CN" dirty="0"/>
              <a:t>1.</a:t>
            </a:r>
            <a:r>
              <a:rPr lang="zh-CN" altLang="en-US" dirty="0"/>
              <a:t> 估计消费者剩余的直接方法（</a:t>
            </a:r>
            <a:r>
              <a:rPr lang="en-US" altLang="zh-CN" dirty="0"/>
              <a:t>Direct Measures of Consumer Surplus</a:t>
            </a:r>
            <a:r>
              <a:rPr lang="zh-CN" altLang="en-US" dirty="0"/>
              <a:t>）</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200" dirty="0"/>
              <a:t>条件价值方法（</a:t>
            </a:r>
            <a:r>
              <a:rPr lang="en-US" altLang="zh-CN" sz="3200" dirty="0"/>
              <a:t>contingent valuation </a:t>
            </a:r>
            <a:r>
              <a:rPr lang="en-US" altLang="zh-CN" sz="3200" dirty="0" err="1"/>
              <a:t>method,CVM</a:t>
            </a:r>
            <a:r>
              <a:rPr lang="zh-CN" altLang="en-US" sz="3200" dirty="0"/>
              <a:t>）</a:t>
            </a:r>
            <a:endParaRPr lang="zh-CN" altLang="en-US" sz="3200" dirty="0"/>
          </a:p>
        </p:txBody>
      </p:sp>
      <p:sp>
        <p:nvSpPr>
          <p:cNvPr id="3" name="内容占位符 2"/>
          <p:cNvSpPr>
            <a:spLocks noGrp="1"/>
          </p:cNvSpPr>
          <p:nvPr>
            <p:ph idx="1"/>
          </p:nvPr>
        </p:nvSpPr>
        <p:spPr/>
        <p:txBody>
          <a:bodyPr/>
          <a:lstStyle/>
          <a:p>
            <a:r>
              <a:rPr lang="en-US" altLang="zh-CN" dirty="0"/>
              <a:t>Contingent valuation refers to the method of valuation used in cost</a:t>
            </a:r>
            <a:r>
              <a:rPr lang="zh-CN" altLang="en-US" dirty="0"/>
              <a:t> </a:t>
            </a:r>
            <a:r>
              <a:rPr lang="en-US" altLang="zh-CN" dirty="0"/>
              <a:t>benefit analysis and environmental accounting. </a:t>
            </a:r>
            <a:endParaRPr lang="en-US" altLang="zh-CN" dirty="0"/>
          </a:p>
          <a:p>
            <a:r>
              <a:rPr lang="en-US" altLang="zh-CN" dirty="0"/>
              <a:t>It is conditional (contingent) on the construction of hypothetical markets, reflected in expressions of the willingness to pay for potential environmental benefits or for the avoidance of their loss.</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如果把晓南湖填平，最少能接受的补偿是多高？</a:t>
            </a:r>
            <a:endParaRPr lang="zh-CN" altLang="en-US" dirty="0"/>
          </a:p>
        </p:txBody>
      </p:sp>
      <p:sp>
        <p:nvSpPr>
          <p:cNvPr id="3" name="文本占位符 2"/>
          <p:cNvSpPr>
            <a:spLocks noGrp="1"/>
          </p:cNvSpPr>
          <p:nvPr>
            <p:ph type="body" idx="1"/>
          </p:nvPr>
        </p:nvSpPr>
        <p:spPr/>
        <p:txBody>
          <a:bodyPr/>
          <a:lstStyle/>
          <a:p>
            <a:r>
              <a:rPr lang="zh-CN" altLang="en-US" dirty="0"/>
              <a:t>如果在晓南湖玩需要收费，最多愿意交多少钱？</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up)">
                                      <p:cBhvr>
                                        <p:cTn id="7" dur="500"/>
                                        <p:tgtEl>
                                          <p:spTgt spid="3">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up)">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失去时可接受的最小补偿：补偿差异（</a:t>
            </a:r>
            <a:r>
              <a:rPr lang="en-US" altLang="zh-CN" dirty="0"/>
              <a:t>Compensating Variation</a:t>
            </a:r>
            <a:r>
              <a:rPr lang="zh-CN" altLang="en-US" dirty="0"/>
              <a:t>）</a:t>
            </a:r>
            <a:endParaRPr lang="zh-CN" altLang="en-US" dirty="0"/>
          </a:p>
        </p:txBody>
      </p:sp>
      <p:sp>
        <p:nvSpPr>
          <p:cNvPr id="3" name="文本占位符 2"/>
          <p:cNvSpPr>
            <a:spLocks noGrp="1"/>
          </p:cNvSpPr>
          <p:nvPr>
            <p:ph type="body" idx="1"/>
          </p:nvPr>
        </p:nvSpPr>
        <p:spPr/>
        <p:txBody>
          <a:bodyPr/>
          <a:lstStyle/>
          <a:p>
            <a:r>
              <a:rPr lang="zh-CN" altLang="en-US" dirty="0"/>
              <a:t>愿意支付的最大值：等值差异（</a:t>
            </a:r>
            <a:r>
              <a:rPr lang="en-US" altLang="zh-CN" dirty="0"/>
              <a:t>Equivalent Variation</a:t>
            </a:r>
            <a:r>
              <a:rPr lang="zh-CN" altLang="en-US" dirty="0"/>
              <a:t>）</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95536" y="332656"/>
            <a:ext cx="8496944" cy="2088232"/>
          </a:xfrm>
        </p:spPr>
        <p:txBody>
          <a:bodyPr/>
          <a:lstStyle/>
          <a:p>
            <a:r>
              <a:rPr lang="zh-CN" altLang="en-US" dirty="0"/>
              <a:t>等值差异：向潜在的游乐者询问，为了参观访问某地以及参加游乐活动，最多准备支出多少钱？</a:t>
            </a:r>
            <a:endParaRPr lang="en-US" altLang="zh-CN" dirty="0"/>
          </a:p>
          <a:p>
            <a:r>
              <a:rPr lang="zh-CN" altLang="en-US" dirty="0"/>
              <a:t>把所得的结果从高到低进行排列</a:t>
            </a:r>
            <a:endParaRPr lang="zh-CN" altLang="en-US" dirty="0"/>
          </a:p>
        </p:txBody>
      </p:sp>
      <p:graphicFrame>
        <p:nvGraphicFramePr>
          <p:cNvPr id="9" name="图表 8"/>
          <p:cNvGraphicFramePr/>
          <p:nvPr/>
        </p:nvGraphicFramePr>
        <p:xfrm>
          <a:off x="1475656" y="2348880"/>
          <a:ext cx="6096000" cy="40640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补偿差异：向游乐者询问，如果不让他们具有这种机会，他们所愿意得到的最小赔偿额</a:t>
            </a:r>
            <a:endParaRPr lang="en-US" altLang="zh-CN" dirty="0"/>
          </a:p>
          <a:p>
            <a:r>
              <a:rPr lang="zh-CN" altLang="en-US" dirty="0"/>
              <a:t>“收入效果”原则：</a:t>
            </a:r>
            <a:endParaRPr lang="en-US" altLang="zh-CN" dirty="0"/>
          </a:p>
          <a:p>
            <a:pPr lvl="1"/>
            <a:r>
              <a:rPr lang="zh-CN" altLang="en-US" dirty="0"/>
              <a:t>人们对现金的损失比现金的增加给予更高的权数</a:t>
            </a:r>
            <a:endParaRPr lang="en-US" altLang="zh-CN" dirty="0"/>
          </a:p>
          <a:p>
            <a:pPr lvl="1"/>
            <a:r>
              <a:rPr lang="zh-CN" altLang="en-US" dirty="0"/>
              <a:t>最小可以接受的补偿≥愿意支付的最大费用</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哪种方法更为合适？</a:t>
            </a:r>
            <a:endParaRPr lang="zh-CN" altLang="en-US" dirty="0"/>
          </a:p>
        </p:txBody>
      </p:sp>
      <p:sp>
        <p:nvSpPr>
          <p:cNvPr id="3" name="文本占位符 2"/>
          <p:cNvSpPr>
            <a:spLocks noGrp="1"/>
          </p:cNvSpPr>
          <p:nvPr>
            <p:ph type="body" idx="1"/>
          </p:nvPr>
        </p:nvSpPr>
        <p:spPr/>
        <p:txBody>
          <a:bodyPr/>
          <a:lstStyle/>
          <a:p>
            <a:r>
              <a:rPr lang="zh-CN" altLang="en-US" dirty="0"/>
              <a:t>等值差异法</a:t>
            </a:r>
            <a:endParaRPr lang="zh-CN" altLang="en-US" dirty="0"/>
          </a:p>
        </p:txBody>
      </p:sp>
      <p:sp>
        <p:nvSpPr>
          <p:cNvPr id="4" name="内容占位符 3"/>
          <p:cNvSpPr>
            <a:spLocks noGrp="1"/>
          </p:cNvSpPr>
          <p:nvPr>
            <p:ph sz="half" idx="2"/>
          </p:nvPr>
        </p:nvSpPr>
        <p:spPr/>
        <p:txBody>
          <a:bodyPr/>
          <a:lstStyle/>
          <a:p>
            <a:r>
              <a:rPr lang="zh-CN" altLang="en-US" dirty="0"/>
              <a:t>消费者期望具有较高水平的消费或利用的权力</a:t>
            </a:r>
            <a:endParaRPr lang="en-US" altLang="zh-CN" dirty="0"/>
          </a:p>
          <a:p>
            <a:r>
              <a:rPr lang="zh-CN" altLang="en-US" dirty="0"/>
              <a:t>需要获得某种产品或服务</a:t>
            </a:r>
            <a:endParaRPr lang="en-US" altLang="zh-CN" dirty="0"/>
          </a:p>
          <a:p>
            <a:r>
              <a:rPr lang="zh-CN" altLang="en-US" dirty="0"/>
              <a:t>所愿意支付的最大值（</a:t>
            </a:r>
            <a:r>
              <a:rPr lang="en-US" altLang="zh-CN" dirty="0"/>
              <a:t>Willingness to Pay</a:t>
            </a:r>
            <a:r>
              <a:rPr lang="zh-CN" altLang="en-US" dirty="0"/>
              <a:t>， </a:t>
            </a:r>
            <a:r>
              <a:rPr lang="en-US" altLang="zh-CN" dirty="0"/>
              <a:t>WTP</a:t>
            </a:r>
            <a:r>
              <a:rPr lang="zh-CN" altLang="en-US" dirty="0"/>
              <a:t>）</a:t>
            </a:r>
            <a:endParaRPr lang="zh-CN" altLang="en-US" dirty="0"/>
          </a:p>
        </p:txBody>
      </p:sp>
      <p:sp>
        <p:nvSpPr>
          <p:cNvPr id="5" name="文本占位符 4"/>
          <p:cNvSpPr>
            <a:spLocks noGrp="1"/>
          </p:cNvSpPr>
          <p:nvPr>
            <p:ph type="body" sz="quarter" idx="3"/>
          </p:nvPr>
        </p:nvSpPr>
        <p:spPr/>
        <p:txBody>
          <a:bodyPr/>
          <a:lstStyle/>
          <a:p>
            <a:r>
              <a:rPr lang="zh-CN" altLang="en-US" dirty="0"/>
              <a:t>补偿差异法</a:t>
            </a:r>
            <a:endParaRPr lang="zh-CN" altLang="en-US" dirty="0"/>
          </a:p>
        </p:txBody>
      </p:sp>
      <p:sp>
        <p:nvSpPr>
          <p:cNvPr id="6" name="内容占位符 5"/>
          <p:cNvSpPr>
            <a:spLocks noGrp="1"/>
          </p:cNvSpPr>
          <p:nvPr>
            <p:ph sz="quarter" idx="4"/>
          </p:nvPr>
        </p:nvSpPr>
        <p:spPr/>
        <p:txBody>
          <a:bodyPr/>
          <a:lstStyle/>
          <a:p>
            <a:r>
              <a:rPr lang="zh-CN" altLang="en-US" dirty="0"/>
              <a:t>消费者已有消费或利用的权力</a:t>
            </a:r>
            <a:endParaRPr lang="en-US" altLang="zh-CN" dirty="0"/>
          </a:p>
          <a:p>
            <a:r>
              <a:rPr lang="zh-CN" altLang="en-US" dirty="0"/>
              <a:t>已经拥有的产品将被拿走</a:t>
            </a:r>
            <a:endParaRPr lang="en-US" altLang="zh-CN" dirty="0"/>
          </a:p>
          <a:p>
            <a:r>
              <a:rPr lang="zh-CN" altLang="en-US" dirty="0"/>
              <a:t>要求维持失去这种产品以前同样利用水平所需要的最小补偿额（</a:t>
            </a:r>
            <a:r>
              <a:rPr lang="en-US" altLang="zh-CN" dirty="0"/>
              <a:t>Willingness to accept</a:t>
            </a:r>
            <a:r>
              <a:rPr lang="zh-CN" altLang="en-US" dirty="0"/>
              <a:t>，</a:t>
            </a:r>
            <a:r>
              <a:rPr lang="en-US" altLang="zh-CN" dirty="0"/>
              <a:t>WTA</a:t>
            </a:r>
            <a:r>
              <a:rPr lang="zh-CN" altLang="en-US" dirty="0"/>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消费支出函数</a:t>
            </a:r>
            <a:endParaRPr lang="zh-CN" altLang="en-US" dirty="0"/>
          </a:p>
        </p:txBody>
      </p:sp>
      <p:sp>
        <p:nvSpPr>
          <p:cNvPr id="3" name="文本占位符 2"/>
          <p:cNvSpPr>
            <a:spLocks noGrp="1"/>
          </p:cNvSpPr>
          <p:nvPr>
            <p:ph type="body" idx="1"/>
          </p:nvPr>
        </p:nvSpPr>
        <p:spPr/>
        <p:txBody>
          <a:bodyPr/>
          <a:lstStyle/>
          <a:p>
            <a:r>
              <a:rPr lang="zh-CN" altLang="en-US" dirty="0"/>
              <a:t>理论基础：</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问卷设计要点：</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、事先测试</a:t>
            </a:r>
            <a:r>
              <a:rPr lang="en-US" altLang="zh-CN" dirty="0"/>
              <a:t>——</a:t>
            </a:r>
            <a:r>
              <a:rPr lang="zh-CN" altLang="en-US" dirty="0"/>
              <a:t>预调查</a:t>
            </a:r>
            <a:endParaRPr lang="en-US" altLang="zh-CN" dirty="0"/>
          </a:p>
          <a:p>
            <a:r>
              <a:rPr lang="en-US" altLang="zh-CN" dirty="0"/>
              <a:t>2</a:t>
            </a:r>
            <a:r>
              <a:rPr lang="zh-CN" altLang="en-US" dirty="0"/>
              <a:t>、对所评价的游憩地状况、功能和人们付费的方式进行详细的描述</a:t>
            </a:r>
            <a:endParaRPr lang="en-US" altLang="zh-CN" dirty="0"/>
          </a:p>
          <a:p>
            <a:r>
              <a:rPr lang="en-US" altLang="zh-CN" dirty="0"/>
              <a:t>3</a:t>
            </a:r>
            <a:r>
              <a:rPr lang="zh-CN" altLang="en-US" dirty="0"/>
              <a:t>、注意避免答案的扭曲（回答人猜测提问目的，假设情况下的回答与实际选择并不一致）</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一些补充方法</a:t>
            </a:r>
            <a:endParaRPr lang="zh-CN" altLang="en-US" dirty="0"/>
          </a:p>
        </p:txBody>
      </p:sp>
      <p:sp>
        <p:nvSpPr>
          <p:cNvPr id="3" name="内容占位符 2"/>
          <p:cNvSpPr>
            <a:spLocks noGrp="1"/>
          </p:cNvSpPr>
          <p:nvPr>
            <p:ph idx="1"/>
          </p:nvPr>
        </p:nvSpPr>
        <p:spPr>
          <a:xfrm>
            <a:off x="467544" y="1556792"/>
            <a:ext cx="7200800" cy="4752528"/>
          </a:xfrm>
        </p:spPr>
        <p:txBody>
          <a:bodyPr/>
          <a:lstStyle/>
          <a:p>
            <a:pPr>
              <a:lnSpc>
                <a:spcPct val="150000"/>
              </a:lnSpc>
            </a:pPr>
            <a:r>
              <a:rPr lang="zh-CN" altLang="en-US" dirty="0"/>
              <a:t>对回答者的一致性进行检验</a:t>
            </a:r>
            <a:endParaRPr lang="en-US" altLang="zh-CN" dirty="0"/>
          </a:p>
          <a:p>
            <a:pPr>
              <a:lnSpc>
                <a:spcPct val="150000"/>
              </a:lnSpc>
            </a:pPr>
            <a:r>
              <a:rPr lang="zh-CN" altLang="en-US" dirty="0"/>
              <a:t>运用回归分析的方法确定回答者的支付意愿是否与他们的社会经济和人口统计特征相关</a:t>
            </a:r>
            <a:endParaRPr lang="en-US" altLang="zh-CN" dirty="0"/>
          </a:p>
          <a:p>
            <a:pPr>
              <a:lnSpc>
                <a:spcPct val="150000"/>
              </a:lnSpc>
            </a:pPr>
            <a:r>
              <a:rPr lang="zh-CN" altLang="en-US" dirty="0"/>
              <a:t>检验支付意愿是否与经济理论相一致</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内容占位符 2"/>
          <p:cNvGraphicFramePr>
            <a:graphicFrameLocks noGrp="1"/>
          </p:cNvGraphicFramePr>
          <p:nvPr>
            <p:ph idx="1"/>
          </p:nvPr>
        </p:nvGraphicFramePr>
        <p:xfrm>
          <a:off x="500063" y="428625"/>
          <a:ext cx="8186737" cy="592931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normAutofit fontScale="85000" lnSpcReduction="10000"/>
          </a:bodyPr>
          <a:lstStyle/>
          <a:p>
            <a:r>
              <a:rPr lang="zh-CN" altLang="en-US" dirty="0"/>
              <a:t>条件选择方法</a:t>
            </a:r>
            <a:endParaRPr lang="en-US" altLang="zh-CN" dirty="0"/>
          </a:p>
          <a:p>
            <a:r>
              <a:rPr lang="en-US" altLang="zh-CN" dirty="0"/>
              <a:t>Contingent Choice Model</a:t>
            </a:r>
            <a:endParaRPr lang="en-US" altLang="zh-CN" dirty="0"/>
          </a:p>
          <a:p>
            <a:r>
              <a:rPr lang="zh-CN" altLang="en-US" dirty="0"/>
              <a:t>要求人们对假设的问题进行选择</a:t>
            </a:r>
            <a:endParaRPr lang="en-US" altLang="zh-CN" dirty="0"/>
          </a:p>
          <a:p>
            <a:r>
              <a:rPr lang="zh-CN" altLang="en-US" dirty="0"/>
              <a:t>针对具有多重用途资产的不同特征的偏好</a:t>
            </a:r>
            <a:endParaRPr lang="en-US" altLang="zh-CN" dirty="0"/>
          </a:p>
          <a:p>
            <a:r>
              <a:rPr lang="zh-CN" altLang="en-US" dirty="0"/>
              <a:t>从人们在许多实际选项中推断出消费者对资产价值的评价</a:t>
            </a:r>
            <a:endParaRPr lang="zh-CN" altLang="en-US" dirty="0"/>
          </a:p>
        </p:txBody>
      </p:sp>
      <p:sp>
        <p:nvSpPr>
          <p:cNvPr id="3" name="内容占位符 2"/>
          <p:cNvSpPr>
            <a:spLocks noGrp="1"/>
          </p:cNvSpPr>
          <p:nvPr>
            <p:ph sz="quarter" idx="14"/>
          </p:nvPr>
        </p:nvSpPr>
        <p:spPr/>
        <p:txBody>
          <a:bodyPr>
            <a:normAutofit lnSpcReduction="10000"/>
          </a:bodyPr>
          <a:lstStyle/>
          <a:p>
            <a:r>
              <a:rPr lang="zh-CN" altLang="en-US" dirty="0"/>
              <a:t>一片森林，可以</a:t>
            </a:r>
            <a:endParaRPr lang="en-US" altLang="zh-CN" dirty="0"/>
          </a:p>
          <a:p>
            <a:pPr lvl="1"/>
            <a:r>
              <a:rPr lang="zh-CN" altLang="en-US" dirty="0"/>
              <a:t>（</a:t>
            </a:r>
            <a:r>
              <a:rPr lang="en-US" altLang="zh-CN" dirty="0"/>
              <a:t>1</a:t>
            </a:r>
            <a:r>
              <a:rPr lang="zh-CN" altLang="en-US" dirty="0"/>
              <a:t>）采伐后为当地人提供就业机会和收入</a:t>
            </a:r>
            <a:endParaRPr lang="en-US" altLang="zh-CN" dirty="0"/>
          </a:p>
          <a:p>
            <a:pPr lvl="1"/>
            <a:r>
              <a:rPr lang="zh-CN" altLang="en-US" dirty="0"/>
              <a:t>（</a:t>
            </a:r>
            <a:r>
              <a:rPr lang="en-US" altLang="zh-CN" dirty="0"/>
              <a:t>2</a:t>
            </a:r>
            <a:r>
              <a:rPr lang="zh-CN" altLang="en-US" dirty="0"/>
              <a:t>）建为森林公园，免费开放</a:t>
            </a:r>
            <a:endParaRPr lang="en-US" altLang="zh-CN" dirty="0"/>
          </a:p>
          <a:p>
            <a:pPr lvl="1"/>
            <a:r>
              <a:rPr lang="zh-CN" altLang="en-US" dirty="0"/>
              <a:t>（</a:t>
            </a:r>
            <a:r>
              <a:rPr lang="en-US" altLang="zh-CN" dirty="0"/>
              <a:t>3</a:t>
            </a:r>
            <a:r>
              <a:rPr lang="zh-CN" altLang="en-US" dirty="0"/>
              <a:t>）严格保护其生态功能，限制人为破坏</a:t>
            </a:r>
            <a:endParaRPr lang="en-US" altLang="zh-CN" dirty="0"/>
          </a:p>
          <a:p>
            <a:r>
              <a:rPr lang="zh-CN" altLang="en-US" dirty="0"/>
              <a:t>愿意选择哪一种？</a:t>
            </a:r>
            <a:endParaRPr lang="en-US" altLang="zh-CN" dirty="0"/>
          </a:p>
        </p:txBody>
      </p:sp>
      <p:sp>
        <p:nvSpPr>
          <p:cNvPr id="4" name="标题 3"/>
          <p:cNvSpPr>
            <a:spLocks noGrp="1"/>
          </p:cNvSpPr>
          <p:nvPr>
            <p:ph type="title"/>
          </p:nvPr>
        </p:nvSpPr>
        <p:spPr/>
        <p:txBody>
          <a:bodyPr/>
          <a:lstStyle/>
          <a:p>
            <a:r>
              <a:rPr lang="zh-CN" altLang="en-US" dirty="0"/>
              <a:t>什么是条件选择法？</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从观察到的间接证据中推断</a:t>
            </a:r>
            <a:endParaRPr lang="zh-CN" altLang="en-US" dirty="0"/>
          </a:p>
        </p:txBody>
      </p:sp>
      <p:sp>
        <p:nvSpPr>
          <p:cNvPr id="3" name="文本占位符 2"/>
          <p:cNvSpPr>
            <a:spLocks noGrp="1"/>
          </p:cNvSpPr>
          <p:nvPr>
            <p:ph type="body" idx="1"/>
          </p:nvPr>
        </p:nvSpPr>
        <p:spPr/>
        <p:txBody>
          <a:bodyPr>
            <a:normAutofit fontScale="77500" lnSpcReduction="20000"/>
          </a:bodyPr>
          <a:lstStyle/>
          <a:p>
            <a:r>
              <a:rPr lang="en-US" altLang="zh-CN" dirty="0"/>
              <a:t>2</a:t>
            </a:r>
            <a:r>
              <a:rPr lang="zh-CN" altLang="en-US" dirty="0"/>
              <a:t>、计量消费者剩余的间接方法（</a:t>
            </a:r>
            <a:r>
              <a:rPr lang="en-US" altLang="zh-CN" dirty="0"/>
              <a:t>Indirect Measures of Consumer Surplus</a:t>
            </a:r>
            <a:r>
              <a:rPr lang="zh-CN" altLang="en-US" dirty="0"/>
              <a:t>）</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旅行费用法、特征法（享乐法）</a:t>
            </a:r>
            <a:br>
              <a:rPr lang="en-US" altLang="zh-CN" dirty="0"/>
            </a:br>
            <a:r>
              <a:rPr lang="en-US" altLang="zh-CN" dirty="0"/>
              <a:t>the travel cost approach</a:t>
            </a:r>
            <a:br>
              <a:rPr lang="en-US" altLang="zh-CN" dirty="0"/>
            </a:br>
            <a:r>
              <a:rPr lang="en-US" altLang="zh-CN" dirty="0"/>
              <a:t>hedonic price method</a:t>
            </a:r>
            <a:endParaRPr lang="zh-CN" altLang="en-US" dirty="0"/>
          </a:p>
        </p:txBody>
      </p:sp>
      <p:sp>
        <p:nvSpPr>
          <p:cNvPr id="3" name="文本占位符 2"/>
          <p:cNvSpPr>
            <a:spLocks noGrp="1"/>
          </p:cNvSpPr>
          <p:nvPr>
            <p:ph type="body" idx="1"/>
          </p:nvPr>
        </p:nvSpPr>
        <p:spPr/>
        <p:txBody>
          <a:bodyPr>
            <a:normAutofit fontScale="92500"/>
          </a:bodyPr>
          <a:lstStyle/>
          <a:p>
            <a:r>
              <a:rPr lang="zh-CN" altLang="en-US" dirty="0"/>
              <a:t>显示型的支付意愿法（</a:t>
            </a:r>
            <a:r>
              <a:rPr lang="en-US" altLang="zh-CN" dirty="0"/>
              <a:t>Reveal willingness to pay</a:t>
            </a:r>
            <a:r>
              <a:rPr lang="zh-CN" altLang="en-US" dirty="0"/>
              <a:t>）</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200" dirty="0"/>
              <a:t>（</a:t>
            </a:r>
            <a:r>
              <a:rPr lang="en-US" altLang="zh-CN" sz="3200" dirty="0"/>
              <a:t>1</a:t>
            </a:r>
            <a:r>
              <a:rPr lang="zh-CN" altLang="en-US" sz="3200" dirty="0"/>
              <a:t>）</a:t>
            </a:r>
            <a:r>
              <a:rPr lang="en-US" altLang="zh-CN" sz="3200" dirty="0"/>
              <a:t>Theory of Recreation Behavior</a:t>
            </a:r>
            <a:endParaRPr lang="zh-CN" altLang="en-US" sz="3200" dirty="0"/>
          </a:p>
        </p:txBody>
      </p:sp>
      <p:sp>
        <p:nvSpPr>
          <p:cNvPr id="3" name="内容占位符 2"/>
          <p:cNvSpPr>
            <a:spLocks noGrp="1"/>
          </p:cNvSpPr>
          <p:nvPr>
            <p:ph idx="1"/>
          </p:nvPr>
        </p:nvSpPr>
        <p:spPr>
          <a:xfrm>
            <a:off x="467544" y="1124744"/>
            <a:ext cx="8424936" cy="5184576"/>
          </a:xfrm>
        </p:spPr>
        <p:txBody>
          <a:bodyPr/>
          <a:lstStyle/>
          <a:p>
            <a:r>
              <a:rPr lang="zh-CN" altLang="en-US" dirty="0"/>
              <a:t>游乐行为理论</a:t>
            </a:r>
            <a:endParaRPr lang="en-US" altLang="zh-CN" dirty="0"/>
          </a:p>
          <a:p>
            <a:r>
              <a:rPr lang="en-US" altLang="zh-CN" dirty="0"/>
              <a:t>Fixed costs</a:t>
            </a:r>
            <a:r>
              <a:rPr lang="zh-CN" altLang="en-US" dirty="0"/>
              <a:t>：固定成本不随在游乐地所花时间的长短而变化</a:t>
            </a:r>
            <a:endParaRPr lang="en-US" altLang="zh-CN" dirty="0"/>
          </a:p>
          <a:p>
            <a:pPr lvl="1"/>
            <a:r>
              <a:rPr lang="en-US" altLang="zh-CN" dirty="0"/>
              <a:t>The cost of travelling to and from the site</a:t>
            </a:r>
            <a:endParaRPr lang="en-US" altLang="zh-CN" dirty="0"/>
          </a:p>
          <a:p>
            <a:pPr lvl="1"/>
            <a:r>
              <a:rPr lang="zh-CN" altLang="en-US" dirty="0"/>
              <a:t>往返于游乐地的旅行费用</a:t>
            </a:r>
            <a:endParaRPr lang="en-US" altLang="zh-CN" dirty="0"/>
          </a:p>
          <a:p>
            <a:pPr lvl="1"/>
            <a:r>
              <a:rPr lang="en-US" altLang="zh-CN" dirty="0"/>
              <a:t>Any fee that must be paid for access</a:t>
            </a:r>
            <a:endParaRPr lang="en-US" altLang="zh-CN" dirty="0"/>
          </a:p>
          <a:p>
            <a:pPr lvl="1"/>
            <a:r>
              <a:rPr lang="zh-CN" altLang="en-US" dirty="0"/>
              <a:t>所需要支付的门票</a:t>
            </a:r>
            <a:endParaRPr lang="en-US" altLang="zh-CN" dirty="0"/>
          </a:p>
          <a:p>
            <a:r>
              <a:rPr lang="en-US" altLang="zh-CN" dirty="0"/>
              <a:t>Variable costs</a:t>
            </a:r>
            <a:r>
              <a:rPr lang="zh-CN" altLang="en-US" dirty="0"/>
              <a:t>：可变成本取决于游乐时间的长短</a:t>
            </a:r>
            <a:endParaRPr lang="en-US" altLang="zh-CN" dirty="0"/>
          </a:p>
          <a:p>
            <a:pPr lvl="1"/>
            <a:r>
              <a:rPr lang="en-US" altLang="zh-CN" dirty="0"/>
              <a:t>The cost of food and </a:t>
            </a:r>
            <a:r>
              <a:rPr lang="en-US" altLang="zh-CN" dirty="0" err="1"/>
              <a:t>suppies</a:t>
            </a:r>
            <a:r>
              <a:rPr lang="en-US" altLang="zh-CN" dirty="0"/>
              <a:t>	</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5"/>
          <p:cNvSpPr>
            <a:spLocks noChangeArrowheads="1"/>
          </p:cNvSpPr>
          <p:nvPr/>
        </p:nvSpPr>
        <p:spPr bwMode="auto">
          <a:xfrm>
            <a:off x="611560" y="371476"/>
            <a:ext cx="8137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b="1" dirty="0">
                <a:solidFill>
                  <a:srgbClr val="000000"/>
                </a:solidFill>
                <a:latin typeface="Times New Roman" panose="02020603050405020304" pitchFamily="18" charset="0"/>
                <a:cs typeface="Times New Roman" panose="02020603050405020304" pitchFamily="18" charset="0"/>
              </a:rPr>
              <a:t>Figure 5.2: Equilibrium level of recreation consumption at two levels of fixed cost</a:t>
            </a:r>
            <a:endParaRPr lang="en-CA" b="1" dirty="0">
              <a:latin typeface="Times New Roman" panose="02020603050405020304" pitchFamily="18" charset="0"/>
              <a:cs typeface="Times New Roman" panose="02020603050405020304" pitchFamily="18" charset="0"/>
            </a:endParaRPr>
          </a:p>
        </p:txBody>
      </p:sp>
      <p:grpSp>
        <p:nvGrpSpPr>
          <p:cNvPr id="23555" name="Group 2"/>
          <p:cNvGrpSpPr/>
          <p:nvPr/>
        </p:nvGrpSpPr>
        <p:grpSpPr bwMode="auto">
          <a:xfrm>
            <a:off x="683568" y="980729"/>
            <a:ext cx="7849245" cy="5185122"/>
            <a:chOff x="2348" y="2163"/>
            <a:chExt cx="6572" cy="4409"/>
          </a:xfrm>
        </p:grpSpPr>
        <p:sp>
          <p:nvSpPr>
            <p:cNvPr id="23558" name="Text Box 1959"/>
            <p:cNvSpPr txBox="1">
              <a:spLocks noChangeArrowheads="1"/>
            </p:cNvSpPr>
            <p:nvPr/>
          </p:nvSpPr>
          <p:spPr bwMode="auto">
            <a:xfrm>
              <a:off x="3581" y="4112"/>
              <a:ext cx="514"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V</a:t>
              </a:r>
              <a:r>
                <a:rPr lang="en-US" altLang="zh-CN" i="1" baseline="-25000">
                  <a:latin typeface="Times New Roman" panose="02020603050405020304" pitchFamily="18" charset="0"/>
                  <a:cs typeface="Times New Roman" panose="02020603050405020304" pitchFamily="18" charset="0"/>
                </a:rPr>
                <a:t>X</a:t>
              </a:r>
              <a:br>
                <a:rPr lang="en-US" altLang="zh-CN">
                  <a:latin typeface="Times New Roman" panose="02020603050405020304" pitchFamily="18" charset="0"/>
                  <a:cs typeface="Times New Roman" panose="02020603050405020304" pitchFamily="18" charset="0"/>
                </a:rPr>
              </a:br>
              <a:r>
                <a:rPr lang="en-US" altLang="zh-CN" i="1">
                  <a:latin typeface="Times New Roman" panose="02020603050405020304" pitchFamily="18" charset="0"/>
                  <a:cs typeface="Times New Roman" panose="02020603050405020304" pitchFamily="18" charset="0"/>
                </a:rPr>
                <a:t>T</a:t>
              </a:r>
              <a:r>
                <a:rPr lang="en-US" altLang="zh-CN" i="1" baseline="-25000">
                  <a:latin typeface="Times New Roman" panose="02020603050405020304" pitchFamily="18" charset="0"/>
                  <a:cs typeface="Times New Roman" panose="02020603050405020304" pitchFamily="18" charset="0"/>
                </a:rPr>
                <a:t>M</a:t>
              </a:r>
              <a:endParaRPr lang="en-CA">
                <a:latin typeface="Times New Roman" panose="02020603050405020304" pitchFamily="18" charset="0"/>
                <a:cs typeface="Times New Roman" panose="02020603050405020304" pitchFamily="18" charset="0"/>
              </a:endParaRPr>
            </a:p>
          </p:txBody>
        </p:sp>
        <p:sp>
          <p:nvSpPr>
            <p:cNvPr id="23559" name="Text Box 1960"/>
            <p:cNvSpPr txBox="1">
              <a:spLocks noChangeArrowheads="1"/>
            </p:cNvSpPr>
            <p:nvPr/>
          </p:nvSpPr>
          <p:spPr bwMode="auto">
            <a:xfrm>
              <a:off x="8200" y="5434"/>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288"/>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R</a:t>
              </a:r>
              <a:r>
                <a:rPr lang="en-US" altLang="zh-CN" i="1" baseline="-25000">
                  <a:latin typeface="Times New Roman" panose="02020603050405020304" pitchFamily="18" charset="0"/>
                  <a:cs typeface="Times New Roman" panose="02020603050405020304" pitchFamily="18" charset="0"/>
                </a:rPr>
                <a:t>X</a:t>
              </a:r>
              <a:endParaRPr lang="en-CA">
                <a:latin typeface="Times New Roman" panose="02020603050405020304" pitchFamily="18" charset="0"/>
                <a:cs typeface="Times New Roman" panose="02020603050405020304" pitchFamily="18" charset="0"/>
              </a:endParaRPr>
            </a:p>
          </p:txBody>
        </p:sp>
        <p:sp>
          <p:nvSpPr>
            <p:cNvPr id="23560" name="Text Box 1961"/>
            <p:cNvSpPr txBox="1">
              <a:spLocks noChangeArrowheads="1"/>
            </p:cNvSpPr>
            <p:nvPr/>
          </p:nvSpPr>
          <p:spPr bwMode="auto">
            <a:xfrm>
              <a:off x="6732" y="5445"/>
              <a:ext cx="57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288"/>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R</a:t>
              </a:r>
              <a:r>
                <a:rPr lang="en-US" altLang="zh-CN" i="1" baseline="-25000">
                  <a:latin typeface="Times New Roman" panose="02020603050405020304" pitchFamily="18" charset="0"/>
                  <a:cs typeface="Times New Roman" panose="02020603050405020304" pitchFamily="18" charset="0"/>
                </a:rPr>
                <a:t>M</a:t>
              </a:r>
              <a:endParaRPr lang="en-CA">
                <a:latin typeface="Times New Roman" panose="02020603050405020304" pitchFamily="18" charset="0"/>
                <a:cs typeface="Times New Roman" panose="02020603050405020304" pitchFamily="18" charset="0"/>
              </a:endParaRPr>
            </a:p>
          </p:txBody>
        </p:sp>
        <p:sp>
          <p:nvSpPr>
            <p:cNvPr id="23561" name="Text Box 1962"/>
            <p:cNvSpPr txBox="1">
              <a:spLocks noChangeArrowheads="1"/>
            </p:cNvSpPr>
            <p:nvPr/>
          </p:nvSpPr>
          <p:spPr bwMode="auto">
            <a:xfrm>
              <a:off x="5041" y="5682"/>
              <a:ext cx="925"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Q</a:t>
              </a:r>
              <a:r>
                <a:rPr lang="en-US" altLang="zh-CN" i="1" baseline="-25000">
                  <a:latin typeface="Times New Roman" panose="02020603050405020304" pitchFamily="18" charset="0"/>
                  <a:cs typeface="Times New Roman" panose="02020603050405020304" pitchFamily="18" charset="0"/>
                </a:rPr>
                <a:t>M</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Q</a:t>
              </a:r>
              <a:r>
                <a:rPr lang="en-US" altLang="zh-CN" i="1" baseline="-25000">
                  <a:latin typeface="Times New Roman" panose="02020603050405020304" pitchFamily="18" charset="0"/>
                  <a:cs typeface="Times New Roman" panose="02020603050405020304" pitchFamily="18" charset="0"/>
                </a:rPr>
                <a:t>X</a:t>
              </a:r>
              <a:endParaRPr lang="en-CA">
                <a:latin typeface="Times New Roman" panose="02020603050405020304" pitchFamily="18" charset="0"/>
                <a:cs typeface="Times New Roman" panose="02020603050405020304" pitchFamily="18" charset="0"/>
              </a:endParaRPr>
            </a:p>
          </p:txBody>
        </p:sp>
        <p:sp>
          <p:nvSpPr>
            <p:cNvPr id="23562" name="Text Box 1963"/>
            <p:cNvSpPr txBox="1">
              <a:spLocks noChangeArrowheads="1"/>
            </p:cNvSpPr>
            <p:nvPr/>
          </p:nvSpPr>
          <p:spPr bwMode="auto">
            <a:xfrm>
              <a:off x="3525" y="4794"/>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4572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V</a:t>
              </a:r>
              <a:r>
                <a:rPr lang="en-US" altLang="zh-CN" i="1" baseline="-25000">
                  <a:latin typeface="Times New Roman" panose="02020603050405020304" pitchFamily="18" charset="0"/>
                  <a:cs typeface="Times New Roman" panose="02020603050405020304" pitchFamily="18" charset="0"/>
                </a:rPr>
                <a:t>M</a:t>
              </a:r>
              <a:endParaRPr lang="en-CA">
                <a:latin typeface="Times New Roman" panose="02020603050405020304" pitchFamily="18" charset="0"/>
                <a:cs typeface="Times New Roman" panose="02020603050405020304" pitchFamily="18" charset="0"/>
              </a:endParaRPr>
            </a:p>
          </p:txBody>
        </p:sp>
        <p:sp>
          <p:nvSpPr>
            <p:cNvPr id="23563" name="Text Box 1964"/>
            <p:cNvSpPr txBox="1">
              <a:spLocks noChangeArrowheads="1"/>
            </p:cNvSpPr>
            <p:nvPr/>
          </p:nvSpPr>
          <p:spPr bwMode="auto">
            <a:xfrm>
              <a:off x="3607" y="3429"/>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T</a:t>
              </a:r>
              <a:r>
                <a:rPr lang="en-US" altLang="zh-CN" i="1" baseline="-25000">
                  <a:latin typeface="Times New Roman" panose="02020603050405020304" pitchFamily="18" charset="0"/>
                  <a:cs typeface="Times New Roman" panose="02020603050405020304" pitchFamily="18" charset="0"/>
                </a:rPr>
                <a:t>X</a:t>
              </a:r>
              <a:endParaRPr lang="en-CA">
                <a:latin typeface="Times New Roman" panose="02020603050405020304" pitchFamily="18" charset="0"/>
                <a:cs typeface="Times New Roman" panose="02020603050405020304" pitchFamily="18" charset="0"/>
              </a:endParaRPr>
            </a:p>
          </p:txBody>
        </p:sp>
        <p:sp>
          <p:nvSpPr>
            <p:cNvPr id="23564" name="Text Box 1965"/>
            <p:cNvSpPr txBox="1">
              <a:spLocks noChangeArrowheads="1"/>
            </p:cNvSpPr>
            <p:nvPr/>
          </p:nvSpPr>
          <p:spPr bwMode="auto">
            <a:xfrm>
              <a:off x="3626" y="3158"/>
              <a:ext cx="57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Y</a:t>
              </a:r>
              <a:endParaRPr lang="en-CA">
                <a:latin typeface="Times New Roman" panose="02020603050405020304" pitchFamily="18" charset="0"/>
                <a:cs typeface="Times New Roman" panose="02020603050405020304" pitchFamily="18" charset="0"/>
              </a:endParaRPr>
            </a:p>
          </p:txBody>
        </p:sp>
        <p:sp>
          <p:nvSpPr>
            <p:cNvPr id="23565" name="Text Box 1966"/>
            <p:cNvSpPr txBox="1">
              <a:spLocks noChangeArrowheads="1"/>
            </p:cNvSpPr>
            <p:nvPr/>
          </p:nvSpPr>
          <p:spPr bwMode="auto">
            <a:xfrm>
              <a:off x="2348" y="3793"/>
              <a:ext cx="1127"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a:latin typeface="Times New Roman" panose="02020603050405020304" pitchFamily="18" charset="0"/>
                  <a:cs typeface="Times New Roman" panose="02020603050405020304" pitchFamily="18" charset="0"/>
                </a:rPr>
                <a:t>Income ($)</a:t>
              </a:r>
              <a:endParaRPr lang="en-CA">
                <a:latin typeface="Times New Roman" panose="02020603050405020304" pitchFamily="18" charset="0"/>
                <a:cs typeface="Times New Roman" panose="02020603050405020304" pitchFamily="18" charset="0"/>
              </a:endParaRPr>
            </a:p>
          </p:txBody>
        </p:sp>
        <p:sp>
          <p:nvSpPr>
            <p:cNvPr id="23566" name="Text Box 1967"/>
            <p:cNvSpPr txBox="1">
              <a:spLocks noChangeArrowheads="1"/>
            </p:cNvSpPr>
            <p:nvPr/>
          </p:nvSpPr>
          <p:spPr bwMode="auto">
            <a:xfrm>
              <a:off x="3652" y="2340"/>
              <a:ext cx="570"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i="1">
                  <a:latin typeface="Times New Roman" panose="02020603050405020304" pitchFamily="18" charset="0"/>
                  <a:cs typeface="Times New Roman" panose="02020603050405020304" pitchFamily="18" charset="0"/>
                </a:rPr>
                <a:t>Z</a:t>
              </a:r>
              <a:endParaRPr lang="en-CA">
                <a:latin typeface="Times New Roman" panose="02020603050405020304" pitchFamily="18" charset="0"/>
                <a:cs typeface="Times New Roman" panose="02020603050405020304" pitchFamily="18" charset="0"/>
              </a:endParaRPr>
            </a:p>
          </p:txBody>
        </p:sp>
        <p:sp>
          <p:nvSpPr>
            <p:cNvPr id="23567" name="Text Box 1968"/>
            <p:cNvSpPr txBox="1">
              <a:spLocks noChangeArrowheads="1"/>
            </p:cNvSpPr>
            <p:nvPr/>
          </p:nvSpPr>
          <p:spPr bwMode="auto">
            <a:xfrm>
              <a:off x="3686" y="5592"/>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0</a:t>
              </a:r>
              <a:endParaRPr lang="en-CA">
                <a:latin typeface="Times New Roman" panose="02020603050405020304" pitchFamily="18" charset="0"/>
                <a:cs typeface="Times New Roman" panose="02020603050405020304" pitchFamily="18" charset="0"/>
              </a:endParaRPr>
            </a:p>
          </p:txBody>
        </p:sp>
        <p:sp>
          <p:nvSpPr>
            <p:cNvPr id="23568" name="Text Box 1969"/>
            <p:cNvSpPr txBox="1">
              <a:spLocks noChangeArrowheads="1"/>
            </p:cNvSpPr>
            <p:nvPr/>
          </p:nvSpPr>
          <p:spPr bwMode="auto">
            <a:xfrm>
              <a:off x="6521" y="5010"/>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II</a:t>
              </a:r>
              <a:endParaRPr lang="en-CA">
                <a:latin typeface="Times New Roman" panose="02020603050405020304" pitchFamily="18" charset="0"/>
                <a:cs typeface="Times New Roman" panose="02020603050405020304" pitchFamily="18" charset="0"/>
              </a:endParaRPr>
            </a:p>
          </p:txBody>
        </p:sp>
        <p:sp>
          <p:nvSpPr>
            <p:cNvPr id="23569" name="Text Box 1970"/>
            <p:cNvSpPr txBox="1">
              <a:spLocks noChangeArrowheads="1"/>
            </p:cNvSpPr>
            <p:nvPr/>
          </p:nvSpPr>
          <p:spPr bwMode="auto">
            <a:xfrm>
              <a:off x="6762" y="4530"/>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I</a:t>
              </a:r>
              <a:endParaRPr lang="en-CA">
                <a:latin typeface="Times New Roman" panose="02020603050405020304" pitchFamily="18" charset="0"/>
                <a:cs typeface="Times New Roman" panose="02020603050405020304" pitchFamily="18" charset="0"/>
              </a:endParaRPr>
            </a:p>
          </p:txBody>
        </p:sp>
        <p:cxnSp>
          <p:nvCxnSpPr>
            <p:cNvPr id="23570" name="AutoShape 1971"/>
            <p:cNvCxnSpPr>
              <a:cxnSpLocks noChangeShapeType="1"/>
            </p:cNvCxnSpPr>
            <p:nvPr/>
          </p:nvCxnSpPr>
          <p:spPr bwMode="auto">
            <a:xfrm>
              <a:off x="3981" y="3612"/>
              <a:ext cx="4369" cy="2129"/>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23571" name="Text Box 1972"/>
            <p:cNvSpPr txBox="1">
              <a:spLocks noChangeArrowheads="1"/>
            </p:cNvSpPr>
            <p:nvPr/>
          </p:nvSpPr>
          <p:spPr bwMode="auto">
            <a:xfrm>
              <a:off x="5192" y="6102"/>
              <a:ext cx="1700"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Recreation days</a:t>
              </a:r>
              <a:endParaRPr lang="en-CA">
                <a:latin typeface="Times New Roman" panose="02020603050405020304" pitchFamily="18" charset="0"/>
                <a:cs typeface="Times New Roman" panose="02020603050405020304" pitchFamily="18" charset="0"/>
              </a:endParaRPr>
            </a:p>
          </p:txBody>
        </p:sp>
        <p:sp>
          <p:nvSpPr>
            <p:cNvPr id="23572" name="Arc 1973"/>
            <p:cNvSpPr/>
            <p:nvPr/>
          </p:nvSpPr>
          <p:spPr bwMode="auto">
            <a:xfrm rot="10190341">
              <a:off x="4188" y="2163"/>
              <a:ext cx="3794" cy="2671"/>
            </a:xfrm>
            <a:custGeom>
              <a:avLst/>
              <a:gdLst>
                <a:gd name="T0" fmla="*/ 237 w 21600"/>
                <a:gd name="T1" fmla="*/ 0 h 20733"/>
                <a:gd name="T2" fmla="*/ 666 w 21600"/>
                <a:gd name="T3" fmla="*/ 344 h 20733"/>
                <a:gd name="T4" fmla="*/ 0 w 21600"/>
                <a:gd name="T5" fmla="*/ 335 h 20733"/>
                <a:gd name="T6" fmla="*/ 0 60000 65536"/>
                <a:gd name="T7" fmla="*/ 0 60000 65536"/>
                <a:gd name="T8" fmla="*/ 0 60000 65536"/>
                <a:gd name="T9" fmla="*/ 0 w 21600"/>
                <a:gd name="T10" fmla="*/ 0 h 20733"/>
                <a:gd name="T11" fmla="*/ 21600 w 21600"/>
                <a:gd name="T12" fmla="*/ 20733 h 20733"/>
              </a:gdLst>
              <a:ahLst/>
              <a:cxnLst>
                <a:cxn ang="T6">
                  <a:pos x="T0" y="T1"/>
                </a:cxn>
                <a:cxn ang="T7">
                  <a:pos x="T2" y="T3"/>
                </a:cxn>
                <a:cxn ang="T8">
                  <a:pos x="T4" y="T5"/>
                </a:cxn>
              </a:cxnLst>
              <a:rect l="T9" t="T10" r="T11" b="T12"/>
              <a:pathLst>
                <a:path w="21600" h="20733" fill="none" extrusionOk="0">
                  <a:moveTo>
                    <a:pt x="7684" y="0"/>
                  </a:moveTo>
                  <a:cubicBezTo>
                    <a:pt x="16062" y="3189"/>
                    <a:pt x="21600" y="11222"/>
                    <a:pt x="21600" y="20187"/>
                  </a:cubicBezTo>
                  <a:cubicBezTo>
                    <a:pt x="21600" y="20369"/>
                    <a:pt x="21597" y="20551"/>
                    <a:pt x="21593" y="20733"/>
                  </a:cubicBezTo>
                </a:path>
                <a:path w="21600" h="20733" stroke="0" extrusionOk="0">
                  <a:moveTo>
                    <a:pt x="7684" y="0"/>
                  </a:moveTo>
                  <a:cubicBezTo>
                    <a:pt x="16062" y="3189"/>
                    <a:pt x="21600" y="11222"/>
                    <a:pt x="21600" y="20187"/>
                  </a:cubicBezTo>
                  <a:cubicBezTo>
                    <a:pt x="21600" y="20369"/>
                    <a:pt x="21597" y="20551"/>
                    <a:pt x="21593" y="20733"/>
                  </a:cubicBezTo>
                  <a:lnTo>
                    <a:pt x="0" y="20187"/>
                  </a:lnTo>
                  <a:lnTo>
                    <a:pt x="7684"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cxnSp>
          <p:nvCxnSpPr>
            <p:cNvPr id="23573" name="AutoShape 1974"/>
            <p:cNvCxnSpPr>
              <a:cxnSpLocks noChangeShapeType="1"/>
            </p:cNvCxnSpPr>
            <p:nvPr/>
          </p:nvCxnSpPr>
          <p:spPr bwMode="auto">
            <a:xfrm>
              <a:off x="3981" y="5742"/>
              <a:ext cx="4939"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23574" name="AutoShape 1975"/>
            <p:cNvCxnSpPr>
              <a:cxnSpLocks noChangeShapeType="1"/>
            </p:cNvCxnSpPr>
            <p:nvPr/>
          </p:nvCxnSpPr>
          <p:spPr bwMode="auto">
            <a:xfrm flipV="1">
              <a:off x="3981" y="2235"/>
              <a:ext cx="1" cy="3506"/>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23575" name="AutoShape 1976"/>
            <p:cNvCxnSpPr>
              <a:cxnSpLocks noChangeShapeType="1"/>
            </p:cNvCxnSpPr>
            <p:nvPr/>
          </p:nvCxnSpPr>
          <p:spPr bwMode="auto">
            <a:xfrm>
              <a:off x="3996" y="4410"/>
              <a:ext cx="2870" cy="1318"/>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23576" name="Arc 1977"/>
            <p:cNvSpPr/>
            <p:nvPr/>
          </p:nvSpPr>
          <p:spPr bwMode="auto">
            <a:xfrm rot="10190341">
              <a:off x="4155" y="2942"/>
              <a:ext cx="2591" cy="2462"/>
            </a:xfrm>
            <a:custGeom>
              <a:avLst/>
              <a:gdLst>
                <a:gd name="T0" fmla="*/ 37 w 21600"/>
                <a:gd name="T1" fmla="*/ 0 h 24037"/>
                <a:gd name="T2" fmla="*/ 309 w 21600"/>
                <a:gd name="T3" fmla="*/ 252 h 24037"/>
                <a:gd name="T4" fmla="*/ 0 w 21600"/>
                <a:gd name="T5" fmla="*/ 225 h 24037"/>
                <a:gd name="T6" fmla="*/ 0 60000 65536"/>
                <a:gd name="T7" fmla="*/ 0 60000 65536"/>
                <a:gd name="T8" fmla="*/ 0 60000 65536"/>
                <a:gd name="T9" fmla="*/ 0 w 21600"/>
                <a:gd name="T10" fmla="*/ 0 h 24037"/>
                <a:gd name="T11" fmla="*/ 21600 w 21600"/>
                <a:gd name="T12" fmla="*/ 24037 h 24037"/>
              </a:gdLst>
              <a:ahLst/>
              <a:cxnLst>
                <a:cxn ang="T6">
                  <a:pos x="T0" y="T1"/>
                </a:cxn>
                <a:cxn ang="T7">
                  <a:pos x="T2" y="T3"/>
                </a:cxn>
                <a:cxn ang="T8">
                  <a:pos x="T4" y="T5"/>
                </a:cxn>
              </a:cxnLst>
              <a:rect l="T9" t="T10" r="T11" b="T12"/>
              <a:pathLst>
                <a:path w="21600" h="24037" fill="none" extrusionOk="0">
                  <a:moveTo>
                    <a:pt x="2577" y="0"/>
                  </a:moveTo>
                  <a:cubicBezTo>
                    <a:pt x="13432" y="1305"/>
                    <a:pt x="21600" y="10513"/>
                    <a:pt x="21600" y="21446"/>
                  </a:cubicBezTo>
                  <a:cubicBezTo>
                    <a:pt x="21600" y="22312"/>
                    <a:pt x="21547" y="23177"/>
                    <a:pt x="21444" y="24037"/>
                  </a:cubicBezTo>
                </a:path>
                <a:path w="21600" h="24037" stroke="0" extrusionOk="0">
                  <a:moveTo>
                    <a:pt x="2577" y="0"/>
                  </a:moveTo>
                  <a:cubicBezTo>
                    <a:pt x="13432" y="1305"/>
                    <a:pt x="21600" y="10513"/>
                    <a:pt x="21600" y="21446"/>
                  </a:cubicBezTo>
                  <a:cubicBezTo>
                    <a:pt x="21600" y="22312"/>
                    <a:pt x="21547" y="23177"/>
                    <a:pt x="21444" y="24037"/>
                  </a:cubicBezTo>
                  <a:lnTo>
                    <a:pt x="0" y="21446"/>
                  </a:lnTo>
                  <a:lnTo>
                    <a:pt x="2577"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cxnSp>
          <p:nvCxnSpPr>
            <p:cNvPr id="23577" name="AutoShape 1978"/>
            <p:cNvCxnSpPr>
              <a:cxnSpLocks noChangeShapeType="1"/>
            </p:cNvCxnSpPr>
            <p:nvPr/>
          </p:nvCxnSpPr>
          <p:spPr bwMode="auto">
            <a:xfrm>
              <a:off x="3964" y="4334"/>
              <a:ext cx="1477"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3578" name="AutoShape 1979"/>
            <p:cNvCxnSpPr>
              <a:cxnSpLocks noChangeShapeType="1"/>
            </p:cNvCxnSpPr>
            <p:nvPr/>
          </p:nvCxnSpPr>
          <p:spPr bwMode="auto">
            <a:xfrm flipH="1">
              <a:off x="5424" y="4320"/>
              <a:ext cx="17" cy="1428"/>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3579" name="AutoShape 1980"/>
            <p:cNvCxnSpPr>
              <a:cxnSpLocks noChangeShapeType="1"/>
            </p:cNvCxnSpPr>
            <p:nvPr/>
          </p:nvCxnSpPr>
          <p:spPr bwMode="auto">
            <a:xfrm>
              <a:off x="4001" y="4995"/>
              <a:ext cx="1310"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3580" name="AutoShape 1981"/>
            <p:cNvCxnSpPr>
              <a:cxnSpLocks noChangeShapeType="1"/>
            </p:cNvCxnSpPr>
            <p:nvPr/>
          </p:nvCxnSpPr>
          <p:spPr bwMode="auto">
            <a:xfrm>
              <a:off x="5311" y="5026"/>
              <a:ext cx="1" cy="717"/>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grpSp>
      <p:sp>
        <p:nvSpPr>
          <p:cNvPr id="23556" name="Rectangle 39"/>
          <p:cNvSpPr>
            <a:spLocks noChangeArrowheads="1"/>
          </p:cNvSpPr>
          <p:nvPr/>
        </p:nvSpPr>
        <p:spPr bwMode="auto">
          <a:xfrm>
            <a:off x="0" y="2917825"/>
            <a:ext cx="18415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br>
              <a:rPr lang="en-US" altLang="zh-CN" sz="1000">
                <a:latin typeface="Roman 10cpi"/>
                <a:ea typeface="Roman 10cpi"/>
                <a:cs typeface="Times New Roman" panose="02020603050405020304" pitchFamily="18" charset="0"/>
              </a:rPr>
            </a:br>
            <a:endParaRPr lang="en-CA" sz="1100">
              <a:ea typeface="Roman 10cpi"/>
              <a:cs typeface="Times New Roman" panose="02020603050405020304" pitchFamily="18" charset="0"/>
            </a:endParaRPr>
          </a:p>
          <a:p>
            <a:pPr eaLnBrk="0" hangingPunct="0"/>
            <a:endParaRPr lang="en-CA">
              <a:ea typeface="Roman 10cpi"/>
              <a:cs typeface="Times New Roman" panose="02020603050405020304" pitchFamily="18" charset="0"/>
            </a:endParaRPr>
          </a:p>
        </p:txBody>
      </p:sp>
      <p:sp>
        <p:nvSpPr>
          <p:cNvPr id="29"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pitchFamily="34" charset="0"/>
              </a:rPr>
              <a:t>Adapted from </a:t>
            </a:r>
            <a:r>
              <a:rPr lang="en-US" altLang="zh-CN" i="1">
                <a:solidFill>
                  <a:srgbClr val="898989"/>
                </a:solidFill>
                <a:latin typeface="Calibri" panose="020F0502020204030204" pitchFamily="34" charset="0"/>
              </a:rPr>
              <a:t>Forest Economics </a:t>
            </a:r>
            <a:r>
              <a:rPr lang="en-US" altLang="zh-CN">
                <a:solidFill>
                  <a:srgbClr val="898989"/>
                </a:solidFill>
                <a:latin typeface="Calibri" panose="020F0502020204030204" pitchFamily="34" charset="0"/>
              </a:rPr>
              <a:t>by Daowei Zhang and Peter H. Pearse, published by UBC Press, 2011. </a:t>
            </a:r>
            <a:endParaRPr lang="en-CA">
              <a:solidFill>
                <a:srgbClr val="898989"/>
              </a:solidFill>
              <a:latin typeface="Calibri" panose="020F0502020204030204" pitchFamily="34" charset="0"/>
            </a:endParaRPr>
          </a:p>
        </p:txBody>
      </p:sp>
      <p:cxnSp>
        <p:nvCxnSpPr>
          <p:cNvPr id="3" name="直接箭头连接符 2"/>
          <p:cNvCxnSpPr/>
          <p:nvPr/>
        </p:nvCxnSpPr>
        <p:spPr>
          <a:xfrm>
            <a:off x="1835696" y="1772816"/>
            <a:ext cx="822127" cy="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
        <p:nvSpPr>
          <p:cNvPr id="4" name="TextBox 3"/>
          <p:cNvSpPr txBox="1"/>
          <p:nvPr/>
        </p:nvSpPr>
        <p:spPr>
          <a:xfrm>
            <a:off x="308510" y="1449650"/>
            <a:ext cx="1706068" cy="646331"/>
          </a:xfrm>
          <a:prstGeom prst="rect">
            <a:avLst/>
          </a:prstGeom>
          <a:noFill/>
        </p:spPr>
        <p:txBody>
          <a:bodyPr wrap="square" rtlCol="0">
            <a:spAutoFit/>
          </a:bodyPr>
          <a:lstStyle/>
          <a:p>
            <a:r>
              <a:rPr lang="zh-CN" altLang="en-US" b="1" dirty="0">
                <a:ln w="10541" cmpd="sng">
                  <a:solidFill>
                    <a:srgbClr val="00B0F0"/>
                  </a:solidFill>
                  <a:prstDash val="solid"/>
                </a:ln>
                <a:solidFill>
                  <a:schemeClr val="accent5">
                    <a:lumMod val="60000"/>
                    <a:lumOff val="40000"/>
                  </a:schemeClr>
                </a:solidFill>
              </a:rPr>
              <a:t>纵坐标：游乐者的收入</a:t>
            </a:r>
            <a:endParaRPr lang="zh-CN" altLang="en-US" b="1" dirty="0">
              <a:ln w="10541" cmpd="sng">
                <a:solidFill>
                  <a:srgbClr val="00B0F0"/>
                </a:solidFill>
                <a:prstDash val="solid"/>
              </a:ln>
              <a:solidFill>
                <a:schemeClr val="accent5">
                  <a:lumMod val="60000"/>
                  <a:lumOff val="40000"/>
                </a:schemeClr>
              </a:solidFill>
            </a:endParaRPr>
          </a:p>
        </p:txBody>
      </p:sp>
      <p:cxnSp>
        <p:nvCxnSpPr>
          <p:cNvPr id="32" name="直接箭头连接符 31"/>
          <p:cNvCxnSpPr/>
          <p:nvPr/>
        </p:nvCxnSpPr>
        <p:spPr>
          <a:xfrm flipV="1">
            <a:off x="6850757" y="5196803"/>
            <a:ext cx="0" cy="416313"/>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33" name="TextBox 32"/>
          <p:cNvSpPr txBox="1"/>
          <p:nvPr/>
        </p:nvSpPr>
        <p:spPr>
          <a:xfrm>
            <a:off x="6295801" y="5566317"/>
            <a:ext cx="1706068" cy="646331"/>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横坐标：游玩的天数</a:t>
            </a:r>
            <a:endPar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cxnSp>
        <p:nvCxnSpPr>
          <p:cNvPr id="8" name="直接连接符 7"/>
          <p:cNvCxnSpPr/>
          <p:nvPr/>
        </p:nvCxnSpPr>
        <p:spPr>
          <a:xfrm flipV="1">
            <a:off x="2627784" y="2276872"/>
            <a:ext cx="12225" cy="2916000"/>
          </a:xfrm>
          <a:prstGeom prst="line">
            <a:avLst/>
          </a:prstGeom>
        </p:spPr>
        <p:style>
          <a:lnRef idx="3">
            <a:schemeClr val="accent5"/>
          </a:lnRef>
          <a:fillRef idx="0">
            <a:schemeClr val="accent5"/>
          </a:fillRef>
          <a:effectRef idx="2">
            <a:schemeClr val="accent5"/>
          </a:effectRef>
          <a:fontRef idx="minor">
            <a:schemeClr val="tx1"/>
          </a:fontRef>
        </p:style>
      </p:cxnSp>
      <p:sp>
        <p:nvSpPr>
          <p:cNvPr id="9" name="TextBox 8"/>
          <p:cNvSpPr txBox="1"/>
          <p:nvPr/>
        </p:nvSpPr>
        <p:spPr>
          <a:xfrm>
            <a:off x="943838" y="2082612"/>
            <a:ext cx="1348446" cy="369332"/>
          </a:xfrm>
          <a:prstGeom prst="rect">
            <a:avLst/>
          </a:prstGeom>
          <a:noFill/>
        </p:spPr>
        <p:txBody>
          <a:bodyPr wrap="none" rtlCol="0">
            <a:spAutoFit/>
          </a:bodyPr>
          <a:lstStyle/>
          <a:p>
            <a:r>
              <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rPr>
              <a:t>OY</a:t>
            </a:r>
            <a:r>
              <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rPr>
              <a:t>：总收入</a:t>
            </a:r>
            <a:endParaRPr lang="zh-CN" alt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endParaRPr>
          </a:p>
        </p:txBody>
      </p:sp>
      <p:cxnSp>
        <p:nvCxnSpPr>
          <p:cNvPr id="12" name="直接连接符 11"/>
          <p:cNvCxnSpPr/>
          <p:nvPr/>
        </p:nvCxnSpPr>
        <p:spPr>
          <a:xfrm>
            <a:off x="2639626" y="2276872"/>
            <a:ext cx="0" cy="439679"/>
          </a:xfrm>
          <a:prstGeom prst="line">
            <a:avLst/>
          </a:prstGeom>
        </p:spPr>
        <p:style>
          <a:lnRef idx="3">
            <a:schemeClr val="accent4"/>
          </a:lnRef>
          <a:fillRef idx="0">
            <a:schemeClr val="accent4"/>
          </a:fillRef>
          <a:effectRef idx="2">
            <a:schemeClr val="accent4"/>
          </a:effectRef>
          <a:fontRef idx="minor">
            <a:schemeClr val="tx1"/>
          </a:fontRef>
        </p:style>
      </p:cxnSp>
      <p:sp>
        <p:nvSpPr>
          <p:cNvPr id="13" name="TextBox 12"/>
          <p:cNvSpPr txBox="1"/>
          <p:nvPr/>
        </p:nvSpPr>
        <p:spPr>
          <a:xfrm>
            <a:off x="540645" y="2451944"/>
            <a:ext cx="1646605" cy="369332"/>
          </a:xfrm>
          <a:prstGeom prst="rect">
            <a:avLst/>
          </a:prstGeom>
          <a:noFill/>
        </p:spPr>
        <p:txBody>
          <a:bodyPr wrap="none" rtlCol="0">
            <a:spAutoFit/>
            <a:scene3d>
              <a:camera prst="orthographicFront"/>
              <a:lightRig rig="glow" dir="tl">
                <a:rot lat="0" lon="0" rev="5400000"/>
              </a:lightRig>
            </a:scene3d>
            <a:sp3d extrusionH="57150" contourW="12700">
              <a:bevelT w="25400" h="25400"/>
              <a:extrusionClr>
                <a:srgbClr val="6699FF"/>
              </a:extrusionClr>
              <a:contourClr>
                <a:srgbClr val="6699FF"/>
              </a:contourClr>
            </a:sp3d>
          </a:bodyPr>
          <a:lstStyle/>
          <a:p>
            <a:r>
              <a:rPr lang="en-US" altLang="zh-CN" b="1" dirty="0" err="1">
                <a:ln w="11430"/>
                <a:solidFill>
                  <a:schemeClr val="accent5">
                    <a:lumMod val="60000"/>
                    <a:lumOff val="40000"/>
                  </a:schemeClr>
                </a:soli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rPr>
              <a:t>T</a:t>
            </a:r>
            <a:r>
              <a:rPr lang="en-US" altLang="zh-CN" b="1" baseline="-25000" dirty="0" err="1">
                <a:ln w="11430"/>
                <a:solidFill>
                  <a:schemeClr val="accent5">
                    <a:lumMod val="60000"/>
                    <a:lumOff val="40000"/>
                  </a:schemeClr>
                </a:soli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rPr>
              <a:t>x</a:t>
            </a:r>
            <a:r>
              <a:rPr lang="en-US" altLang="zh-CN" b="1" dirty="0" err="1">
                <a:ln w="11430"/>
                <a:solidFill>
                  <a:schemeClr val="accent5">
                    <a:lumMod val="60000"/>
                    <a:lumOff val="40000"/>
                  </a:schemeClr>
                </a:soli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rPr>
              <a:t>Y</a:t>
            </a:r>
            <a:r>
              <a:rPr lang="zh-CN" altLang="en-US" b="1" dirty="0">
                <a:ln w="11430"/>
                <a:solidFill>
                  <a:schemeClr val="accent5">
                    <a:lumMod val="60000"/>
                    <a:lumOff val="40000"/>
                  </a:schemeClr>
                </a:soli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rPr>
              <a:t>：固定成本</a:t>
            </a:r>
            <a:endParaRPr lang="zh-CN" altLang="en-US" b="1" dirty="0">
              <a:ln w="11430"/>
              <a:solidFill>
                <a:schemeClr val="accent5">
                  <a:lumMod val="60000"/>
                  <a:lumOff val="40000"/>
                </a:schemeClr>
              </a:solidFill>
              <a:effectLst>
                <a:outerShdw blurRad="80000" dist="40000" dir="5040000" algn="tl">
                  <a:srgbClr val="000000">
                    <a:alpha val="30000"/>
                  </a:srgbClr>
                </a:outerShdw>
              </a:effectLst>
              <a:latin typeface="黑体" panose="02010609060101010101" pitchFamily="49" charset="-122"/>
              <a:ea typeface="黑体" panose="02010609060101010101" pitchFamily="49" charset="-122"/>
            </a:endParaRPr>
          </a:p>
        </p:txBody>
      </p:sp>
      <p:cxnSp>
        <p:nvCxnSpPr>
          <p:cNvPr id="15" name="直接连接符 14"/>
          <p:cNvCxnSpPr/>
          <p:nvPr/>
        </p:nvCxnSpPr>
        <p:spPr>
          <a:xfrm>
            <a:off x="2657823" y="2716551"/>
            <a:ext cx="5194213" cy="2480252"/>
          </a:xfrm>
          <a:prstGeom prst="line">
            <a:avLst/>
          </a:prstGeom>
        </p:spPr>
        <p:style>
          <a:lnRef idx="3">
            <a:schemeClr val="accent4"/>
          </a:lnRef>
          <a:fillRef idx="0">
            <a:schemeClr val="accent4"/>
          </a:fillRef>
          <a:effectRef idx="2">
            <a:schemeClr val="accent4"/>
          </a:effectRef>
          <a:fontRef idx="minor">
            <a:schemeClr val="tx1"/>
          </a:fontRef>
        </p:style>
      </p:cxnSp>
      <p:sp>
        <p:nvSpPr>
          <p:cNvPr id="18" name="TextBox 17"/>
          <p:cNvSpPr txBox="1"/>
          <p:nvPr/>
        </p:nvSpPr>
        <p:spPr>
          <a:xfrm>
            <a:off x="6189026" y="4144224"/>
            <a:ext cx="2164375" cy="369332"/>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altLang="zh-CN" b="1" dirty="0" err="1">
                <a:ln w="11430"/>
                <a:solidFill>
                  <a:srgbClr val="7030A0"/>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rPr>
              <a:t>TxRx</a:t>
            </a:r>
            <a:r>
              <a:rPr lang="en-US" altLang="zh-CN" b="1" dirty="0">
                <a:ln w="11430"/>
                <a:solidFill>
                  <a:srgbClr val="7030A0"/>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rPr>
              <a:t>:</a:t>
            </a:r>
            <a:r>
              <a:rPr lang="zh-CN" altLang="en-US" b="1" dirty="0">
                <a:ln w="11430"/>
                <a:solidFill>
                  <a:srgbClr val="7030A0"/>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rPr>
              <a:t>可变成本曲线</a:t>
            </a:r>
            <a:endParaRPr lang="en-US" altLang="zh-CN" b="1" dirty="0">
              <a:ln w="11430"/>
              <a:solidFill>
                <a:srgbClr val="7030A0"/>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endParaRPr>
          </a:p>
        </p:txBody>
      </p:sp>
      <p:cxnSp>
        <p:nvCxnSpPr>
          <p:cNvPr id="20" name="直接箭头连接符 19"/>
          <p:cNvCxnSpPr/>
          <p:nvPr/>
        </p:nvCxnSpPr>
        <p:spPr>
          <a:xfrm flipV="1">
            <a:off x="4389028" y="3144038"/>
            <a:ext cx="471004" cy="37339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379766" y="2815153"/>
            <a:ext cx="1699859" cy="461665"/>
          </a:xfrm>
          <a:prstGeom prst="rect">
            <a:avLst/>
          </a:prstGeom>
          <a:noFill/>
        </p:spPr>
        <p:txBody>
          <a:bodyPr wrap="square" rtlCol="0">
            <a:spAutoFit/>
          </a:bodyPr>
          <a:lstStyle/>
          <a:p>
            <a:r>
              <a:rPr lang="zh-CN" altLang="en-US" sz="1200" dirty="0">
                <a:solidFill>
                  <a:srgbClr val="0070C0"/>
                </a:solidFill>
                <a:latin typeface="黑体" panose="02010609060101010101" pitchFamily="49" charset="-122"/>
                <a:ea typeface="黑体" panose="02010609060101010101" pitchFamily="49" charset="-122"/>
              </a:rPr>
              <a:t>在</a:t>
            </a:r>
            <a:r>
              <a:rPr lang="en-US" altLang="zh-CN" sz="1200" dirty="0">
                <a:solidFill>
                  <a:srgbClr val="0070C0"/>
                </a:solidFill>
                <a:latin typeface="黑体" panose="02010609060101010101" pitchFamily="49" charset="-122"/>
                <a:ea typeface="黑体" panose="02010609060101010101" pitchFamily="49" charset="-122"/>
              </a:rPr>
              <a:t>0Qx</a:t>
            </a:r>
            <a:r>
              <a:rPr lang="zh-CN" altLang="en-US" sz="1200" dirty="0">
                <a:solidFill>
                  <a:srgbClr val="0070C0"/>
                </a:solidFill>
                <a:latin typeface="黑体" panose="02010609060101010101" pitchFamily="49" charset="-122"/>
                <a:ea typeface="黑体" panose="02010609060101010101" pitchFamily="49" charset="-122"/>
              </a:rPr>
              <a:t>天的游乐中得到的最大满意度</a:t>
            </a:r>
            <a:endParaRPr lang="zh-CN" altLang="en-US" sz="1200" dirty="0">
              <a:solidFill>
                <a:srgbClr val="0070C0"/>
              </a:solidFill>
              <a:latin typeface="黑体" panose="02010609060101010101" pitchFamily="49" charset="-122"/>
              <a:ea typeface="黑体" panose="02010609060101010101" pitchFamily="49" charset="-122"/>
            </a:endParaRPr>
          </a:p>
        </p:txBody>
      </p:sp>
      <p:cxnSp>
        <p:nvCxnSpPr>
          <p:cNvPr id="23" name="直接连接符 22"/>
          <p:cNvCxnSpPr/>
          <p:nvPr/>
        </p:nvCxnSpPr>
        <p:spPr>
          <a:xfrm flipV="1">
            <a:off x="2627784" y="2301412"/>
            <a:ext cx="0" cy="1233069"/>
          </a:xfrm>
          <a:prstGeom prst="line">
            <a:avLst/>
          </a:prstGeom>
        </p:spPr>
        <p:style>
          <a:lnRef idx="3">
            <a:schemeClr val="accent6"/>
          </a:lnRef>
          <a:fillRef idx="0">
            <a:schemeClr val="accent6"/>
          </a:fillRef>
          <a:effectRef idx="2">
            <a:schemeClr val="accent6"/>
          </a:effectRef>
          <a:fontRef idx="minor">
            <a:schemeClr val="tx1"/>
          </a:fontRef>
        </p:style>
      </p:cxnSp>
      <p:sp>
        <p:nvSpPr>
          <p:cNvPr id="24" name="TextBox 23"/>
          <p:cNvSpPr txBox="1"/>
          <p:nvPr/>
        </p:nvSpPr>
        <p:spPr>
          <a:xfrm>
            <a:off x="502172" y="3205751"/>
            <a:ext cx="1723549" cy="369332"/>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altLang="zh-CN" b="1" dirty="0" err="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YV</a:t>
            </a:r>
            <a:r>
              <a:rPr lang="en-US" altLang="zh-CN" b="1" baseline="-25000" dirty="0" err="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x</a:t>
            </a:r>
            <a:r>
              <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：实际花费</a:t>
            </a:r>
            <a:endPar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cxnSp>
        <p:nvCxnSpPr>
          <p:cNvPr id="26" name="直接连接符 25"/>
          <p:cNvCxnSpPr/>
          <p:nvPr/>
        </p:nvCxnSpPr>
        <p:spPr>
          <a:xfrm flipV="1">
            <a:off x="2625276" y="1421003"/>
            <a:ext cx="0" cy="3765063"/>
          </a:xfrm>
          <a:prstGeom prst="line">
            <a:avLst/>
          </a:prstGeom>
        </p:spPr>
        <p:style>
          <a:lnRef idx="3">
            <a:schemeClr val="accent3"/>
          </a:lnRef>
          <a:fillRef idx="0">
            <a:schemeClr val="accent3"/>
          </a:fillRef>
          <a:effectRef idx="2">
            <a:schemeClr val="accent3"/>
          </a:effectRef>
          <a:fontRef idx="minor">
            <a:schemeClr val="tx1"/>
          </a:fontRef>
        </p:style>
      </p:cxnSp>
      <p:sp>
        <p:nvSpPr>
          <p:cNvPr id="30" name="TextBox 29"/>
          <p:cNvSpPr txBox="1"/>
          <p:nvPr/>
        </p:nvSpPr>
        <p:spPr>
          <a:xfrm>
            <a:off x="2976291" y="1202017"/>
            <a:ext cx="1107996" cy="369332"/>
          </a:xfrm>
          <a:prstGeom prst="rect">
            <a:avLst/>
          </a:prstGeom>
          <a:noFill/>
        </p:spPr>
        <p:txBody>
          <a:bodyPr wrap="non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zh-CN" altLang="en-US" b="1" dirty="0">
                <a:ln>
                  <a:solidFill>
                    <a:schemeClr val="tx1"/>
                  </a:solidFill>
                </a:ln>
                <a:solidFill>
                  <a:schemeClr val="accent3"/>
                </a:solidFill>
                <a:latin typeface="黑体" panose="02010609060101010101" pitchFamily="49" charset="-122"/>
                <a:ea typeface="黑体" panose="02010609060101010101" pitchFamily="49" charset="-122"/>
              </a:rPr>
              <a:t>满足水平</a:t>
            </a:r>
            <a:endParaRPr lang="zh-CN" altLang="en-US" b="1" dirty="0">
              <a:ln>
                <a:solidFill>
                  <a:schemeClr val="tx1"/>
                </a:solidFill>
              </a:ln>
              <a:solidFill>
                <a:schemeClr val="accent3"/>
              </a:solidFill>
              <a:latin typeface="黑体" panose="02010609060101010101" pitchFamily="49" charset="-122"/>
              <a:ea typeface="黑体" panose="02010609060101010101" pitchFamily="49" charset="-122"/>
            </a:endParaRPr>
          </a:p>
        </p:txBody>
      </p:sp>
      <p:cxnSp>
        <p:nvCxnSpPr>
          <p:cNvPr id="23552" name="直接箭头连接符 23551"/>
          <p:cNvCxnSpPr/>
          <p:nvPr/>
        </p:nvCxnSpPr>
        <p:spPr>
          <a:xfrm flipH="1">
            <a:off x="2643573" y="1384181"/>
            <a:ext cx="550455" cy="368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581" name="直接连接符 23580"/>
          <p:cNvCxnSpPr/>
          <p:nvPr/>
        </p:nvCxnSpPr>
        <p:spPr>
          <a:xfrm>
            <a:off x="2627784" y="2276872"/>
            <a:ext cx="0" cy="1346399"/>
          </a:xfrm>
          <a:prstGeom prst="line">
            <a:avLst/>
          </a:prstGeom>
        </p:spPr>
        <p:style>
          <a:lnRef idx="3">
            <a:schemeClr val="accent4"/>
          </a:lnRef>
          <a:fillRef idx="0">
            <a:schemeClr val="accent4"/>
          </a:fillRef>
          <a:effectRef idx="2">
            <a:schemeClr val="accent4"/>
          </a:effectRef>
          <a:fontRef idx="minor">
            <a:schemeClr val="tx1"/>
          </a:fontRef>
        </p:style>
      </p:cxnSp>
      <p:sp>
        <p:nvSpPr>
          <p:cNvPr id="23582" name="TextBox 23581"/>
          <p:cNvSpPr txBox="1"/>
          <p:nvPr/>
        </p:nvSpPr>
        <p:spPr>
          <a:xfrm>
            <a:off x="3427653" y="1839747"/>
            <a:ext cx="1418036" cy="923330"/>
          </a:xfrm>
          <a:prstGeom prst="rect">
            <a:avLst/>
          </a:prstGeom>
          <a:noFill/>
        </p:spPr>
        <p:txBody>
          <a:bodyPr wrap="square" rtlCol="0">
            <a:spAutoFit/>
          </a:bodyPr>
          <a:lstStyle/>
          <a:p>
            <a:r>
              <a:rPr lang="en-US" altLang="zh-CN"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YT</a:t>
            </a:r>
            <a:r>
              <a:rPr lang="en-US" altLang="zh-CN" b="1" cap="all" baseline="-2500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M</a:t>
            </a:r>
            <a:r>
              <a:rPr lang="zh-CN" alt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：最多可以支付的固定成本</a:t>
            </a:r>
            <a:endParaRPr lang="en-US" altLang="zh-CN"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cxnSp>
        <p:nvCxnSpPr>
          <p:cNvPr id="34" name="直接箭头连接符 33"/>
          <p:cNvCxnSpPr/>
          <p:nvPr/>
        </p:nvCxnSpPr>
        <p:spPr>
          <a:xfrm flipH="1">
            <a:off x="2639627" y="2267278"/>
            <a:ext cx="890662" cy="696240"/>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37" name="直接连接符 36"/>
          <p:cNvCxnSpPr/>
          <p:nvPr/>
        </p:nvCxnSpPr>
        <p:spPr>
          <a:xfrm>
            <a:off x="2627784" y="3623271"/>
            <a:ext cx="0" cy="705619"/>
          </a:xfrm>
          <a:prstGeom prst="line">
            <a:avLst/>
          </a:prstGeom>
        </p:spPr>
        <p:style>
          <a:lnRef idx="3">
            <a:schemeClr val="accent5"/>
          </a:lnRef>
          <a:fillRef idx="0">
            <a:schemeClr val="accent5"/>
          </a:fillRef>
          <a:effectRef idx="2">
            <a:schemeClr val="accent5"/>
          </a:effectRef>
          <a:fontRef idx="minor">
            <a:schemeClr val="tx1"/>
          </a:fontRef>
        </p:style>
      </p:cxnSp>
      <p:sp>
        <p:nvSpPr>
          <p:cNvPr id="38" name="TextBox 37"/>
          <p:cNvSpPr txBox="1"/>
          <p:nvPr/>
        </p:nvSpPr>
        <p:spPr>
          <a:xfrm>
            <a:off x="503310" y="3888996"/>
            <a:ext cx="1890261" cy="369332"/>
          </a:xfrm>
          <a:prstGeom prst="rect">
            <a:avLst/>
          </a:prstGeom>
          <a:noFill/>
        </p:spPr>
        <p:txBody>
          <a:bodyPr wrap="none" rtlCol="0">
            <a:spAutoFit/>
          </a:bodyPr>
          <a:lstStyle/>
          <a:p>
            <a:r>
              <a:rPr lang="en-US" altLang="zh-CN" dirty="0">
                <a:ln>
                  <a:solidFill>
                    <a:schemeClr val="accent1">
                      <a:lumMod val="75000"/>
                    </a:schemeClr>
                  </a:solidFill>
                </a:ln>
                <a:solidFill>
                  <a:srgbClr val="00B0F0"/>
                </a:solidFill>
              </a:rPr>
              <a:t>T</a:t>
            </a:r>
            <a:r>
              <a:rPr lang="en-US" altLang="zh-CN" baseline="-25000" dirty="0">
                <a:ln>
                  <a:solidFill>
                    <a:schemeClr val="accent1">
                      <a:lumMod val="75000"/>
                    </a:schemeClr>
                  </a:solidFill>
                </a:ln>
                <a:solidFill>
                  <a:srgbClr val="00B0F0"/>
                </a:solidFill>
              </a:rPr>
              <a:t>M</a:t>
            </a:r>
            <a:r>
              <a:rPr lang="en-US" altLang="zh-CN" dirty="0">
                <a:ln>
                  <a:solidFill>
                    <a:schemeClr val="accent1">
                      <a:lumMod val="75000"/>
                    </a:schemeClr>
                  </a:solidFill>
                </a:ln>
                <a:solidFill>
                  <a:srgbClr val="00B0F0"/>
                </a:solidFill>
              </a:rPr>
              <a:t>V</a:t>
            </a:r>
            <a:r>
              <a:rPr lang="en-US" altLang="zh-CN" baseline="-25000" dirty="0">
                <a:ln>
                  <a:solidFill>
                    <a:schemeClr val="accent1">
                      <a:lumMod val="75000"/>
                    </a:schemeClr>
                  </a:solidFill>
                </a:ln>
                <a:solidFill>
                  <a:srgbClr val="00B0F0"/>
                </a:solidFill>
              </a:rPr>
              <a:t>M</a:t>
            </a:r>
            <a:r>
              <a:rPr lang="zh-CN" altLang="en-US" dirty="0">
                <a:ln>
                  <a:solidFill>
                    <a:schemeClr val="accent1">
                      <a:lumMod val="75000"/>
                    </a:schemeClr>
                  </a:solidFill>
                </a:ln>
                <a:solidFill>
                  <a:srgbClr val="00B0F0"/>
                </a:solidFill>
              </a:rPr>
              <a:t>：可变成本</a:t>
            </a:r>
            <a:endParaRPr lang="en-US" altLang="zh-CN" dirty="0">
              <a:ln>
                <a:solidFill>
                  <a:schemeClr val="accent1">
                    <a:lumMod val="75000"/>
                  </a:schemeClr>
                </a:solidFill>
              </a:ln>
              <a:solidFill>
                <a:srgbClr val="00B0F0"/>
              </a:solidFill>
            </a:endParaRPr>
          </a:p>
        </p:txBody>
      </p:sp>
      <p:cxnSp>
        <p:nvCxnSpPr>
          <p:cNvPr id="40" name="直接连接符 39"/>
          <p:cNvCxnSpPr/>
          <p:nvPr/>
        </p:nvCxnSpPr>
        <p:spPr>
          <a:xfrm flipV="1">
            <a:off x="2627784" y="2716551"/>
            <a:ext cx="0" cy="888662"/>
          </a:xfrm>
          <a:prstGeom prst="line">
            <a:avLst/>
          </a:prstGeom>
        </p:spPr>
        <p:style>
          <a:lnRef idx="3">
            <a:schemeClr val="accent6"/>
          </a:lnRef>
          <a:fillRef idx="0">
            <a:schemeClr val="accent6"/>
          </a:fillRef>
          <a:effectRef idx="2">
            <a:schemeClr val="accent6"/>
          </a:effectRef>
          <a:fontRef idx="minor">
            <a:schemeClr val="tx1"/>
          </a:fontRef>
        </p:style>
      </p:cxnSp>
      <p:sp>
        <p:nvSpPr>
          <p:cNvPr id="41" name="TextBox 40"/>
          <p:cNvSpPr txBox="1"/>
          <p:nvPr/>
        </p:nvSpPr>
        <p:spPr>
          <a:xfrm>
            <a:off x="3495657" y="1571348"/>
            <a:ext cx="1292367" cy="1754326"/>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altLang="zh-CN" b="1" dirty="0" err="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a:t>
            </a:r>
            <a:r>
              <a:rPr lang="en-US" altLang="zh-CN" b="1" baseline="-25000" dirty="0" err="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M</a:t>
            </a:r>
            <a:r>
              <a:rPr lang="en-US" altLang="zh-CN" b="1" dirty="0" err="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a:t>
            </a:r>
            <a:r>
              <a:rPr lang="en-US" altLang="zh-CN" b="1" baseline="-25000" dirty="0" err="1">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x</a:t>
            </a:r>
            <a:r>
              <a:rPr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：为了进入游乐地所愿意支付的部分（等值差异）</a:t>
            </a:r>
            <a:endParaRPr lang="zh-CN" altLang="en-US" b="1" baseline="-2500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cxnSp>
        <p:nvCxnSpPr>
          <p:cNvPr id="43" name="直接连接符 42"/>
          <p:cNvCxnSpPr/>
          <p:nvPr/>
        </p:nvCxnSpPr>
        <p:spPr>
          <a:xfrm flipV="1">
            <a:off x="2639626" y="1449650"/>
            <a:ext cx="0" cy="817628"/>
          </a:xfrm>
          <a:prstGeom prst="line">
            <a:avLst/>
          </a:prstGeom>
        </p:spPr>
        <p:style>
          <a:lnRef idx="3">
            <a:schemeClr val="accent3"/>
          </a:lnRef>
          <a:fillRef idx="0">
            <a:schemeClr val="accent3"/>
          </a:fillRef>
          <a:effectRef idx="2">
            <a:schemeClr val="accent3"/>
          </a:effectRef>
          <a:fontRef idx="minor">
            <a:schemeClr val="tx1"/>
          </a:fontRef>
        </p:style>
      </p:cxnSp>
      <p:sp>
        <p:nvSpPr>
          <p:cNvPr id="44" name="TextBox 43"/>
          <p:cNvSpPr txBox="1"/>
          <p:nvPr/>
        </p:nvSpPr>
        <p:spPr>
          <a:xfrm>
            <a:off x="299155" y="1571348"/>
            <a:ext cx="1633781" cy="369332"/>
          </a:xfrm>
          <a:prstGeom prst="rect">
            <a:avLst/>
          </a:prstGeom>
          <a:noFill/>
        </p:spPr>
        <p:txBody>
          <a:bodyPr wrap="none" rtlCol="0">
            <a:spAutoFit/>
          </a:bodyPr>
          <a:lstStyle/>
          <a:p>
            <a:r>
              <a:rPr lang="en-US" altLang="zh-CN" b="1" dirty="0">
                <a:ln w="3175">
                  <a:solidFill>
                    <a:srgbClr val="00B0F0"/>
                  </a:solidFill>
                  <a:prstDash val="solid"/>
                </a:ln>
                <a:solidFill>
                  <a:schemeClr val="accent3"/>
                </a:solidFill>
                <a:effectLst>
                  <a:outerShdw blurRad="50000" dist="50800" dir="7500000" algn="tl">
                    <a:srgbClr val="000000">
                      <a:shade val="5000"/>
                      <a:alpha val="35000"/>
                    </a:srgbClr>
                  </a:outerShdw>
                </a:effectLst>
              </a:rPr>
              <a:t>YZ</a:t>
            </a:r>
            <a:r>
              <a:rPr lang="zh-CN" altLang="en-US" b="1" dirty="0">
                <a:ln w="3175">
                  <a:solidFill>
                    <a:srgbClr val="00B0F0"/>
                  </a:solidFill>
                  <a:prstDash val="solid"/>
                </a:ln>
                <a:solidFill>
                  <a:schemeClr val="accent3"/>
                </a:solidFill>
                <a:effectLst>
                  <a:outerShdw blurRad="50000" dist="50800" dir="7500000" algn="tl">
                    <a:srgbClr val="000000">
                      <a:shade val="5000"/>
                      <a:alpha val="35000"/>
                    </a:srgbClr>
                  </a:outerShdw>
                </a:effectLst>
              </a:rPr>
              <a:t>：补偿差异</a:t>
            </a:r>
            <a:endParaRPr lang="zh-CN" altLang="en-US" b="1" dirty="0">
              <a:ln w="3175">
                <a:solidFill>
                  <a:srgbClr val="00B0F0"/>
                </a:solidFill>
                <a:prstDash val="solid"/>
              </a:ln>
              <a:solidFill>
                <a:schemeClr val="accent3"/>
              </a:solidFill>
              <a:effectLst>
                <a:outerShdw blurRad="50000" dist="50800" dir="7500000" algn="tl">
                  <a:srgbClr val="000000">
                    <a:shade val="5000"/>
                    <a:alpha val="35000"/>
                  </a:srgbClr>
                </a:outerShdw>
              </a:effectLst>
            </a:endParaRPr>
          </a:p>
        </p:txBody>
      </p:sp>
      <p:sp>
        <p:nvSpPr>
          <p:cNvPr id="45" name="TextBox 44"/>
          <p:cNvSpPr txBox="1"/>
          <p:nvPr/>
        </p:nvSpPr>
        <p:spPr>
          <a:xfrm>
            <a:off x="4459006" y="3772793"/>
            <a:ext cx="889987" cy="261610"/>
          </a:xfrm>
          <a:prstGeom prst="rect">
            <a:avLst/>
          </a:prstGeom>
          <a:noFill/>
        </p:spPr>
        <p:txBody>
          <a:bodyPr wrap="none" rtlCol="0">
            <a:spAutoFit/>
          </a:bodyPr>
          <a:lstStyle/>
          <a:p>
            <a:r>
              <a:rPr lang="zh-CN" altLang="en-US" sz="1100" dirty="0">
                <a:solidFill>
                  <a:srgbClr val="0070C0"/>
                </a:solidFill>
              </a:rPr>
              <a:t>新的均衡点</a:t>
            </a:r>
            <a:endParaRPr lang="zh-CN" altLang="en-US" sz="1100" dirty="0">
              <a:solidFill>
                <a:srgbClr val="0070C0"/>
              </a:solidFill>
            </a:endParaRPr>
          </a:p>
        </p:txBody>
      </p:sp>
      <p:cxnSp>
        <p:nvCxnSpPr>
          <p:cNvPr id="47" name="直接连接符 46"/>
          <p:cNvCxnSpPr/>
          <p:nvPr/>
        </p:nvCxnSpPr>
        <p:spPr>
          <a:xfrm>
            <a:off x="2627784" y="3605213"/>
            <a:ext cx="3482894" cy="1583356"/>
          </a:xfrm>
          <a:prstGeom prst="line">
            <a:avLst/>
          </a:prstGeom>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22" presetClass="entr" presetSubtype="4" fill="hold"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down)">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nodeType="clickEffect">
                                  <p:stCondLst>
                                    <p:cond delay="0"/>
                                  </p:stCondLst>
                                  <p:childTnLst>
                                    <p:animEffect transition="out" filter="wipe(down)">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childTnLst>
                          </p:cTn>
                        </p:par>
                        <p:par>
                          <p:cTn id="52" fill="hold">
                            <p:stCondLst>
                              <p:cond delay="0"/>
                            </p:stCondLst>
                            <p:childTnLst>
                              <p:par>
                                <p:cTn id="53" presetID="26" presetClass="emph" presetSubtype="0" repeatCount="indefinite" fill="hold" nodeType="afterEffect">
                                  <p:stCondLst>
                                    <p:cond delay="0"/>
                                  </p:stCondLst>
                                  <p:endCondLst>
                                    <p:cond evt="onNext" delay="0">
                                      <p:tgtEl>
                                        <p:sldTgt/>
                                      </p:tgtEl>
                                    </p:cond>
                                  </p:endCondLst>
                                  <p:childTnLst>
                                    <p:animEffect transition="out" filter="fade">
                                      <p:cBhvr>
                                        <p:cTn id="54" dur="500" tmFilter="0, 0; .2, .5; .8, .5; 1, 0"/>
                                        <p:tgtEl>
                                          <p:spTgt spid="20"/>
                                        </p:tgtEl>
                                      </p:cBhvr>
                                    </p:animEffect>
                                    <p:animScale>
                                      <p:cBhvr>
                                        <p:cTn id="55" dur="250" autoRev="1" fill="hold"/>
                                        <p:tgtEl>
                                          <p:spTgt spid="20"/>
                                        </p:tgtEl>
                                      </p:cBhvr>
                                      <p:by x="105000" y="105000"/>
                                    </p:animScale>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23"/>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8"/>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childTnLst>
                          </p:cTn>
                        </p:par>
                        <p:par>
                          <p:cTn id="76" fill="hold">
                            <p:stCondLst>
                              <p:cond delay="0"/>
                            </p:stCondLst>
                            <p:childTnLst>
                              <p:par>
                                <p:cTn id="77" presetID="10" presetClass="entr" presetSubtype="0" fill="hold" grpId="0" nodeType="after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 presetClass="entr" presetSubtype="0" fill="hold" nodeType="withEffect">
                                  <p:stCondLst>
                                    <p:cond delay="0"/>
                                  </p:stCondLst>
                                  <p:childTnLst>
                                    <p:set>
                                      <p:cBhvr>
                                        <p:cTn id="81" dur="1" fill="hold">
                                          <p:stCondLst>
                                            <p:cond delay="0"/>
                                          </p:stCondLst>
                                        </p:cTn>
                                        <p:tgtEl>
                                          <p:spTgt spid="2355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42" presetClass="path" presetSubtype="0" accel="50000" decel="50000" fill="hold" nodeType="clickEffect">
                                  <p:stCondLst>
                                    <p:cond delay="0"/>
                                  </p:stCondLst>
                                  <p:childTnLst>
                                    <p:animMotion origin="layout" path="M -2.77778E-6 -1.85185E-6 L 0.03559 0.14375 " pathEditMode="relative" rAng="0" ptsTypes="AA">
                                      <p:cBhvr>
                                        <p:cTn id="85" dur="500" fill="hold"/>
                                        <p:tgtEl>
                                          <p:spTgt spid="15"/>
                                        </p:tgtEl>
                                        <p:attrNameLst>
                                          <p:attrName>ppt_x</p:attrName>
                                          <p:attrName>ppt_y</p:attrName>
                                        </p:attrNameLst>
                                      </p:cBhvr>
                                      <p:rCtr x="1771" y="7176"/>
                                    </p:animMotion>
                                  </p:childTnLst>
                                </p:cTn>
                              </p:par>
                            </p:childTnLst>
                          </p:cTn>
                        </p:par>
                        <p:par>
                          <p:cTn id="86" fill="hold">
                            <p:stCondLst>
                              <p:cond delay="500"/>
                            </p:stCondLst>
                            <p:childTnLst>
                              <p:par>
                                <p:cTn id="87" presetID="1" presetClass="exit" presetSubtype="0" fill="hold" nodeType="afterEffect">
                                  <p:stCondLst>
                                    <p:cond delay="0"/>
                                  </p:stCondLst>
                                  <p:childTnLst>
                                    <p:set>
                                      <p:cBhvr>
                                        <p:cTn id="88" dur="1" fill="hold">
                                          <p:stCondLst>
                                            <p:cond delay="0"/>
                                          </p:stCondLst>
                                        </p:cTn>
                                        <p:tgtEl>
                                          <p:spTgt spid="15"/>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26"/>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24"/>
                                        </p:tgtEl>
                                        <p:attrNameLst>
                                          <p:attrName>style.visibility</p:attrName>
                                        </p:attrNameLst>
                                      </p:cBhvr>
                                      <p:to>
                                        <p:strVal val="hidden"/>
                                      </p:to>
                                    </p:set>
                                  </p:childTnLst>
                                </p:cTn>
                              </p:par>
                              <p:par>
                                <p:cTn id="97" presetID="10" presetClass="exit" presetSubtype="0" fill="hold" grpId="1" nodeType="withEffect">
                                  <p:stCondLst>
                                    <p:cond delay="0"/>
                                  </p:stCondLst>
                                  <p:childTnLst>
                                    <p:animEffect transition="out" filter="fade">
                                      <p:cBhvr>
                                        <p:cTn id="98" dur="500"/>
                                        <p:tgtEl>
                                          <p:spTgt spid="21"/>
                                        </p:tgtEl>
                                      </p:cBhvr>
                                    </p:animEffect>
                                    <p:set>
                                      <p:cBhvr>
                                        <p:cTn id="99" dur="1" fill="hold">
                                          <p:stCondLst>
                                            <p:cond delay="499"/>
                                          </p:stCondLst>
                                        </p:cTn>
                                        <p:tgtEl>
                                          <p:spTgt spid="21"/>
                                        </p:tgtEl>
                                        <p:attrNameLst>
                                          <p:attrName>style.visibility</p:attrName>
                                        </p:attrNameLst>
                                      </p:cBhvr>
                                      <p:to>
                                        <p:strVal val="hidden"/>
                                      </p:to>
                                    </p:set>
                                  </p:childTnLst>
                                </p:cTn>
                              </p:par>
                              <p:par>
                                <p:cTn id="100" presetID="42" presetClass="path" presetSubtype="0" accel="50000" decel="50000" fill="hold" nodeType="withEffect">
                                  <p:stCondLst>
                                    <p:cond delay="0"/>
                                  </p:stCondLst>
                                  <p:childTnLst>
                                    <p:animMotion origin="layout" path="M -2.5E-6 4.81481E-6 L -0.02361 0.1155 " pathEditMode="relative" rAng="0" ptsTypes="AA">
                                      <p:cBhvr>
                                        <p:cTn id="101" dur="500" fill="hold"/>
                                        <p:tgtEl>
                                          <p:spTgt spid="20"/>
                                        </p:tgtEl>
                                        <p:attrNameLst>
                                          <p:attrName>ppt_x</p:attrName>
                                          <p:attrName>ppt_y</p:attrName>
                                        </p:attrNameLst>
                                      </p:cBhvr>
                                      <p:rCtr x="-1181" y="5764"/>
                                    </p:animMotion>
                                  </p:childTnLst>
                                </p:cTn>
                              </p:par>
                            </p:childTnLst>
                          </p:cTn>
                        </p:par>
                        <p:par>
                          <p:cTn id="102" fill="hold">
                            <p:stCondLst>
                              <p:cond delay="0"/>
                            </p:stCondLst>
                            <p:childTnLst>
                              <p:par>
                                <p:cTn id="103" presetID="10" presetClass="entr" presetSubtype="0" fill="hold" grpId="0" nodeType="after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500"/>
                                        <p:tgtEl>
                                          <p:spTgt spid="4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23581"/>
                                        </p:tgtEl>
                                        <p:attrNameLst>
                                          <p:attrName>style.visibility</p:attrName>
                                        </p:attrNameLst>
                                      </p:cBhvr>
                                      <p:to>
                                        <p:strVal val="visible"/>
                                      </p:to>
                                    </p:set>
                                    <p:animEffect transition="in" filter="wipe(down)">
                                      <p:cBhvr>
                                        <p:cTn id="110" dur="500"/>
                                        <p:tgtEl>
                                          <p:spTgt spid="23581"/>
                                        </p:tgtEl>
                                      </p:cBhvr>
                                    </p:animEffect>
                                  </p:childTnLst>
                                </p:cTn>
                              </p:par>
                              <p:par>
                                <p:cTn id="111" presetID="22" presetClass="entr" presetSubtype="2" fill="hold" nodeType="with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wipe(right)">
                                      <p:cBhvr>
                                        <p:cTn id="113" dur="500"/>
                                        <p:tgtEl>
                                          <p:spTgt spid="3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3582"/>
                                        </p:tgtEl>
                                        <p:attrNameLst>
                                          <p:attrName>style.visibility</p:attrName>
                                        </p:attrNameLst>
                                      </p:cBhvr>
                                      <p:to>
                                        <p:strVal val="visible"/>
                                      </p:to>
                                    </p:set>
                                    <p:animEffect transition="in" filter="fade">
                                      <p:cBhvr>
                                        <p:cTn id="116" dur="500"/>
                                        <p:tgtEl>
                                          <p:spTgt spid="2358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wipe(down)">
                                      <p:cBhvr>
                                        <p:cTn id="121" dur="500"/>
                                        <p:tgtEl>
                                          <p:spTgt spid="37"/>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8"/>
                                        </p:tgtEl>
                                        <p:attrNameLst>
                                          <p:attrName>style.visibility</p:attrName>
                                        </p:attrNameLst>
                                      </p:cBhvr>
                                      <p:to>
                                        <p:strVal val="visible"/>
                                      </p:to>
                                    </p:set>
                                    <p:animEffect transition="in" filter="fade">
                                      <p:cBhvr>
                                        <p:cTn id="124" dur="500"/>
                                        <p:tgtEl>
                                          <p:spTgt spid="3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wipe(down)">
                                      <p:cBhvr>
                                        <p:cTn id="129" dur="500"/>
                                        <p:tgtEl>
                                          <p:spTgt spid="40"/>
                                        </p:tgtEl>
                                      </p:cBhvr>
                                    </p:animEffect>
                                  </p:childTnLst>
                                </p:cTn>
                              </p:par>
                              <p:par>
                                <p:cTn id="130" presetID="1" presetClass="exit" presetSubtype="0" fill="hold" grpId="1" nodeType="withEffect">
                                  <p:stCondLst>
                                    <p:cond delay="0"/>
                                  </p:stCondLst>
                                  <p:childTnLst>
                                    <p:set>
                                      <p:cBhvr>
                                        <p:cTn id="131" dur="1" fill="hold">
                                          <p:stCondLst>
                                            <p:cond delay="0"/>
                                          </p:stCondLst>
                                        </p:cTn>
                                        <p:tgtEl>
                                          <p:spTgt spid="23582"/>
                                        </p:tgtEl>
                                        <p:attrNameLst>
                                          <p:attrName>style.visibility</p:attrName>
                                        </p:attrNameLst>
                                      </p:cBhvr>
                                      <p:to>
                                        <p:strVal val="hidden"/>
                                      </p:to>
                                    </p:set>
                                  </p:childTnLst>
                                </p:cTn>
                              </p:par>
                              <p:par>
                                <p:cTn id="132" presetID="10" presetClass="entr" presetSubtype="0" fill="hold" grpId="0" nodeType="withEffect">
                                  <p:stCondLst>
                                    <p:cond delay="0"/>
                                  </p:stCondLst>
                                  <p:childTnLst>
                                    <p:set>
                                      <p:cBhvr>
                                        <p:cTn id="133" dur="1" fill="hold">
                                          <p:stCondLst>
                                            <p:cond delay="0"/>
                                          </p:stCondLst>
                                        </p:cTn>
                                        <p:tgtEl>
                                          <p:spTgt spid="41"/>
                                        </p:tgtEl>
                                        <p:attrNameLst>
                                          <p:attrName>style.visibility</p:attrName>
                                        </p:attrNameLst>
                                      </p:cBhvr>
                                      <p:to>
                                        <p:strVal val="visible"/>
                                      </p:to>
                                    </p:set>
                                    <p:animEffect transition="in" filter="fade">
                                      <p:cBhvr>
                                        <p:cTn id="134" dur="5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4"/>
                                        </p:tgtEl>
                                        <p:attrNameLst>
                                          <p:attrName>style.visibility</p:attrName>
                                        </p:attrNameLst>
                                      </p:cBhvr>
                                      <p:to>
                                        <p:strVal val="hidden"/>
                                      </p:to>
                                    </p:set>
                                  </p:childTnLst>
                                </p:cTn>
                              </p:par>
                              <p:par>
                                <p:cTn id="139" presetID="22" presetClass="entr" presetSubtype="4" fill="hold" nodeType="withEffect">
                                  <p:stCondLst>
                                    <p:cond delay="0"/>
                                  </p:stCondLst>
                                  <p:childTnLst>
                                    <p:set>
                                      <p:cBhvr>
                                        <p:cTn id="140" dur="1" fill="hold">
                                          <p:stCondLst>
                                            <p:cond delay="0"/>
                                          </p:stCondLst>
                                        </p:cTn>
                                        <p:tgtEl>
                                          <p:spTgt spid="43"/>
                                        </p:tgtEl>
                                        <p:attrNameLst>
                                          <p:attrName>style.visibility</p:attrName>
                                        </p:attrNameLst>
                                      </p:cBhvr>
                                      <p:to>
                                        <p:strVal val="visible"/>
                                      </p:to>
                                    </p:set>
                                    <p:animEffect transition="in" filter="wipe(down)">
                                      <p:cBhvr>
                                        <p:cTn id="141" dur="500"/>
                                        <p:tgtEl>
                                          <p:spTgt spid="43"/>
                                        </p:tgtEl>
                                      </p:cBhvr>
                                    </p:animEffect>
                                  </p:childTnLst>
                                </p:cTn>
                              </p:par>
                            </p:childTnLst>
                          </p:cTn>
                        </p:par>
                        <p:par>
                          <p:cTn id="142" fill="hold">
                            <p:stCondLst>
                              <p:cond delay="0"/>
                            </p:stCondLst>
                            <p:childTnLst>
                              <p:par>
                                <p:cTn id="143" presetID="10" presetClass="entr" presetSubtype="0" fill="hold" grpId="0" nodeType="afterEffect">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33" grpId="0"/>
      <p:bldP spid="9" grpId="0"/>
      <p:bldP spid="13" grpId="0"/>
      <p:bldP spid="18" grpId="0"/>
      <p:bldP spid="21" grpId="0"/>
      <p:bldP spid="21" grpId="1"/>
      <p:bldP spid="24" grpId="0"/>
      <p:bldP spid="24" grpId="1"/>
      <p:bldP spid="30" grpId="0"/>
      <p:bldP spid="23582" grpId="0"/>
      <p:bldP spid="23582" grpId="1"/>
      <p:bldP spid="38" grpId="0"/>
      <p:bldP spid="41" grpId="0"/>
      <p:bldP spid="44" grpId="0"/>
      <p:bldP spid="4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200" dirty="0"/>
              <a:t>旅行费用法：</a:t>
            </a:r>
            <a:r>
              <a:rPr lang="en-US" altLang="zh-CN" sz="3200" dirty="0"/>
              <a:t>The travel cost approach </a:t>
            </a:r>
            <a:endParaRPr lang="zh-CN" altLang="en-US" sz="3200" dirty="0"/>
          </a:p>
        </p:txBody>
      </p:sp>
      <p:sp>
        <p:nvSpPr>
          <p:cNvPr id="3" name="内容占位符 2"/>
          <p:cNvSpPr>
            <a:spLocks noGrp="1"/>
          </p:cNvSpPr>
          <p:nvPr>
            <p:ph idx="1"/>
          </p:nvPr>
        </p:nvSpPr>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altLang="zh-CN"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a:t>
            </a:r>
            <a:r>
              <a:rPr lang="en-US" altLang="zh-CN" b="1" spc="50" baseline="-2500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a:t>
            </a:r>
            <a:r>
              <a:rPr lang="en-US" altLang="zh-CN"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a:t>
            </a:r>
            <a:r>
              <a:rPr lang="en-US" altLang="zh-CN" b="1" spc="50" baseline="-2500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x</a:t>
            </a:r>
            <a:r>
              <a:rPr lang="zh-CN" alt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：为了进入游乐地所愿意支付的部分（等值差异）</a:t>
            </a:r>
            <a:endParaRPr lang="zh-CN" altLang="en-US" b="1" spc="50" baseline="-2500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r>
              <a:rPr lang="zh-CN" altLang="en-US" b="1" spc="50" dirty="0">
                <a:ln w="11430"/>
                <a:solidFill>
                  <a:srgbClr val="00B0F0"/>
                </a:solidFill>
                <a:effectLst>
                  <a:outerShdw blurRad="76200" dist="50800" dir="5400000" algn="tl" rotWithShape="0">
                    <a:srgbClr val="000000">
                      <a:alpha val="65000"/>
                    </a:srgbClr>
                  </a:outerShdw>
                </a:effectLst>
              </a:rPr>
              <a:t>这也是消费者愿意为游乐地支付门票的最高值</a:t>
            </a:r>
            <a:endParaRPr lang="en-US" altLang="zh-CN" b="1" spc="50" dirty="0">
              <a:ln w="11430"/>
              <a:solidFill>
                <a:srgbClr val="00B0F0"/>
              </a:solidFill>
              <a:effectLst>
                <a:outerShdw blurRad="76200" dist="50800" dir="5400000" algn="tl" rotWithShape="0">
                  <a:srgbClr val="000000">
                    <a:alpha val="65000"/>
                  </a:srgbClr>
                </a:outerShdw>
              </a:effectLst>
            </a:endParaRPr>
          </a:p>
          <a:p>
            <a:r>
              <a:rPr lang="zh-CN" altLang="en-US" b="1" spc="50" dirty="0">
                <a:ln w="11430"/>
                <a:solidFill>
                  <a:srgbClr val="00B0F0"/>
                </a:solidFill>
                <a:effectLst>
                  <a:outerShdw blurRad="76200" dist="50800" dir="5400000" algn="tl" rotWithShape="0">
                    <a:srgbClr val="000000">
                      <a:alpha val="65000"/>
                    </a:srgbClr>
                  </a:outerShdw>
                </a:effectLst>
              </a:rPr>
              <a:t>同时也是其对已经免费享受到的游乐资源的价值评价</a:t>
            </a:r>
            <a:r>
              <a:rPr lang="en-US" altLang="zh-CN" b="1" spc="50" dirty="0">
                <a:ln w="11430"/>
                <a:solidFill>
                  <a:srgbClr val="00B0F0"/>
                </a:solidFill>
                <a:effectLst>
                  <a:outerShdw blurRad="76200" dist="50800" dir="5400000" algn="tl" rotWithShape="0">
                    <a:srgbClr val="000000">
                      <a:alpha val="65000"/>
                    </a:srgbClr>
                  </a:outerShdw>
                </a:effectLst>
              </a:rPr>
              <a:t>——</a:t>
            </a:r>
            <a:r>
              <a:rPr lang="zh-CN" altLang="en-US" b="1" spc="50" dirty="0">
                <a:ln w="11430"/>
                <a:solidFill>
                  <a:srgbClr val="00B0F0"/>
                </a:solidFill>
                <a:effectLst>
                  <a:outerShdw blurRad="76200" dist="50800" dir="5400000" algn="tl" rotWithShape="0">
                    <a:srgbClr val="000000">
                      <a:alpha val="65000"/>
                    </a:srgbClr>
                  </a:outerShdw>
                </a:effectLst>
              </a:rPr>
              <a:t>即其消费者剩余</a:t>
            </a:r>
            <a:endParaRPr lang="en-US" altLang="zh-CN" b="1" spc="50" dirty="0">
              <a:ln w="11430"/>
              <a:solidFill>
                <a:srgbClr val="00B0F0"/>
              </a:solidFill>
              <a:effectLst>
                <a:outerShdw blurRad="76200" dist="50800" dir="5400000" algn="tl" rotWithShape="0">
                  <a:srgbClr val="000000">
                    <a:alpha val="65000"/>
                  </a:srgbClr>
                </a:outerShdw>
              </a:effectLst>
            </a:endParaRPr>
          </a:p>
          <a:p>
            <a:r>
              <a:rPr lang="zh-CN" altLang="en-US" b="1" spc="50" dirty="0">
                <a:ln w="11430"/>
                <a:solidFill>
                  <a:srgbClr val="FFFF00"/>
                </a:solidFill>
                <a:effectLst>
                  <a:outerShdw blurRad="76200" dist="50800" dir="5400000" algn="tl" rotWithShape="0">
                    <a:srgbClr val="000000">
                      <a:alpha val="65000"/>
                    </a:srgbClr>
                  </a:outerShdw>
                </a:effectLst>
              </a:rPr>
              <a:t>要计算这一价值，需要先了解游乐者往返于游乐地的费用信息</a:t>
            </a:r>
            <a:endParaRPr lang="zh-CN" altLang="en-US" b="1" spc="50" dirty="0">
              <a:ln w="11430"/>
              <a:solidFill>
                <a:srgbClr val="FFFF00"/>
              </a:solidFill>
              <a:effectLst>
                <a:outerShdw blurRad="76200" dist="50800" dir="5400000" algn="tl" rotWithShape="0">
                  <a:srgbClr val="000000">
                    <a:alpha val="65000"/>
                  </a:srgbClr>
                </a:outerShdw>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旅行费用法</a:t>
            </a:r>
            <a:endParaRPr lang="zh-CN" altLang="en-US" dirty="0"/>
          </a:p>
        </p:txBody>
      </p:sp>
      <p:sp>
        <p:nvSpPr>
          <p:cNvPr id="3" name="内容占位符 2"/>
          <p:cNvSpPr>
            <a:spLocks noGrp="1"/>
          </p:cNvSpPr>
          <p:nvPr>
            <p:ph idx="1"/>
          </p:nvPr>
        </p:nvSpPr>
        <p:spPr/>
        <p:txBody>
          <a:bodyPr/>
          <a:lstStyle/>
          <a:p>
            <a:r>
              <a:rPr lang="zh-CN" altLang="en-US" dirty="0"/>
              <a:t>假定所有游乐者有相同的支付意愿</a:t>
            </a:r>
            <a:endParaRPr lang="en-US" altLang="zh-CN" dirty="0"/>
          </a:p>
          <a:p>
            <a:r>
              <a:rPr lang="zh-CN" altLang="en-US" dirty="0"/>
              <a:t>旅行费最高的游乐者：是边际的游乐者</a:t>
            </a:r>
            <a:endParaRPr lang="en-US" altLang="zh-CN" dirty="0"/>
          </a:p>
          <a:p>
            <a:r>
              <a:rPr lang="zh-CN" altLang="en-US" dirty="0"/>
              <a:t>其它所有人的消费者剩余：各自旅行费用和边际游乐者旅行费用的差额</a:t>
            </a:r>
            <a:endParaRPr lang="en-US" altLang="zh-CN" dirty="0"/>
          </a:p>
          <a:p>
            <a:r>
              <a:rPr lang="zh-CN" altLang="en-US" dirty="0"/>
              <a:t>举例：边际游乐者：</a:t>
            </a:r>
            <a:r>
              <a:rPr lang="en-US" altLang="zh-CN" dirty="0"/>
              <a:t>40</a:t>
            </a:r>
            <a:r>
              <a:rPr lang="zh-CN" altLang="en-US" dirty="0"/>
              <a:t>元旅费</a:t>
            </a:r>
            <a:endParaRPr lang="en-US" altLang="zh-CN" dirty="0"/>
          </a:p>
          <a:p>
            <a:r>
              <a:rPr lang="zh-CN" altLang="en-US" dirty="0"/>
              <a:t>其它所有游乐者的平均值：</a:t>
            </a:r>
            <a:r>
              <a:rPr lang="en-US" altLang="zh-CN" dirty="0"/>
              <a:t>15</a:t>
            </a:r>
            <a:r>
              <a:rPr lang="zh-CN" altLang="en-US" dirty="0"/>
              <a:t>元旅费</a:t>
            </a:r>
            <a:endParaRPr lang="en-US" altLang="zh-CN" dirty="0"/>
          </a:p>
          <a:p>
            <a:r>
              <a:rPr lang="zh-CN" altLang="en-US" dirty="0"/>
              <a:t>平均消费者剩余：</a:t>
            </a:r>
            <a:r>
              <a:rPr lang="en-US" altLang="zh-CN" dirty="0"/>
              <a:t>40-15=25</a:t>
            </a:r>
            <a:r>
              <a:rPr lang="zh-CN" altLang="en-US" dirty="0"/>
              <a:t>元</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需满足的假设</a:t>
            </a:r>
            <a:endParaRPr lang="zh-CN" altLang="en-US" dirty="0"/>
          </a:p>
        </p:txBody>
      </p:sp>
      <p:sp>
        <p:nvSpPr>
          <p:cNvPr id="3" name="内容占位符 2"/>
          <p:cNvSpPr>
            <a:spLocks noGrp="1"/>
          </p:cNvSpPr>
          <p:nvPr>
            <p:ph idx="1"/>
          </p:nvPr>
        </p:nvSpPr>
        <p:spPr/>
        <p:txBody>
          <a:bodyPr>
            <a:scene3d>
              <a:camera prst="orthographicFront"/>
              <a:lightRig rig="threePt" dir="t"/>
            </a:scene3d>
            <a:sp3d extrusionH="57150">
              <a:bevelT h="25400" prst="softRound"/>
            </a:sp3d>
          </a:bodyPr>
          <a:lstStyle/>
          <a:p>
            <a:r>
              <a:rPr lang="zh-CN" altLang="en-US" dirty="0"/>
              <a:t>无论游乐者的收入或其它情况如何，</a:t>
            </a:r>
            <a:r>
              <a:rPr lang="zh-CN" altLang="en-US" dirty="0">
                <a:solidFill>
                  <a:srgbClr val="FFC000"/>
                </a:solidFill>
                <a:effectLst>
                  <a:outerShdw blurRad="50800" dist="38100" dir="18900000" algn="bl" rotWithShape="0">
                    <a:prstClr val="black">
                      <a:alpha val="40000"/>
                    </a:prstClr>
                  </a:outerShdw>
                </a:effectLst>
              </a:rPr>
              <a:t>所有人都有同样的支付意愿</a:t>
            </a:r>
            <a:endParaRPr lang="en-US" altLang="zh-CN" dirty="0">
              <a:solidFill>
                <a:srgbClr val="FFC000"/>
              </a:solidFill>
              <a:effectLst>
                <a:outerShdw blurRad="50800" dist="38100" dir="18900000" algn="bl" rotWithShape="0">
                  <a:prstClr val="black">
                    <a:alpha val="40000"/>
                  </a:prstClr>
                </a:outerShdw>
              </a:effectLst>
            </a:endParaRPr>
          </a:p>
          <a:p>
            <a:r>
              <a:rPr lang="zh-CN" altLang="en-US" dirty="0"/>
              <a:t>进入游乐地点所发生的全部费用就是其旅行的现金支出</a:t>
            </a:r>
            <a:endParaRPr lang="en-US" altLang="zh-CN" dirty="0"/>
          </a:p>
          <a:p>
            <a:r>
              <a:rPr lang="zh-CN" altLang="en-US" dirty="0"/>
              <a:t>对进入费的反应和旅行费的反应一样</a:t>
            </a:r>
            <a:endParaRPr lang="en-US" altLang="zh-CN" dirty="0"/>
          </a:p>
          <a:p>
            <a:r>
              <a:rPr lang="zh-CN" altLang="en-US" dirty="0"/>
              <a:t>付出最高旅行费的游乐者是处在边际上的</a:t>
            </a:r>
            <a:endParaRPr lang="en-US" altLang="zh-CN" dirty="0"/>
          </a:p>
          <a:p>
            <a:pPr lvl="1"/>
            <a:r>
              <a:rPr lang="zh-CN" altLang="en-US" dirty="0"/>
              <a:t>这些假设不可能和现实情况一致，从而限制了这种方法的可信程度</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scene3d>
              <a:camera prst="orthographicFront"/>
              <a:lightRig rig="glow" dir="tl">
                <a:rot lat="0" lon="0" rev="5400000"/>
              </a:lightRig>
            </a:scene3d>
            <a:sp3d contourW="12700">
              <a:bevelT w="25400" h="25400"/>
              <a:contourClr>
                <a:schemeClr val="accent6">
                  <a:shade val="73000"/>
                </a:schemeClr>
              </a:contourClr>
            </a:sp3d>
          </a:bodyPr>
          <a:lstStyle/>
          <a:p>
            <a:r>
              <a:rPr lang="zh-CN" altLang="en-US" sz="36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相同支付意愿假设可能夸大消费者剩余</a:t>
            </a:r>
            <a:endParaRPr lang="zh-CN" altLang="en-US" sz="36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3" name="内容占位符 2"/>
          <p:cNvSpPr>
            <a:spLocks noGrp="1"/>
          </p:cNvSpPr>
          <p:nvPr>
            <p:ph idx="1"/>
          </p:nvPr>
        </p:nvSpPr>
        <p:spPr/>
        <p:txBody>
          <a:bodyPr/>
          <a:lstStyle/>
          <a:p>
            <a:r>
              <a:rPr lang="zh-CN" altLang="en-US" dirty="0"/>
              <a:t>如何解决这一问题？</a:t>
            </a:r>
            <a:endParaRPr lang="en-US" altLang="zh-CN" dirty="0"/>
          </a:p>
          <a:p>
            <a:r>
              <a:rPr lang="zh-CN" altLang="en-US" dirty="0"/>
              <a:t>可以测量游乐者对进入某地所必须支付的成本的敏感程度</a:t>
            </a:r>
            <a:endParaRPr lang="en-US" altLang="zh-CN" dirty="0"/>
          </a:p>
          <a:p>
            <a:r>
              <a:rPr lang="zh-CN" altLang="en-US" dirty="0"/>
              <a:t>并用这些信息去估计他们对进入费用的反应</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2"/>
          <p:cNvSpPr>
            <a:spLocks noChangeArrowheads="1"/>
          </p:cNvSpPr>
          <p:nvPr/>
        </p:nvSpPr>
        <p:spPr bwMode="auto">
          <a:xfrm>
            <a:off x="1908175" y="620713"/>
            <a:ext cx="5688013" cy="366712"/>
          </a:xfrm>
          <a:prstGeom prst="rect">
            <a:avLst/>
          </a:prstGeom>
          <a:noFill/>
          <a:ln>
            <a:noFill/>
          </a:ln>
        </p:spPr>
        <p:txBody>
          <a:bodyPr anchor="ctr">
            <a:spAutoFit/>
          </a:bodyPr>
          <a:lstStyle/>
          <a:p>
            <a:r>
              <a:rPr lang="en-US" altLang="zh-CN" b="1">
                <a:solidFill>
                  <a:srgbClr val="000000"/>
                </a:solidFill>
                <a:latin typeface="Times New Roman" panose="02020603050405020304" pitchFamily="18" charset="0"/>
                <a:cs typeface="Times New Roman" panose="02020603050405020304" pitchFamily="18" charset="0"/>
              </a:rPr>
              <a:t>Figure 5.3: Zones of travel origin to a recreational site</a:t>
            </a:r>
            <a:endParaRPr lang="en-CA" b="1">
              <a:latin typeface="Times New Roman" panose="02020603050405020304" pitchFamily="18" charset="0"/>
              <a:cs typeface="Times New Roman" panose="02020603050405020304" pitchFamily="18" charset="0"/>
            </a:endParaRPr>
          </a:p>
        </p:txBody>
      </p:sp>
      <p:grpSp>
        <p:nvGrpSpPr>
          <p:cNvPr id="24579" name="Group 2"/>
          <p:cNvGrpSpPr/>
          <p:nvPr/>
        </p:nvGrpSpPr>
        <p:grpSpPr bwMode="auto">
          <a:xfrm>
            <a:off x="1835150" y="1628775"/>
            <a:ext cx="5688013" cy="4103688"/>
            <a:chOff x="4111" y="8876"/>
            <a:chExt cx="4018" cy="3070"/>
          </a:xfrm>
          <a:noFill/>
        </p:grpSpPr>
        <p:sp>
          <p:nvSpPr>
            <p:cNvPr id="24582" name="Text Box 2869"/>
            <p:cNvSpPr txBox="1">
              <a:spLocks noChangeArrowheads="1"/>
            </p:cNvSpPr>
            <p:nvPr/>
          </p:nvSpPr>
          <p:spPr bwMode="auto">
            <a:xfrm>
              <a:off x="5970" y="11638"/>
              <a:ext cx="861" cy="30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45720" tIns="36576" bIns="18288"/>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dirty="0">
                  <a:latin typeface="Times New Roman" panose="02020603050405020304" pitchFamily="18" charset="0"/>
                  <a:cs typeface="Times New Roman" panose="02020603050405020304" pitchFamily="18" charset="0"/>
                </a:rPr>
                <a:t>Zone 4</a:t>
              </a:r>
              <a:endParaRPr lang="en-CA" dirty="0">
                <a:latin typeface="Times New Roman" panose="02020603050405020304" pitchFamily="18" charset="0"/>
                <a:cs typeface="Times New Roman" panose="02020603050405020304" pitchFamily="18" charset="0"/>
              </a:endParaRPr>
            </a:p>
          </p:txBody>
        </p:sp>
        <p:grpSp>
          <p:nvGrpSpPr>
            <p:cNvPr id="24583" name="Group 4"/>
            <p:cNvGrpSpPr/>
            <p:nvPr/>
          </p:nvGrpSpPr>
          <p:grpSpPr bwMode="auto">
            <a:xfrm>
              <a:off x="4111" y="8876"/>
              <a:ext cx="4018" cy="2807"/>
              <a:chOff x="4111" y="8876"/>
              <a:chExt cx="4018" cy="2807"/>
            </a:xfrm>
            <a:grpFill/>
          </p:grpSpPr>
          <p:sp>
            <p:nvSpPr>
              <p:cNvPr id="24584" name="Text Box 2871"/>
              <p:cNvSpPr txBox="1">
                <a:spLocks noChangeArrowheads="1"/>
              </p:cNvSpPr>
              <p:nvPr/>
            </p:nvSpPr>
            <p:spPr bwMode="auto">
              <a:xfrm>
                <a:off x="5744" y="11302"/>
                <a:ext cx="1021" cy="3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a:latin typeface="Times New Roman" panose="02020603050405020304" pitchFamily="18" charset="0"/>
                    <a:cs typeface="Times New Roman" panose="02020603050405020304" pitchFamily="18" charset="0"/>
                  </a:rPr>
                  <a:t>Zone 3</a:t>
                </a:r>
                <a:endParaRPr lang="en-CA">
                  <a:latin typeface="Times New Roman" panose="02020603050405020304" pitchFamily="18" charset="0"/>
                  <a:cs typeface="Times New Roman" panose="02020603050405020304" pitchFamily="18" charset="0"/>
                </a:endParaRPr>
              </a:p>
            </p:txBody>
          </p:sp>
          <p:sp>
            <p:nvSpPr>
              <p:cNvPr id="24585" name="Text Box 2872"/>
              <p:cNvSpPr txBox="1">
                <a:spLocks noChangeArrowheads="1"/>
              </p:cNvSpPr>
              <p:nvPr/>
            </p:nvSpPr>
            <p:spPr bwMode="auto">
              <a:xfrm>
                <a:off x="5729" y="10987"/>
                <a:ext cx="1021" cy="3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a:latin typeface="Times New Roman" panose="02020603050405020304" pitchFamily="18" charset="0"/>
                    <a:cs typeface="Times New Roman" panose="02020603050405020304" pitchFamily="18" charset="0"/>
                  </a:rPr>
                  <a:t>Zone 2</a:t>
                </a:r>
                <a:endParaRPr lang="en-CA">
                  <a:latin typeface="Times New Roman" panose="02020603050405020304" pitchFamily="18" charset="0"/>
                  <a:cs typeface="Times New Roman" panose="02020603050405020304" pitchFamily="18" charset="0"/>
                </a:endParaRPr>
              </a:p>
            </p:txBody>
          </p:sp>
          <p:sp>
            <p:nvSpPr>
              <p:cNvPr id="24586" name="Text Box 2873"/>
              <p:cNvSpPr txBox="1">
                <a:spLocks noChangeArrowheads="1"/>
              </p:cNvSpPr>
              <p:nvPr/>
            </p:nvSpPr>
            <p:spPr bwMode="auto">
              <a:xfrm>
                <a:off x="5699" y="10702"/>
                <a:ext cx="1065" cy="36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a:latin typeface="Times New Roman" panose="02020603050405020304" pitchFamily="18" charset="0"/>
                    <a:cs typeface="Times New Roman" panose="02020603050405020304" pitchFamily="18" charset="0"/>
                  </a:rPr>
                  <a:t>Zone 1</a:t>
                </a:r>
                <a:endParaRPr lang="en-CA">
                  <a:latin typeface="Times New Roman" panose="02020603050405020304" pitchFamily="18" charset="0"/>
                  <a:cs typeface="Times New Roman" panose="02020603050405020304" pitchFamily="18" charset="0"/>
                </a:endParaRPr>
              </a:p>
            </p:txBody>
          </p:sp>
          <p:sp>
            <p:nvSpPr>
              <p:cNvPr id="9" name="Text Box 2874"/>
              <p:cNvSpPr txBox="1">
                <a:spLocks noChangeArrowheads="1"/>
              </p:cNvSpPr>
              <p:nvPr/>
            </p:nvSpPr>
            <p:spPr bwMode="auto">
              <a:xfrm>
                <a:off x="5391" y="10147"/>
                <a:ext cx="1625" cy="471"/>
              </a:xfrm>
              <a:prstGeom prst="rect">
                <a:avLst/>
              </a:prstGeom>
              <a:grpFill/>
              <a:ln>
                <a:noFill/>
              </a:ln>
            </p:spPr>
            <p:txBody>
              <a:bodyPr/>
              <a:lstStyle>
                <a:lvl1pPr indent="-1143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atin typeface="Times New Roman" panose="02020603050405020304" pitchFamily="18" charset="0"/>
                    <a:cs typeface="Times New Roman" panose="02020603050405020304" pitchFamily="18" charset="0"/>
                  </a:rPr>
                  <a:t> </a:t>
                </a:r>
                <a:r>
                  <a:rPr lang="en-US" altLang="zh-CN">
                    <a:latin typeface="Times New Roman" panose="02020603050405020304" pitchFamily="18" charset="0"/>
                    <a:cs typeface="Times New Roman" panose="02020603050405020304" pitchFamily="18" charset="0"/>
                  </a:rPr>
                  <a:t>Recreational  site</a:t>
                </a:r>
                <a:endParaRPr lang="en-CA">
                  <a:latin typeface="Times New Roman" panose="02020603050405020304" pitchFamily="18" charset="0"/>
                  <a:cs typeface="Times New Roman" panose="02020603050405020304" pitchFamily="18" charset="0"/>
                </a:endParaRPr>
              </a:p>
            </p:txBody>
          </p:sp>
          <p:sp>
            <p:nvSpPr>
              <p:cNvPr id="10" name="Oval 9"/>
              <p:cNvSpPr>
                <a:spLocks noChangeArrowheads="1"/>
              </p:cNvSpPr>
              <p:nvPr/>
            </p:nvSpPr>
            <p:spPr bwMode="auto">
              <a:xfrm>
                <a:off x="5204" y="9855"/>
                <a:ext cx="1936" cy="913"/>
              </a:xfrm>
              <a:prstGeom prst="ellipse">
                <a:avLst/>
              </a:prstGeom>
              <a:grpFill/>
              <a:ln w="9525">
                <a:solidFill>
                  <a:schemeClr val="tx1">
                    <a:lumMod val="100000"/>
                    <a:lumOff val="0"/>
                  </a:schemeClr>
                </a:solidFill>
                <a:round/>
              </a:ln>
            </p:spPr>
            <p:txBody>
              <a:bodyPr/>
              <a:lstStyle/>
              <a:p>
                <a:endParaRPr lang="en-CA">
                  <a:latin typeface="Times New Roman" panose="02020603050405020304" pitchFamily="18" charset="0"/>
                  <a:cs typeface="Times New Roman" panose="02020603050405020304" pitchFamily="18" charset="0"/>
                </a:endParaRPr>
              </a:p>
            </p:txBody>
          </p:sp>
          <p:sp>
            <p:nvSpPr>
              <p:cNvPr id="11" name="Oval 10"/>
              <p:cNvSpPr>
                <a:spLocks noChangeArrowheads="1"/>
              </p:cNvSpPr>
              <p:nvPr/>
            </p:nvSpPr>
            <p:spPr bwMode="auto">
              <a:xfrm>
                <a:off x="4874" y="9596"/>
                <a:ext cx="2562" cy="1457"/>
              </a:xfrm>
              <a:prstGeom prst="ellipse">
                <a:avLst/>
              </a:prstGeom>
              <a:grpFill/>
              <a:ln w="9525">
                <a:solidFill>
                  <a:schemeClr val="tx1">
                    <a:lumMod val="100000"/>
                    <a:lumOff val="0"/>
                  </a:schemeClr>
                </a:solidFill>
                <a:round/>
              </a:ln>
            </p:spPr>
            <p:txBody>
              <a:bodyPr/>
              <a:lstStyle/>
              <a:p>
                <a:endParaRPr lang="en-CA">
                  <a:latin typeface="Times New Roman" panose="02020603050405020304" pitchFamily="18" charset="0"/>
                  <a:cs typeface="Times New Roman" panose="02020603050405020304" pitchFamily="18" charset="0"/>
                </a:endParaRPr>
              </a:p>
            </p:txBody>
          </p:sp>
          <p:sp>
            <p:nvSpPr>
              <p:cNvPr id="12" name="Oval 11"/>
              <p:cNvSpPr>
                <a:spLocks noChangeArrowheads="1"/>
              </p:cNvSpPr>
              <p:nvPr/>
            </p:nvSpPr>
            <p:spPr bwMode="auto">
              <a:xfrm>
                <a:off x="4471" y="9308"/>
                <a:ext cx="3326" cy="2062"/>
              </a:xfrm>
              <a:prstGeom prst="ellipse">
                <a:avLst/>
              </a:prstGeom>
              <a:grpFill/>
              <a:ln w="9525">
                <a:solidFill>
                  <a:schemeClr val="tx1">
                    <a:lumMod val="100000"/>
                    <a:lumOff val="0"/>
                  </a:schemeClr>
                </a:solidFill>
                <a:round/>
              </a:ln>
            </p:spPr>
            <p:txBody>
              <a:bodyPr/>
              <a:lstStyle/>
              <a:p>
                <a:endParaRPr lang="en-CA">
                  <a:latin typeface="Times New Roman" panose="02020603050405020304" pitchFamily="18" charset="0"/>
                  <a:cs typeface="Times New Roman" panose="02020603050405020304" pitchFamily="18" charset="0"/>
                </a:endParaRPr>
              </a:p>
            </p:txBody>
          </p:sp>
          <p:sp>
            <p:nvSpPr>
              <p:cNvPr id="13" name="Oval 12"/>
              <p:cNvSpPr>
                <a:spLocks noChangeArrowheads="1"/>
              </p:cNvSpPr>
              <p:nvPr/>
            </p:nvSpPr>
            <p:spPr bwMode="auto">
              <a:xfrm>
                <a:off x="4111" y="8876"/>
                <a:ext cx="4018" cy="2762"/>
              </a:xfrm>
              <a:prstGeom prst="ellipse">
                <a:avLst/>
              </a:prstGeom>
              <a:grpFill/>
              <a:ln w="9525">
                <a:solidFill>
                  <a:schemeClr val="tx1">
                    <a:lumMod val="100000"/>
                    <a:lumOff val="0"/>
                  </a:schemeClr>
                </a:solidFill>
                <a:round/>
              </a:ln>
            </p:spPr>
            <p:txBody>
              <a:bodyPr/>
              <a:lstStyle/>
              <a:p>
                <a:endParaRPr lang="en-CA">
                  <a:latin typeface="Times New Roman" panose="02020603050405020304" pitchFamily="18" charset="0"/>
                  <a:cs typeface="Times New Roman" panose="02020603050405020304" pitchFamily="18" charset="0"/>
                </a:endParaRPr>
              </a:p>
            </p:txBody>
          </p:sp>
        </p:grpSp>
      </p:grpSp>
      <p:sp>
        <p:nvSpPr>
          <p:cNvPr id="24580" name="Rectangle 18"/>
          <p:cNvSpPr>
            <a:spLocks noChangeArrowheads="1"/>
          </p:cNvSpPr>
          <p:nvPr/>
        </p:nvSpPr>
        <p:spPr bwMode="auto">
          <a:xfrm>
            <a:off x="0" y="1960563"/>
            <a:ext cx="184150" cy="687387"/>
          </a:xfrm>
          <a:prstGeom prst="rect">
            <a:avLst/>
          </a:prstGeom>
          <a:noFill/>
          <a:ln>
            <a:noFill/>
          </a:ln>
        </p:spPr>
        <p:txBody>
          <a:bodyPr wrap="none" anchor="ctr">
            <a:spAutoFit/>
          </a:bodyPr>
          <a:lstStyle/>
          <a:p>
            <a:br>
              <a:rPr lang="en-US" altLang="zh-CN" sz="1000">
                <a:latin typeface="Roman 10cpi"/>
                <a:ea typeface="Roman 10cpi"/>
                <a:cs typeface="Times New Roman" panose="02020603050405020304" pitchFamily="18" charset="0"/>
              </a:rPr>
            </a:br>
            <a:endParaRPr lang="en-CA" sz="1100">
              <a:ea typeface="Roman 10cpi"/>
              <a:cs typeface="Times New Roman" panose="02020603050405020304" pitchFamily="18" charset="0"/>
            </a:endParaRPr>
          </a:p>
          <a:p>
            <a:pPr eaLnBrk="0" hangingPunct="0"/>
            <a:endParaRPr lang="en-CA">
              <a:ea typeface="Roman 10cpi"/>
              <a:cs typeface="Times New Roman" panose="02020603050405020304" pitchFamily="18" charset="0"/>
            </a:endParaRPr>
          </a:p>
        </p:txBody>
      </p:sp>
      <p:sp>
        <p:nvSpPr>
          <p:cNvPr id="16" name="Footer Placeholder 1"/>
          <p:cNvSpPr>
            <a:spLocks noGrp="1"/>
          </p:cNvSpPr>
          <p:nvPr>
            <p:ph type="ftr" sz="quarter" idx="11"/>
          </p:nvPr>
        </p:nvSpPr>
        <p:spPr>
          <a:xfrm>
            <a:off x="0" y="6492875"/>
            <a:ext cx="9144000" cy="365125"/>
          </a:xfrm>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pitchFamily="34" charset="0"/>
              </a:rPr>
              <a:t>Adapted from </a:t>
            </a:r>
            <a:r>
              <a:rPr lang="en-US" altLang="zh-CN" i="1">
                <a:solidFill>
                  <a:srgbClr val="898989"/>
                </a:solidFill>
                <a:latin typeface="Calibri" panose="020F0502020204030204" pitchFamily="34" charset="0"/>
              </a:rPr>
              <a:t>Forest Economics </a:t>
            </a:r>
            <a:r>
              <a:rPr lang="en-US" altLang="zh-CN">
                <a:solidFill>
                  <a:srgbClr val="898989"/>
                </a:solidFill>
                <a:latin typeface="Calibri" panose="020F0502020204030204" pitchFamily="34" charset="0"/>
              </a:rPr>
              <a:t>by Daowei Zhang and Peter H. Pearse, published by UBC Press, 2011. </a:t>
            </a:r>
            <a:endParaRPr lang="en-CA">
              <a:solidFill>
                <a:srgbClr val="898989"/>
              </a:solidFill>
              <a:latin typeface="Calibri" panose="020F0502020204030204" pitchFamily="34" charset="0"/>
            </a:endParaRPr>
          </a:p>
        </p:txBody>
      </p:sp>
      <p:sp>
        <p:nvSpPr>
          <p:cNvPr id="2" name="TextBox 1"/>
          <p:cNvSpPr txBox="1"/>
          <p:nvPr/>
        </p:nvSpPr>
        <p:spPr>
          <a:xfrm>
            <a:off x="395537" y="1836900"/>
            <a:ext cx="1368152" cy="1200329"/>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根据居住地与游乐地点的距离分成几个中心区</a:t>
            </a:r>
            <a:endParaRPr lang="zh-CN" altLang="en-US" dirty="0">
              <a:latin typeface="黑体" panose="02010609060101010101" pitchFamily="49" charset="-122"/>
              <a:ea typeface="黑体" panose="02010609060101010101" pitchFamily="49" charset="-122"/>
            </a:endParaRPr>
          </a:p>
        </p:txBody>
      </p:sp>
      <p:sp>
        <p:nvSpPr>
          <p:cNvPr id="17" name="TextBox 16"/>
          <p:cNvSpPr txBox="1"/>
          <p:nvPr/>
        </p:nvSpPr>
        <p:spPr>
          <a:xfrm>
            <a:off x="7596188" y="1704091"/>
            <a:ext cx="1368152" cy="1754326"/>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每个中心区的总人口数、去游乐地的人次数和平均旅行费用可估算出来</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83568" y="1340768"/>
            <a:ext cx="8090134" cy="4400550"/>
            <a:chOff x="772730" y="1445450"/>
            <a:chExt cx="8090134" cy="4400550"/>
          </a:xfrm>
        </p:grpSpPr>
        <p:pic>
          <p:nvPicPr>
            <p:cNvPr id="3" name="Picture 2"/>
            <p:cNvPicPr>
              <a:picLocks noChangeAspect="1" noChangeArrowheads="1"/>
            </p:cNvPicPr>
            <p:nvPr/>
          </p:nvPicPr>
          <p:blipFill>
            <a:blip r:embed="rId1"/>
            <a:srcRect/>
            <a:stretch>
              <a:fillRect/>
            </a:stretch>
          </p:blipFill>
          <p:spPr bwMode="auto">
            <a:xfrm rot="5400000">
              <a:off x="3024039" y="-11875"/>
              <a:ext cx="4362450"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2"/>
            <a:srcRect/>
            <a:stretch>
              <a:fillRect/>
            </a:stretch>
          </p:blipFill>
          <p:spPr bwMode="auto">
            <a:xfrm rot="5400000">
              <a:off x="-1037020" y="3255200"/>
              <a:ext cx="44005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 name="矩形 4"/>
          <p:cNvSpPr/>
          <p:nvPr/>
        </p:nvSpPr>
        <p:spPr>
          <a:xfrm>
            <a:off x="1763688" y="1628800"/>
            <a:ext cx="3352414" cy="1584176"/>
          </a:xfrm>
          <a:prstGeom prst="rect">
            <a:avLst/>
          </a:prstGeom>
          <a:no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ChangeArrowheads="1"/>
          </p:cNvSpPr>
          <p:nvPr/>
        </p:nvSpPr>
        <p:spPr bwMode="auto">
          <a:xfrm>
            <a:off x="684213" y="620713"/>
            <a:ext cx="82804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b="1">
                <a:solidFill>
                  <a:srgbClr val="000000"/>
                </a:solidFill>
                <a:latin typeface="Times New Roman" panose="02020603050405020304" pitchFamily="18" charset="0"/>
                <a:cs typeface="Times New Roman" panose="02020603050405020304" pitchFamily="18" charset="0"/>
              </a:rPr>
              <a:t>Figure 5.4: Derivation of the demand curve for a recreational site from travel costs</a:t>
            </a:r>
            <a:endParaRPr lang="en-CA" b="1">
              <a:solidFill>
                <a:srgbClr val="000000"/>
              </a:solidFill>
              <a:latin typeface="Times New Roman" panose="02020603050405020304" pitchFamily="18" charset="0"/>
              <a:cs typeface="Times New Roman" panose="02020603050405020304" pitchFamily="18" charset="0"/>
            </a:endParaRPr>
          </a:p>
        </p:txBody>
      </p:sp>
      <p:grpSp>
        <p:nvGrpSpPr>
          <p:cNvPr id="25603" name="Group 2"/>
          <p:cNvGrpSpPr/>
          <p:nvPr/>
        </p:nvGrpSpPr>
        <p:grpSpPr bwMode="auto">
          <a:xfrm>
            <a:off x="827088" y="1282700"/>
            <a:ext cx="7705725" cy="4378325"/>
            <a:chOff x="1165" y="1977"/>
            <a:chExt cx="9825" cy="3961"/>
          </a:xfrm>
        </p:grpSpPr>
        <p:grpSp>
          <p:nvGrpSpPr>
            <p:cNvPr id="25606" name="Group 3"/>
            <p:cNvGrpSpPr/>
            <p:nvPr/>
          </p:nvGrpSpPr>
          <p:grpSpPr bwMode="auto">
            <a:xfrm>
              <a:off x="6124" y="1977"/>
              <a:ext cx="4866" cy="3961"/>
              <a:chOff x="6124" y="1977"/>
              <a:chExt cx="4866" cy="3961"/>
            </a:xfrm>
          </p:grpSpPr>
          <p:sp>
            <p:nvSpPr>
              <p:cNvPr id="45" name="Text Box 3832"/>
              <p:cNvSpPr txBox="1">
                <a:spLocks noChangeArrowheads="1"/>
              </p:cNvSpPr>
              <p:nvPr/>
            </p:nvSpPr>
            <p:spPr bwMode="auto">
              <a:xfrm>
                <a:off x="8695" y="1977"/>
                <a:ext cx="437" cy="369"/>
              </a:xfrm>
              <a:prstGeom prst="rect">
                <a:avLst/>
              </a:prstGeom>
              <a:noFill/>
              <a:ln w="9525">
                <a:noFill/>
                <a:miter lim="800000"/>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B</a:t>
                </a:r>
                <a:endParaRPr lang="en-CA">
                  <a:solidFill>
                    <a:srgbClr val="000000"/>
                  </a:solidFill>
                  <a:latin typeface="Times New Roman" panose="02020603050405020304" pitchFamily="18" charset="0"/>
                  <a:cs typeface="Times New Roman" panose="02020603050405020304" pitchFamily="18" charset="0"/>
                </a:endParaRPr>
              </a:p>
            </p:txBody>
          </p:sp>
          <p:grpSp>
            <p:nvGrpSpPr>
              <p:cNvPr id="25647" name="Group 45"/>
              <p:cNvGrpSpPr/>
              <p:nvPr/>
            </p:nvGrpSpPr>
            <p:grpSpPr bwMode="auto">
              <a:xfrm>
                <a:off x="6124" y="2414"/>
                <a:ext cx="4866" cy="3524"/>
                <a:chOff x="6124" y="2426"/>
                <a:chExt cx="4866" cy="3524"/>
              </a:xfrm>
            </p:grpSpPr>
            <p:sp>
              <p:nvSpPr>
                <p:cNvPr id="47" name="Text Box 3834"/>
                <p:cNvSpPr txBox="1">
                  <a:spLocks noChangeArrowheads="1"/>
                </p:cNvSpPr>
                <p:nvPr/>
              </p:nvSpPr>
              <p:spPr bwMode="auto">
                <a:xfrm>
                  <a:off x="7934" y="5591"/>
                  <a:ext cx="2510" cy="359"/>
                </a:xfrm>
                <a:prstGeom prst="rect">
                  <a:avLst/>
                </a:prstGeom>
                <a:noFill/>
                <a:ln w="9525">
                  <a:noFill/>
                  <a:miter lim="800000"/>
                </a:ln>
              </p:spPr>
              <p:txBody>
                <a:bodyPr t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Number of visits</a:t>
                  </a:r>
                  <a:endParaRPr lang="en-CA">
                    <a:solidFill>
                      <a:srgbClr val="000000"/>
                    </a:solidFill>
                    <a:latin typeface="Times New Roman" panose="02020603050405020304" pitchFamily="18" charset="0"/>
                    <a:cs typeface="Times New Roman" panose="02020603050405020304" pitchFamily="18" charset="0"/>
                  </a:endParaRPr>
                </a:p>
              </p:txBody>
            </p:sp>
            <p:sp>
              <p:nvSpPr>
                <p:cNvPr id="48" name="Text Box 3835"/>
                <p:cNvSpPr txBox="1">
                  <a:spLocks noChangeArrowheads="1"/>
                </p:cNvSpPr>
                <p:nvPr/>
              </p:nvSpPr>
              <p:spPr bwMode="auto">
                <a:xfrm>
                  <a:off x="8164" y="2612"/>
                  <a:ext cx="2038" cy="421"/>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Demand curve</a:t>
                  </a:r>
                  <a:endParaRPr lang="en-CA">
                    <a:solidFill>
                      <a:srgbClr val="000000"/>
                    </a:solidFill>
                    <a:latin typeface="Times New Roman" panose="02020603050405020304" pitchFamily="18" charset="0"/>
                    <a:cs typeface="Times New Roman" panose="02020603050405020304" pitchFamily="18" charset="0"/>
                  </a:endParaRPr>
                </a:p>
              </p:txBody>
            </p:sp>
            <p:sp>
              <p:nvSpPr>
                <p:cNvPr id="49" name="Text Box 3836"/>
                <p:cNvSpPr txBox="1">
                  <a:spLocks noChangeArrowheads="1"/>
                </p:cNvSpPr>
                <p:nvPr/>
              </p:nvSpPr>
              <p:spPr bwMode="auto">
                <a:xfrm>
                  <a:off x="6124" y="2858"/>
                  <a:ext cx="582" cy="2201"/>
                </a:xfrm>
                <a:prstGeom prst="rect">
                  <a:avLst/>
                </a:prstGeom>
                <a:noFill/>
                <a:ln w="9525">
                  <a:noFill/>
                  <a:miter lim="800000"/>
                </a:ln>
              </p:spPr>
              <p:txBody>
                <a:bodyPr vert="vert270" upright="1"/>
                <a:lstStyle/>
                <a:p>
                  <a:pPr fontAlgn="auto">
                    <a:spcBef>
                      <a:spcPts val="990"/>
                    </a:spcBef>
                    <a:spcAft>
                      <a:spcPts val="0"/>
                    </a:spcAft>
                    <a:defRPr/>
                  </a:pPr>
                  <a:r>
                    <a:rPr lang="en-US" kern="0" dirty="0">
                      <a:solidFill>
                        <a:sysClr val="windowText" lastClr="000000"/>
                      </a:solidFill>
                      <a:latin typeface="Times New Roman" panose="02020603050405020304" pitchFamily="18" charset="0"/>
                      <a:ea typeface="Times New Roman" panose="02020603050405020304"/>
                      <a:cs typeface="Times New Roman" panose="02020603050405020304" pitchFamily="18" charset="0"/>
                    </a:rPr>
                    <a:t>Hypothetical price ($)</a:t>
                  </a:r>
                  <a:endParaRPr lang="en-CA" kern="0" dirty="0">
                    <a:solidFill>
                      <a:sysClr val="windowText" lastClr="000000"/>
                    </a:solidFill>
                    <a:latin typeface="Times New Roman" panose="02020603050405020304" pitchFamily="18" charset="0"/>
                    <a:ea typeface="Times New Roman" panose="02020603050405020304"/>
                    <a:cs typeface="Times New Roman" panose="02020603050405020304" pitchFamily="18" charset="0"/>
                  </a:endParaRPr>
                </a:p>
              </p:txBody>
            </p:sp>
            <p:sp>
              <p:nvSpPr>
                <p:cNvPr id="50" name="Text Box 3837"/>
                <p:cNvSpPr txBox="1">
                  <a:spLocks noChangeArrowheads="1"/>
                </p:cNvSpPr>
                <p:nvPr/>
              </p:nvSpPr>
              <p:spPr bwMode="auto">
                <a:xfrm>
                  <a:off x="7015" y="5213"/>
                  <a:ext cx="3975" cy="461"/>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0        10,000     20,000   30,000</a:t>
                  </a:r>
                  <a:endParaRPr lang="en-CA">
                    <a:solidFill>
                      <a:srgbClr val="000000"/>
                    </a:solidFill>
                    <a:latin typeface="Times New Roman" panose="02020603050405020304" pitchFamily="18" charset="0"/>
                    <a:cs typeface="Times New Roman" panose="02020603050405020304" pitchFamily="18" charset="0"/>
                  </a:endParaRPr>
                </a:p>
              </p:txBody>
            </p:sp>
            <p:grpSp>
              <p:nvGrpSpPr>
                <p:cNvPr id="25652" name="Group 50"/>
                <p:cNvGrpSpPr/>
                <p:nvPr/>
              </p:nvGrpSpPr>
              <p:grpSpPr bwMode="auto">
                <a:xfrm>
                  <a:off x="6691" y="2426"/>
                  <a:ext cx="595" cy="3084"/>
                  <a:chOff x="6691" y="2426"/>
                  <a:chExt cx="595" cy="3084"/>
                </a:xfrm>
              </p:grpSpPr>
              <p:sp>
                <p:nvSpPr>
                  <p:cNvPr id="95" name="Text Box 3839"/>
                  <p:cNvSpPr txBox="1">
                    <a:spLocks noChangeArrowheads="1"/>
                  </p:cNvSpPr>
                  <p:nvPr/>
                </p:nvSpPr>
                <p:spPr bwMode="auto">
                  <a:xfrm>
                    <a:off x="6701" y="2426"/>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40</a:t>
                    </a:r>
                    <a:endParaRPr lang="en-CA">
                      <a:solidFill>
                        <a:srgbClr val="000000"/>
                      </a:solidFill>
                      <a:latin typeface="Times New Roman" panose="02020603050405020304" pitchFamily="18" charset="0"/>
                      <a:cs typeface="Times New Roman" panose="02020603050405020304" pitchFamily="18" charset="0"/>
                    </a:endParaRPr>
                  </a:p>
                </p:txBody>
              </p:sp>
              <p:sp>
                <p:nvSpPr>
                  <p:cNvPr id="96" name="Text Box 3840"/>
                  <p:cNvSpPr txBox="1">
                    <a:spLocks noChangeArrowheads="1"/>
                  </p:cNvSpPr>
                  <p:nvPr/>
                </p:nvSpPr>
                <p:spPr bwMode="auto">
                  <a:xfrm>
                    <a:off x="6691" y="2806"/>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35</a:t>
                    </a:r>
                    <a:endParaRPr lang="en-CA">
                      <a:solidFill>
                        <a:srgbClr val="000000"/>
                      </a:solidFill>
                      <a:latin typeface="Times New Roman" panose="02020603050405020304" pitchFamily="18" charset="0"/>
                      <a:cs typeface="Times New Roman" panose="02020603050405020304" pitchFamily="18" charset="0"/>
                    </a:endParaRPr>
                  </a:p>
                </p:txBody>
              </p:sp>
              <p:sp>
                <p:nvSpPr>
                  <p:cNvPr id="97" name="Text Box 3841"/>
                  <p:cNvSpPr txBox="1">
                    <a:spLocks noChangeArrowheads="1"/>
                  </p:cNvSpPr>
                  <p:nvPr/>
                </p:nvSpPr>
                <p:spPr bwMode="auto">
                  <a:xfrm>
                    <a:off x="6705" y="3109"/>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30</a:t>
                    </a:r>
                    <a:endParaRPr lang="en-CA">
                      <a:solidFill>
                        <a:srgbClr val="000000"/>
                      </a:solidFill>
                      <a:latin typeface="Times New Roman" panose="02020603050405020304" pitchFamily="18" charset="0"/>
                      <a:cs typeface="Times New Roman" panose="02020603050405020304" pitchFamily="18" charset="0"/>
                    </a:endParaRPr>
                  </a:p>
                </p:txBody>
              </p:sp>
              <p:sp>
                <p:nvSpPr>
                  <p:cNvPr id="98" name="Text Box 3842"/>
                  <p:cNvSpPr txBox="1">
                    <a:spLocks noChangeArrowheads="1"/>
                  </p:cNvSpPr>
                  <p:nvPr/>
                </p:nvSpPr>
                <p:spPr bwMode="auto">
                  <a:xfrm>
                    <a:off x="6701" y="3458"/>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25</a:t>
                    </a:r>
                    <a:endParaRPr lang="en-CA">
                      <a:solidFill>
                        <a:srgbClr val="000000"/>
                      </a:solidFill>
                      <a:latin typeface="Times New Roman" panose="02020603050405020304" pitchFamily="18" charset="0"/>
                      <a:cs typeface="Times New Roman" panose="02020603050405020304" pitchFamily="18" charset="0"/>
                    </a:endParaRPr>
                  </a:p>
                </p:txBody>
              </p:sp>
              <p:sp>
                <p:nvSpPr>
                  <p:cNvPr id="99" name="Text Box 3843"/>
                  <p:cNvSpPr txBox="1">
                    <a:spLocks noChangeArrowheads="1"/>
                  </p:cNvSpPr>
                  <p:nvPr/>
                </p:nvSpPr>
                <p:spPr bwMode="auto">
                  <a:xfrm>
                    <a:off x="6701" y="3758"/>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20</a:t>
                    </a:r>
                    <a:endParaRPr lang="en-CA">
                      <a:solidFill>
                        <a:srgbClr val="000000"/>
                      </a:solidFill>
                      <a:latin typeface="Times New Roman" panose="02020603050405020304" pitchFamily="18" charset="0"/>
                      <a:cs typeface="Times New Roman" panose="02020603050405020304" pitchFamily="18" charset="0"/>
                    </a:endParaRPr>
                  </a:p>
                </p:txBody>
              </p:sp>
              <p:sp>
                <p:nvSpPr>
                  <p:cNvPr id="100" name="Text Box 3844"/>
                  <p:cNvSpPr txBox="1">
                    <a:spLocks noChangeArrowheads="1"/>
                  </p:cNvSpPr>
                  <p:nvPr/>
                </p:nvSpPr>
                <p:spPr bwMode="auto">
                  <a:xfrm>
                    <a:off x="6701" y="4059"/>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15</a:t>
                    </a:r>
                    <a:endParaRPr lang="en-CA">
                      <a:solidFill>
                        <a:srgbClr val="000000"/>
                      </a:solidFill>
                      <a:latin typeface="Times New Roman" panose="02020603050405020304" pitchFamily="18" charset="0"/>
                      <a:cs typeface="Times New Roman" panose="02020603050405020304" pitchFamily="18" charset="0"/>
                    </a:endParaRPr>
                  </a:p>
                </p:txBody>
              </p:sp>
              <p:sp>
                <p:nvSpPr>
                  <p:cNvPr id="101" name="Text Box 3845"/>
                  <p:cNvSpPr txBox="1">
                    <a:spLocks noChangeArrowheads="1"/>
                  </p:cNvSpPr>
                  <p:nvPr/>
                </p:nvSpPr>
                <p:spPr bwMode="auto">
                  <a:xfrm>
                    <a:off x="6701" y="4382"/>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10</a:t>
                    </a:r>
                    <a:endParaRPr lang="en-CA">
                      <a:solidFill>
                        <a:srgbClr val="000000"/>
                      </a:solidFill>
                      <a:latin typeface="Times New Roman" panose="02020603050405020304" pitchFamily="18" charset="0"/>
                      <a:cs typeface="Times New Roman" panose="02020603050405020304" pitchFamily="18" charset="0"/>
                    </a:endParaRPr>
                  </a:p>
                </p:txBody>
              </p:sp>
              <p:sp>
                <p:nvSpPr>
                  <p:cNvPr id="102" name="Text Box 3846"/>
                  <p:cNvSpPr txBox="1">
                    <a:spLocks noChangeArrowheads="1"/>
                  </p:cNvSpPr>
                  <p:nvPr/>
                </p:nvSpPr>
                <p:spPr bwMode="auto">
                  <a:xfrm>
                    <a:off x="6701" y="4706"/>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  5</a:t>
                    </a:r>
                    <a:endParaRPr lang="en-CA">
                      <a:solidFill>
                        <a:srgbClr val="000000"/>
                      </a:solidFill>
                      <a:latin typeface="Times New Roman" panose="02020603050405020304" pitchFamily="18" charset="0"/>
                      <a:cs typeface="Times New Roman" panose="02020603050405020304" pitchFamily="18" charset="0"/>
                    </a:endParaRPr>
                  </a:p>
                </p:txBody>
              </p:sp>
              <p:sp>
                <p:nvSpPr>
                  <p:cNvPr id="103" name="Text Box 3847"/>
                  <p:cNvSpPr txBox="1">
                    <a:spLocks noChangeArrowheads="1"/>
                  </p:cNvSpPr>
                  <p:nvPr/>
                </p:nvSpPr>
                <p:spPr bwMode="auto">
                  <a:xfrm>
                    <a:off x="6701" y="5042"/>
                    <a:ext cx="500"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  </a:t>
                    </a:r>
                    <a:endParaRPr lang="en-CA">
                      <a:solidFill>
                        <a:srgbClr val="000000"/>
                      </a:solidFill>
                      <a:latin typeface="Times New Roman" panose="02020603050405020304" pitchFamily="18" charset="0"/>
                      <a:cs typeface="Times New Roman" panose="02020603050405020304" pitchFamily="18" charset="0"/>
                    </a:endParaRPr>
                  </a:p>
                </p:txBody>
              </p:sp>
            </p:grpSp>
            <p:grpSp>
              <p:nvGrpSpPr>
                <p:cNvPr id="25653" name="Group 51"/>
                <p:cNvGrpSpPr/>
                <p:nvPr/>
              </p:nvGrpSpPr>
              <p:grpSpPr bwMode="auto">
                <a:xfrm>
                  <a:off x="7178" y="2593"/>
                  <a:ext cx="3362" cy="2718"/>
                  <a:chOff x="7178" y="2593"/>
                  <a:chExt cx="3362" cy="2718"/>
                </a:xfrm>
              </p:grpSpPr>
              <p:grpSp>
                <p:nvGrpSpPr>
                  <p:cNvPr id="25654" name="Group 52"/>
                  <p:cNvGrpSpPr/>
                  <p:nvPr/>
                </p:nvGrpSpPr>
                <p:grpSpPr bwMode="auto">
                  <a:xfrm>
                    <a:off x="7220" y="2593"/>
                    <a:ext cx="3320" cy="2652"/>
                    <a:chOff x="7220" y="2593"/>
                    <a:chExt cx="3320" cy="2652"/>
                  </a:xfrm>
                </p:grpSpPr>
                <p:cxnSp>
                  <p:nvCxnSpPr>
                    <p:cNvPr id="25679" name="AutoShape 3850"/>
                    <p:cNvCxnSpPr>
                      <a:cxnSpLocks noChangeShapeType="1"/>
                    </p:cNvCxnSpPr>
                    <p:nvPr/>
                  </p:nvCxnSpPr>
                  <p:spPr bwMode="auto">
                    <a:xfrm>
                      <a:off x="7250" y="2657"/>
                      <a:ext cx="164" cy="37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0" name="AutoShape 3851"/>
                    <p:cNvCxnSpPr>
                      <a:cxnSpLocks noChangeShapeType="1"/>
                    </p:cNvCxnSpPr>
                    <p:nvPr/>
                  </p:nvCxnSpPr>
                  <p:spPr bwMode="auto">
                    <a:xfrm>
                      <a:off x="7414" y="3021"/>
                      <a:ext cx="84" cy="254"/>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1" name="AutoShape 3852"/>
                    <p:cNvCxnSpPr>
                      <a:cxnSpLocks noChangeShapeType="1"/>
                    </p:cNvCxnSpPr>
                    <p:nvPr/>
                  </p:nvCxnSpPr>
                  <p:spPr bwMode="auto">
                    <a:xfrm>
                      <a:off x="7546" y="3333"/>
                      <a:ext cx="472" cy="324"/>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2" name="AutoShape 3853"/>
                    <p:cNvCxnSpPr>
                      <a:cxnSpLocks noChangeShapeType="1"/>
                    </p:cNvCxnSpPr>
                    <p:nvPr/>
                  </p:nvCxnSpPr>
                  <p:spPr bwMode="auto">
                    <a:xfrm>
                      <a:off x="8018" y="3657"/>
                      <a:ext cx="372" cy="26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3" name="AutoShape 3854"/>
                    <p:cNvCxnSpPr>
                      <a:cxnSpLocks noChangeShapeType="1"/>
                    </p:cNvCxnSpPr>
                    <p:nvPr/>
                  </p:nvCxnSpPr>
                  <p:spPr bwMode="auto">
                    <a:xfrm>
                      <a:off x="8366" y="3898"/>
                      <a:ext cx="414" cy="321"/>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4" name="AutoShape 3855"/>
                    <p:cNvCxnSpPr>
                      <a:cxnSpLocks noChangeShapeType="1"/>
                    </p:cNvCxnSpPr>
                    <p:nvPr/>
                  </p:nvCxnSpPr>
                  <p:spPr bwMode="auto">
                    <a:xfrm>
                      <a:off x="8780" y="4234"/>
                      <a:ext cx="608" cy="32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5" name="AutoShape 3856"/>
                    <p:cNvCxnSpPr>
                      <a:cxnSpLocks noChangeShapeType="1"/>
                    </p:cNvCxnSpPr>
                    <p:nvPr/>
                  </p:nvCxnSpPr>
                  <p:spPr bwMode="auto">
                    <a:xfrm>
                      <a:off x="9388" y="4554"/>
                      <a:ext cx="556" cy="322"/>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6" name="AutoShape 3857"/>
                    <p:cNvCxnSpPr>
                      <a:cxnSpLocks noChangeShapeType="1"/>
                    </p:cNvCxnSpPr>
                    <p:nvPr/>
                  </p:nvCxnSpPr>
                  <p:spPr bwMode="auto">
                    <a:xfrm>
                      <a:off x="9944" y="4876"/>
                      <a:ext cx="536" cy="33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sp>
                  <p:nvSpPr>
                    <p:cNvPr id="86" name="Rectangle 85"/>
                    <p:cNvSpPr>
                      <a:spLocks noChangeArrowheads="1"/>
                    </p:cNvSpPr>
                    <p:nvPr/>
                  </p:nvSpPr>
                  <p:spPr bwMode="auto">
                    <a:xfrm rot="2700000">
                      <a:off x="7223" y="2591"/>
                      <a:ext cx="72" cy="75"/>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87" name="Rectangle 86"/>
                    <p:cNvSpPr>
                      <a:spLocks noChangeArrowheads="1"/>
                    </p:cNvSpPr>
                    <p:nvPr/>
                  </p:nvSpPr>
                  <p:spPr bwMode="auto">
                    <a:xfrm rot="2700000">
                      <a:off x="7393" y="2991"/>
                      <a:ext cx="72" cy="75"/>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88" name="Rectangle 87"/>
                    <p:cNvSpPr>
                      <a:spLocks noChangeArrowheads="1"/>
                    </p:cNvSpPr>
                    <p:nvPr/>
                  </p:nvSpPr>
                  <p:spPr bwMode="auto">
                    <a:xfrm rot="2700000">
                      <a:off x="7499" y="3275"/>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89" name="Rectangle 88"/>
                    <p:cNvSpPr>
                      <a:spLocks noChangeArrowheads="1"/>
                    </p:cNvSpPr>
                    <p:nvPr/>
                  </p:nvSpPr>
                  <p:spPr bwMode="auto">
                    <a:xfrm rot="2700000">
                      <a:off x="7959" y="3599"/>
                      <a:ext cx="72"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0" name="Rectangle 89"/>
                    <p:cNvSpPr>
                      <a:spLocks noChangeArrowheads="1"/>
                    </p:cNvSpPr>
                    <p:nvPr/>
                  </p:nvSpPr>
                  <p:spPr bwMode="auto">
                    <a:xfrm rot="2700000">
                      <a:off x="8379" y="3897"/>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1" name="Rectangle 90"/>
                    <p:cNvSpPr>
                      <a:spLocks noChangeArrowheads="1"/>
                    </p:cNvSpPr>
                    <p:nvPr/>
                  </p:nvSpPr>
                  <p:spPr bwMode="auto">
                    <a:xfrm rot="2700000">
                      <a:off x="8781" y="4210"/>
                      <a:ext cx="72"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2" name="Rectangle 91"/>
                    <p:cNvSpPr>
                      <a:spLocks noChangeArrowheads="1"/>
                    </p:cNvSpPr>
                    <p:nvPr/>
                  </p:nvSpPr>
                  <p:spPr bwMode="auto">
                    <a:xfrm rot="2700000">
                      <a:off x="9908" y="4855"/>
                      <a:ext cx="73"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3" name="Rectangle 92"/>
                    <p:cNvSpPr>
                      <a:spLocks noChangeArrowheads="1"/>
                    </p:cNvSpPr>
                    <p:nvPr/>
                  </p:nvSpPr>
                  <p:spPr bwMode="auto">
                    <a:xfrm rot="2700000">
                      <a:off x="9379" y="4544"/>
                      <a:ext cx="73"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4" name="Rectangle 93"/>
                    <p:cNvSpPr>
                      <a:spLocks noChangeArrowheads="1"/>
                    </p:cNvSpPr>
                    <p:nvPr/>
                  </p:nvSpPr>
                  <p:spPr bwMode="auto">
                    <a:xfrm rot="2700000">
                      <a:off x="10468" y="5172"/>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grpSp>
              <p:grpSp>
                <p:nvGrpSpPr>
                  <p:cNvPr id="25655" name="Group 53"/>
                  <p:cNvGrpSpPr/>
                  <p:nvPr/>
                </p:nvGrpSpPr>
                <p:grpSpPr bwMode="auto">
                  <a:xfrm>
                    <a:off x="7202" y="3021"/>
                    <a:ext cx="2742" cy="1892"/>
                    <a:chOff x="7202" y="3021"/>
                    <a:chExt cx="2742" cy="1892"/>
                  </a:xfrm>
                </p:grpSpPr>
                <p:cxnSp>
                  <p:nvCxnSpPr>
                    <p:cNvPr id="25672" name="AutoShape 3868"/>
                    <p:cNvCxnSpPr>
                      <a:cxnSpLocks noChangeShapeType="1"/>
                    </p:cNvCxnSpPr>
                    <p:nvPr/>
                  </p:nvCxnSpPr>
                  <p:spPr bwMode="auto">
                    <a:xfrm>
                      <a:off x="7202" y="3021"/>
                      <a:ext cx="128" cy="12"/>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3" name="AutoShape 3869"/>
                    <p:cNvCxnSpPr>
                      <a:cxnSpLocks noChangeShapeType="1"/>
                    </p:cNvCxnSpPr>
                    <p:nvPr/>
                  </p:nvCxnSpPr>
                  <p:spPr bwMode="auto">
                    <a:xfrm>
                      <a:off x="7265" y="3321"/>
                      <a:ext cx="281" cy="12"/>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4" name="AutoShape 3870"/>
                    <p:cNvCxnSpPr>
                      <a:cxnSpLocks noChangeShapeType="1"/>
                    </p:cNvCxnSpPr>
                    <p:nvPr/>
                  </p:nvCxnSpPr>
                  <p:spPr bwMode="auto">
                    <a:xfrm>
                      <a:off x="7220" y="3657"/>
                      <a:ext cx="762"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5" name="AutoShape 3871"/>
                    <p:cNvCxnSpPr>
                      <a:cxnSpLocks noChangeShapeType="1"/>
                    </p:cNvCxnSpPr>
                    <p:nvPr/>
                  </p:nvCxnSpPr>
                  <p:spPr bwMode="auto">
                    <a:xfrm flipV="1">
                      <a:off x="7216" y="3943"/>
                      <a:ext cx="1174" cy="14"/>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6" name="AutoShape 3872"/>
                    <p:cNvCxnSpPr>
                      <a:cxnSpLocks noChangeShapeType="1"/>
                    </p:cNvCxnSpPr>
                    <p:nvPr/>
                  </p:nvCxnSpPr>
                  <p:spPr bwMode="auto">
                    <a:xfrm>
                      <a:off x="7252" y="4605"/>
                      <a:ext cx="2160"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7" name="AutoShape 3873"/>
                    <p:cNvCxnSpPr>
                      <a:cxnSpLocks noChangeShapeType="1"/>
                    </p:cNvCxnSpPr>
                    <p:nvPr/>
                  </p:nvCxnSpPr>
                  <p:spPr bwMode="auto">
                    <a:xfrm>
                      <a:off x="7216" y="4913"/>
                      <a:ext cx="2728" cy="0"/>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8" name="AutoShape 3874"/>
                    <p:cNvCxnSpPr>
                      <a:cxnSpLocks noChangeShapeType="1"/>
                    </p:cNvCxnSpPr>
                    <p:nvPr/>
                  </p:nvCxnSpPr>
                  <p:spPr bwMode="auto">
                    <a:xfrm flipV="1">
                      <a:off x="7228" y="4261"/>
                      <a:ext cx="1624" cy="8"/>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grpSp>
              <p:grpSp>
                <p:nvGrpSpPr>
                  <p:cNvPr id="25656" name="Group 54"/>
                  <p:cNvGrpSpPr/>
                  <p:nvPr/>
                </p:nvGrpSpPr>
                <p:grpSpPr bwMode="auto">
                  <a:xfrm>
                    <a:off x="7178" y="2654"/>
                    <a:ext cx="78" cy="2657"/>
                    <a:chOff x="7178" y="2654"/>
                    <a:chExt cx="78" cy="2657"/>
                  </a:xfrm>
                </p:grpSpPr>
                <p:cxnSp>
                  <p:nvCxnSpPr>
                    <p:cNvPr id="25663" name="AutoShape 3876"/>
                    <p:cNvCxnSpPr>
                      <a:cxnSpLocks noChangeShapeType="1"/>
                    </p:cNvCxnSpPr>
                    <p:nvPr/>
                  </p:nvCxnSpPr>
                  <p:spPr bwMode="auto">
                    <a:xfrm>
                      <a:off x="7250" y="2690"/>
                      <a:ext cx="0" cy="2621"/>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4" name="AutoShape 3877"/>
                    <p:cNvCxnSpPr>
                      <a:cxnSpLocks noChangeShapeType="1"/>
                    </p:cNvCxnSpPr>
                    <p:nvPr/>
                  </p:nvCxnSpPr>
                  <p:spPr bwMode="auto">
                    <a:xfrm rot="10800000">
                      <a:off x="7190" y="3026"/>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5" name="AutoShape 3878"/>
                    <p:cNvCxnSpPr>
                      <a:cxnSpLocks noChangeShapeType="1"/>
                    </p:cNvCxnSpPr>
                    <p:nvPr/>
                  </p:nvCxnSpPr>
                  <p:spPr bwMode="auto">
                    <a:xfrm rot="10800000">
                      <a:off x="7190" y="3326"/>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6" name="AutoShape 3879"/>
                    <p:cNvCxnSpPr>
                      <a:cxnSpLocks noChangeShapeType="1"/>
                    </p:cNvCxnSpPr>
                    <p:nvPr/>
                  </p:nvCxnSpPr>
                  <p:spPr bwMode="auto">
                    <a:xfrm rot="10800000">
                      <a:off x="7190" y="3662"/>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7" name="AutoShape 3880"/>
                    <p:cNvCxnSpPr>
                      <a:cxnSpLocks noChangeShapeType="1"/>
                    </p:cNvCxnSpPr>
                    <p:nvPr/>
                  </p:nvCxnSpPr>
                  <p:spPr bwMode="auto">
                    <a:xfrm rot="10800000">
                      <a:off x="7190" y="3962"/>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8" name="AutoShape 3881"/>
                    <p:cNvCxnSpPr>
                      <a:cxnSpLocks noChangeShapeType="1"/>
                    </p:cNvCxnSpPr>
                    <p:nvPr/>
                  </p:nvCxnSpPr>
                  <p:spPr bwMode="auto">
                    <a:xfrm rot="10800000">
                      <a:off x="7190" y="4274"/>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9" name="AutoShape 3882"/>
                    <p:cNvCxnSpPr>
                      <a:cxnSpLocks noChangeShapeType="1"/>
                    </p:cNvCxnSpPr>
                    <p:nvPr/>
                  </p:nvCxnSpPr>
                  <p:spPr bwMode="auto">
                    <a:xfrm rot="10800000">
                      <a:off x="7190" y="4610"/>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70" name="AutoShape 3883"/>
                    <p:cNvCxnSpPr>
                      <a:cxnSpLocks noChangeShapeType="1"/>
                    </p:cNvCxnSpPr>
                    <p:nvPr/>
                  </p:nvCxnSpPr>
                  <p:spPr bwMode="auto">
                    <a:xfrm rot="10800000">
                      <a:off x="7190" y="4922"/>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71" name="AutoShape 3884"/>
                    <p:cNvCxnSpPr>
                      <a:cxnSpLocks noChangeShapeType="1"/>
                    </p:cNvCxnSpPr>
                    <p:nvPr/>
                  </p:nvCxnSpPr>
                  <p:spPr bwMode="auto">
                    <a:xfrm rot="10800000">
                      <a:off x="7178" y="2654"/>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grpSp>
              <p:grpSp>
                <p:nvGrpSpPr>
                  <p:cNvPr id="25657" name="Group 55"/>
                  <p:cNvGrpSpPr/>
                  <p:nvPr/>
                </p:nvGrpSpPr>
                <p:grpSpPr bwMode="auto">
                  <a:xfrm>
                    <a:off x="7189" y="5236"/>
                    <a:ext cx="3315" cy="74"/>
                    <a:chOff x="7189" y="5236"/>
                    <a:chExt cx="3315" cy="74"/>
                  </a:xfrm>
                </p:grpSpPr>
                <p:cxnSp>
                  <p:nvCxnSpPr>
                    <p:cNvPr id="25658" name="AutoShape 3886"/>
                    <p:cNvCxnSpPr>
                      <a:cxnSpLocks noChangeShapeType="1"/>
                    </p:cNvCxnSpPr>
                    <p:nvPr/>
                  </p:nvCxnSpPr>
                  <p:spPr bwMode="auto">
                    <a:xfrm rot="10800000">
                      <a:off x="7189" y="5238"/>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59" name="AutoShape 3887"/>
                    <p:cNvCxnSpPr>
                      <a:cxnSpLocks noChangeShapeType="1"/>
                    </p:cNvCxnSpPr>
                    <p:nvPr/>
                  </p:nvCxnSpPr>
                  <p:spPr bwMode="auto">
                    <a:xfrm>
                      <a:off x="7250" y="5236"/>
                      <a:ext cx="3230"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0" name="AutoShape 3888"/>
                    <p:cNvCxnSpPr>
                      <a:cxnSpLocks noChangeShapeType="1"/>
                    </p:cNvCxnSpPr>
                    <p:nvPr/>
                  </p:nvCxnSpPr>
                  <p:spPr bwMode="auto">
                    <a:xfrm flipV="1">
                      <a:off x="8351" y="5244"/>
                      <a:ext cx="0" cy="6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1" name="AutoShape 3889"/>
                    <p:cNvCxnSpPr>
                      <a:cxnSpLocks noChangeShapeType="1"/>
                    </p:cNvCxnSpPr>
                    <p:nvPr/>
                  </p:nvCxnSpPr>
                  <p:spPr bwMode="auto">
                    <a:xfrm flipV="1">
                      <a:off x="9448" y="5239"/>
                      <a:ext cx="0" cy="6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2" name="AutoShape 3890"/>
                    <p:cNvCxnSpPr>
                      <a:cxnSpLocks noChangeShapeType="1"/>
                    </p:cNvCxnSpPr>
                    <p:nvPr/>
                  </p:nvCxnSpPr>
                  <p:spPr bwMode="auto">
                    <a:xfrm flipV="1">
                      <a:off x="10504" y="5239"/>
                      <a:ext cx="0" cy="6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grpSp>
            </p:grpSp>
          </p:grpSp>
        </p:grpSp>
        <p:grpSp>
          <p:nvGrpSpPr>
            <p:cNvPr id="25607" name="Group 4"/>
            <p:cNvGrpSpPr/>
            <p:nvPr/>
          </p:nvGrpSpPr>
          <p:grpSpPr bwMode="auto">
            <a:xfrm>
              <a:off x="1165" y="1989"/>
              <a:ext cx="4765" cy="3949"/>
              <a:chOff x="1165" y="1989"/>
              <a:chExt cx="4765" cy="3949"/>
            </a:xfrm>
          </p:grpSpPr>
          <p:sp>
            <p:nvSpPr>
              <p:cNvPr id="6" name="Text Box 3892"/>
              <p:cNvSpPr txBox="1">
                <a:spLocks noChangeArrowheads="1"/>
              </p:cNvSpPr>
              <p:nvPr/>
            </p:nvSpPr>
            <p:spPr bwMode="auto">
              <a:xfrm>
                <a:off x="3545" y="1987"/>
                <a:ext cx="439" cy="369"/>
              </a:xfrm>
              <a:prstGeom prst="rect">
                <a:avLst/>
              </a:prstGeom>
              <a:noFill/>
              <a:ln w="9525">
                <a:noFill/>
                <a:miter lim="800000"/>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A</a:t>
                </a:r>
                <a:endParaRPr lang="en-CA">
                  <a:solidFill>
                    <a:srgbClr val="000000"/>
                  </a:solidFill>
                  <a:latin typeface="Times New Roman" panose="02020603050405020304" pitchFamily="18" charset="0"/>
                  <a:cs typeface="Times New Roman" panose="02020603050405020304" pitchFamily="18" charset="0"/>
                </a:endParaRPr>
              </a:p>
            </p:txBody>
          </p:sp>
          <p:grpSp>
            <p:nvGrpSpPr>
              <p:cNvPr id="25609" name="Group 6"/>
              <p:cNvGrpSpPr/>
              <p:nvPr/>
            </p:nvGrpSpPr>
            <p:grpSpPr bwMode="auto">
              <a:xfrm>
                <a:off x="1165" y="2426"/>
                <a:ext cx="4765" cy="3512"/>
                <a:chOff x="1165" y="2426"/>
                <a:chExt cx="4765" cy="3512"/>
              </a:xfrm>
            </p:grpSpPr>
            <p:sp>
              <p:nvSpPr>
                <p:cNvPr id="8" name="Text Box 3894"/>
                <p:cNvSpPr txBox="1">
                  <a:spLocks noChangeArrowheads="1"/>
                </p:cNvSpPr>
                <p:nvPr/>
              </p:nvSpPr>
              <p:spPr bwMode="auto">
                <a:xfrm>
                  <a:off x="1954" y="5289"/>
                  <a:ext cx="3975" cy="373"/>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0        5       10     15     20     25</a:t>
                  </a:r>
                  <a:endParaRPr lang="en-CA">
                    <a:solidFill>
                      <a:srgbClr val="000000"/>
                    </a:solidFill>
                    <a:latin typeface="Times New Roman" panose="02020603050405020304" pitchFamily="18" charset="0"/>
                    <a:cs typeface="Times New Roman" panose="02020603050405020304" pitchFamily="18" charset="0"/>
                  </a:endParaRPr>
                </a:p>
              </p:txBody>
            </p:sp>
            <p:sp>
              <p:nvSpPr>
                <p:cNvPr id="9" name="Text Box 3895"/>
                <p:cNvSpPr txBox="1">
                  <a:spLocks noChangeArrowheads="1"/>
                </p:cNvSpPr>
                <p:nvPr/>
              </p:nvSpPr>
              <p:spPr bwMode="auto">
                <a:xfrm>
                  <a:off x="2543" y="5588"/>
                  <a:ext cx="2975" cy="350"/>
                </a:xfrm>
                <a:prstGeom prst="rect">
                  <a:avLst/>
                </a:prstGeom>
                <a:noFill/>
                <a:ln w="9525">
                  <a:noFill/>
                  <a:miter lim="800000"/>
                </a:ln>
              </p:spPr>
              <p:txBody>
                <a:bodyPr t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Participation rate (%)</a:t>
                  </a:r>
                  <a:endParaRPr lang="en-CA">
                    <a:solidFill>
                      <a:srgbClr val="000000"/>
                    </a:solidFill>
                    <a:latin typeface="Times New Roman" panose="02020603050405020304" pitchFamily="18" charset="0"/>
                    <a:cs typeface="Times New Roman" panose="02020603050405020304" pitchFamily="18" charset="0"/>
                  </a:endParaRPr>
                </a:p>
              </p:txBody>
            </p:sp>
            <p:sp>
              <p:nvSpPr>
                <p:cNvPr id="10" name="Text Box 3896"/>
                <p:cNvSpPr txBox="1">
                  <a:spLocks noChangeArrowheads="1"/>
                </p:cNvSpPr>
                <p:nvPr/>
              </p:nvSpPr>
              <p:spPr bwMode="auto">
                <a:xfrm>
                  <a:off x="1165" y="2949"/>
                  <a:ext cx="547" cy="1756"/>
                </a:xfrm>
                <a:prstGeom prst="rect">
                  <a:avLst/>
                </a:prstGeom>
                <a:noFill/>
                <a:ln w="9525">
                  <a:noFill/>
                  <a:miter lim="800000"/>
                </a:ln>
              </p:spPr>
              <p:txBody>
                <a:bodyPr vert="vert270" upright="1"/>
                <a:lstStyle/>
                <a:p>
                  <a:pPr fontAlgn="auto">
                    <a:spcBef>
                      <a:spcPts val="990"/>
                    </a:spcBef>
                    <a:spcAft>
                      <a:spcPts val="0"/>
                    </a:spcAft>
                    <a:defRPr/>
                  </a:pPr>
                  <a:r>
                    <a:rPr lang="en-US" kern="0" dirty="0">
                      <a:solidFill>
                        <a:sysClr val="windowText" lastClr="000000"/>
                      </a:solidFill>
                      <a:latin typeface="Times New Roman" panose="02020603050405020304" pitchFamily="18" charset="0"/>
                      <a:ea typeface="Times New Roman" panose="02020603050405020304"/>
                      <a:cs typeface="Times New Roman" panose="02020603050405020304" pitchFamily="18" charset="0"/>
                    </a:rPr>
                    <a:t>Travel cost ($)</a:t>
                  </a:r>
                  <a:endParaRPr lang="en-CA" kern="0" dirty="0">
                    <a:solidFill>
                      <a:sysClr val="windowText" lastClr="000000"/>
                    </a:solidFill>
                    <a:latin typeface="Times New Roman" panose="02020603050405020304" pitchFamily="18" charset="0"/>
                    <a:ea typeface="Times New Roman" panose="02020603050405020304"/>
                    <a:cs typeface="Times New Roman" panose="02020603050405020304" pitchFamily="18" charset="0"/>
                  </a:endParaRPr>
                </a:p>
              </p:txBody>
            </p:sp>
            <p:sp>
              <p:nvSpPr>
                <p:cNvPr id="11" name="Text Box 3897"/>
                <p:cNvSpPr txBox="1">
                  <a:spLocks noChangeArrowheads="1"/>
                </p:cNvSpPr>
                <p:nvPr/>
              </p:nvSpPr>
              <p:spPr bwMode="auto">
                <a:xfrm>
                  <a:off x="3185" y="2572"/>
                  <a:ext cx="2745" cy="771"/>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Relationship between travel cost and participation rate</a:t>
                  </a:r>
                  <a:endParaRPr lang="en-CA">
                    <a:solidFill>
                      <a:srgbClr val="000000"/>
                    </a:solidFill>
                    <a:latin typeface="Times New Roman" panose="02020603050405020304" pitchFamily="18" charset="0"/>
                    <a:cs typeface="Times New Roman" panose="02020603050405020304" pitchFamily="18" charset="0"/>
                  </a:endParaRPr>
                </a:p>
              </p:txBody>
            </p:sp>
            <p:grpSp>
              <p:nvGrpSpPr>
                <p:cNvPr id="25614" name="Group 11"/>
                <p:cNvGrpSpPr/>
                <p:nvPr/>
              </p:nvGrpSpPr>
              <p:grpSpPr bwMode="auto">
                <a:xfrm>
                  <a:off x="1697" y="2426"/>
                  <a:ext cx="595" cy="2416"/>
                  <a:chOff x="1697" y="2438"/>
                  <a:chExt cx="595" cy="2416"/>
                </a:xfrm>
              </p:grpSpPr>
              <p:sp>
                <p:nvSpPr>
                  <p:cNvPr id="39" name="Text Box 3899"/>
                  <p:cNvSpPr txBox="1">
                    <a:spLocks noChangeArrowheads="1"/>
                  </p:cNvSpPr>
                  <p:nvPr/>
                </p:nvSpPr>
                <p:spPr bwMode="auto">
                  <a:xfrm>
                    <a:off x="1712" y="2436"/>
                    <a:ext cx="581" cy="534"/>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50</a:t>
                    </a:r>
                    <a:endParaRPr lang="en-CA">
                      <a:solidFill>
                        <a:srgbClr val="000000"/>
                      </a:solidFill>
                      <a:latin typeface="Times New Roman" panose="02020603050405020304" pitchFamily="18" charset="0"/>
                      <a:cs typeface="Times New Roman" panose="02020603050405020304" pitchFamily="18" charset="0"/>
                    </a:endParaRPr>
                  </a:p>
                </p:txBody>
              </p:sp>
              <p:sp>
                <p:nvSpPr>
                  <p:cNvPr id="40" name="Text Box 3900"/>
                  <p:cNvSpPr txBox="1">
                    <a:spLocks noChangeArrowheads="1"/>
                  </p:cNvSpPr>
                  <p:nvPr/>
                </p:nvSpPr>
                <p:spPr bwMode="auto">
                  <a:xfrm>
                    <a:off x="1712" y="3039"/>
                    <a:ext cx="581" cy="419"/>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40</a:t>
                    </a:r>
                    <a:endParaRPr lang="en-CA">
                      <a:solidFill>
                        <a:srgbClr val="000000"/>
                      </a:solidFill>
                      <a:latin typeface="Times New Roman" panose="02020603050405020304" pitchFamily="18" charset="0"/>
                      <a:cs typeface="Times New Roman" panose="02020603050405020304" pitchFamily="18" charset="0"/>
                    </a:endParaRPr>
                  </a:p>
                </p:txBody>
              </p:sp>
              <p:sp>
                <p:nvSpPr>
                  <p:cNvPr id="41" name="Text Box 3901"/>
                  <p:cNvSpPr txBox="1">
                    <a:spLocks noChangeArrowheads="1"/>
                  </p:cNvSpPr>
                  <p:nvPr/>
                </p:nvSpPr>
                <p:spPr bwMode="auto">
                  <a:xfrm>
                    <a:off x="1701" y="3494"/>
                    <a:ext cx="581" cy="404"/>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30</a:t>
                    </a:r>
                    <a:endParaRPr lang="en-CA">
                      <a:solidFill>
                        <a:srgbClr val="000000"/>
                      </a:solidFill>
                      <a:latin typeface="Times New Roman" panose="02020603050405020304" pitchFamily="18" charset="0"/>
                      <a:cs typeface="Times New Roman" panose="02020603050405020304" pitchFamily="18" charset="0"/>
                    </a:endParaRPr>
                  </a:p>
                </p:txBody>
              </p:sp>
              <p:sp>
                <p:nvSpPr>
                  <p:cNvPr id="42" name="Text Box 3902"/>
                  <p:cNvSpPr txBox="1">
                    <a:spLocks noChangeArrowheads="1"/>
                  </p:cNvSpPr>
                  <p:nvPr/>
                </p:nvSpPr>
                <p:spPr bwMode="auto">
                  <a:xfrm>
                    <a:off x="1697" y="4051"/>
                    <a:ext cx="581" cy="330"/>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20</a:t>
                    </a:r>
                    <a:endParaRPr lang="en-CA">
                      <a:solidFill>
                        <a:srgbClr val="000000"/>
                      </a:solidFill>
                      <a:latin typeface="Times New Roman" panose="02020603050405020304" pitchFamily="18" charset="0"/>
                      <a:cs typeface="Times New Roman" panose="02020603050405020304" pitchFamily="18" charset="0"/>
                    </a:endParaRPr>
                  </a:p>
                </p:txBody>
              </p:sp>
              <p:sp>
                <p:nvSpPr>
                  <p:cNvPr id="43" name="Text Box 3903"/>
                  <p:cNvSpPr txBox="1">
                    <a:spLocks noChangeArrowheads="1"/>
                  </p:cNvSpPr>
                  <p:nvPr/>
                </p:nvSpPr>
                <p:spPr bwMode="auto">
                  <a:xfrm>
                    <a:off x="1712" y="4527"/>
                    <a:ext cx="581" cy="327"/>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10</a:t>
                    </a:r>
                    <a:endParaRPr lang="en-CA">
                      <a:solidFill>
                        <a:srgbClr val="000000"/>
                      </a:solidFill>
                      <a:latin typeface="Times New Roman" panose="02020603050405020304" pitchFamily="18" charset="0"/>
                      <a:cs typeface="Times New Roman" panose="02020603050405020304" pitchFamily="18" charset="0"/>
                    </a:endParaRPr>
                  </a:p>
                </p:txBody>
              </p:sp>
            </p:grpSp>
            <p:grpSp>
              <p:nvGrpSpPr>
                <p:cNvPr id="25615" name="Group 12"/>
                <p:cNvGrpSpPr/>
                <p:nvPr/>
              </p:nvGrpSpPr>
              <p:grpSpPr bwMode="auto">
                <a:xfrm>
                  <a:off x="2157" y="2641"/>
                  <a:ext cx="3462" cy="2669"/>
                  <a:chOff x="2157" y="2641"/>
                  <a:chExt cx="3462" cy="2669"/>
                </a:xfrm>
              </p:grpSpPr>
              <p:grpSp>
                <p:nvGrpSpPr>
                  <p:cNvPr id="25616" name="Group 13"/>
                  <p:cNvGrpSpPr/>
                  <p:nvPr/>
                </p:nvGrpSpPr>
                <p:grpSpPr bwMode="auto">
                  <a:xfrm>
                    <a:off x="2159" y="5238"/>
                    <a:ext cx="3456" cy="72"/>
                    <a:chOff x="2112" y="5238"/>
                    <a:chExt cx="3456" cy="72"/>
                  </a:xfrm>
                </p:grpSpPr>
                <p:cxnSp>
                  <p:nvCxnSpPr>
                    <p:cNvPr id="25635" name="AutoShape 3907"/>
                    <p:cNvCxnSpPr>
                      <a:cxnSpLocks noChangeShapeType="1"/>
                    </p:cNvCxnSpPr>
                    <p:nvPr/>
                  </p:nvCxnSpPr>
                  <p:spPr bwMode="auto">
                    <a:xfrm>
                      <a:off x="2112" y="5241"/>
                      <a:ext cx="345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6" name="AutoShape 3908"/>
                    <p:cNvCxnSpPr>
                      <a:cxnSpLocks noChangeShapeType="1"/>
                    </p:cNvCxnSpPr>
                    <p:nvPr/>
                  </p:nvCxnSpPr>
                  <p:spPr bwMode="auto">
                    <a:xfrm rot="5400000">
                      <a:off x="2827" y="5277"/>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7" name="AutoShape 3909"/>
                    <p:cNvCxnSpPr>
                      <a:cxnSpLocks noChangeShapeType="1"/>
                    </p:cNvCxnSpPr>
                    <p:nvPr/>
                  </p:nvCxnSpPr>
                  <p:spPr bwMode="auto">
                    <a:xfrm rot="5400000">
                      <a:off x="3489" y="5271"/>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8" name="AutoShape 3910"/>
                    <p:cNvCxnSpPr>
                      <a:cxnSpLocks noChangeShapeType="1"/>
                    </p:cNvCxnSpPr>
                    <p:nvPr/>
                  </p:nvCxnSpPr>
                  <p:spPr bwMode="auto">
                    <a:xfrm rot="5400000">
                      <a:off x="4159" y="5277"/>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9" name="AutoShape 3911"/>
                    <p:cNvCxnSpPr>
                      <a:cxnSpLocks noChangeShapeType="1"/>
                    </p:cNvCxnSpPr>
                    <p:nvPr/>
                  </p:nvCxnSpPr>
                  <p:spPr bwMode="auto">
                    <a:xfrm rot="5400000">
                      <a:off x="4829" y="5271"/>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40" name="AutoShape 3912"/>
                    <p:cNvCxnSpPr>
                      <a:cxnSpLocks noChangeShapeType="1"/>
                    </p:cNvCxnSpPr>
                    <p:nvPr/>
                  </p:nvCxnSpPr>
                  <p:spPr bwMode="auto">
                    <a:xfrm rot="5400000">
                      <a:off x="5513" y="5271"/>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grpSp>
              <p:grpSp>
                <p:nvGrpSpPr>
                  <p:cNvPr id="25617" name="Group 14"/>
                  <p:cNvGrpSpPr/>
                  <p:nvPr/>
                </p:nvGrpSpPr>
                <p:grpSpPr bwMode="auto">
                  <a:xfrm>
                    <a:off x="2157" y="2702"/>
                    <a:ext cx="78" cy="2592"/>
                    <a:chOff x="2110" y="2702"/>
                    <a:chExt cx="78" cy="2592"/>
                  </a:xfrm>
                </p:grpSpPr>
                <p:cxnSp>
                  <p:nvCxnSpPr>
                    <p:cNvPr id="25629" name="AutoShape 3914"/>
                    <p:cNvCxnSpPr>
                      <a:cxnSpLocks noChangeShapeType="1"/>
                    </p:cNvCxnSpPr>
                    <p:nvPr/>
                  </p:nvCxnSpPr>
                  <p:spPr bwMode="auto">
                    <a:xfrm flipH="1">
                      <a:off x="2160" y="2702"/>
                      <a:ext cx="16" cy="2592"/>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0" name="AutoShape 3915"/>
                    <p:cNvCxnSpPr>
                      <a:cxnSpLocks noChangeShapeType="1"/>
                    </p:cNvCxnSpPr>
                    <p:nvPr/>
                  </p:nvCxnSpPr>
                  <p:spPr bwMode="auto">
                    <a:xfrm>
                      <a:off x="2110" y="3183"/>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1" name="AutoShape 3916"/>
                    <p:cNvCxnSpPr>
                      <a:cxnSpLocks noChangeShapeType="1"/>
                    </p:cNvCxnSpPr>
                    <p:nvPr/>
                  </p:nvCxnSpPr>
                  <p:spPr bwMode="auto">
                    <a:xfrm>
                      <a:off x="2122" y="3687"/>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2" name="AutoShape 3917"/>
                    <p:cNvCxnSpPr>
                      <a:cxnSpLocks noChangeShapeType="1"/>
                    </p:cNvCxnSpPr>
                    <p:nvPr/>
                  </p:nvCxnSpPr>
                  <p:spPr bwMode="auto">
                    <a:xfrm>
                      <a:off x="2110" y="4191"/>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3" name="AutoShape 3918"/>
                    <p:cNvCxnSpPr>
                      <a:cxnSpLocks noChangeShapeType="1"/>
                    </p:cNvCxnSpPr>
                    <p:nvPr/>
                  </p:nvCxnSpPr>
                  <p:spPr bwMode="auto">
                    <a:xfrm>
                      <a:off x="2110" y="4695"/>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34" name="AutoShape 3919"/>
                    <p:cNvCxnSpPr>
                      <a:cxnSpLocks noChangeShapeType="1"/>
                    </p:cNvCxnSpPr>
                    <p:nvPr/>
                  </p:nvCxnSpPr>
                  <p:spPr bwMode="auto">
                    <a:xfrm>
                      <a:off x="2110" y="2703"/>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grpSp>
              <p:grpSp>
                <p:nvGrpSpPr>
                  <p:cNvPr id="25618" name="Group 15"/>
                  <p:cNvGrpSpPr/>
                  <p:nvPr/>
                </p:nvGrpSpPr>
                <p:grpSpPr bwMode="auto">
                  <a:xfrm>
                    <a:off x="2179" y="2641"/>
                    <a:ext cx="3440" cy="2585"/>
                    <a:chOff x="2179" y="2641"/>
                    <a:chExt cx="3440" cy="2585"/>
                  </a:xfrm>
                </p:grpSpPr>
                <p:grpSp>
                  <p:nvGrpSpPr>
                    <p:cNvPr id="25619" name="Group 16"/>
                    <p:cNvGrpSpPr/>
                    <p:nvPr/>
                  </p:nvGrpSpPr>
                  <p:grpSpPr bwMode="auto">
                    <a:xfrm>
                      <a:off x="2179" y="2641"/>
                      <a:ext cx="3440" cy="2585"/>
                      <a:chOff x="2146" y="5683"/>
                      <a:chExt cx="3440" cy="2585"/>
                    </a:xfrm>
                  </p:grpSpPr>
                  <p:cxnSp>
                    <p:nvCxnSpPr>
                      <p:cNvPr id="25623" name="AutoShape 3922"/>
                      <p:cNvCxnSpPr>
                        <a:cxnSpLocks noChangeShapeType="1"/>
                      </p:cNvCxnSpPr>
                      <p:nvPr/>
                    </p:nvCxnSpPr>
                    <p:spPr bwMode="auto">
                      <a:xfrm>
                        <a:off x="2174" y="5734"/>
                        <a:ext cx="3409" cy="2534"/>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sp>
                    <p:nvSpPr>
                      <p:cNvPr id="22" name="Rectangle 21"/>
                      <p:cNvSpPr>
                        <a:spLocks noChangeArrowheads="1"/>
                      </p:cNvSpPr>
                      <p:nvPr/>
                    </p:nvSpPr>
                    <p:spPr bwMode="auto">
                      <a:xfrm rot="2700000">
                        <a:off x="2147" y="5682"/>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23" name="Rectangle 22"/>
                      <p:cNvSpPr>
                        <a:spLocks noChangeArrowheads="1"/>
                      </p:cNvSpPr>
                      <p:nvPr/>
                    </p:nvSpPr>
                    <p:spPr bwMode="auto">
                      <a:xfrm rot="2700000">
                        <a:off x="3177" y="6466"/>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24" name="Rectangle 23"/>
                      <p:cNvSpPr>
                        <a:spLocks noChangeArrowheads="1"/>
                      </p:cNvSpPr>
                      <p:nvPr/>
                    </p:nvSpPr>
                    <p:spPr bwMode="auto">
                      <a:xfrm rot="2700000">
                        <a:off x="4170" y="7208"/>
                        <a:ext cx="72"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25" name="Rectangle 24"/>
                      <p:cNvSpPr>
                        <a:spLocks noChangeArrowheads="1"/>
                      </p:cNvSpPr>
                      <p:nvPr/>
                    </p:nvSpPr>
                    <p:spPr bwMode="auto">
                      <a:xfrm rot="2700000">
                        <a:off x="4850" y="7713"/>
                        <a:ext cx="72" cy="75"/>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26" name="Rectangle 25"/>
                      <p:cNvSpPr>
                        <a:spLocks noChangeArrowheads="1"/>
                      </p:cNvSpPr>
                      <p:nvPr/>
                    </p:nvSpPr>
                    <p:spPr bwMode="auto">
                      <a:xfrm rot="2700000">
                        <a:off x="5512" y="8190"/>
                        <a:ext cx="72" cy="75"/>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grpSp>
                <p:sp>
                  <p:nvSpPr>
                    <p:cNvPr id="18" name="Text Box 3928"/>
                    <p:cNvSpPr txBox="1">
                      <a:spLocks noChangeArrowheads="1"/>
                    </p:cNvSpPr>
                    <p:nvPr/>
                  </p:nvSpPr>
                  <p:spPr bwMode="auto">
                    <a:xfrm>
                      <a:off x="3912" y="4548"/>
                      <a:ext cx="972" cy="333"/>
                    </a:xfrm>
                    <a:prstGeom prst="rect">
                      <a:avLst/>
                    </a:prstGeom>
                    <a:noFill/>
                    <a:ln w="9525">
                      <a:noFill/>
                      <a:miter lim="800000"/>
                    </a:ln>
                  </p:spPr>
                  <p:txBody>
                    <a:bodyPr lIns="45720" rIns="45720">
                      <a:spAutoFit/>
                    </a:bodyPr>
                    <a:lstStyle>
                      <a:lvl1pPr indent="-571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Zone 1</a:t>
                      </a:r>
                      <a:endParaRPr lang="en-CA">
                        <a:solidFill>
                          <a:srgbClr val="000000"/>
                        </a:solidFill>
                        <a:latin typeface="Times New Roman" panose="02020603050405020304" pitchFamily="18" charset="0"/>
                        <a:cs typeface="Times New Roman" panose="02020603050405020304" pitchFamily="18" charset="0"/>
                      </a:endParaRPr>
                    </a:p>
                  </p:txBody>
                </p:sp>
                <p:sp>
                  <p:nvSpPr>
                    <p:cNvPr id="19" name="Text Box 3929"/>
                    <p:cNvSpPr txBox="1">
                      <a:spLocks noChangeArrowheads="1"/>
                    </p:cNvSpPr>
                    <p:nvPr/>
                  </p:nvSpPr>
                  <p:spPr bwMode="auto">
                    <a:xfrm>
                      <a:off x="3185" y="4038"/>
                      <a:ext cx="1018" cy="335"/>
                    </a:xfrm>
                    <a:prstGeom prst="rect">
                      <a:avLst/>
                    </a:prstGeom>
                    <a:noFill/>
                    <a:ln w="9525">
                      <a:noFill/>
                      <a:miter lim="800000"/>
                    </a:ln>
                  </p:spPr>
                  <p:txBody>
                    <a:bodyPr lIns="45720" rIns="4572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Zone 2</a:t>
                      </a:r>
                      <a:endParaRPr lang="en-CA">
                        <a:solidFill>
                          <a:srgbClr val="000000"/>
                        </a:solidFill>
                        <a:latin typeface="Times New Roman" panose="02020603050405020304" pitchFamily="18" charset="0"/>
                        <a:cs typeface="Times New Roman" panose="02020603050405020304" pitchFamily="18" charset="0"/>
                      </a:endParaRPr>
                    </a:p>
                  </p:txBody>
                </p:sp>
                <p:sp>
                  <p:nvSpPr>
                    <p:cNvPr id="20" name="Text Box 3930"/>
                    <p:cNvSpPr txBox="1">
                      <a:spLocks noChangeArrowheads="1"/>
                    </p:cNvSpPr>
                    <p:nvPr/>
                  </p:nvSpPr>
                  <p:spPr bwMode="auto">
                    <a:xfrm>
                      <a:off x="2292" y="3307"/>
                      <a:ext cx="990" cy="395"/>
                    </a:xfrm>
                    <a:prstGeom prst="rect">
                      <a:avLst/>
                    </a:prstGeom>
                    <a:noFill/>
                    <a:ln w="9525">
                      <a:noFill/>
                      <a:miter lim="800000"/>
                    </a:ln>
                  </p:spPr>
                  <p:txBody>
                    <a:bodyPr lIns="45720" rIns="4572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Zone 3</a:t>
                      </a:r>
                      <a:endParaRPr lang="en-CA">
                        <a:solidFill>
                          <a:srgbClr val="000000"/>
                        </a:solidFill>
                        <a:latin typeface="Times New Roman" panose="02020603050405020304" pitchFamily="18" charset="0"/>
                        <a:cs typeface="Times New Roman" panose="02020603050405020304" pitchFamily="18" charset="0"/>
                      </a:endParaRPr>
                    </a:p>
                  </p:txBody>
                </p:sp>
              </p:grpSp>
            </p:grpSp>
          </p:grpSp>
        </p:grpSp>
      </p:grpSp>
      <p:sp>
        <p:nvSpPr>
          <p:cNvPr id="25604" name="Text Box 104"/>
          <p:cNvSpPr txBox="1">
            <a:spLocks noChangeArrowheads="1"/>
          </p:cNvSpPr>
          <p:nvPr/>
        </p:nvSpPr>
        <p:spPr bwMode="auto">
          <a:xfrm>
            <a:off x="5148263" y="5084763"/>
            <a:ext cx="812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atin typeface="Times New Roman" panose="02020603050405020304" pitchFamily="18" charset="0"/>
              </a:rPr>
              <a:t>30,000</a:t>
            </a:r>
            <a:endParaRPr lang="en-US" altLang="zh-CN">
              <a:latin typeface="Times New Roman" panose="02020603050405020304" pitchFamily="18" charset="0"/>
            </a:endParaRPr>
          </a:p>
        </p:txBody>
      </p:sp>
      <p:sp>
        <p:nvSpPr>
          <p:cNvPr id="105"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pitchFamily="34" charset="0"/>
              </a:rPr>
              <a:t>Adapted from </a:t>
            </a:r>
            <a:r>
              <a:rPr lang="en-US" altLang="zh-CN" i="1">
                <a:solidFill>
                  <a:srgbClr val="898989"/>
                </a:solidFill>
                <a:latin typeface="Calibri" panose="020F0502020204030204" pitchFamily="34" charset="0"/>
              </a:rPr>
              <a:t>Forest Economics </a:t>
            </a:r>
            <a:r>
              <a:rPr lang="en-US" altLang="zh-CN">
                <a:solidFill>
                  <a:srgbClr val="898989"/>
                </a:solidFill>
                <a:latin typeface="Calibri" panose="020F0502020204030204" pitchFamily="34" charset="0"/>
              </a:rPr>
              <a:t>by Daowei Zhang and Peter H. Pearse, published by UBC Press, 2011. </a:t>
            </a:r>
            <a:endParaRPr lang="en-CA">
              <a:solidFill>
                <a:srgbClr val="898989"/>
              </a:solidFill>
              <a:latin typeface="Calibri" panose="020F050202020403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以第</a:t>
            </a:r>
            <a:r>
              <a:rPr lang="en-US" altLang="zh-CN" dirty="0"/>
              <a:t>1</a:t>
            </a:r>
            <a:r>
              <a:rPr lang="zh-CN" altLang="en-US" dirty="0"/>
              <a:t>、</a:t>
            </a:r>
            <a:r>
              <a:rPr lang="en-US" altLang="zh-CN" dirty="0"/>
              <a:t>2</a:t>
            </a:r>
            <a:r>
              <a:rPr lang="zh-CN" altLang="en-US" dirty="0"/>
              <a:t>区为例，</a:t>
            </a:r>
            <a:endParaRPr lang="zh-CN" altLang="en-US" dirty="0"/>
          </a:p>
        </p:txBody>
      </p:sp>
      <p:sp>
        <p:nvSpPr>
          <p:cNvPr id="3" name="内容占位符 2"/>
          <p:cNvSpPr>
            <a:spLocks noGrp="1"/>
          </p:cNvSpPr>
          <p:nvPr>
            <p:ph idx="1"/>
          </p:nvPr>
        </p:nvSpPr>
        <p:spPr/>
        <p:txBody>
          <a:bodyPr/>
          <a:lstStyle/>
          <a:p>
            <a:r>
              <a:rPr lang="zh-CN" altLang="en-US" dirty="0"/>
              <a:t>当价格为</a:t>
            </a:r>
            <a:r>
              <a:rPr lang="en-US" altLang="zh-CN" dirty="0"/>
              <a:t>0</a:t>
            </a:r>
            <a:r>
              <a:rPr lang="zh-CN" altLang="en-US" dirty="0"/>
              <a:t>时</a:t>
            </a:r>
            <a:endParaRPr lang="en-US" altLang="zh-CN" dirty="0"/>
          </a:p>
          <a:p>
            <a:r>
              <a:rPr lang="zh-CN" altLang="en-US" dirty="0"/>
              <a:t>第一区和第二区与旅行成本相对应的参与率差别为：</a:t>
            </a:r>
            <a:endParaRPr lang="en-US" altLang="zh-CN" dirty="0"/>
          </a:p>
          <a:p>
            <a:r>
              <a:rPr lang="zh-CN" altLang="en-US" dirty="0"/>
              <a:t>（</a:t>
            </a:r>
            <a:r>
              <a:rPr lang="en-US" altLang="zh-CN" dirty="0"/>
              <a:t>15%-20%</a:t>
            </a:r>
            <a:r>
              <a:rPr lang="zh-CN" altLang="en-US" dirty="0"/>
              <a:t>）</a:t>
            </a:r>
            <a:r>
              <a:rPr lang="en-US" altLang="zh-CN" dirty="0"/>
              <a:t>/</a:t>
            </a:r>
            <a:r>
              <a:rPr lang="zh-CN" altLang="en-US" dirty="0"/>
              <a:t>（￥</a:t>
            </a:r>
            <a:r>
              <a:rPr lang="en-US" altLang="zh-CN" dirty="0"/>
              <a:t>20-</a:t>
            </a:r>
            <a:r>
              <a:rPr lang="zh-CN" altLang="en-US" dirty="0"/>
              <a:t>￥</a:t>
            </a:r>
            <a:r>
              <a:rPr lang="en-US" altLang="zh-CN" dirty="0"/>
              <a:t>10</a:t>
            </a:r>
            <a:r>
              <a:rPr lang="zh-CN" altLang="en-US" dirty="0"/>
              <a:t>）</a:t>
            </a:r>
            <a:r>
              <a:rPr lang="en-US" altLang="zh-CN" dirty="0"/>
              <a:t>=-0.5%/</a:t>
            </a:r>
            <a:r>
              <a:rPr lang="zh-CN" altLang="en-US" dirty="0"/>
              <a:t>￥</a:t>
            </a:r>
            <a:r>
              <a:rPr lang="en-US" altLang="zh-CN" dirty="0"/>
              <a:t>1</a:t>
            </a:r>
            <a:endParaRPr lang="en-US" altLang="zh-CN" dirty="0"/>
          </a:p>
          <a:p>
            <a:r>
              <a:rPr lang="zh-CN" altLang="en-US" dirty="0"/>
              <a:t>当价格上升</a:t>
            </a:r>
            <a:r>
              <a:rPr lang="en-US" altLang="zh-CN" dirty="0"/>
              <a:t>1</a:t>
            </a:r>
            <a:r>
              <a:rPr lang="zh-CN" altLang="en-US" dirty="0"/>
              <a:t>元，参观人数将减少</a:t>
            </a:r>
            <a:r>
              <a:rPr lang="en-US" altLang="zh-CN" dirty="0"/>
              <a:t>0.5%</a:t>
            </a:r>
            <a:endParaRPr lang="en-US" altLang="zh-CN" dirty="0"/>
          </a:p>
          <a:p>
            <a:r>
              <a:rPr lang="zh-CN" altLang="en-US" dirty="0"/>
              <a:t>当门票价格增加到</a:t>
            </a:r>
            <a:r>
              <a:rPr lang="en-US" altLang="zh-CN" dirty="0"/>
              <a:t>5</a:t>
            </a:r>
            <a:r>
              <a:rPr lang="zh-CN" altLang="en-US" dirty="0"/>
              <a:t>元</a:t>
            </a:r>
            <a:endParaRPr lang="en-US" altLang="zh-CN" dirty="0"/>
          </a:p>
          <a:p>
            <a:r>
              <a:rPr lang="zh-CN" altLang="en-US" dirty="0"/>
              <a:t>第一区的参观者总成本从￥</a:t>
            </a:r>
            <a:r>
              <a:rPr lang="en-US" altLang="zh-CN" dirty="0"/>
              <a:t>10</a:t>
            </a:r>
            <a:r>
              <a:rPr lang="zh-CN" altLang="en-US" dirty="0"/>
              <a:t>增加到￥</a:t>
            </a:r>
            <a:r>
              <a:rPr lang="en-US" altLang="zh-CN" dirty="0"/>
              <a:t>15</a:t>
            </a:r>
            <a:endParaRPr lang="en-US" altLang="zh-CN" dirty="0"/>
          </a:p>
          <a:p>
            <a:r>
              <a:rPr lang="zh-CN" altLang="en-US" dirty="0"/>
              <a:t>参观者的比例下降</a:t>
            </a:r>
            <a:r>
              <a:rPr lang="en-US" altLang="zh-CN" dirty="0"/>
              <a:t>0.5%</a:t>
            </a:r>
            <a:r>
              <a:rPr lang="zh-CN" altLang="en-US" dirty="0"/>
              <a:t>*</a:t>
            </a:r>
            <a:r>
              <a:rPr lang="en-US" altLang="zh-CN" dirty="0"/>
              <a:t>5=2.5%</a:t>
            </a:r>
            <a:r>
              <a:rPr lang="zh-CN" altLang="en-US" dirty="0"/>
              <a:t>，即从</a:t>
            </a:r>
            <a:r>
              <a:rPr lang="en-US" altLang="zh-CN" dirty="0"/>
              <a:t>20%</a:t>
            </a:r>
            <a:r>
              <a:rPr lang="zh-CN" altLang="en-US" dirty="0"/>
              <a:t>降至</a:t>
            </a:r>
            <a:r>
              <a:rPr lang="en-US" altLang="zh-CN" dirty="0"/>
              <a:t>17.5%</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据此推算</a:t>
            </a:r>
            <a:endParaRPr lang="zh-CN" altLang="en-US" dirty="0"/>
          </a:p>
        </p:txBody>
      </p:sp>
      <p:sp>
        <p:nvSpPr>
          <p:cNvPr id="3" name="内容占位符 2"/>
          <p:cNvSpPr>
            <a:spLocks noGrp="1"/>
          </p:cNvSpPr>
          <p:nvPr>
            <p:ph idx="1"/>
          </p:nvPr>
        </p:nvSpPr>
        <p:spPr/>
        <p:txBody>
          <a:bodyPr/>
          <a:lstStyle/>
          <a:p>
            <a:r>
              <a:rPr lang="zh-CN" altLang="en-US" dirty="0"/>
              <a:t>可以得到每个区在门票增加为</a:t>
            </a:r>
            <a:r>
              <a:rPr lang="en-US" altLang="zh-CN" dirty="0"/>
              <a:t>5</a:t>
            </a:r>
            <a:r>
              <a:rPr lang="zh-CN" altLang="en-US" dirty="0"/>
              <a:t>元后的实际参观人数</a:t>
            </a:r>
            <a:endParaRPr lang="en-US" altLang="zh-CN" dirty="0"/>
          </a:p>
          <a:p>
            <a:r>
              <a:rPr lang="zh-CN" altLang="en-US" dirty="0"/>
              <a:t>并将各个区的人数进行加总</a:t>
            </a:r>
            <a:endParaRPr lang="en-US" altLang="zh-CN" dirty="0"/>
          </a:p>
          <a:p>
            <a:r>
              <a:rPr lang="zh-CN" altLang="en-US" dirty="0"/>
              <a:t>得到门票为￥</a:t>
            </a:r>
            <a:r>
              <a:rPr lang="en-US" altLang="zh-CN" dirty="0"/>
              <a:t>5</a:t>
            </a:r>
            <a:r>
              <a:rPr lang="zh-CN" altLang="en-US" dirty="0"/>
              <a:t>时总的参观人数为</a:t>
            </a:r>
            <a:r>
              <a:rPr lang="en-US" altLang="zh-CN" dirty="0"/>
              <a:t>24250</a:t>
            </a:r>
            <a:r>
              <a:rPr lang="zh-CN" altLang="en-US" dirty="0"/>
              <a:t>人</a:t>
            </a:r>
            <a:endParaRPr lang="en-US" altLang="zh-CN" dirty="0"/>
          </a:p>
          <a:p>
            <a:r>
              <a:rPr lang="zh-CN" altLang="en-US" dirty="0"/>
              <a:t>同理，能够计算出所有价格水平时的参观者比率和参观人数</a:t>
            </a:r>
            <a:endParaRPr lang="en-US" altLang="zh-CN" dirty="0"/>
          </a:p>
          <a:p>
            <a:r>
              <a:rPr lang="zh-CN" altLang="en-US" dirty="0"/>
              <a:t>根据计算值汇出一条倾斜向下的需求曲线</a:t>
            </a:r>
            <a:endParaRPr lang="en-US" altLang="zh-CN" dirty="0"/>
          </a:p>
          <a:p>
            <a:r>
              <a:rPr lang="zh-CN" altLang="en-US" dirty="0"/>
              <a:t>需求曲线以下的部分即为总消费者剩余</a:t>
            </a: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ChangeArrowheads="1"/>
          </p:cNvSpPr>
          <p:nvPr/>
        </p:nvSpPr>
        <p:spPr bwMode="auto">
          <a:xfrm>
            <a:off x="684213" y="620713"/>
            <a:ext cx="82804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b="1" dirty="0">
                <a:solidFill>
                  <a:srgbClr val="000000"/>
                </a:solidFill>
                <a:latin typeface="Times New Roman" panose="02020603050405020304" pitchFamily="18" charset="0"/>
                <a:cs typeface="Times New Roman" panose="02020603050405020304" pitchFamily="18" charset="0"/>
              </a:rPr>
              <a:t>Figure 5.4: Derivation of the demand curve for a recreational site from travel costs</a:t>
            </a:r>
            <a:endParaRPr lang="en-CA" b="1" dirty="0">
              <a:solidFill>
                <a:srgbClr val="000000"/>
              </a:solidFill>
              <a:latin typeface="Times New Roman" panose="02020603050405020304" pitchFamily="18" charset="0"/>
              <a:cs typeface="Times New Roman" panose="02020603050405020304" pitchFamily="18" charset="0"/>
            </a:endParaRPr>
          </a:p>
        </p:txBody>
      </p:sp>
      <p:grpSp>
        <p:nvGrpSpPr>
          <p:cNvPr id="25606" name="Group 3"/>
          <p:cNvGrpSpPr/>
          <p:nvPr/>
        </p:nvGrpSpPr>
        <p:grpSpPr bwMode="auto">
          <a:xfrm>
            <a:off x="4716420" y="1282700"/>
            <a:ext cx="3816393" cy="4378325"/>
            <a:chOff x="6124" y="1977"/>
            <a:chExt cx="4866" cy="3961"/>
          </a:xfrm>
        </p:grpSpPr>
        <p:sp>
          <p:nvSpPr>
            <p:cNvPr id="45" name="Text Box 3832"/>
            <p:cNvSpPr txBox="1">
              <a:spLocks noChangeArrowheads="1"/>
            </p:cNvSpPr>
            <p:nvPr/>
          </p:nvSpPr>
          <p:spPr bwMode="auto">
            <a:xfrm>
              <a:off x="8695" y="1977"/>
              <a:ext cx="437" cy="369"/>
            </a:xfrm>
            <a:prstGeom prst="rect">
              <a:avLst/>
            </a:prstGeom>
            <a:noFill/>
            <a:ln w="9525">
              <a:noFill/>
              <a:miter lim="800000"/>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B</a:t>
              </a:r>
              <a:endParaRPr lang="en-CA">
                <a:solidFill>
                  <a:srgbClr val="000000"/>
                </a:solidFill>
                <a:latin typeface="Times New Roman" panose="02020603050405020304" pitchFamily="18" charset="0"/>
                <a:cs typeface="Times New Roman" panose="02020603050405020304" pitchFamily="18" charset="0"/>
              </a:endParaRPr>
            </a:p>
          </p:txBody>
        </p:sp>
        <p:grpSp>
          <p:nvGrpSpPr>
            <p:cNvPr id="25647" name="Group 45"/>
            <p:cNvGrpSpPr/>
            <p:nvPr/>
          </p:nvGrpSpPr>
          <p:grpSpPr bwMode="auto">
            <a:xfrm>
              <a:off x="6124" y="2414"/>
              <a:ext cx="4866" cy="3524"/>
              <a:chOff x="6124" y="2426"/>
              <a:chExt cx="4866" cy="3524"/>
            </a:xfrm>
          </p:grpSpPr>
          <p:sp>
            <p:nvSpPr>
              <p:cNvPr id="47" name="Text Box 3834"/>
              <p:cNvSpPr txBox="1">
                <a:spLocks noChangeArrowheads="1"/>
              </p:cNvSpPr>
              <p:nvPr/>
            </p:nvSpPr>
            <p:spPr bwMode="auto">
              <a:xfrm>
                <a:off x="7934" y="5591"/>
                <a:ext cx="2510" cy="359"/>
              </a:xfrm>
              <a:prstGeom prst="rect">
                <a:avLst/>
              </a:prstGeom>
              <a:noFill/>
              <a:ln w="9525">
                <a:noFill/>
                <a:miter lim="800000"/>
              </a:ln>
            </p:spPr>
            <p:txBody>
              <a:bodyPr t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Number of visits</a:t>
                </a:r>
                <a:endParaRPr lang="en-CA">
                  <a:solidFill>
                    <a:srgbClr val="000000"/>
                  </a:solidFill>
                  <a:latin typeface="Times New Roman" panose="02020603050405020304" pitchFamily="18" charset="0"/>
                  <a:cs typeface="Times New Roman" panose="02020603050405020304" pitchFamily="18" charset="0"/>
                </a:endParaRPr>
              </a:p>
            </p:txBody>
          </p:sp>
          <p:sp>
            <p:nvSpPr>
              <p:cNvPr id="48" name="Text Box 3835"/>
              <p:cNvSpPr txBox="1">
                <a:spLocks noChangeArrowheads="1"/>
              </p:cNvSpPr>
              <p:nvPr/>
            </p:nvSpPr>
            <p:spPr bwMode="auto">
              <a:xfrm>
                <a:off x="8164" y="2612"/>
                <a:ext cx="2038" cy="421"/>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Demand curve</a:t>
                </a:r>
                <a:endParaRPr lang="en-CA">
                  <a:solidFill>
                    <a:srgbClr val="000000"/>
                  </a:solidFill>
                  <a:latin typeface="Times New Roman" panose="02020603050405020304" pitchFamily="18" charset="0"/>
                  <a:cs typeface="Times New Roman" panose="02020603050405020304" pitchFamily="18" charset="0"/>
                </a:endParaRPr>
              </a:p>
            </p:txBody>
          </p:sp>
          <p:sp>
            <p:nvSpPr>
              <p:cNvPr id="49" name="Text Box 3836"/>
              <p:cNvSpPr txBox="1">
                <a:spLocks noChangeArrowheads="1"/>
              </p:cNvSpPr>
              <p:nvPr/>
            </p:nvSpPr>
            <p:spPr bwMode="auto">
              <a:xfrm>
                <a:off x="6124" y="2858"/>
                <a:ext cx="582" cy="2201"/>
              </a:xfrm>
              <a:prstGeom prst="rect">
                <a:avLst/>
              </a:prstGeom>
              <a:noFill/>
              <a:ln w="9525">
                <a:noFill/>
                <a:miter lim="800000"/>
              </a:ln>
            </p:spPr>
            <p:txBody>
              <a:bodyPr vert="vert270" upright="1"/>
              <a:lstStyle/>
              <a:p>
                <a:pPr fontAlgn="auto">
                  <a:spcBef>
                    <a:spcPts val="990"/>
                  </a:spcBef>
                  <a:spcAft>
                    <a:spcPts val="0"/>
                  </a:spcAft>
                  <a:defRPr/>
                </a:pPr>
                <a:r>
                  <a:rPr lang="en-US" kern="0" dirty="0">
                    <a:solidFill>
                      <a:sysClr val="windowText" lastClr="000000"/>
                    </a:solidFill>
                    <a:latin typeface="Times New Roman" panose="02020603050405020304" pitchFamily="18" charset="0"/>
                    <a:ea typeface="Times New Roman" panose="02020603050405020304"/>
                    <a:cs typeface="Times New Roman" panose="02020603050405020304" pitchFamily="18" charset="0"/>
                  </a:rPr>
                  <a:t>Hypothetical price ($)</a:t>
                </a:r>
                <a:endParaRPr lang="en-CA" kern="0" dirty="0">
                  <a:solidFill>
                    <a:sysClr val="windowText" lastClr="000000"/>
                  </a:solidFill>
                  <a:latin typeface="Times New Roman" panose="02020603050405020304" pitchFamily="18" charset="0"/>
                  <a:ea typeface="Times New Roman" panose="02020603050405020304"/>
                  <a:cs typeface="Times New Roman" panose="02020603050405020304" pitchFamily="18" charset="0"/>
                </a:endParaRPr>
              </a:p>
            </p:txBody>
          </p:sp>
          <p:sp>
            <p:nvSpPr>
              <p:cNvPr id="50" name="Text Box 3837"/>
              <p:cNvSpPr txBox="1">
                <a:spLocks noChangeArrowheads="1"/>
              </p:cNvSpPr>
              <p:nvPr/>
            </p:nvSpPr>
            <p:spPr bwMode="auto">
              <a:xfrm>
                <a:off x="7015" y="5213"/>
                <a:ext cx="3975" cy="461"/>
              </a:xfrm>
              <a:prstGeom prst="rect">
                <a:avLst/>
              </a:prstGeom>
              <a:noFill/>
              <a:ln w="9525">
                <a:noFill/>
                <a:miter lim="800000"/>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0        10,000     20,000   30,000</a:t>
                </a:r>
                <a:endParaRPr lang="en-CA">
                  <a:solidFill>
                    <a:srgbClr val="000000"/>
                  </a:solidFill>
                  <a:latin typeface="Times New Roman" panose="02020603050405020304" pitchFamily="18" charset="0"/>
                  <a:cs typeface="Times New Roman" panose="02020603050405020304" pitchFamily="18" charset="0"/>
                </a:endParaRPr>
              </a:p>
            </p:txBody>
          </p:sp>
          <p:grpSp>
            <p:nvGrpSpPr>
              <p:cNvPr id="25652" name="Group 50"/>
              <p:cNvGrpSpPr/>
              <p:nvPr/>
            </p:nvGrpSpPr>
            <p:grpSpPr bwMode="auto">
              <a:xfrm>
                <a:off x="6691" y="2426"/>
                <a:ext cx="595" cy="3084"/>
                <a:chOff x="6691" y="2426"/>
                <a:chExt cx="595" cy="3084"/>
              </a:xfrm>
            </p:grpSpPr>
            <p:sp>
              <p:nvSpPr>
                <p:cNvPr id="95" name="Text Box 3839"/>
                <p:cNvSpPr txBox="1">
                  <a:spLocks noChangeArrowheads="1"/>
                </p:cNvSpPr>
                <p:nvPr/>
              </p:nvSpPr>
              <p:spPr bwMode="auto">
                <a:xfrm>
                  <a:off x="6701" y="2426"/>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40</a:t>
                  </a:r>
                  <a:endParaRPr lang="en-CA">
                    <a:solidFill>
                      <a:srgbClr val="000000"/>
                    </a:solidFill>
                    <a:latin typeface="Times New Roman" panose="02020603050405020304" pitchFamily="18" charset="0"/>
                    <a:cs typeface="Times New Roman" panose="02020603050405020304" pitchFamily="18" charset="0"/>
                  </a:endParaRPr>
                </a:p>
              </p:txBody>
            </p:sp>
            <p:sp>
              <p:nvSpPr>
                <p:cNvPr id="96" name="Text Box 3840"/>
                <p:cNvSpPr txBox="1">
                  <a:spLocks noChangeArrowheads="1"/>
                </p:cNvSpPr>
                <p:nvPr/>
              </p:nvSpPr>
              <p:spPr bwMode="auto">
                <a:xfrm>
                  <a:off x="6691" y="2806"/>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35</a:t>
                  </a:r>
                  <a:endParaRPr lang="en-CA">
                    <a:solidFill>
                      <a:srgbClr val="000000"/>
                    </a:solidFill>
                    <a:latin typeface="Times New Roman" panose="02020603050405020304" pitchFamily="18" charset="0"/>
                    <a:cs typeface="Times New Roman" panose="02020603050405020304" pitchFamily="18" charset="0"/>
                  </a:endParaRPr>
                </a:p>
              </p:txBody>
            </p:sp>
            <p:sp>
              <p:nvSpPr>
                <p:cNvPr id="97" name="Text Box 3841"/>
                <p:cNvSpPr txBox="1">
                  <a:spLocks noChangeArrowheads="1"/>
                </p:cNvSpPr>
                <p:nvPr/>
              </p:nvSpPr>
              <p:spPr bwMode="auto">
                <a:xfrm>
                  <a:off x="6705" y="3109"/>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30</a:t>
                  </a:r>
                  <a:endParaRPr lang="en-CA">
                    <a:solidFill>
                      <a:srgbClr val="000000"/>
                    </a:solidFill>
                    <a:latin typeface="Times New Roman" panose="02020603050405020304" pitchFamily="18" charset="0"/>
                    <a:cs typeface="Times New Roman" panose="02020603050405020304" pitchFamily="18" charset="0"/>
                  </a:endParaRPr>
                </a:p>
              </p:txBody>
            </p:sp>
            <p:sp>
              <p:nvSpPr>
                <p:cNvPr id="98" name="Text Box 3842"/>
                <p:cNvSpPr txBox="1">
                  <a:spLocks noChangeArrowheads="1"/>
                </p:cNvSpPr>
                <p:nvPr/>
              </p:nvSpPr>
              <p:spPr bwMode="auto">
                <a:xfrm>
                  <a:off x="6701" y="3458"/>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25</a:t>
                  </a:r>
                  <a:endParaRPr lang="en-CA">
                    <a:solidFill>
                      <a:srgbClr val="000000"/>
                    </a:solidFill>
                    <a:latin typeface="Times New Roman" panose="02020603050405020304" pitchFamily="18" charset="0"/>
                    <a:cs typeface="Times New Roman" panose="02020603050405020304" pitchFamily="18" charset="0"/>
                  </a:endParaRPr>
                </a:p>
              </p:txBody>
            </p:sp>
            <p:sp>
              <p:nvSpPr>
                <p:cNvPr id="99" name="Text Box 3843"/>
                <p:cNvSpPr txBox="1">
                  <a:spLocks noChangeArrowheads="1"/>
                </p:cNvSpPr>
                <p:nvPr/>
              </p:nvSpPr>
              <p:spPr bwMode="auto">
                <a:xfrm>
                  <a:off x="6701" y="3758"/>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20</a:t>
                  </a:r>
                  <a:endParaRPr lang="en-CA">
                    <a:solidFill>
                      <a:srgbClr val="000000"/>
                    </a:solidFill>
                    <a:latin typeface="Times New Roman" panose="02020603050405020304" pitchFamily="18" charset="0"/>
                    <a:cs typeface="Times New Roman" panose="02020603050405020304" pitchFamily="18" charset="0"/>
                  </a:endParaRPr>
                </a:p>
              </p:txBody>
            </p:sp>
            <p:sp>
              <p:nvSpPr>
                <p:cNvPr id="100" name="Text Box 3844"/>
                <p:cNvSpPr txBox="1">
                  <a:spLocks noChangeArrowheads="1"/>
                </p:cNvSpPr>
                <p:nvPr/>
              </p:nvSpPr>
              <p:spPr bwMode="auto">
                <a:xfrm>
                  <a:off x="6701" y="4059"/>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15</a:t>
                  </a:r>
                  <a:endParaRPr lang="en-CA">
                    <a:solidFill>
                      <a:srgbClr val="000000"/>
                    </a:solidFill>
                    <a:latin typeface="Times New Roman" panose="02020603050405020304" pitchFamily="18" charset="0"/>
                    <a:cs typeface="Times New Roman" panose="02020603050405020304" pitchFamily="18" charset="0"/>
                  </a:endParaRPr>
                </a:p>
              </p:txBody>
            </p:sp>
            <p:sp>
              <p:nvSpPr>
                <p:cNvPr id="101" name="Text Box 3845"/>
                <p:cNvSpPr txBox="1">
                  <a:spLocks noChangeArrowheads="1"/>
                </p:cNvSpPr>
                <p:nvPr/>
              </p:nvSpPr>
              <p:spPr bwMode="auto">
                <a:xfrm>
                  <a:off x="6701" y="4382"/>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10</a:t>
                  </a:r>
                  <a:endParaRPr lang="en-CA">
                    <a:solidFill>
                      <a:srgbClr val="000000"/>
                    </a:solidFill>
                    <a:latin typeface="Times New Roman" panose="02020603050405020304" pitchFamily="18" charset="0"/>
                    <a:cs typeface="Times New Roman" panose="02020603050405020304" pitchFamily="18" charset="0"/>
                  </a:endParaRPr>
                </a:p>
              </p:txBody>
            </p:sp>
            <p:sp>
              <p:nvSpPr>
                <p:cNvPr id="102" name="Text Box 3846"/>
                <p:cNvSpPr txBox="1">
                  <a:spLocks noChangeArrowheads="1"/>
                </p:cNvSpPr>
                <p:nvPr/>
              </p:nvSpPr>
              <p:spPr bwMode="auto">
                <a:xfrm>
                  <a:off x="6701" y="4706"/>
                  <a:ext cx="581"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  5</a:t>
                  </a:r>
                  <a:endParaRPr lang="en-CA">
                    <a:solidFill>
                      <a:srgbClr val="000000"/>
                    </a:solidFill>
                    <a:latin typeface="Times New Roman" panose="02020603050405020304" pitchFamily="18" charset="0"/>
                    <a:cs typeface="Times New Roman" panose="02020603050405020304" pitchFamily="18" charset="0"/>
                  </a:endParaRPr>
                </a:p>
              </p:txBody>
            </p:sp>
            <p:sp>
              <p:nvSpPr>
                <p:cNvPr id="103" name="Text Box 3847"/>
                <p:cNvSpPr txBox="1">
                  <a:spLocks noChangeArrowheads="1"/>
                </p:cNvSpPr>
                <p:nvPr/>
              </p:nvSpPr>
              <p:spPr bwMode="auto">
                <a:xfrm>
                  <a:off x="6701" y="5042"/>
                  <a:ext cx="500" cy="468"/>
                </a:xfrm>
                <a:prstGeom prst="rect">
                  <a:avLst/>
                </a:prstGeom>
                <a:noFill/>
                <a:ln w="9525">
                  <a:noFill/>
                  <a:miter lim="800000"/>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ts val="990"/>
                    </a:spcBef>
                  </a:pPr>
                  <a:r>
                    <a:rPr lang="en-US" altLang="zh-CN">
                      <a:solidFill>
                        <a:srgbClr val="000000"/>
                      </a:solidFill>
                      <a:latin typeface="Times New Roman" panose="02020603050405020304" pitchFamily="18" charset="0"/>
                      <a:cs typeface="Times New Roman" panose="02020603050405020304" pitchFamily="18" charset="0"/>
                    </a:rPr>
                    <a:t>  </a:t>
                  </a:r>
                  <a:endParaRPr lang="en-CA">
                    <a:solidFill>
                      <a:srgbClr val="000000"/>
                    </a:solidFill>
                    <a:latin typeface="Times New Roman" panose="02020603050405020304" pitchFamily="18" charset="0"/>
                    <a:cs typeface="Times New Roman" panose="02020603050405020304" pitchFamily="18" charset="0"/>
                  </a:endParaRPr>
                </a:p>
              </p:txBody>
            </p:sp>
          </p:grpSp>
          <p:grpSp>
            <p:nvGrpSpPr>
              <p:cNvPr id="25653" name="Group 51"/>
              <p:cNvGrpSpPr/>
              <p:nvPr/>
            </p:nvGrpSpPr>
            <p:grpSpPr bwMode="auto">
              <a:xfrm>
                <a:off x="7178" y="2593"/>
                <a:ext cx="3362" cy="2718"/>
                <a:chOff x="7178" y="2593"/>
                <a:chExt cx="3362" cy="2718"/>
              </a:xfrm>
            </p:grpSpPr>
            <p:grpSp>
              <p:nvGrpSpPr>
                <p:cNvPr id="25654" name="Group 52"/>
                <p:cNvGrpSpPr/>
                <p:nvPr/>
              </p:nvGrpSpPr>
              <p:grpSpPr bwMode="auto">
                <a:xfrm>
                  <a:off x="7220" y="2593"/>
                  <a:ext cx="3320" cy="2652"/>
                  <a:chOff x="7220" y="2593"/>
                  <a:chExt cx="3320" cy="2652"/>
                </a:xfrm>
              </p:grpSpPr>
              <p:cxnSp>
                <p:nvCxnSpPr>
                  <p:cNvPr id="25679" name="AutoShape 3850"/>
                  <p:cNvCxnSpPr>
                    <a:cxnSpLocks noChangeShapeType="1"/>
                  </p:cNvCxnSpPr>
                  <p:nvPr/>
                </p:nvCxnSpPr>
                <p:spPr bwMode="auto">
                  <a:xfrm>
                    <a:off x="7250" y="2657"/>
                    <a:ext cx="164" cy="37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0" name="AutoShape 3851"/>
                  <p:cNvCxnSpPr>
                    <a:cxnSpLocks noChangeShapeType="1"/>
                  </p:cNvCxnSpPr>
                  <p:nvPr/>
                </p:nvCxnSpPr>
                <p:spPr bwMode="auto">
                  <a:xfrm>
                    <a:off x="7414" y="3021"/>
                    <a:ext cx="84" cy="254"/>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1" name="AutoShape 3852"/>
                  <p:cNvCxnSpPr>
                    <a:cxnSpLocks noChangeShapeType="1"/>
                  </p:cNvCxnSpPr>
                  <p:nvPr/>
                </p:nvCxnSpPr>
                <p:spPr bwMode="auto">
                  <a:xfrm>
                    <a:off x="7546" y="3333"/>
                    <a:ext cx="472" cy="324"/>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2" name="AutoShape 3853"/>
                  <p:cNvCxnSpPr>
                    <a:cxnSpLocks noChangeShapeType="1"/>
                  </p:cNvCxnSpPr>
                  <p:nvPr/>
                </p:nvCxnSpPr>
                <p:spPr bwMode="auto">
                  <a:xfrm>
                    <a:off x="8018" y="3657"/>
                    <a:ext cx="372" cy="26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3" name="AutoShape 3854"/>
                  <p:cNvCxnSpPr>
                    <a:cxnSpLocks noChangeShapeType="1"/>
                  </p:cNvCxnSpPr>
                  <p:nvPr/>
                </p:nvCxnSpPr>
                <p:spPr bwMode="auto">
                  <a:xfrm>
                    <a:off x="8366" y="3898"/>
                    <a:ext cx="414" cy="321"/>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4" name="AutoShape 3855"/>
                  <p:cNvCxnSpPr>
                    <a:cxnSpLocks noChangeShapeType="1"/>
                  </p:cNvCxnSpPr>
                  <p:nvPr/>
                </p:nvCxnSpPr>
                <p:spPr bwMode="auto">
                  <a:xfrm>
                    <a:off x="8780" y="4234"/>
                    <a:ext cx="608" cy="32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5" name="AutoShape 3856"/>
                  <p:cNvCxnSpPr>
                    <a:cxnSpLocks noChangeShapeType="1"/>
                  </p:cNvCxnSpPr>
                  <p:nvPr/>
                </p:nvCxnSpPr>
                <p:spPr bwMode="auto">
                  <a:xfrm>
                    <a:off x="9388" y="4554"/>
                    <a:ext cx="556" cy="322"/>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86" name="AutoShape 3857"/>
                  <p:cNvCxnSpPr>
                    <a:cxnSpLocks noChangeShapeType="1"/>
                  </p:cNvCxnSpPr>
                  <p:nvPr/>
                </p:nvCxnSpPr>
                <p:spPr bwMode="auto">
                  <a:xfrm>
                    <a:off x="9944" y="4876"/>
                    <a:ext cx="536" cy="33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sp>
                <p:nvSpPr>
                  <p:cNvPr id="86" name="Rectangle 85"/>
                  <p:cNvSpPr>
                    <a:spLocks noChangeArrowheads="1"/>
                  </p:cNvSpPr>
                  <p:nvPr/>
                </p:nvSpPr>
                <p:spPr bwMode="auto">
                  <a:xfrm rot="2700000">
                    <a:off x="7223" y="2591"/>
                    <a:ext cx="72" cy="75"/>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87" name="Rectangle 86"/>
                  <p:cNvSpPr>
                    <a:spLocks noChangeArrowheads="1"/>
                  </p:cNvSpPr>
                  <p:nvPr/>
                </p:nvSpPr>
                <p:spPr bwMode="auto">
                  <a:xfrm rot="2700000">
                    <a:off x="7393" y="2991"/>
                    <a:ext cx="72" cy="75"/>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88" name="Rectangle 87"/>
                  <p:cNvSpPr>
                    <a:spLocks noChangeArrowheads="1"/>
                  </p:cNvSpPr>
                  <p:nvPr/>
                </p:nvSpPr>
                <p:spPr bwMode="auto">
                  <a:xfrm rot="2700000">
                    <a:off x="7499" y="3275"/>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89" name="Rectangle 88"/>
                  <p:cNvSpPr>
                    <a:spLocks noChangeArrowheads="1"/>
                  </p:cNvSpPr>
                  <p:nvPr/>
                </p:nvSpPr>
                <p:spPr bwMode="auto">
                  <a:xfrm rot="2700000">
                    <a:off x="7959" y="3599"/>
                    <a:ext cx="72"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0" name="Rectangle 89"/>
                  <p:cNvSpPr>
                    <a:spLocks noChangeArrowheads="1"/>
                  </p:cNvSpPr>
                  <p:nvPr/>
                </p:nvSpPr>
                <p:spPr bwMode="auto">
                  <a:xfrm rot="2700000">
                    <a:off x="8379" y="3897"/>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1" name="Rectangle 90"/>
                  <p:cNvSpPr>
                    <a:spLocks noChangeArrowheads="1"/>
                  </p:cNvSpPr>
                  <p:nvPr/>
                </p:nvSpPr>
                <p:spPr bwMode="auto">
                  <a:xfrm rot="2700000">
                    <a:off x="8781" y="4210"/>
                    <a:ext cx="72"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2" name="Rectangle 91"/>
                  <p:cNvSpPr>
                    <a:spLocks noChangeArrowheads="1"/>
                  </p:cNvSpPr>
                  <p:nvPr/>
                </p:nvSpPr>
                <p:spPr bwMode="auto">
                  <a:xfrm rot="2700000">
                    <a:off x="9908" y="4855"/>
                    <a:ext cx="73" cy="71"/>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3" name="Rectangle 92"/>
                  <p:cNvSpPr>
                    <a:spLocks noChangeArrowheads="1"/>
                  </p:cNvSpPr>
                  <p:nvPr/>
                </p:nvSpPr>
                <p:spPr bwMode="auto">
                  <a:xfrm rot="2700000">
                    <a:off x="9379" y="4544"/>
                    <a:ext cx="73"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sp>
                <p:nvSpPr>
                  <p:cNvPr id="94" name="Rectangle 93"/>
                  <p:cNvSpPr>
                    <a:spLocks noChangeArrowheads="1"/>
                  </p:cNvSpPr>
                  <p:nvPr/>
                </p:nvSpPr>
                <p:spPr bwMode="auto">
                  <a:xfrm rot="2700000">
                    <a:off x="10468" y="5172"/>
                    <a:ext cx="72" cy="73"/>
                  </a:xfrm>
                  <a:prstGeom prst="rect">
                    <a:avLst/>
                  </a:prstGeom>
                  <a:solidFill>
                    <a:sysClr val="windowText" lastClr="000000">
                      <a:lumMod val="100000"/>
                      <a:lumOff val="0"/>
                    </a:sysClr>
                  </a:solidFill>
                  <a:ln w="9525">
                    <a:solidFill>
                      <a:srgbClr val="000000"/>
                    </a:solidFill>
                    <a:miter lim="800000"/>
                  </a:ln>
                </p:spPr>
                <p:txBody>
                  <a:bodyPr/>
                  <a:lstStyle/>
                  <a:p>
                    <a:endParaRPr lang="en-CA">
                      <a:solidFill>
                        <a:srgbClr val="000000"/>
                      </a:solidFill>
                      <a:latin typeface="Times New Roman" panose="02020603050405020304" pitchFamily="18" charset="0"/>
                      <a:cs typeface="Times New Roman" panose="02020603050405020304" pitchFamily="18" charset="0"/>
                    </a:endParaRPr>
                  </a:p>
                </p:txBody>
              </p:sp>
            </p:grpSp>
            <p:grpSp>
              <p:nvGrpSpPr>
                <p:cNvPr id="25655" name="Group 53"/>
                <p:cNvGrpSpPr/>
                <p:nvPr/>
              </p:nvGrpSpPr>
              <p:grpSpPr bwMode="auto">
                <a:xfrm>
                  <a:off x="7202" y="3021"/>
                  <a:ext cx="2742" cy="1892"/>
                  <a:chOff x="7202" y="3021"/>
                  <a:chExt cx="2742" cy="1892"/>
                </a:xfrm>
              </p:grpSpPr>
              <p:cxnSp>
                <p:nvCxnSpPr>
                  <p:cNvPr id="25672" name="AutoShape 3868"/>
                  <p:cNvCxnSpPr>
                    <a:cxnSpLocks noChangeShapeType="1"/>
                  </p:cNvCxnSpPr>
                  <p:nvPr/>
                </p:nvCxnSpPr>
                <p:spPr bwMode="auto">
                  <a:xfrm>
                    <a:off x="7202" y="3021"/>
                    <a:ext cx="128" cy="12"/>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3" name="AutoShape 3869"/>
                  <p:cNvCxnSpPr>
                    <a:cxnSpLocks noChangeShapeType="1"/>
                  </p:cNvCxnSpPr>
                  <p:nvPr/>
                </p:nvCxnSpPr>
                <p:spPr bwMode="auto">
                  <a:xfrm>
                    <a:off x="7265" y="3321"/>
                    <a:ext cx="281" cy="12"/>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4" name="AutoShape 3870"/>
                  <p:cNvCxnSpPr>
                    <a:cxnSpLocks noChangeShapeType="1"/>
                  </p:cNvCxnSpPr>
                  <p:nvPr/>
                </p:nvCxnSpPr>
                <p:spPr bwMode="auto">
                  <a:xfrm>
                    <a:off x="7220" y="3657"/>
                    <a:ext cx="762"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5" name="AutoShape 3871"/>
                  <p:cNvCxnSpPr>
                    <a:cxnSpLocks noChangeShapeType="1"/>
                  </p:cNvCxnSpPr>
                  <p:nvPr/>
                </p:nvCxnSpPr>
                <p:spPr bwMode="auto">
                  <a:xfrm flipV="1">
                    <a:off x="7216" y="3943"/>
                    <a:ext cx="1174" cy="14"/>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6" name="AutoShape 3872"/>
                  <p:cNvCxnSpPr>
                    <a:cxnSpLocks noChangeShapeType="1"/>
                  </p:cNvCxnSpPr>
                  <p:nvPr/>
                </p:nvCxnSpPr>
                <p:spPr bwMode="auto">
                  <a:xfrm>
                    <a:off x="7252" y="4605"/>
                    <a:ext cx="2160" cy="1"/>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7" name="AutoShape 3873"/>
                  <p:cNvCxnSpPr>
                    <a:cxnSpLocks noChangeShapeType="1"/>
                  </p:cNvCxnSpPr>
                  <p:nvPr/>
                </p:nvCxnSpPr>
                <p:spPr bwMode="auto">
                  <a:xfrm>
                    <a:off x="7216" y="4913"/>
                    <a:ext cx="2728" cy="0"/>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cxnSp>
                <p:nvCxnSpPr>
                  <p:cNvPr id="25678" name="AutoShape 3874"/>
                  <p:cNvCxnSpPr>
                    <a:cxnSpLocks noChangeShapeType="1"/>
                  </p:cNvCxnSpPr>
                  <p:nvPr/>
                </p:nvCxnSpPr>
                <p:spPr bwMode="auto">
                  <a:xfrm flipV="1">
                    <a:off x="7228" y="4261"/>
                    <a:ext cx="1624" cy="8"/>
                  </a:xfrm>
                  <a:prstGeom prst="straightConnector1">
                    <a:avLst/>
                  </a:prstGeom>
                  <a:noFill/>
                  <a:ln w="9525">
                    <a:solidFill>
                      <a:srgbClr val="000000"/>
                    </a:solidFill>
                    <a:prstDash val="dash"/>
                    <a:round/>
                  </a:ln>
                  <a:extLst>
                    <a:ext uri="{909E8E84-426E-40DD-AFC4-6F175D3DCCD1}">
                      <a14:hiddenFill xmlns:a14="http://schemas.microsoft.com/office/drawing/2010/main">
                        <a:noFill/>
                      </a14:hiddenFill>
                    </a:ext>
                  </a:extLst>
                </p:spPr>
              </p:cxnSp>
            </p:grpSp>
            <p:grpSp>
              <p:nvGrpSpPr>
                <p:cNvPr id="25656" name="Group 54"/>
                <p:cNvGrpSpPr/>
                <p:nvPr/>
              </p:nvGrpSpPr>
              <p:grpSpPr bwMode="auto">
                <a:xfrm>
                  <a:off x="7178" y="2654"/>
                  <a:ext cx="78" cy="2657"/>
                  <a:chOff x="7178" y="2654"/>
                  <a:chExt cx="78" cy="2657"/>
                </a:xfrm>
              </p:grpSpPr>
              <p:cxnSp>
                <p:nvCxnSpPr>
                  <p:cNvPr id="25663" name="AutoShape 3876"/>
                  <p:cNvCxnSpPr>
                    <a:cxnSpLocks noChangeShapeType="1"/>
                  </p:cNvCxnSpPr>
                  <p:nvPr/>
                </p:nvCxnSpPr>
                <p:spPr bwMode="auto">
                  <a:xfrm>
                    <a:off x="7250" y="2690"/>
                    <a:ext cx="0" cy="2621"/>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4" name="AutoShape 3877"/>
                  <p:cNvCxnSpPr>
                    <a:cxnSpLocks noChangeShapeType="1"/>
                  </p:cNvCxnSpPr>
                  <p:nvPr/>
                </p:nvCxnSpPr>
                <p:spPr bwMode="auto">
                  <a:xfrm rot="10800000">
                    <a:off x="7190" y="3026"/>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5" name="AutoShape 3878"/>
                  <p:cNvCxnSpPr>
                    <a:cxnSpLocks noChangeShapeType="1"/>
                  </p:cNvCxnSpPr>
                  <p:nvPr/>
                </p:nvCxnSpPr>
                <p:spPr bwMode="auto">
                  <a:xfrm rot="10800000">
                    <a:off x="7190" y="3326"/>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6" name="AutoShape 3879"/>
                  <p:cNvCxnSpPr>
                    <a:cxnSpLocks noChangeShapeType="1"/>
                  </p:cNvCxnSpPr>
                  <p:nvPr/>
                </p:nvCxnSpPr>
                <p:spPr bwMode="auto">
                  <a:xfrm rot="10800000">
                    <a:off x="7190" y="3662"/>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7" name="AutoShape 3880"/>
                  <p:cNvCxnSpPr>
                    <a:cxnSpLocks noChangeShapeType="1"/>
                  </p:cNvCxnSpPr>
                  <p:nvPr/>
                </p:nvCxnSpPr>
                <p:spPr bwMode="auto">
                  <a:xfrm rot="10800000">
                    <a:off x="7190" y="3962"/>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8" name="AutoShape 3881"/>
                  <p:cNvCxnSpPr>
                    <a:cxnSpLocks noChangeShapeType="1"/>
                  </p:cNvCxnSpPr>
                  <p:nvPr/>
                </p:nvCxnSpPr>
                <p:spPr bwMode="auto">
                  <a:xfrm rot="10800000">
                    <a:off x="7190" y="4274"/>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9" name="AutoShape 3882"/>
                  <p:cNvCxnSpPr>
                    <a:cxnSpLocks noChangeShapeType="1"/>
                  </p:cNvCxnSpPr>
                  <p:nvPr/>
                </p:nvCxnSpPr>
                <p:spPr bwMode="auto">
                  <a:xfrm rot="10800000">
                    <a:off x="7190" y="4610"/>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70" name="AutoShape 3883"/>
                  <p:cNvCxnSpPr>
                    <a:cxnSpLocks noChangeShapeType="1"/>
                  </p:cNvCxnSpPr>
                  <p:nvPr/>
                </p:nvCxnSpPr>
                <p:spPr bwMode="auto">
                  <a:xfrm rot="10800000">
                    <a:off x="7190" y="4922"/>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71" name="AutoShape 3884"/>
                  <p:cNvCxnSpPr>
                    <a:cxnSpLocks noChangeShapeType="1"/>
                  </p:cNvCxnSpPr>
                  <p:nvPr/>
                </p:nvCxnSpPr>
                <p:spPr bwMode="auto">
                  <a:xfrm rot="10800000">
                    <a:off x="7178" y="2654"/>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grpSp>
            <p:grpSp>
              <p:nvGrpSpPr>
                <p:cNvPr id="25657" name="Group 55"/>
                <p:cNvGrpSpPr/>
                <p:nvPr/>
              </p:nvGrpSpPr>
              <p:grpSpPr bwMode="auto">
                <a:xfrm>
                  <a:off x="7189" y="5236"/>
                  <a:ext cx="3315" cy="74"/>
                  <a:chOff x="7189" y="5236"/>
                  <a:chExt cx="3315" cy="74"/>
                </a:xfrm>
              </p:grpSpPr>
              <p:cxnSp>
                <p:nvCxnSpPr>
                  <p:cNvPr id="25658" name="AutoShape 3886"/>
                  <p:cNvCxnSpPr>
                    <a:cxnSpLocks noChangeShapeType="1"/>
                  </p:cNvCxnSpPr>
                  <p:nvPr/>
                </p:nvCxnSpPr>
                <p:spPr bwMode="auto">
                  <a:xfrm rot="10800000">
                    <a:off x="7189" y="5238"/>
                    <a:ext cx="66"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59" name="AutoShape 3887"/>
                  <p:cNvCxnSpPr>
                    <a:cxnSpLocks noChangeShapeType="1"/>
                  </p:cNvCxnSpPr>
                  <p:nvPr/>
                </p:nvCxnSpPr>
                <p:spPr bwMode="auto">
                  <a:xfrm>
                    <a:off x="7250" y="5236"/>
                    <a:ext cx="3230" cy="0"/>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0" name="AutoShape 3888"/>
                  <p:cNvCxnSpPr>
                    <a:cxnSpLocks noChangeShapeType="1"/>
                  </p:cNvCxnSpPr>
                  <p:nvPr/>
                </p:nvCxnSpPr>
                <p:spPr bwMode="auto">
                  <a:xfrm flipV="1">
                    <a:off x="8351" y="5244"/>
                    <a:ext cx="0" cy="6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1" name="AutoShape 3889"/>
                  <p:cNvCxnSpPr>
                    <a:cxnSpLocks noChangeShapeType="1"/>
                  </p:cNvCxnSpPr>
                  <p:nvPr/>
                </p:nvCxnSpPr>
                <p:spPr bwMode="auto">
                  <a:xfrm flipV="1">
                    <a:off x="9448" y="5239"/>
                    <a:ext cx="0" cy="6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25662" name="AutoShape 3890"/>
                  <p:cNvCxnSpPr>
                    <a:cxnSpLocks noChangeShapeType="1"/>
                  </p:cNvCxnSpPr>
                  <p:nvPr/>
                </p:nvCxnSpPr>
                <p:spPr bwMode="auto">
                  <a:xfrm flipV="1">
                    <a:off x="10504" y="5239"/>
                    <a:ext cx="0" cy="66"/>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grpSp>
          </p:grpSp>
        </p:grpSp>
      </p:grpSp>
      <p:sp>
        <p:nvSpPr>
          <p:cNvPr id="25604" name="Text Box 104"/>
          <p:cNvSpPr txBox="1">
            <a:spLocks noChangeArrowheads="1"/>
          </p:cNvSpPr>
          <p:nvPr/>
        </p:nvSpPr>
        <p:spPr bwMode="auto">
          <a:xfrm>
            <a:off x="5148263" y="5084763"/>
            <a:ext cx="812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dirty="0">
                <a:latin typeface="Times New Roman" panose="02020603050405020304" pitchFamily="18" charset="0"/>
              </a:rPr>
              <a:t>30,000</a:t>
            </a:r>
            <a:endParaRPr lang="en-US" altLang="zh-CN" dirty="0">
              <a:latin typeface="Times New Roman" panose="02020603050405020304" pitchFamily="18" charset="0"/>
            </a:endParaRPr>
          </a:p>
        </p:txBody>
      </p:sp>
      <p:sp>
        <p:nvSpPr>
          <p:cNvPr id="105"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pitchFamily="34" charset="0"/>
              </a:rPr>
              <a:t>Adapted from </a:t>
            </a:r>
            <a:r>
              <a:rPr lang="en-US" altLang="zh-CN" i="1">
                <a:solidFill>
                  <a:srgbClr val="898989"/>
                </a:solidFill>
                <a:latin typeface="Calibri" panose="020F0502020204030204" pitchFamily="34" charset="0"/>
              </a:rPr>
              <a:t>Forest Economics </a:t>
            </a:r>
            <a:r>
              <a:rPr lang="en-US" altLang="zh-CN">
                <a:solidFill>
                  <a:srgbClr val="898989"/>
                </a:solidFill>
                <a:latin typeface="Calibri" panose="020F0502020204030204" pitchFamily="34" charset="0"/>
              </a:rPr>
              <a:t>by Daowei Zhang and Peter H. Pearse, published by UBC Press, 2011. </a:t>
            </a:r>
            <a:endParaRPr lang="en-CA">
              <a:solidFill>
                <a:srgbClr val="898989"/>
              </a:solidFill>
              <a:latin typeface="Calibri" panose="020F0502020204030204" pitchFamily="34" charset="0"/>
            </a:endParaRPr>
          </a:p>
        </p:txBody>
      </p:sp>
      <p:sp>
        <p:nvSpPr>
          <p:cNvPr id="2" name="梯形 1"/>
          <p:cNvSpPr/>
          <p:nvPr/>
        </p:nvSpPr>
        <p:spPr>
          <a:xfrm>
            <a:off x="5611304" y="3808445"/>
            <a:ext cx="2550215" cy="1063354"/>
          </a:xfrm>
          <a:custGeom>
            <a:avLst/>
            <a:gdLst>
              <a:gd name="connsiteX0" fmla="*/ 0 w 1292915"/>
              <a:gd name="connsiteY0" fmla="*/ 1063354 h 1063354"/>
              <a:gd name="connsiteX1" fmla="*/ 0 w 1292915"/>
              <a:gd name="connsiteY1" fmla="*/ 0 h 1063354"/>
              <a:gd name="connsiteX2" fmla="*/ 1292915 w 1292915"/>
              <a:gd name="connsiteY2" fmla="*/ 0 h 1063354"/>
              <a:gd name="connsiteX3" fmla="*/ 1292915 w 1292915"/>
              <a:gd name="connsiteY3" fmla="*/ 1063354 h 1063354"/>
              <a:gd name="connsiteX4" fmla="*/ 0 w 1292915"/>
              <a:gd name="connsiteY4" fmla="*/ 1063354 h 1063354"/>
              <a:gd name="connsiteX0-1" fmla="*/ 0 w 2550215"/>
              <a:gd name="connsiteY0-2" fmla="*/ 1063354 h 1063354"/>
              <a:gd name="connsiteX1-3" fmla="*/ 0 w 2550215"/>
              <a:gd name="connsiteY1-4" fmla="*/ 0 h 1063354"/>
              <a:gd name="connsiteX2-5" fmla="*/ 1292915 w 2550215"/>
              <a:gd name="connsiteY2-6" fmla="*/ 0 h 1063354"/>
              <a:gd name="connsiteX3-7" fmla="*/ 2550215 w 2550215"/>
              <a:gd name="connsiteY3-8" fmla="*/ 1063354 h 1063354"/>
              <a:gd name="connsiteX4-9" fmla="*/ 0 w 2550215"/>
              <a:gd name="connsiteY4-10" fmla="*/ 1063354 h 106335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50215" h="1063354">
                <a:moveTo>
                  <a:pt x="0" y="1063354"/>
                </a:moveTo>
                <a:lnTo>
                  <a:pt x="0" y="0"/>
                </a:lnTo>
                <a:lnTo>
                  <a:pt x="1292915" y="0"/>
                </a:lnTo>
                <a:lnTo>
                  <a:pt x="2550215" y="1063354"/>
                </a:lnTo>
                <a:lnTo>
                  <a:pt x="0" y="1063354"/>
                </a:lnTo>
                <a:close/>
              </a:path>
            </a:pathLst>
          </a:custGeom>
          <a:gradFill>
            <a:gsLst>
              <a:gs pos="0">
                <a:schemeClr val="accent1">
                  <a:tint val="66000"/>
                  <a:satMod val="160000"/>
                  <a:alpha val="61000"/>
                </a:schemeClr>
              </a:gs>
              <a:gs pos="50000">
                <a:schemeClr val="accent1">
                  <a:tint val="44500"/>
                  <a:satMod val="160000"/>
                  <a:alpha val="55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676532" y="4503888"/>
            <a:ext cx="4039888" cy="400110"/>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29500+13750</a:t>
            </a:r>
            <a:r>
              <a:rPr lang="zh-CN"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en-US" altLang="zh-CN"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15/2=324375</a:t>
            </a:r>
            <a:endParaRPr lang="zh-CN" altLang="en-US" sz="2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07" name="梯形 1"/>
          <p:cNvSpPr/>
          <p:nvPr/>
        </p:nvSpPr>
        <p:spPr>
          <a:xfrm>
            <a:off x="5600000" y="2779356"/>
            <a:ext cx="1238599" cy="1004356"/>
          </a:xfrm>
          <a:custGeom>
            <a:avLst/>
            <a:gdLst>
              <a:gd name="connsiteX0" fmla="*/ 0 w 1292915"/>
              <a:gd name="connsiteY0" fmla="*/ 1063354 h 1063354"/>
              <a:gd name="connsiteX1" fmla="*/ 0 w 1292915"/>
              <a:gd name="connsiteY1" fmla="*/ 0 h 1063354"/>
              <a:gd name="connsiteX2" fmla="*/ 1292915 w 1292915"/>
              <a:gd name="connsiteY2" fmla="*/ 0 h 1063354"/>
              <a:gd name="connsiteX3" fmla="*/ 1292915 w 1292915"/>
              <a:gd name="connsiteY3" fmla="*/ 1063354 h 1063354"/>
              <a:gd name="connsiteX4" fmla="*/ 0 w 1292915"/>
              <a:gd name="connsiteY4" fmla="*/ 1063354 h 1063354"/>
              <a:gd name="connsiteX0-1" fmla="*/ 0 w 2550215"/>
              <a:gd name="connsiteY0-2" fmla="*/ 1063354 h 1063354"/>
              <a:gd name="connsiteX1-3" fmla="*/ 0 w 2550215"/>
              <a:gd name="connsiteY1-4" fmla="*/ 0 h 1063354"/>
              <a:gd name="connsiteX2-5" fmla="*/ 1292915 w 2550215"/>
              <a:gd name="connsiteY2-6" fmla="*/ 0 h 1063354"/>
              <a:gd name="connsiteX3-7" fmla="*/ 2550215 w 2550215"/>
              <a:gd name="connsiteY3-8" fmla="*/ 1063354 h 1063354"/>
              <a:gd name="connsiteX4-9" fmla="*/ 0 w 2550215"/>
              <a:gd name="connsiteY4-10" fmla="*/ 1063354 h 1063354"/>
              <a:gd name="connsiteX0-11" fmla="*/ 0 w 3029469"/>
              <a:gd name="connsiteY0-12" fmla="*/ 1063354 h 1063354"/>
              <a:gd name="connsiteX1-13" fmla="*/ 0 w 3029469"/>
              <a:gd name="connsiteY1-14" fmla="*/ 0 h 1063354"/>
              <a:gd name="connsiteX2-15" fmla="*/ 1292915 w 3029469"/>
              <a:gd name="connsiteY2-16" fmla="*/ 0 h 1063354"/>
              <a:gd name="connsiteX3-17" fmla="*/ 3029469 w 3029469"/>
              <a:gd name="connsiteY3-18" fmla="*/ 1063354 h 1063354"/>
              <a:gd name="connsiteX4-19" fmla="*/ 0 w 3029469"/>
              <a:gd name="connsiteY4-20" fmla="*/ 1063354 h 1063354"/>
              <a:gd name="connsiteX0-21" fmla="*/ 0 w 3029469"/>
              <a:gd name="connsiteY0-22" fmla="*/ 1063354 h 1063354"/>
              <a:gd name="connsiteX1-23" fmla="*/ 0 w 3029469"/>
              <a:gd name="connsiteY1-24" fmla="*/ 0 h 1063354"/>
              <a:gd name="connsiteX2-25" fmla="*/ 653912 w 3029469"/>
              <a:gd name="connsiteY2-26" fmla="*/ 69151 h 1063354"/>
              <a:gd name="connsiteX3-27" fmla="*/ 3029469 w 3029469"/>
              <a:gd name="connsiteY3-28" fmla="*/ 1063354 h 1063354"/>
              <a:gd name="connsiteX4-29" fmla="*/ 0 w 3029469"/>
              <a:gd name="connsiteY4-30" fmla="*/ 1063354 h 1063354"/>
              <a:gd name="connsiteX0-31" fmla="*/ 0 w 3029469"/>
              <a:gd name="connsiteY0-32" fmla="*/ 1063354 h 1063354"/>
              <a:gd name="connsiteX1-33" fmla="*/ 0 w 3029469"/>
              <a:gd name="connsiteY1-34" fmla="*/ 0 h 1063354"/>
              <a:gd name="connsiteX2-35" fmla="*/ 773726 w 3029469"/>
              <a:gd name="connsiteY2-36" fmla="*/ 51862 h 1063354"/>
              <a:gd name="connsiteX3-37" fmla="*/ 3029469 w 3029469"/>
              <a:gd name="connsiteY3-38" fmla="*/ 1063354 h 1063354"/>
              <a:gd name="connsiteX4-39" fmla="*/ 0 w 3029469"/>
              <a:gd name="connsiteY4-40" fmla="*/ 1063354 h 1063354"/>
              <a:gd name="connsiteX0-41" fmla="*/ 0 w 3029469"/>
              <a:gd name="connsiteY0-42" fmla="*/ 1080642 h 1080642"/>
              <a:gd name="connsiteX1-43" fmla="*/ 0 w 3029469"/>
              <a:gd name="connsiteY1-44" fmla="*/ 17288 h 1080642"/>
              <a:gd name="connsiteX2-45" fmla="*/ 733787 w 3029469"/>
              <a:gd name="connsiteY2-46" fmla="*/ 0 h 1080642"/>
              <a:gd name="connsiteX3-47" fmla="*/ 3029469 w 3029469"/>
              <a:gd name="connsiteY3-48" fmla="*/ 1080642 h 1080642"/>
              <a:gd name="connsiteX4-49" fmla="*/ 0 w 3029469"/>
              <a:gd name="connsiteY4-50" fmla="*/ 1080642 h 1080642"/>
              <a:gd name="connsiteX0-51" fmla="*/ 0 w 3029469"/>
              <a:gd name="connsiteY0-52" fmla="*/ 1063354 h 1063354"/>
              <a:gd name="connsiteX1-53" fmla="*/ 0 w 3029469"/>
              <a:gd name="connsiteY1-54" fmla="*/ 0 h 1063354"/>
              <a:gd name="connsiteX2-55" fmla="*/ 733787 w 3029469"/>
              <a:gd name="connsiteY2-56" fmla="*/ 51864 h 1063354"/>
              <a:gd name="connsiteX3-57" fmla="*/ 3029469 w 3029469"/>
              <a:gd name="connsiteY3-58" fmla="*/ 1063354 h 1063354"/>
              <a:gd name="connsiteX4-59" fmla="*/ 0 w 3029469"/>
              <a:gd name="connsiteY4-60" fmla="*/ 1063354 h 1063354"/>
              <a:gd name="connsiteX0-61" fmla="*/ 0 w 3029469"/>
              <a:gd name="connsiteY0-62" fmla="*/ 1080641 h 1080641"/>
              <a:gd name="connsiteX1-63" fmla="*/ 0 w 3029469"/>
              <a:gd name="connsiteY1-64" fmla="*/ 17287 h 1080641"/>
              <a:gd name="connsiteX2-65" fmla="*/ 733787 w 3029469"/>
              <a:gd name="connsiteY2-66" fmla="*/ 0 h 1080641"/>
              <a:gd name="connsiteX3-67" fmla="*/ 3029469 w 3029469"/>
              <a:gd name="connsiteY3-68" fmla="*/ 1080641 h 1080641"/>
              <a:gd name="connsiteX4-69" fmla="*/ 0 w 3029469"/>
              <a:gd name="connsiteY4-70" fmla="*/ 1080641 h 1080641"/>
              <a:gd name="connsiteX0-71" fmla="*/ 0 w 3029469"/>
              <a:gd name="connsiteY0-72" fmla="*/ 1063354 h 1063354"/>
              <a:gd name="connsiteX1-73" fmla="*/ 0 w 3029469"/>
              <a:gd name="connsiteY1-74" fmla="*/ 0 h 1063354"/>
              <a:gd name="connsiteX2-75" fmla="*/ 693851 w 3029469"/>
              <a:gd name="connsiteY2-76" fmla="*/ 34575 h 1063354"/>
              <a:gd name="connsiteX3-77" fmla="*/ 3029469 w 3029469"/>
              <a:gd name="connsiteY3-78" fmla="*/ 1063354 h 1063354"/>
              <a:gd name="connsiteX4-79" fmla="*/ 0 w 3029469"/>
              <a:gd name="connsiteY4-80" fmla="*/ 1063354 h 106335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9469" h="1063354">
                <a:moveTo>
                  <a:pt x="0" y="1063354"/>
                </a:moveTo>
                <a:lnTo>
                  <a:pt x="0" y="0"/>
                </a:lnTo>
                <a:lnTo>
                  <a:pt x="693851" y="34575"/>
                </a:lnTo>
                <a:lnTo>
                  <a:pt x="3029469" y="1063354"/>
                </a:lnTo>
                <a:lnTo>
                  <a:pt x="0" y="1063354"/>
                </a:lnTo>
                <a:close/>
              </a:path>
            </a:pathLst>
          </a:custGeom>
          <a:gradFill>
            <a:gsLst>
              <a:gs pos="0">
                <a:schemeClr val="accent3">
                  <a:lumMod val="75000"/>
                  <a:alpha val="69000"/>
                </a:schemeClr>
              </a:gs>
              <a:gs pos="100000">
                <a:schemeClr val="bg1">
                  <a:alpha val="7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4213" y="3286556"/>
            <a:ext cx="3890809" cy="400110"/>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000" b="1" spc="50" dirty="0">
                <a:ln w="11430"/>
                <a:solidFill>
                  <a:srgbClr val="6699FF"/>
                </a:solidFill>
                <a:effectLst>
                  <a:outerShdw blurRad="76200" dist="50800" dir="5400000" algn="tl" rotWithShape="0">
                    <a:srgbClr val="000000">
                      <a:alpha val="65000"/>
                    </a:srgbClr>
                  </a:outerShdw>
                </a:effectLst>
              </a:rPr>
              <a:t>（</a:t>
            </a:r>
            <a:r>
              <a:rPr lang="en-US" altLang="zh-CN" sz="2000" b="1" spc="50" dirty="0">
                <a:ln w="11430"/>
                <a:solidFill>
                  <a:srgbClr val="6699FF"/>
                </a:solidFill>
                <a:effectLst>
                  <a:outerShdw blurRad="76200" dist="50800" dir="5400000" algn="tl" rotWithShape="0">
                    <a:srgbClr val="000000">
                      <a:alpha val="65000"/>
                    </a:srgbClr>
                  </a:outerShdw>
                </a:effectLst>
              </a:rPr>
              <a:t>13750+2500</a:t>
            </a:r>
            <a:r>
              <a:rPr lang="zh-CN" altLang="en-US" sz="2000" b="1" spc="50" dirty="0">
                <a:ln w="11430"/>
                <a:solidFill>
                  <a:srgbClr val="6699FF"/>
                </a:solidFill>
                <a:effectLst>
                  <a:outerShdw blurRad="76200" dist="50800" dir="5400000" algn="tl" rotWithShape="0">
                    <a:srgbClr val="000000">
                      <a:alpha val="65000"/>
                    </a:srgbClr>
                  </a:outerShdw>
                </a:effectLst>
              </a:rPr>
              <a:t>）*</a:t>
            </a:r>
            <a:r>
              <a:rPr lang="en-US" altLang="zh-CN" sz="2000" b="1" spc="50" dirty="0">
                <a:ln w="11430"/>
                <a:solidFill>
                  <a:srgbClr val="6699FF"/>
                </a:solidFill>
                <a:effectLst>
                  <a:outerShdw blurRad="76200" dist="50800" dir="5400000" algn="tl" rotWithShape="0">
                    <a:srgbClr val="000000">
                      <a:alpha val="65000"/>
                    </a:srgbClr>
                  </a:outerShdw>
                </a:effectLst>
              </a:rPr>
              <a:t>15/2=121875</a:t>
            </a:r>
            <a:endParaRPr lang="zh-CN" altLang="en-US" sz="2000" b="1" spc="50" dirty="0">
              <a:ln w="11430"/>
              <a:solidFill>
                <a:srgbClr val="6699FF"/>
              </a:solidFill>
              <a:effectLst>
                <a:outerShdw blurRad="76200" dist="50800" dir="5400000" algn="tl" rotWithShape="0">
                  <a:srgbClr val="000000">
                    <a:alpha val="65000"/>
                  </a:srgbClr>
                </a:outerShdw>
              </a:effectLst>
            </a:endParaRPr>
          </a:p>
        </p:txBody>
      </p:sp>
      <p:sp>
        <p:nvSpPr>
          <p:cNvPr id="5" name="直角三角形 4"/>
          <p:cNvSpPr/>
          <p:nvPr/>
        </p:nvSpPr>
        <p:spPr>
          <a:xfrm>
            <a:off x="5616794" y="1989577"/>
            <a:ext cx="214898" cy="803341"/>
          </a:xfrm>
          <a:prstGeom prst="rtTriangle">
            <a:avLst/>
          </a:prstGeom>
          <a:gradFill>
            <a:gsLst>
              <a:gs pos="72000">
                <a:schemeClr val="accent2">
                  <a:lumMod val="75000"/>
                  <a:alpha val="50000"/>
                </a:schemeClr>
              </a:gs>
              <a:gs pos="100000">
                <a:schemeClr val="bg1">
                  <a:alpha val="67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902735" y="2169943"/>
            <a:ext cx="2311851" cy="400110"/>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altLang="zh-CN" sz="2000" b="1" spc="50" dirty="0">
                <a:ln w="11430"/>
                <a:solidFill>
                  <a:schemeClr val="accent4">
                    <a:lumMod val="75000"/>
                  </a:schemeClr>
                </a:solidFill>
                <a:effectLst>
                  <a:outerShdw blurRad="76200" dist="50800" dir="5400000" algn="tl" rotWithShape="0">
                    <a:srgbClr val="000000">
                      <a:alpha val="65000"/>
                    </a:srgbClr>
                  </a:outerShdw>
                </a:effectLst>
              </a:rPr>
              <a:t>2500*10/2=12500</a:t>
            </a:r>
            <a:endParaRPr lang="zh-CN" altLang="en-US" sz="2000" b="1" spc="50" dirty="0">
              <a:ln w="11430"/>
              <a:solidFill>
                <a:schemeClr val="accent4">
                  <a:lumMod val="75000"/>
                </a:schemeClr>
              </a:solidFill>
              <a:effectLst>
                <a:outerShdw blurRad="76200" dist="50800" dir="5400000" algn="tl" rotWithShape="0">
                  <a:srgbClr val="000000">
                    <a:alpha val="65000"/>
                  </a:srgbClr>
                </a:outerShdw>
              </a:effectLst>
            </a:endParaRPr>
          </a:p>
        </p:txBody>
      </p:sp>
      <p:sp>
        <p:nvSpPr>
          <p:cNvPr id="12" name="TextBox 11"/>
          <p:cNvSpPr txBox="1"/>
          <p:nvPr/>
        </p:nvSpPr>
        <p:spPr>
          <a:xfrm>
            <a:off x="2514375" y="2716537"/>
            <a:ext cx="364202" cy="461665"/>
          </a:xfrm>
          <a:prstGeom prst="rect">
            <a:avLst/>
          </a:prstGeom>
          <a:noFill/>
        </p:spPr>
        <p:txBody>
          <a:bodyPr wrap="none" rtlCol="0">
            <a:spAutoFit/>
          </a:bodyPr>
          <a:lstStyle/>
          <a:p>
            <a:r>
              <a:rPr lang="en-US" altLang="zh-CN" sz="2400" dirty="0"/>
              <a:t>+</a:t>
            </a:r>
            <a:endParaRPr lang="zh-CN" altLang="en-US" sz="2400" dirty="0"/>
          </a:p>
        </p:txBody>
      </p:sp>
      <p:sp>
        <p:nvSpPr>
          <p:cNvPr id="112" name="TextBox 111"/>
          <p:cNvSpPr txBox="1"/>
          <p:nvPr/>
        </p:nvSpPr>
        <p:spPr>
          <a:xfrm>
            <a:off x="3032485" y="3955644"/>
            <a:ext cx="364202" cy="461665"/>
          </a:xfrm>
          <a:prstGeom prst="rect">
            <a:avLst/>
          </a:prstGeom>
          <a:noFill/>
        </p:spPr>
        <p:txBody>
          <a:bodyPr wrap="none" rtlCol="0">
            <a:spAutoFit/>
          </a:bodyPr>
          <a:lstStyle/>
          <a:p>
            <a:r>
              <a:rPr lang="en-US" altLang="zh-CN" sz="2400" dirty="0"/>
              <a:t>+</a:t>
            </a:r>
            <a:endParaRPr lang="zh-CN" altLang="en-US" sz="2400" dirty="0"/>
          </a:p>
        </p:txBody>
      </p:sp>
      <p:sp>
        <p:nvSpPr>
          <p:cNvPr id="13" name="TextBox 12"/>
          <p:cNvSpPr txBox="1"/>
          <p:nvPr/>
        </p:nvSpPr>
        <p:spPr>
          <a:xfrm>
            <a:off x="2959043" y="5495471"/>
            <a:ext cx="1596912" cy="523220"/>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altLang="zh-CN"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=458750</a:t>
            </a:r>
            <a:endParaRPr lang="zh-CN" alt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wipe(down)">
                                      <p:cBhvr>
                                        <p:cTn id="16" dur="500"/>
                                        <p:tgtEl>
                                          <p:spTgt spid="10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00"/>
                                        <p:tgtEl>
                                          <p:spTgt spid="5"/>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grpId="1" nodeType="clickEffect">
                                  <p:stCondLst>
                                    <p:cond delay="0"/>
                                  </p:stCondLst>
                                  <p:childTnLst>
                                    <p:animScale>
                                      <p:cBhvr>
                                        <p:cTn id="44" dur="2000" fill="hold"/>
                                        <p:tgtEl>
                                          <p:spTgt spid="1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107" grpId="0" animBg="1"/>
      <p:bldP spid="4" grpId="0"/>
      <p:bldP spid="5" grpId="0" animBg="1"/>
      <p:bldP spid="7" grpId="0"/>
      <p:bldP spid="12" grpId="0"/>
      <p:bldP spid="112" grpId="0"/>
      <p:bldP spid="13" grpId="0"/>
      <p:bldP spid="13"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上述方法依赖于对总人口的参与率的估计</a:t>
            </a:r>
            <a:endParaRPr lang="en-US" altLang="zh-CN" dirty="0"/>
          </a:p>
          <a:p>
            <a:pPr lvl="1"/>
            <a:r>
              <a:rPr lang="zh-CN" altLang="en-US" dirty="0"/>
              <a:t>因此在哪些人口众多、游乐选择余地较广的地区则显得不太可靠</a:t>
            </a:r>
            <a:endParaRPr lang="en-US" altLang="zh-CN" dirty="0"/>
          </a:p>
          <a:p>
            <a:pPr lvl="1"/>
            <a:r>
              <a:rPr lang="zh-CN" altLang="en-US"/>
              <a:t>其它方法：通过收入分类、通过教育程度、年龄、家庭环境等可能影响游乐者支付意愿的其它因素进行分类</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区别游乐者不同支付意愿的其它技术</a:t>
            </a:r>
            <a:endParaRPr lang="en-US" altLang="zh-CN" dirty="0"/>
          </a:p>
          <a:p>
            <a:pPr lvl="1"/>
            <a:r>
              <a:rPr lang="zh-CN" altLang="en-US" dirty="0"/>
              <a:t>如：用收入来对人们进行分类</a:t>
            </a:r>
            <a:endParaRPr lang="en-US" altLang="zh-CN" dirty="0"/>
          </a:p>
          <a:p>
            <a:pPr lvl="1"/>
            <a:r>
              <a:rPr lang="zh-CN" altLang="en-US" dirty="0"/>
              <a:t>假设相近收入水平的游乐者支付意愿相似</a:t>
            </a:r>
            <a:endParaRPr lang="en-US" altLang="zh-CN" dirty="0"/>
          </a:p>
          <a:p>
            <a:pPr lvl="1"/>
            <a:r>
              <a:rPr lang="zh-CN" altLang="en-US" dirty="0"/>
              <a:t>在每个收入阶层中，用发生的固定成本对他们进行分类</a:t>
            </a:r>
            <a:endParaRPr lang="en-US" altLang="zh-CN" dirty="0"/>
          </a:p>
          <a:p>
            <a:pPr lvl="1"/>
            <a:r>
              <a:rPr lang="zh-CN" altLang="en-US" dirty="0"/>
              <a:t>假定付出最高固定成本的人位于或接近边际</a:t>
            </a:r>
            <a:endParaRPr lang="en-US" altLang="zh-CN" dirty="0"/>
          </a:p>
          <a:p>
            <a:pPr lvl="1"/>
            <a:r>
              <a:rPr lang="zh-CN" altLang="en-US" dirty="0"/>
              <a:t>每个游乐者所享受的消费者剩余就等于他的固定成本和位于同一收入阶层的边际游乐者的固定成本的差额</a:t>
            </a:r>
            <a:endParaRPr lang="en-US" altLang="zh-CN" dirty="0"/>
          </a:p>
          <a:p>
            <a:pPr lvl="1"/>
            <a:r>
              <a:rPr lang="zh-CN" altLang="en-US" dirty="0"/>
              <a:t>通过这种方法，人们可以获得某一特定价格下对某一游乐设施的参观人数，从而得到需求曲线</a:t>
            </a:r>
            <a:endParaRPr lang="en-US" altLang="zh-CN" dirty="0"/>
          </a:p>
          <a:p>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3200" dirty="0"/>
              <a:t>特征法（享乐法）</a:t>
            </a:r>
            <a:r>
              <a:rPr lang="en-US" altLang="zh-CN" sz="3200" dirty="0"/>
              <a:t>The Hedonic Method </a:t>
            </a:r>
            <a:endParaRPr lang="zh-CN" altLang="en-US" sz="3200" dirty="0"/>
          </a:p>
        </p:txBody>
      </p:sp>
      <p:sp>
        <p:nvSpPr>
          <p:cNvPr id="4" name="内容占位符 3"/>
          <p:cNvSpPr>
            <a:spLocks noGrp="1"/>
          </p:cNvSpPr>
          <p:nvPr>
            <p:ph idx="1"/>
          </p:nvPr>
        </p:nvSpPr>
        <p:spPr/>
        <p:txBody>
          <a:bodyPr/>
          <a:lstStyle/>
          <a:p>
            <a:r>
              <a:rPr lang="en-US" altLang="zh-CN" dirty="0"/>
              <a:t>The hedonic method use information about the characteristics of a variety of sites to estimate the value that recreationists ascribe to them</a:t>
            </a:r>
            <a:endParaRPr lang="en-US" altLang="zh-CN" dirty="0"/>
          </a:p>
          <a:p>
            <a:r>
              <a:rPr lang="zh-CN" altLang="en-US" dirty="0"/>
              <a:t>并非孤立评价一个游乐地资源的价值，而是根据各种地点特征的有关信息来进行估计</a:t>
            </a: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根据游乐者对不同地点的选择的观察，来估计其潜在价格或一定组成特征的价值</a:t>
            </a:r>
            <a:endParaRPr lang="en-US" altLang="zh-CN" dirty="0"/>
          </a:p>
          <a:p>
            <a:pPr lvl="1"/>
            <a:r>
              <a:rPr lang="zh-CN" altLang="en-US" dirty="0"/>
              <a:t>包括：</a:t>
            </a:r>
            <a:r>
              <a:rPr lang="en-US" altLang="zh-CN" dirty="0"/>
              <a:t>1</a:t>
            </a:r>
            <a:r>
              <a:rPr lang="zh-CN" altLang="en-US" dirty="0"/>
              <a:t>、参观人数；</a:t>
            </a:r>
            <a:r>
              <a:rPr lang="en-US" altLang="zh-CN" dirty="0"/>
              <a:t>2</a:t>
            </a:r>
            <a:r>
              <a:rPr lang="zh-CN" altLang="en-US" dirty="0"/>
              <a:t>、游乐天数；</a:t>
            </a:r>
            <a:r>
              <a:rPr lang="en-US" altLang="zh-CN" dirty="0"/>
              <a:t>3</a:t>
            </a:r>
            <a:r>
              <a:rPr lang="zh-CN" altLang="en-US" dirty="0"/>
              <a:t>、旅行支出</a:t>
            </a:r>
            <a:endParaRPr lang="zh-CN" altLang="en-US" dirty="0"/>
          </a:p>
          <a:p>
            <a:r>
              <a:rPr lang="zh-CN" altLang="en-US" dirty="0"/>
              <a:t>计算每个特征的“影子价格”</a:t>
            </a:r>
            <a:endParaRPr lang="en-US" altLang="zh-CN" dirty="0"/>
          </a:p>
          <a:p>
            <a:pPr lvl="1"/>
            <a:r>
              <a:rPr lang="zh-CN" altLang="en-US" dirty="0"/>
              <a:t>把参观各个不同游乐地点的消费者所支出的费用，对不同地点特征进行回归</a:t>
            </a:r>
            <a:endParaRPr lang="en-US" altLang="zh-CN" dirty="0"/>
          </a:p>
          <a:p>
            <a:r>
              <a:rPr lang="zh-CN" altLang="en-US" dirty="0"/>
              <a:t>该值就是游乐者对每个特征的支付意愿的估计值</a:t>
            </a:r>
            <a:endParaRPr lang="en-US" altLang="zh-CN" dirty="0"/>
          </a:p>
          <a:p>
            <a:r>
              <a:rPr lang="zh-CN" altLang="en-US" dirty="0"/>
              <a:t>任何特定地点都可以用它的质量特征来加以评价</a:t>
            </a:r>
            <a:endParaRPr lang="en-US" altLang="zh-CN" dirty="0"/>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052736"/>
            <a:ext cx="7772400" cy="5544616"/>
          </a:xfrm>
        </p:spPr>
        <p:txBody>
          <a:bodyPr/>
          <a:lstStyle/>
          <a:p>
            <a:r>
              <a:rPr lang="en-US" altLang="zh-CN" dirty="0"/>
              <a:t>1</a:t>
            </a:r>
            <a:r>
              <a:rPr lang="zh-CN" altLang="en-US" dirty="0"/>
              <a:t>、寻找参照物：东湖、西湖、东西湖</a:t>
            </a:r>
            <a:r>
              <a:rPr lang="en-US" altLang="zh-CN" dirty="0"/>
              <a:t>……</a:t>
            </a:r>
            <a:br>
              <a:rPr lang="en-US" altLang="zh-CN" dirty="0"/>
            </a:br>
            <a:r>
              <a:rPr lang="en-US" altLang="zh-CN" dirty="0"/>
              <a:t>2</a:t>
            </a:r>
            <a:r>
              <a:rPr lang="zh-CN" altLang="en-US" dirty="0"/>
              <a:t>、分解特征：湖面大小、水质、知名度</a:t>
            </a:r>
            <a:r>
              <a:rPr lang="en-US" altLang="zh-CN" dirty="0"/>
              <a:t>……</a:t>
            </a:r>
            <a:br>
              <a:rPr lang="en-US" altLang="zh-CN" dirty="0"/>
            </a:br>
            <a:r>
              <a:rPr lang="en-US" altLang="zh-CN" dirty="0"/>
              <a:t>3</a:t>
            </a:r>
            <a:r>
              <a:rPr lang="zh-CN" altLang="en-US" dirty="0"/>
              <a:t>、回归分析，求解各个特征对消费者花费金钱的影响程度大小</a:t>
            </a:r>
            <a:br>
              <a:rPr lang="en-US" altLang="zh-CN" dirty="0"/>
            </a:br>
            <a:r>
              <a:rPr lang="en-US" altLang="zh-CN" dirty="0"/>
              <a:t>4</a:t>
            </a:r>
            <a:r>
              <a:rPr lang="zh-CN" altLang="en-US" dirty="0"/>
              <a:t>、将晓南湖的特征变量代入模型中，求解消费者愿意为其花费的平均费用</a:t>
            </a:r>
            <a:endParaRPr lang="zh-CN" altLang="en-US" dirty="0"/>
          </a:p>
        </p:txBody>
      </p:sp>
      <p:sp>
        <p:nvSpPr>
          <p:cNvPr id="3" name="文本占位符 2"/>
          <p:cNvSpPr>
            <a:spLocks noGrp="1"/>
          </p:cNvSpPr>
          <p:nvPr>
            <p:ph type="body" idx="1"/>
          </p:nvPr>
        </p:nvSpPr>
        <p:spPr>
          <a:xfrm>
            <a:off x="1331640" y="260648"/>
            <a:ext cx="7772400" cy="792089"/>
          </a:xfrm>
        </p:spPr>
        <p:txBody>
          <a:bodyPr/>
          <a:lstStyle/>
          <a:p>
            <a:r>
              <a:rPr lang="zh-CN" altLang="en-US" sz="4000" dirty="0"/>
              <a:t>如何用特征法计算晓南湖的价值？</a:t>
            </a:r>
            <a:endParaRPr lang="zh-CN" altLang="en-US" sz="4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特征法的优点和困难</a:t>
            </a:r>
            <a:endParaRPr lang="zh-CN" altLang="en-US" dirty="0"/>
          </a:p>
        </p:txBody>
      </p:sp>
      <p:sp>
        <p:nvSpPr>
          <p:cNvPr id="6" name="文本占位符 5"/>
          <p:cNvSpPr>
            <a:spLocks noGrp="1"/>
          </p:cNvSpPr>
          <p:nvPr>
            <p:ph type="body" idx="1"/>
          </p:nvPr>
        </p:nvSpPr>
        <p:spPr/>
        <p:txBody>
          <a:bodyPr/>
          <a:lstStyle/>
          <a:p>
            <a:r>
              <a:rPr lang="zh-CN" altLang="en-US" dirty="0"/>
              <a:t>优点</a:t>
            </a:r>
            <a:endParaRPr lang="zh-CN" altLang="en-US" dirty="0"/>
          </a:p>
        </p:txBody>
      </p:sp>
      <p:sp>
        <p:nvSpPr>
          <p:cNvPr id="7" name="内容占位符 6"/>
          <p:cNvSpPr>
            <a:spLocks noGrp="1"/>
          </p:cNvSpPr>
          <p:nvPr>
            <p:ph sz="half" idx="2"/>
          </p:nvPr>
        </p:nvSpPr>
        <p:spPr/>
        <p:txBody>
          <a:bodyPr/>
          <a:lstStyle/>
          <a:p>
            <a:r>
              <a:rPr lang="zh-CN" altLang="en-US" dirty="0"/>
              <a:t>对游乐机会质量特征的认识</a:t>
            </a:r>
            <a:endParaRPr lang="en-US" altLang="zh-CN" dirty="0"/>
          </a:p>
          <a:p>
            <a:r>
              <a:rPr lang="zh-CN" altLang="en-US" dirty="0"/>
              <a:t>在这些特征基础上解释不同地点价值差异的能力</a:t>
            </a:r>
            <a:endParaRPr lang="zh-CN" altLang="en-US" dirty="0"/>
          </a:p>
        </p:txBody>
      </p:sp>
      <p:sp>
        <p:nvSpPr>
          <p:cNvPr id="8" name="文本占位符 7"/>
          <p:cNvSpPr>
            <a:spLocks noGrp="1"/>
          </p:cNvSpPr>
          <p:nvPr>
            <p:ph type="body" sz="quarter" idx="3"/>
          </p:nvPr>
        </p:nvSpPr>
        <p:spPr/>
        <p:txBody>
          <a:bodyPr/>
          <a:lstStyle/>
          <a:p>
            <a:r>
              <a:rPr lang="zh-CN" altLang="en-US" dirty="0"/>
              <a:t>困难</a:t>
            </a:r>
            <a:endParaRPr lang="zh-CN" altLang="en-US" dirty="0"/>
          </a:p>
        </p:txBody>
      </p:sp>
      <p:sp>
        <p:nvSpPr>
          <p:cNvPr id="9" name="内容占位符 8"/>
          <p:cNvSpPr>
            <a:spLocks noGrp="1"/>
          </p:cNvSpPr>
          <p:nvPr>
            <p:ph sz="quarter" idx="4"/>
          </p:nvPr>
        </p:nvSpPr>
        <p:spPr/>
        <p:txBody>
          <a:bodyPr/>
          <a:lstStyle/>
          <a:p>
            <a:r>
              <a:rPr lang="zh-CN" altLang="en-US" dirty="0"/>
              <a:t>旅游者的目标并非单一</a:t>
            </a:r>
            <a:endParaRPr lang="en-US" altLang="zh-CN" dirty="0"/>
          </a:p>
          <a:p>
            <a:pPr lvl="1"/>
            <a:r>
              <a:rPr lang="zh-CN" altLang="en-US" dirty="0"/>
              <a:t>如果在很长的旅游活动中偶然造访某地点，将所有旅行费用归结于该地点的价值并不合适</a:t>
            </a:r>
            <a:endParaRPr lang="en-US" altLang="zh-CN" dirty="0"/>
          </a:p>
          <a:p>
            <a:pPr lvl="1"/>
            <a:r>
              <a:rPr lang="zh-CN" altLang="en-US" dirty="0"/>
              <a:t>在多用途情况下，需将成本进行适当分配</a:t>
            </a:r>
            <a:endParaRPr lang="en-US" altLang="zh-CN" dirty="0"/>
          </a:p>
          <a:p>
            <a:r>
              <a:rPr lang="zh-CN" altLang="en-US" dirty="0"/>
              <a:t>未能考虑时间成本支出</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Expenditure-Based Methods</a:t>
            </a:r>
            <a:endParaRPr lang="zh-CN" altLang="en-US" sz="4000" dirty="0"/>
          </a:p>
        </p:txBody>
      </p:sp>
      <p:sp>
        <p:nvSpPr>
          <p:cNvPr id="3" name="内容占位符 2"/>
          <p:cNvSpPr>
            <a:spLocks noGrp="1"/>
          </p:cNvSpPr>
          <p:nvPr>
            <p:ph type="body" idx="1"/>
          </p:nvPr>
        </p:nvSpPr>
        <p:spPr>
          <a:xfrm>
            <a:off x="1043608" y="332656"/>
            <a:ext cx="7772400" cy="2724323"/>
          </a:xfrm>
        </p:spPr>
        <p:txBody>
          <a:bodyPr/>
          <a:lstStyle/>
          <a:p>
            <a:r>
              <a:rPr lang="zh-CN" altLang="en-US" sz="4000" dirty="0"/>
              <a:t>基于费用支出的方法</a:t>
            </a:r>
            <a:endParaRPr lang="en-US" altLang="zh-CN" sz="4000" dirty="0"/>
          </a:p>
          <a:p>
            <a:r>
              <a:rPr lang="zh-CN" altLang="en-US" sz="4000" dirty="0"/>
              <a:t>用重新建设该设施或场所所需要的成本估算来代替其价值估算</a:t>
            </a:r>
            <a:endParaRPr lang="en-US" altLang="zh-CN" sz="4000" dirty="0"/>
          </a:p>
          <a:p>
            <a:pPr marL="457200" lvl="1" indent="0">
              <a:buNone/>
            </a:pPr>
            <a:endParaRPr lang="zh-CN" alt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三种成本的估计方法</a:t>
            </a:r>
            <a:endParaRPr lang="zh-CN" altLang="en-US" dirty="0"/>
          </a:p>
        </p:txBody>
      </p:sp>
      <p:sp>
        <p:nvSpPr>
          <p:cNvPr id="3" name="内容占位符 2"/>
          <p:cNvSpPr>
            <a:spLocks noGrp="1"/>
          </p:cNvSpPr>
          <p:nvPr>
            <p:ph idx="1"/>
          </p:nvPr>
        </p:nvSpPr>
        <p:spPr>
          <a:xfrm>
            <a:off x="467544" y="1052736"/>
            <a:ext cx="8280920" cy="5544616"/>
          </a:xfrm>
        </p:spPr>
        <p:txBody>
          <a:bodyPr/>
          <a:lstStyle/>
          <a:p>
            <a:r>
              <a:rPr lang="en-US" altLang="zh-CN" dirty="0"/>
              <a:t>Replacement cost</a:t>
            </a:r>
            <a:endParaRPr lang="en-US" altLang="zh-CN" dirty="0"/>
          </a:p>
          <a:p>
            <a:pPr lvl="1"/>
            <a:r>
              <a:rPr lang="zh-CN" altLang="en-US" dirty="0"/>
              <a:t>重置成本</a:t>
            </a:r>
            <a:endParaRPr lang="en-US" altLang="zh-CN" dirty="0"/>
          </a:p>
          <a:p>
            <a:pPr lvl="1"/>
            <a:r>
              <a:rPr lang="zh-CN" altLang="en-US" dirty="0"/>
              <a:t>对于已经失去或即将失去的某项设施的重建成本</a:t>
            </a:r>
            <a:endParaRPr lang="en-US" altLang="zh-CN" dirty="0"/>
          </a:p>
          <a:p>
            <a:r>
              <a:rPr lang="en-US" altLang="zh-CN" dirty="0"/>
              <a:t>Damage avoided cost</a:t>
            </a:r>
            <a:endParaRPr lang="en-US" altLang="zh-CN" dirty="0"/>
          </a:p>
          <a:p>
            <a:pPr lvl="1"/>
            <a:r>
              <a:rPr lang="zh-CN" altLang="en-US" dirty="0"/>
              <a:t>损失避免成本</a:t>
            </a:r>
            <a:endParaRPr lang="en-US" altLang="zh-CN" dirty="0"/>
          </a:p>
          <a:p>
            <a:pPr lvl="1"/>
            <a:r>
              <a:rPr lang="zh-CN" altLang="en-US" dirty="0"/>
              <a:t>避免已经发生的、或即将发生的损失而愿意支付的费用</a:t>
            </a:r>
            <a:endParaRPr lang="en-US" altLang="zh-CN" dirty="0"/>
          </a:p>
          <a:p>
            <a:r>
              <a:rPr lang="en-US" altLang="zh-CN" dirty="0"/>
              <a:t>Substitute cost</a:t>
            </a:r>
            <a:endParaRPr lang="en-US" altLang="zh-CN" dirty="0"/>
          </a:p>
          <a:p>
            <a:pPr lvl="1"/>
            <a:r>
              <a:rPr lang="zh-CN" altLang="en-US" dirty="0"/>
              <a:t>替代品成本</a:t>
            </a:r>
            <a:endParaRPr lang="en-US" altLang="zh-CN" dirty="0"/>
          </a:p>
          <a:p>
            <a:pPr lvl="1"/>
            <a:r>
              <a:rPr lang="zh-CN" altLang="en-US" dirty="0"/>
              <a:t>能够提供同样效用的替代设施的成本</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成本</a:t>
            </a:r>
            <a:r>
              <a:rPr lang="en-US" altLang="zh-CN" dirty="0"/>
              <a:t>-</a:t>
            </a:r>
            <a:r>
              <a:rPr lang="zh-CN" altLang="en-US" dirty="0"/>
              <a:t>有效性分析</a:t>
            </a:r>
            <a:endParaRPr lang="zh-CN" altLang="en-US" dirty="0"/>
          </a:p>
        </p:txBody>
      </p:sp>
      <p:sp>
        <p:nvSpPr>
          <p:cNvPr id="3" name="文本占位符 2"/>
          <p:cNvSpPr>
            <a:spLocks noGrp="1"/>
          </p:cNvSpPr>
          <p:nvPr>
            <p:ph type="body" idx="1"/>
          </p:nvPr>
        </p:nvSpPr>
        <p:spPr/>
        <p:txBody>
          <a:bodyPr/>
          <a:lstStyle/>
          <a:p>
            <a:r>
              <a:rPr lang="en-US" altLang="zh-CN" dirty="0"/>
              <a:t>Cost-Effectiveness Analysis</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The expenditure-based methods are closely related to another concept in benefit/cost analysis</a:t>
            </a:r>
            <a:r>
              <a:rPr lang="zh-CN" altLang="en-US" dirty="0"/>
              <a:t>：</a:t>
            </a:r>
            <a:r>
              <a:rPr lang="en-US" altLang="zh-CN" dirty="0"/>
              <a:t>cost-effectiveness</a:t>
            </a:r>
            <a:endParaRPr lang="en-US" altLang="zh-CN" dirty="0"/>
          </a:p>
          <a:p>
            <a:r>
              <a:rPr lang="zh-CN" altLang="en-US" dirty="0"/>
              <a:t>基于费用的方法与成本</a:t>
            </a:r>
            <a:r>
              <a:rPr lang="en-US" altLang="zh-CN" dirty="0"/>
              <a:t>-</a:t>
            </a:r>
            <a:r>
              <a:rPr lang="zh-CN" altLang="en-US" dirty="0"/>
              <a:t>有效性分析（或成本</a:t>
            </a:r>
            <a:r>
              <a:rPr lang="en-US" altLang="zh-CN" dirty="0"/>
              <a:t>-</a:t>
            </a:r>
            <a:r>
              <a:rPr lang="zh-CN" altLang="en-US" dirty="0"/>
              <a:t>效果分析）非常相近</a:t>
            </a:r>
            <a:endParaRPr lang="en-US" altLang="zh-CN" dirty="0"/>
          </a:p>
          <a:p>
            <a:r>
              <a:rPr lang="zh-CN" altLang="en-US" dirty="0"/>
              <a:t>在某些情况下，比较提供某种收益的不同途径的成本就足够了，而不用去考虑无价格的效益</a:t>
            </a:r>
            <a:endParaRPr lang="en-US" altLang="zh-CN" dirty="0"/>
          </a:p>
          <a:p>
            <a:r>
              <a:rPr lang="zh-CN" altLang="en-US" dirty="0"/>
              <a:t>这是一种为实现事先决定的森林管理目标，而保证其目标一致的有效性的有用技术</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四、在评价游憩资源时需要考虑的其它问题</a:t>
            </a:r>
            <a:endParaRPr lang="zh-CN" altLang="en-US" dirty="0"/>
          </a:p>
        </p:txBody>
      </p:sp>
      <p:sp>
        <p:nvSpPr>
          <p:cNvPr id="5" name="文本占位符 4"/>
          <p:cNvSpPr>
            <a:spLocks noGrp="1"/>
          </p:cNvSpPr>
          <p:nvPr>
            <p:ph type="body" idx="1"/>
          </p:nvPr>
        </p:nvSpPr>
        <p:spPr/>
        <p:txBody>
          <a:bodyPr/>
          <a:lstStyle/>
          <a:p>
            <a:r>
              <a:rPr lang="en-US" altLang="zh-CN" sz="4000" dirty="0"/>
              <a:t>Other Considerations in Valuing Recreational Resources</a:t>
            </a:r>
            <a:endParaRPr lang="en-US" altLang="zh-CN" sz="4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对人类不具有直接效益的森林效益</a:t>
            </a:r>
            <a:endParaRPr lang="zh-CN" altLang="en-US" sz="4000" dirty="0"/>
          </a:p>
        </p:txBody>
      </p:sp>
      <p:sp>
        <p:nvSpPr>
          <p:cNvPr id="3" name="内容占位符 2"/>
          <p:cNvSpPr>
            <a:spLocks noGrp="1"/>
          </p:cNvSpPr>
          <p:nvPr>
            <p:ph idx="1"/>
          </p:nvPr>
        </p:nvSpPr>
        <p:spPr/>
        <p:txBody>
          <a:bodyPr/>
          <a:lstStyle/>
          <a:p>
            <a:r>
              <a:rPr lang="zh-CN" altLang="en-US" dirty="0"/>
              <a:t>野生动物、美学、生物多样性、自然环境质量</a:t>
            </a:r>
            <a:r>
              <a:rPr lang="en-US" altLang="zh-CN" dirty="0"/>
              <a:t>……</a:t>
            </a:r>
            <a:endParaRPr lang="en-US" altLang="zh-CN" dirty="0"/>
          </a:p>
          <a:p>
            <a:r>
              <a:rPr lang="zh-CN" altLang="en-US" dirty="0"/>
              <a:t>将这些价值作为游憩地最终游乐价值的中间产品</a:t>
            </a:r>
            <a:endParaRPr lang="en-US" altLang="zh-CN" dirty="0"/>
          </a:p>
          <a:p>
            <a:pPr lvl="1"/>
            <a:r>
              <a:rPr lang="zh-CN" altLang="en-US" dirty="0"/>
              <a:t>垂钓者的最终目的不是收获钓到的鱼，而是享受垂钓的乐趣</a:t>
            </a:r>
            <a:endParaRPr lang="en-US" altLang="zh-CN" dirty="0"/>
          </a:p>
          <a:p>
            <a:pPr lvl="1"/>
            <a:r>
              <a:rPr lang="zh-CN" altLang="en-US" dirty="0"/>
              <a:t>不能仅仅使用所收获到的中间产品（如钓到的鱼）的价值来评价游憩地的游乐价值</a:t>
            </a:r>
            <a:endParaRPr lang="en-US" altLang="zh-CN" dirty="0"/>
          </a:p>
          <a:p>
            <a:r>
              <a:rPr lang="zh-CN" altLang="en-US" dirty="0"/>
              <a:t>增加上述中间产品，可以提高游乐活动质量、吸引更多游乐者、增加消费者剩余</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lh5.ggpht.com/_OxmTSmnF2L8/TZJ73hOEZTI/AAAAAAAAE7A/1zqZb4Dfsns/w1024/%E6%91%84%E5%BD%B1.jpg"/>
          <p:cNvPicPr>
            <a:picLocks noChangeAspect="1" noChangeArrowheads="1"/>
          </p:cNvPicPr>
          <p:nvPr/>
        </p:nvPicPr>
        <p:blipFill rotWithShape="1">
          <a:blip r:embed="rId1" cstate="screen"/>
          <a:srcRect/>
          <a:stretch>
            <a:fillRect/>
          </a:stretch>
        </p:blipFill>
        <p:spPr bwMode="auto">
          <a:xfrm>
            <a:off x="971600" y="1598421"/>
            <a:ext cx="7244862" cy="4391797"/>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标题 1"/>
          <p:cNvSpPr>
            <a:spLocks noGrp="1"/>
          </p:cNvSpPr>
          <p:nvPr>
            <p:ph type="title"/>
          </p:nvPr>
        </p:nvSpPr>
        <p:spPr/>
        <p:txBody>
          <a:bodyPr/>
          <a:lstStyle/>
          <a:p>
            <a:r>
              <a:rPr lang="zh-CN" altLang="en-US" sz="4400" dirty="0"/>
              <a:t>游乐设施容量、质量和拥挤现象</a:t>
            </a:r>
            <a:endParaRPr lang="zh-CN" altLang="en-US" sz="4400" dirty="0"/>
          </a:p>
        </p:txBody>
      </p:sp>
      <p:pic>
        <p:nvPicPr>
          <p:cNvPr id="1026" name="Picture 2" descr="http://upload.lifeweek.com.cn/2012/1017/1350454327698.jpg?4.702135364742235?2.233258371551644"/>
          <p:cNvPicPr>
            <a:picLocks noChangeAspect="1" noChangeArrowheads="1"/>
          </p:cNvPicPr>
          <p:nvPr/>
        </p:nvPicPr>
        <p:blipFill>
          <a:blip r:embed="rId2"/>
          <a:srcRect/>
          <a:stretch>
            <a:fillRect/>
          </a:stretch>
        </p:blipFill>
        <p:spPr bwMode="auto">
          <a:xfrm rot="214278">
            <a:off x="3518663" y="992977"/>
            <a:ext cx="4991350" cy="3327566"/>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pic>
        <p:nvPicPr>
          <p:cNvPr id="1028" name="Picture 4" descr="http://s13.sinaimg.cn/middle/4762a3dehcb59efffc93c&amp;690"/>
          <p:cNvPicPr>
            <a:picLocks noChangeAspect="1" noChangeArrowheads="1"/>
          </p:cNvPicPr>
          <p:nvPr/>
        </p:nvPicPr>
        <p:blipFill>
          <a:blip r:embed="rId3"/>
          <a:srcRect/>
          <a:stretch>
            <a:fillRect/>
          </a:stretch>
        </p:blipFill>
        <p:spPr bwMode="auto">
          <a:xfrm rot="21148685">
            <a:off x="572440" y="1308572"/>
            <a:ext cx="4762500" cy="357187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1028"/>
                                        </p:tgtEl>
                                        <p:attrNameLst>
                                          <p:attrName>r</p:attrName>
                                        </p:attrNameLst>
                                      </p:cBhvr>
                                    </p:animRot>
                                    <p:animRot by="-240000">
                                      <p:cBhvr>
                                        <p:cTn id="7" dur="200" fill="hold">
                                          <p:stCondLst>
                                            <p:cond delay="200"/>
                                          </p:stCondLst>
                                        </p:cTn>
                                        <p:tgtEl>
                                          <p:spTgt spid="1028"/>
                                        </p:tgtEl>
                                        <p:attrNameLst>
                                          <p:attrName>r</p:attrName>
                                        </p:attrNameLst>
                                      </p:cBhvr>
                                    </p:animRot>
                                    <p:animRot by="240000">
                                      <p:cBhvr>
                                        <p:cTn id="8" dur="200" fill="hold">
                                          <p:stCondLst>
                                            <p:cond delay="400"/>
                                          </p:stCondLst>
                                        </p:cTn>
                                        <p:tgtEl>
                                          <p:spTgt spid="1028"/>
                                        </p:tgtEl>
                                        <p:attrNameLst>
                                          <p:attrName>r</p:attrName>
                                        </p:attrNameLst>
                                      </p:cBhvr>
                                    </p:animRot>
                                    <p:animRot by="-240000">
                                      <p:cBhvr>
                                        <p:cTn id="9" dur="200" fill="hold">
                                          <p:stCondLst>
                                            <p:cond delay="600"/>
                                          </p:stCondLst>
                                        </p:cTn>
                                        <p:tgtEl>
                                          <p:spTgt spid="1028"/>
                                        </p:tgtEl>
                                        <p:attrNameLst>
                                          <p:attrName>r</p:attrName>
                                        </p:attrNameLst>
                                      </p:cBhvr>
                                    </p:animRot>
                                    <p:animRot by="120000">
                                      <p:cBhvr>
                                        <p:cTn id="10" dur="200" fill="hold">
                                          <p:stCondLst>
                                            <p:cond delay="800"/>
                                          </p:stCondLst>
                                        </p:cTn>
                                        <p:tgtEl>
                                          <p:spTgt spid="1028"/>
                                        </p:tgtEl>
                                        <p:attrNameLst>
                                          <p:attrName>r</p:attrName>
                                        </p:attrNameLst>
                                      </p:cBhvr>
                                    </p:animRot>
                                  </p:childTnLst>
                                </p:cTn>
                              </p:par>
                            </p:childTnLst>
                          </p:cTn>
                        </p:par>
                        <p:par>
                          <p:cTn id="11" fill="hold">
                            <p:stCondLst>
                              <p:cond delay="1000"/>
                            </p:stCondLst>
                            <p:childTnLst>
                              <p:par>
                                <p:cTn id="12" presetID="1" presetClass="exit" presetSubtype="0" fill="hold" nodeType="afterEffect">
                                  <p:stCondLst>
                                    <p:cond delay="0"/>
                                  </p:stCondLst>
                                  <p:childTnLst>
                                    <p:set>
                                      <p:cBhvr>
                                        <p:cTn id="13" dur="1" fill="hold">
                                          <p:stCondLst>
                                            <p:cond delay="0"/>
                                          </p:stCondLst>
                                        </p:cTn>
                                        <p:tgtEl>
                                          <p:spTgt spid="102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6" presetClass="emph" presetSubtype="0" fill="hold" nodeType="clickEffect">
                                  <p:stCondLst>
                                    <p:cond delay="0"/>
                                  </p:stCondLst>
                                  <p:childTnLst>
                                    <p:animScale>
                                      <p:cBhvr>
                                        <p:cTn id="17" dur="2000" fill="hold"/>
                                        <p:tgtEl>
                                          <p:spTgt spid="1026"/>
                                        </p:tgtEl>
                                      </p:cBhvr>
                                      <p:by x="150000" y="150000"/>
                                    </p:animScale>
                                  </p:childTnLst>
                                </p:cTn>
                              </p:par>
                            </p:childTnLst>
                          </p:cTn>
                        </p:par>
                        <p:par>
                          <p:cTn id="18" fill="hold">
                            <p:stCondLst>
                              <p:cond delay="2000"/>
                            </p:stCondLst>
                            <p:childTnLst>
                              <p:par>
                                <p:cTn id="19" presetID="2" presetClass="exit" presetSubtype="3" fill="hold" nodeType="afterEffect">
                                  <p:stCondLst>
                                    <p:cond delay="0"/>
                                  </p:stCondLst>
                                  <p:childTnLst>
                                    <p:anim calcmode="lin" valueType="num">
                                      <p:cBhvr additive="base">
                                        <p:cTn id="20" dur="500"/>
                                        <p:tgtEl>
                                          <p:spTgt spid="1026"/>
                                        </p:tgtEl>
                                        <p:attrNameLst>
                                          <p:attrName>ppt_x</p:attrName>
                                        </p:attrNameLst>
                                      </p:cBhvr>
                                      <p:tavLst>
                                        <p:tav tm="0">
                                          <p:val>
                                            <p:strVal val="ppt_x"/>
                                          </p:val>
                                        </p:tav>
                                        <p:tav tm="100000">
                                          <p:val>
                                            <p:strVal val="1+ppt_w/2"/>
                                          </p:val>
                                        </p:tav>
                                      </p:tavLst>
                                    </p:anim>
                                    <p:anim calcmode="lin" valueType="num">
                                      <p:cBhvr additive="base">
                                        <p:cTn id="21" dur="500"/>
                                        <p:tgtEl>
                                          <p:spTgt spid="1026"/>
                                        </p:tgtEl>
                                        <p:attrNameLst>
                                          <p:attrName>ppt_y</p:attrName>
                                        </p:attrNameLst>
                                      </p:cBhvr>
                                      <p:tavLst>
                                        <p:tav tm="0">
                                          <p:val>
                                            <p:strVal val="ppt_y"/>
                                          </p:val>
                                        </p:tav>
                                        <p:tav tm="100000">
                                          <p:val>
                                            <p:strVal val="0-ppt_h/2"/>
                                          </p:val>
                                        </p:tav>
                                      </p:tavLst>
                                    </p:anim>
                                    <p:set>
                                      <p:cBhvr>
                                        <p:cTn id="22" dur="1" fill="hold">
                                          <p:stCondLst>
                                            <p:cond delay="4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3"/>
          <p:cNvSpPr>
            <a:spLocks noChangeArrowheads="1"/>
          </p:cNvSpPr>
          <p:nvPr/>
        </p:nvSpPr>
        <p:spPr bwMode="auto">
          <a:xfrm>
            <a:off x="971550" y="620713"/>
            <a:ext cx="7485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b="1">
                <a:solidFill>
                  <a:srgbClr val="000000"/>
                </a:solidFill>
                <a:latin typeface="Times New Roman" panose="02020603050405020304" pitchFamily="18" charset="0"/>
                <a:cs typeface="Times New Roman" panose="02020603050405020304" pitchFamily="18" charset="0"/>
              </a:rPr>
              <a:t>Figure 5.5: Effect of crowding on demand for a recreational opportunity</a:t>
            </a:r>
            <a:endParaRPr lang="en-CA" b="1">
              <a:latin typeface="Times New Roman" panose="02020603050405020304" pitchFamily="18" charset="0"/>
              <a:cs typeface="Times New Roman" panose="02020603050405020304" pitchFamily="18" charset="0"/>
            </a:endParaRPr>
          </a:p>
        </p:txBody>
      </p:sp>
      <p:grpSp>
        <p:nvGrpSpPr>
          <p:cNvPr id="26627" name="Group 2"/>
          <p:cNvGrpSpPr/>
          <p:nvPr/>
        </p:nvGrpSpPr>
        <p:grpSpPr bwMode="auto">
          <a:xfrm>
            <a:off x="1331913" y="1700213"/>
            <a:ext cx="5976937" cy="3889375"/>
            <a:chOff x="2959" y="1455"/>
            <a:chExt cx="6371" cy="4042"/>
          </a:xfrm>
        </p:grpSpPr>
        <p:sp>
          <p:nvSpPr>
            <p:cNvPr id="26630" name="Text Box 2423"/>
            <p:cNvSpPr txBox="1">
              <a:spLocks noChangeArrowheads="1"/>
            </p:cNvSpPr>
            <p:nvPr/>
          </p:nvSpPr>
          <p:spPr bwMode="auto">
            <a:xfrm>
              <a:off x="3919" y="4652"/>
              <a:ext cx="57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0</a:t>
              </a:r>
              <a:endParaRPr lang="en-CA">
                <a:latin typeface="Roman 10cpi"/>
                <a:cs typeface="Times New Roman" panose="02020603050405020304" pitchFamily="18" charset="0"/>
              </a:endParaRPr>
            </a:p>
          </p:txBody>
        </p:sp>
        <p:sp>
          <p:nvSpPr>
            <p:cNvPr id="26631" name="Text Box 2424"/>
            <p:cNvSpPr txBox="1">
              <a:spLocks noChangeArrowheads="1"/>
            </p:cNvSpPr>
            <p:nvPr/>
          </p:nvSpPr>
          <p:spPr bwMode="auto">
            <a:xfrm>
              <a:off x="2959" y="2295"/>
              <a:ext cx="119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a:latin typeface="Times New Roman" panose="02020603050405020304" pitchFamily="18" charset="0"/>
                  <a:cs typeface="Times New Roman" panose="02020603050405020304" pitchFamily="18" charset="0"/>
                </a:rPr>
                <a:t>Price ($)</a:t>
              </a:r>
              <a:endParaRPr lang="en-CA">
                <a:latin typeface="Roman 10cpi"/>
                <a:cs typeface="Times New Roman" panose="02020603050405020304" pitchFamily="18" charset="0"/>
              </a:endParaRPr>
            </a:p>
          </p:txBody>
        </p:sp>
        <p:cxnSp>
          <p:nvCxnSpPr>
            <p:cNvPr id="26632" name="AutoShape 2425"/>
            <p:cNvCxnSpPr>
              <a:cxnSpLocks noChangeShapeType="1"/>
            </p:cNvCxnSpPr>
            <p:nvPr/>
          </p:nvCxnSpPr>
          <p:spPr bwMode="auto">
            <a:xfrm>
              <a:off x="4274" y="4771"/>
              <a:ext cx="4910"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7" name="AutoShape 2426"/>
            <p:cNvCxnSpPr>
              <a:cxnSpLocks noChangeShapeType="1"/>
            </p:cNvCxnSpPr>
            <p:nvPr/>
          </p:nvCxnSpPr>
          <p:spPr bwMode="auto">
            <a:xfrm>
              <a:off x="4274" y="1455"/>
              <a:ext cx="2" cy="3314"/>
            </a:xfrm>
            <a:prstGeom prst="straightConnector1">
              <a:avLst/>
            </a:prstGeom>
            <a:noFill/>
            <a:ln w="9525">
              <a:solidFill>
                <a:schemeClr val="tx1">
                  <a:lumMod val="100000"/>
                  <a:lumOff val="0"/>
                </a:schemeClr>
              </a:solidFill>
              <a:round/>
            </a:ln>
          </p:spPr>
        </p:cxnSp>
        <p:cxnSp>
          <p:nvCxnSpPr>
            <p:cNvPr id="26634" name="AutoShape 2427"/>
            <p:cNvCxnSpPr>
              <a:cxnSpLocks noChangeShapeType="1"/>
            </p:cNvCxnSpPr>
            <p:nvPr/>
          </p:nvCxnSpPr>
          <p:spPr bwMode="auto">
            <a:xfrm>
              <a:off x="4275" y="1617"/>
              <a:ext cx="3349" cy="3153"/>
            </a:xfrm>
            <a:prstGeom prst="straightConnector1">
              <a:avLst/>
            </a:prstGeom>
            <a:noFill/>
            <a:ln w="28575">
              <a:solidFill>
                <a:srgbClr val="000000"/>
              </a:solidFill>
              <a:round/>
            </a:ln>
            <a:extLst>
              <a:ext uri="{909E8E84-426E-40DD-AFC4-6F175D3DCCD1}">
                <a14:hiddenFill xmlns:a14="http://schemas.microsoft.com/office/drawing/2010/main">
                  <a:noFill/>
                </a14:hiddenFill>
              </a:ext>
            </a:extLst>
          </p:spPr>
        </p:cxnSp>
        <p:sp>
          <p:nvSpPr>
            <p:cNvPr id="26635" name="Text Box 2428"/>
            <p:cNvSpPr txBox="1">
              <a:spLocks noChangeArrowheads="1"/>
            </p:cNvSpPr>
            <p:nvPr/>
          </p:nvSpPr>
          <p:spPr bwMode="auto">
            <a:xfrm>
              <a:off x="5745" y="5027"/>
              <a:ext cx="2017"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Quantity demanded</a:t>
              </a:r>
              <a:endParaRPr lang="en-CA">
                <a:latin typeface="Roman 10cpi"/>
                <a:cs typeface="Times New Roman" panose="02020603050405020304" pitchFamily="18" charset="0"/>
              </a:endParaRPr>
            </a:p>
          </p:txBody>
        </p:sp>
        <p:cxnSp>
          <p:nvCxnSpPr>
            <p:cNvPr id="10" name="AutoShape 2429"/>
            <p:cNvCxnSpPr>
              <a:cxnSpLocks noChangeShapeType="1"/>
            </p:cNvCxnSpPr>
            <p:nvPr/>
          </p:nvCxnSpPr>
          <p:spPr bwMode="auto">
            <a:xfrm>
              <a:off x="4274" y="2786"/>
              <a:ext cx="4670" cy="1983"/>
            </a:xfrm>
            <a:prstGeom prst="straightConnector1">
              <a:avLst/>
            </a:prstGeom>
            <a:noFill/>
            <a:ln w="12700">
              <a:solidFill>
                <a:schemeClr val="tx1">
                  <a:lumMod val="100000"/>
                  <a:lumOff val="0"/>
                </a:schemeClr>
              </a:solidFill>
              <a:round/>
            </a:ln>
          </p:spPr>
        </p:cxnSp>
        <p:sp>
          <p:nvSpPr>
            <p:cNvPr id="26637" name="Text Box 2430"/>
            <p:cNvSpPr txBox="1">
              <a:spLocks noChangeArrowheads="1"/>
            </p:cNvSpPr>
            <p:nvPr/>
          </p:nvSpPr>
          <p:spPr bwMode="auto">
            <a:xfrm>
              <a:off x="5959" y="2015"/>
              <a:ext cx="1315"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Uncrowded</a:t>
              </a:r>
              <a:endParaRPr lang="en-CA">
                <a:latin typeface="Roman 10cpi"/>
                <a:cs typeface="Times New Roman" panose="02020603050405020304" pitchFamily="18" charset="0"/>
              </a:endParaRPr>
            </a:p>
          </p:txBody>
        </p:sp>
        <p:sp>
          <p:nvSpPr>
            <p:cNvPr id="26638" name="Text Box 2431"/>
            <p:cNvSpPr txBox="1">
              <a:spLocks noChangeArrowheads="1"/>
            </p:cNvSpPr>
            <p:nvPr/>
          </p:nvSpPr>
          <p:spPr bwMode="auto">
            <a:xfrm>
              <a:off x="8235" y="3705"/>
              <a:ext cx="1095"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latin typeface="Times New Roman" panose="02020603050405020304" pitchFamily="18" charset="0"/>
                  <a:cs typeface="Times New Roman" panose="02020603050405020304" pitchFamily="18" charset="0"/>
                </a:rPr>
                <a:t>Crowded</a:t>
              </a:r>
              <a:endParaRPr lang="en-CA">
                <a:latin typeface="Roman 10cpi"/>
                <a:cs typeface="Times New Roman" panose="02020603050405020304" pitchFamily="18" charset="0"/>
              </a:endParaRPr>
            </a:p>
          </p:txBody>
        </p:sp>
        <p:cxnSp>
          <p:nvCxnSpPr>
            <p:cNvPr id="26639" name="AutoShape 2432"/>
            <p:cNvCxnSpPr>
              <a:cxnSpLocks noChangeShapeType="1"/>
            </p:cNvCxnSpPr>
            <p:nvPr/>
          </p:nvCxnSpPr>
          <p:spPr bwMode="auto">
            <a:xfrm flipH="1">
              <a:off x="5361" y="2285"/>
              <a:ext cx="598" cy="300"/>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cxnSp>
          <p:nvCxnSpPr>
            <p:cNvPr id="26640" name="AutoShape 2433"/>
            <p:cNvCxnSpPr>
              <a:cxnSpLocks noChangeShapeType="1"/>
            </p:cNvCxnSpPr>
            <p:nvPr/>
          </p:nvCxnSpPr>
          <p:spPr bwMode="auto">
            <a:xfrm flipH="1">
              <a:off x="7714" y="3950"/>
              <a:ext cx="598" cy="300"/>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grpSp>
      <p:sp>
        <p:nvSpPr>
          <p:cNvPr id="26628" name="Rectangle 19"/>
          <p:cNvSpPr>
            <a:spLocks noChangeArrowheads="1"/>
          </p:cNvSpPr>
          <p:nvPr/>
        </p:nvSpPr>
        <p:spPr bwMode="auto">
          <a:xfrm>
            <a:off x="0" y="2681288"/>
            <a:ext cx="18415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br>
              <a:rPr lang="en-US" altLang="zh-CN" sz="1000">
                <a:latin typeface="Roman 10cpi"/>
                <a:ea typeface="Roman 10cpi"/>
                <a:cs typeface="Times New Roman" panose="02020603050405020304" pitchFamily="18" charset="0"/>
              </a:rPr>
            </a:br>
            <a:endParaRPr lang="en-CA" sz="1100">
              <a:ea typeface="Roman 10cpi"/>
              <a:cs typeface="Times New Roman" panose="02020603050405020304" pitchFamily="18" charset="0"/>
            </a:endParaRPr>
          </a:p>
          <a:p>
            <a:pPr eaLnBrk="0" hangingPunct="0"/>
            <a:endParaRPr lang="en-CA">
              <a:ea typeface="Roman 10cpi"/>
              <a:cs typeface="Times New Roman" panose="02020603050405020304" pitchFamily="18" charset="0"/>
            </a:endParaRPr>
          </a:p>
        </p:txBody>
      </p:sp>
      <p:sp>
        <p:nvSpPr>
          <p:cNvPr id="17" name="Footer Placeholder 1"/>
          <p:cNvSpPr>
            <a:spLocks noGrp="1"/>
          </p:cNvSpPr>
          <p:nvPr>
            <p:ph type="ftr" sz="quarter" idx="11"/>
          </p:nvPr>
        </p:nvSpPr>
        <p:spPr>
          <a:xfrm>
            <a:off x="0" y="6492875"/>
            <a:ext cx="91440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898989"/>
                </a:solidFill>
                <a:latin typeface="Calibri" panose="020F0502020204030204" pitchFamily="34" charset="0"/>
              </a:rPr>
              <a:t>Adapted from </a:t>
            </a:r>
            <a:r>
              <a:rPr lang="en-US" altLang="zh-CN" i="1">
                <a:solidFill>
                  <a:srgbClr val="898989"/>
                </a:solidFill>
                <a:latin typeface="Calibri" panose="020F0502020204030204" pitchFamily="34" charset="0"/>
              </a:rPr>
              <a:t>Forest Economics </a:t>
            </a:r>
            <a:r>
              <a:rPr lang="en-US" altLang="zh-CN">
                <a:solidFill>
                  <a:srgbClr val="898989"/>
                </a:solidFill>
                <a:latin typeface="Calibri" panose="020F0502020204030204" pitchFamily="34" charset="0"/>
              </a:rPr>
              <a:t>by Daowei Zhang and Peter H. Pearse, published by UBC Press, 2011. </a:t>
            </a:r>
            <a:endParaRPr lang="en-CA">
              <a:solidFill>
                <a:srgbClr val="898989"/>
              </a:solidFill>
              <a:latin typeface="Calibri" panose="020F0502020204030204" pitchFamily="34" charset="0"/>
            </a:endParaRPr>
          </a:p>
        </p:txBody>
      </p:sp>
      <p:cxnSp>
        <p:nvCxnSpPr>
          <p:cNvPr id="3" name="直接连接符 2"/>
          <p:cNvCxnSpPr/>
          <p:nvPr/>
        </p:nvCxnSpPr>
        <p:spPr>
          <a:xfrm>
            <a:off x="2567453" y="1856096"/>
            <a:ext cx="3140918" cy="3035868"/>
          </a:xfrm>
          <a:prstGeom prst="line">
            <a:avLst/>
          </a:prstGeom>
        </p:spPr>
        <p:style>
          <a:lnRef idx="3">
            <a:schemeClr val="accent3"/>
          </a:lnRef>
          <a:fillRef idx="0">
            <a:schemeClr val="accent3"/>
          </a:fillRef>
          <a:effectRef idx="2">
            <a:schemeClr val="accent3"/>
          </a:effectRef>
          <a:fontRef idx="minor">
            <a:schemeClr val="tx1"/>
          </a:fontRef>
        </p:style>
      </p:cxnSp>
      <p:sp>
        <p:nvSpPr>
          <p:cNvPr id="4" name="TextBox 3"/>
          <p:cNvSpPr txBox="1"/>
          <p:nvPr/>
        </p:nvSpPr>
        <p:spPr>
          <a:xfrm>
            <a:off x="3059832" y="1856096"/>
            <a:ext cx="2262158" cy="369332"/>
          </a:xfrm>
          <a:prstGeom prst="rect">
            <a:avLst/>
          </a:prstGeom>
          <a:noFill/>
        </p:spPr>
        <p:txBody>
          <a:bodyPr wrap="none" rtlCol="0">
            <a:spAutoFit/>
          </a:bodyPr>
          <a:lstStyle/>
          <a:p>
            <a:r>
              <a:rPr lang="zh-CN" altLang="en-US" b="1" dirty="0">
                <a:ln w="17780" cmpd="sng">
                  <a:solidFill>
                    <a:schemeClr val="accent1">
                      <a:tint val="3000"/>
                    </a:schemeClr>
                  </a:solidFill>
                  <a:prstDash val="solid"/>
                  <a:miter lim="800000"/>
                </a:ln>
                <a:solidFill>
                  <a:schemeClr val="accent3">
                    <a:lumMod val="75000"/>
                  </a:schemeClr>
                </a:solidFill>
                <a:effectLst>
                  <a:outerShdw blurRad="55000" dist="50800" dir="5400000" algn="tl">
                    <a:srgbClr val="000000">
                      <a:alpha val="33000"/>
                    </a:srgbClr>
                  </a:outerShdw>
                </a:effectLst>
                <a:latin typeface="华文琥珀" panose="02010800040101010101" pitchFamily="2" charset="-122"/>
                <a:ea typeface="华文琥珀" panose="02010800040101010101" pitchFamily="2" charset="-122"/>
              </a:rPr>
              <a:t>不拥挤时的需求曲线</a:t>
            </a:r>
            <a:endParaRPr lang="zh-CN" altLang="en-US" b="1" dirty="0">
              <a:ln w="17780" cmpd="sng">
                <a:solidFill>
                  <a:schemeClr val="accent1">
                    <a:tint val="3000"/>
                  </a:schemeClr>
                </a:solidFill>
                <a:prstDash val="solid"/>
                <a:miter lim="800000"/>
              </a:ln>
              <a:solidFill>
                <a:schemeClr val="accent3">
                  <a:lumMod val="75000"/>
                </a:schemeClr>
              </a:solidFill>
              <a:effectLst>
                <a:outerShdw blurRad="55000" dist="50800" dir="5400000" algn="tl">
                  <a:srgbClr val="000000">
                    <a:alpha val="33000"/>
                  </a:srgbClr>
                </a:outerShdw>
              </a:effectLst>
              <a:latin typeface="华文琥珀" panose="02010800040101010101" pitchFamily="2" charset="-122"/>
              <a:ea typeface="华文琥珀" panose="02010800040101010101" pitchFamily="2" charset="-122"/>
            </a:endParaRPr>
          </a:p>
        </p:txBody>
      </p:sp>
      <p:cxnSp>
        <p:nvCxnSpPr>
          <p:cNvPr id="6" name="直接连接符 5"/>
          <p:cNvCxnSpPr/>
          <p:nvPr/>
        </p:nvCxnSpPr>
        <p:spPr>
          <a:xfrm>
            <a:off x="2567453" y="2980955"/>
            <a:ext cx="4379272" cy="1911009"/>
          </a:xfrm>
          <a:prstGeom prst="line">
            <a:avLst/>
          </a:prstGeom>
        </p:spPr>
        <p:style>
          <a:lnRef idx="3">
            <a:schemeClr val="accent4"/>
          </a:lnRef>
          <a:fillRef idx="0">
            <a:schemeClr val="accent4"/>
          </a:fillRef>
          <a:effectRef idx="2">
            <a:schemeClr val="accent4"/>
          </a:effectRef>
          <a:fontRef idx="minor">
            <a:schemeClr val="tx1"/>
          </a:fontRef>
        </p:style>
      </p:cxnSp>
      <p:sp>
        <p:nvSpPr>
          <p:cNvPr id="22" name="TextBox 21"/>
          <p:cNvSpPr txBox="1"/>
          <p:nvPr/>
        </p:nvSpPr>
        <p:spPr>
          <a:xfrm>
            <a:off x="4684567" y="3501744"/>
            <a:ext cx="2031325" cy="369332"/>
          </a:xfrm>
          <a:prstGeom prst="rect">
            <a:avLst/>
          </a:prstGeom>
          <a:noFill/>
        </p:spPr>
        <p:txBody>
          <a:bodyPr wrap="none" rtlCol="0">
            <a:spAutoFit/>
          </a:bodyPr>
          <a:lstStyle/>
          <a:p>
            <a:r>
              <a:rPr lang="zh-CN" altLang="en-US" b="1" dirty="0">
                <a:ln w="17780" cmpd="sng">
                  <a:solidFill>
                    <a:schemeClr val="accent1">
                      <a:tint val="3000"/>
                    </a:schemeClr>
                  </a:solidFill>
                  <a:prstDash val="solid"/>
                  <a:miter lim="800000"/>
                </a:ln>
                <a:solidFill>
                  <a:srgbClr val="7030A0"/>
                </a:solidFill>
                <a:effectLst>
                  <a:outerShdw blurRad="55000" dist="50800" dir="5400000" algn="tl">
                    <a:srgbClr val="000000">
                      <a:alpha val="33000"/>
                    </a:srgbClr>
                  </a:outerShdw>
                </a:effectLst>
                <a:latin typeface="华文琥珀" panose="02010800040101010101" pitchFamily="2" charset="-122"/>
                <a:ea typeface="华文琥珀" panose="02010800040101010101" pitchFamily="2" charset="-122"/>
              </a:rPr>
              <a:t>拥挤时的需求曲线</a:t>
            </a:r>
            <a:endParaRPr lang="zh-CN" altLang="en-US" b="1" dirty="0">
              <a:ln w="17780" cmpd="sng">
                <a:solidFill>
                  <a:schemeClr val="accent1">
                    <a:tint val="3000"/>
                  </a:schemeClr>
                </a:solidFill>
                <a:prstDash val="solid"/>
                <a:miter lim="800000"/>
              </a:ln>
              <a:solidFill>
                <a:srgbClr val="7030A0"/>
              </a:solidFill>
              <a:effectLst>
                <a:outerShdw blurRad="55000" dist="50800" dir="5400000" algn="tl">
                  <a:srgbClr val="000000">
                    <a:alpha val="33000"/>
                  </a:srgbClr>
                </a:outerShdw>
              </a:effectLst>
              <a:latin typeface="华文琥珀" panose="02010800040101010101" pitchFamily="2" charset="-122"/>
              <a:ea typeface="华文琥珀" panose="02010800040101010101" pitchFamily="2" charset="-122"/>
            </a:endParaRPr>
          </a:p>
        </p:txBody>
      </p:sp>
      <p:sp>
        <p:nvSpPr>
          <p:cNvPr id="8" name="等腰三角形 7"/>
          <p:cNvSpPr/>
          <p:nvPr/>
        </p:nvSpPr>
        <p:spPr>
          <a:xfrm>
            <a:off x="2558660" y="1916832"/>
            <a:ext cx="1998397" cy="1910254"/>
          </a:xfrm>
          <a:custGeom>
            <a:avLst/>
            <a:gdLst>
              <a:gd name="connsiteX0" fmla="*/ 0 w 2754537"/>
              <a:gd name="connsiteY0" fmla="*/ 1769578 h 1769578"/>
              <a:gd name="connsiteX1" fmla="*/ 1377269 w 2754537"/>
              <a:gd name="connsiteY1" fmla="*/ 0 h 1769578"/>
              <a:gd name="connsiteX2" fmla="*/ 2754537 w 2754537"/>
              <a:gd name="connsiteY2" fmla="*/ 1769578 h 1769578"/>
              <a:gd name="connsiteX3" fmla="*/ 0 w 2754537"/>
              <a:gd name="connsiteY3" fmla="*/ 1769578 h 1769578"/>
              <a:gd name="connsiteX0-1" fmla="*/ 0 w 2772121"/>
              <a:gd name="connsiteY0-2" fmla="*/ 1083778 h 1769578"/>
              <a:gd name="connsiteX1-3" fmla="*/ 1394853 w 2772121"/>
              <a:gd name="connsiteY1-4" fmla="*/ 0 h 1769578"/>
              <a:gd name="connsiteX2-5" fmla="*/ 2772121 w 2772121"/>
              <a:gd name="connsiteY2-6" fmla="*/ 1769578 h 1769578"/>
              <a:gd name="connsiteX3-7" fmla="*/ 0 w 2772121"/>
              <a:gd name="connsiteY3-8" fmla="*/ 1083778 h 1769578"/>
              <a:gd name="connsiteX0-9" fmla="*/ 0 w 2068736"/>
              <a:gd name="connsiteY0-10" fmla="*/ 1083778 h 1927839"/>
              <a:gd name="connsiteX1-11" fmla="*/ 1394853 w 2068736"/>
              <a:gd name="connsiteY1-12" fmla="*/ 0 h 1927839"/>
              <a:gd name="connsiteX2-13" fmla="*/ 2068736 w 2068736"/>
              <a:gd name="connsiteY2-14" fmla="*/ 1927839 h 1927839"/>
              <a:gd name="connsiteX3-15" fmla="*/ 0 w 2068736"/>
              <a:gd name="connsiteY3-16" fmla="*/ 1083778 h 1927839"/>
              <a:gd name="connsiteX0-17" fmla="*/ 0 w 2042359"/>
              <a:gd name="connsiteY0-18" fmla="*/ 1083778 h 1927839"/>
              <a:gd name="connsiteX1-19" fmla="*/ 1394853 w 2042359"/>
              <a:gd name="connsiteY1-20" fmla="*/ 0 h 1927839"/>
              <a:gd name="connsiteX2-21" fmla="*/ 2042359 w 2042359"/>
              <a:gd name="connsiteY2-22" fmla="*/ 1927839 h 1927839"/>
              <a:gd name="connsiteX3-23" fmla="*/ 0 w 2042359"/>
              <a:gd name="connsiteY3-24" fmla="*/ 1083778 h 1927839"/>
              <a:gd name="connsiteX0-25" fmla="*/ 0 w 2007189"/>
              <a:gd name="connsiteY0-26" fmla="*/ 1083778 h 1910254"/>
              <a:gd name="connsiteX1-27" fmla="*/ 1394853 w 2007189"/>
              <a:gd name="connsiteY1-28" fmla="*/ 0 h 1910254"/>
              <a:gd name="connsiteX2-29" fmla="*/ 2007189 w 2007189"/>
              <a:gd name="connsiteY2-30" fmla="*/ 1910254 h 1910254"/>
              <a:gd name="connsiteX3-31" fmla="*/ 0 w 2007189"/>
              <a:gd name="connsiteY3-32" fmla="*/ 1083778 h 1910254"/>
              <a:gd name="connsiteX0-33" fmla="*/ 0 w 1998397"/>
              <a:gd name="connsiteY0-34" fmla="*/ 1031024 h 1910254"/>
              <a:gd name="connsiteX1-35" fmla="*/ 1386061 w 1998397"/>
              <a:gd name="connsiteY1-36" fmla="*/ 0 h 1910254"/>
              <a:gd name="connsiteX2-37" fmla="*/ 1998397 w 1998397"/>
              <a:gd name="connsiteY2-38" fmla="*/ 1910254 h 1910254"/>
              <a:gd name="connsiteX3-39" fmla="*/ 0 w 1998397"/>
              <a:gd name="connsiteY3-40" fmla="*/ 1031024 h 1910254"/>
              <a:gd name="connsiteX0-41" fmla="*/ 0 w 1998397"/>
              <a:gd name="connsiteY0-42" fmla="*/ 1031024 h 1910254"/>
              <a:gd name="connsiteX1-43" fmla="*/ 23253 w 1998397"/>
              <a:gd name="connsiteY1-44" fmla="*/ 0 h 1910254"/>
              <a:gd name="connsiteX2-45" fmla="*/ 1998397 w 1998397"/>
              <a:gd name="connsiteY2-46" fmla="*/ 1910254 h 1910254"/>
              <a:gd name="connsiteX3-47" fmla="*/ 0 w 1998397"/>
              <a:gd name="connsiteY3-48" fmla="*/ 1031024 h 1910254"/>
            </a:gdLst>
            <a:ahLst/>
            <a:cxnLst>
              <a:cxn ang="0">
                <a:pos x="connsiteX0-1" y="connsiteY0-2"/>
              </a:cxn>
              <a:cxn ang="0">
                <a:pos x="connsiteX1-3" y="connsiteY1-4"/>
              </a:cxn>
              <a:cxn ang="0">
                <a:pos x="connsiteX2-5" y="connsiteY2-6"/>
              </a:cxn>
              <a:cxn ang="0">
                <a:pos x="connsiteX3-7" y="connsiteY3-8"/>
              </a:cxn>
            </a:cxnLst>
            <a:rect l="l" t="t" r="r" b="b"/>
            <a:pathLst>
              <a:path w="1998397" h="1910254">
                <a:moveTo>
                  <a:pt x="0" y="1031024"/>
                </a:moveTo>
                <a:lnTo>
                  <a:pt x="23253" y="0"/>
                </a:lnTo>
                <a:lnTo>
                  <a:pt x="1998397" y="1910254"/>
                </a:lnTo>
                <a:lnTo>
                  <a:pt x="0" y="1031024"/>
                </a:lnTo>
                <a:close/>
              </a:path>
            </a:pathLst>
          </a:custGeom>
          <a:gradFill>
            <a:gsLst>
              <a:gs pos="0">
                <a:schemeClr val="accent4">
                  <a:lumMod val="60000"/>
                  <a:lumOff val="40000"/>
                  <a:alpha val="49000"/>
                </a:schemeClr>
              </a:gs>
              <a:gs pos="50000">
                <a:schemeClr val="accent1">
                  <a:tint val="44500"/>
                  <a:satMod val="160000"/>
                  <a:alpha val="31000"/>
                </a:schemeClr>
              </a:gs>
              <a:gs pos="100000">
                <a:schemeClr val="bg1">
                  <a:alpha val="3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b="1" dirty="0">
                <a:ln w="11430"/>
                <a:solidFill>
                  <a:schemeClr val="accent4">
                    <a:lumMod val="40000"/>
                    <a:lumOff val="60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rPr>
              <a:t>因为拥挤带来的低质量损失的消费者剩余</a:t>
            </a:r>
            <a:endParaRPr lang="zh-CN" altLang="en-US" b="1" dirty="0">
              <a:ln w="11430"/>
              <a:solidFill>
                <a:schemeClr val="accent4">
                  <a:lumMod val="40000"/>
                  <a:lumOff val="60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endParaRPr>
          </a:p>
        </p:txBody>
      </p:sp>
      <p:sp>
        <p:nvSpPr>
          <p:cNvPr id="9" name="直角三角形 8"/>
          <p:cNvSpPr/>
          <p:nvPr/>
        </p:nvSpPr>
        <p:spPr>
          <a:xfrm>
            <a:off x="4756151" y="3935016"/>
            <a:ext cx="2120105" cy="956948"/>
          </a:xfrm>
          <a:custGeom>
            <a:avLst/>
            <a:gdLst>
              <a:gd name="connsiteX0" fmla="*/ 0 w 2120105"/>
              <a:gd name="connsiteY0" fmla="*/ 956948 h 956948"/>
              <a:gd name="connsiteX1" fmla="*/ 0 w 2120105"/>
              <a:gd name="connsiteY1" fmla="*/ 0 h 956948"/>
              <a:gd name="connsiteX2" fmla="*/ 2120105 w 2120105"/>
              <a:gd name="connsiteY2" fmla="*/ 956948 h 956948"/>
              <a:gd name="connsiteX3" fmla="*/ 0 w 2120105"/>
              <a:gd name="connsiteY3" fmla="*/ 956948 h 956948"/>
              <a:gd name="connsiteX0-1" fmla="*/ 940777 w 2120105"/>
              <a:gd name="connsiteY0-2" fmla="*/ 948155 h 956948"/>
              <a:gd name="connsiteX1-3" fmla="*/ 0 w 2120105"/>
              <a:gd name="connsiteY1-4" fmla="*/ 0 h 956948"/>
              <a:gd name="connsiteX2-5" fmla="*/ 2120105 w 2120105"/>
              <a:gd name="connsiteY2-6" fmla="*/ 956948 h 956948"/>
              <a:gd name="connsiteX3-7" fmla="*/ 940777 w 2120105"/>
              <a:gd name="connsiteY3-8" fmla="*/ 948155 h 956948"/>
            </a:gdLst>
            <a:ahLst/>
            <a:cxnLst>
              <a:cxn ang="0">
                <a:pos x="connsiteX0-1" y="connsiteY0-2"/>
              </a:cxn>
              <a:cxn ang="0">
                <a:pos x="connsiteX1-3" y="connsiteY1-4"/>
              </a:cxn>
              <a:cxn ang="0">
                <a:pos x="connsiteX2-5" y="connsiteY2-6"/>
              </a:cxn>
              <a:cxn ang="0">
                <a:pos x="connsiteX3-7" y="connsiteY3-8"/>
              </a:cxn>
            </a:cxnLst>
            <a:rect l="l" t="t" r="r" b="b"/>
            <a:pathLst>
              <a:path w="2120105" h="956948">
                <a:moveTo>
                  <a:pt x="940777" y="948155"/>
                </a:moveTo>
                <a:lnTo>
                  <a:pt x="0" y="0"/>
                </a:lnTo>
                <a:lnTo>
                  <a:pt x="2120105" y="956948"/>
                </a:lnTo>
                <a:lnTo>
                  <a:pt x="940777" y="948155"/>
                </a:lnTo>
                <a:close/>
              </a:path>
            </a:pathLst>
          </a:custGeom>
          <a:gradFill flip="none" rotWithShape="1">
            <a:gsLst>
              <a:gs pos="0">
                <a:schemeClr val="accent2">
                  <a:shade val="30000"/>
                  <a:satMod val="115000"/>
                  <a:alpha val="63000"/>
                </a:schemeClr>
              </a:gs>
              <a:gs pos="50000">
                <a:schemeClr val="accent2">
                  <a:shade val="67500"/>
                  <a:satMod val="115000"/>
                  <a:alpha val="63000"/>
                </a:schemeClr>
              </a:gs>
              <a:gs pos="100000">
                <a:schemeClr val="accent2">
                  <a:shade val="100000"/>
                  <a:satMod val="115000"/>
                  <a:alpha val="4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6102917" y="4978565"/>
            <a:ext cx="1800200" cy="923330"/>
          </a:xfrm>
          <a:prstGeom prst="rect">
            <a:avLst/>
          </a:prstGeom>
          <a:noFill/>
        </p:spPr>
        <p:txBody>
          <a:bodyPr wrap="square" rtlCol="0">
            <a:spAutoFit/>
          </a:bodyPr>
          <a:lstStyle/>
          <a:p>
            <a:r>
              <a:rPr lang="zh-CN" altLang="en-US" b="1" dirty="0">
                <a:ln w="1905"/>
                <a:solidFill>
                  <a:schemeClr val="accent2">
                    <a:lumMod val="75000"/>
                  </a:schemeClr>
                </a:solidFill>
                <a:effectLst>
                  <a:innerShdw blurRad="69850" dist="43180" dir="5400000">
                    <a:srgbClr val="000000">
                      <a:alpha val="65000"/>
                    </a:srgbClr>
                  </a:innerShdw>
                </a:effectLst>
                <a:latin typeface="黑体" panose="02010609060101010101" pitchFamily="49" charset="-122"/>
                <a:ea typeface="黑体" panose="02010609060101010101" pitchFamily="49" charset="-122"/>
              </a:rPr>
              <a:t>因为游览者变多而增加的消费者剩余</a:t>
            </a:r>
            <a:endParaRPr lang="zh-CN" altLang="en-US" b="1" dirty="0">
              <a:ln w="1905"/>
              <a:solidFill>
                <a:schemeClr val="accent2">
                  <a:lumMod val="75000"/>
                </a:schemeClr>
              </a:solidFill>
              <a:effectLst>
                <a:innerShdw blurRad="69850" dist="43180" dir="5400000">
                  <a:srgbClr val="000000">
                    <a:alpha val="65000"/>
                  </a:srgbClr>
                </a:innerShdw>
              </a:effectLst>
              <a:latin typeface="黑体" panose="02010609060101010101" pitchFamily="49" charset="-122"/>
              <a:ea typeface="黑体" panose="02010609060101010101" pitchFamily="49" charset="-122"/>
            </a:endParaRPr>
          </a:p>
        </p:txBody>
      </p:sp>
      <p:sp>
        <p:nvSpPr>
          <p:cNvPr id="12" name="右箭头 11"/>
          <p:cNvSpPr/>
          <p:nvPr/>
        </p:nvSpPr>
        <p:spPr>
          <a:xfrm rot="5400000">
            <a:off x="6194367" y="4795932"/>
            <a:ext cx="245818" cy="248258"/>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nodeType="clickEffect">
                                  <p:stCondLst>
                                    <p:cond delay="0"/>
                                  </p:stCondLst>
                                  <p:childTnLst>
                                    <p:animMotion origin="layout" path="M -5.55556E-7 1.85185E-6 L 0.00035 0.16551 " pathEditMode="relative" rAng="0" ptsTypes="AA">
                                      <p:cBhvr>
                                        <p:cTn id="15" dur="2000" fill="hold"/>
                                        <p:tgtEl>
                                          <p:spTgt spid="3"/>
                                        </p:tgtEl>
                                        <p:attrNameLst>
                                          <p:attrName>ppt_x</p:attrName>
                                          <p:attrName>ppt_y</p:attrName>
                                        </p:attrNameLst>
                                      </p:cBhvr>
                                      <p:rCtr x="17" y="8264"/>
                                    </p:animMotion>
                                  </p:childTnLst>
                                </p:cTn>
                              </p:par>
                            </p:childTnLst>
                          </p:cTn>
                        </p:par>
                        <p:par>
                          <p:cTn id="16" fill="hold">
                            <p:stCondLst>
                              <p:cond delay="2000"/>
                            </p:stCondLst>
                            <p:childTnLst>
                              <p:par>
                                <p:cTn id="17" presetID="1" presetClass="exit" presetSubtype="0" fill="hold" nodeType="after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4"/>
                                        </p:tgtEl>
                                      </p:cBhvr>
                                    </p:animEffect>
                                    <p:set>
                                      <p:cBhvr>
                                        <p:cTn id="29" dur="1" fill="hold">
                                          <p:stCondLst>
                                            <p:cond delay="499"/>
                                          </p:stCondLst>
                                        </p:cTn>
                                        <p:tgtEl>
                                          <p:spTgt spid="4"/>
                                        </p:tgtEl>
                                        <p:attrNameLst>
                                          <p:attrName>style.visibility</p:attrName>
                                        </p:attrNameLst>
                                      </p:cBhvr>
                                      <p:to>
                                        <p:strVal val="hidden"/>
                                      </p:to>
                                    </p:set>
                                  </p:childTnLst>
                                </p:cTn>
                              </p:par>
                              <p:par>
                                <p:cTn id="30" presetID="22" presetClass="entr" presetSubtype="8"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500"/>
                                        <p:tgtEl>
                                          <p:spTgt spid="12"/>
                                        </p:tgtEl>
                                      </p:cBhvr>
                                    </p:animEffec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up)">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22" grpId="0"/>
      <p:bldP spid="8" grpId="0" animBg="1"/>
      <p:bldP spid="9" grpId="0" animBg="1"/>
      <p:bldP spid="11" grpId="0"/>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“从众效应”使得人们更愿意前往拥挤的游览胜地</a:t>
            </a:r>
            <a:br>
              <a:rPr lang="en-US" altLang="zh-CN" dirty="0"/>
            </a:br>
            <a:endParaRPr lang="zh-CN" altLang="en-US" dirty="0"/>
          </a:p>
        </p:txBody>
      </p:sp>
      <p:sp>
        <p:nvSpPr>
          <p:cNvPr id="3" name="文本占位符 2"/>
          <p:cNvSpPr>
            <a:spLocks noGrp="1"/>
          </p:cNvSpPr>
          <p:nvPr>
            <p:ph type="body" idx="1"/>
          </p:nvPr>
        </p:nvSpPr>
        <p:spPr/>
        <p:txBody>
          <a:bodyPr/>
          <a:lstStyle/>
          <a:p>
            <a:r>
              <a:rPr lang="zh-CN" altLang="en-US" dirty="0"/>
              <a:t>“适当的拥挤”</a:t>
            </a:r>
            <a:r>
              <a:rPr lang="en-US" altLang="zh-CN" dirty="0"/>
              <a:t>——good crowd</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a:xfrm>
            <a:off x="500035" y="1142414"/>
            <a:ext cx="3711925" cy="4878874"/>
          </a:xfrm>
        </p:spPr>
        <p:txBody>
          <a:bodyPr/>
          <a:lstStyle/>
          <a:p>
            <a:r>
              <a:rPr lang="zh-CN" altLang="en-US" dirty="0"/>
              <a:t>增加投资、提高容量或质量</a:t>
            </a:r>
            <a:endParaRPr lang="en-US" altLang="zh-CN" dirty="0"/>
          </a:p>
          <a:p>
            <a:pPr lvl="1"/>
            <a:r>
              <a:rPr lang="zh-CN" altLang="en-US" dirty="0"/>
              <a:t>但在收费低于均衡价格的情况下，缺乏投资者</a:t>
            </a:r>
            <a:endParaRPr lang="en-US" altLang="zh-CN" dirty="0"/>
          </a:p>
          <a:p>
            <a:r>
              <a:rPr lang="zh-CN" altLang="en-US" dirty="0"/>
              <a:t>利用价格或拍卖机制实现最大效益</a:t>
            </a:r>
            <a:endParaRPr lang="en-US" altLang="zh-CN" dirty="0"/>
          </a:p>
          <a:p>
            <a:pPr lvl="1"/>
            <a:r>
              <a:rPr lang="zh-CN" altLang="en-US" dirty="0"/>
              <a:t>但对低收入人群不公平</a:t>
            </a:r>
            <a:endParaRPr lang="zh-CN" altLang="en-US" dirty="0"/>
          </a:p>
        </p:txBody>
      </p:sp>
      <p:sp>
        <p:nvSpPr>
          <p:cNvPr id="3" name="内容占位符 2"/>
          <p:cNvSpPr>
            <a:spLocks noGrp="1"/>
          </p:cNvSpPr>
          <p:nvPr>
            <p:ph sz="quarter" idx="14"/>
          </p:nvPr>
        </p:nvSpPr>
        <p:spPr>
          <a:xfrm>
            <a:off x="4714876" y="1196752"/>
            <a:ext cx="3929090" cy="4804016"/>
          </a:xfrm>
        </p:spPr>
        <p:txBody>
          <a:bodyPr/>
          <a:lstStyle/>
          <a:p>
            <a:r>
              <a:rPr lang="zh-CN" altLang="en-US" dirty="0"/>
              <a:t>抽签或先到先进机制</a:t>
            </a:r>
            <a:endParaRPr lang="en-US" altLang="zh-CN" dirty="0"/>
          </a:p>
          <a:p>
            <a:r>
              <a:rPr lang="zh-CN" altLang="en-US" dirty="0"/>
              <a:t>相对更为公平</a:t>
            </a:r>
            <a:endParaRPr lang="en-US" altLang="zh-CN" dirty="0"/>
          </a:p>
          <a:p>
            <a:r>
              <a:rPr lang="zh-CN" altLang="en-US" dirty="0"/>
              <a:t>但不会实现最大收益</a:t>
            </a:r>
            <a:endParaRPr lang="zh-CN" altLang="en-US" dirty="0"/>
          </a:p>
        </p:txBody>
      </p:sp>
      <p:sp>
        <p:nvSpPr>
          <p:cNvPr id="4" name="标题 3"/>
          <p:cNvSpPr>
            <a:spLocks noGrp="1"/>
          </p:cNvSpPr>
          <p:nvPr>
            <p:ph type="title"/>
          </p:nvPr>
        </p:nvSpPr>
        <p:spPr/>
        <p:txBody>
          <a:bodyPr/>
          <a:lstStyle/>
          <a:p>
            <a:r>
              <a:rPr lang="zh-CN" altLang="en-US" sz="4000" dirty="0"/>
              <a:t>拥挤会导致质量的下降，如何改进？</a:t>
            </a:r>
            <a:endParaRPr lang="zh-CN" altLang="en-US" sz="4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五、外部性和内在价值</a:t>
            </a:r>
            <a:endParaRPr lang="zh-CN" altLang="en-US" dirty="0"/>
          </a:p>
        </p:txBody>
      </p:sp>
      <p:sp>
        <p:nvSpPr>
          <p:cNvPr id="3" name="文本占位符 2"/>
          <p:cNvSpPr>
            <a:spLocks noGrp="1"/>
          </p:cNvSpPr>
          <p:nvPr>
            <p:ph type="body" idx="1"/>
          </p:nvPr>
        </p:nvSpPr>
        <p:spPr/>
        <p:txBody>
          <a:bodyPr/>
          <a:lstStyle/>
          <a:p>
            <a:r>
              <a:rPr lang="en-US" altLang="zh-CN" dirty="0"/>
              <a:t>Externalities and Intrinsic Value </a:t>
            </a: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Externalities</a:t>
            </a:r>
            <a:endParaRPr lang="zh-CN" altLang="en-US" dirty="0"/>
          </a:p>
        </p:txBody>
      </p:sp>
      <p:sp>
        <p:nvSpPr>
          <p:cNvPr id="3" name="内容占位符 2"/>
          <p:cNvSpPr>
            <a:spLocks noGrp="1"/>
          </p:cNvSpPr>
          <p:nvPr>
            <p:ph idx="1"/>
          </p:nvPr>
        </p:nvSpPr>
        <p:spPr/>
        <p:txBody>
          <a:bodyPr/>
          <a:lstStyle/>
          <a:p>
            <a:r>
              <a:rPr lang="zh-CN" altLang="en-US" dirty="0"/>
              <a:t>溢出价值：</a:t>
            </a:r>
            <a:r>
              <a:rPr lang="en-US" altLang="zh-CN" dirty="0"/>
              <a:t>not only provide benefits to its user but also increase the value of adjacent private properties</a:t>
            </a:r>
            <a:endParaRPr lang="en-US" altLang="zh-CN" dirty="0"/>
          </a:p>
          <a:p>
            <a:pPr lvl="1"/>
            <a:r>
              <a:rPr lang="zh-CN" altLang="en-US" dirty="0"/>
              <a:t>增加临近私人财产的价值</a:t>
            </a:r>
            <a:endParaRPr lang="en-US" altLang="zh-CN" dirty="0"/>
          </a:p>
          <a:p>
            <a:pPr lvl="1"/>
            <a:r>
              <a:rPr lang="zh-CN" altLang="en-US" dirty="0"/>
              <a:t>可用特征法进行估算</a:t>
            </a:r>
            <a:endParaRPr lang="en-US" altLang="zh-CN" dirty="0"/>
          </a:p>
          <a:p>
            <a:r>
              <a:rPr lang="zh-CN" altLang="en-US" dirty="0"/>
              <a:t>不反映在任何市场价格上的价值</a:t>
            </a:r>
            <a:endParaRPr lang="en-US" altLang="zh-CN" dirty="0"/>
          </a:p>
          <a:p>
            <a:pPr lvl="1"/>
            <a:r>
              <a:rPr lang="zh-CN" altLang="en-US" dirty="0"/>
              <a:t>理论上可用条件价值法对样本群体进行估算</a:t>
            </a:r>
            <a:endParaRPr lang="en-US" altLang="zh-CN" dirty="0"/>
          </a:p>
          <a:p>
            <a:pPr lvl="1"/>
            <a:r>
              <a:rPr lang="zh-CN" altLang="en-US" dirty="0"/>
              <a:t>但对所有受到外部性影响的人群进行评价则通常不太现实</a:t>
            </a:r>
            <a:endParaRPr lang="en-US" altLang="zh-CN" dirty="0"/>
          </a:p>
          <a:p>
            <a:pPr lvl="1"/>
            <a:endParaRPr lang="en-US" altLang="zh-CN" dirty="0"/>
          </a:p>
          <a:p>
            <a:pPr lvl="1"/>
            <a:endParaRPr lang="en-US" altLang="zh-CN" dirty="0"/>
          </a:p>
          <a:p>
            <a:pPr marL="457200" lvl="1" indent="0">
              <a:buNone/>
            </a:pP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森林管理中的两种外部效果</a:t>
            </a:r>
            <a:endParaRPr lang="zh-CN" altLang="en-US" dirty="0"/>
          </a:p>
        </p:txBody>
      </p:sp>
      <p:sp>
        <p:nvSpPr>
          <p:cNvPr id="3" name="文本占位符 2"/>
          <p:cNvSpPr>
            <a:spLocks noGrp="1"/>
          </p:cNvSpPr>
          <p:nvPr>
            <p:ph type="body" idx="1"/>
          </p:nvPr>
        </p:nvSpPr>
        <p:spPr/>
        <p:txBody>
          <a:bodyPr/>
          <a:lstStyle/>
          <a:p>
            <a:r>
              <a:rPr lang="en-US" altLang="zh-CN" dirty="0"/>
              <a:t>Public goods</a:t>
            </a:r>
            <a:endParaRPr lang="zh-CN" altLang="en-US" dirty="0"/>
          </a:p>
        </p:txBody>
      </p:sp>
      <p:sp>
        <p:nvSpPr>
          <p:cNvPr id="4" name="内容占位符 3"/>
          <p:cNvSpPr>
            <a:spLocks noGrp="1"/>
          </p:cNvSpPr>
          <p:nvPr>
            <p:ph sz="half" idx="2"/>
          </p:nvPr>
        </p:nvSpPr>
        <p:spPr>
          <a:xfrm>
            <a:off x="457200" y="2174875"/>
            <a:ext cx="4040188" cy="1974205"/>
          </a:xfrm>
        </p:spPr>
        <p:txBody>
          <a:bodyPr/>
          <a:lstStyle/>
          <a:p>
            <a:r>
              <a:rPr lang="zh-CN" altLang="en-US" dirty="0"/>
              <a:t>景观设施或减缓气候变化</a:t>
            </a:r>
            <a:endParaRPr lang="en-US" altLang="zh-CN" dirty="0"/>
          </a:p>
          <a:p>
            <a:r>
              <a:rPr lang="zh-CN" altLang="en-US" dirty="0"/>
              <a:t>纯公共品</a:t>
            </a:r>
            <a:endParaRPr lang="en-US" altLang="zh-CN" dirty="0"/>
          </a:p>
          <a:p>
            <a:r>
              <a:rPr lang="zh-CN" altLang="en-US" dirty="0"/>
              <a:t>无排他性、无竞争性</a:t>
            </a:r>
            <a:endParaRPr lang="en-US" altLang="zh-CN" dirty="0"/>
          </a:p>
          <a:p>
            <a:r>
              <a:rPr lang="zh-CN" altLang="en-US" dirty="0"/>
              <a:t>无法进行标价和出售</a:t>
            </a:r>
            <a:endParaRPr lang="zh-CN" altLang="en-US" dirty="0"/>
          </a:p>
        </p:txBody>
      </p:sp>
      <p:sp>
        <p:nvSpPr>
          <p:cNvPr id="5" name="文本占位符 4"/>
          <p:cNvSpPr>
            <a:spLocks noGrp="1"/>
          </p:cNvSpPr>
          <p:nvPr>
            <p:ph type="body" sz="quarter" idx="3"/>
          </p:nvPr>
        </p:nvSpPr>
        <p:spPr/>
        <p:txBody>
          <a:bodyPr/>
          <a:lstStyle/>
          <a:p>
            <a:r>
              <a:rPr lang="en-US" altLang="zh-CN" dirty="0"/>
              <a:t>Option value</a:t>
            </a:r>
            <a:endParaRPr lang="zh-CN" altLang="en-US" dirty="0"/>
          </a:p>
        </p:txBody>
      </p:sp>
      <p:sp>
        <p:nvSpPr>
          <p:cNvPr id="6" name="内容占位符 5"/>
          <p:cNvSpPr>
            <a:spLocks noGrp="1"/>
          </p:cNvSpPr>
          <p:nvPr>
            <p:ph sz="quarter" idx="4"/>
          </p:nvPr>
        </p:nvSpPr>
        <p:spPr>
          <a:xfrm>
            <a:off x="4645025" y="2174875"/>
            <a:ext cx="4041775" cy="2190229"/>
          </a:xfrm>
        </p:spPr>
        <p:txBody>
          <a:bodyPr/>
          <a:lstStyle/>
          <a:p>
            <a:r>
              <a:rPr lang="zh-CN" altLang="en-US" dirty="0"/>
              <a:t>选择价值：即使不从中获益，也愿意为保留机会而付出一些代价</a:t>
            </a:r>
            <a:endParaRPr lang="en-US" altLang="zh-CN" dirty="0"/>
          </a:p>
          <a:p>
            <a:r>
              <a:rPr lang="zh-CN" altLang="en-US" dirty="0"/>
              <a:t>如：野生动物保护、天然林保护、生物多样性保护</a:t>
            </a:r>
            <a:endParaRPr lang="zh-CN" altLang="en-US" dirty="0"/>
          </a:p>
        </p:txBody>
      </p:sp>
      <p:pic>
        <p:nvPicPr>
          <p:cNvPr id="2050" name="Picture 2" descr="http://www.uux.cn/attachments/2011/10/1_201110180845101O4Uu.jpg"/>
          <p:cNvPicPr>
            <a:picLocks noChangeAspect="1" noChangeArrowheads="1"/>
          </p:cNvPicPr>
          <p:nvPr/>
        </p:nvPicPr>
        <p:blipFill>
          <a:blip r:embed="rId1"/>
          <a:srcRect/>
          <a:stretch>
            <a:fillRect/>
          </a:stretch>
        </p:blipFill>
        <p:spPr bwMode="auto">
          <a:xfrm>
            <a:off x="251520" y="1484784"/>
            <a:ext cx="4373236" cy="3520456"/>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788024" y="4524476"/>
            <a:ext cx="3743332" cy="369332"/>
          </a:xfrm>
          <a:prstGeom prst="rect">
            <a:avLst/>
          </a:prstGeom>
          <a:noFill/>
        </p:spPr>
        <p:txBody>
          <a:bodyPr wrap="non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a:ln w="11430"/>
                <a:solidFill>
                  <a:schemeClr val="accent3">
                    <a:lumMod val="75000"/>
                  </a:schemeClr>
                </a:solidFill>
                <a:effectLst>
                  <a:outerShdw blurRad="76200" dist="50800" dir="5400000" algn="tl" rotWithShape="0">
                    <a:srgbClr val="000000">
                      <a:alpha val="65000"/>
                    </a:srgbClr>
                  </a:outerShdw>
                </a:effectLst>
                <a:latin typeface="华文行楷" panose="02010800040101010101" pitchFamily="2" charset="-122"/>
                <a:ea typeface="华文行楷" panose="02010800040101010101" pitchFamily="2" charset="-122"/>
              </a:rPr>
              <a:t>各种各种的外部性通常不容易分开</a:t>
            </a:r>
            <a:endParaRPr lang="zh-CN" altLang="en-US" b="1" spc="50" dirty="0">
              <a:ln w="11430"/>
              <a:solidFill>
                <a:schemeClr val="accent3">
                  <a:lumMod val="75000"/>
                </a:schemeClr>
              </a:solidFill>
              <a:effectLst>
                <a:outerShdw blurRad="76200" dist="50800" dir="5400000" algn="tl" rotWithShape="0">
                  <a:srgbClr val="000000">
                    <a:alpha val="65000"/>
                  </a:srgbClr>
                </a:outerShdw>
              </a:effectLst>
              <a:latin typeface="华文行楷" panose="02010800040101010101" pitchFamily="2" charset="-122"/>
              <a:ea typeface="华文行楷" panose="02010800040101010101" pitchFamily="2" charset="-122"/>
            </a:endParaRPr>
          </a:p>
        </p:txBody>
      </p:sp>
      <p:pic>
        <p:nvPicPr>
          <p:cNvPr id="2052" name="Picture 4" descr="http://news.xinhuanet.com/environment/2009-02/11/xinsrc_042020611111684383807.jpg"/>
          <p:cNvPicPr>
            <a:picLocks noChangeAspect="1" noChangeArrowheads="1"/>
          </p:cNvPicPr>
          <p:nvPr/>
        </p:nvPicPr>
        <p:blipFill>
          <a:blip r:embed="rId2"/>
          <a:srcRect/>
          <a:stretch>
            <a:fillRect/>
          </a:stretch>
        </p:blipFill>
        <p:spPr bwMode="auto">
          <a:xfrm>
            <a:off x="4211960" y="1084148"/>
            <a:ext cx="4762500" cy="3943350"/>
          </a:xfrm>
          <a:prstGeom prst="rect">
            <a:avLst/>
          </a:prstGeom>
          <a:ln w="190500" cap="sq">
            <a:solidFill>
              <a:srgbClr val="C8C6BD"/>
            </a:solidFill>
            <a:prstDash val="solid"/>
            <a:miter lim="800000"/>
            <a:headEnd/>
            <a:tailEnd/>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51521" y="5373216"/>
            <a:ext cx="8424936" cy="646331"/>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保存一片森林的价值可能是消费者剩余、选择价值、保存价值的混合。</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而公共品可能产生所有以这些形式存在的价值。</a:t>
            </a:r>
            <a:endParaRPr lang="en-US" altLang="zh-CN" dirty="0">
              <a:latin typeface="黑体" panose="02010609060101010101" pitchFamily="49" charset="-122"/>
              <a:ea typeface="黑体" panose="02010609060101010101" pitchFamily="49" charset="-122"/>
            </a:endParaRPr>
          </a:p>
        </p:txBody>
      </p:sp>
      <p:sp>
        <p:nvSpPr>
          <p:cNvPr id="9" name="TextBox 8"/>
          <p:cNvSpPr txBox="1"/>
          <p:nvPr/>
        </p:nvSpPr>
        <p:spPr>
          <a:xfrm>
            <a:off x="251520" y="6019547"/>
            <a:ext cx="7416824"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b="1" spc="50" dirty="0">
                <a:ln w="11430"/>
                <a:solidFill>
                  <a:schemeClr val="accent3">
                    <a:lumMod val="75000"/>
                  </a:schemeClr>
                </a:soli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rPr>
              <a:t>对这些价值的估计必须依赖于主观评价方法，或为揭示不愿意失去它们的支付意愿而进行的公共调查。</a:t>
            </a:r>
            <a:endParaRPr lang="zh-CN" altLang="en-US" b="1" spc="50" dirty="0">
              <a:ln w="11430"/>
              <a:solidFill>
                <a:schemeClr val="accent3">
                  <a:lumMod val="75000"/>
                </a:schemeClr>
              </a:solidFill>
              <a:effectLst>
                <a:outerShdw blurRad="76200" dist="50800" dir="5400000" algn="tl" rotWithShape="0">
                  <a:srgbClr val="000000">
                    <a:alpha val="65000"/>
                  </a:srgbClr>
                </a:outerShdw>
              </a:effectLst>
              <a:latin typeface="黑体" panose="02010609060101010101" pitchFamily="49" charset="-122"/>
              <a:ea typeface="黑体" panose="02010609060101010101" pitchFamily="49" charset="-122"/>
            </a:endParaRPr>
          </a:p>
          <a:p>
            <a:endParaRPr lang="zh-CN" altLang="en-US" b="1" spc="50" dirty="0">
              <a:ln w="11430"/>
              <a:solidFill>
                <a:schemeClr val="accent3">
                  <a:lumMod val="75000"/>
                </a:schemeClr>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anim calcmode="lin" valueType="num">
                                      <p:cBhvr>
                                        <p:cTn id="19" dur="1000" fill="hold"/>
                                        <p:tgtEl>
                                          <p:spTgt spid="2052"/>
                                        </p:tgtEl>
                                        <p:attrNameLst>
                                          <p:attrName>ppt_w</p:attrName>
                                        </p:attrNameLst>
                                      </p:cBhvr>
                                      <p:tavLst>
                                        <p:tav tm="0">
                                          <p:val>
                                            <p:fltVal val="0"/>
                                          </p:val>
                                        </p:tav>
                                        <p:tav tm="100000">
                                          <p:val>
                                            <p:strVal val="#ppt_w"/>
                                          </p:val>
                                        </p:tav>
                                      </p:tavLst>
                                    </p:anim>
                                    <p:anim calcmode="lin" valueType="num">
                                      <p:cBhvr>
                                        <p:cTn id="20" dur="1000" fill="hold"/>
                                        <p:tgtEl>
                                          <p:spTgt spid="2052"/>
                                        </p:tgtEl>
                                        <p:attrNameLst>
                                          <p:attrName>ppt_h</p:attrName>
                                        </p:attrNameLst>
                                      </p:cBhvr>
                                      <p:tavLst>
                                        <p:tav tm="0">
                                          <p:val>
                                            <p:fltVal val="0"/>
                                          </p:val>
                                        </p:tav>
                                        <p:tav tm="100000">
                                          <p:val>
                                            <p:strVal val="#ppt_h"/>
                                          </p:val>
                                        </p:tav>
                                      </p:tavLst>
                                    </p:anim>
                                    <p:anim calcmode="lin" valueType="num">
                                      <p:cBhvr>
                                        <p:cTn id="21" dur="1000" fill="hold"/>
                                        <p:tgtEl>
                                          <p:spTgt spid="2052"/>
                                        </p:tgtEl>
                                        <p:attrNameLst>
                                          <p:attrName>style.rotation</p:attrName>
                                        </p:attrNameLst>
                                      </p:cBhvr>
                                      <p:tavLst>
                                        <p:tav tm="0">
                                          <p:val>
                                            <p:fltVal val="90"/>
                                          </p:val>
                                        </p:tav>
                                        <p:tav tm="100000">
                                          <p:val>
                                            <p:fltVal val="0"/>
                                          </p:val>
                                        </p:tav>
                                      </p:tavLst>
                                    </p:anim>
                                    <p:animEffect transition="in" filter="fade">
                                      <p:cBhvr>
                                        <p:cTn id="22" dur="1000"/>
                                        <p:tgtEl>
                                          <p:spTgt spid="2052"/>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xit" presetSubtype="0" fill="hold" nodeType="clickEffect">
                                  <p:stCondLst>
                                    <p:cond delay="0"/>
                                  </p:stCondLst>
                                  <p:childTnLst>
                                    <p:anim calcmode="lin" valueType="num">
                                      <p:cBhvr>
                                        <p:cTn id="30" dur="1000"/>
                                        <p:tgtEl>
                                          <p:spTgt spid="2050"/>
                                        </p:tgtEl>
                                        <p:attrNameLst>
                                          <p:attrName>ppt_w</p:attrName>
                                        </p:attrNameLst>
                                      </p:cBhvr>
                                      <p:tavLst>
                                        <p:tav tm="0">
                                          <p:val>
                                            <p:strVal val="ppt_w"/>
                                          </p:val>
                                        </p:tav>
                                        <p:tav tm="100000">
                                          <p:val>
                                            <p:fltVal val="0"/>
                                          </p:val>
                                        </p:tav>
                                      </p:tavLst>
                                    </p:anim>
                                    <p:anim calcmode="lin" valueType="num">
                                      <p:cBhvr>
                                        <p:cTn id="31" dur="1000"/>
                                        <p:tgtEl>
                                          <p:spTgt spid="2050"/>
                                        </p:tgtEl>
                                        <p:attrNameLst>
                                          <p:attrName>ppt_h</p:attrName>
                                        </p:attrNameLst>
                                      </p:cBhvr>
                                      <p:tavLst>
                                        <p:tav tm="0">
                                          <p:val>
                                            <p:strVal val="ppt_h"/>
                                          </p:val>
                                        </p:tav>
                                        <p:tav tm="100000">
                                          <p:val>
                                            <p:fltVal val="0"/>
                                          </p:val>
                                        </p:tav>
                                      </p:tavLst>
                                    </p:anim>
                                    <p:anim calcmode="lin" valueType="num">
                                      <p:cBhvr>
                                        <p:cTn id="32" dur="1000"/>
                                        <p:tgtEl>
                                          <p:spTgt spid="2050"/>
                                        </p:tgtEl>
                                        <p:attrNameLst>
                                          <p:attrName>style.rotation</p:attrName>
                                        </p:attrNameLst>
                                      </p:cBhvr>
                                      <p:tavLst>
                                        <p:tav tm="0">
                                          <p:val>
                                            <p:fltVal val="0"/>
                                          </p:val>
                                        </p:tav>
                                        <p:tav tm="100000">
                                          <p:val>
                                            <p:fltVal val="90"/>
                                          </p:val>
                                        </p:tav>
                                      </p:tavLst>
                                    </p:anim>
                                    <p:animEffect transition="out" filter="fade">
                                      <p:cBhvr>
                                        <p:cTn id="33" dur="1000"/>
                                        <p:tgtEl>
                                          <p:spTgt spid="2050"/>
                                        </p:tgtEl>
                                      </p:cBhvr>
                                    </p:animEffect>
                                    <p:set>
                                      <p:cBhvr>
                                        <p:cTn id="34" dur="1" fill="hold">
                                          <p:stCondLst>
                                            <p:cond delay="999"/>
                                          </p:stCondLst>
                                        </p:cTn>
                                        <p:tgtEl>
                                          <p:spTgt spid="2050"/>
                                        </p:tgtEl>
                                        <p:attrNameLst>
                                          <p:attrName>style.visibility</p:attrName>
                                        </p:attrNameLst>
                                      </p:cBhvr>
                                      <p:to>
                                        <p:strVal val="hidden"/>
                                      </p:to>
                                    </p:set>
                                  </p:childTnLst>
                                </p:cTn>
                              </p:par>
                              <p:par>
                                <p:cTn id="35" presetID="53" presetClass="exit" presetSubtype="32" fill="hold" nodeType="withEffect">
                                  <p:stCondLst>
                                    <p:cond delay="0"/>
                                  </p:stCondLst>
                                  <p:childTnLst>
                                    <p:anim calcmode="lin" valueType="num">
                                      <p:cBhvr>
                                        <p:cTn id="36" dur="500"/>
                                        <p:tgtEl>
                                          <p:spTgt spid="2052"/>
                                        </p:tgtEl>
                                        <p:attrNameLst>
                                          <p:attrName>ppt_w</p:attrName>
                                        </p:attrNameLst>
                                      </p:cBhvr>
                                      <p:tavLst>
                                        <p:tav tm="0">
                                          <p:val>
                                            <p:strVal val="ppt_w"/>
                                          </p:val>
                                        </p:tav>
                                        <p:tav tm="100000">
                                          <p:val>
                                            <p:fltVal val="0"/>
                                          </p:val>
                                        </p:tav>
                                      </p:tavLst>
                                    </p:anim>
                                    <p:anim calcmode="lin" valueType="num">
                                      <p:cBhvr>
                                        <p:cTn id="37" dur="500"/>
                                        <p:tgtEl>
                                          <p:spTgt spid="2052"/>
                                        </p:tgtEl>
                                        <p:attrNameLst>
                                          <p:attrName>ppt_h</p:attrName>
                                        </p:attrNameLst>
                                      </p:cBhvr>
                                      <p:tavLst>
                                        <p:tav tm="0">
                                          <p:val>
                                            <p:strVal val="ppt_h"/>
                                          </p:val>
                                        </p:tav>
                                        <p:tav tm="100000">
                                          <p:val>
                                            <p:fltVal val="0"/>
                                          </p:val>
                                        </p:tav>
                                      </p:tavLst>
                                    </p:anim>
                                    <p:animEffect transition="out" filter="fade">
                                      <p:cBhvr>
                                        <p:cTn id="38" dur="500"/>
                                        <p:tgtEl>
                                          <p:spTgt spid="2052"/>
                                        </p:tgtEl>
                                      </p:cBhvr>
                                    </p:animEffect>
                                    <p:set>
                                      <p:cBhvr>
                                        <p:cTn id="39" dur="1" fill="hold">
                                          <p:stCondLst>
                                            <p:cond delay="499"/>
                                          </p:stCondLst>
                                        </p:cTn>
                                        <p:tgtEl>
                                          <p:spTgt spid="205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Intrinsic Value</a:t>
            </a:r>
            <a:endParaRPr lang="zh-CN" altLang="en-US" dirty="0"/>
          </a:p>
        </p:txBody>
      </p:sp>
      <p:sp>
        <p:nvSpPr>
          <p:cNvPr id="3" name="内容占位符 2"/>
          <p:cNvSpPr>
            <a:spLocks noGrp="1"/>
          </p:cNvSpPr>
          <p:nvPr>
            <p:ph idx="1"/>
          </p:nvPr>
        </p:nvSpPr>
        <p:spPr>
          <a:xfrm>
            <a:off x="395536" y="1052736"/>
            <a:ext cx="8424936" cy="5400600"/>
          </a:xfrm>
        </p:spPr>
        <p:txBody>
          <a:bodyPr/>
          <a:lstStyle/>
          <a:p>
            <a:r>
              <a:rPr lang="en-US" altLang="zh-CN" dirty="0"/>
              <a:t>Some philosopher and conservation biologists view all living organisms and works of nature as having their own intrinsic value</a:t>
            </a:r>
            <a:r>
              <a:rPr lang="zh-CN" altLang="en-US" dirty="0"/>
              <a:t>，</a:t>
            </a:r>
            <a:r>
              <a:rPr lang="en-US" altLang="zh-CN" dirty="0"/>
              <a:t>independent of human perceptions of their usefulness or their aesthetic and spiritual appeal</a:t>
            </a:r>
            <a:endParaRPr lang="en-US" altLang="zh-CN" dirty="0"/>
          </a:p>
          <a:p>
            <a:r>
              <a:rPr lang="zh-CN" altLang="en-US" dirty="0"/>
              <a:t>认为自然资源的价值不取决于人们对其的消费和利用</a:t>
            </a:r>
            <a:endParaRPr lang="en-US" altLang="zh-CN" dirty="0"/>
          </a:p>
          <a:p>
            <a:r>
              <a:rPr lang="zh-CN" altLang="en-US" dirty="0"/>
              <a:t>更多基于道德角度，否定经济学分析的必要性</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六、其它实用上的局限性</a:t>
            </a:r>
            <a:endParaRPr lang="zh-CN" altLang="en-US" dirty="0"/>
          </a:p>
        </p:txBody>
      </p:sp>
      <p:sp>
        <p:nvSpPr>
          <p:cNvPr id="3" name="文本占位符 2"/>
          <p:cNvSpPr>
            <a:spLocks noGrp="1"/>
          </p:cNvSpPr>
          <p:nvPr>
            <p:ph type="body" idx="1"/>
          </p:nvPr>
        </p:nvSpPr>
        <p:spPr/>
        <p:txBody>
          <a:bodyPr/>
          <a:lstStyle/>
          <a:p>
            <a:r>
              <a:rPr lang="en-US" altLang="zh-CN" dirty="0"/>
              <a:t>Other practical complications</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115300" cy="796925"/>
          </a:xfrm>
        </p:spPr>
        <p:txBody>
          <a:bodyPr>
            <a:noAutofit/>
          </a:bodyPr>
          <a:lstStyle/>
          <a:p>
            <a:r>
              <a:rPr lang="zh-CN" altLang="en-US" sz="3600" dirty="0">
                <a:solidFill>
                  <a:schemeClr val="accent3">
                    <a:lumMod val="75000"/>
                  </a:schemeClr>
                </a:solidFill>
                <a:effectLst>
                  <a:innerShdw blurRad="63500" dist="50800" dir="16200000">
                    <a:prstClr val="black">
                      <a:alpha val="50000"/>
                    </a:prstClr>
                  </a:innerShdw>
                </a:effectLst>
              </a:rPr>
              <a:t>缺乏市场价格导致森林效益价值评价的困难</a:t>
            </a:r>
            <a:endParaRPr lang="zh-CN" altLang="en-US" sz="3600" dirty="0">
              <a:solidFill>
                <a:schemeClr val="accent3">
                  <a:lumMod val="75000"/>
                </a:schemeClr>
              </a:solidFill>
              <a:effectLst>
                <a:innerShdw blurRad="63500" dist="50800" dir="16200000">
                  <a:prstClr val="black">
                    <a:alpha val="50000"/>
                  </a:prstClr>
                </a:innerShdw>
              </a:effectLst>
            </a:endParaRPr>
          </a:p>
        </p:txBody>
      </p:sp>
      <p:sp>
        <p:nvSpPr>
          <p:cNvPr id="3" name="内容占位符 2"/>
          <p:cNvSpPr>
            <a:spLocks noGrp="1"/>
          </p:cNvSpPr>
          <p:nvPr>
            <p:ph idx="1"/>
          </p:nvPr>
        </p:nvSpPr>
        <p:spPr/>
        <p:txBody>
          <a:bodyPr/>
          <a:lstStyle/>
          <a:p>
            <a:r>
              <a:rPr lang="zh-CN" altLang="en-US" dirty="0"/>
              <a:t>尽可能利用市场价格对森林效益进行评价</a:t>
            </a:r>
            <a:endParaRPr lang="en-US" altLang="zh-CN" dirty="0"/>
          </a:p>
          <a:p>
            <a:r>
              <a:rPr lang="zh-CN" altLang="en-US" dirty="0"/>
              <a:t>所有方法都只提供了粗略的估计结果，但为确定如何最好地使用和发展森林提供了有益的依据</a:t>
            </a:r>
            <a:endParaRPr lang="en-US" altLang="zh-CN" dirty="0"/>
          </a:p>
          <a:p>
            <a:r>
              <a:rPr lang="zh-CN" altLang="en-US" dirty="0"/>
              <a:t>在忽略供给成本的情况下，往往高估森林资源的价值</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本章小结</a:t>
            </a:r>
            <a:endParaRPr lang="zh-CN" altLang="en-US" dirty="0"/>
          </a:p>
        </p:txBody>
      </p:sp>
      <p:sp>
        <p:nvSpPr>
          <p:cNvPr id="3" name="内容占位符 2"/>
          <p:cNvSpPr>
            <a:spLocks noGrp="1"/>
          </p:cNvSpPr>
          <p:nvPr>
            <p:ph idx="1"/>
          </p:nvPr>
        </p:nvSpPr>
        <p:spPr/>
        <p:txBody>
          <a:bodyPr/>
          <a:lstStyle/>
          <a:p>
            <a:r>
              <a:rPr lang="zh-CN" altLang="en-US" dirty="0"/>
              <a:t>条件价值法：</a:t>
            </a:r>
            <a:endParaRPr lang="en-US" altLang="zh-CN" dirty="0"/>
          </a:p>
          <a:p>
            <a:pPr lvl="1"/>
            <a:r>
              <a:rPr lang="zh-CN" altLang="en-US" dirty="0"/>
              <a:t>最直接的评估方法</a:t>
            </a:r>
            <a:endParaRPr lang="en-US" altLang="zh-CN" dirty="0"/>
          </a:p>
          <a:p>
            <a:pPr lvl="1"/>
            <a:r>
              <a:rPr lang="zh-CN" altLang="en-US" dirty="0"/>
              <a:t>调查假设情况下消费者的支付意愿</a:t>
            </a:r>
            <a:endParaRPr lang="en-US" altLang="zh-CN" dirty="0"/>
          </a:p>
          <a:p>
            <a:r>
              <a:rPr lang="zh-CN" altLang="en-US" dirty="0"/>
              <a:t>旅行费用法、特征法、费用支出法</a:t>
            </a:r>
            <a:endParaRPr lang="en-US" altLang="zh-CN" dirty="0"/>
          </a:p>
          <a:p>
            <a:pPr lvl="1"/>
            <a:r>
              <a:rPr lang="zh-CN" altLang="en-US" dirty="0"/>
              <a:t>间接评价方法</a:t>
            </a:r>
            <a:endParaRPr lang="en-US" altLang="zh-CN" dirty="0"/>
          </a:p>
          <a:p>
            <a:pPr lvl="1"/>
            <a:r>
              <a:rPr lang="zh-CN" altLang="en-US" dirty="0"/>
              <a:t>从需求、供给等角度出发</a:t>
            </a:r>
            <a:endParaRPr lang="en-US" altLang="zh-CN" dirty="0"/>
          </a:p>
          <a:p>
            <a:r>
              <a:rPr lang="zh-CN" altLang="en-US" dirty="0"/>
              <a:t>可能出现高估：</a:t>
            </a:r>
            <a:endParaRPr lang="en-US" altLang="zh-CN" dirty="0"/>
          </a:p>
          <a:p>
            <a:pPr lvl="1"/>
            <a:r>
              <a:rPr lang="zh-CN" altLang="en-US"/>
              <a:t>只考虑需求曲线以下的部分，更多估计的是使用价值而非交换价值。</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dirty="0"/>
              <a:t>Key</a:t>
            </a:r>
            <a:r>
              <a:rPr kumimoji="1" lang="en-US" altLang="en-US" dirty="0"/>
              <a:t> </a:t>
            </a:r>
            <a:r>
              <a:rPr kumimoji="1" lang="en-US" altLang="en-US" dirty="0"/>
              <a:t>words</a:t>
            </a:r>
            <a:endParaRPr kumimoji="1" lang="zh-CN" altLang="en-US" dirty="0"/>
          </a:p>
        </p:txBody>
      </p:sp>
      <p:sp>
        <p:nvSpPr>
          <p:cNvPr id="3" name="内容占位符 2"/>
          <p:cNvSpPr>
            <a:spLocks noGrp="1"/>
          </p:cNvSpPr>
          <p:nvPr>
            <p:ph idx="1"/>
          </p:nvPr>
        </p:nvSpPr>
        <p:spPr/>
        <p:txBody>
          <a:bodyPr numCol="2"/>
          <a:lstStyle/>
          <a:p>
            <a:r>
              <a:rPr kumimoji="1" lang="en-US" altLang="en-US" sz="2400" dirty="0"/>
              <a:t>Stumpage </a:t>
            </a:r>
            <a:endParaRPr kumimoji="1" lang="en-US" altLang="en-US" sz="2400" dirty="0"/>
          </a:p>
          <a:p>
            <a:r>
              <a:rPr kumimoji="1" lang="en-US" altLang="en-US" sz="2400" dirty="0"/>
              <a:t>Delivered logs</a:t>
            </a:r>
            <a:endParaRPr kumimoji="1" lang="en-US" altLang="en-US" sz="2400" dirty="0"/>
          </a:p>
          <a:p>
            <a:r>
              <a:rPr kumimoji="1" lang="en-US" altLang="en-US" sz="2400" dirty="0"/>
              <a:t>Forest products markets</a:t>
            </a:r>
            <a:endParaRPr kumimoji="1" lang="en-US" altLang="en-US" sz="2400" dirty="0"/>
          </a:p>
          <a:p>
            <a:r>
              <a:rPr kumimoji="1" lang="en-US" altLang="en-US" sz="2400" dirty="0"/>
              <a:t>Derived demand</a:t>
            </a:r>
            <a:endParaRPr kumimoji="1" lang="en-US" altLang="en-US" sz="2400" dirty="0"/>
          </a:p>
          <a:p>
            <a:r>
              <a:rPr kumimoji="1" lang="en-US" altLang="en-US" sz="2400" dirty="0"/>
              <a:t>Long-run supply &amp; Very long-run supply</a:t>
            </a:r>
            <a:endParaRPr kumimoji="1" lang="en-US" altLang="en-US" sz="2400" dirty="0"/>
          </a:p>
          <a:p>
            <a:r>
              <a:rPr kumimoji="1" lang="en-US" altLang="en-US" sz="2400" dirty="0"/>
              <a:t>Unpriced values</a:t>
            </a:r>
            <a:endParaRPr kumimoji="1" lang="en-US" altLang="en-US" sz="2400" dirty="0"/>
          </a:p>
          <a:p>
            <a:r>
              <a:rPr kumimoji="1" lang="en-US" altLang="en-US" sz="2400" dirty="0"/>
              <a:t>Consumer surplus</a:t>
            </a:r>
            <a:endParaRPr kumimoji="1" lang="en-US" altLang="en-US" sz="2400" dirty="0"/>
          </a:p>
          <a:p>
            <a:r>
              <a:rPr kumimoji="1" lang="en-US" altLang="en-US" sz="2400" dirty="0"/>
              <a:t>Willingness to pay</a:t>
            </a:r>
            <a:endParaRPr kumimoji="1" lang="en-US" altLang="en-US" sz="2400" dirty="0"/>
          </a:p>
          <a:p>
            <a:r>
              <a:rPr lang="en-US" altLang="en-US" sz="2400" dirty="0"/>
              <a:t>C</a:t>
            </a:r>
            <a:r>
              <a:rPr lang="en-US" altLang="zh-CN" sz="2400" dirty="0"/>
              <a:t>ontingent valuation method</a:t>
            </a:r>
            <a:endParaRPr kumimoji="1" lang="en-US" altLang="en-US" sz="2400" dirty="0"/>
          </a:p>
          <a:p>
            <a:r>
              <a:rPr kumimoji="1" lang="en-US" altLang="en-US" sz="2400" dirty="0"/>
              <a:t>Contingent choice method</a:t>
            </a:r>
            <a:endParaRPr lang="en-US" altLang="zh-CN" sz="2400" dirty="0"/>
          </a:p>
          <a:p>
            <a:r>
              <a:rPr lang="en-US" altLang="en-US" sz="2400" dirty="0"/>
              <a:t>T</a:t>
            </a:r>
            <a:r>
              <a:rPr lang="en-US" altLang="zh-CN" sz="2400" dirty="0"/>
              <a:t>ravel cost approach</a:t>
            </a:r>
            <a:endParaRPr lang="en-US" altLang="zh-CN" sz="2400" dirty="0"/>
          </a:p>
          <a:p>
            <a:r>
              <a:rPr lang="en-US" altLang="zh-CN" sz="2400" dirty="0"/>
              <a:t>The Hedonic Method</a:t>
            </a:r>
            <a:endParaRPr kumimoji="1" lang="en-US" altLang="en-US" sz="2400" dirty="0"/>
          </a:p>
          <a:p>
            <a:r>
              <a:rPr kumimoji="1" lang="en-US" altLang="en-US" sz="2400" dirty="0"/>
              <a:t>Expenditure-Based Methods</a:t>
            </a:r>
            <a:endParaRPr kumimoji="1" lang="en-US" altLang="en-US" sz="2400" dirty="0"/>
          </a:p>
          <a:p>
            <a:r>
              <a:rPr kumimoji="1" lang="en-US" altLang="en-US" sz="2400" dirty="0"/>
              <a:t>Cost-Effectiveness Analysis</a:t>
            </a:r>
            <a:endParaRPr kumimoji="1" lang="en-US" altLang="en-US" sz="2400" dirty="0"/>
          </a:p>
        </p:txBody>
      </p:sp>
    </p:spTree>
  </p:cSld>
  <p:clrMapOvr>
    <a:masterClrMapping/>
  </p:clrMapOvr>
</p:sld>
</file>

<file path=ppt/tags/tag1.xml><?xml version="1.0" encoding="utf-8"?>
<p:tagLst xmlns:p="http://schemas.openxmlformats.org/presentationml/2006/main">
  <p:tag name="commondata" val="eyJoZGlkIjoiMGJlMDdhYWFkMWM4ZjNjZDkwMGYyMDI5NjI4MzdhZjUifQ=="/>
</p:tagLst>
</file>

<file path=ppt/theme/theme1.xml><?xml version="1.0" encoding="utf-8"?>
<a:theme xmlns:a="http://schemas.openxmlformats.org/drawingml/2006/main" name="PPT天蓝风格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10450</Words>
  <Application>WPS 演示</Application>
  <PresentationFormat>全屏显示(4:3)</PresentationFormat>
  <Paragraphs>811</Paragraphs>
  <Slides>75</Slides>
  <Notes>6</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75</vt:i4>
      </vt:variant>
    </vt:vector>
  </HeadingPairs>
  <TitlesOfParts>
    <vt:vector size="97" baseType="lpstr">
      <vt:lpstr>Arial</vt:lpstr>
      <vt:lpstr>宋体</vt:lpstr>
      <vt:lpstr>Wingdings</vt:lpstr>
      <vt:lpstr>Verdana</vt:lpstr>
      <vt:lpstr>隶书</vt:lpstr>
      <vt:lpstr>Times New Roman</vt:lpstr>
      <vt:lpstr>黑体</vt:lpstr>
      <vt:lpstr>Wingdings 3</vt:lpstr>
      <vt:lpstr>Arial</vt:lpstr>
      <vt:lpstr>Century Gothic</vt:lpstr>
      <vt:lpstr>Roman 10cpi</vt:lpstr>
      <vt:lpstr>Calibri</vt:lpstr>
      <vt:lpstr>Segoe Print</vt:lpstr>
      <vt:lpstr>微软雅黑</vt:lpstr>
      <vt:lpstr>Arial Unicode MS</vt:lpstr>
      <vt:lpstr>Symbol</vt:lpstr>
      <vt:lpstr>Times New Roman</vt:lpstr>
      <vt:lpstr>华文琥珀</vt:lpstr>
      <vt:lpstr>华文行楷</vt:lpstr>
      <vt:lpstr>幼圆</vt:lpstr>
      <vt:lpstr>PPT天蓝风格模板</vt:lpstr>
      <vt:lpstr>丝状</vt:lpstr>
      <vt:lpstr>木材价格</vt:lpstr>
      <vt:lpstr>三个不同的市场</vt:lpstr>
      <vt:lpstr>PowerPoint 演示文稿</vt:lpstr>
      <vt:lpstr>林产品的供给和需求</vt:lpstr>
      <vt:lpstr>木材的供给和需求</vt:lpstr>
      <vt:lpstr>短期和长期的木材供给</vt:lpstr>
      <vt:lpstr>短期和长期的木材供给</vt:lpstr>
      <vt:lpstr>PowerPoint 演示文稿</vt:lpstr>
      <vt:lpstr>PowerPoint 演示文稿</vt:lpstr>
      <vt:lpstr>立木价格的决定因素</vt:lpstr>
      <vt:lpstr>Unpriced Forest Values </vt:lpstr>
      <vt:lpstr>Contents</vt:lpstr>
      <vt:lpstr>Unpriced Values: A Problem of Measurement</vt:lpstr>
      <vt:lpstr>森林的非木材效益 non-timber benefits</vt:lpstr>
      <vt:lpstr>Why some forest benefits are not priced and sold？</vt:lpstr>
      <vt:lpstr>PowerPoint 演示文稿</vt:lpstr>
      <vt:lpstr>没有价格并非意味着没有价值 如何在没有市场价格指标的情况下来衡量森林产品及服务的价值？</vt:lpstr>
      <vt:lpstr>估计消费者愿意支付多少？</vt:lpstr>
      <vt:lpstr>二、消费者剩余作为价值的计量</vt:lpstr>
      <vt:lpstr>Willingness-to-pay</vt:lpstr>
      <vt:lpstr>PowerPoint 演示文稿</vt:lpstr>
      <vt:lpstr>PowerPoint 演示文稿</vt:lpstr>
      <vt:lpstr>需要估计它所产生的消费者剩余 需要确定消费者的需求曲线并测量曲线以下的面积</vt:lpstr>
      <vt:lpstr>三、对无价格的野外游憩的评价</vt:lpstr>
      <vt:lpstr>对野外游憩地的需求</vt:lpstr>
      <vt:lpstr>——直接向消费者询问</vt:lpstr>
      <vt:lpstr>条件价值方法（contingent valuation method,CVM）</vt:lpstr>
      <vt:lpstr>如果把晓南湖填平，最少能接受的补偿是多高？</vt:lpstr>
      <vt:lpstr>失去时可接受的最小补偿：补偿差异（Compensating Variation）</vt:lpstr>
      <vt:lpstr>PowerPoint 演示文稿</vt:lpstr>
      <vt:lpstr>PowerPoint 演示文稿</vt:lpstr>
      <vt:lpstr>哪种方法更为合适？</vt:lpstr>
      <vt:lpstr>消费支出函数</vt:lpstr>
      <vt:lpstr>问卷设计要点：</vt:lpstr>
      <vt:lpstr>一些补充方法</vt:lpstr>
      <vt:lpstr>PowerPoint 演示文稿</vt:lpstr>
      <vt:lpstr>什么是条件选择法？</vt:lpstr>
      <vt:lpstr>——从观察到的间接证据中推断</vt:lpstr>
      <vt:lpstr>旅行费用法、特征法（享乐法） the travel cost approach hedonic price method</vt:lpstr>
      <vt:lpstr>（1）Theory of Recreation Behavior</vt:lpstr>
      <vt:lpstr>PowerPoint 演示文稿</vt:lpstr>
      <vt:lpstr>旅行费用法：The travel cost approach </vt:lpstr>
      <vt:lpstr>旅行费用法</vt:lpstr>
      <vt:lpstr>需满足的假设</vt:lpstr>
      <vt:lpstr>相同支付意愿假设可能夸大消费者剩余</vt:lpstr>
      <vt:lpstr>PowerPoint 演示文稿</vt:lpstr>
      <vt:lpstr>PowerPoint 演示文稿</vt:lpstr>
      <vt:lpstr>PowerPoint 演示文稿</vt:lpstr>
      <vt:lpstr>以第1、2区为例，</vt:lpstr>
      <vt:lpstr>据此推算</vt:lpstr>
      <vt:lpstr>PowerPoint 演示文稿</vt:lpstr>
      <vt:lpstr>PowerPoint 演示文稿</vt:lpstr>
      <vt:lpstr>PowerPoint 演示文稿</vt:lpstr>
      <vt:lpstr>特征法（享乐法）The Hedonic Method </vt:lpstr>
      <vt:lpstr>PowerPoint 演示文稿</vt:lpstr>
      <vt:lpstr>1、寻找参照物：东湖、西湖、东西湖…… 2、分解特征：湖面大小、水质、知名度…… 3、回归分析，求解各个特征对消费者花费金钱的影响程度大小 4、将晓南湖的特征变量代入模型中，求解消费者愿意为其花费的平均费用</vt:lpstr>
      <vt:lpstr>特征法的优点和困难</vt:lpstr>
      <vt:lpstr>Expenditure-Based Methods</vt:lpstr>
      <vt:lpstr>三种成本的估计方法</vt:lpstr>
      <vt:lpstr>成本-有效性分析</vt:lpstr>
      <vt:lpstr>PowerPoint 演示文稿</vt:lpstr>
      <vt:lpstr>四、在评价游憩资源时需要考虑的其它问题</vt:lpstr>
      <vt:lpstr>对人类不具有直接效益的森林效益</vt:lpstr>
      <vt:lpstr>游乐设施容量、质量和拥挤现象</vt:lpstr>
      <vt:lpstr>PowerPoint 演示文稿</vt:lpstr>
      <vt:lpstr>“从众效应”使得人们更愿意前往拥挤的游览胜地 </vt:lpstr>
      <vt:lpstr>拥挤会导致质量的下降，如何改进？</vt:lpstr>
      <vt:lpstr>五、外部性和内在价值</vt:lpstr>
      <vt:lpstr>Externalities</vt:lpstr>
      <vt:lpstr>森林管理中的两种外部效果</vt:lpstr>
      <vt:lpstr>Intrinsic Value</vt:lpstr>
      <vt:lpstr>六、其它实用上的局限性</vt:lpstr>
      <vt:lpstr>缺乏市场价格导致森林效益价值评价的困难</vt:lpstr>
      <vt:lpstr>本章小结</vt:lpstr>
      <vt:lpstr>Key words</vt:lpstr>
    </vt:vector>
  </TitlesOfParts>
  <Company>Lenovo (Beijing) Limited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郎晓娟</dc:creator>
  <cp:lastModifiedBy>lxj</cp:lastModifiedBy>
  <cp:revision>247</cp:revision>
  <dcterms:created xsi:type="dcterms:W3CDTF">2008-10-30T07:42:00Z</dcterms:created>
  <dcterms:modified xsi:type="dcterms:W3CDTF">2024-08-21T08:00:09Z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3322C1FA31ED4276ACE58E5B4D8251C7_13</vt:lpwstr>
  </property>
  <property fmtid="{D5CDD505-2E9C-101B-9397-08002B2CF9AE}" pid="3" name="KSOProductBuildVer">
    <vt:lpwstr>2052-12.1.0.17147</vt:lpwstr>
  </property>
</Properties>
</file>