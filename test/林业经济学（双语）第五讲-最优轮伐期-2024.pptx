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vml" ContentType="application/vnd.openxmlformats-officedocument.vmlDrawing"/>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7" r:id="rId1"/>
  </p:sldMasterIdLst>
  <p:notesMasterIdLst>
    <p:notesMasterId r:id="rId82"/>
  </p:notesMasterIdLst>
  <p:sldIdLst>
    <p:sldId id="256" r:id="rId2"/>
    <p:sldId id="261" r:id="rId3"/>
    <p:sldId id="264" r:id="rId4"/>
    <p:sldId id="263" r:id="rId5"/>
    <p:sldId id="265" r:id="rId6"/>
    <p:sldId id="262" r:id="rId7"/>
    <p:sldId id="266" r:id="rId8"/>
    <p:sldId id="267" r:id="rId9"/>
    <p:sldId id="257" r:id="rId10"/>
    <p:sldId id="268" r:id="rId11"/>
    <p:sldId id="269" r:id="rId12"/>
    <p:sldId id="270" r:id="rId13"/>
    <p:sldId id="271" r:id="rId14"/>
    <p:sldId id="272" r:id="rId15"/>
    <p:sldId id="273" r:id="rId16"/>
    <p:sldId id="274" r:id="rId17"/>
    <p:sldId id="275" r:id="rId18"/>
    <p:sldId id="276" r:id="rId19"/>
    <p:sldId id="258" r:id="rId20"/>
    <p:sldId id="277" r:id="rId21"/>
    <p:sldId id="278" r:id="rId22"/>
    <p:sldId id="279" r:id="rId23"/>
    <p:sldId id="280" r:id="rId24"/>
    <p:sldId id="281" r:id="rId25"/>
    <p:sldId id="282" r:id="rId26"/>
    <p:sldId id="283" r:id="rId27"/>
    <p:sldId id="284" r:id="rId28"/>
    <p:sldId id="259"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31" r:id="rId47"/>
    <p:sldId id="332" r:id="rId48"/>
    <p:sldId id="333" r:id="rId49"/>
    <p:sldId id="334" r:id="rId50"/>
    <p:sldId id="335" r:id="rId51"/>
    <p:sldId id="304" r:id="rId52"/>
    <p:sldId id="303" r:id="rId53"/>
    <p:sldId id="302"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260" r:id="rId72"/>
    <p:sldId id="322" r:id="rId73"/>
    <p:sldId id="323" r:id="rId74"/>
    <p:sldId id="324" r:id="rId75"/>
    <p:sldId id="325" r:id="rId76"/>
    <p:sldId id="326" r:id="rId77"/>
    <p:sldId id="327" r:id="rId78"/>
    <p:sldId id="328" r:id="rId79"/>
    <p:sldId id="329" r:id="rId80"/>
    <p:sldId id="330" r:id="rId8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0B7C3"/>
    <a:srgbClr val="C7DAE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04"/>
    <p:restoredTop sz="94655"/>
  </p:normalViewPr>
  <p:slideViewPr>
    <p:cSldViewPr snapToGrid="0" snapToObjects="1">
      <p:cViewPr varScale="1">
        <p:scale>
          <a:sx n="94" d="100"/>
          <a:sy n="94" d="100"/>
        </p:scale>
        <p:origin x="760" y="18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viewProps" Target="view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image" Target="../media/image4.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image" Target="../media/image8.wmf"/><Relationship Id="rId1" Type="http://schemas.openxmlformats.org/officeDocument/2006/relationships/image" Target="../media/image7.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5.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7.png"/></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2.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2.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3.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0.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91B6CB8-46BB-BC4E-98E3-5C44AEBC1890}" type="datetimeFigureOut">
              <a:rPr kumimoji="1" lang="zh-CN" altLang="en-US" smtClean="0"/>
              <a:t>2019/6/2</a:t>
            </a:fld>
            <a:endParaRPr kumimoji="1"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zh-CN" altLang="en-US"/>
          </a:p>
        </p:txBody>
      </p:sp>
      <p:sp>
        <p:nvSpPr>
          <p:cNvPr id="7" name="幻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8960A75-F1CF-C34B-BC09-E584F105627A}" type="slidenum">
              <a:rPr kumimoji="1" lang="zh-CN" altLang="en-US" smtClean="0"/>
              <a:t>‹#›</a:t>
            </a:fld>
            <a:endParaRPr kumimoji="1" lang="zh-CN" altLang="en-US"/>
          </a:p>
        </p:txBody>
      </p:sp>
    </p:spTree>
    <p:extLst>
      <p:ext uri="{BB962C8B-B14F-4D97-AF65-F5344CB8AC3E}">
        <p14:creationId xmlns:p14="http://schemas.microsoft.com/office/powerpoint/2010/main" val="3601515332"/>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 uri="{FAA26D3D-D897-4be2-8F04-BA451C77F1D7}">
              <ma14:placeholderFlag xmlns:ma14="http://schemas.microsoft.com/office/mac/drawingml/2011/main" xmlns="" val="1"/>
            </a:ext>
          </a:extLst>
        </p:spPr>
      </p:sp>
      <p:sp>
        <p:nvSpPr>
          <p:cNvPr id="77827"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eaLnBrk="1" hangingPunct="1">
              <a:spcBef>
                <a:spcPct val="0"/>
              </a:spcBef>
            </a:pPr>
            <a:endParaRPr lang="en-CA">
              <a:latin typeface="Calibri" charset="0"/>
            </a:endParaRPr>
          </a:p>
        </p:txBody>
      </p:sp>
      <p:sp>
        <p:nvSpPr>
          <p:cNvPr id="77828" name="Slide Number Placeholder 3"/>
          <p:cNvSpPr>
            <a:spLocks noGrp="1"/>
          </p:cNvSpPr>
          <p:nvPr>
            <p:ph type="sldNum" sz="quarter" idx="5"/>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charset="0"/>
                <a:ea typeface="宋体" charset="0"/>
              </a:defRPr>
            </a:lvl1pPr>
            <a:lvl2pPr marL="742950" indent="-285750" eaLnBrk="0" hangingPunct="0">
              <a:defRPr>
                <a:solidFill>
                  <a:schemeClr val="tx1"/>
                </a:solidFill>
                <a:latin typeface="Arial" charset="0"/>
                <a:ea typeface="宋体" charset="0"/>
              </a:defRPr>
            </a:lvl2pPr>
            <a:lvl3pPr marL="1143000" indent="-228600" eaLnBrk="0" hangingPunct="0">
              <a:defRPr>
                <a:solidFill>
                  <a:schemeClr val="tx1"/>
                </a:solidFill>
                <a:latin typeface="Arial" charset="0"/>
                <a:ea typeface="宋体" charset="0"/>
              </a:defRPr>
            </a:lvl3pPr>
            <a:lvl4pPr marL="1600200" indent="-228600" eaLnBrk="0" hangingPunct="0">
              <a:defRPr>
                <a:solidFill>
                  <a:schemeClr val="tx1"/>
                </a:solidFill>
                <a:latin typeface="Arial" charset="0"/>
                <a:ea typeface="宋体" charset="0"/>
              </a:defRPr>
            </a:lvl4pPr>
            <a:lvl5pPr marL="2057400" indent="-228600" eaLnBrk="0" hangingPunct="0">
              <a:defRPr>
                <a:solidFill>
                  <a:schemeClr val="tx1"/>
                </a:solidFill>
                <a:latin typeface="Arial" charset="0"/>
                <a:ea typeface="宋体" charset="0"/>
              </a:defRPr>
            </a:lvl5pPr>
            <a:lvl6pPr marL="2514600" indent="-228600" eaLnBrk="0" fontAlgn="base" hangingPunct="0">
              <a:spcBef>
                <a:spcPct val="0"/>
              </a:spcBef>
              <a:spcAft>
                <a:spcPct val="0"/>
              </a:spcAft>
              <a:defRPr>
                <a:solidFill>
                  <a:schemeClr val="tx1"/>
                </a:solidFill>
                <a:latin typeface="Arial" charset="0"/>
                <a:ea typeface="宋体" charset="0"/>
              </a:defRPr>
            </a:lvl6pPr>
            <a:lvl7pPr marL="2971800" indent="-228600" eaLnBrk="0" fontAlgn="base" hangingPunct="0">
              <a:spcBef>
                <a:spcPct val="0"/>
              </a:spcBef>
              <a:spcAft>
                <a:spcPct val="0"/>
              </a:spcAft>
              <a:defRPr>
                <a:solidFill>
                  <a:schemeClr val="tx1"/>
                </a:solidFill>
                <a:latin typeface="Arial" charset="0"/>
                <a:ea typeface="宋体" charset="0"/>
              </a:defRPr>
            </a:lvl7pPr>
            <a:lvl8pPr marL="3429000" indent="-228600" eaLnBrk="0" fontAlgn="base" hangingPunct="0">
              <a:spcBef>
                <a:spcPct val="0"/>
              </a:spcBef>
              <a:spcAft>
                <a:spcPct val="0"/>
              </a:spcAft>
              <a:defRPr>
                <a:solidFill>
                  <a:schemeClr val="tx1"/>
                </a:solidFill>
                <a:latin typeface="Arial" charset="0"/>
                <a:ea typeface="宋体" charset="0"/>
              </a:defRPr>
            </a:lvl8pPr>
            <a:lvl9pPr marL="3886200" indent="-228600" eaLnBrk="0" fontAlgn="base" hangingPunct="0">
              <a:spcBef>
                <a:spcPct val="0"/>
              </a:spcBef>
              <a:spcAft>
                <a:spcPct val="0"/>
              </a:spcAft>
              <a:defRPr>
                <a:solidFill>
                  <a:schemeClr val="tx1"/>
                </a:solidFill>
                <a:latin typeface="Arial" charset="0"/>
                <a:ea typeface="宋体" charset="0"/>
              </a:defRPr>
            </a:lvl9pPr>
          </a:lstStyle>
          <a:p>
            <a:pPr eaLnBrk="1" hangingPunct="1"/>
            <a:fld id="{9AD56C16-5CF1-3E4E-BFE7-E33C4585A2F4}" type="slidenum">
              <a:rPr lang="en-CA">
                <a:latin typeface="Calibri" charset="0"/>
              </a:rPr>
              <a:pPr eaLnBrk="1" hangingPunct="1"/>
              <a:t>9</a:t>
            </a:fld>
            <a:endParaRPr lang="en-CA">
              <a:latin typeface="Calibri" charset="0"/>
            </a:endParaRPr>
          </a:p>
        </p:txBody>
      </p:sp>
    </p:spTree>
    <p:extLst>
      <p:ext uri="{BB962C8B-B14F-4D97-AF65-F5344CB8AC3E}">
        <p14:creationId xmlns:p14="http://schemas.microsoft.com/office/powerpoint/2010/main" val="8698775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8960A75-F1CF-C34B-BC09-E584F105627A}" type="slidenum">
              <a:rPr kumimoji="1" lang="zh-CN" altLang="en-US" smtClean="0"/>
              <a:t>15</a:t>
            </a:fld>
            <a:endParaRPr kumimoji="1" lang="zh-CN" altLang="en-US"/>
          </a:p>
        </p:txBody>
      </p:sp>
    </p:spTree>
    <p:extLst>
      <p:ext uri="{BB962C8B-B14F-4D97-AF65-F5344CB8AC3E}">
        <p14:creationId xmlns:p14="http://schemas.microsoft.com/office/powerpoint/2010/main" val="29756717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 uri="{FAA26D3D-D897-4be2-8F04-BA451C77F1D7}">
              <ma14:placeholderFlag xmlns:ma14="http://schemas.microsoft.com/office/mac/drawingml/2011/main" xmlns="" val="1"/>
            </a:ext>
          </a:extLst>
        </p:spPr>
      </p:sp>
      <p:sp>
        <p:nvSpPr>
          <p:cNvPr id="78851"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eaLnBrk="1" hangingPunct="1">
              <a:spcBef>
                <a:spcPct val="0"/>
              </a:spcBef>
            </a:pPr>
            <a:endParaRPr lang="en-CA">
              <a:latin typeface="Calibri" charset="0"/>
            </a:endParaRPr>
          </a:p>
        </p:txBody>
      </p:sp>
      <p:sp>
        <p:nvSpPr>
          <p:cNvPr id="78852" name="Slide Number Placeholder 3"/>
          <p:cNvSpPr>
            <a:spLocks noGrp="1"/>
          </p:cNvSpPr>
          <p:nvPr>
            <p:ph type="sldNum" sz="quarter" idx="5"/>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charset="0"/>
                <a:ea typeface="宋体" charset="0"/>
              </a:defRPr>
            </a:lvl1pPr>
            <a:lvl2pPr marL="742950" indent="-285750" eaLnBrk="0" hangingPunct="0">
              <a:defRPr>
                <a:solidFill>
                  <a:schemeClr val="tx1"/>
                </a:solidFill>
                <a:latin typeface="Arial" charset="0"/>
                <a:ea typeface="宋体" charset="0"/>
              </a:defRPr>
            </a:lvl2pPr>
            <a:lvl3pPr marL="1143000" indent="-228600" eaLnBrk="0" hangingPunct="0">
              <a:defRPr>
                <a:solidFill>
                  <a:schemeClr val="tx1"/>
                </a:solidFill>
                <a:latin typeface="Arial" charset="0"/>
                <a:ea typeface="宋体" charset="0"/>
              </a:defRPr>
            </a:lvl3pPr>
            <a:lvl4pPr marL="1600200" indent="-228600" eaLnBrk="0" hangingPunct="0">
              <a:defRPr>
                <a:solidFill>
                  <a:schemeClr val="tx1"/>
                </a:solidFill>
                <a:latin typeface="Arial" charset="0"/>
                <a:ea typeface="宋体" charset="0"/>
              </a:defRPr>
            </a:lvl4pPr>
            <a:lvl5pPr marL="2057400" indent="-228600" eaLnBrk="0" hangingPunct="0">
              <a:defRPr>
                <a:solidFill>
                  <a:schemeClr val="tx1"/>
                </a:solidFill>
                <a:latin typeface="Arial" charset="0"/>
                <a:ea typeface="宋体" charset="0"/>
              </a:defRPr>
            </a:lvl5pPr>
            <a:lvl6pPr marL="2514600" indent="-228600" eaLnBrk="0" fontAlgn="base" hangingPunct="0">
              <a:spcBef>
                <a:spcPct val="0"/>
              </a:spcBef>
              <a:spcAft>
                <a:spcPct val="0"/>
              </a:spcAft>
              <a:defRPr>
                <a:solidFill>
                  <a:schemeClr val="tx1"/>
                </a:solidFill>
                <a:latin typeface="Arial" charset="0"/>
                <a:ea typeface="宋体" charset="0"/>
              </a:defRPr>
            </a:lvl6pPr>
            <a:lvl7pPr marL="2971800" indent="-228600" eaLnBrk="0" fontAlgn="base" hangingPunct="0">
              <a:spcBef>
                <a:spcPct val="0"/>
              </a:spcBef>
              <a:spcAft>
                <a:spcPct val="0"/>
              </a:spcAft>
              <a:defRPr>
                <a:solidFill>
                  <a:schemeClr val="tx1"/>
                </a:solidFill>
                <a:latin typeface="Arial" charset="0"/>
                <a:ea typeface="宋体" charset="0"/>
              </a:defRPr>
            </a:lvl7pPr>
            <a:lvl8pPr marL="3429000" indent="-228600" eaLnBrk="0" fontAlgn="base" hangingPunct="0">
              <a:spcBef>
                <a:spcPct val="0"/>
              </a:spcBef>
              <a:spcAft>
                <a:spcPct val="0"/>
              </a:spcAft>
              <a:defRPr>
                <a:solidFill>
                  <a:schemeClr val="tx1"/>
                </a:solidFill>
                <a:latin typeface="Arial" charset="0"/>
                <a:ea typeface="宋体" charset="0"/>
              </a:defRPr>
            </a:lvl8pPr>
            <a:lvl9pPr marL="3886200" indent="-228600" eaLnBrk="0" fontAlgn="base" hangingPunct="0">
              <a:spcBef>
                <a:spcPct val="0"/>
              </a:spcBef>
              <a:spcAft>
                <a:spcPct val="0"/>
              </a:spcAft>
              <a:defRPr>
                <a:solidFill>
                  <a:schemeClr val="tx1"/>
                </a:solidFill>
                <a:latin typeface="Arial" charset="0"/>
                <a:ea typeface="宋体" charset="0"/>
              </a:defRPr>
            </a:lvl9pPr>
          </a:lstStyle>
          <a:p>
            <a:pPr eaLnBrk="1" hangingPunct="1"/>
            <a:fld id="{ABB2484A-7FBA-9145-A3A7-F2A6D46528F1}" type="slidenum">
              <a:rPr lang="en-CA">
                <a:latin typeface="Calibri" charset="0"/>
              </a:rPr>
              <a:pPr eaLnBrk="1" hangingPunct="1"/>
              <a:t>19</a:t>
            </a:fld>
            <a:endParaRPr lang="en-CA">
              <a:latin typeface="Calibri" charset="0"/>
            </a:endParaRPr>
          </a:p>
        </p:txBody>
      </p:sp>
    </p:spTree>
    <p:extLst>
      <p:ext uri="{BB962C8B-B14F-4D97-AF65-F5344CB8AC3E}">
        <p14:creationId xmlns:p14="http://schemas.microsoft.com/office/powerpoint/2010/main" val="978553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8960A75-F1CF-C34B-BC09-E584F105627A}" type="slidenum">
              <a:rPr kumimoji="1" lang="zh-CN" altLang="en-US" smtClean="0"/>
              <a:t>36</a:t>
            </a:fld>
            <a:endParaRPr kumimoji="1" lang="zh-CN" altLang="en-US"/>
          </a:p>
        </p:txBody>
      </p:sp>
    </p:spTree>
    <p:extLst>
      <p:ext uri="{BB962C8B-B14F-4D97-AF65-F5344CB8AC3E}">
        <p14:creationId xmlns:p14="http://schemas.microsoft.com/office/powerpoint/2010/main" val="4527534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8960A75-F1CF-C34B-BC09-E584F105627A}" type="slidenum">
              <a:rPr kumimoji="1" lang="zh-CN" altLang="en-US" smtClean="0"/>
              <a:t>46</a:t>
            </a:fld>
            <a:endParaRPr kumimoji="1" lang="zh-CN" altLang="en-US"/>
          </a:p>
        </p:txBody>
      </p:sp>
    </p:spTree>
    <p:extLst>
      <p:ext uri="{BB962C8B-B14F-4D97-AF65-F5344CB8AC3E}">
        <p14:creationId xmlns:p14="http://schemas.microsoft.com/office/powerpoint/2010/main" val="23627364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 uri="{FAA26D3D-D897-4be2-8F04-BA451C77F1D7}">
              <ma14:placeholderFlag xmlns:ma14="http://schemas.microsoft.com/office/mac/drawingml/2011/main" xmlns="" val="1"/>
            </a:ext>
          </a:extLst>
        </p:spPr>
      </p:sp>
      <p:sp>
        <p:nvSpPr>
          <p:cNvPr id="78851"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eaLnBrk="1" hangingPunct="1">
              <a:spcBef>
                <a:spcPct val="0"/>
              </a:spcBef>
            </a:pPr>
            <a:endParaRPr lang="en-CA">
              <a:latin typeface="Calibri" charset="0"/>
            </a:endParaRPr>
          </a:p>
        </p:txBody>
      </p:sp>
      <p:sp>
        <p:nvSpPr>
          <p:cNvPr id="78852" name="Slide Number Placeholder 3"/>
          <p:cNvSpPr>
            <a:spLocks noGrp="1"/>
          </p:cNvSpPr>
          <p:nvPr>
            <p:ph type="sldNum" sz="quarter" idx="5"/>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charset="0"/>
                <a:ea typeface="宋体" charset="0"/>
              </a:defRPr>
            </a:lvl1pPr>
            <a:lvl2pPr marL="742950" indent="-285750" eaLnBrk="0" hangingPunct="0">
              <a:defRPr>
                <a:solidFill>
                  <a:schemeClr val="tx1"/>
                </a:solidFill>
                <a:latin typeface="Arial" charset="0"/>
                <a:ea typeface="宋体" charset="0"/>
              </a:defRPr>
            </a:lvl2pPr>
            <a:lvl3pPr marL="1143000" indent="-228600" eaLnBrk="0" hangingPunct="0">
              <a:defRPr>
                <a:solidFill>
                  <a:schemeClr val="tx1"/>
                </a:solidFill>
                <a:latin typeface="Arial" charset="0"/>
                <a:ea typeface="宋体" charset="0"/>
              </a:defRPr>
            </a:lvl3pPr>
            <a:lvl4pPr marL="1600200" indent="-228600" eaLnBrk="0" hangingPunct="0">
              <a:defRPr>
                <a:solidFill>
                  <a:schemeClr val="tx1"/>
                </a:solidFill>
                <a:latin typeface="Arial" charset="0"/>
                <a:ea typeface="宋体" charset="0"/>
              </a:defRPr>
            </a:lvl4pPr>
            <a:lvl5pPr marL="2057400" indent="-228600" eaLnBrk="0" hangingPunct="0">
              <a:defRPr>
                <a:solidFill>
                  <a:schemeClr val="tx1"/>
                </a:solidFill>
                <a:latin typeface="Arial" charset="0"/>
                <a:ea typeface="宋体" charset="0"/>
              </a:defRPr>
            </a:lvl5pPr>
            <a:lvl6pPr marL="2514600" indent="-228600" eaLnBrk="0" fontAlgn="base" hangingPunct="0">
              <a:spcBef>
                <a:spcPct val="0"/>
              </a:spcBef>
              <a:spcAft>
                <a:spcPct val="0"/>
              </a:spcAft>
              <a:defRPr>
                <a:solidFill>
                  <a:schemeClr val="tx1"/>
                </a:solidFill>
                <a:latin typeface="Arial" charset="0"/>
                <a:ea typeface="宋体" charset="0"/>
              </a:defRPr>
            </a:lvl6pPr>
            <a:lvl7pPr marL="2971800" indent="-228600" eaLnBrk="0" fontAlgn="base" hangingPunct="0">
              <a:spcBef>
                <a:spcPct val="0"/>
              </a:spcBef>
              <a:spcAft>
                <a:spcPct val="0"/>
              </a:spcAft>
              <a:defRPr>
                <a:solidFill>
                  <a:schemeClr val="tx1"/>
                </a:solidFill>
                <a:latin typeface="Arial" charset="0"/>
                <a:ea typeface="宋体" charset="0"/>
              </a:defRPr>
            </a:lvl7pPr>
            <a:lvl8pPr marL="3429000" indent="-228600" eaLnBrk="0" fontAlgn="base" hangingPunct="0">
              <a:spcBef>
                <a:spcPct val="0"/>
              </a:spcBef>
              <a:spcAft>
                <a:spcPct val="0"/>
              </a:spcAft>
              <a:defRPr>
                <a:solidFill>
                  <a:schemeClr val="tx1"/>
                </a:solidFill>
                <a:latin typeface="Arial" charset="0"/>
                <a:ea typeface="宋体" charset="0"/>
              </a:defRPr>
            </a:lvl8pPr>
            <a:lvl9pPr marL="3886200" indent="-228600" eaLnBrk="0" fontAlgn="base" hangingPunct="0">
              <a:spcBef>
                <a:spcPct val="0"/>
              </a:spcBef>
              <a:spcAft>
                <a:spcPct val="0"/>
              </a:spcAft>
              <a:defRPr>
                <a:solidFill>
                  <a:schemeClr val="tx1"/>
                </a:solidFill>
                <a:latin typeface="Arial" charset="0"/>
                <a:ea typeface="宋体" charset="0"/>
              </a:defRPr>
            </a:lvl9pPr>
          </a:lstStyle>
          <a:p>
            <a:pPr eaLnBrk="1" hangingPunct="1"/>
            <a:fld id="{ABB2484A-7FBA-9145-A3A7-F2A6D46528F1}" type="slidenum">
              <a:rPr lang="en-CA">
                <a:latin typeface="Calibri" charset="0"/>
              </a:rPr>
              <a:pPr eaLnBrk="1" hangingPunct="1"/>
              <a:t>54</a:t>
            </a:fld>
            <a:endParaRPr lang="en-CA">
              <a:latin typeface="Calibri" charset="0"/>
            </a:endParaRPr>
          </a:p>
        </p:txBody>
      </p:sp>
    </p:spTree>
    <p:extLst>
      <p:ext uri="{BB962C8B-B14F-4D97-AF65-F5344CB8AC3E}">
        <p14:creationId xmlns:p14="http://schemas.microsoft.com/office/powerpoint/2010/main" val="4331010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dirty="0"/>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en-US" dirty="0"/>
          </a:p>
        </p:txBody>
      </p:sp>
      <p:sp>
        <p:nvSpPr>
          <p:cNvPr id="4" name="Date Placeholder 3"/>
          <p:cNvSpPr>
            <a:spLocks noGrp="1"/>
          </p:cNvSpPr>
          <p:nvPr>
            <p:ph type="dt" sz="half" idx="10"/>
          </p:nvPr>
        </p:nvSpPr>
        <p:spPr/>
        <p:txBody>
          <a:bodyPr/>
          <a:lstStyle/>
          <a:p>
            <a:fld id="{4EC5816F-D43D-40D1-9B38-E1A2C18F0972}" type="datetime1">
              <a:rPr lang="en-US" smtClean="0"/>
              <a:pPr/>
              <a:t>6/2/19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AD20DFC-E2D5-4BD6-B744-D8DEEAB5F7C2}" type="slidenum">
              <a:rPr lang="en-US" smtClean="0"/>
              <a:pPr/>
              <a:t>‹#›</a:t>
            </a:fld>
            <a:endParaRPr lang="en-US" dirty="0"/>
          </a:p>
        </p:txBody>
      </p:sp>
    </p:spTree>
    <p:extLst>
      <p:ext uri="{BB962C8B-B14F-4D97-AF65-F5344CB8AC3E}">
        <p14:creationId xmlns:p14="http://schemas.microsoft.com/office/powerpoint/2010/main" val="2411639479"/>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单击此处编辑母版标题样式</a:t>
            </a:r>
            <a:endParaRPr lang="en-US" dirty="0"/>
          </a:p>
        </p:txBody>
      </p:sp>
      <p:sp>
        <p:nvSpPr>
          <p:cNvPr id="3" name="Content Placeholder 2"/>
          <p:cNvSpPr>
            <a:spLocks noGrp="1"/>
          </p:cNvSpPr>
          <p:nvPr>
            <p:ph idx="1"/>
          </p:nvPr>
        </p:nvSpPr>
        <p:spPr/>
        <p:txBody>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p>
            <a:fld id="{3467CD6D-7520-4B34-A5A3-E8385FA3AFC6}" type="datetime1">
              <a:rPr lang="en-US" smtClean="0"/>
              <a:pPr/>
              <a:t>6/2/19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AD20DFC-E2D5-4BD6-B744-D8DEEAB5F7C2}" type="slidenum">
              <a:rPr lang="en-US" smtClean="0"/>
              <a:pPr/>
              <a:t>‹#›</a:t>
            </a:fld>
            <a:endParaRPr lang="en-US" dirty="0"/>
          </a:p>
        </p:txBody>
      </p:sp>
      <p:sp>
        <p:nvSpPr>
          <p:cNvPr id="9" name="Rounded Rectangle 12">
            <a:extLst>
              <a:ext uri="{FF2B5EF4-FFF2-40B4-BE49-F238E27FC236}">
                <a16:creationId xmlns:a16="http://schemas.microsoft.com/office/drawing/2014/main" id="{13113A46-830B-F041-9F20-6246C8B3679C}"/>
              </a:ext>
            </a:extLst>
          </p:cNvPr>
          <p:cNvSpPr/>
          <p:nvPr userDrawn="1"/>
        </p:nvSpPr>
        <p:spPr>
          <a:xfrm rot="907748">
            <a:off x="17749" y="-511509"/>
            <a:ext cx="3735394" cy="1387781"/>
          </a:xfrm>
          <a:custGeom>
            <a:avLst/>
            <a:gdLst/>
            <a:ahLst/>
            <a:cxnLst/>
            <a:rect l="l" t="t" r="r" b="b"/>
            <a:pathLst>
              <a:path w="3735394" h="1387781">
                <a:moveTo>
                  <a:pt x="0" y="1009924"/>
                </a:moveTo>
                <a:lnTo>
                  <a:pt x="3735394" y="0"/>
                </a:lnTo>
                <a:lnTo>
                  <a:pt x="3735394" y="1305691"/>
                </a:lnTo>
                <a:cubicBezTo>
                  <a:pt x="3735394" y="1351028"/>
                  <a:pt x="3698641" y="1387781"/>
                  <a:pt x="3653304" y="1387781"/>
                </a:cubicBezTo>
                <a:lnTo>
                  <a:pt x="102160" y="1387781"/>
                </a:lnTo>
                <a:close/>
              </a:path>
            </a:pathLst>
          </a:custGeom>
          <a:solidFill>
            <a:schemeClr val="bg1">
              <a:alpha val="24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13">
            <a:extLst>
              <a:ext uri="{FF2B5EF4-FFF2-40B4-BE49-F238E27FC236}">
                <a16:creationId xmlns:a16="http://schemas.microsoft.com/office/drawing/2014/main" id="{23456E8E-A918-AC4F-ACAB-80D99AD72297}"/>
              </a:ext>
            </a:extLst>
          </p:cNvPr>
          <p:cNvSpPr/>
          <p:nvPr userDrawn="1"/>
        </p:nvSpPr>
        <p:spPr>
          <a:xfrm rot="907748">
            <a:off x="2146801" y="6590199"/>
            <a:ext cx="1981025" cy="535602"/>
          </a:xfrm>
          <a:custGeom>
            <a:avLst/>
            <a:gdLst/>
            <a:ahLst/>
            <a:cxnLst/>
            <a:rect l="l" t="t" r="r" b="b"/>
            <a:pathLst>
              <a:path w="1981025" h="535602">
                <a:moveTo>
                  <a:pt x="50137" y="6451"/>
                </a:moveTo>
                <a:cubicBezTo>
                  <a:pt x="59958" y="2297"/>
                  <a:pt x="70756" y="0"/>
                  <a:pt x="82090" y="0"/>
                </a:cubicBezTo>
                <a:lnTo>
                  <a:pt x="1981025" y="0"/>
                </a:lnTo>
                <a:lnTo>
                  <a:pt x="0" y="535602"/>
                </a:lnTo>
                <a:lnTo>
                  <a:pt x="0" y="82090"/>
                </a:lnTo>
                <a:cubicBezTo>
                  <a:pt x="0" y="48087"/>
                  <a:pt x="20674" y="18913"/>
                  <a:pt x="50137" y="6451"/>
                </a:cubicBezTo>
                <a:close/>
              </a:path>
            </a:pathLst>
          </a:custGeom>
          <a:solidFill>
            <a:schemeClr val="bg1">
              <a:alpha val="2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260542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dirty="0"/>
              <a:t>单击此处编辑母版标题样式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编辑母版文本样式</a:t>
            </a:r>
          </a:p>
        </p:txBody>
      </p:sp>
      <p:sp>
        <p:nvSpPr>
          <p:cNvPr id="4" name="Date Placeholder 3"/>
          <p:cNvSpPr>
            <a:spLocks noGrp="1"/>
          </p:cNvSpPr>
          <p:nvPr>
            <p:ph type="dt" sz="half" idx="10"/>
          </p:nvPr>
        </p:nvSpPr>
        <p:spPr/>
        <p:txBody>
          <a:bodyPr/>
          <a:lstStyle/>
          <a:p>
            <a:fld id="{42295D47-465E-4A05-802B-049480555B6D}" type="datetime1">
              <a:rPr lang="en-US" smtClean="0"/>
              <a:pPr/>
              <a:t>6/2/19</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AD20DFC-E2D5-4BD6-B744-D8DEEAB5F7C2}" type="slidenum">
              <a:rPr lang="en-US" smtClean="0"/>
              <a:pPr/>
              <a:t>‹#›</a:t>
            </a:fld>
            <a:endParaRPr lang="en-US" dirty="0"/>
          </a:p>
        </p:txBody>
      </p:sp>
    </p:spTree>
    <p:extLst>
      <p:ext uri="{BB962C8B-B14F-4D97-AF65-F5344CB8AC3E}">
        <p14:creationId xmlns:p14="http://schemas.microsoft.com/office/powerpoint/2010/main" val="35083409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项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5" name="Date Placeholder 4"/>
          <p:cNvSpPr>
            <a:spLocks noGrp="1"/>
          </p:cNvSpPr>
          <p:nvPr>
            <p:ph type="dt" sz="half" idx="10"/>
          </p:nvPr>
        </p:nvSpPr>
        <p:spPr/>
        <p:txBody>
          <a:bodyPr/>
          <a:lstStyle/>
          <a:p>
            <a:fld id="{64791DB0-D703-40B5-AE3D-532AFE0356D1}" type="datetime1">
              <a:rPr lang="en-US" smtClean="0"/>
              <a:pPr/>
              <a:t>6/2/19</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1AD20DFC-E2D5-4BD6-B744-D8DEEAB5F7C2}" type="slidenum">
              <a:rPr lang="en-US" smtClean="0"/>
              <a:pPr/>
              <a:t>‹#›</a:t>
            </a:fld>
            <a:endParaRPr lang="en-US"/>
          </a:p>
        </p:txBody>
      </p:sp>
      <p:sp>
        <p:nvSpPr>
          <p:cNvPr id="8" name="Rounded Rectangle 16">
            <a:extLst>
              <a:ext uri="{FF2B5EF4-FFF2-40B4-BE49-F238E27FC236}">
                <a16:creationId xmlns:a16="http://schemas.microsoft.com/office/drawing/2014/main" id="{EC3290C8-B819-3C43-9E7F-E7DB800BAE45}"/>
              </a:ext>
            </a:extLst>
          </p:cNvPr>
          <p:cNvSpPr/>
          <p:nvPr userDrawn="1"/>
        </p:nvSpPr>
        <p:spPr>
          <a:xfrm rot="20707748">
            <a:off x="-883225" y="-625990"/>
            <a:ext cx="7439907" cy="7344599"/>
          </a:xfrm>
          <a:custGeom>
            <a:avLst/>
            <a:gdLst/>
            <a:ahLst/>
            <a:cxnLst/>
            <a:rect l="l" t="t" r="r" b="b"/>
            <a:pathLst>
              <a:path w="7439907" h="7344599">
                <a:moveTo>
                  <a:pt x="1760047" y="0"/>
                </a:moveTo>
                <a:lnTo>
                  <a:pt x="7439906" y="1508202"/>
                </a:lnTo>
                <a:lnTo>
                  <a:pt x="7439907" y="7262509"/>
                </a:lnTo>
                <a:cubicBezTo>
                  <a:pt x="7439906" y="7307846"/>
                  <a:pt x="7403153" y="7344599"/>
                  <a:pt x="7357816" y="7344599"/>
                </a:cubicBezTo>
                <a:lnTo>
                  <a:pt x="2697558" y="7344599"/>
                </a:lnTo>
                <a:lnTo>
                  <a:pt x="0" y="6628303"/>
                </a:lnTo>
                <a:close/>
              </a:path>
            </a:pathLst>
          </a:custGeom>
          <a:solidFill>
            <a:schemeClr val="bg1">
              <a:alpha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17">
            <a:extLst>
              <a:ext uri="{FF2B5EF4-FFF2-40B4-BE49-F238E27FC236}">
                <a16:creationId xmlns:a16="http://schemas.microsoft.com/office/drawing/2014/main" id="{E27995F3-DBB7-EE4B-8B5C-E0F4DD9920D9}"/>
              </a:ext>
            </a:extLst>
          </p:cNvPr>
          <p:cNvSpPr/>
          <p:nvPr userDrawn="1"/>
        </p:nvSpPr>
        <p:spPr>
          <a:xfrm rot="20707748">
            <a:off x="3237537" y="6275496"/>
            <a:ext cx="4387395" cy="1165008"/>
          </a:xfrm>
          <a:custGeom>
            <a:avLst/>
            <a:gdLst/>
            <a:ahLst/>
            <a:cxnLst/>
            <a:rect l="l" t="t" r="r" b="b"/>
            <a:pathLst>
              <a:path w="4387395" h="1165008">
                <a:moveTo>
                  <a:pt x="4337258" y="6451"/>
                </a:moveTo>
                <a:cubicBezTo>
                  <a:pt x="4366722" y="18913"/>
                  <a:pt x="4387395" y="48087"/>
                  <a:pt x="4387395" y="82090"/>
                </a:cubicBezTo>
                <a:lnTo>
                  <a:pt x="4387395" y="1165008"/>
                </a:lnTo>
                <a:lnTo>
                  <a:pt x="0" y="0"/>
                </a:lnTo>
                <a:lnTo>
                  <a:pt x="4305305" y="0"/>
                </a:lnTo>
                <a:cubicBezTo>
                  <a:pt x="4316639" y="0"/>
                  <a:pt x="4327437" y="2297"/>
                  <a:pt x="4337258" y="6451"/>
                </a:cubicBezTo>
                <a:close/>
              </a:path>
            </a:pathLst>
          </a:custGeom>
          <a:solidFill>
            <a:schemeClr val="bg1">
              <a:alpha val="3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18">
            <a:extLst>
              <a:ext uri="{FF2B5EF4-FFF2-40B4-BE49-F238E27FC236}">
                <a16:creationId xmlns:a16="http://schemas.microsoft.com/office/drawing/2014/main" id="{E3FCDD99-6308-574D-B04E-1EF7469FE09C}"/>
              </a:ext>
            </a:extLst>
          </p:cNvPr>
          <p:cNvSpPr/>
          <p:nvPr userDrawn="1"/>
        </p:nvSpPr>
        <p:spPr>
          <a:xfrm rot="20707748">
            <a:off x="7660698" y="5462349"/>
            <a:ext cx="1709024" cy="1536003"/>
          </a:xfrm>
          <a:custGeom>
            <a:avLst/>
            <a:gdLst/>
            <a:ahLst/>
            <a:cxnLst/>
            <a:rect l="l" t="t" r="r" b="b"/>
            <a:pathLst>
              <a:path w="1709024" h="1536003">
                <a:moveTo>
                  <a:pt x="1709024" y="0"/>
                </a:moveTo>
                <a:lnTo>
                  <a:pt x="1301161" y="1536003"/>
                </a:lnTo>
                <a:lnTo>
                  <a:pt x="0" y="1190500"/>
                </a:lnTo>
                <a:lnTo>
                  <a:pt x="0" y="82090"/>
                </a:lnTo>
                <a:cubicBezTo>
                  <a:pt x="0" y="36753"/>
                  <a:pt x="36753" y="0"/>
                  <a:pt x="82090" y="0"/>
                </a:cubicBezTo>
                <a:close/>
              </a:path>
            </a:pathLst>
          </a:custGeom>
          <a:solidFill>
            <a:schemeClr val="bg1">
              <a:alpha val="2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ounded Rectangle 19">
            <a:extLst>
              <a:ext uri="{FF2B5EF4-FFF2-40B4-BE49-F238E27FC236}">
                <a16:creationId xmlns:a16="http://schemas.microsoft.com/office/drawing/2014/main" id="{CB6A22A8-B04F-4E4D-B934-3CD8864020B2}"/>
              </a:ext>
            </a:extLst>
          </p:cNvPr>
          <p:cNvSpPr/>
          <p:nvPr userDrawn="1"/>
        </p:nvSpPr>
        <p:spPr>
          <a:xfrm rot="20707748">
            <a:off x="6667944" y="-490547"/>
            <a:ext cx="3064333" cy="5811872"/>
          </a:xfrm>
          <a:custGeom>
            <a:avLst/>
            <a:gdLst/>
            <a:ahLst/>
            <a:cxnLst/>
            <a:rect l="l" t="t" r="r" b="b"/>
            <a:pathLst>
              <a:path w="3064333" h="5811872">
                <a:moveTo>
                  <a:pt x="0" y="0"/>
                </a:moveTo>
                <a:lnTo>
                  <a:pt x="3064333" y="813688"/>
                </a:lnTo>
                <a:lnTo>
                  <a:pt x="1737140" y="5811872"/>
                </a:lnTo>
                <a:lnTo>
                  <a:pt x="82090" y="5811872"/>
                </a:lnTo>
                <a:cubicBezTo>
                  <a:pt x="36753" y="5811872"/>
                  <a:pt x="0" y="5775119"/>
                  <a:pt x="0" y="5729782"/>
                </a:cubicBezTo>
                <a:close/>
              </a:path>
            </a:pathLst>
          </a:custGeom>
          <a:solidFill>
            <a:schemeClr val="bg1">
              <a:alpha val="7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935494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7" name="Date Placeholder 6"/>
          <p:cNvSpPr>
            <a:spLocks noGrp="1"/>
          </p:cNvSpPr>
          <p:nvPr>
            <p:ph type="dt" sz="half" idx="10"/>
          </p:nvPr>
        </p:nvSpPr>
        <p:spPr/>
        <p:txBody>
          <a:bodyPr/>
          <a:lstStyle/>
          <a:p>
            <a:fld id="{0F48C029-2200-4EB8-BDE8-5EE0E23571A6}" type="datetime1">
              <a:rPr lang="en-US" smtClean="0"/>
              <a:pPr/>
              <a:t>6/2/19</a:t>
            </a:fld>
            <a:endParaRPr lang="en-US"/>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1AD20DFC-E2D5-4BD6-B744-D8DEEAB5F7C2}" type="slidenum">
              <a:rPr lang="en-US" smtClean="0"/>
              <a:pPr/>
              <a:t>‹#›</a:t>
            </a:fld>
            <a:endParaRPr lang="en-US" dirty="0"/>
          </a:p>
        </p:txBody>
      </p:sp>
      <p:sp>
        <p:nvSpPr>
          <p:cNvPr id="10" name="Rounded Rectangle 52">
            <a:extLst>
              <a:ext uri="{FF2B5EF4-FFF2-40B4-BE49-F238E27FC236}">
                <a16:creationId xmlns:a16="http://schemas.microsoft.com/office/drawing/2014/main" id="{456BB38E-CF78-4F45-BA3B-36FE1C8B7B18}"/>
              </a:ext>
            </a:extLst>
          </p:cNvPr>
          <p:cNvSpPr/>
          <p:nvPr userDrawn="1"/>
        </p:nvSpPr>
        <p:spPr>
          <a:xfrm rot="20707748">
            <a:off x="-883225" y="-625990"/>
            <a:ext cx="7439907" cy="7344599"/>
          </a:xfrm>
          <a:custGeom>
            <a:avLst/>
            <a:gdLst/>
            <a:ahLst/>
            <a:cxnLst/>
            <a:rect l="l" t="t" r="r" b="b"/>
            <a:pathLst>
              <a:path w="7439907" h="7344599">
                <a:moveTo>
                  <a:pt x="1760047" y="0"/>
                </a:moveTo>
                <a:lnTo>
                  <a:pt x="7439906" y="1508202"/>
                </a:lnTo>
                <a:lnTo>
                  <a:pt x="7439907" y="7262509"/>
                </a:lnTo>
                <a:cubicBezTo>
                  <a:pt x="7439906" y="7307846"/>
                  <a:pt x="7403153" y="7344599"/>
                  <a:pt x="7357816" y="7344599"/>
                </a:cubicBezTo>
                <a:lnTo>
                  <a:pt x="2697558" y="7344599"/>
                </a:lnTo>
                <a:lnTo>
                  <a:pt x="0" y="6628303"/>
                </a:lnTo>
                <a:close/>
              </a:path>
            </a:pathLst>
          </a:custGeom>
          <a:solidFill>
            <a:schemeClr val="bg1">
              <a:alpha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ounded Rectangle 53">
            <a:extLst>
              <a:ext uri="{FF2B5EF4-FFF2-40B4-BE49-F238E27FC236}">
                <a16:creationId xmlns:a16="http://schemas.microsoft.com/office/drawing/2014/main" id="{7D71F79F-F666-4047-BD50-4CBA8EEB4F65}"/>
              </a:ext>
            </a:extLst>
          </p:cNvPr>
          <p:cNvSpPr/>
          <p:nvPr userDrawn="1"/>
        </p:nvSpPr>
        <p:spPr>
          <a:xfrm rot="20707748">
            <a:off x="3237537" y="6275496"/>
            <a:ext cx="4387395" cy="1165008"/>
          </a:xfrm>
          <a:custGeom>
            <a:avLst/>
            <a:gdLst/>
            <a:ahLst/>
            <a:cxnLst/>
            <a:rect l="l" t="t" r="r" b="b"/>
            <a:pathLst>
              <a:path w="4387395" h="1165008">
                <a:moveTo>
                  <a:pt x="4337258" y="6451"/>
                </a:moveTo>
                <a:cubicBezTo>
                  <a:pt x="4366722" y="18913"/>
                  <a:pt x="4387395" y="48087"/>
                  <a:pt x="4387395" y="82090"/>
                </a:cubicBezTo>
                <a:lnTo>
                  <a:pt x="4387395" y="1165008"/>
                </a:lnTo>
                <a:lnTo>
                  <a:pt x="0" y="0"/>
                </a:lnTo>
                <a:lnTo>
                  <a:pt x="4305305" y="0"/>
                </a:lnTo>
                <a:cubicBezTo>
                  <a:pt x="4316639" y="0"/>
                  <a:pt x="4327437" y="2297"/>
                  <a:pt x="4337258" y="6451"/>
                </a:cubicBezTo>
                <a:close/>
              </a:path>
            </a:pathLst>
          </a:custGeom>
          <a:solidFill>
            <a:schemeClr val="bg1">
              <a:alpha val="3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 Rectangle 54">
            <a:extLst>
              <a:ext uri="{FF2B5EF4-FFF2-40B4-BE49-F238E27FC236}">
                <a16:creationId xmlns:a16="http://schemas.microsoft.com/office/drawing/2014/main" id="{383EBBCE-8530-5149-B3E2-F3D4B586386A}"/>
              </a:ext>
            </a:extLst>
          </p:cNvPr>
          <p:cNvSpPr/>
          <p:nvPr userDrawn="1"/>
        </p:nvSpPr>
        <p:spPr>
          <a:xfrm rot="20707748">
            <a:off x="7660698" y="5462349"/>
            <a:ext cx="1709024" cy="1536003"/>
          </a:xfrm>
          <a:custGeom>
            <a:avLst/>
            <a:gdLst/>
            <a:ahLst/>
            <a:cxnLst/>
            <a:rect l="l" t="t" r="r" b="b"/>
            <a:pathLst>
              <a:path w="1709024" h="1536003">
                <a:moveTo>
                  <a:pt x="1709024" y="0"/>
                </a:moveTo>
                <a:lnTo>
                  <a:pt x="1301161" y="1536003"/>
                </a:lnTo>
                <a:lnTo>
                  <a:pt x="0" y="1190500"/>
                </a:lnTo>
                <a:lnTo>
                  <a:pt x="0" y="82090"/>
                </a:lnTo>
                <a:cubicBezTo>
                  <a:pt x="0" y="36753"/>
                  <a:pt x="36753" y="0"/>
                  <a:pt x="82090" y="0"/>
                </a:cubicBezTo>
                <a:close/>
              </a:path>
            </a:pathLst>
          </a:custGeom>
          <a:solidFill>
            <a:schemeClr val="bg1">
              <a:alpha val="2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ed Rectangle 55">
            <a:extLst>
              <a:ext uri="{FF2B5EF4-FFF2-40B4-BE49-F238E27FC236}">
                <a16:creationId xmlns:a16="http://schemas.microsoft.com/office/drawing/2014/main" id="{475FCCEC-F2F5-6A45-9F0F-397433AD978B}"/>
              </a:ext>
            </a:extLst>
          </p:cNvPr>
          <p:cNvSpPr/>
          <p:nvPr userDrawn="1"/>
        </p:nvSpPr>
        <p:spPr>
          <a:xfrm rot="20707748">
            <a:off x="6667944" y="-490547"/>
            <a:ext cx="3064333" cy="5811872"/>
          </a:xfrm>
          <a:custGeom>
            <a:avLst/>
            <a:gdLst/>
            <a:ahLst/>
            <a:cxnLst/>
            <a:rect l="l" t="t" r="r" b="b"/>
            <a:pathLst>
              <a:path w="3064333" h="5811872">
                <a:moveTo>
                  <a:pt x="0" y="0"/>
                </a:moveTo>
                <a:lnTo>
                  <a:pt x="3064333" y="813688"/>
                </a:lnTo>
                <a:lnTo>
                  <a:pt x="1737140" y="5811872"/>
                </a:lnTo>
                <a:lnTo>
                  <a:pt x="82090" y="5811872"/>
                </a:lnTo>
                <a:cubicBezTo>
                  <a:pt x="36753" y="5811872"/>
                  <a:pt x="0" y="5775119"/>
                  <a:pt x="0" y="5729782"/>
                </a:cubicBezTo>
                <a:close/>
              </a:path>
            </a:pathLst>
          </a:custGeom>
          <a:solidFill>
            <a:schemeClr val="bg1">
              <a:alpha val="7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875256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单击此处编辑母版标题样式</a:t>
            </a:r>
            <a:endParaRPr lang="en-US" dirty="0"/>
          </a:p>
        </p:txBody>
      </p:sp>
      <p:sp>
        <p:nvSpPr>
          <p:cNvPr id="3" name="Date Placeholder 2"/>
          <p:cNvSpPr>
            <a:spLocks noGrp="1"/>
          </p:cNvSpPr>
          <p:nvPr>
            <p:ph type="dt" sz="half" idx="10"/>
          </p:nvPr>
        </p:nvSpPr>
        <p:spPr/>
        <p:txBody>
          <a:bodyPr/>
          <a:lstStyle/>
          <a:p>
            <a:fld id="{07E45A1C-C0DD-4ED6-B23E-A9D2DD110058}" type="datetime1">
              <a:rPr lang="en-US" smtClean="0"/>
              <a:pPr/>
              <a:t>6/2/19</a:t>
            </a:fld>
            <a:endParaRPr lang="en-US"/>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1AD20DFC-E2D5-4BD6-B744-D8DEEAB5F7C2}" type="slidenum">
              <a:rPr lang="en-US" smtClean="0"/>
              <a:pPr/>
              <a:t>‹#›</a:t>
            </a:fld>
            <a:endParaRPr lang="en-US"/>
          </a:p>
        </p:txBody>
      </p:sp>
      <p:sp>
        <p:nvSpPr>
          <p:cNvPr id="6" name="Rounded Rectangle 20">
            <a:extLst>
              <a:ext uri="{FF2B5EF4-FFF2-40B4-BE49-F238E27FC236}">
                <a16:creationId xmlns:a16="http://schemas.microsoft.com/office/drawing/2014/main" id="{5FFA1995-F41F-0042-9874-ED588C8143B9}"/>
              </a:ext>
            </a:extLst>
          </p:cNvPr>
          <p:cNvSpPr/>
          <p:nvPr userDrawn="1"/>
        </p:nvSpPr>
        <p:spPr>
          <a:xfrm rot="907748">
            <a:off x="-865440" y="850599"/>
            <a:ext cx="3615441" cy="6151724"/>
          </a:xfrm>
          <a:custGeom>
            <a:avLst/>
            <a:gdLst/>
            <a:ahLst/>
            <a:cxnLst/>
            <a:rect l="l" t="t" r="r" b="b"/>
            <a:pathLst>
              <a:path w="3615441" h="6151724">
                <a:moveTo>
                  <a:pt x="0" y="0"/>
                </a:moveTo>
                <a:lnTo>
                  <a:pt x="3533351" y="0"/>
                </a:lnTo>
                <a:cubicBezTo>
                  <a:pt x="3578688" y="0"/>
                  <a:pt x="3615441" y="36753"/>
                  <a:pt x="3615441" y="82090"/>
                </a:cubicBezTo>
                <a:lnTo>
                  <a:pt x="3615441" y="5623909"/>
                </a:lnTo>
                <a:lnTo>
                  <a:pt x="1663219" y="6151724"/>
                </a:lnTo>
                <a:close/>
              </a:path>
            </a:pathLst>
          </a:custGeom>
          <a:solidFill>
            <a:schemeClr val="bg1">
              <a:alpha val="7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21">
            <a:extLst>
              <a:ext uri="{FF2B5EF4-FFF2-40B4-BE49-F238E27FC236}">
                <a16:creationId xmlns:a16="http://schemas.microsoft.com/office/drawing/2014/main" id="{BD4B0FBE-2E7B-B14C-93DB-FC7695A54398}"/>
              </a:ext>
            </a:extLst>
          </p:cNvPr>
          <p:cNvSpPr/>
          <p:nvPr userDrawn="1"/>
        </p:nvSpPr>
        <p:spPr>
          <a:xfrm rot="907748">
            <a:off x="17749" y="-511509"/>
            <a:ext cx="3735394" cy="1387781"/>
          </a:xfrm>
          <a:custGeom>
            <a:avLst/>
            <a:gdLst/>
            <a:ahLst/>
            <a:cxnLst/>
            <a:rect l="l" t="t" r="r" b="b"/>
            <a:pathLst>
              <a:path w="3735394" h="1387781">
                <a:moveTo>
                  <a:pt x="0" y="1009924"/>
                </a:moveTo>
                <a:lnTo>
                  <a:pt x="3735394" y="0"/>
                </a:lnTo>
                <a:lnTo>
                  <a:pt x="3735394" y="1305691"/>
                </a:lnTo>
                <a:cubicBezTo>
                  <a:pt x="3735394" y="1351028"/>
                  <a:pt x="3698641" y="1387781"/>
                  <a:pt x="3653304" y="1387781"/>
                </a:cubicBezTo>
                <a:lnTo>
                  <a:pt x="102160" y="1387781"/>
                </a:lnTo>
                <a:close/>
              </a:path>
            </a:pathLst>
          </a:custGeom>
          <a:solidFill>
            <a:schemeClr val="bg1">
              <a:alpha val="3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22">
            <a:extLst>
              <a:ext uri="{FF2B5EF4-FFF2-40B4-BE49-F238E27FC236}">
                <a16:creationId xmlns:a16="http://schemas.microsoft.com/office/drawing/2014/main" id="{C138A5DA-FEE8-4348-ABC4-7850417F4875}"/>
              </a:ext>
            </a:extLst>
          </p:cNvPr>
          <p:cNvSpPr/>
          <p:nvPr userDrawn="1"/>
        </p:nvSpPr>
        <p:spPr>
          <a:xfrm rot="907748">
            <a:off x="2146801" y="6590199"/>
            <a:ext cx="1981025" cy="535602"/>
          </a:xfrm>
          <a:custGeom>
            <a:avLst/>
            <a:gdLst/>
            <a:ahLst/>
            <a:cxnLst/>
            <a:rect l="l" t="t" r="r" b="b"/>
            <a:pathLst>
              <a:path w="1981025" h="535602">
                <a:moveTo>
                  <a:pt x="50137" y="6451"/>
                </a:moveTo>
                <a:cubicBezTo>
                  <a:pt x="59958" y="2297"/>
                  <a:pt x="70756" y="0"/>
                  <a:pt x="82090" y="0"/>
                </a:cubicBezTo>
                <a:lnTo>
                  <a:pt x="1981025" y="0"/>
                </a:lnTo>
                <a:lnTo>
                  <a:pt x="0" y="535602"/>
                </a:lnTo>
                <a:lnTo>
                  <a:pt x="0" y="82090"/>
                </a:lnTo>
                <a:cubicBezTo>
                  <a:pt x="0" y="48087"/>
                  <a:pt x="20674" y="18913"/>
                  <a:pt x="50137" y="6451"/>
                </a:cubicBezTo>
                <a:close/>
              </a:path>
            </a:pathLst>
          </a:custGeom>
          <a:solidFill>
            <a:schemeClr val="bg1">
              <a:alpha val="2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23">
            <a:extLst>
              <a:ext uri="{FF2B5EF4-FFF2-40B4-BE49-F238E27FC236}">
                <a16:creationId xmlns:a16="http://schemas.microsoft.com/office/drawing/2014/main" id="{3094F74C-2C3C-DA48-9F09-5A71810537BF}"/>
              </a:ext>
            </a:extLst>
          </p:cNvPr>
          <p:cNvSpPr/>
          <p:nvPr userDrawn="1"/>
        </p:nvSpPr>
        <p:spPr>
          <a:xfrm rot="907748">
            <a:off x="3185141" y="-553633"/>
            <a:ext cx="6782931" cy="7826540"/>
          </a:xfrm>
          <a:custGeom>
            <a:avLst/>
            <a:gdLst/>
            <a:ahLst/>
            <a:cxnLst/>
            <a:rect l="l" t="t" r="r" b="b"/>
            <a:pathLst>
              <a:path w="6782931" h="7826540">
                <a:moveTo>
                  <a:pt x="0" y="1349945"/>
                </a:moveTo>
                <a:lnTo>
                  <a:pt x="4993024" y="0"/>
                </a:lnTo>
                <a:lnTo>
                  <a:pt x="6782931" y="6620302"/>
                </a:lnTo>
                <a:lnTo>
                  <a:pt x="2321435" y="7826540"/>
                </a:lnTo>
                <a:lnTo>
                  <a:pt x="82090" y="7826540"/>
                </a:lnTo>
                <a:cubicBezTo>
                  <a:pt x="36753" y="7826540"/>
                  <a:pt x="0" y="7789787"/>
                  <a:pt x="0" y="7744450"/>
                </a:cubicBezTo>
                <a:close/>
              </a:path>
            </a:pathLst>
          </a:custGeom>
          <a:solidFill>
            <a:schemeClr val="bg1">
              <a:alpha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368342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44C1B50-C580-4CB7-BA07-14C66C34B76D}" type="datetime1">
              <a:rPr lang="en-US" smtClean="0"/>
              <a:pPr/>
              <a:t>6/2/19</a:t>
            </a:fld>
            <a:endParaRPr lang="en-US"/>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1AD20DFC-E2D5-4BD6-B744-D8DEEAB5F7C2}" type="slidenum">
              <a:rPr lang="en-US" smtClean="0"/>
              <a:pPr/>
              <a:t>‹#›</a:t>
            </a:fld>
            <a:endParaRPr lang="en-US" dirty="0"/>
          </a:p>
        </p:txBody>
      </p:sp>
      <p:sp>
        <p:nvSpPr>
          <p:cNvPr id="5" name="Rounded Rectangle 11">
            <a:extLst>
              <a:ext uri="{FF2B5EF4-FFF2-40B4-BE49-F238E27FC236}">
                <a16:creationId xmlns:a16="http://schemas.microsoft.com/office/drawing/2014/main" id="{5E390323-A629-A14A-828D-C11161926606}"/>
              </a:ext>
            </a:extLst>
          </p:cNvPr>
          <p:cNvSpPr/>
          <p:nvPr userDrawn="1"/>
        </p:nvSpPr>
        <p:spPr>
          <a:xfrm rot="900000">
            <a:off x="-372248" y="-1218153"/>
            <a:ext cx="8577953" cy="6344114"/>
          </a:xfrm>
          <a:custGeom>
            <a:avLst/>
            <a:gdLst/>
            <a:ahLst/>
            <a:cxnLst/>
            <a:rect l="l" t="t" r="r" b="b"/>
            <a:pathLst>
              <a:path w="8577953" h="6344114">
                <a:moveTo>
                  <a:pt x="0" y="2298455"/>
                </a:moveTo>
                <a:lnTo>
                  <a:pt x="8577953" y="0"/>
                </a:lnTo>
                <a:lnTo>
                  <a:pt x="8577953" y="6262024"/>
                </a:lnTo>
                <a:cubicBezTo>
                  <a:pt x="8577953" y="6307361"/>
                  <a:pt x="8541200" y="6344113"/>
                  <a:pt x="8495863" y="6344113"/>
                </a:cubicBezTo>
                <a:lnTo>
                  <a:pt x="1084031" y="6344114"/>
                </a:lnTo>
                <a:close/>
              </a:path>
            </a:pathLst>
          </a:custGeom>
          <a:solidFill>
            <a:schemeClr val="bg1">
              <a:alpha val="2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ounded Rectangle 12">
            <a:extLst>
              <a:ext uri="{FF2B5EF4-FFF2-40B4-BE49-F238E27FC236}">
                <a16:creationId xmlns:a16="http://schemas.microsoft.com/office/drawing/2014/main" id="{3ABD5D03-1ABC-1D4F-8533-873F526E30B6}"/>
              </a:ext>
            </a:extLst>
          </p:cNvPr>
          <p:cNvSpPr/>
          <p:nvPr userDrawn="1"/>
        </p:nvSpPr>
        <p:spPr>
          <a:xfrm rot="900000">
            <a:off x="-449071" y="5207889"/>
            <a:ext cx="7470000" cy="2486713"/>
          </a:xfrm>
          <a:custGeom>
            <a:avLst/>
            <a:gdLst/>
            <a:ahLst/>
            <a:cxnLst/>
            <a:rect l="l" t="t" r="r" b="b"/>
            <a:pathLst>
              <a:path w="7470000" h="2486713">
                <a:moveTo>
                  <a:pt x="0" y="0"/>
                </a:moveTo>
                <a:lnTo>
                  <a:pt x="7387910" y="0"/>
                </a:lnTo>
                <a:cubicBezTo>
                  <a:pt x="7433247" y="0"/>
                  <a:pt x="7470000" y="36753"/>
                  <a:pt x="7470000" y="82090"/>
                </a:cubicBezTo>
                <a:lnTo>
                  <a:pt x="7470000" y="663670"/>
                </a:lnTo>
                <a:lnTo>
                  <a:pt x="666313" y="2486713"/>
                </a:lnTo>
                <a:close/>
              </a:path>
            </a:pathLst>
          </a:custGeom>
          <a:solidFill>
            <a:schemeClr val="bg1">
              <a:alpha val="7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13">
            <a:extLst>
              <a:ext uri="{FF2B5EF4-FFF2-40B4-BE49-F238E27FC236}">
                <a16:creationId xmlns:a16="http://schemas.microsoft.com/office/drawing/2014/main" id="{1E68D001-80DC-934A-B395-FA96D178AE39}"/>
              </a:ext>
            </a:extLst>
          </p:cNvPr>
          <p:cNvSpPr/>
          <p:nvPr userDrawn="1"/>
        </p:nvSpPr>
        <p:spPr>
          <a:xfrm rot="900000">
            <a:off x="7192310" y="6483326"/>
            <a:ext cx="1932834" cy="635630"/>
          </a:xfrm>
          <a:custGeom>
            <a:avLst/>
            <a:gdLst/>
            <a:ahLst/>
            <a:cxnLst/>
            <a:rect l="l" t="t" r="r" b="b"/>
            <a:pathLst>
              <a:path w="1932834" h="635630">
                <a:moveTo>
                  <a:pt x="50137" y="6451"/>
                </a:moveTo>
                <a:cubicBezTo>
                  <a:pt x="59958" y="2297"/>
                  <a:pt x="70756" y="0"/>
                  <a:pt x="82090" y="0"/>
                </a:cubicBezTo>
                <a:lnTo>
                  <a:pt x="1901288" y="0"/>
                </a:lnTo>
                <a:lnTo>
                  <a:pt x="1932834" y="117729"/>
                </a:lnTo>
                <a:lnTo>
                  <a:pt x="0" y="635630"/>
                </a:lnTo>
                <a:lnTo>
                  <a:pt x="0" y="82090"/>
                </a:lnTo>
                <a:cubicBezTo>
                  <a:pt x="0" y="48087"/>
                  <a:pt x="20673" y="18913"/>
                  <a:pt x="50137" y="6451"/>
                </a:cubicBezTo>
                <a:close/>
              </a:path>
            </a:pathLst>
          </a:custGeom>
          <a:solidFill>
            <a:schemeClr val="bg1">
              <a:alpha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ounded Rectangle 14">
            <a:extLst>
              <a:ext uri="{FF2B5EF4-FFF2-40B4-BE49-F238E27FC236}">
                <a16:creationId xmlns:a16="http://schemas.microsoft.com/office/drawing/2014/main" id="{023AA1A3-D1C9-4E42-8B64-C387F82AA6A4}"/>
              </a:ext>
            </a:extLst>
          </p:cNvPr>
          <p:cNvSpPr/>
          <p:nvPr userDrawn="1"/>
        </p:nvSpPr>
        <p:spPr>
          <a:xfrm rot="900000">
            <a:off x="8127084" y="92392"/>
            <a:ext cx="1878991" cy="6414233"/>
          </a:xfrm>
          <a:custGeom>
            <a:avLst/>
            <a:gdLst/>
            <a:ahLst/>
            <a:cxnLst/>
            <a:rect l="l" t="t" r="r" b="b"/>
            <a:pathLst>
              <a:path w="1878991" h="6414233">
                <a:moveTo>
                  <a:pt x="0" y="42953"/>
                </a:moveTo>
                <a:lnTo>
                  <a:pt x="160303" y="0"/>
                </a:lnTo>
                <a:lnTo>
                  <a:pt x="1878991" y="6414233"/>
                </a:lnTo>
                <a:lnTo>
                  <a:pt x="82090" y="6414233"/>
                </a:lnTo>
                <a:cubicBezTo>
                  <a:pt x="36753" y="6414233"/>
                  <a:pt x="0" y="6377480"/>
                  <a:pt x="0" y="6332143"/>
                </a:cubicBezTo>
                <a:close/>
              </a:path>
            </a:pathLst>
          </a:custGeom>
          <a:solidFill>
            <a:schemeClr val="bg1">
              <a:alpha val="3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5315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dirty="0"/>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编辑母版文本样式</a:t>
            </a:r>
          </a:p>
        </p:txBody>
      </p:sp>
      <p:sp>
        <p:nvSpPr>
          <p:cNvPr id="5" name="Date Placeholder 4"/>
          <p:cNvSpPr>
            <a:spLocks noGrp="1"/>
          </p:cNvSpPr>
          <p:nvPr>
            <p:ph type="dt" sz="half" idx="10"/>
          </p:nvPr>
        </p:nvSpPr>
        <p:spPr/>
        <p:txBody>
          <a:bodyPr/>
          <a:lstStyle/>
          <a:p>
            <a:fld id="{4EC5816F-D43D-40D1-9B38-E1A2C18F0972}" type="datetime1">
              <a:rPr lang="en-US" smtClean="0"/>
              <a:pPr/>
              <a:t>6/2/19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1AD20DFC-E2D5-4BD6-B744-D8DEEAB5F7C2}" type="slidenum">
              <a:rPr lang="en-US" smtClean="0"/>
              <a:pPr/>
              <a:t>‹#›</a:t>
            </a:fld>
            <a:endParaRPr lang="en-US" dirty="0"/>
          </a:p>
        </p:txBody>
      </p:sp>
    </p:spTree>
    <p:extLst>
      <p:ext uri="{BB962C8B-B14F-4D97-AF65-F5344CB8AC3E}">
        <p14:creationId xmlns:p14="http://schemas.microsoft.com/office/powerpoint/2010/main" val="235765975"/>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dirty="0"/>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dirty="0"/>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编辑母版文本样式</a:t>
            </a:r>
          </a:p>
        </p:txBody>
      </p:sp>
      <p:sp>
        <p:nvSpPr>
          <p:cNvPr id="5" name="Date Placeholder 4"/>
          <p:cNvSpPr>
            <a:spLocks noGrp="1"/>
          </p:cNvSpPr>
          <p:nvPr>
            <p:ph type="dt" sz="half" idx="10"/>
          </p:nvPr>
        </p:nvSpPr>
        <p:spPr/>
        <p:txBody>
          <a:bodyPr/>
          <a:lstStyle/>
          <a:p>
            <a:fld id="{7EB273CF-8910-423E-9890-FC81E25E5084}" type="datetime1">
              <a:rPr lang="en-US" smtClean="0"/>
              <a:pPr/>
              <a:t>6/2/19</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1AD20DFC-E2D5-4BD6-B744-D8DEEAB5F7C2}" type="slidenum">
              <a:rPr lang="en-US" smtClean="0"/>
              <a:pPr/>
              <a:t>‹#›</a:t>
            </a:fld>
            <a:endParaRPr lang="en-US"/>
          </a:p>
        </p:txBody>
      </p:sp>
      <p:sp>
        <p:nvSpPr>
          <p:cNvPr id="8" name="Rounded Rectangle 14">
            <a:extLst>
              <a:ext uri="{FF2B5EF4-FFF2-40B4-BE49-F238E27FC236}">
                <a16:creationId xmlns:a16="http://schemas.microsoft.com/office/drawing/2014/main" id="{109511A3-527C-D642-9737-CA9344B40FD8}"/>
              </a:ext>
            </a:extLst>
          </p:cNvPr>
          <p:cNvSpPr/>
          <p:nvPr userDrawn="1"/>
        </p:nvSpPr>
        <p:spPr>
          <a:xfrm rot="900000">
            <a:off x="-533701" y="-979752"/>
            <a:ext cx="6672870" cy="6821601"/>
          </a:xfrm>
          <a:custGeom>
            <a:avLst/>
            <a:gdLst/>
            <a:ahLst/>
            <a:cxnLst/>
            <a:rect l="l" t="t" r="r" b="b"/>
            <a:pathLst>
              <a:path w="6672870" h="6821601">
                <a:moveTo>
                  <a:pt x="0" y="1787990"/>
                </a:moveTo>
                <a:lnTo>
                  <a:pt x="6672870" y="0"/>
                </a:lnTo>
                <a:lnTo>
                  <a:pt x="6672870" y="6739511"/>
                </a:lnTo>
                <a:cubicBezTo>
                  <a:pt x="6672870" y="6784848"/>
                  <a:pt x="6636117" y="6821601"/>
                  <a:pt x="6590780" y="6821601"/>
                </a:cubicBezTo>
                <a:lnTo>
                  <a:pt x="1348753" y="6821601"/>
                </a:lnTo>
                <a:close/>
              </a:path>
            </a:pathLst>
          </a:custGeom>
          <a:solidFill>
            <a:schemeClr val="bg1">
              <a:alpha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15">
            <a:extLst>
              <a:ext uri="{FF2B5EF4-FFF2-40B4-BE49-F238E27FC236}">
                <a16:creationId xmlns:a16="http://schemas.microsoft.com/office/drawing/2014/main" id="{CB586DAF-610E-8C4C-A6FB-24A2AA10F40D}"/>
              </a:ext>
            </a:extLst>
          </p:cNvPr>
          <p:cNvSpPr/>
          <p:nvPr userDrawn="1"/>
        </p:nvSpPr>
        <p:spPr>
          <a:xfrm rot="900000">
            <a:off x="-283896" y="5969722"/>
            <a:ext cx="5300494" cy="1495954"/>
          </a:xfrm>
          <a:custGeom>
            <a:avLst/>
            <a:gdLst/>
            <a:ahLst/>
            <a:cxnLst/>
            <a:rect l="l" t="t" r="r" b="b"/>
            <a:pathLst>
              <a:path w="5300494" h="1495954">
                <a:moveTo>
                  <a:pt x="0" y="0"/>
                </a:moveTo>
                <a:lnTo>
                  <a:pt x="5218404" y="0"/>
                </a:lnTo>
                <a:cubicBezTo>
                  <a:pt x="5263741" y="0"/>
                  <a:pt x="5300494" y="36753"/>
                  <a:pt x="5300494" y="82090"/>
                </a:cubicBezTo>
                <a:lnTo>
                  <a:pt x="5300494" y="183095"/>
                </a:lnTo>
                <a:lnTo>
                  <a:pt x="400840" y="1495954"/>
                </a:lnTo>
                <a:close/>
              </a:path>
            </a:pathLst>
          </a:custGeom>
          <a:solidFill>
            <a:schemeClr val="bg1">
              <a:alpha val="2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16">
            <a:extLst>
              <a:ext uri="{FF2B5EF4-FFF2-40B4-BE49-F238E27FC236}">
                <a16:creationId xmlns:a16="http://schemas.microsoft.com/office/drawing/2014/main" id="{A5542682-5DC1-2D4C-9E50-A3CEEF5692B7}"/>
              </a:ext>
            </a:extLst>
          </p:cNvPr>
          <p:cNvSpPr/>
          <p:nvPr userDrawn="1"/>
        </p:nvSpPr>
        <p:spPr>
          <a:xfrm rot="900000">
            <a:off x="6930292" y="-242630"/>
            <a:ext cx="2434235" cy="1383623"/>
          </a:xfrm>
          <a:custGeom>
            <a:avLst/>
            <a:gdLst/>
            <a:ahLst/>
            <a:cxnLst/>
            <a:rect l="l" t="t" r="r" b="b"/>
            <a:pathLst>
              <a:path w="2434235" h="1383623">
                <a:moveTo>
                  <a:pt x="0" y="552912"/>
                </a:moveTo>
                <a:lnTo>
                  <a:pt x="2063495" y="0"/>
                </a:lnTo>
                <a:lnTo>
                  <a:pt x="2434235" y="1383623"/>
                </a:lnTo>
                <a:lnTo>
                  <a:pt x="82090" y="1383622"/>
                </a:lnTo>
                <a:cubicBezTo>
                  <a:pt x="36754" y="1383622"/>
                  <a:pt x="0" y="1346869"/>
                  <a:pt x="0" y="1301533"/>
                </a:cubicBezTo>
                <a:close/>
              </a:path>
            </a:pathLst>
          </a:custGeom>
          <a:solidFill>
            <a:schemeClr val="bg1">
              <a:alpha val="3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ounded Rectangle 17">
            <a:extLst>
              <a:ext uri="{FF2B5EF4-FFF2-40B4-BE49-F238E27FC236}">
                <a16:creationId xmlns:a16="http://schemas.microsoft.com/office/drawing/2014/main" id="{ABAE37E1-FF92-A941-B1A0-CCA00302C565}"/>
              </a:ext>
            </a:extLst>
          </p:cNvPr>
          <p:cNvSpPr/>
          <p:nvPr userDrawn="1"/>
        </p:nvSpPr>
        <p:spPr>
          <a:xfrm rot="900000">
            <a:off x="5899782" y="1282101"/>
            <a:ext cx="3842742" cy="6178450"/>
          </a:xfrm>
          <a:custGeom>
            <a:avLst/>
            <a:gdLst/>
            <a:ahLst/>
            <a:cxnLst/>
            <a:rect l="l" t="t" r="r" b="b"/>
            <a:pathLst>
              <a:path w="3842742" h="6178450">
                <a:moveTo>
                  <a:pt x="50137" y="6451"/>
                </a:moveTo>
                <a:cubicBezTo>
                  <a:pt x="59958" y="2297"/>
                  <a:pt x="70756" y="0"/>
                  <a:pt x="82090" y="0"/>
                </a:cubicBezTo>
                <a:lnTo>
                  <a:pt x="2463128" y="0"/>
                </a:lnTo>
                <a:lnTo>
                  <a:pt x="3842742" y="5148790"/>
                </a:lnTo>
                <a:lnTo>
                  <a:pt x="0" y="6178450"/>
                </a:lnTo>
                <a:lnTo>
                  <a:pt x="0" y="82090"/>
                </a:lnTo>
                <a:cubicBezTo>
                  <a:pt x="0" y="48087"/>
                  <a:pt x="20674" y="18913"/>
                  <a:pt x="50137" y="6451"/>
                </a:cubicBezTo>
                <a:close/>
              </a:path>
            </a:pathLst>
          </a:custGeom>
          <a:solidFill>
            <a:schemeClr val="bg1">
              <a:alpha val="7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662683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本">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p>
            <a:fld id="{C45A9071-CFF5-4E3B-B0AB-39782972E256}" type="datetime1">
              <a:rPr lang="en-US" smtClean="0"/>
              <a:pPr/>
              <a:t>6/2/19</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AD20DFC-E2D5-4BD6-B744-D8DEEAB5F7C2}" type="slidenum">
              <a:rPr lang="en-US" smtClean="0"/>
              <a:pPr/>
              <a:t>‹#›</a:t>
            </a:fld>
            <a:endParaRPr lang="en-US" dirty="0"/>
          </a:p>
        </p:txBody>
      </p:sp>
      <p:sp>
        <p:nvSpPr>
          <p:cNvPr id="7" name="Rounded Rectangle 11">
            <a:extLst>
              <a:ext uri="{FF2B5EF4-FFF2-40B4-BE49-F238E27FC236}">
                <a16:creationId xmlns:a16="http://schemas.microsoft.com/office/drawing/2014/main" id="{408404CD-EE39-BB41-BE05-35C57FDF4D3B}"/>
              </a:ext>
            </a:extLst>
          </p:cNvPr>
          <p:cNvSpPr/>
          <p:nvPr userDrawn="1"/>
        </p:nvSpPr>
        <p:spPr>
          <a:xfrm rot="20707748">
            <a:off x="-895918" y="-766298"/>
            <a:ext cx="8332816" cy="5894380"/>
          </a:xfrm>
          <a:custGeom>
            <a:avLst/>
            <a:gdLst/>
            <a:ahLst/>
            <a:cxnLst/>
            <a:rect l="l" t="t" r="r" b="b"/>
            <a:pathLst>
              <a:path w="8332816" h="5894380">
                <a:moveTo>
                  <a:pt x="1565164" y="0"/>
                </a:moveTo>
                <a:lnTo>
                  <a:pt x="8332816" y="1797049"/>
                </a:lnTo>
                <a:lnTo>
                  <a:pt x="8332816" y="5812290"/>
                </a:lnTo>
                <a:cubicBezTo>
                  <a:pt x="8332816" y="5857627"/>
                  <a:pt x="8296063" y="5894380"/>
                  <a:pt x="8250726" y="5894380"/>
                </a:cubicBezTo>
                <a:lnTo>
                  <a:pt x="0" y="5894380"/>
                </a:lnTo>
                <a:close/>
              </a:path>
            </a:pathLst>
          </a:custGeom>
          <a:solidFill>
            <a:schemeClr val="bg1">
              <a:alpha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12">
            <a:extLst>
              <a:ext uri="{FF2B5EF4-FFF2-40B4-BE49-F238E27FC236}">
                <a16:creationId xmlns:a16="http://schemas.microsoft.com/office/drawing/2014/main" id="{51125F17-F78E-474F-99FE-45CA2F58A8F5}"/>
              </a:ext>
            </a:extLst>
          </p:cNvPr>
          <p:cNvSpPr/>
          <p:nvPr userDrawn="1"/>
        </p:nvSpPr>
        <p:spPr>
          <a:xfrm rot="20707748">
            <a:off x="64746" y="5089618"/>
            <a:ext cx="8528044" cy="2911464"/>
          </a:xfrm>
          <a:custGeom>
            <a:avLst/>
            <a:gdLst/>
            <a:ahLst/>
            <a:cxnLst/>
            <a:rect l="l" t="t" r="r" b="b"/>
            <a:pathLst>
              <a:path w="8528044" h="2911464">
                <a:moveTo>
                  <a:pt x="8477907" y="6451"/>
                </a:moveTo>
                <a:cubicBezTo>
                  <a:pt x="8507371" y="18913"/>
                  <a:pt x="8528044" y="48087"/>
                  <a:pt x="8528044" y="82090"/>
                </a:cubicBezTo>
                <a:lnTo>
                  <a:pt x="8528044" y="2911464"/>
                </a:lnTo>
                <a:lnTo>
                  <a:pt x="0" y="646970"/>
                </a:lnTo>
                <a:lnTo>
                  <a:pt x="171794" y="0"/>
                </a:lnTo>
                <a:lnTo>
                  <a:pt x="8445954" y="0"/>
                </a:lnTo>
                <a:cubicBezTo>
                  <a:pt x="8457288" y="0"/>
                  <a:pt x="8468086" y="2297"/>
                  <a:pt x="8477907" y="6451"/>
                </a:cubicBezTo>
                <a:close/>
              </a:path>
            </a:pathLst>
          </a:custGeom>
          <a:solidFill>
            <a:schemeClr val="bg1">
              <a:alpha val="7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13">
            <a:extLst>
              <a:ext uri="{FF2B5EF4-FFF2-40B4-BE49-F238E27FC236}">
                <a16:creationId xmlns:a16="http://schemas.microsoft.com/office/drawing/2014/main" id="{2EB90142-A8A2-E843-9D68-805ABF0810ED}"/>
              </a:ext>
            </a:extLst>
          </p:cNvPr>
          <p:cNvSpPr/>
          <p:nvPr userDrawn="1"/>
        </p:nvSpPr>
        <p:spPr>
          <a:xfrm rot="20707748">
            <a:off x="8533928" y="3839503"/>
            <a:ext cx="1011244" cy="2994350"/>
          </a:xfrm>
          <a:custGeom>
            <a:avLst/>
            <a:gdLst/>
            <a:ahLst/>
            <a:cxnLst/>
            <a:rect l="l" t="t" r="r" b="b"/>
            <a:pathLst>
              <a:path w="1011244" h="2994350">
                <a:moveTo>
                  <a:pt x="1011244" y="0"/>
                </a:moveTo>
                <a:lnTo>
                  <a:pt x="216140" y="2994350"/>
                </a:lnTo>
                <a:lnTo>
                  <a:pt x="0" y="2936957"/>
                </a:lnTo>
                <a:lnTo>
                  <a:pt x="0" y="82090"/>
                </a:lnTo>
                <a:cubicBezTo>
                  <a:pt x="0" y="36753"/>
                  <a:pt x="36753" y="0"/>
                  <a:pt x="82090" y="0"/>
                </a:cubicBezTo>
                <a:close/>
              </a:path>
            </a:pathLst>
          </a:custGeom>
          <a:solidFill>
            <a:schemeClr val="bg1">
              <a:alpha val="2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14">
            <a:extLst>
              <a:ext uri="{FF2B5EF4-FFF2-40B4-BE49-F238E27FC236}">
                <a16:creationId xmlns:a16="http://schemas.microsoft.com/office/drawing/2014/main" id="{C4349998-304F-2C42-9E4F-9B2D8A7B9ECA}"/>
              </a:ext>
            </a:extLst>
          </p:cNvPr>
          <p:cNvSpPr/>
          <p:nvPr userDrawn="1"/>
        </p:nvSpPr>
        <p:spPr>
          <a:xfrm rot="20707748">
            <a:off x="7588490" y="-321837"/>
            <a:ext cx="1976541" cy="4072806"/>
          </a:xfrm>
          <a:custGeom>
            <a:avLst/>
            <a:gdLst/>
            <a:ahLst/>
            <a:cxnLst/>
            <a:rect l="l" t="t" r="r" b="b"/>
            <a:pathLst>
              <a:path w="1976541" h="4072806">
                <a:moveTo>
                  <a:pt x="0" y="0"/>
                </a:moveTo>
                <a:lnTo>
                  <a:pt x="1976541" y="524841"/>
                </a:lnTo>
                <a:lnTo>
                  <a:pt x="1034432" y="4072806"/>
                </a:lnTo>
                <a:lnTo>
                  <a:pt x="82090" y="4072806"/>
                </a:lnTo>
                <a:cubicBezTo>
                  <a:pt x="36753" y="4072806"/>
                  <a:pt x="0" y="4036053"/>
                  <a:pt x="0" y="3990716"/>
                </a:cubicBezTo>
                <a:close/>
              </a:path>
            </a:pathLst>
          </a:custGeom>
          <a:solidFill>
            <a:schemeClr val="bg1">
              <a:alpha val="3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657313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和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dirty="0"/>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p>
            <a:fld id="{53D8BD1F-DE98-4C29-8281-9EC9927620DF}" type="datetime1">
              <a:rPr lang="en-US" smtClean="0"/>
              <a:pPr/>
              <a:t>6/2/19</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AD20DFC-E2D5-4BD6-B744-D8DEEAB5F7C2}" type="slidenum">
              <a:rPr lang="en-US" smtClean="0"/>
              <a:pPr/>
              <a:t>‹#›</a:t>
            </a:fld>
            <a:endParaRPr lang="en-US" dirty="0"/>
          </a:p>
        </p:txBody>
      </p:sp>
      <p:sp>
        <p:nvSpPr>
          <p:cNvPr id="7" name="Rounded Rectangle 11">
            <a:extLst>
              <a:ext uri="{FF2B5EF4-FFF2-40B4-BE49-F238E27FC236}">
                <a16:creationId xmlns:a16="http://schemas.microsoft.com/office/drawing/2014/main" id="{811C81C0-6D29-A042-8F1C-D9B10EBB4D28}"/>
              </a:ext>
            </a:extLst>
          </p:cNvPr>
          <p:cNvSpPr/>
          <p:nvPr userDrawn="1"/>
        </p:nvSpPr>
        <p:spPr>
          <a:xfrm rot="20707748">
            <a:off x="-882907" y="-626065"/>
            <a:ext cx="7440156" cy="7347127"/>
          </a:xfrm>
          <a:custGeom>
            <a:avLst/>
            <a:gdLst/>
            <a:ahLst/>
            <a:cxnLst/>
            <a:rect l="l" t="t" r="r" b="b"/>
            <a:pathLst>
              <a:path w="7440156" h="7347127">
                <a:moveTo>
                  <a:pt x="1760047" y="0"/>
                </a:moveTo>
                <a:lnTo>
                  <a:pt x="7440156" y="1508269"/>
                </a:lnTo>
                <a:lnTo>
                  <a:pt x="7440156" y="7265037"/>
                </a:lnTo>
                <a:cubicBezTo>
                  <a:pt x="7440156" y="7310374"/>
                  <a:pt x="7403403" y="7347127"/>
                  <a:pt x="7358066" y="7347127"/>
                </a:cubicBezTo>
                <a:lnTo>
                  <a:pt x="2707078" y="7347127"/>
                </a:lnTo>
                <a:lnTo>
                  <a:pt x="0" y="6628304"/>
                </a:lnTo>
                <a:close/>
              </a:path>
            </a:pathLst>
          </a:custGeom>
          <a:solidFill>
            <a:schemeClr val="bg1">
              <a:alpha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12">
            <a:extLst>
              <a:ext uri="{FF2B5EF4-FFF2-40B4-BE49-F238E27FC236}">
                <a16:creationId xmlns:a16="http://schemas.microsoft.com/office/drawing/2014/main" id="{64EA6EC8-0BAC-524E-A5AC-D0E8BF7FF450}"/>
              </a:ext>
            </a:extLst>
          </p:cNvPr>
          <p:cNvSpPr/>
          <p:nvPr userDrawn="1"/>
        </p:nvSpPr>
        <p:spPr>
          <a:xfrm rot="20707748">
            <a:off x="3227235" y="6274264"/>
            <a:ext cx="4396677" cy="1167472"/>
          </a:xfrm>
          <a:custGeom>
            <a:avLst/>
            <a:gdLst/>
            <a:ahLst/>
            <a:cxnLst/>
            <a:rect l="l" t="t" r="r" b="b"/>
            <a:pathLst>
              <a:path w="4396677" h="1167472">
                <a:moveTo>
                  <a:pt x="4346539" y="6451"/>
                </a:moveTo>
                <a:cubicBezTo>
                  <a:pt x="4376003" y="18913"/>
                  <a:pt x="4396677" y="48087"/>
                  <a:pt x="4396677" y="82090"/>
                </a:cubicBezTo>
                <a:lnTo>
                  <a:pt x="4396677" y="1167472"/>
                </a:lnTo>
                <a:lnTo>
                  <a:pt x="0" y="0"/>
                </a:lnTo>
                <a:lnTo>
                  <a:pt x="4314586" y="0"/>
                </a:lnTo>
                <a:cubicBezTo>
                  <a:pt x="4325920" y="0"/>
                  <a:pt x="4336718" y="2297"/>
                  <a:pt x="4346539" y="6451"/>
                </a:cubicBezTo>
                <a:close/>
              </a:path>
            </a:pathLst>
          </a:custGeom>
          <a:solidFill>
            <a:schemeClr val="bg1">
              <a:alpha val="3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13">
            <a:extLst>
              <a:ext uri="{FF2B5EF4-FFF2-40B4-BE49-F238E27FC236}">
                <a16:creationId xmlns:a16="http://schemas.microsoft.com/office/drawing/2014/main" id="{792407B1-3336-054F-BD9A-49AD367D28EB}"/>
              </a:ext>
            </a:extLst>
          </p:cNvPr>
          <p:cNvSpPr/>
          <p:nvPr userDrawn="1"/>
        </p:nvSpPr>
        <p:spPr>
          <a:xfrm rot="20707748">
            <a:off x="7659524" y="5459724"/>
            <a:ext cx="1710569" cy="1538689"/>
          </a:xfrm>
          <a:custGeom>
            <a:avLst/>
            <a:gdLst/>
            <a:ahLst/>
            <a:cxnLst/>
            <a:rect l="l" t="t" r="r" b="b"/>
            <a:pathLst>
              <a:path w="1710569" h="1538689">
                <a:moveTo>
                  <a:pt x="1710569" y="1"/>
                </a:moveTo>
                <a:lnTo>
                  <a:pt x="1301993" y="1538689"/>
                </a:lnTo>
                <a:lnTo>
                  <a:pt x="0" y="1192965"/>
                </a:lnTo>
                <a:lnTo>
                  <a:pt x="0" y="82090"/>
                </a:lnTo>
                <a:cubicBezTo>
                  <a:pt x="0" y="36753"/>
                  <a:pt x="36753" y="0"/>
                  <a:pt x="82090" y="0"/>
                </a:cubicBezTo>
                <a:close/>
              </a:path>
            </a:pathLst>
          </a:custGeom>
          <a:solidFill>
            <a:schemeClr val="bg1">
              <a:alpha val="2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14">
            <a:extLst>
              <a:ext uri="{FF2B5EF4-FFF2-40B4-BE49-F238E27FC236}">
                <a16:creationId xmlns:a16="http://schemas.microsoft.com/office/drawing/2014/main" id="{A4C27BC5-2D31-3441-9BB8-5535803C6C39}"/>
              </a:ext>
            </a:extLst>
          </p:cNvPr>
          <p:cNvSpPr/>
          <p:nvPr userDrawn="1"/>
        </p:nvSpPr>
        <p:spPr>
          <a:xfrm rot="20707748">
            <a:off x="6666426" y="-490731"/>
            <a:ext cx="3065776" cy="5811871"/>
          </a:xfrm>
          <a:custGeom>
            <a:avLst/>
            <a:gdLst/>
            <a:ahLst/>
            <a:cxnLst/>
            <a:rect l="l" t="t" r="r" b="b"/>
            <a:pathLst>
              <a:path w="3065776" h="5811871">
                <a:moveTo>
                  <a:pt x="0" y="0"/>
                </a:moveTo>
                <a:lnTo>
                  <a:pt x="3065776" y="814071"/>
                </a:lnTo>
                <a:lnTo>
                  <a:pt x="1738684" y="5811871"/>
                </a:lnTo>
                <a:lnTo>
                  <a:pt x="82090" y="5811871"/>
                </a:lnTo>
                <a:cubicBezTo>
                  <a:pt x="36753" y="5811871"/>
                  <a:pt x="0" y="5775118"/>
                  <a:pt x="0" y="5729781"/>
                </a:cubicBezTo>
                <a:close/>
              </a:path>
            </a:pathLst>
          </a:custGeom>
          <a:solidFill>
            <a:schemeClr val="bg1">
              <a:alpha val="7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893511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3_标题和内容">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98074562"/>
      </p:ext>
    </p:extLst>
  </p:cSld>
  <p:clrMapOvr>
    <a:overrideClrMapping bg1="lt1" tx1="dk1" bg2="lt2" tx2="dk2" accent1="accent1" accent2="accent2" accent3="accent3" accent4="accent4" accent5="accent5" accent6="accent6" hlink="hlink" folHlink="folHlink"/>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5_标题和内容">
    <p:bg>
      <p:bgRef idx="1003">
        <a:schemeClr val="bg2"/>
      </p:bgRef>
    </p:bg>
    <p:spTree>
      <p:nvGrpSpPr>
        <p:cNvPr id="1" name=""/>
        <p:cNvGrpSpPr/>
        <p:nvPr/>
      </p:nvGrpSpPr>
      <p:grpSpPr>
        <a:xfrm>
          <a:off x="0" y="0"/>
          <a:ext cx="0" cy="0"/>
          <a:chOff x="0" y="0"/>
          <a:chExt cx="0" cy="0"/>
        </a:xfrm>
      </p:grpSpPr>
      <p:sp>
        <p:nvSpPr>
          <p:cNvPr id="14" name="Rounded Rectangle 13"/>
          <p:cNvSpPr/>
          <p:nvPr userDrawn="1"/>
        </p:nvSpPr>
        <p:spPr>
          <a:xfrm rot="907748">
            <a:off x="3803426" y="6831810"/>
            <a:ext cx="859444" cy="182198"/>
          </a:xfrm>
          <a:custGeom>
            <a:avLst/>
            <a:gdLst/>
            <a:ahLst/>
            <a:cxnLst/>
            <a:rect l="l" t="t" r="r" b="b"/>
            <a:pathLst>
              <a:path w="1981025" h="535602">
                <a:moveTo>
                  <a:pt x="50137" y="6451"/>
                </a:moveTo>
                <a:cubicBezTo>
                  <a:pt x="59958" y="2297"/>
                  <a:pt x="70756" y="0"/>
                  <a:pt x="82090" y="0"/>
                </a:cubicBezTo>
                <a:lnTo>
                  <a:pt x="1981025" y="0"/>
                </a:lnTo>
                <a:lnTo>
                  <a:pt x="0" y="535602"/>
                </a:lnTo>
                <a:lnTo>
                  <a:pt x="0" y="82090"/>
                </a:lnTo>
                <a:cubicBezTo>
                  <a:pt x="0" y="48087"/>
                  <a:pt x="20674" y="18913"/>
                  <a:pt x="50137" y="6451"/>
                </a:cubicBezTo>
                <a:close/>
              </a:path>
            </a:pathLst>
          </a:custGeom>
          <a:solidFill>
            <a:schemeClr val="bg1">
              <a:alpha val="2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92910" y="27420"/>
            <a:ext cx="3761842" cy="973667"/>
          </a:xfrm>
        </p:spPr>
        <p:txBody>
          <a:bodyPr anchor="t">
            <a:noAutofit/>
          </a:bodyPr>
          <a:lstStyle>
            <a:lvl1pPr>
              <a:defRPr sz="3200"/>
            </a:lvl1pPr>
          </a:lstStyle>
          <a:p>
            <a:r>
              <a:rPr lang="zh-CN" altLang="en-US" dirty="0"/>
              <a:t>单击此处编辑母版标题样式</a:t>
            </a:r>
            <a:endParaRPr lang="en-US" dirty="0"/>
          </a:p>
        </p:txBody>
      </p:sp>
      <p:sp>
        <p:nvSpPr>
          <p:cNvPr id="3" name="Content Placeholder 2"/>
          <p:cNvSpPr>
            <a:spLocks noGrp="1"/>
          </p:cNvSpPr>
          <p:nvPr>
            <p:ph idx="1"/>
          </p:nvPr>
        </p:nvSpPr>
        <p:spPr>
          <a:xfrm>
            <a:off x="4572001" y="27421"/>
            <a:ext cx="4429096" cy="6349910"/>
          </a:xfrm>
        </p:spPr>
        <p:txBody>
          <a:bodyPr anchor="ct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8" name="内容占位符 7"/>
          <p:cNvSpPr>
            <a:spLocks noGrp="1"/>
          </p:cNvSpPr>
          <p:nvPr>
            <p:ph sz="quarter" idx="10"/>
          </p:nvPr>
        </p:nvSpPr>
        <p:spPr>
          <a:xfrm>
            <a:off x="482414" y="1346568"/>
            <a:ext cx="3703126" cy="5030763"/>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1797498592"/>
      </p:ext>
    </p:extLst>
  </p:cSld>
  <p:clrMapOvr>
    <a:overrideClrMapping bg1="lt1" tx1="dk1" bg2="lt2" tx2="dk2" accent1="accent1" accent2="accent2" accent3="accent3" accent4="accent4" accent5="accent5" accent6="accent6" hlink="hlink" folHlink="folHlink"/>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7_标题和内容">
    <p:bg>
      <p:bgRef idx="1003">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74936" y="284897"/>
            <a:ext cx="3761842" cy="973667"/>
          </a:xfrm>
        </p:spPr>
        <p:txBody>
          <a:bodyPr anchor="t">
            <a:noAutofit/>
          </a:bodyPr>
          <a:lstStyle>
            <a:lvl1pPr>
              <a:defRPr sz="3200"/>
            </a:lvl1pPr>
          </a:lstStyle>
          <a:p>
            <a:r>
              <a:rPr lang="zh-CN" altLang="en-US" dirty="0"/>
              <a:t>单击此处编辑母版标题样式</a:t>
            </a:r>
            <a:endParaRPr lang="en-US" dirty="0"/>
          </a:p>
        </p:txBody>
      </p:sp>
      <p:sp>
        <p:nvSpPr>
          <p:cNvPr id="3" name="Content Placeholder 2"/>
          <p:cNvSpPr>
            <a:spLocks noGrp="1"/>
          </p:cNvSpPr>
          <p:nvPr>
            <p:ph idx="1"/>
          </p:nvPr>
        </p:nvSpPr>
        <p:spPr>
          <a:xfrm>
            <a:off x="4935722" y="284897"/>
            <a:ext cx="3617729" cy="3256516"/>
          </a:xfrm>
        </p:spPr>
        <p:txBody>
          <a:bodyPr anchor="ct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8" name="内容占位符 7"/>
          <p:cNvSpPr>
            <a:spLocks noGrp="1"/>
          </p:cNvSpPr>
          <p:nvPr>
            <p:ph sz="quarter" idx="10"/>
          </p:nvPr>
        </p:nvSpPr>
        <p:spPr>
          <a:xfrm>
            <a:off x="474936" y="1653247"/>
            <a:ext cx="3703126" cy="4896840"/>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1" name="Content Placeholder 2"/>
          <p:cNvSpPr>
            <a:spLocks noGrp="1"/>
          </p:cNvSpPr>
          <p:nvPr>
            <p:ph idx="11"/>
          </p:nvPr>
        </p:nvSpPr>
        <p:spPr>
          <a:xfrm>
            <a:off x="4553247" y="4299762"/>
            <a:ext cx="4185786" cy="2250325"/>
          </a:xfrm>
        </p:spPr>
        <p:txBody>
          <a:bodyPr anchor="ct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Tree>
    <p:extLst>
      <p:ext uri="{BB962C8B-B14F-4D97-AF65-F5344CB8AC3E}">
        <p14:creationId xmlns:p14="http://schemas.microsoft.com/office/powerpoint/2010/main" val="1436120136"/>
      </p:ext>
    </p:extLst>
  </p:cSld>
  <p:clrMapOvr>
    <a:overrideClrMapping bg1="lt1" tx1="dk1" bg2="lt2" tx2="dk2" accent1="accent1" accent2="accent2" accent3="accent3" accent4="accent4" accent5="accent5" accent6="accent6" hlink="hlink" folHlink="folHlink"/>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EC5816F-D43D-40D1-9B38-E1A2C18F0972}" type="datetime1">
              <a:rPr lang="en-US" smtClean="0"/>
              <a:pPr/>
              <a:t>6/2/19</a:t>
            </a:fld>
            <a:endParaRPr lang="en-US" dirty="0"/>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AD20DFC-E2D5-4BD6-B744-D8DEEAB5F7C2}" type="slidenum">
              <a:rPr lang="en-US" smtClean="0"/>
              <a:pPr/>
              <a:t>‹#›</a:t>
            </a:fld>
            <a:endParaRPr lang="en-US" dirty="0"/>
          </a:p>
        </p:txBody>
      </p:sp>
    </p:spTree>
    <p:extLst>
      <p:ext uri="{BB962C8B-B14F-4D97-AF65-F5344CB8AC3E}">
        <p14:creationId xmlns:p14="http://schemas.microsoft.com/office/powerpoint/2010/main" val="4027688052"/>
      </p:ext>
    </p:extLst>
  </p:cSld>
  <p:clrMap bg1="lt1" tx1="dk1" bg2="lt2" tx2="dk2" accent1="accent1" accent2="accent2" accent3="accent3" accent4="accent4" accent5="accent5" accent6="accent6" hlink="hlink" folHlink="folHlink"/>
  <p:sldLayoutIdLst>
    <p:sldLayoutId id="2147483698" r:id="rId1"/>
    <p:sldLayoutId id="2147483699" r:id="rId2"/>
    <p:sldLayoutId id="2147483700" r:id="rId3"/>
    <p:sldLayoutId id="2147483701" r:id="rId4"/>
    <p:sldLayoutId id="2147483702" r:id="rId5"/>
    <p:sldLayoutId id="2147483703" r:id="rId6"/>
    <p:sldLayoutId id="2147483704" r:id="rId7"/>
    <p:sldLayoutId id="2147483705" r:id="rId8"/>
    <p:sldLayoutId id="2147483706" r:id="rId9"/>
    <p:sldLayoutId id="2147483707" r:id="rId10"/>
    <p:sldLayoutId id="2147483708" r:id="rId11"/>
    <p:sldLayoutId id="2147483709" r:id="rId12"/>
    <p:sldLayoutId id="2147483710" r:id="rId13"/>
    <p:sldLayoutId id="2147483711" r:id="rId14"/>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slide" Target="slide12.xml"/><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slide" Target="slide9.xml"/><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4.xml"/><Relationship Id="rId5" Type="http://schemas.openxmlformats.org/officeDocument/2006/relationships/image" Target="../media/image3.png"/><Relationship Id="rId4" Type="http://schemas.openxmlformats.org/officeDocument/2006/relationships/slide" Target="slide1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2.xml"/><Relationship Id="rId7" Type="http://schemas.openxmlformats.org/officeDocument/2006/relationships/image" Target="../media/image5.wmf"/><Relationship Id="rId2" Type="http://schemas.openxmlformats.org/officeDocument/2006/relationships/slideLayout" Target="../slideLayouts/slideLayout12.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image" Target="../media/image4.wmf"/><Relationship Id="rId4" Type="http://schemas.openxmlformats.org/officeDocument/2006/relationships/oleObject" Target="../embeddings/oleObject1.bin"/></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6.wmf"/></Relationships>
</file>

<file path=ppt/slides/_rels/slide17.xml.rels><?xml version="1.0" encoding="UTF-8" standalone="yes"?>
<Relationships xmlns="http://schemas.openxmlformats.org/package/2006/relationships"><Relationship Id="rId8" Type="http://schemas.openxmlformats.org/officeDocument/2006/relationships/image" Target="../media/image9.wmf"/><Relationship Id="rId3" Type="http://schemas.openxmlformats.org/officeDocument/2006/relationships/oleObject" Target="../embeddings/oleObject4.bin"/><Relationship Id="rId7"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image" Target="../media/image8.wmf"/><Relationship Id="rId5" Type="http://schemas.openxmlformats.org/officeDocument/2006/relationships/oleObject" Target="../embeddings/oleObject5.bin"/><Relationship Id="rId4" Type="http://schemas.openxmlformats.org/officeDocument/2006/relationships/image" Target="../media/image7.wmf"/></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7.bin"/><Relationship Id="rId7" Type="http://schemas.openxmlformats.org/officeDocument/2006/relationships/slide" Target="slide38.xml"/><Relationship Id="rId2" Type="http://schemas.openxmlformats.org/officeDocument/2006/relationships/slideLayout" Target="../slideLayouts/slideLayout12.xml"/><Relationship Id="rId1" Type="http://schemas.openxmlformats.org/officeDocument/2006/relationships/vmlDrawing" Target="../drawings/vmlDrawing4.vml"/><Relationship Id="rId6" Type="http://schemas.openxmlformats.org/officeDocument/2006/relationships/image" Target="../media/image11.png"/><Relationship Id="rId5" Type="http://schemas.openxmlformats.org/officeDocument/2006/relationships/slide" Target="slide13.xml"/><Relationship Id="rId4" Type="http://schemas.openxmlformats.org/officeDocument/2006/relationships/image" Target="../media/image10.wmf"/></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12.xml"/><Relationship Id="rId5" Type="http://schemas.openxmlformats.org/officeDocument/2006/relationships/image" Target="../media/image11.png"/><Relationship Id="rId4" Type="http://schemas.openxmlformats.org/officeDocument/2006/relationships/slide" Target="slide2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slide" Target="slide19.xml"/><Relationship Id="rId7" Type="http://schemas.openxmlformats.org/officeDocument/2006/relationships/oleObject" Target="../embeddings/oleObject9.bin"/><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image" Target="../media/image15.wmf"/><Relationship Id="rId5" Type="http://schemas.openxmlformats.org/officeDocument/2006/relationships/oleObject" Target="../embeddings/oleObject8.bin"/><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6.png"/><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12.xml"/><Relationship Id="rId1" Type="http://schemas.openxmlformats.org/officeDocument/2006/relationships/vmlDrawing" Target="../drawings/vmlDrawing6.vml"/><Relationship Id="rId4" Type="http://schemas.openxmlformats.org/officeDocument/2006/relationships/image" Target="../media/image17.png"/></Relationships>
</file>

<file path=ppt/slides/_rels/slide2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xml"/><Relationship Id="rId1" Type="http://schemas.openxmlformats.org/officeDocument/2006/relationships/slideLayout" Target="../slideLayouts/slideLayout13.xml"/><Relationship Id="rId4" Type="http://schemas.openxmlformats.org/officeDocument/2006/relationships/image" Target="../media/image31.png"/></Relationships>
</file>

<file path=ppt/slides/_rels/slide37.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4.xml"/><Relationship Id="rId5" Type="http://schemas.openxmlformats.org/officeDocument/2006/relationships/image" Target="../media/image21.png"/><Relationship Id="rId4" Type="http://schemas.openxmlformats.org/officeDocument/2006/relationships/slide" Target="slide1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5.xml"/><Relationship Id="rId7" Type="http://schemas.openxmlformats.org/officeDocument/2006/relationships/image" Target="../media/image37.png"/><Relationship Id="rId2" Type="http://schemas.openxmlformats.org/officeDocument/2006/relationships/slideLayout" Target="../slideLayouts/slideLayout12.xml"/><Relationship Id="rId1" Type="http://schemas.openxmlformats.org/officeDocument/2006/relationships/vmlDrawing" Target="../drawings/vmlDrawing7.vml"/><Relationship Id="rId6" Type="http://schemas.openxmlformats.org/officeDocument/2006/relationships/image" Target="../media/image35.png"/><Relationship Id="rId5" Type="http://schemas.openxmlformats.org/officeDocument/2006/relationships/image" Target="../media/image22.wmf"/><Relationship Id="rId4" Type="http://schemas.openxmlformats.org/officeDocument/2006/relationships/oleObject" Target="../embeddings/oleObject11.bin"/></Relationships>
</file>

<file path=ppt/slides/_rels/slide47.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12.xml"/><Relationship Id="rId1" Type="http://schemas.openxmlformats.org/officeDocument/2006/relationships/vmlDrawing" Target="../drawings/vmlDrawing8.vml"/><Relationship Id="rId4" Type="http://schemas.openxmlformats.org/officeDocument/2006/relationships/image" Target="../media/image22.wmf"/></Relationships>
</file>

<file path=ppt/slides/_rels/slide4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12.xml"/><Relationship Id="rId1" Type="http://schemas.openxmlformats.org/officeDocument/2006/relationships/vmlDrawing" Target="../drawings/vmlDrawing9.vml"/><Relationship Id="rId5" Type="http://schemas.openxmlformats.org/officeDocument/2006/relationships/image" Target="../media/image42.png"/><Relationship Id="rId4" Type="http://schemas.openxmlformats.org/officeDocument/2006/relationships/image" Target="../media/image23.wmf"/></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slideLayout" Target="../slideLayouts/slideLayout2.xml"/><Relationship Id="rId1" Type="http://schemas.openxmlformats.org/officeDocument/2006/relationships/vmlDrawing" Target="../drawings/vmlDrawing10.vml"/><Relationship Id="rId5" Type="http://schemas.openxmlformats.org/officeDocument/2006/relationships/image" Target="../media/image10.wmf"/><Relationship Id="rId4" Type="http://schemas.openxmlformats.org/officeDocument/2006/relationships/oleObject" Target="../embeddings/oleObject14.bin"/></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12.xml"/><Relationship Id="rId5" Type="http://schemas.openxmlformats.org/officeDocument/2006/relationships/image" Target="../media/image11.png"/><Relationship Id="rId4" Type="http://schemas.openxmlformats.org/officeDocument/2006/relationships/slide" Target="slide22.xml"/></Relationships>
</file>

<file path=ppt/slides/_rels/slide5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390.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400.png"/><Relationship Id="rId1"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420.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kumimoji="1" lang="zh-CN" altLang="en-US" dirty="0"/>
              <a:t>最佳森林采伐期</a:t>
            </a:r>
          </a:p>
        </p:txBody>
      </p:sp>
      <p:sp>
        <p:nvSpPr>
          <p:cNvPr id="3" name="副标题 2"/>
          <p:cNvSpPr>
            <a:spLocks noGrp="1"/>
          </p:cNvSpPr>
          <p:nvPr>
            <p:ph type="subTitle" idx="1"/>
          </p:nvPr>
        </p:nvSpPr>
        <p:spPr/>
        <p:txBody>
          <a:bodyPr>
            <a:normAutofit/>
          </a:bodyPr>
          <a:lstStyle/>
          <a:p>
            <a:r>
              <a:rPr lang="en-US" altLang="zh-CN" b="1" dirty="0">
                <a:effectLst/>
              </a:rPr>
              <a:t>The Optimal Forest Rotation </a:t>
            </a:r>
            <a:endParaRPr lang="en-US" altLang="zh-CN" dirty="0"/>
          </a:p>
          <a:p>
            <a:endParaRPr lang="en-US" altLang="zh-CN" dirty="0"/>
          </a:p>
        </p:txBody>
      </p:sp>
    </p:spTree>
    <p:extLst>
      <p:ext uri="{BB962C8B-B14F-4D97-AF65-F5344CB8AC3E}">
        <p14:creationId xmlns:p14="http://schemas.microsoft.com/office/powerpoint/2010/main" val="33398293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4" name="标题 3"/>
          <p:cNvSpPr>
            <a:spLocks noGrp="1"/>
          </p:cNvSpPr>
          <p:nvPr>
            <p:ph type="title"/>
          </p:nvPr>
        </p:nvSpPr>
        <p:spPr/>
        <p:txBody>
          <a:bodyPr>
            <a:normAutofit/>
            <a:scene3d>
              <a:camera prst="orthographicFront"/>
              <a:lightRig rig="glow" dir="tl">
                <a:rot lat="0" lon="0" rev="5400000"/>
              </a:lightRig>
            </a:scene3d>
            <a:sp3d contourW="12700">
              <a:bevelT w="25400" h="25400"/>
              <a:contourClr>
                <a:schemeClr val="accent6">
                  <a:shade val="73000"/>
                </a:schemeClr>
              </a:contourClr>
            </a:sp3d>
          </a:bodyPr>
          <a:lstStyle/>
          <a:p>
            <a:r>
              <a:rPr kumimoji="1" lang="en-US" altLang="zh-CN"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rPr>
              <a:t>What</a:t>
            </a:r>
            <a:r>
              <a:rPr kumimoji="1" lang="zh-CN" altLang="en-US"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rPr>
              <a:t> </a:t>
            </a:r>
            <a:r>
              <a:rPr kumimoji="1" lang="en-US" altLang="zh-CN"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rPr>
              <a:t>should</a:t>
            </a:r>
            <a:r>
              <a:rPr kumimoji="1" lang="zh-CN" altLang="en-US"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rPr>
              <a:t> </a:t>
            </a:r>
            <a:r>
              <a:rPr kumimoji="1" lang="en-US" altLang="zh-CN"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rPr>
              <a:t>we</a:t>
            </a:r>
            <a:r>
              <a:rPr kumimoji="1" lang="zh-CN" altLang="en-US"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rPr>
              <a:t> </a:t>
            </a:r>
            <a:r>
              <a:rPr kumimoji="1" lang="en-US" altLang="zh-CN"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rPr>
              <a:t>know</a:t>
            </a:r>
            <a:r>
              <a:rPr kumimoji="1" lang="zh-CN" altLang="en-US"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rPr>
              <a:t> </a:t>
            </a:r>
            <a:r>
              <a:rPr kumimoji="1" lang="en-US" altLang="zh-CN"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rPr>
              <a:t>about</a:t>
            </a:r>
            <a:r>
              <a:rPr kumimoji="1" lang="zh-CN" altLang="en-US"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rPr>
              <a:t> </a:t>
            </a:r>
            <a:r>
              <a:rPr kumimoji="1" lang="en-US" altLang="zh-CN"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rPr>
              <a:t>the optimal forest rotation</a:t>
            </a:r>
            <a:r>
              <a:rPr kumimoji="1" lang="zh-CN" altLang="en-US"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rPr>
              <a:t>？</a:t>
            </a:r>
          </a:p>
        </p:txBody>
      </p:sp>
      <p:sp>
        <p:nvSpPr>
          <p:cNvPr id="5" name="内容占位符 4"/>
          <p:cNvSpPr>
            <a:spLocks noGrp="1"/>
          </p:cNvSpPr>
          <p:nvPr>
            <p:ph idx="1"/>
          </p:nvPr>
        </p:nvSpPr>
        <p:spPr/>
        <p:txBody>
          <a:bodyPr>
            <a:normAutofit/>
          </a:bodyPr>
          <a:lstStyle/>
          <a:p>
            <a:r>
              <a:rPr lang="en-US" altLang="zh-CN" dirty="0">
                <a:effectLst/>
              </a:rPr>
              <a:t>Optimal Rotation Age in Discrete Format </a:t>
            </a:r>
          </a:p>
          <a:p>
            <a:r>
              <a:rPr lang="en-US" altLang="zh-CN" dirty="0">
                <a:effectLst/>
              </a:rPr>
              <a:t>Optimal Rotation Age in Continuous Format </a:t>
            </a:r>
          </a:p>
          <a:p>
            <a:r>
              <a:rPr lang="en-US" altLang="zh-CN" dirty="0">
                <a:effectLst/>
              </a:rPr>
              <a:t>Cutting Cycles for an Uneven-Aged Stand </a:t>
            </a:r>
          </a:p>
          <a:p>
            <a:r>
              <a:rPr lang="en-US" altLang="zh-CN" dirty="0">
                <a:effectLst/>
              </a:rPr>
              <a:t>Comparisons with Other Rotation Criteria </a:t>
            </a:r>
          </a:p>
          <a:p>
            <a:r>
              <a:rPr lang="en-US" altLang="zh-CN" dirty="0">
                <a:effectLst/>
              </a:rPr>
              <a:t>Other Impacts on the Optimal Rotation </a:t>
            </a:r>
            <a:endParaRPr lang="en-US" altLang="zh-CN" dirty="0"/>
          </a:p>
          <a:p>
            <a:r>
              <a:rPr lang="en-US" altLang="zh-CN" dirty="0">
                <a:effectLst/>
              </a:rPr>
              <a:t>The Hartman Rotation </a:t>
            </a:r>
          </a:p>
        </p:txBody>
      </p:sp>
    </p:spTree>
    <p:extLst>
      <p:ext uri="{BB962C8B-B14F-4D97-AF65-F5344CB8AC3E}">
        <p14:creationId xmlns:p14="http://schemas.microsoft.com/office/powerpoint/2010/main" val="6044664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http://imgs.tuts.dragoart.com/how-to-draw-branches_1_000000007216_5.jpg"/>
          <p:cNvPicPr>
            <a:picLocks noChangeAspect="1" noChangeArrowheads="1"/>
          </p:cNvPicPr>
          <p:nvPr/>
        </p:nvPicPr>
        <p:blipFill rotWithShape="1">
          <a:blip r:embed="rId2" cstate="email">
            <a:extLst>
              <a:ext uri="{28A0092B-C50C-407E-A947-70E740481C1C}">
                <a14:useLocalDpi xmlns:a14="http://schemas.microsoft.com/office/drawing/2010/main" val="0"/>
              </a:ext>
            </a:extLst>
          </a:blip>
          <a:srcRect l="1" r="242" b="3684"/>
          <a:stretch/>
        </p:blipFill>
        <p:spPr bwMode="auto">
          <a:xfrm>
            <a:off x="1812609" y="411982"/>
            <a:ext cx="5170995" cy="5968721"/>
          </a:xfrm>
          <a:prstGeom prst="rect">
            <a:avLst/>
          </a:prstGeom>
          <a:ln w="190500" cap="sq">
            <a:solidFill>
              <a:srgbClr val="C8C6BD"/>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a:extLst>
            <a:ext uri="{909E8E84-426E-40DD-AFC4-6F175D3DCCD1}">
              <a14:hiddenFill xmlns:a14="http://schemas.microsoft.com/office/drawing/2010/main">
                <a:solidFill>
                  <a:srgbClr val="FFFFFF"/>
                </a:solidFill>
              </a14:hiddenFill>
            </a:ext>
          </a:extLst>
        </p:spPr>
      </p:pic>
      <p:sp>
        <p:nvSpPr>
          <p:cNvPr id="2" name="矩形 1"/>
          <p:cNvSpPr/>
          <p:nvPr/>
        </p:nvSpPr>
        <p:spPr>
          <a:xfrm>
            <a:off x="834013" y="0"/>
            <a:ext cx="7606602" cy="445142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zh-CN" altLang="en-US" sz="4800" dirty="0">
                <a:effectLst>
                  <a:innerShdw blurRad="63500" dist="50800" dir="18900000">
                    <a:prstClr val="black">
                      <a:alpha val="50000"/>
                    </a:prstClr>
                  </a:innerShdw>
                </a:effectLst>
              </a:rPr>
              <a:t>何时砍伐？</a:t>
            </a:r>
            <a:endParaRPr lang="en-US" altLang="zh-CN" sz="4800" dirty="0">
              <a:effectLst>
                <a:innerShdw blurRad="63500" dist="50800" dir="18900000">
                  <a:prstClr val="black">
                    <a:alpha val="50000"/>
                  </a:prstClr>
                </a:innerShdw>
              </a:effectLst>
            </a:endParaRPr>
          </a:p>
          <a:p>
            <a:pPr algn="ctr"/>
            <a:r>
              <a:rPr lang="en-US" altLang="zh-CN" sz="4800" dirty="0">
                <a:effectLst>
                  <a:innerShdw blurRad="63500" dist="50800" dir="18900000">
                    <a:prstClr val="black">
                      <a:alpha val="50000"/>
                    </a:prstClr>
                  </a:innerShdw>
                </a:effectLst>
              </a:rPr>
              <a:t>——</a:t>
            </a:r>
            <a:r>
              <a:rPr lang="zh-CN" altLang="en-US" sz="4800" dirty="0">
                <a:effectLst>
                  <a:innerShdw blurRad="63500" dist="50800" dir="18900000">
                    <a:prstClr val="black">
                      <a:alpha val="50000"/>
                    </a:prstClr>
                  </a:innerShdw>
                </a:effectLst>
              </a:rPr>
              <a:t>确定森林的采伐年龄</a:t>
            </a:r>
            <a:endParaRPr lang="en-US" altLang="zh-CN" sz="4800" dirty="0">
              <a:effectLst>
                <a:innerShdw blurRad="63500" dist="50800" dir="18900000">
                  <a:prstClr val="black">
                    <a:alpha val="50000"/>
                  </a:prstClr>
                </a:innerShdw>
              </a:effectLst>
            </a:endParaRPr>
          </a:p>
          <a:p>
            <a:pPr algn="ctr"/>
            <a:r>
              <a:rPr lang="zh-CN" altLang="en-US" sz="4800" dirty="0">
                <a:effectLst>
                  <a:innerShdw blurRad="63500" dist="50800" dir="18900000">
                    <a:prstClr val="black">
                      <a:alpha val="50000"/>
                    </a:prstClr>
                  </a:innerShdw>
                </a:effectLst>
              </a:rPr>
              <a:t>（技术标准、经济收益）</a:t>
            </a:r>
          </a:p>
        </p:txBody>
      </p:sp>
      <p:sp>
        <p:nvSpPr>
          <p:cNvPr id="4" name="矩形 3"/>
          <p:cNvSpPr/>
          <p:nvPr/>
        </p:nvSpPr>
        <p:spPr>
          <a:xfrm>
            <a:off x="827917" y="6096"/>
            <a:ext cx="7606602" cy="4451420"/>
          </a:xfrm>
          <a:prstGeom prst="rect">
            <a:avLst/>
          </a:prstGeom>
          <a:solidFill>
            <a:schemeClr val="accent5">
              <a:lumMod val="7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zh-CN" altLang="en-US" sz="4800" dirty="0">
                <a:effectLst>
                  <a:innerShdw blurRad="63500" dist="50800" dir="18900000">
                    <a:prstClr val="black">
                      <a:alpha val="50000"/>
                    </a:prstClr>
                  </a:innerShdw>
                </a:effectLst>
              </a:rPr>
              <a:t>经济上最佳的采伐年龄：</a:t>
            </a:r>
            <a:endParaRPr lang="en-US" altLang="zh-CN" sz="4800" dirty="0">
              <a:effectLst>
                <a:innerShdw blurRad="63500" dist="50800" dir="18900000">
                  <a:prstClr val="black">
                    <a:alpha val="50000"/>
                  </a:prstClr>
                </a:innerShdw>
              </a:effectLst>
            </a:endParaRPr>
          </a:p>
          <a:p>
            <a:pPr algn="ctr"/>
            <a:r>
              <a:rPr lang="zh-CN" altLang="en-US" sz="4800" dirty="0">
                <a:effectLst>
                  <a:innerShdw blurRad="63500" dist="50800" dir="18900000">
                    <a:prstClr val="black">
                      <a:alpha val="50000"/>
                    </a:prstClr>
                  </a:innerShdw>
                </a:effectLst>
              </a:rPr>
              <a:t>采伐后产生收益的现值</a:t>
            </a:r>
            <a:r>
              <a:rPr lang="en-US" altLang="zh-CN" sz="4800" dirty="0">
                <a:effectLst>
                  <a:innerShdw blurRad="63500" dist="50800" dir="18900000">
                    <a:prstClr val="black">
                      <a:alpha val="50000"/>
                    </a:prstClr>
                  </a:innerShdw>
                </a:effectLst>
              </a:rPr>
              <a:t>-</a:t>
            </a:r>
            <a:r>
              <a:rPr lang="zh-CN" altLang="en-US" sz="4800" dirty="0">
                <a:effectLst>
                  <a:innerShdw blurRad="63500" dist="50800" dir="18900000">
                    <a:prstClr val="black">
                      <a:alpha val="50000"/>
                    </a:prstClr>
                  </a:innerShdw>
                </a:effectLst>
              </a:rPr>
              <a:t>成本现值最大时</a:t>
            </a:r>
          </a:p>
        </p:txBody>
      </p:sp>
    </p:spTree>
    <p:extLst>
      <p:ext uri="{BB962C8B-B14F-4D97-AF65-F5344CB8AC3E}">
        <p14:creationId xmlns:p14="http://schemas.microsoft.com/office/powerpoint/2010/main" val="196260253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 calcmode="lin" valueType="num">
                                      <p:cBhvr>
                                        <p:cTn id="9" dur="500" fill="hold"/>
                                        <p:tgtEl>
                                          <p:spTgt spid="2"/>
                                        </p:tgtEl>
                                        <p:attrNameLst>
                                          <p:attrName>style.rotation</p:attrName>
                                        </p:attrNameLst>
                                      </p:cBhvr>
                                      <p:tavLst>
                                        <p:tav tm="0">
                                          <p:val>
                                            <p:fltVal val="90"/>
                                          </p:val>
                                        </p:tav>
                                        <p:tav tm="100000">
                                          <p:val>
                                            <p:fltVal val="0"/>
                                          </p:val>
                                        </p:tav>
                                      </p:tavLst>
                                    </p:anim>
                                    <p:animEffect transition="in" filter="fade">
                                      <p:cBhvr>
                                        <p:cTn id="10" dur="5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p:cTn id="15" dur="500" fill="hold"/>
                                        <p:tgtEl>
                                          <p:spTgt spid="4"/>
                                        </p:tgtEl>
                                        <p:attrNameLst>
                                          <p:attrName>ppt_w</p:attrName>
                                        </p:attrNameLst>
                                      </p:cBhvr>
                                      <p:tavLst>
                                        <p:tav tm="0">
                                          <p:val>
                                            <p:fltVal val="0"/>
                                          </p:val>
                                        </p:tav>
                                        <p:tav tm="100000">
                                          <p:val>
                                            <p:strVal val="#ppt_w"/>
                                          </p:val>
                                        </p:tav>
                                      </p:tavLst>
                                    </p:anim>
                                    <p:anim calcmode="lin" valueType="num">
                                      <p:cBhvr>
                                        <p:cTn id="16" dur="500" fill="hold"/>
                                        <p:tgtEl>
                                          <p:spTgt spid="4"/>
                                        </p:tgtEl>
                                        <p:attrNameLst>
                                          <p:attrName>ppt_h</p:attrName>
                                        </p:attrNameLst>
                                      </p:cBhvr>
                                      <p:tavLst>
                                        <p:tav tm="0">
                                          <p:val>
                                            <p:fltVal val="0"/>
                                          </p:val>
                                        </p:tav>
                                        <p:tav tm="100000">
                                          <p:val>
                                            <p:strVal val="#ppt_h"/>
                                          </p:val>
                                        </p:tav>
                                      </p:tavLst>
                                    </p:anim>
                                    <p:anim calcmode="lin" valueType="num">
                                      <p:cBhvr>
                                        <p:cTn id="17" dur="500" fill="hold"/>
                                        <p:tgtEl>
                                          <p:spTgt spid="4"/>
                                        </p:tgtEl>
                                        <p:attrNameLst>
                                          <p:attrName>style.rotation</p:attrName>
                                        </p:attrNameLst>
                                      </p:cBhvr>
                                      <p:tavLst>
                                        <p:tav tm="0">
                                          <p:val>
                                            <p:fltVal val="90"/>
                                          </p:val>
                                        </p:tav>
                                        <p:tav tm="100000">
                                          <p:val>
                                            <p:fltVal val="0"/>
                                          </p:val>
                                        </p:tav>
                                      </p:tavLst>
                                    </p:anim>
                                    <p:animEffect transition="in" filter="fade">
                                      <p:cBhvr>
                                        <p:cTn id="18"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Optimal Rotation Age in Discrete Form</a:t>
            </a:r>
            <a:endParaRPr kumimoji="1" lang="zh-CN" altLang="en-US" dirty="0"/>
          </a:p>
        </p:txBody>
      </p:sp>
      <p:sp>
        <p:nvSpPr>
          <p:cNvPr id="3" name="文本占位符 2"/>
          <p:cNvSpPr>
            <a:spLocks noGrp="1"/>
          </p:cNvSpPr>
          <p:nvPr>
            <p:ph type="body" idx="1"/>
          </p:nvPr>
        </p:nvSpPr>
        <p:spPr/>
        <p:txBody>
          <a:bodyPr/>
          <a:lstStyle/>
          <a:p>
            <a:r>
              <a:rPr kumimoji="1" lang="zh-CN" altLang="en-US" dirty="0"/>
              <a:t>最佳采伐年龄的离散型表述</a:t>
            </a:r>
          </a:p>
        </p:txBody>
      </p:sp>
    </p:spTree>
    <p:extLst>
      <p:ext uri="{BB962C8B-B14F-4D97-AF65-F5344CB8AC3E}">
        <p14:creationId xmlns:p14="http://schemas.microsoft.com/office/powerpoint/2010/main" val="15729896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离散型和连续型</a:t>
            </a:r>
          </a:p>
        </p:txBody>
      </p:sp>
      <p:sp>
        <p:nvSpPr>
          <p:cNvPr id="7" name="文本占位符 6">
            <a:extLst>
              <a:ext uri="{FF2B5EF4-FFF2-40B4-BE49-F238E27FC236}">
                <a16:creationId xmlns:a16="http://schemas.microsoft.com/office/drawing/2014/main" id="{C62AC2F2-3052-A748-93CF-3EC7325F52BB}"/>
              </a:ext>
            </a:extLst>
          </p:cNvPr>
          <p:cNvSpPr>
            <a:spLocks noGrp="1"/>
          </p:cNvSpPr>
          <p:nvPr>
            <p:ph type="body" idx="1"/>
          </p:nvPr>
        </p:nvSpPr>
        <p:spPr/>
        <p:txBody>
          <a:bodyPr/>
          <a:lstStyle/>
          <a:p>
            <a:r>
              <a:rPr kumimoji="1" lang="zh-Hans" altLang="en-US"/>
              <a:t>离散型</a:t>
            </a:r>
            <a:endParaRPr kumimoji="1" lang="zh-CN" altLang="en-US"/>
          </a:p>
        </p:txBody>
      </p:sp>
      <p:sp>
        <p:nvSpPr>
          <p:cNvPr id="3" name="内容占位符 2"/>
          <p:cNvSpPr>
            <a:spLocks noGrp="1"/>
          </p:cNvSpPr>
          <p:nvPr>
            <p:ph sz="half" idx="2"/>
          </p:nvPr>
        </p:nvSpPr>
        <p:spPr>
          <a:ln>
            <a:noFill/>
          </a:ln>
          <a:effectLst/>
          <a:scene3d>
            <a:camera prst="orthographicFront">
              <a:rot lat="0" lon="0" rev="0"/>
            </a:camera>
            <a:lightRig rig="chilly" dir="t">
              <a:rot lat="0" lon="0" rev="18480000"/>
            </a:lightRig>
          </a:scene3d>
          <a:sp3d prstMaterial="clear">
            <a:bevelT h="63500"/>
          </a:sp3d>
        </p:spPr>
        <p:txBody>
          <a:bodyPr/>
          <a:lstStyle/>
          <a:p>
            <a:r>
              <a:rPr lang="en-US" altLang="zh-CN" dirty="0">
                <a:effectLst/>
              </a:rPr>
              <a:t>Discrete Format</a:t>
            </a:r>
          </a:p>
          <a:p>
            <a:r>
              <a:rPr lang="zh-CN" altLang="en-US" dirty="0">
                <a:effectLst/>
              </a:rPr>
              <a:t>应用离散利率</a:t>
            </a:r>
            <a:endParaRPr lang="en-US" altLang="zh-CN" dirty="0">
              <a:effectLst/>
            </a:endParaRPr>
          </a:p>
          <a:p>
            <a:r>
              <a:rPr lang="zh-CN" altLang="en-US" dirty="0">
                <a:effectLst/>
              </a:rPr>
              <a:t>离散贴现因子：</a:t>
            </a:r>
            <a:endParaRPr lang="en-US" altLang="zh-CN" dirty="0">
              <a:effectLst/>
            </a:endParaRPr>
          </a:p>
          <a:p>
            <a:pPr lvl="1"/>
            <a:r>
              <a:rPr lang="zh-CN" altLang="en-US" dirty="0">
                <a:effectLst/>
              </a:rPr>
              <a:t>（</a:t>
            </a:r>
            <a:r>
              <a:rPr lang="en-US" altLang="zh-CN" dirty="0">
                <a:effectLst/>
              </a:rPr>
              <a:t>1+i</a:t>
            </a:r>
            <a:r>
              <a:rPr lang="zh-CN" altLang="en-US" dirty="0">
                <a:effectLst/>
              </a:rPr>
              <a:t>）</a:t>
            </a:r>
            <a:r>
              <a:rPr lang="en-US" altLang="zh-CN" baseline="30000" dirty="0">
                <a:effectLst/>
              </a:rPr>
              <a:t>-t</a:t>
            </a:r>
          </a:p>
          <a:p>
            <a:r>
              <a:rPr lang="en-US" altLang="zh-CN" dirty="0" err="1">
                <a:effectLst/>
              </a:rPr>
              <a:t>i</a:t>
            </a:r>
            <a:r>
              <a:rPr lang="zh-CN" altLang="en-US" dirty="0">
                <a:effectLst/>
              </a:rPr>
              <a:t>：年利率</a:t>
            </a:r>
            <a:endParaRPr lang="en-US" altLang="zh-CN" dirty="0">
              <a:effectLst/>
            </a:endParaRPr>
          </a:p>
          <a:p>
            <a:endParaRPr lang="zh-CN" altLang="en-US" dirty="0"/>
          </a:p>
        </p:txBody>
      </p:sp>
      <p:sp>
        <p:nvSpPr>
          <p:cNvPr id="8" name="文本占位符 7">
            <a:extLst>
              <a:ext uri="{FF2B5EF4-FFF2-40B4-BE49-F238E27FC236}">
                <a16:creationId xmlns:a16="http://schemas.microsoft.com/office/drawing/2014/main" id="{40E2EA2A-7953-1D43-BB62-6EE93929D4FE}"/>
              </a:ext>
            </a:extLst>
          </p:cNvPr>
          <p:cNvSpPr>
            <a:spLocks noGrp="1"/>
          </p:cNvSpPr>
          <p:nvPr>
            <p:ph type="body" sz="quarter" idx="3"/>
          </p:nvPr>
        </p:nvSpPr>
        <p:spPr/>
        <p:txBody>
          <a:bodyPr/>
          <a:lstStyle/>
          <a:p>
            <a:r>
              <a:rPr kumimoji="1" lang="zh-Hans" altLang="en-US"/>
              <a:t>连续型</a:t>
            </a:r>
            <a:endParaRPr kumimoji="1" lang="zh-CN" altLang="en-US"/>
          </a:p>
        </p:txBody>
      </p:sp>
      <p:sp>
        <p:nvSpPr>
          <p:cNvPr id="4" name="内容占位符 3"/>
          <p:cNvSpPr>
            <a:spLocks noGrp="1"/>
          </p:cNvSpPr>
          <p:nvPr>
            <p:ph sz="quarter" idx="4"/>
          </p:nvPr>
        </p:nvSpPr>
        <p:spPr>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lstStyle/>
          <a:p>
            <a:r>
              <a:rPr lang="en-US" altLang="zh-CN" dirty="0">
                <a:effectLst/>
              </a:rPr>
              <a:t>Continuous Format</a:t>
            </a:r>
          </a:p>
          <a:p>
            <a:r>
              <a:rPr lang="zh-CN" altLang="en-US" dirty="0">
                <a:effectLst/>
              </a:rPr>
              <a:t>应用连续利率</a:t>
            </a:r>
            <a:endParaRPr lang="en-US" altLang="zh-CN" dirty="0">
              <a:effectLst/>
            </a:endParaRPr>
          </a:p>
          <a:p>
            <a:r>
              <a:rPr lang="zh-CN" altLang="en-US" dirty="0">
                <a:effectLst/>
              </a:rPr>
              <a:t>连续复利贴现因子：</a:t>
            </a:r>
            <a:endParaRPr lang="en-US" altLang="zh-CN" dirty="0">
              <a:effectLst/>
            </a:endParaRPr>
          </a:p>
          <a:p>
            <a:pPr lvl="1"/>
            <a:r>
              <a:rPr lang="en-US" altLang="zh-CN" dirty="0">
                <a:effectLst/>
              </a:rPr>
              <a:t>e</a:t>
            </a:r>
            <a:r>
              <a:rPr lang="en-US" altLang="zh-CN" baseline="30000" dirty="0">
                <a:effectLst/>
              </a:rPr>
              <a:t>-</a:t>
            </a:r>
            <a:r>
              <a:rPr lang="en-US" altLang="zh-CN" baseline="30000" dirty="0" err="1">
                <a:effectLst/>
              </a:rPr>
              <a:t>rt</a:t>
            </a:r>
            <a:endParaRPr lang="en-US" altLang="zh-CN" baseline="30000" dirty="0">
              <a:effectLst/>
            </a:endParaRPr>
          </a:p>
          <a:p>
            <a:r>
              <a:rPr lang="en-US" altLang="zh-CN" dirty="0">
                <a:effectLst/>
              </a:rPr>
              <a:t>r</a:t>
            </a:r>
            <a:r>
              <a:rPr lang="zh-CN" altLang="en-US" dirty="0">
                <a:effectLst/>
              </a:rPr>
              <a:t>：连续贴现利率</a:t>
            </a:r>
            <a:endParaRPr lang="zh-CN" altLang="en-US" dirty="0"/>
          </a:p>
        </p:txBody>
      </p:sp>
    </p:spTree>
    <p:extLst>
      <p:ext uri="{BB962C8B-B14F-4D97-AF65-F5344CB8AC3E}">
        <p14:creationId xmlns:p14="http://schemas.microsoft.com/office/powerpoint/2010/main" val="17258434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1</a:t>
            </a:r>
            <a:r>
              <a:rPr kumimoji="1" lang="zh-CN" altLang="en-US" dirty="0"/>
              <a:t>、一些基本的简化</a:t>
            </a:r>
            <a:br>
              <a:rPr kumimoji="1" lang="en-US" altLang="zh-CN" dirty="0"/>
            </a:br>
            <a:r>
              <a:rPr kumimoji="1" lang="en-US" altLang="zh-CN" sz="2800" dirty="0"/>
              <a:t>some initial simplifications</a:t>
            </a:r>
            <a:endParaRPr kumimoji="1" lang="zh-CN" altLang="en-US" dirty="0"/>
          </a:p>
        </p:txBody>
      </p:sp>
      <p:sp>
        <p:nvSpPr>
          <p:cNvPr id="3" name="内容占位符 2"/>
          <p:cNvSpPr>
            <a:spLocks noGrp="1"/>
          </p:cNvSpPr>
          <p:nvPr>
            <p:ph idx="1"/>
          </p:nvPr>
        </p:nvSpPr>
        <p:spPr/>
        <p:txBody>
          <a:bodyPr/>
          <a:lstStyle/>
          <a:p>
            <a:r>
              <a:rPr kumimoji="1" lang="zh-CN" altLang="en-US" dirty="0"/>
              <a:t>只关心森林的商用木材收益</a:t>
            </a:r>
            <a:endParaRPr kumimoji="1" lang="en-US" altLang="zh-CN" dirty="0"/>
          </a:p>
          <a:p>
            <a:r>
              <a:rPr kumimoji="1" lang="zh-CN" altLang="en-US" dirty="0"/>
              <a:t>假定当森林到达采伐年龄时，进行皆伐（</a:t>
            </a:r>
            <a:r>
              <a:rPr kumimoji="1" lang="en-US" altLang="zh-CN" dirty="0"/>
              <a:t>clear cutting</a:t>
            </a:r>
            <a:r>
              <a:rPr kumimoji="1" lang="zh-CN" altLang="en-US" dirty="0"/>
              <a:t>）</a:t>
            </a:r>
            <a:endParaRPr kumimoji="1" lang="en-US" altLang="zh-CN" dirty="0"/>
          </a:p>
          <a:p>
            <a:r>
              <a:rPr kumimoji="1" lang="zh-CN" altLang="en-US" dirty="0"/>
              <a:t>森林的建立无成本、没有被推迟</a:t>
            </a:r>
            <a:endParaRPr kumimoji="1" lang="en-US" altLang="zh-CN" dirty="0"/>
          </a:p>
          <a:p>
            <a:r>
              <a:rPr kumimoji="1" lang="zh-CN" altLang="en-US" dirty="0"/>
              <a:t>土地只有生产木材一种用途</a:t>
            </a:r>
            <a:endParaRPr kumimoji="1" lang="en-US" altLang="zh-CN" dirty="0"/>
          </a:p>
          <a:p>
            <a:r>
              <a:rPr kumimoji="1" lang="zh-CN" altLang="en-US" dirty="0"/>
              <a:t>无税收和管理成本</a:t>
            </a:r>
            <a:endParaRPr kumimoji="1" lang="en-US" altLang="zh-CN" dirty="0"/>
          </a:p>
          <a:p>
            <a:r>
              <a:rPr kumimoji="1" lang="zh-CN" altLang="en-US" dirty="0"/>
              <a:t>整个森林生长期内所有成本和价格不变</a:t>
            </a:r>
          </a:p>
        </p:txBody>
      </p:sp>
    </p:spTree>
    <p:extLst>
      <p:ext uri="{BB962C8B-B14F-4D97-AF65-F5344CB8AC3E}">
        <p14:creationId xmlns:p14="http://schemas.microsoft.com/office/powerpoint/2010/main" val="19631324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140000"/>
                <a:lumMod val="120000"/>
              </a:schemeClr>
            </a:gs>
            <a:gs pos="100000">
              <a:schemeClr val="bg2">
                <a:tint val="97000"/>
                <a:shade val="70000"/>
                <a:satMod val="190000"/>
                <a:lumMod val="72000"/>
                <a:alpha val="69000"/>
              </a:schemeClr>
            </a:gs>
          </a:gsLst>
          <a:path path="circle">
            <a:fillToRect l="50000" t="50000" r="50000"/>
          </a:path>
        </a:gra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a:t>
            </a:r>
            <a:r>
              <a:rPr lang="zh-CN" altLang="en-US" dirty="0"/>
              <a:t>、立木价值和林分年龄</a:t>
            </a:r>
          </a:p>
        </p:txBody>
      </p:sp>
      <p:sp>
        <p:nvSpPr>
          <p:cNvPr id="3" name="内容占位符 2"/>
          <p:cNvSpPr>
            <a:spLocks noGrp="1"/>
          </p:cNvSpPr>
          <p:nvPr>
            <p:ph sz="half" idx="1"/>
          </p:nvPr>
        </p:nvSpPr>
        <p:spPr>
          <a:solidFill>
            <a:schemeClr val="accent1">
              <a:lumMod val="20000"/>
              <a:lumOff val="80000"/>
              <a:alpha val="45000"/>
            </a:schemeClr>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a:normAutofit/>
          </a:bodyPr>
          <a:lstStyle/>
          <a:p>
            <a:r>
              <a:rPr lang="en-US" altLang="zh-CN" dirty="0"/>
              <a:t>Value of stumpage</a:t>
            </a:r>
          </a:p>
          <a:p>
            <a:r>
              <a:rPr lang="en-US" altLang="zh-CN" dirty="0"/>
              <a:t>S=R-</a:t>
            </a:r>
            <a:r>
              <a:rPr lang="en-US" altLang="zh-CN" dirty="0" err="1"/>
              <a:t>C</a:t>
            </a:r>
            <a:r>
              <a:rPr lang="en-US" altLang="zh-CN" baseline="-25000" dirty="0" err="1"/>
              <a:t>h</a:t>
            </a:r>
            <a:endParaRPr lang="en-US" altLang="zh-CN" baseline="-25000" dirty="0"/>
          </a:p>
          <a:p>
            <a:r>
              <a:rPr lang="en-US" altLang="zh-CN" dirty="0"/>
              <a:t>S</a:t>
            </a:r>
            <a:r>
              <a:rPr lang="zh-CN" altLang="en-US" dirty="0"/>
              <a:t>：立木价值</a:t>
            </a:r>
            <a:endParaRPr lang="en-US" altLang="zh-CN" dirty="0"/>
          </a:p>
          <a:p>
            <a:r>
              <a:rPr lang="en-US" altLang="zh-CN" dirty="0"/>
              <a:t>R</a:t>
            </a:r>
            <a:r>
              <a:rPr lang="zh-CN" altLang="en-US" dirty="0"/>
              <a:t>：销售收益</a:t>
            </a:r>
            <a:endParaRPr lang="en-US" altLang="zh-CN" dirty="0"/>
          </a:p>
          <a:p>
            <a:r>
              <a:rPr lang="en-US" altLang="zh-CN" dirty="0" err="1"/>
              <a:t>C</a:t>
            </a:r>
            <a:r>
              <a:rPr lang="en-US" altLang="zh-CN" baseline="-25000" dirty="0" err="1"/>
              <a:t>h</a:t>
            </a:r>
            <a:r>
              <a:rPr lang="zh-CN" altLang="en-US" dirty="0"/>
              <a:t>：采伐和运输成本（包括资本和作业成本及正常的生产利润）</a:t>
            </a:r>
          </a:p>
        </p:txBody>
      </p:sp>
      <p:sp>
        <p:nvSpPr>
          <p:cNvPr id="4" name="内容占位符 3"/>
          <p:cNvSpPr>
            <a:spLocks noGrp="1"/>
          </p:cNvSpPr>
          <p:nvPr>
            <p:ph sz="half" idx="2"/>
          </p:nvPr>
        </p:nvSpPr>
        <p:spPr>
          <a:ln>
            <a:noFill/>
          </a:ln>
          <a:effectLst>
            <a:innerShdw blurRad="114300">
              <a:prstClr val="black"/>
            </a:innerShdw>
          </a:effectLst>
          <a:scene3d>
            <a:camera prst="orthographicFront">
              <a:rot lat="0" lon="0" rev="0"/>
            </a:camera>
            <a:lightRig rig="chilly" dir="t">
              <a:rot lat="0" lon="0" rev="18480000"/>
            </a:lightRig>
          </a:scene3d>
          <a:sp3d prstMaterial="clear">
            <a:bevelT h="63500"/>
          </a:sp3d>
        </p:spPr>
        <p:txBody>
          <a:bodyPr>
            <a:normAutofit/>
          </a:bodyPr>
          <a:lstStyle/>
          <a:p>
            <a:r>
              <a:rPr lang="en-US" altLang="zh-CN" dirty="0"/>
              <a:t>Age of stand</a:t>
            </a:r>
          </a:p>
          <a:p>
            <a:r>
              <a:rPr lang="en-US" altLang="zh-CN" dirty="0"/>
              <a:t>t</a:t>
            </a:r>
            <a:r>
              <a:rPr lang="zh-CN" altLang="en-US" dirty="0"/>
              <a:t>：立木的年龄</a:t>
            </a:r>
            <a:endParaRPr lang="en-US" altLang="zh-CN" dirty="0"/>
          </a:p>
          <a:p>
            <a:r>
              <a:rPr lang="en-US" altLang="zh-CN" dirty="0"/>
              <a:t>S</a:t>
            </a:r>
            <a:r>
              <a:rPr lang="zh-CN" altLang="en-US" dirty="0"/>
              <a:t>（</a:t>
            </a:r>
            <a:r>
              <a:rPr lang="en-US" altLang="zh-CN" dirty="0"/>
              <a:t>t</a:t>
            </a:r>
            <a:r>
              <a:rPr lang="zh-CN" altLang="en-US" dirty="0"/>
              <a:t>）</a:t>
            </a:r>
            <a:endParaRPr lang="en-US" altLang="zh-CN" dirty="0"/>
          </a:p>
          <a:p>
            <a:pPr marL="0" indent="0">
              <a:buNone/>
            </a:pPr>
            <a:r>
              <a:rPr lang="en-US" altLang="zh-CN" dirty="0"/>
              <a:t>    =P</a:t>
            </a:r>
            <a:r>
              <a:rPr lang="zh-CN" altLang="en-US" dirty="0"/>
              <a:t>（</a:t>
            </a:r>
            <a:r>
              <a:rPr lang="en-US" altLang="zh-CN" dirty="0"/>
              <a:t>t</a:t>
            </a:r>
            <a:r>
              <a:rPr lang="zh-CN" altLang="en-US" dirty="0"/>
              <a:t>）*</a:t>
            </a:r>
            <a:r>
              <a:rPr lang="en-US" altLang="zh-CN" dirty="0"/>
              <a:t>Q</a:t>
            </a:r>
            <a:r>
              <a:rPr lang="zh-CN" altLang="en-US" dirty="0"/>
              <a:t>（</a:t>
            </a:r>
            <a:r>
              <a:rPr lang="en-US" altLang="zh-CN" dirty="0"/>
              <a:t>t</a:t>
            </a:r>
            <a:r>
              <a:rPr lang="zh-CN" altLang="en-US" dirty="0"/>
              <a:t>）</a:t>
            </a:r>
            <a:endParaRPr lang="en-US" altLang="zh-CN" dirty="0"/>
          </a:p>
          <a:p>
            <a:r>
              <a:rPr lang="en-US" altLang="zh-CN" dirty="0"/>
              <a:t>S</a:t>
            </a:r>
            <a:r>
              <a:rPr lang="zh-CN" altLang="en-US" dirty="0"/>
              <a:t>（</a:t>
            </a:r>
            <a:r>
              <a:rPr lang="en-US" altLang="zh-CN" dirty="0"/>
              <a:t>t</a:t>
            </a:r>
            <a:r>
              <a:rPr lang="zh-CN" altLang="en-US" dirty="0"/>
              <a:t>）：立木价值</a:t>
            </a:r>
            <a:endParaRPr lang="en-US" altLang="zh-CN" dirty="0"/>
          </a:p>
          <a:p>
            <a:r>
              <a:rPr lang="en-US" altLang="zh-CN" dirty="0"/>
              <a:t>P</a:t>
            </a:r>
            <a:r>
              <a:rPr lang="zh-CN" altLang="en-US" dirty="0"/>
              <a:t>（</a:t>
            </a:r>
            <a:r>
              <a:rPr lang="en-US" altLang="zh-CN" dirty="0"/>
              <a:t>t</a:t>
            </a:r>
            <a:r>
              <a:rPr lang="zh-CN" altLang="en-US" dirty="0"/>
              <a:t>）：单位立木的价格</a:t>
            </a:r>
            <a:endParaRPr lang="en-US" altLang="zh-CN" dirty="0"/>
          </a:p>
          <a:p>
            <a:r>
              <a:rPr lang="en-US" altLang="zh-CN" dirty="0"/>
              <a:t>Q</a:t>
            </a:r>
            <a:r>
              <a:rPr lang="zh-CN" altLang="en-US" dirty="0"/>
              <a:t>（</a:t>
            </a:r>
            <a:r>
              <a:rPr lang="en-US" altLang="zh-CN" dirty="0"/>
              <a:t>t</a:t>
            </a:r>
            <a:r>
              <a:rPr lang="zh-CN" altLang="en-US" dirty="0"/>
              <a:t>）：年龄</a:t>
            </a:r>
            <a:r>
              <a:rPr lang="en-US" altLang="zh-CN" dirty="0"/>
              <a:t>t</a:t>
            </a:r>
            <a:r>
              <a:rPr lang="zh-CN" altLang="en-US" dirty="0"/>
              <a:t>下活立木的材积</a:t>
            </a:r>
            <a:endParaRPr lang="en-US" altLang="zh-CN" dirty="0"/>
          </a:p>
          <a:p>
            <a:pPr marL="0" indent="0">
              <a:buNone/>
            </a:pPr>
            <a:endParaRPr lang="zh-CN" altLang="en-US" dirty="0"/>
          </a:p>
        </p:txBody>
      </p:sp>
      <p:sp>
        <p:nvSpPr>
          <p:cNvPr id="5" name="文本框 4"/>
          <p:cNvSpPr txBox="1"/>
          <p:nvPr/>
        </p:nvSpPr>
        <p:spPr>
          <a:xfrm>
            <a:off x="628650" y="1342659"/>
            <a:ext cx="4328549" cy="830997"/>
          </a:xfrm>
          <a:prstGeom prst="rect">
            <a:avLst/>
          </a:prstGeom>
          <a:noFill/>
        </p:spPr>
        <p:txBody>
          <a:bodyPr wrap="square" rtlCol="0">
            <a:spAutoFit/>
          </a:bodyPr>
          <a:lstStyle/>
          <a:p>
            <a:r>
              <a:rPr lang="zh-CN" altLang="en-US" sz="2400" dirty="0">
                <a:ln w="0"/>
                <a:solidFill>
                  <a:schemeClr val="accent1">
                    <a:lumMod val="50000"/>
                  </a:schemeClr>
                </a:solidFill>
                <a:effectLst>
                  <a:outerShdw blurRad="38100" dist="25400" dir="5400000" algn="ctr" rotWithShape="0">
                    <a:srgbClr val="6E747A">
                      <a:alpha val="43000"/>
                    </a:srgbClr>
                  </a:outerShdw>
                </a:effectLst>
              </a:rPr>
              <a:t>立木价值是一块林地的净价值</a:t>
            </a:r>
            <a:endParaRPr lang="en-US" altLang="zh-CN" sz="2400" dirty="0">
              <a:ln w="0"/>
              <a:solidFill>
                <a:schemeClr val="accent1">
                  <a:lumMod val="50000"/>
                </a:schemeClr>
              </a:solidFill>
              <a:effectLst>
                <a:outerShdw blurRad="38100" dist="25400" dir="5400000" algn="ctr" rotWithShape="0">
                  <a:srgbClr val="6E747A">
                    <a:alpha val="43000"/>
                  </a:srgbClr>
                </a:outerShdw>
              </a:effectLst>
            </a:endParaRPr>
          </a:p>
          <a:p>
            <a:endParaRPr lang="zh-CN" altLang="en-US" sz="2400" dirty="0">
              <a:ln w="0"/>
              <a:solidFill>
                <a:schemeClr val="accent1">
                  <a:lumMod val="50000"/>
                </a:schemeClr>
              </a:solidFill>
              <a:effectLst>
                <a:outerShdw blurRad="38100" dist="25400" dir="5400000" algn="ctr" rotWithShape="0">
                  <a:srgbClr val="6E747A">
                    <a:alpha val="43000"/>
                  </a:srgbClr>
                </a:outerShdw>
              </a:effectLst>
            </a:endParaRPr>
          </a:p>
        </p:txBody>
      </p:sp>
    </p:spTree>
    <p:extLst>
      <p:ext uri="{BB962C8B-B14F-4D97-AF65-F5344CB8AC3E}">
        <p14:creationId xmlns:p14="http://schemas.microsoft.com/office/powerpoint/2010/main" val="12773017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normAutofit fontScale="90000"/>
          </a:bodyPr>
          <a:lstStyle/>
          <a:p>
            <a:r>
              <a:rPr lang="zh-CN" altLang="en-US" dirty="0"/>
              <a:t>假定：价格恒定</a:t>
            </a:r>
            <a:br>
              <a:rPr lang="en-US" altLang="zh-CN" dirty="0"/>
            </a:br>
            <a:br>
              <a:rPr lang="en-US" altLang="zh-CN" dirty="0"/>
            </a:br>
            <a:r>
              <a:rPr lang="en-US" altLang="zh-CN" sz="3200" dirty="0"/>
              <a:t>P(t)=P</a:t>
            </a:r>
            <a:endParaRPr lang="zh-CN" altLang="en-US" sz="3200" dirty="0"/>
          </a:p>
        </p:txBody>
      </p:sp>
      <p:sp>
        <p:nvSpPr>
          <p:cNvPr id="5" name="内容占位符 4"/>
          <p:cNvSpPr>
            <a:spLocks noGrp="1"/>
          </p:cNvSpPr>
          <p:nvPr>
            <p:ph idx="1"/>
          </p:nvPr>
        </p:nvSpPr>
        <p:spPr/>
        <p:txBody>
          <a:bodyPr>
            <a:normAutofit fontScale="92500" lnSpcReduction="10000"/>
          </a:bodyPr>
          <a:lstStyle/>
          <a:p>
            <a:r>
              <a:rPr lang="zh-CN" altLang="en-US" dirty="0">
                <a:effectLst/>
              </a:rPr>
              <a:t>一公顷林分的立木价值随年龄增长而增加</a:t>
            </a:r>
            <a:endParaRPr lang="en-US" altLang="zh-CN" dirty="0">
              <a:effectLst/>
            </a:endParaRPr>
          </a:p>
          <a:p>
            <a:r>
              <a:rPr lang="en-US" altLang="zh-CN" dirty="0">
                <a:effectLst/>
              </a:rPr>
              <a:t>Stumpage value increases with stand age for at least three reasons</a:t>
            </a:r>
          </a:p>
          <a:p>
            <a:pPr lvl="1"/>
            <a:r>
              <a:rPr lang="zh-CN" altLang="en-US" dirty="0">
                <a:effectLst/>
              </a:rPr>
              <a:t>商品木材蓄积量随树木生长而增加</a:t>
            </a:r>
            <a:endParaRPr lang="en-US" altLang="zh-CN" dirty="0">
              <a:effectLst/>
            </a:endParaRPr>
          </a:p>
          <a:p>
            <a:pPr lvl="1"/>
            <a:r>
              <a:rPr lang="en-US" altLang="zh-CN" dirty="0">
                <a:effectLst/>
              </a:rPr>
              <a:t>The volume of merchantable timber on the hectare increases as the trees grow.</a:t>
            </a:r>
          </a:p>
          <a:p>
            <a:pPr lvl="1"/>
            <a:r>
              <a:rPr lang="zh-CN" altLang="en-US" dirty="0">
                <a:effectLst/>
              </a:rPr>
              <a:t>随着树木增长，单株材积大的木材可以用来制造价值更高的产品</a:t>
            </a:r>
            <a:endParaRPr lang="en-US" altLang="zh-CN" dirty="0">
              <a:effectLst/>
            </a:endParaRPr>
          </a:p>
          <a:p>
            <a:pPr lvl="1"/>
            <a:r>
              <a:rPr lang="en-US" altLang="zh-CN" dirty="0">
                <a:effectLst/>
              </a:rPr>
              <a:t>More valuable products can be manufactured from larger limber </a:t>
            </a:r>
          </a:p>
          <a:p>
            <a:pPr lvl="1"/>
            <a:r>
              <a:rPr lang="zh-CN" altLang="en-US" dirty="0">
                <a:effectLst/>
              </a:rPr>
              <a:t>单株材积大的林木单位采伐成本较低</a:t>
            </a:r>
            <a:endParaRPr lang="en-US" altLang="zh-CN" dirty="0">
              <a:effectLst/>
            </a:endParaRPr>
          </a:p>
          <a:p>
            <a:pPr lvl="1"/>
            <a:r>
              <a:rPr lang="en-US" altLang="zh-CN" dirty="0">
                <a:effectLst/>
              </a:rPr>
              <a:t>Larger timber can usually be harvested at lower cost per cubic </a:t>
            </a:r>
            <a:r>
              <a:rPr lang="en-US" altLang="zh-CN" dirty="0" err="1">
                <a:effectLst/>
              </a:rPr>
              <a:t>metre</a:t>
            </a:r>
            <a:r>
              <a:rPr lang="zh-CN" altLang="en-US" dirty="0">
                <a:effectLst/>
              </a:rPr>
              <a:t>，</a:t>
            </a:r>
            <a:r>
              <a:rPr lang="en-US" altLang="zh-CN" dirty="0">
                <a:effectLst/>
              </a:rPr>
              <a:t>reflecting economies of log size</a:t>
            </a:r>
            <a:r>
              <a:rPr lang="zh-CN" altLang="en-US" dirty="0">
                <a:effectLst/>
              </a:rPr>
              <a:t>（原木的径级经济）</a:t>
            </a:r>
            <a:endParaRPr lang="en-US" altLang="zh-CN" dirty="0">
              <a:effectLst/>
            </a:endParaRPr>
          </a:p>
        </p:txBody>
      </p:sp>
    </p:spTree>
    <p:extLst>
      <p:ext uri="{BB962C8B-B14F-4D97-AF65-F5344CB8AC3E}">
        <p14:creationId xmlns:p14="http://schemas.microsoft.com/office/powerpoint/2010/main" val="28853536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40"/>
          <p:cNvSpPr>
            <a:spLocks noChangeArrowheads="1"/>
          </p:cNvSpPr>
          <p:nvPr/>
        </p:nvSpPr>
        <p:spPr bwMode="auto">
          <a:xfrm>
            <a:off x="523875" y="428625"/>
            <a:ext cx="8221663"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p>
            <a:r>
              <a:rPr lang="en-US" altLang="zh-CN" b="1" dirty="0">
                <a:solidFill>
                  <a:srgbClr val="000000"/>
                </a:solidFill>
                <a:latin typeface="Times New Roman" charset="0"/>
                <a:cs typeface="Times New Roman" charset="0"/>
              </a:rPr>
              <a:t>Figure 7.1: Growth in volume and stumpage value of a forest as it increases in age</a:t>
            </a:r>
            <a:endParaRPr lang="en-CA" b="1" dirty="0">
              <a:latin typeface="Times New Roman" charset="0"/>
              <a:cs typeface="Times New Roman" charset="0"/>
            </a:endParaRPr>
          </a:p>
        </p:txBody>
      </p:sp>
      <p:grpSp>
        <p:nvGrpSpPr>
          <p:cNvPr id="31747" name="Group 2"/>
          <p:cNvGrpSpPr>
            <a:grpSpLocks/>
          </p:cNvGrpSpPr>
          <p:nvPr/>
        </p:nvGrpSpPr>
        <p:grpSpPr bwMode="auto">
          <a:xfrm>
            <a:off x="1187450" y="1073150"/>
            <a:ext cx="7516292" cy="5499100"/>
            <a:chOff x="2307" y="2055"/>
            <a:chExt cx="7879" cy="8661"/>
          </a:xfrm>
        </p:grpSpPr>
        <p:sp>
          <p:nvSpPr>
            <p:cNvPr id="31750" name="Text Box 2181"/>
            <p:cNvSpPr txBox="1">
              <a:spLocks noChangeArrowheads="1"/>
            </p:cNvSpPr>
            <p:nvPr/>
          </p:nvSpPr>
          <p:spPr bwMode="auto">
            <a:xfrm>
              <a:off x="7675" y="10331"/>
              <a:ext cx="1321" cy="37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tIns="27432" anchor="b"/>
            <a:lstStyle>
              <a:lvl1pPr eaLnBrk="0" hangingPunct="0">
                <a:defRPr>
                  <a:solidFill>
                    <a:schemeClr val="tx1"/>
                  </a:solidFill>
                  <a:latin typeface="Arial" charset="0"/>
                  <a:ea typeface="宋体" charset="0"/>
                </a:defRPr>
              </a:lvl1pPr>
              <a:lvl2pPr marL="742950" indent="-285750" eaLnBrk="0" hangingPunct="0">
                <a:defRPr>
                  <a:solidFill>
                    <a:schemeClr val="tx1"/>
                  </a:solidFill>
                  <a:latin typeface="Arial" charset="0"/>
                  <a:ea typeface="宋体" charset="0"/>
                </a:defRPr>
              </a:lvl2pPr>
              <a:lvl3pPr marL="1143000" indent="-228600" eaLnBrk="0" hangingPunct="0">
                <a:defRPr>
                  <a:solidFill>
                    <a:schemeClr val="tx1"/>
                  </a:solidFill>
                  <a:latin typeface="Arial" charset="0"/>
                  <a:ea typeface="宋体" charset="0"/>
                </a:defRPr>
              </a:lvl3pPr>
              <a:lvl4pPr marL="1600200" indent="-228600" eaLnBrk="0" hangingPunct="0">
                <a:defRPr>
                  <a:solidFill>
                    <a:schemeClr val="tx1"/>
                  </a:solidFill>
                  <a:latin typeface="Arial" charset="0"/>
                  <a:ea typeface="宋体" charset="0"/>
                </a:defRPr>
              </a:lvl4pPr>
              <a:lvl5pPr marL="2057400" indent="-228600" eaLnBrk="0" hangingPunct="0">
                <a:defRPr>
                  <a:solidFill>
                    <a:schemeClr val="tx1"/>
                  </a:solidFill>
                  <a:latin typeface="Arial" charset="0"/>
                  <a:ea typeface="宋体" charset="0"/>
                </a:defRPr>
              </a:lvl5pPr>
              <a:lvl6pPr marL="2514600" indent="-228600" eaLnBrk="0" fontAlgn="base" hangingPunct="0">
                <a:spcBef>
                  <a:spcPct val="0"/>
                </a:spcBef>
                <a:spcAft>
                  <a:spcPct val="0"/>
                </a:spcAft>
                <a:defRPr>
                  <a:solidFill>
                    <a:schemeClr val="tx1"/>
                  </a:solidFill>
                  <a:latin typeface="Arial" charset="0"/>
                  <a:ea typeface="宋体" charset="0"/>
                </a:defRPr>
              </a:lvl6pPr>
              <a:lvl7pPr marL="2971800" indent="-228600" eaLnBrk="0" fontAlgn="base" hangingPunct="0">
                <a:spcBef>
                  <a:spcPct val="0"/>
                </a:spcBef>
                <a:spcAft>
                  <a:spcPct val="0"/>
                </a:spcAft>
                <a:defRPr>
                  <a:solidFill>
                    <a:schemeClr val="tx1"/>
                  </a:solidFill>
                  <a:latin typeface="Arial" charset="0"/>
                  <a:ea typeface="宋体" charset="0"/>
                </a:defRPr>
              </a:lvl7pPr>
              <a:lvl8pPr marL="3429000" indent="-228600" eaLnBrk="0" fontAlgn="base" hangingPunct="0">
                <a:spcBef>
                  <a:spcPct val="0"/>
                </a:spcBef>
                <a:spcAft>
                  <a:spcPct val="0"/>
                </a:spcAft>
                <a:defRPr>
                  <a:solidFill>
                    <a:schemeClr val="tx1"/>
                  </a:solidFill>
                  <a:latin typeface="Arial" charset="0"/>
                  <a:ea typeface="宋体" charset="0"/>
                </a:defRPr>
              </a:lvl8pPr>
              <a:lvl9pPr marL="3886200" indent="-228600" eaLnBrk="0" fontAlgn="base" hangingPunct="0">
                <a:spcBef>
                  <a:spcPct val="0"/>
                </a:spcBef>
                <a:spcAft>
                  <a:spcPct val="0"/>
                </a:spcAft>
                <a:defRPr>
                  <a:solidFill>
                    <a:schemeClr val="tx1"/>
                  </a:solidFill>
                  <a:latin typeface="Arial" charset="0"/>
                  <a:ea typeface="宋体" charset="0"/>
                </a:defRPr>
              </a:lvl9pPr>
            </a:lstStyle>
            <a:p>
              <a:pPr algn="ctr" eaLnBrk="1" hangingPunct="1"/>
              <a:r>
                <a:rPr lang="en-US" altLang="zh-CN">
                  <a:latin typeface="Times New Roman" charset="0"/>
                  <a:cs typeface="Times New Roman" charset="0"/>
                </a:rPr>
                <a:t>Age (years)</a:t>
              </a:r>
              <a:endParaRPr lang="en-CA">
                <a:latin typeface="Times New Roman" charset="0"/>
                <a:cs typeface="Times New Roman" charset="0"/>
              </a:endParaRPr>
            </a:p>
          </p:txBody>
        </p:sp>
        <p:sp>
          <p:nvSpPr>
            <p:cNvPr id="31751" name="Text Box 2182"/>
            <p:cNvSpPr txBox="1">
              <a:spLocks noChangeArrowheads="1"/>
            </p:cNvSpPr>
            <p:nvPr/>
          </p:nvSpPr>
          <p:spPr bwMode="auto">
            <a:xfrm>
              <a:off x="5455" y="7919"/>
              <a:ext cx="2415" cy="11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charset="0"/>
                  <a:ea typeface="宋体" charset="0"/>
                </a:defRPr>
              </a:lvl1pPr>
              <a:lvl2pPr marL="742950" indent="-285750" eaLnBrk="0" hangingPunct="0">
                <a:defRPr>
                  <a:solidFill>
                    <a:schemeClr val="tx1"/>
                  </a:solidFill>
                  <a:latin typeface="Arial" charset="0"/>
                  <a:ea typeface="宋体" charset="0"/>
                </a:defRPr>
              </a:lvl2pPr>
              <a:lvl3pPr marL="1143000" indent="-228600" eaLnBrk="0" hangingPunct="0">
                <a:defRPr>
                  <a:solidFill>
                    <a:schemeClr val="tx1"/>
                  </a:solidFill>
                  <a:latin typeface="Arial" charset="0"/>
                  <a:ea typeface="宋体" charset="0"/>
                </a:defRPr>
              </a:lvl3pPr>
              <a:lvl4pPr marL="1600200" indent="-228600" eaLnBrk="0" hangingPunct="0">
                <a:defRPr>
                  <a:solidFill>
                    <a:schemeClr val="tx1"/>
                  </a:solidFill>
                  <a:latin typeface="Arial" charset="0"/>
                  <a:ea typeface="宋体" charset="0"/>
                </a:defRPr>
              </a:lvl4pPr>
              <a:lvl5pPr marL="2057400" indent="-228600" eaLnBrk="0" hangingPunct="0">
                <a:defRPr>
                  <a:solidFill>
                    <a:schemeClr val="tx1"/>
                  </a:solidFill>
                  <a:latin typeface="Arial" charset="0"/>
                  <a:ea typeface="宋体" charset="0"/>
                </a:defRPr>
              </a:lvl5pPr>
              <a:lvl6pPr marL="2514600" indent="-228600" eaLnBrk="0" fontAlgn="base" hangingPunct="0">
                <a:spcBef>
                  <a:spcPct val="0"/>
                </a:spcBef>
                <a:spcAft>
                  <a:spcPct val="0"/>
                </a:spcAft>
                <a:defRPr>
                  <a:solidFill>
                    <a:schemeClr val="tx1"/>
                  </a:solidFill>
                  <a:latin typeface="Arial" charset="0"/>
                  <a:ea typeface="宋体" charset="0"/>
                </a:defRPr>
              </a:lvl6pPr>
              <a:lvl7pPr marL="2971800" indent="-228600" eaLnBrk="0" fontAlgn="base" hangingPunct="0">
                <a:spcBef>
                  <a:spcPct val="0"/>
                </a:spcBef>
                <a:spcAft>
                  <a:spcPct val="0"/>
                </a:spcAft>
                <a:defRPr>
                  <a:solidFill>
                    <a:schemeClr val="tx1"/>
                  </a:solidFill>
                  <a:latin typeface="Arial" charset="0"/>
                  <a:ea typeface="宋体" charset="0"/>
                </a:defRPr>
              </a:lvl7pPr>
              <a:lvl8pPr marL="3429000" indent="-228600" eaLnBrk="0" fontAlgn="base" hangingPunct="0">
                <a:spcBef>
                  <a:spcPct val="0"/>
                </a:spcBef>
                <a:spcAft>
                  <a:spcPct val="0"/>
                </a:spcAft>
                <a:defRPr>
                  <a:solidFill>
                    <a:schemeClr val="tx1"/>
                  </a:solidFill>
                  <a:latin typeface="Arial" charset="0"/>
                  <a:ea typeface="宋体" charset="0"/>
                </a:defRPr>
              </a:lvl8pPr>
              <a:lvl9pPr marL="3886200" indent="-228600" eaLnBrk="0" fontAlgn="base" hangingPunct="0">
                <a:spcBef>
                  <a:spcPct val="0"/>
                </a:spcBef>
                <a:spcAft>
                  <a:spcPct val="0"/>
                </a:spcAft>
                <a:defRPr>
                  <a:solidFill>
                    <a:schemeClr val="tx1"/>
                  </a:solidFill>
                  <a:latin typeface="Arial" charset="0"/>
                  <a:ea typeface="宋体" charset="0"/>
                </a:defRPr>
              </a:lvl9pPr>
            </a:lstStyle>
            <a:p>
              <a:pPr algn="ctr" eaLnBrk="1" hangingPunct="1"/>
              <a:r>
                <a:rPr lang="en-US" altLang="zh-CN">
                  <a:latin typeface="Times New Roman" charset="0"/>
                  <a:cs typeface="Times New Roman" charset="0"/>
                </a:rPr>
                <a:t>Optimal harvest age for a single crop</a:t>
              </a:r>
              <a:endParaRPr lang="en-CA">
                <a:latin typeface="Times New Roman" charset="0"/>
                <a:cs typeface="Times New Roman" charset="0"/>
              </a:endParaRPr>
            </a:p>
          </p:txBody>
        </p:sp>
        <p:cxnSp>
          <p:nvCxnSpPr>
            <p:cNvPr id="31752" name="AutoShape 2183"/>
            <p:cNvCxnSpPr>
              <a:cxnSpLocks noChangeShapeType="1"/>
            </p:cNvCxnSpPr>
            <p:nvPr/>
          </p:nvCxnSpPr>
          <p:spPr bwMode="auto">
            <a:xfrm>
              <a:off x="4397" y="9563"/>
              <a:ext cx="3584" cy="1"/>
            </a:xfrm>
            <a:prstGeom prst="straightConnector1">
              <a:avLst/>
            </a:prstGeom>
            <a:noFill/>
            <a:ln w="6350">
              <a:solidFill>
                <a:srgbClr val="000000"/>
              </a:solidFill>
              <a:prstDash val="dash"/>
              <a:round/>
              <a:headEnd/>
              <a:tailEnd/>
            </a:ln>
            <a:extLst>
              <a:ext uri="{909E8E84-426E-40dd-AFC4-6F175D3DCCD1}">
                <a14:hiddenFill xmlns:a14="http://schemas.microsoft.com/office/drawing/2010/main" xmlns="">
                  <a:noFill/>
                </a14:hiddenFill>
              </a:ext>
            </a:extLst>
          </p:spPr>
        </p:cxnSp>
        <p:cxnSp>
          <p:nvCxnSpPr>
            <p:cNvPr id="31753" name="AutoShape 2184"/>
            <p:cNvCxnSpPr>
              <a:cxnSpLocks noChangeShapeType="1"/>
            </p:cNvCxnSpPr>
            <p:nvPr/>
          </p:nvCxnSpPr>
          <p:spPr bwMode="auto">
            <a:xfrm>
              <a:off x="6323" y="9563"/>
              <a:ext cx="2" cy="744"/>
            </a:xfrm>
            <a:prstGeom prst="straightConnector1">
              <a:avLst/>
            </a:prstGeom>
            <a:noFill/>
            <a:ln w="6350">
              <a:solidFill>
                <a:srgbClr val="000000"/>
              </a:solidFill>
              <a:prstDash val="dash"/>
              <a:round/>
              <a:headEnd/>
              <a:tailEnd/>
            </a:ln>
            <a:extLst>
              <a:ext uri="{909E8E84-426E-40dd-AFC4-6F175D3DCCD1}">
                <a14:hiddenFill xmlns:a14="http://schemas.microsoft.com/office/drawing/2010/main" xmlns="">
                  <a:noFill/>
                </a14:hiddenFill>
              </a:ext>
            </a:extLst>
          </p:spPr>
        </p:cxnSp>
        <p:sp>
          <p:nvSpPr>
            <p:cNvPr id="31754" name="Text Box 2185"/>
            <p:cNvSpPr txBox="1">
              <a:spLocks noChangeArrowheads="1"/>
            </p:cNvSpPr>
            <p:nvPr/>
          </p:nvSpPr>
          <p:spPr bwMode="auto">
            <a:xfrm>
              <a:off x="7925" y="9270"/>
              <a:ext cx="560" cy="43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charset="0"/>
                  <a:ea typeface="宋体" charset="0"/>
                </a:defRPr>
              </a:lvl1pPr>
              <a:lvl2pPr marL="742950" indent="-285750" eaLnBrk="0" hangingPunct="0">
                <a:defRPr>
                  <a:solidFill>
                    <a:schemeClr val="tx1"/>
                  </a:solidFill>
                  <a:latin typeface="Arial" charset="0"/>
                  <a:ea typeface="宋体" charset="0"/>
                </a:defRPr>
              </a:lvl2pPr>
              <a:lvl3pPr marL="1143000" indent="-228600" eaLnBrk="0" hangingPunct="0">
                <a:defRPr>
                  <a:solidFill>
                    <a:schemeClr val="tx1"/>
                  </a:solidFill>
                  <a:latin typeface="Arial" charset="0"/>
                  <a:ea typeface="宋体" charset="0"/>
                </a:defRPr>
              </a:lvl3pPr>
              <a:lvl4pPr marL="1600200" indent="-228600" eaLnBrk="0" hangingPunct="0">
                <a:defRPr>
                  <a:solidFill>
                    <a:schemeClr val="tx1"/>
                  </a:solidFill>
                  <a:latin typeface="Arial" charset="0"/>
                  <a:ea typeface="宋体" charset="0"/>
                </a:defRPr>
              </a:lvl4pPr>
              <a:lvl5pPr marL="2057400" indent="-228600" eaLnBrk="0" hangingPunct="0">
                <a:defRPr>
                  <a:solidFill>
                    <a:schemeClr val="tx1"/>
                  </a:solidFill>
                  <a:latin typeface="Arial" charset="0"/>
                  <a:ea typeface="宋体" charset="0"/>
                </a:defRPr>
              </a:lvl5pPr>
              <a:lvl6pPr marL="2514600" indent="-228600" eaLnBrk="0" fontAlgn="base" hangingPunct="0">
                <a:spcBef>
                  <a:spcPct val="0"/>
                </a:spcBef>
                <a:spcAft>
                  <a:spcPct val="0"/>
                </a:spcAft>
                <a:defRPr>
                  <a:solidFill>
                    <a:schemeClr val="tx1"/>
                  </a:solidFill>
                  <a:latin typeface="Arial" charset="0"/>
                  <a:ea typeface="宋体" charset="0"/>
                </a:defRPr>
              </a:lvl6pPr>
              <a:lvl7pPr marL="2971800" indent="-228600" eaLnBrk="0" fontAlgn="base" hangingPunct="0">
                <a:spcBef>
                  <a:spcPct val="0"/>
                </a:spcBef>
                <a:spcAft>
                  <a:spcPct val="0"/>
                </a:spcAft>
                <a:defRPr>
                  <a:solidFill>
                    <a:schemeClr val="tx1"/>
                  </a:solidFill>
                  <a:latin typeface="Arial" charset="0"/>
                  <a:ea typeface="宋体" charset="0"/>
                </a:defRPr>
              </a:lvl7pPr>
              <a:lvl8pPr marL="3429000" indent="-228600" eaLnBrk="0" fontAlgn="base" hangingPunct="0">
                <a:spcBef>
                  <a:spcPct val="0"/>
                </a:spcBef>
                <a:spcAft>
                  <a:spcPct val="0"/>
                </a:spcAft>
                <a:defRPr>
                  <a:solidFill>
                    <a:schemeClr val="tx1"/>
                  </a:solidFill>
                  <a:latin typeface="Arial" charset="0"/>
                  <a:ea typeface="宋体" charset="0"/>
                </a:defRPr>
              </a:lvl8pPr>
              <a:lvl9pPr marL="3886200" indent="-228600" eaLnBrk="0" fontAlgn="base" hangingPunct="0">
                <a:spcBef>
                  <a:spcPct val="0"/>
                </a:spcBef>
                <a:spcAft>
                  <a:spcPct val="0"/>
                </a:spcAft>
                <a:defRPr>
                  <a:solidFill>
                    <a:schemeClr val="tx1"/>
                  </a:solidFill>
                  <a:latin typeface="Arial" charset="0"/>
                  <a:ea typeface="宋体" charset="0"/>
                </a:defRPr>
              </a:lvl9pPr>
            </a:lstStyle>
            <a:p>
              <a:pPr eaLnBrk="1" hangingPunct="1"/>
              <a:r>
                <a:rPr lang="en-US" altLang="zh-CN" i="1">
                  <a:latin typeface="Times New Roman" charset="0"/>
                  <a:cs typeface="Times New Roman" charset="0"/>
                </a:rPr>
                <a:t>i</a:t>
              </a:r>
              <a:endParaRPr lang="en-CA">
                <a:latin typeface="Times New Roman" charset="0"/>
                <a:cs typeface="Times New Roman" charset="0"/>
              </a:endParaRPr>
            </a:p>
          </p:txBody>
        </p:sp>
        <p:sp>
          <p:nvSpPr>
            <p:cNvPr id="31755" name="Text Box 2186"/>
            <p:cNvSpPr txBox="1">
              <a:spLocks noChangeArrowheads="1"/>
            </p:cNvSpPr>
            <p:nvPr/>
          </p:nvSpPr>
          <p:spPr bwMode="auto">
            <a:xfrm>
              <a:off x="7565" y="9704"/>
              <a:ext cx="1024" cy="4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charset="0"/>
                  <a:ea typeface="宋体" charset="0"/>
                </a:defRPr>
              </a:lvl1pPr>
              <a:lvl2pPr marL="742950" indent="-285750" eaLnBrk="0" hangingPunct="0">
                <a:defRPr>
                  <a:solidFill>
                    <a:schemeClr val="tx1"/>
                  </a:solidFill>
                  <a:latin typeface="Arial" charset="0"/>
                  <a:ea typeface="宋体" charset="0"/>
                </a:defRPr>
              </a:lvl2pPr>
              <a:lvl3pPr marL="1143000" indent="-228600" eaLnBrk="0" hangingPunct="0">
                <a:defRPr>
                  <a:solidFill>
                    <a:schemeClr val="tx1"/>
                  </a:solidFill>
                  <a:latin typeface="Arial" charset="0"/>
                  <a:ea typeface="宋体" charset="0"/>
                </a:defRPr>
              </a:lvl3pPr>
              <a:lvl4pPr marL="1600200" indent="-228600" eaLnBrk="0" hangingPunct="0">
                <a:defRPr>
                  <a:solidFill>
                    <a:schemeClr val="tx1"/>
                  </a:solidFill>
                  <a:latin typeface="Arial" charset="0"/>
                  <a:ea typeface="宋体" charset="0"/>
                </a:defRPr>
              </a:lvl4pPr>
              <a:lvl5pPr marL="2057400" indent="-228600" eaLnBrk="0" hangingPunct="0">
                <a:defRPr>
                  <a:solidFill>
                    <a:schemeClr val="tx1"/>
                  </a:solidFill>
                  <a:latin typeface="Arial" charset="0"/>
                  <a:ea typeface="宋体" charset="0"/>
                </a:defRPr>
              </a:lvl5pPr>
              <a:lvl6pPr marL="2514600" indent="-228600" eaLnBrk="0" fontAlgn="base" hangingPunct="0">
                <a:spcBef>
                  <a:spcPct val="0"/>
                </a:spcBef>
                <a:spcAft>
                  <a:spcPct val="0"/>
                </a:spcAft>
                <a:defRPr>
                  <a:solidFill>
                    <a:schemeClr val="tx1"/>
                  </a:solidFill>
                  <a:latin typeface="Arial" charset="0"/>
                  <a:ea typeface="宋体" charset="0"/>
                </a:defRPr>
              </a:lvl6pPr>
              <a:lvl7pPr marL="2971800" indent="-228600" eaLnBrk="0" fontAlgn="base" hangingPunct="0">
                <a:spcBef>
                  <a:spcPct val="0"/>
                </a:spcBef>
                <a:spcAft>
                  <a:spcPct val="0"/>
                </a:spcAft>
                <a:defRPr>
                  <a:solidFill>
                    <a:schemeClr val="tx1"/>
                  </a:solidFill>
                  <a:latin typeface="Arial" charset="0"/>
                  <a:ea typeface="宋体" charset="0"/>
                </a:defRPr>
              </a:lvl7pPr>
              <a:lvl8pPr marL="3429000" indent="-228600" eaLnBrk="0" fontAlgn="base" hangingPunct="0">
                <a:spcBef>
                  <a:spcPct val="0"/>
                </a:spcBef>
                <a:spcAft>
                  <a:spcPct val="0"/>
                </a:spcAft>
                <a:defRPr>
                  <a:solidFill>
                    <a:schemeClr val="tx1"/>
                  </a:solidFill>
                  <a:latin typeface="Arial" charset="0"/>
                  <a:ea typeface="宋体" charset="0"/>
                </a:defRPr>
              </a:lvl8pPr>
              <a:lvl9pPr marL="3886200" indent="-228600" eaLnBrk="0" fontAlgn="base" hangingPunct="0">
                <a:spcBef>
                  <a:spcPct val="0"/>
                </a:spcBef>
                <a:spcAft>
                  <a:spcPct val="0"/>
                </a:spcAft>
                <a:defRPr>
                  <a:solidFill>
                    <a:schemeClr val="tx1"/>
                  </a:solidFill>
                  <a:latin typeface="Arial" charset="0"/>
                  <a:ea typeface="宋体" charset="0"/>
                </a:defRPr>
              </a:lvl9pPr>
            </a:lstStyle>
            <a:p>
              <a:pPr eaLnBrk="1" hangingPunct="1"/>
              <a:r>
                <a:rPr lang="en-US" altLang="zh-CN">
                  <a:latin typeface="Times New Roman" charset="0"/>
                  <a:cs typeface="Times New Roman" charset="0"/>
                  <a:sym typeface="Symbol" charset="0"/>
                </a:rPr>
                <a:t></a:t>
              </a:r>
              <a:r>
                <a:rPr lang="en-US" altLang="zh-CN" i="1">
                  <a:latin typeface="Times New Roman" charset="0"/>
                  <a:cs typeface="Times New Roman" charset="0"/>
                </a:rPr>
                <a:t>S/S</a:t>
              </a:r>
              <a:r>
                <a:rPr lang="en-US" altLang="zh-CN">
                  <a:latin typeface="Times New Roman" charset="0"/>
                  <a:cs typeface="Times New Roman" charset="0"/>
                </a:rPr>
                <a:t>(</a:t>
              </a:r>
              <a:r>
                <a:rPr lang="en-US" altLang="zh-CN" i="1">
                  <a:latin typeface="Times New Roman" charset="0"/>
                  <a:cs typeface="Times New Roman" charset="0"/>
                </a:rPr>
                <a:t>t</a:t>
              </a:r>
              <a:r>
                <a:rPr lang="en-US" altLang="zh-CN">
                  <a:latin typeface="Times New Roman" charset="0"/>
                  <a:cs typeface="Times New Roman" charset="0"/>
                </a:rPr>
                <a:t>)</a:t>
              </a:r>
              <a:endParaRPr lang="en-CA">
                <a:latin typeface="Times New Roman" charset="0"/>
                <a:cs typeface="Times New Roman" charset="0"/>
              </a:endParaRPr>
            </a:p>
          </p:txBody>
        </p:sp>
        <p:sp>
          <p:nvSpPr>
            <p:cNvPr id="31756" name="Arc 2187"/>
            <p:cNvSpPr>
              <a:spLocks/>
            </p:cNvSpPr>
            <p:nvPr/>
          </p:nvSpPr>
          <p:spPr bwMode="auto">
            <a:xfrm rot="10063307">
              <a:off x="5047" y="7277"/>
              <a:ext cx="2814" cy="2807"/>
            </a:xfrm>
            <a:custGeom>
              <a:avLst/>
              <a:gdLst>
                <a:gd name="T0" fmla="*/ 67 w 21462"/>
                <a:gd name="T1" fmla="*/ 0 h 21247"/>
                <a:gd name="T2" fmla="*/ 369 w 21462"/>
                <a:gd name="T3" fmla="*/ 328 h 21247"/>
                <a:gd name="T4" fmla="*/ 0 w 21462"/>
                <a:gd name="T5" fmla="*/ 371 h 21247"/>
                <a:gd name="T6" fmla="*/ 0 60000 65536"/>
                <a:gd name="T7" fmla="*/ 0 60000 65536"/>
                <a:gd name="T8" fmla="*/ 0 60000 65536"/>
                <a:gd name="T9" fmla="*/ 0 w 21462"/>
                <a:gd name="T10" fmla="*/ 0 h 21247"/>
                <a:gd name="T11" fmla="*/ 21462 w 21462"/>
                <a:gd name="T12" fmla="*/ 21247 h 21247"/>
              </a:gdLst>
              <a:ahLst/>
              <a:cxnLst>
                <a:cxn ang="T6">
                  <a:pos x="T0" y="T1"/>
                </a:cxn>
                <a:cxn ang="T7">
                  <a:pos x="T2" y="T3"/>
                </a:cxn>
                <a:cxn ang="T8">
                  <a:pos x="T4" y="T5"/>
                </a:cxn>
              </a:cxnLst>
              <a:rect l="T9" t="T10" r="T11" b="T12"/>
              <a:pathLst>
                <a:path w="21462" h="21247" fill="none" extrusionOk="0">
                  <a:moveTo>
                    <a:pt x="3889" y="-1"/>
                  </a:moveTo>
                  <a:cubicBezTo>
                    <a:pt x="13250" y="1713"/>
                    <a:pt x="20387" y="9352"/>
                    <a:pt x="21461" y="18809"/>
                  </a:cubicBezTo>
                </a:path>
                <a:path w="21462" h="21247" stroke="0" extrusionOk="0">
                  <a:moveTo>
                    <a:pt x="3889" y="-1"/>
                  </a:moveTo>
                  <a:cubicBezTo>
                    <a:pt x="13250" y="1713"/>
                    <a:pt x="20387" y="9352"/>
                    <a:pt x="21461" y="18809"/>
                  </a:cubicBezTo>
                  <a:lnTo>
                    <a:pt x="0" y="21247"/>
                  </a:lnTo>
                  <a:lnTo>
                    <a:pt x="3889" y="-1"/>
                  </a:lnTo>
                  <a:close/>
                </a:path>
              </a:pathLst>
            </a:custGeom>
            <a:noFill/>
            <a:ln w="9525">
              <a:solidFill>
                <a:srgbClr val="000000"/>
              </a:solidFill>
              <a:round/>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a:p>
          </p:txBody>
        </p:sp>
        <p:sp>
          <p:nvSpPr>
            <p:cNvPr id="11" name="Oval 10"/>
            <p:cNvSpPr>
              <a:spLocks noChangeArrowheads="1"/>
            </p:cNvSpPr>
            <p:nvPr/>
          </p:nvSpPr>
          <p:spPr bwMode="auto">
            <a:xfrm>
              <a:off x="6283" y="9536"/>
              <a:ext cx="103" cy="93"/>
            </a:xfrm>
            <a:prstGeom prst="ellipse">
              <a:avLst/>
            </a:prstGeom>
            <a:solidFill>
              <a:schemeClr val="tx1">
                <a:lumMod val="100000"/>
                <a:lumOff val="0"/>
              </a:schemeClr>
            </a:solidFill>
            <a:ln w="9525">
              <a:solidFill>
                <a:srgbClr val="000000"/>
              </a:solidFill>
              <a:round/>
              <a:headEnd/>
              <a:tailEnd/>
            </a:ln>
          </p:spPr>
          <p:txBody>
            <a:bodyPr/>
            <a:lstStyle/>
            <a:p>
              <a:endParaRPr lang="en-CA">
                <a:latin typeface="Times New Roman" charset="0"/>
                <a:cs typeface="Times New Roman" charset="0"/>
              </a:endParaRPr>
            </a:p>
          </p:txBody>
        </p:sp>
        <p:cxnSp>
          <p:nvCxnSpPr>
            <p:cNvPr id="31758" name="AutoShape 2189"/>
            <p:cNvCxnSpPr>
              <a:cxnSpLocks noChangeShapeType="1"/>
            </p:cNvCxnSpPr>
            <p:nvPr/>
          </p:nvCxnSpPr>
          <p:spPr bwMode="auto">
            <a:xfrm>
              <a:off x="6332" y="9032"/>
              <a:ext cx="0" cy="477"/>
            </a:xfrm>
            <a:prstGeom prst="straightConnector1">
              <a:avLst/>
            </a:prstGeom>
            <a:noFill/>
            <a:ln w="9525">
              <a:solidFill>
                <a:srgbClr val="000000"/>
              </a:solidFill>
              <a:round/>
              <a:headEnd/>
              <a:tailEnd type="arrow" w="med" len="med"/>
            </a:ln>
            <a:extLst>
              <a:ext uri="{909E8E84-426E-40dd-AFC4-6F175D3DCCD1}">
                <a14:hiddenFill xmlns:a14="http://schemas.microsoft.com/office/drawing/2010/main" xmlns="">
                  <a:noFill/>
                </a14:hiddenFill>
              </a:ext>
            </a:extLst>
          </p:spPr>
        </p:cxnSp>
        <p:sp>
          <p:nvSpPr>
            <p:cNvPr id="31759" name="Text Box 2190">
              <a:hlinkClick r:id="rId3" action="ppaction://hlinksldjump"/>
            </p:cNvPr>
            <p:cNvSpPr txBox="1">
              <a:spLocks noChangeArrowheads="1"/>
            </p:cNvSpPr>
            <p:nvPr/>
          </p:nvSpPr>
          <p:spPr bwMode="auto">
            <a:xfrm>
              <a:off x="2307" y="8175"/>
              <a:ext cx="1998" cy="175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charset="0"/>
                  <a:ea typeface="宋体" charset="0"/>
                </a:defRPr>
              </a:lvl1pPr>
              <a:lvl2pPr marL="742950" indent="-285750" eaLnBrk="0" hangingPunct="0">
                <a:defRPr>
                  <a:solidFill>
                    <a:schemeClr val="tx1"/>
                  </a:solidFill>
                  <a:latin typeface="Arial" charset="0"/>
                  <a:ea typeface="宋体" charset="0"/>
                </a:defRPr>
              </a:lvl2pPr>
              <a:lvl3pPr marL="1143000" indent="-228600" eaLnBrk="0" hangingPunct="0">
                <a:defRPr>
                  <a:solidFill>
                    <a:schemeClr val="tx1"/>
                  </a:solidFill>
                  <a:latin typeface="Arial" charset="0"/>
                  <a:ea typeface="宋体" charset="0"/>
                </a:defRPr>
              </a:lvl3pPr>
              <a:lvl4pPr marL="1600200" indent="-228600" eaLnBrk="0" hangingPunct="0">
                <a:defRPr>
                  <a:solidFill>
                    <a:schemeClr val="tx1"/>
                  </a:solidFill>
                  <a:latin typeface="Arial" charset="0"/>
                  <a:ea typeface="宋体" charset="0"/>
                </a:defRPr>
              </a:lvl4pPr>
              <a:lvl5pPr marL="2057400" indent="-228600" eaLnBrk="0" hangingPunct="0">
                <a:defRPr>
                  <a:solidFill>
                    <a:schemeClr val="tx1"/>
                  </a:solidFill>
                  <a:latin typeface="Arial" charset="0"/>
                  <a:ea typeface="宋体" charset="0"/>
                </a:defRPr>
              </a:lvl5pPr>
              <a:lvl6pPr marL="2514600" indent="-228600" eaLnBrk="0" fontAlgn="base" hangingPunct="0">
                <a:spcBef>
                  <a:spcPct val="0"/>
                </a:spcBef>
                <a:spcAft>
                  <a:spcPct val="0"/>
                </a:spcAft>
                <a:defRPr>
                  <a:solidFill>
                    <a:schemeClr val="tx1"/>
                  </a:solidFill>
                  <a:latin typeface="Arial" charset="0"/>
                  <a:ea typeface="宋体" charset="0"/>
                </a:defRPr>
              </a:lvl6pPr>
              <a:lvl7pPr marL="2971800" indent="-228600" eaLnBrk="0" fontAlgn="base" hangingPunct="0">
                <a:spcBef>
                  <a:spcPct val="0"/>
                </a:spcBef>
                <a:spcAft>
                  <a:spcPct val="0"/>
                </a:spcAft>
                <a:defRPr>
                  <a:solidFill>
                    <a:schemeClr val="tx1"/>
                  </a:solidFill>
                  <a:latin typeface="Arial" charset="0"/>
                  <a:ea typeface="宋体" charset="0"/>
                </a:defRPr>
              </a:lvl7pPr>
              <a:lvl8pPr marL="3429000" indent="-228600" eaLnBrk="0" fontAlgn="base" hangingPunct="0">
                <a:spcBef>
                  <a:spcPct val="0"/>
                </a:spcBef>
                <a:spcAft>
                  <a:spcPct val="0"/>
                </a:spcAft>
                <a:defRPr>
                  <a:solidFill>
                    <a:schemeClr val="tx1"/>
                  </a:solidFill>
                  <a:latin typeface="Arial" charset="0"/>
                  <a:ea typeface="宋体" charset="0"/>
                </a:defRPr>
              </a:lvl8pPr>
              <a:lvl9pPr marL="3886200" indent="-228600" eaLnBrk="0" fontAlgn="base" hangingPunct="0">
                <a:spcBef>
                  <a:spcPct val="0"/>
                </a:spcBef>
                <a:spcAft>
                  <a:spcPct val="0"/>
                </a:spcAft>
                <a:defRPr>
                  <a:solidFill>
                    <a:schemeClr val="tx1"/>
                  </a:solidFill>
                  <a:latin typeface="Arial" charset="0"/>
                  <a:ea typeface="宋体" charset="0"/>
                </a:defRPr>
              </a:lvl9pPr>
            </a:lstStyle>
            <a:p>
              <a:pPr algn="ctr" eaLnBrk="1" hangingPunct="1"/>
              <a:r>
                <a:rPr lang="en-US" altLang="zh-CN" dirty="0">
                  <a:latin typeface="Times New Roman" charset="0"/>
                  <a:cs typeface="Times New Roman" charset="0"/>
                </a:rPr>
                <a:t>Rate of growth </a:t>
              </a:r>
              <a:r>
                <a:rPr lang="en-US" altLang="zh-CN" dirty="0">
                  <a:latin typeface="Times New Roman" charset="0"/>
                  <a:cs typeface="Times New Roman" charset="0"/>
                  <a:sym typeface="Symbol" charset="0"/>
                </a:rPr>
                <a:t></a:t>
              </a:r>
              <a:r>
                <a:rPr lang="en-US" altLang="zh-CN" i="1" dirty="0">
                  <a:latin typeface="Times New Roman" charset="0"/>
                  <a:cs typeface="Times New Roman" charset="0"/>
                </a:rPr>
                <a:t>S</a:t>
              </a:r>
              <a:r>
                <a:rPr lang="en-US" altLang="zh-CN" dirty="0">
                  <a:latin typeface="Times New Roman" charset="0"/>
                  <a:cs typeface="Times New Roman" charset="0"/>
                </a:rPr>
                <a:t>/</a:t>
              </a:r>
              <a:r>
                <a:rPr lang="en-US" altLang="zh-CN" i="1" dirty="0">
                  <a:latin typeface="Times New Roman" charset="0"/>
                  <a:cs typeface="Times New Roman" charset="0"/>
                </a:rPr>
                <a:t>S</a:t>
              </a:r>
              <a:r>
                <a:rPr lang="en-US" altLang="zh-CN" dirty="0">
                  <a:latin typeface="Times New Roman" charset="0"/>
                  <a:cs typeface="Times New Roman" charset="0"/>
                </a:rPr>
                <a:t>(</a:t>
              </a:r>
              <a:r>
                <a:rPr lang="en-US" altLang="zh-CN" i="1" dirty="0">
                  <a:latin typeface="Times New Roman" charset="0"/>
                  <a:cs typeface="Times New Roman" charset="0"/>
                </a:rPr>
                <a:t>t</a:t>
              </a:r>
              <a:r>
                <a:rPr lang="en-US" altLang="zh-CN" dirty="0">
                  <a:latin typeface="Times New Roman" charset="0"/>
                  <a:cs typeface="Times New Roman" charset="0"/>
                </a:rPr>
                <a:t>) in stumpage value (% per year)</a:t>
              </a:r>
              <a:endParaRPr lang="en-CA" dirty="0">
                <a:latin typeface="Times New Roman" charset="0"/>
                <a:cs typeface="Times New Roman" charset="0"/>
              </a:endParaRPr>
            </a:p>
          </p:txBody>
        </p:sp>
        <p:sp>
          <p:nvSpPr>
            <p:cNvPr id="31760" name="Text Box 2191"/>
            <p:cNvSpPr txBox="1">
              <a:spLocks noChangeArrowheads="1"/>
            </p:cNvSpPr>
            <p:nvPr/>
          </p:nvSpPr>
          <p:spPr bwMode="auto">
            <a:xfrm>
              <a:off x="6147" y="10266"/>
              <a:ext cx="478" cy="4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charset="0"/>
                  <a:ea typeface="宋体" charset="0"/>
                </a:defRPr>
              </a:lvl1pPr>
              <a:lvl2pPr marL="742950" indent="-285750" eaLnBrk="0" hangingPunct="0">
                <a:defRPr>
                  <a:solidFill>
                    <a:schemeClr val="tx1"/>
                  </a:solidFill>
                  <a:latin typeface="Arial" charset="0"/>
                  <a:ea typeface="宋体" charset="0"/>
                </a:defRPr>
              </a:lvl2pPr>
              <a:lvl3pPr marL="1143000" indent="-228600" eaLnBrk="0" hangingPunct="0">
                <a:defRPr>
                  <a:solidFill>
                    <a:schemeClr val="tx1"/>
                  </a:solidFill>
                  <a:latin typeface="Arial" charset="0"/>
                  <a:ea typeface="宋体" charset="0"/>
                </a:defRPr>
              </a:lvl3pPr>
              <a:lvl4pPr marL="1600200" indent="-228600" eaLnBrk="0" hangingPunct="0">
                <a:defRPr>
                  <a:solidFill>
                    <a:schemeClr val="tx1"/>
                  </a:solidFill>
                  <a:latin typeface="Arial" charset="0"/>
                  <a:ea typeface="宋体" charset="0"/>
                </a:defRPr>
              </a:lvl4pPr>
              <a:lvl5pPr marL="2057400" indent="-228600" eaLnBrk="0" hangingPunct="0">
                <a:defRPr>
                  <a:solidFill>
                    <a:schemeClr val="tx1"/>
                  </a:solidFill>
                  <a:latin typeface="Arial" charset="0"/>
                  <a:ea typeface="宋体" charset="0"/>
                </a:defRPr>
              </a:lvl5pPr>
              <a:lvl6pPr marL="2514600" indent="-228600" eaLnBrk="0" fontAlgn="base" hangingPunct="0">
                <a:spcBef>
                  <a:spcPct val="0"/>
                </a:spcBef>
                <a:spcAft>
                  <a:spcPct val="0"/>
                </a:spcAft>
                <a:defRPr>
                  <a:solidFill>
                    <a:schemeClr val="tx1"/>
                  </a:solidFill>
                  <a:latin typeface="Arial" charset="0"/>
                  <a:ea typeface="宋体" charset="0"/>
                </a:defRPr>
              </a:lvl6pPr>
              <a:lvl7pPr marL="2971800" indent="-228600" eaLnBrk="0" fontAlgn="base" hangingPunct="0">
                <a:spcBef>
                  <a:spcPct val="0"/>
                </a:spcBef>
                <a:spcAft>
                  <a:spcPct val="0"/>
                </a:spcAft>
                <a:defRPr>
                  <a:solidFill>
                    <a:schemeClr val="tx1"/>
                  </a:solidFill>
                  <a:latin typeface="Arial" charset="0"/>
                  <a:ea typeface="宋体" charset="0"/>
                </a:defRPr>
              </a:lvl7pPr>
              <a:lvl8pPr marL="3429000" indent="-228600" eaLnBrk="0" fontAlgn="base" hangingPunct="0">
                <a:spcBef>
                  <a:spcPct val="0"/>
                </a:spcBef>
                <a:spcAft>
                  <a:spcPct val="0"/>
                </a:spcAft>
                <a:defRPr>
                  <a:solidFill>
                    <a:schemeClr val="tx1"/>
                  </a:solidFill>
                  <a:latin typeface="Arial" charset="0"/>
                  <a:ea typeface="宋体" charset="0"/>
                </a:defRPr>
              </a:lvl8pPr>
              <a:lvl9pPr marL="3886200" indent="-228600" eaLnBrk="0" fontAlgn="base" hangingPunct="0">
                <a:spcBef>
                  <a:spcPct val="0"/>
                </a:spcBef>
                <a:spcAft>
                  <a:spcPct val="0"/>
                </a:spcAft>
                <a:defRPr>
                  <a:solidFill>
                    <a:schemeClr val="tx1"/>
                  </a:solidFill>
                  <a:latin typeface="Arial" charset="0"/>
                  <a:ea typeface="宋体" charset="0"/>
                </a:defRPr>
              </a:lvl9pPr>
            </a:lstStyle>
            <a:p>
              <a:pPr eaLnBrk="1" hangingPunct="1"/>
              <a:r>
                <a:rPr lang="en-US" altLang="zh-CN" i="1">
                  <a:latin typeface="Times New Roman" charset="0"/>
                  <a:cs typeface="Times New Roman" charset="0"/>
                </a:rPr>
                <a:t>t</a:t>
              </a:r>
              <a:r>
                <a:rPr lang="en-US" altLang="zh-CN" baseline="30000">
                  <a:latin typeface="Times New Roman" charset="0"/>
                  <a:cs typeface="Times New Roman" charset="0"/>
                </a:rPr>
                <a:t>*</a:t>
              </a:r>
              <a:endParaRPr lang="en-CA">
                <a:latin typeface="Times New Roman" charset="0"/>
                <a:cs typeface="Times New Roman" charset="0"/>
              </a:endParaRPr>
            </a:p>
          </p:txBody>
        </p:sp>
        <p:cxnSp>
          <p:nvCxnSpPr>
            <p:cNvPr id="31761" name="AutoShape 2192"/>
            <p:cNvCxnSpPr>
              <a:cxnSpLocks noChangeShapeType="1"/>
            </p:cNvCxnSpPr>
            <p:nvPr/>
          </p:nvCxnSpPr>
          <p:spPr bwMode="auto">
            <a:xfrm>
              <a:off x="4397" y="7784"/>
              <a:ext cx="10" cy="2502"/>
            </a:xfrm>
            <a:prstGeom prst="straightConnector1">
              <a:avLst/>
            </a:prstGeom>
            <a:noFill/>
            <a:ln w="9525">
              <a:solidFill>
                <a:srgbClr val="000000"/>
              </a:solidFill>
              <a:round/>
              <a:headEnd/>
              <a:tailEnd/>
            </a:ln>
            <a:extLst>
              <a:ext uri="{909E8E84-426E-40dd-AFC4-6F175D3DCCD1}">
                <a14:hiddenFill xmlns:a14="http://schemas.microsoft.com/office/drawing/2010/main" xmlns="">
                  <a:noFill/>
                </a14:hiddenFill>
              </a:ext>
            </a:extLst>
          </p:spPr>
        </p:cxnSp>
        <p:cxnSp>
          <p:nvCxnSpPr>
            <p:cNvPr id="31762" name="AutoShape 2193"/>
            <p:cNvCxnSpPr>
              <a:cxnSpLocks noChangeShapeType="1"/>
            </p:cNvCxnSpPr>
            <p:nvPr/>
          </p:nvCxnSpPr>
          <p:spPr bwMode="auto">
            <a:xfrm>
              <a:off x="4413" y="10285"/>
              <a:ext cx="4530" cy="1"/>
            </a:xfrm>
            <a:prstGeom prst="straightConnector1">
              <a:avLst/>
            </a:prstGeom>
            <a:noFill/>
            <a:ln w="9525">
              <a:solidFill>
                <a:srgbClr val="000000"/>
              </a:solidFill>
              <a:round/>
              <a:headEnd/>
              <a:tailEnd/>
            </a:ln>
            <a:extLst>
              <a:ext uri="{909E8E84-426E-40dd-AFC4-6F175D3DCCD1}">
                <a14:hiddenFill xmlns:a14="http://schemas.microsoft.com/office/drawing/2010/main" xmlns="">
                  <a:noFill/>
                </a14:hiddenFill>
              </a:ext>
            </a:extLst>
          </p:spPr>
        </p:cxnSp>
        <p:sp>
          <p:nvSpPr>
            <p:cNvPr id="31763" name="Text Box 2196"/>
            <p:cNvSpPr txBox="1">
              <a:spLocks noChangeArrowheads="1"/>
            </p:cNvSpPr>
            <p:nvPr/>
          </p:nvSpPr>
          <p:spPr bwMode="auto">
            <a:xfrm>
              <a:off x="2850" y="2221"/>
              <a:ext cx="1455" cy="124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charset="0"/>
                  <a:ea typeface="宋体" charset="0"/>
                </a:defRPr>
              </a:lvl1pPr>
              <a:lvl2pPr marL="742950" indent="-285750" eaLnBrk="0" hangingPunct="0">
                <a:defRPr>
                  <a:solidFill>
                    <a:schemeClr val="tx1"/>
                  </a:solidFill>
                  <a:latin typeface="Arial" charset="0"/>
                  <a:ea typeface="宋体" charset="0"/>
                </a:defRPr>
              </a:lvl2pPr>
              <a:lvl3pPr marL="1143000" indent="-228600" eaLnBrk="0" hangingPunct="0">
                <a:defRPr>
                  <a:solidFill>
                    <a:schemeClr val="tx1"/>
                  </a:solidFill>
                  <a:latin typeface="Arial" charset="0"/>
                  <a:ea typeface="宋体" charset="0"/>
                </a:defRPr>
              </a:lvl3pPr>
              <a:lvl4pPr marL="1600200" indent="-228600" eaLnBrk="0" hangingPunct="0">
                <a:defRPr>
                  <a:solidFill>
                    <a:schemeClr val="tx1"/>
                  </a:solidFill>
                  <a:latin typeface="Arial" charset="0"/>
                  <a:ea typeface="宋体" charset="0"/>
                </a:defRPr>
              </a:lvl4pPr>
              <a:lvl5pPr marL="2057400" indent="-228600" eaLnBrk="0" hangingPunct="0">
                <a:defRPr>
                  <a:solidFill>
                    <a:schemeClr val="tx1"/>
                  </a:solidFill>
                  <a:latin typeface="Arial" charset="0"/>
                  <a:ea typeface="宋体" charset="0"/>
                </a:defRPr>
              </a:lvl5pPr>
              <a:lvl6pPr marL="2514600" indent="-228600" eaLnBrk="0" fontAlgn="base" hangingPunct="0">
                <a:spcBef>
                  <a:spcPct val="0"/>
                </a:spcBef>
                <a:spcAft>
                  <a:spcPct val="0"/>
                </a:spcAft>
                <a:defRPr>
                  <a:solidFill>
                    <a:schemeClr val="tx1"/>
                  </a:solidFill>
                  <a:latin typeface="Arial" charset="0"/>
                  <a:ea typeface="宋体" charset="0"/>
                </a:defRPr>
              </a:lvl6pPr>
              <a:lvl7pPr marL="2971800" indent="-228600" eaLnBrk="0" fontAlgn="base" hangingPunct="0">
                <a:spcBef>
                  <a:spcPct val="0"/>
                </a:spcBef>
                <a:spcAft>
                  <a:spcPct val="0"/>
                </a:spcAft>
                <a:defRPr>
                  <a:solidFill>
                    <a:schemeClr val="tx1"/>
                  </a:solidFill>
                  <a:latin typeface="Arial" charset="0"/>
                  <a:ea typeface="宋体" charset="0"/>
                </a:defRPr>
              </a:lvl7pPr>
              <a:lvl8pPr marL="3429000" indent="-228600" eaLnBrk="0" fontAlgn="base" hangingPunct="0">
                <a:spcBef>
                  <a:spcPct val="0"/>
                </a:spcBef>
                <a:spcAft>
                  <a:spcPct val="0"/>
                </a:spcAft>
                <a:defRPr>
                  <a:solidFill>
                    <a:schemeClr val="tx1"/>
                  </a:solidFill>
                  <a:latin typeface="Arial" charset="0"/>
                  <a:ea typeface="宋体" charset="0"/>
                </a:defRPr>
              </a:lvl8pPr>
              <a:lvl9pPr marL="3886200" indent="-228600" eaLnBrk="0" fontAlgn="base" hangingPunct="0">
                <a:spcBef>
                  <a:spcPct val="0"/>
                </a:spcBef>
                <a:spcAft>
                  <a:spcPct val="0"/>
                </a:spcAft>
                <a:defRPr>
                  <a:solidFill>
                    <a:schemeClr val="tx1"/>
                  </a:solidFill>
                  <a:latin typeface="Arial" charset="0"/>
                  <a:ea typeface="宋体" charset="0"/>
                </a:defRPr>
              </a:lvl9pPr>
            </a:lstStyle>
            <a:p>
              <a:pPr algn="ctr" eaLnBrk="1" hangingPunct="1"/>
              <a:r>
                <a:rPr lang="en-US" altLang="zh-CN">
                  <a:latin typeface="Times New Roman" charset="0"/>
                  <a:cs typeface="Times New Roman" charset="0"/>
                </a:rPr>
                <a:t>Value or volume of timber</a:t>
              </a:r>
              <a:endParaRPr lang="en-CA">
                <a:latin typeface="Times New Roman" charset="0"/>
                <a:cs typeface="Times New Roman" charset="0"/>
              </a:endParaRPr>
            </a:p>
          </p:txBody>
        </p:sp>
        <p:sp>
          <p:nvSpPr>
            <p:cNvPr id="31764" name="Text Box 2197"/>
            <p:cNvSpPr txBox="1">
              <a:spLocks noChangeArrowheads="1"/>
            </p:cNvSpPr>
            <p:nvPr/>
          </p:nvSpPr>
          <p:spPr bwMode="auto">
            <a:xfrm>
              <a:off x="2307" y="5145"/>
              <a:ext cx="1998" cy="199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charset="0"/>
                  <a:ea typeface="宋体" charset="0"/>
                </a:defRPr>
              </a:lvl1pPr>
              <a:lvl2pPr marL="742950" indent="-285750" eaLnBrk="0" hangingPunct="0">
                <a:defRPr>
                  <a:solidFill>
                    <a:schemeClr val="tx1"/>
                  </a:solidFill>
                  <a:latin typeface="Arial" charset="0"/>
                  <a:ea typeface="宋体" charset="0"/>
                </a:defRPr>
              </a:lvl2pPr>
              <a:lvl3pPr marL="1143000" indent="-228600" eaLnBrk="0" hangingPunct="0">
                <a:defRPr>
                  <a:solidFill>
                    <a:schemeClr val="tx1"/>
                  </a:solidFill>
                  <a:latin typeface="Arial" charset="0"/>
                  <a:ea typeface="宋体" charset="0"/>
                </a:defRPr>
              </a:lvl3pPr>
              <a:lvl4pPr marL="1600200" indent="-228600" eaLnBrk="0" hangingPunct="0">
                <a:defRPr>
                  <a:solidFill>
                    <a:schemeClr val="tx1"/>
                  </a:solidFill>
                  <a:latin typeface="Arial" charset="0"/>
                  <a:ea typeface="宋体" charset="0"/>
                </a:defRPr>
              </a:lvl4pPr>
              <a:lvl5pPr marL="2057400" indent="-228600" eaLnBrk="0" hangingPunct="0">
                <a:defRPr>
                  <a:solidFill>
                    <a:schemeClr val="tx1"/>
                  </a:solidFill>
                  <a:latin typeface="Arial" charset="0"/>
                  <a:ea typeface="宋体" charset="0"/>
                </a:defRPr>
              </a:lvl5pPr>
              <a:lvl6pPr marL="2514600" indent="-228600" eaLnBrk="0" fontAlgn="base" hangingPunct="0">
                <a:spcBef>
                  <a:spcPct val="0"/>
                </a:spcBef>
                <a:spcAft>
                  <a:spcPct val="0"/>
                </a:spcAft>
                <a:defRPr>
                  <a:solidFill>
                    <a:schemeClr val="tx1"/>
                  </a:solidFill>
                  <a:latin typeface="Arial" charset="0"/>
                  <a:ea typeface="宋体" charset="0"/>
                </a:defRPr>
              </a:lvl6pPr>
              <a:lvl7pPr marL="2971800" indent="-228600" eaLnBrk="0" fontAlgn="base" hangingPunct="0">
                <a:spcBef>
                  <a:spcPct val="0"/>
                </a:spcBef>
                <a:spcAft>
                  <a:spcPct val="0"/>
                </a:spcAft>
                <a:defRPr>
                  <a:solidFill>
                    <a:schemeClr val="tx1"/>
                  </a:solidFill>
                  <a:latin typeface="Arial" charset="0"/>
                  <a:ea typeface="宋体" charset="0"/>
                </a:defRPr>
              </a:lvl7pPr>
              <a:lvl8pPr marL="3429000" indent="-228600" eaLnBrk="0" fontAlgn="base" hangingPunct="0">
                <a:spcBef>
                  <a:spcPct val="0"/>
                </a:spcBef>
                <a:spcAft>
                  <a:spcPct val="0"/>
                </a:spcAft>
                <a:defRPr>
                  <a:solidFill>
                    <a:schemeClr val="tx1"/>
                  </a:solidFill>
                  <a:latin typeface="Arial" charset="0"/>
                  <a:ea typeface="宋体" charset="0"/>
                </a:defRPr>
              </a:lvl8pPr>
              <a:lvl9pPr marL="3886200" indent="-228600" eaLnBrk="0" fontAlgn="base" hangingPunct="0">
                <a:spcBef>
                  <a:spcPct val="0"/>
                </a:spcBef>
                <a:spcAft>
                  <a:spcPct val="0"/>
                </a:spcAft>
                <a:defRPr>
                  <a:solidFill>
                    <a:schemeClr val="tx1"/>
                  </a:solidFill>
                  <a:latin typeface="Arial" charset="0"/>
                  <a:ea typeface="宋体" charset="0"/>
                </a:defRPr>
              </a:lvl9pPr>
            </a:lstStyle>
            <a:p>
              <a:pPr algn="ctr" eaLnBrk="1" hangingPunct="1"/>
              <a:r>
                <a:rPr lang="en-US" altLang="zh-CN">
                  <a:latin typeface="Times New Roman" charset="0"/>
                  <a:cs typeface="Times New Roman" charset="0"/>
                </a:rPr>
                <a:t>Average and incremental growth in value ($ per hectare per year)</a:t>
              </a:r>
              <a:endParaRPr lang="en-CA">
                <a:latin typeface="Times New Roman" charset="0"/>
                <a:cs typeface="Times New Roman" charset="0"/>
              </a:endParaRPr>
            </a:p>
          </p:txBody>
        </p:sp>
        <p:cxnSp>
          <p:nvCxnSpPr>
            <p:cNvPr id="31765" name="AutoShape 2198"/>
            <p:cNvCxnSpPr>
              <a:cxnSpLocks noChangeShapeType="1"/>
            </p:cNvCxnSpPr>
            <p:nvPr/>
          </p:nvCxnSpPr>
          <p:spPr bwMode="auto">
            <a:xfrm>
              <a:off x="7072" y="2796"/>
              <a:ext cx="0" cy="4611"/>
            </a:xfrm>
            <a:prstGeom prst="straightConnector1">
              <a:avLst/>
            </a:prstGeom>
            <a:noFill/>
            <a:ln w="9525">
              <a:solidFill>
                <a:srgbClr val="000000"/>
              </a:solidFill>
              <a:prstDash val="dash"/>
              <a:round/>
              <a:headEnd/>
              <a:tailEnd/>
            </a:ln>
            <a:extLst>
              <a:ext uri="{909E8E84-426E-40dd-AFC4-6F175D3DCCD1}">
                <a14:hiddenFill xmlns:a14="http://schemas.microsoft.com/office/drawing/2010/main" xmlns="">
                  <a:noFill/>
                </a14:hiddenFill>
              </a:ext>
            </a:extLst>
          </p:spPr>
        </p:cxnSp>
        <p:sp>
          <p:nvSpPr>
            <p:cNvPr id="31766" name="Text Box 2199"/>
            <p:cNvSpPr txBox="1">
              <a:spLocks noChangeArrowheads="1"/>
            </p:cNvSpPr>
            <p:nvPr/>
          </p:nvSpPr>
          <p:spPr bwMode="auto">
            <a:xfrm>
              <a:off x="7510" y="2594"/>
              <a:ext cx="975" cy="39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charset="0"/>
                  <a:ea typeface="宋体" charset="0"/>
                </a:defRPr>
              </a:lvl1pPr>
              <a:lvl2pPr marL="742950" indent="-285750" eaLnBrk="0" hangingPunct="0">
                <a:defRPr>
                  <a:solidFill>
                    <a:schemeClr val="tx1"/>
                  </a:solidFill>
                  <a:latin typeface="Arial" charset="0"/>
                  <a:ea typeface="宋体" charset="0"/>
                </a:defRPr>
              </a:lvl2pPr>
              <a:lvl3pPr marL="1143000" indent="-228600" eaLnBrk="0" hangingPunct="0">
                <a:defRPr>
                  <a:solidFill>
                    <a:schemeClr val="tx1"/>
                  </a:solidFill>
                  <a:latin typeface="Arial" charset="0"/>
                  <a:ea typeface="宋体" charset="0"/>
                </a:defRPr>
              </a:lvl3pPr>
              <a:lvl4pPr marL="1600200" indent="-228600" eaLnBrk="0" hangingPunct="0">
                <a:defRPr>
                  <a:solidFill>
                    <a:schemeClr val="tx1"/>
                  </a:solidFill>
                  <a:latin typeface="Arial" charset="0"/>
                  <a:ea typeface="宋体" charset="0"/>
                </a:defRPr>
              </a:lvl4pPr>
              <a:lvl5pPr marL="2057400" indent="-228600" eaLnBrk="0" hangingPunct="0">
                <a:defRPr>
                  <a:solidFill>
                    <a:schemeClr val="tx1"/>
                  </a:solidFill>
                  <a:latin typeface="Arial" charset="0"/>
                  <a:ea typeface="宋体" charset="0"/>
                </a:defRPr>
              </a:lvl5pPr>
              <a:lvl6pPr marL="2514600" indent="-228600" eaLnBrk="0" fontAlgn="base" hangingPunct="0">
                <a:spcBef>
                  <a:spcPct val="0"/>
                </a:spcBef>
                <a:spcAft>
                  <a:spcPct val="0"/>
                </a:spcAft>
                <a:defRPr>
                  <a:solidFill>
                    <a:schemeClr val="tx1"/>
                  </a:solidFill>
                  <a:latin typeface="Arial" charset="0"/>
                  <a:ea typeface="宋体" charset="0"/>
                </a:defRPr>
              </a:lvl6pPr>
              <a:lvl7pPr marL="2971800" indent="-228600" eaLnBrk="0" fontAlgn="base" hangingPunct="0">
                <a:spcBef>
                  <a:spcPct val="0"/>
                </a:spcBef>
                <a:spcAft>
                  <a:spcPct val="0"/>
                </a:spcAft>
                <a:defRPr>
                  <a:solidFill>
                    <a:schemeClr val="tx1"/>
                  </a:solidFill>
                  <a:latin typeface="Arial" charset="0"/>
                  <a:ea typeface="宋体" charset="0"/>
                </a:defRPr>
              </a:lvl7pPr>
              <a:lvl8pPr marL="3429000" indent="-228600" eaLnBrk="0" fontAlgn="base" hangingPunct="0">
                <a:spcBef>
                  <a:spcPct val="0"/>
                </a:spcBef>
                <a:spcAft>
                  <a:spcPct val="0"/>
                </a:spcAft>
                <a:defRPr>
                  <a:solidFill>
                    <a:schemeClr val="tx1"/>
                  </a:solidFill>
                  <a:latin typeface="Arial" charset="0"/>
                  <a:ea typeface="宋体" charset="0"/>
                </a:defRPr>
              </a:lvl8pPr>
              <a:lvl9pPr marL="3886200" indent="-228600" eaLnBrk="0" fontAlgn="base" hangingPunct="0">
                <a:spcBef>
                  <a:spcPct val="0"/>
                </a:spcBef>
                <a:spcAft>
                  <a:spcPct val="0"/>
                </a:spcAft>
                <a:defRPr>
                  <a:solidFill>
                    <a:schemeClr val="tx1"/>
                  </a:solidFill>
                  <a:latin typeface="Arial" charset="0"/>
                  <a:ea typeface="宋体" charset="0"/>
                </a:defRPr>
              </a:lvl9pPr>
            </a:lstStyle>
            <a:p>
              <a:pPr eaLnBrk="1" hangingPunct="1"/>
              <a:r>
                <a:rPr lang="en-US" altLang="zh-CN">
                  <a:latin typeface="Times New Roman" charset="0"/>
                  <a:cs typeface="Times New Roman" charset="0"/>
                </a:rPr>
                <a:t>Value</a:t>
              </a:r>
              <a:endParaRPr lang="en-CA">
                <a:latin typeface="Times New Roman" charset="0"/>
                <a:cs typeface="Times New Roman" charset="0"/>
              </a:endParaRPr>
            </a:p>
          </p:txBody>
        </p:sp>
        <p:cxnSp>
          <p:nvCxnSpPr>
            <p:cNvPr id="31767" name="AutoShape 2200"/>
            <p:cNvCxnSpPr>
              <a:cxnSpLocks noChangeShapeType="1"/>
            </p:cNvCxnSpPr>
            <p:nvPr/>
          </p:nvCxnSpPr>
          <p:spPr bwMode="auto">
            <a:xfrm>
              <a:off x="4406" y="4558"/>
              <a:ext cx="4529" cy="0"/>
            </a:xfrm>
            <a:prstGeom prst="straightConnector1">
              <a:avLst/>
            </a:prstGeom>
            <a:noFill/>
            <a:ln w="9525">
              <a:solidFill>
                <a:srgbClr val="000000"/>
              </a:solidFill>
              <a:round/>
              <a:headEnd/>
              <a:tailEnd/>
            </a:ln>
            <a:extLst>
              <a:ext uri="{909E8E84-426E-40dd-AFC4-6F175D3DCCD1}">
                <a14:hiddenFill xmlns:a14="http://schemas.microsoft.com/office/drawing/2010/main" xmlns="">
                  <a:noFill/>
                </a14:hiddenFill>
              </a:ext>
            </a:extLst>
          </p:spPr>
        </p:cxnSp>
        <p:cxnSp>
          <p:nvCxnSpPr>
            <p:cNvPr id="31768" name="AutoShape 2201"/>
            <p:cNvCxnSpPr>
              <a:cxnSpLocks noChangeShapeType="1"/>
            </p:cNvCxnSpPr>
            <p:nvPr/>
          </p:nvCxnSpPr>
          <p:spPr bwMode="auto">
            <a:xfrm>
              <a:off x="4397" y="2055"/>
              <a:ext cx="10" cy="2502"/>
            </a:xfrm>
            <a:prstGeom prst="straightConnector1">
              <a:avLst/>
            </a:prstGeom>
            <a:noFill/>
            <a:ln w="9525">
              <a:solidFill>
                <a:srgbClr val="000000"/>
              </a:solidFill>
              <a:round/>
              <a:headEnd/>
              <a:tailEnd/>
            </a:ln>
            <a:extLst>
              <a:ext uri="{909E8E84-426E-40dd-AFC4-6F175D3DCCD1}">
                <a14:hiddenFill xmlns:a14="http://schemas.microsoft.com/office/drawing/2010/main" xmlns="">
                  <a:noFill/>
                </a14:hiddenFill>
              </a:ext>
            </a:extLst>
          </p:spPr>
        </p:cxnSp>
        <p:sp>
          <p:nvSpPr>
            <p:cNvPr id="31769" name="Freeform 22"/>
            <p:cNvSpPr>
              <a:spLocks/>
            </p:cNvSpPr>
            <p:nvPr/>
          </p:nvSpPr>
          <p:spPr bwMode="auto">
            <a:xfrm>
              <a:off x="4826" y="2597"/>
              <a:ext cx="3494" cy="1960"/>
            </a:xfrm>
            <a:custGeom>
              <a:avLst/>
              <a:gdLst>
                <a:gd name="T0" fmla="*/ 0 w 2943"/>
                <a:gd name="T1" fmla="*/ 1740 h 2208"/>
                <a:gd name="T2" fmla="*/ 535 w 2943"/>
                <a:gd name="T3" fmla="*/ 1633 h 2208"/>
                <a:gd name="T4" fmla="*/ 1188 w 2943"/>
                <a:gd name="T5" fmla="*/ 1386 h 2208"/>
                <a:gd name="T6" fmla="*/ 1695 w 2943"/>
                <a:gd name="T7" fmla="*/ 1017 h 2208"/>
                <a:gd name="T8" fmla="*/ 2098 w 2943"/>
                <a:gd name="T9" fmla="*/ 605 h 2208"/>
                <a:gd name="T10" fmla="*/ 2422 w 2943"/>
                <a:gd name="T11" fmla="*/ 333 h 2208"/>
                <a:gd name="T12" fmla="*/ 2656 w 2943"/>
                <a:gd name="T13" fmla="*/ 192 h 2208"/>
                <a:gd name="T14" fmla="*/ 2994 w 2943"/>
                <a:gd name="T15" fmla="*/ 74 h 2208"/>
                <a:gd name="T16" fmla="*/ 3524 w 2943"/>
                <a:gd name="T17" fmla="*/ 11 h 2208"/>
                <a:gd name="T18" fmla="*/ 4148 w 2943"/>
                <a:gd name="T19" fmla="*/ 11 h 220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943"/>
                <a:gd name="T31" fmla="*/ 0 h 2208"/>
                <a:gd name="T32" fmla="*/ 2943 w 2943"/>
                <a:gd name="T33" fmla="*/ 2208 h 220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943" h="2208">
                  <a:moveTo>
                    <a:pt x="0" y="2208"/>
                  </a:moveTo>
                  <a:cubicBezTo>
                    <a:pt x="120" y="2178"/>
                    <a:pt x="240" y="2148"/>
                    <a:pt x="380" y="2073"/>
                  </a:cubicBezTo>
                  <a:cubicBezTo>
                    <a:pt x="520" y="1998"/>
                    <a:pt x="706" y="1888"/>
                    <a:pt x="843" y="1758"/>
                  </a:cubicBezTo>
                  <a:cubicBezTo>
                    <a:pt x="980" y="1628"/>
                    <a:pt x="1096" y="1456"/>
                    <a:pt x="1203" y="1291"/>
                  </a:cubicBezTo>
                  <a:cubicBezTo>
                    <a:pt x="1310" y="1126"/>
                    <a:pt x="1402" y="913"/>
                    <a:pt x="1488" y="768"/>
                  </a:cubicBezTo>
                  <a:cubicBezTo>
                    <a:pt x="1574" y="623"/>
                    <a:pt x="1652" y="510"/>
                    <a:pt x="1718" y="423"/>
                  </a:cubicBezTo>
                  <a:cubicBezTo>
                    <a:pt x="1784" y="336"/>
                    <a:pt x="1816" y="298"/>
                    <a:pt x="1884" y="243"/>
                  </a:cubicBezTo>
                  <a:cubicBezTo>
                    <a:pt x="1952" y="188"/>
                    <a:pt x="2021" y="131"/>
                    <a:pt x="2124" y="93"/>
                  </a:cubicBezTo>
                  <a:cubicBezTo>
                    <a:pt x="2227" y="55"/>
                    <a:pt x="2364" y="26"/>
                    <a:pt x="2500" y="13"/>
                  </a:cubicBezTo>
                  <a:cubicBezTo>
                    <a:pt x="2636" y="0"/>
                    <a:pt x="2789" y="6"/>
                    <a:pt x="2943" y="13"/>
                  </a:cubicBezTo>
                </a:path>
              </a:pathLst>
            </a:custGeom>
            <a:noFill/>
            <a:ln w="19050">
              <a:solidFill>
                <a:srgbClr val="000000"/>
              </a:solidFill>
              <a:round/>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a:p>
          </p:txBody>
        </p:sp>
        <p:cxnSp>
          <p:nvCxnSpPr>
            <p:cNvPr id="31770" name="AutoShape 2203"/>
            <p:cNvCxnSpPr>
              <a:cxnSpLocks noChangeShapeType="1"/>
            </p:cNvCxnSpPr>
            <p:nvPr/>
          </p:nvCxnSpPr>
          <p:spPr bwMode="auto">
            <a:xfrm flipV="1">
              <a:off x="4406" y="2221"/>
              <a:ext cx="3515" cy="2336"/>
            </a:xfrm>
            <a:prstGeom prst="straightConnector1">
              <a:avLst/>
            </a:prstGeom>
            <a:noFill/>
            <a:ln w="9525">
              <a:solidFill>
                <a:srgbClr val="000000"/>
              </a:solidFill>
              <a:round/>
              <a:headEnd/>
              <a:tailEnd/>
            </a:ln>
            <a:extLst>
              <a:ext uri="{909E8E84-426E-40dd-AFC4-6F175D3DCCD1}">
                <a14:hiddenFill xmlns:a14="http://schemas.microsoft.com/office/drawing/2010/main" xmlns="">
                  <a:noFill/>
                </a14:hiddenFill>
              </a:ext>
            </a:extLst>
          </p:spPr>
        </p:cxnSp>
        <p:sp>
          <p:nvSpPr>
            <p:cNvPr id="31771" name="Freeform 24"/>
            <p:cNvSpPr>
              <a:spLocks/>
            </p:cNvSpPr>
            <p:nvPr/>
          </p:nvSpPr>
          <p:spPr bwMode="auto">
            <a:xfrm>
              <a:off x="4397" y="3236"/>
              <a:ext cx="3968" cy="1321"/>
            </a:xfrm>
            <a:custGeom>
              <a:avLst/>
              <a:gdLst>
                <a:gd name="T0" fmla="*/ 0 w 3869"/>
                <a:gd name="T1" fmla="*/ 1262 h 1383"/>
                <a:gd name="T2" fmla="*/ 1206 w 3869"/>
                <a:gd name="T3" fmla="*/ 1084 h 1383"/>
                <a:gd name="T4" fmla="*/ 1939 w 3869"/>
                <a:gd name="T5" fmla="*/ 810 h 1383"/>
                <a:gd name="T6" fmla="*/ 2830 w 3869"/>
                <a:gd name="T7" fmla="*/ 304 h 1383"/>
                <a:gd name="T8" fmla="*/ 3533 w 3869"/>
                <a:gd name="T9" fmla="*/ 20 h 1383"/>
                <a:gd name="T10" fmla="*/ 4070 w 3869"/>
                <a:gd name="T11" fmla="*/ 183 h 1383"/>
                <a:gd name="T12" fmla="*/ 0 60000 65536"/>
                <a:gd name="T13" fmla="*/ 0 60000 65536"/>
                <a:gd name="T14" fmla="*/ 0 60000 65536"/>
                <a:gd name="T15" fmla="*/ 0 60000 65536"/>
                <a:gd name="T16" fmla="*/ 0 60000 65536"/>
                <a:gd name="T17" fmla="*/ 0 60000 65536"/>
                <a:gd name="T18" fmla="*/ 0 w 3869"/>
                <a:gd name="T19" fmla="*/ 0 h 1383"/>
                <a:gd name="T20" fmla="*/ 3869 w 3869"/>
                <a:gd name="T21" fmla="*/ 1383 h 1383"/>
              </a:gdLst>
              <a:ahLst/>
              <a:cxnLst>
                <a:cxn ang="T12">
                  <a:pos x="T0" y="T1"/>
                </a:cxn>
                <a:cxn ang="T13">
                  <a:pos x="T2" y="T3"/>
                </a:cxn>
                <a:cxn ang="T14">
                  <a:pos x="T4" y="T5"/>
                </a:cxn>
                <a:cxn ang="T15">
                  <a:pos x="T6" y="T7"/>
                </a:cxn>
                <a:cxn ang="T16">
                  <a:pos x="T8" y="T9"/>
                </a:cxn>
                <a:cxn ang="T17">
                  <a:pos x="T10" y="T11"/>
                </a:cxn>
              </a:cxnLst>
              <a:rect l="T18" t="T19" r="T20" b="T21"/>
              <a:pathLst>
                <a:path w="3869" h="1383">
                  <a:moveTo>
                    <a:pt x="0" y="1383"/>
                  </a:moveTo>
                  <a:cubicBezTo>
                    <a:pt x="420" y="1327"/>
                    <a:pt x="840" y="1271"/>
                    <a:pt x="1147" y="1188"/>
                  </a:cubicBezTo>
                  <a:cubicBezTo>
                    <a:pt x="1454" y="1105"/>
                    <a:pt x="1587" y="1030"/>
                    <a:pt x="1844" y="888"/>
                  </a:cubicBezTo>
                  <a:cubicBezTo>
                    <a:pt x="2101" y="746"/>
                    <a:pt x="2438" y="477"/>
                    <a:pt x="2690" y="333"/>
                  </a:cubicBezTo>
                  <a:cubicBezTo>
                    <a:pt x="2942" y="189"/>
                    <a:pt x="3163" y="44"/>
                    <a:pt x="3359" y="22"/>
                  </a:cubicBezTo>
                  <a:cubicBezTo>
                    <a:pt x="3555" y="0"/>
                    <a:pt x="3712" y="100"/>
                    <a:pt x="3869" y="201"/>
                  </a:cubicBezTo>
                </a:path>
              </a:pathLst>
            </a:custGeom>
            <a:noFill/>
            <a:ln w="12700">
              <a:solidFill>
                <a:srgbClr val="000000"/>
              </a:solidFill>
              <a:prstDash val="dash"/>
              <a:round/>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a:p>
          </p:txBody>
        </p:sp>
        <p:sp>
          <p:nvSpPr>
            <p:cNvPr id="31772" name="Text Box 2205"/>
            <p:cNvSpPr txBox="1">
              <a:spLocks noChangeArrowheads="1"/>
            </p:cNvSpPr>
            <p:nvPr/>
          </p:nvSpPr>
          <p:spPr bwMode="auto">
            <a:xfrm>
              <a:off x="7510" y="3462"/>
              <a:ext cx="1079" cy="39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charset="0"/>
                  <a:ea typeface="宋体" charset="0"/>
                </a:defRPr>
              </a:lvl1pPr>
              <a:lvl2pPr marL="742950" indent="-285750" eaLnBrk="0" hangingPunct="0">
                <a:defRPr>
                  <a:solidFill>
                    <a:schemeClr val="tx1"/>
                  </a:solidFill>
                  <a:latin typeface="Arial" charset="0"/>
                  <a:ea typeface="宋体" charset="0"/>
                </a:defRPr>
              </a:lvl2pPr>
              <a:lvl3pPr marL="1143000" indent="-228600" eaLnBrk="0" hangingPunct="0">
                <a:defRPr>
                  <a:solidFill>
                    <a:schemeClr val="tx1"/>
                  </a:solidFill>
                  <a:latin typeface="Arial" charset="0"/>
                  <a:ea typeface="宋体" charset="0"/>
                </a:defRPr>
              </a:lvl3pPr>
              <a:lvl4pPr marL="1600200" indent="-228600" eaLnBrk="0" hangingPunct="0">
                <a:defRPr>
                  <a:solidFill>
                    <a:schemeClr val="tx1"/>
                  </a:solidFill>
                  <a:latin typeface="Arial" charset="0"/>
                  <a:ea typeface="宋体" charset="0"/>
                </a:defRPr>
              </a:lvl4pPr>
              <a:lvl5pPr marL="2057400" indent="-228600" eaLnBrk="0" hangingPunct="0">
                <a:defRPr>
                  <a:solidFill>
                    <a:schemeClr val="tx1"/>
                  </a:solidFill>
                  <a:latin typeface="Arial" charset="0"/>
                  <a:ea typeface="宋体" charset="0"/>
                </a:defRPr>
              </a:lvl5pPr>
              <a:lvl6pPr marL="2514600" indent="-228600" eaLnBrk="0" fontAlgn="base" hangingPunct="0">
                <a:spcBef>
                  <a:spcPct val="0"/>
                </a:spcBef>
                <a:spcAft>
                  <a:spcPct val="0"/>
                </a:spcAft>
                <a:defRPr>
                  <a:solidFill>
                    <a:schemeClr val="tx1"/>
                  </a:solidFill>
                  <a:latin typeface="Arial" charset="0"/>
                  <a:ea typeface="宋体" charset="0"/>
                </a:defRPr>
              </a:lvl6pPr>
              <a:lvl7pPr marL="2971800" indent="-228600" eaLnBrk="0" fontAlgn="base" hangingPunct="0">
                <a:spcBef>
                  <a:spcPct val="0"/>
                </a:spcBef>
                <a:spcAft>
                  <a:spcPct val="0"/>
                </a:spcAft>
                <a:defRPr>
                  <a:solidFill>
                    <a:schemeClr val="tx1"/>
                  </a:solidFill>
                  <a:latin typeface="Arial" charset="0"/>
                  <a:ea typeface="宋体" charset="0"/>
                </a:defRPr>
              </a:lvl7pPr>
              <a:lvl8pPr marL="3429000" indent="-228600" eaLnBrk="0" fontAlgn="base" hangingPunct="0">
                <a:spcBef>
                  <a:spcPct val="0"/>
                </a:spcBef>
                <a:spcAft>
                  <a:spcPct val="0"/>
                </a:spcAft>
                <a:defRPr>
                  <a:solidFill>
                    <a:schemeClr val="tx1"/>
                  </a:solidFill>
                  <a:latin typeface="Arial" charset="0"/>
                  <a:ea typeface="宋体" charset="0"/>
                </a:defRPr>
              </a:lvl8pPr>
              <a:lvl9pPr marL="3886200" indent="-228600" eaLnBrk="0" fontAlgn="base" hangingPunct="0">
                <a:spcBef>
                  <a:spcPct val="0"/>
                </a:spcBef>
                <a:spcAft>
                  <a:spcPct val="0"/>
                </a:spcAft>
                <a:defRPr>
                  <a:solidFill>
                    <a:schemeClr val="tx1"/>
                  </a:solidFill>
                  <a:latin typeface="Arial" charset="0"/>
                  <a:ea typeface="宋体" charset="0"/>
                </a:defRPr>
              </a:lvl9pPr>
            </a:lstStyle>
            <a:p>
              <a:pPr eaLnBrk="1" hangingPunct="1"/>
              <a:r>
                <a:rPr lang="en-US" altLang="zh-CN">
                  <a:latin typeface="Times New Roman" charset="0"/>
                  <a:cs typeface="Times New Roman" charset="0"/>
                </a:rPr>
                <a:t>Volume</a:t>
              </a:r>
              <a:endParaRPr lang="en-CA">
                <a:latin typeface="Times New Roman" charset="0"/>
                <a:cs typeface="Times New Roman" charset="0"/>
              </a:endParaRPr>
            </a:p>
          </p:txBody>
        </p:sp>
        <p:cxnSp>
          <p:nvCxnSpPr>
            <p:cNvPr id="31773" name="AutoShape 2206"/>
            <p:cNvCxnSpPr>
              <a:cxnSpLocks noChangeShapeType="1"/>
            </p:cNvCxnSpPr>
            <p:nvPr/>
          </p:nvCxnSpPr>
          <p:spPr bwMode="auto">
            <a:xfrm>
              <a:off x="5920" y="4085"/>
              <a:ext cx="0" cy="3325"/>
            </a:xfrm>
            <a:prstGeom prst="straightConnector1">
              <a:avLst/>
            </a:prstGeom>
            <a:noFill/>
            <a:ln w="9525">
              <a:solidFill>
                <a:srgbClr val="000000"/>
              </a:solidFill>
              <a:prstDash val="dash"/>
              <a:round/>
              <a:headEnd/>
              <a:tailEnd/>
            </a:ln>
            <a:extLst>
              <a:ext uri="{909E8E84-426E-40dd-AFC4-6F175D3DCCD1}">
                <a14:hiddenFill xmlns:a14="http://schemas.microsoft.com/office/drawing/2010/main" xmlns="">
                  <a:noFill/>
                </a14:hiddenFill>
              </a:ext>
            </a:extLst>
          </p:spPr>
        </p:cxnSp>
        <p:cxnSp>
          <p:nvCxnSpPr>
            <p:cNvPr id="31774" name="AutoShape 2207"/>
            <p:cNvCxnSpPr>
              <a:cxnSpLocks noChangeShapeType="1"/>
            </p:cNvCxnSpPr>
            <p:nvPr/>
          </p:nvCxnSpPr>
          <p:spPr bwMode="auto">
            <a:xfrm>
              <a:off x="4397" y="4907"/>
              <a:ext cx="10" cy="2503"/>
            </a:xfrm>
            <a:prstGeom prst="straightConnector1">
              <a:avLst/>
            </a:prstGeom>
            <a:noFill/>
            <a:ln w="9525">
              <a:solidFill>
                <a:srgbClr val="000000"/>
              </a:solidFill>
              <a:round/>
              <a:headEnd/>
              <a:tailEnd/>
            </a:ln>
            <a:extLst>
              <a:ext uri="{909E8E84-426E-40dd-AFC4-6F175D3DCCD1}">
                <a14:hiddenFill xmlns:a14="http://schemas.microsoft.com/office/drawing/2010/main" xmlns="">
                  <a:noFill/>
                </a14:hiddenFill>
              </a:ext>
            </a:extLst>
          </p:spPr>
        </p:cxnSp>
        <p:cxnSp>
          <p:nvCxnSpPr>
            <p:cNvPr id="31775" name="AutoShape 2208"/>
            <p:cNvCxnSpPr>
              <a:cxnSpLocks noChangeShapeType="1"/>
            </p:cNvCxnSpPr>
            <p:nvPr/>
          </p:nvCxnSpPr>
          <p:spPr bwMode="auto">
            <a:xfrm flipH="1">
              <a:off x="6283" y="6001"/>
              <a:ext cx="617" cy="1"/>
            </a:xfrm>
            <a:prstGeom prst="straightConnector1">
              <a:avLst/>
            </a:prstGeom>
            <a:noFill/>
            <a:ln w="9525">
              <a:solidFill>
                <a:srgbClr val="000000"/>
              </a:solidFill>
              <a:round/>
              <a:headEnd/>
              <a:tailEnd type="arrow" w="med" len="med"/>
            </a:ln>
            <a:extLst>
              <a:ext uri="{909E8E84-426E-40dd-AFC4-6F175D3DCCD1}">
                <a14:hiddenFill xmlns:a14="http://schemas.microsoft.com/office/drawing/2010/main" xmlns="">
                  <a:noFill/>
                </a14:hiddenFill>
              </a:ext>
            </a:extLst>
          </p:spPr>
        </p:cxnSp>
        <p:cxnSp>
          <p:nvCxnSpPr>
            <p:cNvPr id="31776" name="AutoShape 2209"/>
            <p:cNvCxnSpPr>
              <a:cxnSpLocks noChangeShapeType="1"/>
            </p:cNvCxnSpPr>
            <p:nvPr/>
          </p:nvCxnSpPr>
          <p:spPr bwMode="auto">
            <a:xfrm flipH="1">
              <a:off x="5616" y="7057"/>
              <a:ext cx="304" cy="17"/>
            </a:xfrm>
            <a:prstGeom prst="straightConnector1">
              <a:avLst/>
            </a:prstGeom>
            <a:noFill/>
            <a:ln w="9525">
              <a:solidFill>
                <a:srgbClr val="000000"/>
              </a:solidFill>
              <a:round/>
              <a:headEnd/>
              <a:tailEnd type="arrow" w="med" len="med"/>
            </a:ln>
            <a:extLst>
              <a:ext uri="{909E8E84-426E-40dd-AFC4-6F175D3DCCD1}">
                <a14:hiddenFill xmlns:a14="http://schemas.microsoft.com/office/drawing/2010/main" xmlns="">
                  <a:noFill/>
                </a14:hiddenFill>
              </a:ext>
            </a:extLst>
          </p:spPr>
        </p:cxnSp>
        <p:sp>
          <p:nvSpPr>
            <p:cNvPr id="31777" name="Text Box 2210"/>
            <p:cNvSpPr txBox="1">
              <a:spLocks noChangeArrowheads="1"/>
            </p:cNvSpPr>
            <p:nvPr/>
          </p:nvSpPr>
          <p:spPr bwMode="auto">
            <a:xfrm>
              <a:off x="5874" y="6770"/>
              <a:ext cx="1801" cy="73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charset="0"/>
                  <a:ea typeface="宋体" charset="0"/>
                </a:defRPr>
              </a:lvl1pPr>
              <a:lvl2pPr marL="742950" indent="-285750" eaLnBrk="0" hangingPunct="0">
                <a:defRPr>
                  <a:solidFill>
                    <a:schemeClr val="tx1"/>
                  </a:solidFill>
                  <a:latin typeface="Arial" charset="0"/>
                  <a:ea typeface="宋体" charset="0"/>
                </a:defRPr>
              </a:lvl2pPr>
              <a:lvl3pPr marL="1143000" indent="-228600" eaLnBrk="0" hangingPunct="0">
                <a:defRPr>
                  <a:solidFill>
                    <a:schemeClr val="tx1"/>
                  </a:solidFill>
                  <a:latin typeface="Arial" charset="0"/>
                  <a:ea typeface="宋体" charset="0"/>
                </a:defRPr>
              </a:lvl3pPr>
              <a:lvl4pPr marL="1600200" indent="-228600" eaLnBrk="0" hangingPunct="0">
                <a:defRPr>
                  <a:solidFill>
                    <a:schemeClr val="tx1"/>
                  </a:solidFill>
                  <a:latin typeface="Arial" charset="0"/>
                  <a:ea typeface="宋体" charset="0"/>
                </a:defRPr>
              </a:lvl4pPr>
              <a:lvl5pPr marL="2057400" indent="-228600" eaLnBrk="0" hangingPunct="0">
                <a:defRPr>
                  <a:solidFill>
                    <a:schemeClr val="tx1"/>
                  </a:solidFill>
                  <a:latin typeface="Arial" charset="0"/>
                  <a:ea typeface="宋体" charset="0"/>
                </a:defRPr>
              </a:lvl5pPr>
              <a:lvl6pPr marL="2514600" indent="-228600" eaLnBrk="0" fontAlgn="base" hangingPunct="0">
                <a:spcBef>
                  <a:spcPct val="0"/>
                </a:spcBef>
                <a:spcAft>
                  <a:spcPct val="0"/>
                </a:spcAft>
                <a:defRPr>
                  <a:solidFill>
                    <a:schemeClr val="tx1"/>
                  </a:solidFill>
                  <a:latin typeface="Arial" charset="0"/>
                  <a:ea typeface="宋体" charset="0"/>
                </a:defRPr>
              </a:lvl6pPr>
              <a:lvl7pPr marL="2971800" indent="-228600" eaLnBrk="0" fontAlgn="base" hangingPunct="0">
                <a:spcBef>
                  <a:spcPct val="0"/>
                </a:spcBef>
                <a:spcAft>
                  <a:spcPct val="0"/>
                </a:spcAft>
                <a:defRPr>
                  <a:solidFill>
                    <a:schemeClr val="tx1"/>
                  </a:solidFill>
                  <a:latin typeface="Arial" charset="0"/>
                  <a:ea typeface="宋体" charset="0"/>
                </a:defRPr>
              </a:lvl7pPr>
              <a:lvl8pPr marL="3429000" indent="-228600" eaLnBrk="0" fontAlgn="base" hangingPunct="0">
                <a:spcBef>
                  <a:spcPct val="0"/>
                </a:spcBef>
                <a:spcAft>
                  <a:spcPct val="0"/>
                </a:spcAft>
                <a:defRPr>
                  <a:solidFill>
                    <a:schemeClr val="tx1"/>
                  </a:solidFill>
                  <a:latin typeface="Arial" charset="0"/>
                  <a:ea typeface="宋体" charset="0"/>
                </a:defRPr>
              </a:lvl8pPr>
              <a:lvl9pPr marL="3886200" indent="-228600" eaLnBrk="0" fontAlgn="base" hangingPunct="0">
                <a:spcBef>
                  <a:spcPct val="0"/>
                </a:spcBef>
                <a:spcAft>
                  <a:spcPct val="0"/>
                </a:spcAft>
                <a:defRPr>
                  <a:solidFill>
                    <a:schemeClr val="tx1"/>
                  </a:solidFill>
                  <a:latin typeface="Arial" charset="0"/>
                  <a:ea typeface="宋体" charset="0"/>
                </a:defRPr>
              </a:lvl9pPr>
            </a:lstStyle>
            <a:p>
              <a:pPr algn="ctr" eaLnBrk="1" hangingPunct="1"/>
              <a:r>
                <a:rPr lang="en-US" altLang="zh-CN">
                  <a:latin typeface="Times New Roman" charset="0"/>
                  <a:cs typeface="Times New Roman" charset="0"/>
                </a:rPr>
                <a:t>Average growth </a:t>
              </a:r>
              <a:endParaRPr lang="en-CA">
                <a:latin typeface="Times New Roman" charset="0"/>
                <a:cs typeface="Times New Roman" charset="0"/>
              </a:endParaRPr>
            </a:p>
          </p:txBody>
        </p:sp>
        <p:sp>
          <p:nvSpPr>
            <p:cNvPr id="31778" name="Text Box 2211"/>
            <p:cNvSpPr txBox="1">
              <a:spLocks noChangeArrowheads="1"/>
            </p:cNvSpPr>
            <p:nvPr/>
          </p:nvSpPr>
          <p:spPr bwMode="auto">
            <a:xfrm>
              <a:off x="6805" y="5790"/>
              <a:ext cx="2130" cy="4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charset="0"/>
                  <a:ea typeface="宋体" charset="0"/>
                </a:defRPr>
              </a:lvl1pPr>
              <a:lvl2pPr marL="742950" indent="-285750" eaLnBrk="0" hangingPunct="0">
                <a:defRPr>
                  <a:solidFill>
                    <a:schemeClr val="tx1"/>
                  </a:solidFill>
                  <a:latin typeface="Arial" charset="0"/>
                  <a:ea typeface="宋体" charset="0"/>
                </a:defRPr>
              </a:lvl2pPr>
              <a:lvl3pPr marL="1143000" indent="-228600" eaLnBrk="0" hangingPunct="0">
                <a:defRPr>
                  <a:solidFill>
                    <a:schemeClr val="tx1"/>
                  </a:solidFill>
                  <a:latin typeface="Arial" charset="0"/>
                  <a:ea typeface="宋体" charset="0"/>
                </a:defRPr>
              </a:lvl3pPr>
              <a:lvl4pPr marL="1600200" indent="-228600" eaLnBrk="0" hangingPunct="0">
                <a:defRPr>
                  <a:solidFill>
                    <a:schemeClr val="tx1"/>
                  </a:solidFill>
                  <a:latin typeface="Arial" charset="0"/>
                  <a:ea typeface="宋体" charset="0"/>
                </a:defRPr>
              </a:lvl4pPr>
              <a:lvl5pPr marL="2057400" indent="-228600" eaLnBrk="0" hangingPunct="0">
                <a:defRPr>
                  <a:solidFill>
                    <a:schemeClr val="tx1"/>
                  </a:solidFill>
                  <a:latin typeface="Arial" charset="0"/>
                  <a:ea typeface="宋体" charset="0"/>
                </a:defRPr>
              </a:lvl5pPr>
              <a:lvl6pPr marL="2514600" indent="-228600" eaLnBrk="0" fontAlgn="base" hangingPunct="0">
                <a:spcBef>
                  <a:spcPct val="0"/>
                </a:spcBef>
                <a:spcAft>
                  <a:spcPct val="0"/>
                </a:spcAft>
                <a:defRPr>
                  <a:solidFill>
                    <a:schemeClr val="tx1"/>
                  </a:solidFill>
                  <a:latin typeface="Arial" charset="0"/>
                  <a:ea typeface="宋体" charset="0"/>
                </a:defRPr>
              </a:lvl6pPr>
              <a:lvl7pPr marL="2971800" indent="-228600" eaLnBrk="0" fontAlgn="base" hangingPunct="0">
                <a:spcBef>
                  <a:spcPct val="0"/>
                </a:spcBef>
                <a:spcAft>
                  <a:spcPct val="0"/>
                </a:spcAft>
                <a:defRPr>
                  <a:solidFill>
                    <a:schemeClr val="tx1"/>
                  </a:solidFill>
                  <a:latin typeface="Arial" charset="0"/>
                  <a:ea typeface="宋体" charset="0"/>
                </a:defRPr>
              </a:lvl7pPr>
              <a:lvl8pPr marL="3429000" indent="-228600" eaLnBrk="0" fontAlgn="base" hangingPunct="0">
                <a:spcBef>
                  <a:spcPct val="0"/>
                </a:spcBef>
                <a:spcAft>
                  <a:spcPct val="0"/>
                </a:spcAft>
                <a:defRPr>
                  <a:solidFill>
                    <a:schemeClr val="tx1"/>
                  </a:solidFill>
                  <a:latin typeface="Arial" charset="0"/>
                  <a:ea typeface="宋体" charset="0"/>
                </a:defRPr>
              </a:lvl8pPr>
              <a:lvl9pPr marL="3886200" indent="-228600" eaLnBrk="0" fontAlgn="base" hangingPunct="0">
                <a:spcBef>
                  <a:spcPct val="0"/>
                </a:spcBef>
                <a:spcAft>
                  <a:spcPct val="0"/>
                </a:spcAft>
                <a:defRPr>
                  <a:solidFill>
                    <a:schemeClr val="tx1"/>
                  </a:solidFill>
                  <a:latin typeface="Arial" charset="0"/>
                  <a:ea typeface="宋体" charset="0"/>
                </a:defRPr>
              </a:lvl9pPr>
            </a:lstStyle>
            <a:p>
              <a:pPr algn="ctr" eaLnBrk="1" hangingPunct="1"/>
              <a:r>
                <a:rPr lang="en-US" altLang="zh-CN" dirty="0">
                  <a:latin typeface="Times New Roman" charset="0"/>
                  <a:cs typeface="Times New Roman" charset="0"/>
                </a:rPr>
                <a:t>Incremental growth</a:t>
              </a:r>
              <a:r>
                <a:rPr lang="zh-CN" altLang="en-US" dirty="0">
                  <a:latin typeface="Times New Roman" charset="0"/>
                  <a:cs typeface="Times New Roman" charset="0"/>
                </a:rPr>
                <a:t>（</a:t>
              </a:r>
              <a:r>
                <a:rPr lang="zh-CN" altLang="en-US" dirty="0">
                  <a:solidFill>
                    <a:srgbClr val="FF0000"/>
                  </a:solidFill>
                  <a:latin typeface="Times New Roman" charset="0"/>
                  <a:cs typeface="Times New Roman" charset="0"/>
                </a:rPr>
                <a:t>年边际增长量</a:t>
              </a:r>
              <a:r>
                <a:rPr lang="zh-CN" altLang="en-US" dirty="0">
                  <a:latin typeface="Times New Roman" charset="0"/>
                  <a:cs typeface="Times New Roman" charset="0"/>
                </a:rPr>
                <a:t>）</a:t>
              </a:r>
              <a:r>
                <a:rPr lang="en-US" altLang="zh-CN" dirty="0">
                  <a:latin typeface="Times New Roman" charset="0"/>
                  <a:cs typeface="Times New Roman" charset="0"/>
                </a:rPr>
                <a:t> </a:t>
              </a:r>
              <a:endParaRPr lang="en-CA" dirty="0">
                <a:latin typeface="Times New Roman" charset="0"/>
                <a:cs typeface="Times New Roman" charset="0"/>
              </a:endParaRPr>
            </a:p>
          </p:txBody>
        </p:sp>
        <p:sp>
          <p:nvSpPr>
            <p:cNvPr id="31779" name="Text Box 2212"/>
            <p:cNvSpPr txBox="1">
              <a:spLocks noChangeArrowheads="1"/>
            </p:cNvSpPr>
            <p:nvPr/>
          </p:nvSpPr>
          <p:spPr bwMode="auto">
            <a:xfrm>
              <a:off x="8049" y="6521"/>
              <a:ext cx="2137" cy="85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charset="0"/>
                  <a:ea typeface="宋体" charset="0"/>
                </a:defRPr>
              </a:lvl1pPr>
              <a:lvl2pPr marL="742950" indent="-285750" eaLnBrk="0" hangingPunct="0">
                <a:defRPr>
                  <a:solidFill>
                    <a:schemeClr val="tx1"/>
                  </a:solidFill>
                  <a:latin typeface="Arial" charset="0"/>
                  <a:ea typeface="宋体" charset="0"/>
                </a:defRPr>
              </a:lvl2pPr>
              <a:lvl3pPr marL="1143000" indent="-228600" eaLnBrk="0" hangingPunct="0">
                <a:defRPr>
                  <a:solidFill>
                    <a:schemeClr val="tx1"/>
                  </a:solidFill>
                  <a:latin typeface="Arial" charset="0"/>
                  <a:ea typeface="宋体" charset="0"/>
                </a:defRPr>
              </a:lvl3pPr>
              <a:lvl4pPr marL="1600200" indent="-228600" eaLnBrk="0" hangingPunct="0">
                <a:defRPr>
                  <a:solidFill>
                    <a:schemeClr val="tx1"/>
                  </a:solidFill>
                  <a:latin typeface="Arial" charset="0"/>
                  <a:ea typeface="宋体" charset="0"/>
                </a:defRPr>
              </a:lvl4pPr>
              <a:lvl5pPr marL="2057400" indent="-228600" eaLnBrk="0" hangingPunct="0">
                <a:defRPr>
                  <a:solidFill>
                    <a:schemeClr val="tx1"/>
                  </a:solidFill>
                  <a:latin typeface="Arial" charset="0"/>
                  <a:ea typeface="宋体" charset="0"/>
                </a:defRPr>
              </a:lvl5pPr>
              <a:lvl6pPr marL="2514600" indent="-228600" eaLnBrk="0" fontAlgn="base" hangingPunct="0">
                <a:spcBef>
                  <a:spcPct val="0"/>
                </a:spcBef>
                <a:spcAft>
                  <a:spcPct val="0"/>
                </a:spcAft>
                <a:defRPr>
                  <a:solidFill>
                    <a:schemeClr val="tx1"/>
                  </a:solidFill>
                  <a:latin typeface="Arial" charset="0"/>
                  <a:ea typeface="宋体" charset="0"/>
                </a:defRPr>
              </a:lvl6pPr>
              <a:lvl7pPr marL="2971800" indent="-228600" eaLnBrk="0" fontAlgn="base" hangingPunct="0">
                <a:spcBef>
                  <a:spcPct val="0"/>
                </a:spcBef>
                <a:spcAft>
                  <a:spcPct val="0"/>
                </a:spcAft>
                <a:defRPr>
                  <a:solidFill>
                    <a:schemeClr val="tx1"/>
                  </a:solidFill>
                  <a:latin typeface="Arial" charset="0"/>
                  <a:ea typeface="宋体" charset="0"/>
                </a:defRPr>
              </a:lvl7pPr>
              <a:lvl8pPr marL="3429000" indent="-228600" eaLnBrk="0" fontAlgn="base" hangingPunct="0">
                <a:spcBef>
                  <a:spcPct val="0"/>
                </a:spcBef>
                <a:spcAft>
                  <a:spcPct val="0"/>
                </a:spcAft>
                <a:defRPr>
                  <a:solidFill>
                    <a:schemeClr val="tx1"/>
                  </a:solidFill>
                  <a:latin typeface="Arial" charset="0"/>
                  <a:ea typeface="宋体" charset="0"/>
                </a:defRPr>
              </a:lvl8pPr>
              <a:lvl9pPr marL="3886200" indent="-228600" eaLnBrk="0" fontAlgn="base" hangingPunct="0">
                <a:spcBef>
                  <a:spcPct val="0"/>
                </a:spcBef>
                <a:spcAft>
                  <a:spcPct val="0"/>
                </a:spcAft>
                <a:defRPr>
                  <a:solidFill>
                    <a:schemeClr val="tx1"/>
                  </a:solidFill>
                  <a:latin typeface="Arial" charset="0"/>
                  <a:ea typeface="宋体" charset="0"/>
                </a:defRPr>
              </a:lvl9pPr>
            </a:lstStyle>
            <a:p>
              <a:pPr eaLnBrk="1" hangingPunct="1"/>
              <a:r>
                <a:rPr lang="en-US" altLang="zh-CN" i="1" dirty="0">
                  <a:latin typeface="Times New Roman" charset="0"/>
                  <a:cs typeface="Times New Roman" charset="0"/>
                </a:rPr>
                <a:t>S</a:t>
              </a:r>
              <a:r>
                <a:rPr lang="en-US" altLang="zh-CN" dirty="0">
                  <a:latin typeface="Times New Roman" charset="0"/>
                  <a:cs typeface="Times New Roman" charset="0"/>
                </a:rPr>
                <a:t>(</a:t>
              </a:r>
              <a:r>
                <a:rPr lang="en-US" altLang="zh-CN" i="1" dirty="0">
                  <a:latin typeface="Times New Roman" charset="0"/>
                  <a:cs typeface="Times New Roman" charset="0"/>
                </a:rPr>
                <a:t>t</a:t>
              </a:r>
              <a:r>
                <a:rPr lang="en-US" altLang="zh-CN" dirty="0">
                  <a:latin typeface="Times New Roman" charset="0"/>
                  <a:cs typeface="Times New Roman" charset="0"/>
                </a:rPr>
                <a:t>)/</a:t>
              </a:r>
              <a:r>
                <a:rPr lang="en-US" altLang="zh-CN" i="1" dirty="0">
                  <a:latin typeface="Times New Roman" charset="0"/>
                  <a:cs typeface="Times New Roman" charset="0"/>
                </a:rPr>
                <a:t>t</a:t>
              </a:r>
              <a:r>
                <a:rPr lang="zh-CN" altLang="en-US" i="1" dirty="0">
                  <a:latin typeface="Times New Roman" charset="0"/>
                  <a:cs typeface="Times New Roman" charset="0"/>
                </a:rPr>
                <a:t>：</a:t>
              </a:r>
              <a:r>
                <a:rPr lang="zh-CN" altLang="en-US" sz="1400" dirty="0">
                  <a:solidFill>
                    <a:srgbClr val="FF0000"/>
                  </a:solidFill>
                  <a:latin typeface="Times New Roman" charset="0"/>
                  <a:cs typeface="Times New Roman" charset="0"/>
                </a:rPr>
                <a:t>某一年龄立木价值的平均增长率</a:t>
              </a:r>
              <a:endParaRPr lang="en-CA" sz="1400" dirty="0">
                <a:solidFill>
                  <a:srgbClr val="FF0000"/>
                </a:solidFill>
                <a:latin typeface="Times New Roman" charset="0"/>
                <a:cs typeface="Times New Roman" charset="0"/>
              </a:endParaRPr>
            </a:p>
          </p:txBody>
        </p:sp>
        <p:sp>
          <p:nvSpPr>
            <p:cNvPr id="31780" name="Text Box 2213"/>
            <p:cNvSpPr txBox="1">
              <a:spLocks noChangeArrowheads="1"/>
            </p:cNvSpPr>
            <p:nvPr/>
          </p:nvSpPr>
          <p:spPr bwMode="auto">
            <a:xfrm>
              <a:off x="4694" y="6093"/>
              <a:ext cx="1602" cy="82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charset="0"/>
                  <a:ea typeface="宋体" charset="0"/>
                </a:defRPr>
              </a:lvl1pPr>
              <a:lvl2pPr marL="742950" indent="-285750" eaLnBrk="0" hangingPunct="0">
                <a:defRPr>
                  <a:solidFill>
                    <a:schemeClr val="tx1"/>
                  </a:solidFill>
                  <a:latin typeface="Arial" charset="0"/>
                  <a:ea typeface="宋体" charset="0"/>
                </a:defRPr>
              </a:lvl2pPr>
              <a:lvl3pPr marL="1143000" indent="-228600" eaLnBrk="0" hangingPunct="0">
                <a:defRPr>
                  <a:solidFill>
                    <a:schemeClr val="tx1"/>
                  </a:solidFill>
                  <a:latin typeface="Arial" charset="0"/>
                  <a:ea typeface="宋体" charset="0"/>
                </a:defRPr>
              </a:lvl3pPr>
              <a:lvl4pPr marL="1600200" indent="-228600" eaLnBrk="0" hangingPunct="0">
                <a:defRPr>
                  <a:solidFill>
                    <a:schemeClr val="tx1"/>
                  </a:solidFill>
                  <a:latin typeface="Arial" charset="0"/>
                  <a:ea typeface="宋体" charset="0"/>
                </a:defRPr>
              </a:lvl4pPr>
              <a:lvl5pPr marL="2057400" indent="-228600" eaLnBrk="0" hangingPunct="0">
                <a:defRPr>
                  <a:solidFill>
                    <a:schemeClr val="tx1"/>
                  </a:solidFill>
                  <a:latin typeface="Arial" charset="0"/>
                  <a:ea typeface="宋体" charset="0"/>
                </a:defRPr>
              </a:lvl5pPr>
              <a:lvl6pPr marL="2514600" indent="-228600" eaLnBrk="0" fontAlgn="base" hangingPunct="0">
                <a:spcBef>
                  <a:spcPct val="0"/>
                </a:spcBef>
                <a:spcAft>
                  <a:spcPct val="0"/>
                </a:spcAft>
                <a:defRPr>
                  <a:solidFill>
                    <a:schemeClr val="tx1"/>
                  </a:solidFill>
                  <a:latin typeface="Arial" charset="0"/>
                  <a:ea typeface="宋体" charset="0"/>
                </a:defRPr>
              </a:lvl6pPr>
              <a:lvl7pPr marL="2971800" indent="-228600" eaLnBrk="0" fontAlgn="base" hangingPunct="0">
                <a:spcBef>
                  <a:spcPct val="0"/>
                </a:spcBef>
                <a:spcAft>
                  <a:spcPct val="0"/>
                </a:spcAft>
                <a:defRPr>
                  <a:solidFill>
                    <a:schemeClr val="tx1"/>
                  </a:solidFill>
                  <a:latin typeface="Arial" charset="0"/>
                  <a:ea typeface="宋体" charset="0"/>
                </a:defRPr>
              </a:lvl7pPr>
              <a:lvl8pPr marL="3429000" indent="-228600" eaLnBrk="0" fontAlgn="base" hangingPunct="0">
                <a:spcBef>
                  <a:spcPct val="0"/>
                </a:spcBef>
                <a:spcAft>
                  <a:spcPct val="0"/>
                </a:spcAft>
                <a:defRPr>
                  <a:solidFill>
                    <a:schemeClr val="tx1"/>
                  </a:solidFill>
                  <a:latin typeface="Arial" charset="0"/>
                  <a:ea typeface="宋体" charset="0"/>
                </a:defRPr>
              </a:lvl8pPr>
              <a:lvl9pPr marL="3886200" indent="-228600" eaLnBrk="0" fontAlgn="base" hangingPunct="0">
                <a:spcBef>
                  <a:spcPct val="0"/>
                </a:spcBef>
                <a:spcAft>
                  <a:spcPct val="0"/>
                </a:spcAft>
                <a:defRPr>
                  <a:solidFill>
                    <a:schemeClr val="tx1"/>
                  </a:solidFill>
                  <a:latin typeface="Arial" charset="0"/>
                  <a:ea typeface="宋体" charset="0"/>
                </a:defRPr>
              </a:lvl9pPr>
            </a:lstStyle>
            <a:p>
              <a:pPr eaLnBrk="1" hangingPunct="1"/>
              <a:r>
                <a:rPr lang="en-US" altLang="zh-CN" dirty="0">
                  <a:solidFill>
                    <a:srgbClr val="FF0000"/>
                  </a:solidFill>
                  <a:latin typeface="Times New Roman" charset="0"/>
                  <a:cs typeface="Times New Roman" charset="0"/>
                  <a:sym typeface="Symbol" charset="0"/>
                </a:rPr>
                <a:t></a:t>
              </a:r>
              <a:r>
                <a:rPr lang="en-US" altLang="zh-CN" i="1" dirty="0">
                  <a:solidFill>
                    <a:srgbClr val="FF0000"/>
                  </a:solidFill>
                  <a:latin typeface="Times New Roman" charset="0"/>
                  <a:cs typeface="Times New Roman" charset="0"/>
                </a:rPr>
                <a:t>S=S</a:t>
              </a:r>
              <a:r>
                <a:rPr lang="zh-CN" altLang="en-US" i="1" dirty="0">
                  <a:solidFill>
                    <a:srgbClr val="FF0000"/>
                  </a:solidFill>
                  <a:latin typeface="Times New Roman" charset="0"/>
                  <a:cs typeface="Times New Roman" charset="0"/>
                </a:rPr>
                <a:t>（</a:t>
              </a:r>
              <a:r>
                <a:rPr lang="en-US" altLang="zh-CN" i="1" dirty="0">
                  <a:solidFill>
                    <a:srgbClr val="FF0000"/>
                  </a:solidFill>
                  <a:latin typeface="Times New Roman" charset="0"/>
                  <a:cs typeface="Times New Roman" charset="0"/>
                </a:rPr>
                <a:t>t+1</a:t>
              </a:r>
              <a:r>
                <a:rPr lang="zh-CN" altLang="en-US" i="1" dirty="0">
                  <a:solidFill>
                    <a:srgbClr val="FF0000"/>
                  </a:solidFill>
                  <a:latin typeface="Times New Roman" charset="0"/>
                  <a:cs typeface="Times New Roman" charset="0"/>
                </a:rPr>
                <a:t>）</a:t>
              </a:r>
              <a:r>
                <a:rPr lang="en-US" altLang="zh-CN" i="1" dirty="0">
                  <a:solidFill>
                    <a:srgbClr val="FF0000"/>
                  </a:solidFill>
                  <a:latin typeface="Times New Roman" charset="0"/>
                  <a:cs typeface="Times New Roman" charset="0"/>
                </a:rPr>
                <a:t>-S</a:t>
              </a:r>
              <a:r>
                <a:rPr lang="zh-CN" altLang="en-US" i="1" dirty="0">
                  <a:solidFill>
                    <a:srgbClr val="FF0000"/>
                  </a:solidFill>
                  <a:latin typeface="Times New Roman" charset="0"/>
                  <a:cs typeface="Times New Roman" charset="0"/>
                </a:rPr>
                <a:t>（</a:t>
              </a:r>
              <a:r>
                <a:rPr lang="en-US" altLang="zh-CN" i="1" dirty="0">
                  <a:solidFill>
                    <a:srgbClr val="FF0000"/>
                  </a:solidFill>
                  <a:latin typeface="Times New Roman" charset="0"/>
                  <a:cs typeface="Times New Roman" charset="0"/>
                </a:rPr>
                <a:t>t</a:t>
              </a:r>
              <a:r>
                <a:rPr lang="zh-CN" altLang="en-US" i="1" dirty="0">
                  <a:solidFill>
                    <a:srgbClr val="FF0000"/>
                  </a:solidFill>
                  <a:latin typeface="Times New Roman" charset="0"/>
                  <a:cs typeface="Times New Roman" charset="0"/>
                </a:rPr>
                <a:t>）</a:t>
              </a:r>
              <a:endParaRPr lang="en-CA" dirty="0">
                <a:solidFill>
                  <a:srgbClr val="FF0000"/>
                </a:solidFill>
                <a:latin typeface="Times New Roman" charset="0"/>
                <a:cs typeface="Times New Roman" charset="0"/>
              </a:endParaRPr>
            </a:p>
          </p:txBody>
        </p:sp>
        <p:sp>
          <p:nvSpPr>
            <p:cNvPr id="31781" name="Freeform 34"/>
            <p:cNvSpPr>
              <a:spLocks/>
            </p:cNvSpPr>
            <p:nvPr/>
          </p:nvSpPr>
          <p:spPr bwMode="auto">
            <a:xfrm>
              <a:off x="4856" y="6521"/>
              <a:ext cx="3135" cy="886"/>
            </a:xfrm>
            <a:custGeom>
              <a:avLst/>
              <a:gdLst>
                <a:gd name="T0" fmla="*/ 0 w 3136"/>
                <a:gd name="T1" fmla="*/ 822 h 955"/>
                <a:gd name="T2" fmla="*/ 1888 w 3136"/>
                <a:gd name="T3" fmla="*/ 97 h 955"/>
                <a:gd name="T4" fmla="*/ 3134 w 3136"/>
                <a:gd name="T5" fmla="*/ 239 h 955"/>
                <a:gd name="T6" fmla="*/ 0 60000 65536"/>
                <a:gd name="T7" fmla="*/ 0 60000 65536"/>
                <a:gd name="T8" fmla="*/ 0 60000 65536"/>
                <a:gd name="T9" fmla="*/ 0 w 3136"/>
                <a:gd name="T10" fmla="*/ 0 h 955"/>
                <a:gd name="T11" fmla="*/ 3136 w 3136"/>
                <a:gd name="T12" fmla="*/ 955 h 955"/>
              </a:gdLst>
              <a:ahLst/>
              <a:cxnLst>
                <a:cxn ang="T6">
                  <a:pos x="T0" y="T1"/>
                </a:cxn>
                <a:cxn ang="T7">
                  <a:pos x="T2" y="T3"/>
                </a:cxn>
                <a:cxn ang="T8">
                  <a:pos x="T4" y="T5"/>
                </a:cxn>
              </a:cxnLst>
              <a:rect l="T9" t="T10" r="T11" b="T12"/>
              <a:pathLst>
                <a:path w="3136" h="955">
                  <a:moveTo>
                    <a:pt x="0" y="955"/>
                  </a:moveTo>
                  <a:cubicBezTo>
                    <a:pt x="683" y="590"/>
                    <a:pt x="1367" y="226"/>
                    <a:pt x="1890" y="113"/>
                  </a:cubicBezTo>
                  <a:cubicBezTo>
                    <a:pt x="2413" y="0"/>
                    <a:pt x="2774" y="139"/>
                    <a:pt x="3136" y="278"/>
                  </a:cubicBezTo>
                </a:path>
              </a:pathLst>
            </a:custGeom>
            <a:noFill/>
            <a:ln w="19050">
              <a:solidFill>
                <a:srgbClr val="000000"/>
              </a:solidFill>
              <a:round/>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a:p>
          </p:txBody>
        </p:sp>
        <p:sp>
          <p:nvSpPr>
            <p:cNvPr id="31782" name="Freeform 35"/>
            <p:cNvSpPr>
              <a:spLocks/>
            </p:cNvSpPr>
            <p:nvPr/>
          </p:nvSpPr>
          <p:spPr bwMode="auto">
            <a:xfrm rot="-147889">
              <a:off x="4826" y="5923"/>
              <a:ext cx="3095" cy="1433"/>
            </a:xfrm>
            <a:custGeom>
              <a:avLst/>
              <a:gdLst>
                <a:gd name="T0" fmla="*/ 0 w 2970"/>
                <a:gd name="T1" fmla="*/ 1630 h 1245"/>
                <a:gd name="T2" fmla="*/ 733 w 2970"/>
                <a:gd name="T3" fmla="*/ 338 h 1245"/>
                <a:gd name="T4" fmla="*/ 1580 w 2970"/>
                <a:gd name="T5" fmla="*/ 219 h 1245"/>
                <a:gd name="T6" fmla="*/ 3225 w 2970"/>
                <a:gd name="T7" fmla="*/ 1649 h 1245"/>
                <a:gd name="T8" fmla="*/ 0 60000 65536"/>
                <a:gd name="T9" fmla="*/ 0 60000 65536"/>
                <a:gd name="T10" fmla="*/ 0 60000 65536"/>
                <a:gd name="T11" fmla="*/ 0 60000 65536"/>
                <a:gd name="T12" fmla="*/ 0 w 2970"/>
                <a:gd name="T13" fmla="*/ 0 h 1245"/>
                <a:gd name="T14" fmla="*/ 2970 w 2970"/>
                <a:gd name="T15" fmla="*/ 1245 h 1245"/>
              </a:gdLst>
              <a:ahLst/>
              <a:cxnLst>
                <a:cxn ang="T8">
                  <a:pos x="T0" y="T1"/>
                </a:cxn>
                <a:cxn ang="T9">
                  <a:pos x="T2" y="T3"/>
                </a:cxn>
                <a:cxn ang="T10">
                  <a:pos x="T4" y="T5"/>
                </a:cxn>
                <a:cxn ang="T11">
                  <a:pos x="T6" y="T7"/>
                </a:cxn>
              </a:cxnLst>
              <a:rect l="T12" t="T13" r="T14" b="T15"/>
              <a:pathLst>
                <a:path w="2970" h="1245">
                  <a:moveTo>
                    <a:pt x="0" y="1230"/>
                  </a:moveTo>
                  <a:cubicBezTo>
                    <a:pt x="216" y="831"/>
                    <a:pt x="433" y="432"/>
                    <a:pt x="675" y="255"/>
                  </a:cubicBezTo>
                  <a:cubicBezTo>
                    <a:pt x="917" y="78"/>
                    <a:pt x="1073" y="0"/>
                    <a:pt x="1455" y="165"/>
                  </a:cubicBezTo>
                  <a:cubicBezTo>
                    <a:pt x="1837" y="330"/>
                    <a:pt x="2403" y="787"/>
                    <a:pt x="2970" y="1245"/>
                  </a:cubicBezTo>
                </a:path>
              </a:pathLst>
            </a:custGeom>
            <a:noFill/>
            <a:ln w="12700">
              <a:solidFill>
                <a:srgbClr val="000000"/>
              </a:solidFill>
              <a:round/>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a:p>
          </p:txBody>
        </p:sp>
        <p:cxnSp>
          <p:nvCxnSpPr>
            <p:cNvPr id="31783" name="AutoShape 2216"/>
            <p:cNvCxnSpPr>
              <a:cxnSpLocks noChangeShapeType="1"/>
            </p:cNvCxnSpPr>
            <p:nvPr/>
          </p:nvCxnSpPr>
          <p:spPr bwMode="auto">
            <a:xfrm>
              <a:off x="4406" y="7406"/>
              <a:ext cx="4529" cy="1"/>
            </a:xfrm>
            <a:prstGeom prst="straightConnector1">
              <a:avLst/>
            </a:prstGeom>
            <a:noFill/>
            <a:ln w="9525">
              <a:solidFill>
                <a:srgbClr val="000000"/>
              </a:solidFill>
              <a:round/>
              <a:headEnd/>
              <a:tailEnd/>
            </a:ln>
            <a:extLst>
              <a:ext uri="{909E8E84-426E-40dd-AFC4-6F175D3DCCD1}">
                <a14:hiddenFill xmlns:a14="http://schemas.microsoft.com/office/drawing/2010/main" xmlns="">
                  <a:noFill/>
                </a14:hiddenFill>
              </a:ext>
            </a:extLst>
          </p:spPr>
        </p:cxnSp>
        <p:sp>
          <p:nvSpPr>
            <p:cNvPr id="31784" name="Text Box 2217"/>
            <p:cNvSpPr txBox="1">
              <a:spLocks noChangeArrowheads="1"/>
            </p:cNvSpPr>
            <p:nvPr/>
          </p:nvSpPr>
          <p:spPr bwMode="auto">
            <a:xfrm>
              <a:off x="7675" y="7503"/>
              <a:ext cx="1321" cy="41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tIns="27432" anchor="b"/>
            <a:lstStyle>
              <a:lvl1pPr eaLnBrk="0" hangingPunct="0">
                <a:defRPr>
                  <a:solidFill>
                    <a:schemeClr val="tx1"/>
                  </a:solidFill>
                  <a:latin typeface="Arial" charset="0"/>
                  <a:ea typeface="宋体" charset="0"/>
                </a:defRPr>
              </a:lvl1pPr>
              <a:lvl2pPr marL="742950" indent="-285750" eaLnBrk="0" hangingPunct="0">
                <a:defRPr>
                  <a:solidFill>
                    <a:schemeClr val="tx1"/>
                  </a:solidFill>
                  <a:latin typeface="Arial" charset="0"/>
                  <a:ea typeface="宋体" charset="0"/>
                </a:defRPr>
              </a:lvl2pPr>
              <a:lvl3pPr marL="1143000" indent="-228600" eaLnBrk="0" hangingPunct="0">
                <a:defRPr>
                  <a:solidFill>
                    <a:schemeClr val="tx1"/>
                  </a:solidFill>
                  <a:latin typeface="Arial" charset="0"/>
                  <a:ea typeface="宋体" charset="0"/>
                </a:defRPr>
              </a:lvl3pPr>
              <a:lvl4pPr marL="1600200" indent="-228600" eaLnBrk="0" hangingPunct="0">
                <a:defRPr>
                  <a:solidFill>
                    <a:schemeClr val="tx1"/>
                  </a:solidFill>
                  <a:latin typeface="Arial" charset="0"/>
                  <a:ea typeface="宋体" charset="0"/>
                </a:defRPr>
              </a:lvl4pPr>
              <a:lvl5pPr marL="2057400" indent="-228600" eaLnBrk="0" hangingPunct="0">
                <a:defRPr>
                  <a:solidFill>
                    <a:schemeClr val="tx1"/>
                  </a:solidFill>
                  <a:latin typeface="Arial" charset="0"/>
                  <a:ea typeface="宋体" charset="0"/>
                </a:defRPr>
              </a:lvl5pPr>
              <a:lvl6pPr marL="2514600" indent="-228600" eaLnBrk="0" fontAlgn="base" hangingPunct="0">
                <a:spcBef>
                  <a:spcPct val="0"/>
                </a:spcBef>
                <a:spcAft>
                  <a:spcPct val="0"/>
                </a:spcAft>
                <a:defRPr>
                  <a:solidFill>
                    <a:schemeClr val="tx1"/>
                  </a:solidFill>
                  <a:latin typeface="Arial" charset="0"/>
                  <a:ea typeface="宋体" charset="0"/>
                </a:defRPr>
              </a:lvl6pPr>
              <a:lvl7pPr marL="2971800" indent="-228600" eaLnBrk="0" fontAlgn="base" hangingPunct="0">
                <a:spcBef>
                  <a:spcPct val="0"/>
                </a:spcBef>
                <a:spcAft>
                  <a:spcPct val="0"/>
                </a:spcAft>
                <a:defRPr>
                  <a:solidFill>
                    <a:schemeClr val="tx1"/>
                  </a:solidFill>
                  <a:latin typeface="Arial" charset="0"/>
                  <a:ea typeface="宋体" charset="0"/>
                </a:defRPr>
              </a:lvl7pPr>
              <a:lvl8pPr marL="3429000" indent="-228600" eaLnBrk="0" fontAlgn="base" hangingPunct="0">
                <a:spcBef>
                  <a:spcPct val="0"/>
                </a:spcBef>
                <a:spcAft>
                  <a:spcPct val="0"/>
                </a:spcAft>
                <a:defRPr>
                  <a:solidFill>
                    <a:schemeClr val="tx1"/>
                  </a:solidFill>
                  <a:latin typeface="Arial" charset="0"/>
                  <a:ea typeface="宋体" charset="0"/>
                </a:defRPr>
              </a:lvl8pPr>
              <a:lvl9pPr marL="3886200" indent="-228600" eaLnBrk="0" fontAlgn="base" hangingPunct="0">
                <a:spcBef>
                  <a:spcPct val="0"/>
                </a:spcBef>
                <a:spcAft>
                  <a:spcPct val="0"/>
                </a:spcAft>
                <a:defRPr>
                  <a:solidFill>
                    <a:schemeClr val="tx1"/>
                  </a:solidFill>
                  <a:latin typeface="Arial" charset="0"/>
                  <a:ea typeface="宋体" charset="0"/>
                </a:defRPr>
              </a:lvl9pPr>
            </a:lstStyle>
            <a:p>
              <a:pPr algn="ctr" eaLnBrk="1" hangingPunct="1"/>
              <a:r>
                <a:rPr lang="en-US" altLang="zh-CN">
                  <a:latin typeface="Times New Roman" charset="0"/>
                  <a:cs typeface="Times New Roman" charset="0"/>
                </a:rPr>
                <a:t>Age (years)</a:t>
              </a:r>
              <a:endParaRPr lang="en-CA">
                <a:latin typeface="Times New Roman" charset="0"/>
                <a:cs typeface="Times New Roman" charset="0"/>
              </a:endParaRPr>
            </a:p>
          </p:txBody>
        </p:sp>
        <p:sp>
          <p:nvSpPr>
            <p:cNvPr id="31785" name="Text Box 2218"/>
            <p:cNvSpPr txBox="1">
              <a:spLocks noChangeArrowheads="1"/>
            </p:cNvSpPr>
            <p:nvPr/>
          </p:nvSpPr>
          <p:spPr bwMode="auto">
            <a:xfrm>
              <a:off x="7675" y="4573"/>
              <a:ext cx="1321" cy="37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tIns="0" bIns="0" anchor="b"/>
            <a:lstStyle>
              <a:lvl1pPr eaLnBrk="0" hangingPunct="0">
                <a:defRPr>
                  <a:solidFill>
                    <a:schemeClr val="tx1"/>
                  </a:solidFill>
                  <a:latin typeface="Arial" charset="0"/>
                  <a:ea typeface="宋体" charset="0"/>
                </a:defRPr>
              </a:lvl1pPr>
              <a:lvl2pPr marL="742950" indent="-285750" eaLnBrk="0" hangingPunct="0">
                <a:defRPr>
                  <a:solidFill>
                    <a:schemeClr val="tx1"/>
                  </a:solidFill>
                  <a:latin typeface="Arial" charset="0"/>
                  <a:ea typeface="宋体" charset="0"/>
                </a:defRPr>
              </a:lvl2pPr>
              <a:lvl3pPr marL="1143000" indent="-228600" eaLnBrk="0" hangingPunct="0">
                <a:defRPr>
                  <a:solidFill>
                    <a:schemeClr val="tx1"/>
                  </a:solidFill>
                  <a:latin typeface="Arial" charset="0"/>
                  <a:ea typeface="宋体" charset="0"/>
                </a:defRPr>
              </a:lvl3pPr>
              <a:lvl4pPr marL="1600200" indent="-228600" eaLnBrk="0" hangingPunct="0">
                <a:defRPr>
                  <a:solidFill>
                    <a:schemeClr val="tx1"/>
                  </a:solidFill>
                  <a:latin typeface="Arial" charset="0"/>
                  <a:ea typeface="宋体" charset="0"/>
                </a:defRPr>
              </a:lvl4pPr>
              <a:lvl5pPr marL="2057400" indent="-228600" eaLnBrk="0" hangingPunct="0">
                <a:defRPr>
                  <a:solidFill>
                    <a:schemeClr val="tx1"/>
                  </a:solidFill>
                  <a:latin typeface="Arial" charset="0"/>
                  <a:ea typeface="宋体" charset="0"/>
                </a:defRPr>
              </a:lvl5pPr>
              <a:lvl6pPr marL="2514600" indent="-228600" eaLnBrk="0" fontAlgn="base" hangingPunct="0">
                <a:spcBef>
                  <a:spcPct val="0"/>
                </a:spcBef>
                <a:spcAft>
                  <a:spcPct val="0"/>
                </a:spcAft>
                <a:defRPr>
                  <a:solidFill>
                    <a:schemeClr val="tx1"/>
                  </a:solidFill>
                  <a:latin typeface="Arial" charset="0"/>
                  <a:ea typeface="宋体" charset="0"/>
                </a:defRPr>
              </a:lvl6pPr>
              <a:lvl7pPr marL="2971800" indent="-228600" eaLnBrk="0" fontAlgn="base" hangingPunct="0">
                <a:spcBef>
                  <a:spcPct val="0"/>
                </a:spcBef>
                <a:spcAft>
                  <a:spcPct val="0"/>
                </a:spcAft>
                <a:defRPr>
                  <a:solidFill>
                    <a:schemeClr val="tx1"/>
                  </a:solidFill>
                  <a:latin typeface="Arial" charset="0"/>
                  <a:ea typeface="宋体" charset="0"/>
                </a:defRPr>
              </a:lvl7pPr>
              <a:lvl8pPr marL="3429000" indent="-228600" eaLnBrk="0" fontAlgn="base" hangingPunct="0">
                <a:spcBef>
                  <a:spcPct val="0"/>
                </a:spcBef>
                <a:spcAft>
                  <a:spcPct val="0"/>
                </a:spcAft>
                <a:defRPr>
                  <a:solidFill>
                    <a:schemeClr val="tx1"/>
                  </a:solidFill>
                  <a:latin typeface="Arial" charset="0"/>
                  <a:ea typeface="宋体" charset="0"/>
                </a:defRPr>
              </a:lvl8pPr>
              <a:lvl9pPr marL="3886200" indent="-228600" eaLnBrk="0" fontAlgn="base" hangingPunct="0">
                <a:spcBef>
                  <a:spcPct val="0"/>
                </a:spcBef>
                <a:spcAft>
                  <a:spcPct val="0"/>
                </a:spcAft>
                <a:defRPr>
                  <a:solidFill>
                    <a:schemeClr val="tx1"/>
                  </a:solidFill>
                  <a:latin typeface="Arial" charset="0"/>
                  <a:ea typeface="宋体" charset="0"/>
                </a:defRPr>
              </a:lvl9pPr>
            </a:lstStyle>
            <a:p>
              <a:pPr algn="ctr" eaLnBrk="1" hangingPunct="1"/>
              <a:r>
                <a:rPr lang="en-US" altLang="zh-CN">
                  <a:latin typeface="Times New Roman" charset="0"/>
                  <a:cs typeface="Times New Roman" charset="0"/>
                </a:rPr>
                <a:t>Age (years)</a:t>
              </a:r>
              <a:endParaRPr lang="en-CA">
                <a:latin typeface="Times New Roman" charset="0"/>
                <a:cs typeface="Times New Roman" charset="0"/>
              </a:endParaRPr>
            </a:p>
          </p:txBody>
        </p:sp>
        <p:sp>
          <p:nvSpPr>
            <p:cNvPr id="31786" name="Text Box 2195"/>
            <p:cNvSpPr txBox="1">
              <a:spLocks noChangeArrowheads="1"/>
            </p:cNvSpPr>
            <p:nvPr/>
          </p:nvSpPr>
          <p:spPr bwMode="auto">
            <a:xfrm>
              <a:off x="8270" y="2411"/>
              <a:ext cx="755" cy="4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charset="0"/>
                  <a:ea typeface="宋体" charset="0"/>
                </a:defRPr>
              </a:lvl1pPr>
              <a:lvl2pPr marL="742950" indent="-285750" eaLnBrk="0" hangingPunct="0">
                <a:defRPr>
                  <a:solidFill>
                    <a:schemeClr val="tx1"/>
                  </a:solidFill>
                  <a:latin typeface="Arial" charset="0"/>
                  <a:ea typeface="宋体" charset="0"/>
                </a:defRPr>
              </a:lvl2pPr>
              <a:lvl3pPr marL="1143000" indent="-228600" eaLnBrk="0" hangingPunct="0">
                <a:defRPr>
                  <a:solidFill>
                    <a:schemeClr val="tx1"/>
                  </a:solidFill>
                  <a:latin typeface="Arial" charset="0"/>
                  <a:ea typeface="宋体" charset="0"/>
                </a:defRPr>
              </a:lvl3pPr>
              <a:lvl4pPr marL="1600200" indent="-228600" eaLnBrk="0" hangingPunct="0">
                <a:defRPr>
                  <a:solidFill>
                    <a:schemeClr val="tx1"/>
                  </a:solidFill>
                  <a:latin typeface="Arial" charset="0"/>
                  <a:ea typeface="宋体" charset="0"/>
                </a:defRPr>
              </a:lvl4pPr>
              <a:lvl5pPr marL="2057400" indent="-228600" eaLnBrk="0" hangingPunct="0">
                <a:defRPr>
                  <a:solidFill>
                    <a:schemeClr val="tx1"/>
                  </a:solidFill>
                  <a:latin typeface="Arial" charset="0"/>
                  <a:ea typeface="宋体" charset="0"/>
                </a:defRPr>
              </a:lvl5pPr>
              <a:lvl6pPr marL="2514600" indent="-228600" eaLnBrk="0" fontAlgn="base" hangingPunct="0">
                <a:spcBef>
                  <a:spcPct val="0"/>
                </a:spcBef>
                <a:spcAft>
                  <a:spcPct val="0"/>
                </a:spcAft>
                <a:defRPr>
                  <a:solidFill>
                    <a:schemeClr val="tx1"/>
                  </a:solidFill>
                  <a:latin typeface="Arial" charset="0"/>
                  <a:ea typeface="宋体" charset="0"/>
                </a:defRPr>
              </a:lvl6pPr>
              <a:lvl7pPr marL="2971800" indent="-228600" eaLnBrk="0" fontAlgn="base" hangingPunct="0">
                <a:spcBef>
                  <a:spcPct val="0"/>
                </a:spcBef>
                <a:spcAft>
                  <a:spcPct val="0"/>
                </a:spcAft>
                <a:defRPr>
                  <a:solidFill>
                    <a:schemeClr val="tx1"/>
                  </a:solidFill>
                  <a:latin typeface="Arial" charset="0"/>
                  <a:ea typeface="宋体" charset="0"/>
                </a:defRPr>
              </a:lvl7pPr>
              <a:lvl8pPr marL="3429000" indent="-228600" eaLnBrk="0" fontAlgn="base" hangingPunct="0">
                <a:spcBef>
                  <a:spcPct val="0"/>
                </a:spcBef>
                <a:spcAft>
                  <a:spcPct val="0"/>
                </a:spcAft>
                <a:defRPr>
                  <a:solidFill>
                    <a:schemeClr val="tx1"/>
                  </a:solidFill>
                  <a:latin typeface="Arial" charset="0"/>
                  <a:ea typeface="宋体" charset="0"/>
                </a:defRPr>
              </a:lvl8pPr>
              <a:lvl9pPr marL="3886200" indent="-228600" eaLnBrk="0" fontAlgn="base" hangingPunct="0">
                <a:spcBef>
                  <a:spcPct val="0"/>
                </a:spcBef>
                <a:spcAft>
                  <a:spcPct val="0"/>
                </a:spcAft>
                <a:defRPr>
                  <a:solidFill>
                    <a:schemeClr val="tx1"/>
                  </a:solidFill>
                  <a:latin typeface="Arial" charset="0"/>
                  <a:ea typeface="宋体" charset="0"/>
                </a:defRPr>
              </a:lvl9pPr>
            </a:lstStyle>
            <a:p>
              <a:pPr eaLnBrk="1" hangingPunct="1"/>
              <a:r>
                <a:rPr lang="en-US" altLang="zh-CN" i="1">
                  <a:latin typeface="Times New Roman" charset="0"/>
                  <a:cs typeface="Times New Roman" charset="0"/>
                </a:rPr>
                <a:t>S</a:t>
              </a:r>
              <a:r>
                <a:rPr lang="en-US" altLang="zh-CN">
                  <a:latin typeface="Times New Roman" charset="0"/>
                  <a:cs typeface="Times New Roman" charset="0"/>
                </a:rPr>
                <a:t>(</a:t>
              </a:r>
              <a:r>
                <a:rPr lang="en-US" altLang="zh-CN" i="1">
                  <a:latin typeface="Times New Roman" charset="0"/>
                  <a:cs typeface="Times New Roman" charset="0"/>
                </a:rPr>
                <a:t>t</a:t>
              </a:r>
              <a:r>
                <a:rPr lang="en-US" altLang="zh-CN">
                  <a:latin typeface="Times New Roman" charset="0"/>
                  <a:cs typeface="Times New Roman" charset="0"/>
                </a:rPr>
                <a:t>)</a:t>
              </a:r>
              <a:endParaRPr lang="en-CA">
                <a:latin typeface="Times New Roman" charset="0"/>
                <a:cs typeface="Times New Roman" charset="0"/>
              </a:endParaRPr>
            </a:p>
          </p:txBody>
        </p:sp>
        <p:sp>
          <p:nvSpPr>
            <p:cNvPr id="31787" name="Text Box 2194"/>
            <p:cNvSpPr txBox="1">
              <a:spLocks noChangeArrowheads="1"/>
            </p:cNvSpPr>
            <p:nvPr/>
          </p:nvSpPr>
          <p:spPr bwMode="auto">
            <a:xfrm>
              <a:off x="8270" y="3218"/>
              <a:ext cx="755" cy="44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109728"/>
            <a:lstStyle>
              <a:lvl1pPr eaLnBrk="0" hangingPunct="0">
                <a:defRPr>
                  <a:solidFill>
                    <a:schemeClr val="tx1"/>
                  </a:solidFill>
                  <a:latin typeface="Arial" charset="0"/>
                  <a:ea typeface="宋体" charset="0"/>
                </a:defRPr>
              </a:lvl1pPr>
              <a:lvl2pPr marL="742950" indent="-285750" eaLnBrk="0" hangingPunct="0">
                <a:defRPr>
                  <a:solidFill>
                    <a:schemeClr val="tx1"/>
                  </a:solidFill>
                  <a:latin typeface="Arial" charset="0"/>
                  <a:ea typeface="宋体" charset="0"/>
                </a:defRPr>
              </a:lvl2pPr>
              <a:lvl3pPr marL="1143000" indent="-228600" eaLnBrk="0" hangingPunct="0">
                <a:defRPr>
                  <a:solidFill>
                    <a:schemeClr val="tx1"/>
                  </a:solidFill>
                  <a:latin typeface="Arial" charset="0"/>
                  <a:ea typeface="宋体" charset="0"/>
                </a:defRPr>
              </a:lvl3pPr>
              <a:lvl4pPr marL="1600200" indent="-228600" eaLnBrk="0" hangingPunct="0">
                <a:defRPr>
                  <a:solidFill>
                    <a:schemeClr val="tx1"/>
                  </a:solidFill>
                  <a:latin typeface="Arial" charset="0"/>
                  <a:ea typeface="宋体" charset="0"/>
                </a:defRPr>
              </a:lvl4pPr>
              <a:lvl5pPr marL="2057400" indent="-228600" eaLnBrk="0" hangingPunct="0">
                <a:defRPr>
                  <a:solidFill>
                    <a:schemeClr val="tx1"/>
                  </a:solidFill>
                  <a:latin typeface="Arial" charset="0"/>
                  <a:ea typeface="宋体" charset="0"/>
                </a:defRPr>
              </a:lvl5pPr>
              <a:lvl6pPr marL="2514600" indent="-228600" eaLnBrk="0" fontAlgn="base" hangingPunct="0">
                <a:spcBef>
                  <a:spcPct val="0"/>
                </a:spcBef>
                <a:spcAft>
                  <a:spcPct val="0"/>
                </a:spcAft>
                <a:defRPr>
                  <a:solidFill>
                    <a:schemeClr val="tx1"/>
                  </a:solidFill>
                  <a:latin typeface="Arial" charset="0"/>
                  <a:ea typeface="宋体" charset="0"/>
                </a:defRPr>
              </a:lvl6pPr>
              <a:lvl7pPr marL="2971800" indent="-228600" eaLnBrk="0" fontAlgn="base" hangingPunct="0">
                <a:spcBef>
                  <a:spcPct val="0"/>
                </a:spcBef>
                <a:spcAft>
                  <a:spcPct val="0"/>
                </a:spcAft>
                <a:defRPr>
                  <a:solidFill>
                    <a:schemeClr val="tx1"/>
                  </a:solidFill>
                  <a:latin typeface="Arial" charset="0"/>
                  <a:ea typeface="宋体" charset="0"/>
                </a:defRPr>
              </a:lvl7pPr>
              <a:lvl8pPr marL="3429000" indent="-228600" eaLnBrk="0" fontAlgn="base" hangingPunct="0">
                <a:spcBef>
                  <a:spcPct val="0"/>
                </a:spcBef>
                <a:spcAft>
                  <a:spcPct val="0"/>
                </a:spcAft>
                <a:defRPr>
                  <a:solidFill>
                    <a:schemeClr val="tx1"/>
                  </a:solidFill>
                  <a:latin typeface="Arial" charset="0"/>
                  <a:ea typeface="宋体" charset="0"/>
                </a:defRPr>
              </a:lvl8pPr>
              <a:lvl9pPr marL="3886200" indent="-228600" eaLnBrk="0" fontAlgn="base" hangingPunct="0">
                <a:spcBef>
                  <a:spcPct val="0"/>
                </a:spcBef>
                <a:spcAft>
                  <a:spcPct val="0"/>
                </a:spcAft>
                <a:defRPr>
                  <a:solidFill>
                    <a:schemeClr val="tx1"/>
                  </a:solidFill>
                  <a:latin typeface="Arial" charset="0"/>
                  <a:ea typeface="宋体" charset="0"/>
                </a:defRPr>
              </a:lvl9pPr>
            </a:lstStyle>
            <a:p>
              <a:pPr eaLnBrk="1" hangingPunct="1"/>
              <a:r>
                <a:rPr lang="en-US" altLang="zh-CN" i="1">
                  <a:latin typeface="Times New Roman" charset="0"/>
                  <a:cs typeface="Times New Roman" charset="0"/>
                </a:rPr>
                <a:t>Q</a:t>
              </a:r>
              <a:r>
                <a:rPr lang="en-US" altLang="zh-CN">
                  <a:latin typeface="Times New Roman" charset="0"/>
                  <a:cs typeface="Times New Roman" charset="0"/>
                </a:rPr>
                <a:t>(</a:t>
              </a:r>
              <a:r>
                <a:rPr lang="en-US" altLang="zh-CN" i="1">
                  <a:latin typeface="Times New Roman" charset="0"/>
                  <a:cs typeface="Times New Roman" charset="0"/>
                </a:rPr>
                <a:t>t</a:t>
              </a:r>
              <a:r>
                <a:rPr lang="en-US" altLang="zh-CN">
                  <a:latin typeface="Times New Roman" charset="0"/>
                  <a:cs typeface="Times New Roman" charset="0"/>
                </a:rPr>
                <a:t>)</a:t>
              </a:r>
              <a:endParaRPr lang="en-CA">
                <a:latin typeface="Times New Roman" charset="0"/>
                <a:cs typeface="Times New Roman" charset="0"/>
              </a:endParaRPr>
            </a:p>
          </p:txBody>
        </p:sp>
      </p:grpSp>
      <p:sp>
        <p:nvSpPr>
          <p:cNvPr id="31748" name="Rectangle 59"/>
          <p:cNvSpPr>
            <a:spLocks noChangeArrowheads="1"/>
          </p:cNvSpPr>
          <p:nvPr/>
        </p:nvSpPr>
        <p:spPr bwMode="auto">
          <a:xfrm>
            <a:off x="0" y="45720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p>
            <a:endParaRPr lang="zh-CN" altLang="en-US"/>
          </a:p>
        </p:txBody>
      </p:sp>
      <p:sp>
        <p:nvSpPr>
          <p:cNvPr id="44" name="Footer Placeholder 1"/>
          <p:cNvSpPr>
            <a:spLocks noGrp="1"/>
          </p:cNvSpPr>
          <p:nvPr>
            <p:ph type="ftr" sz="quarter" idx="4294967295"/>
          </p:nvPr>
        </p:nvSpPr>
        <p:spPr>
          <a:xfrm>
            <a:off x="0" y="6286500"/>
            <a:ext cx="2392363" cy="365125"/>
          </a:xfrm>
        </p:spPr>
        <p:txBody>
          <a:bodyPr/>
          <a:lstStyle/>
          <a:p>
            <a:pPr>
              <a:defRPr/>
            </a:pPr>
            <a:r>
              <a:rPr lang="en-US" dirty="0"/>
              <a:t>Adapted from </a:t>
            </a:r>
            <a:r>
              <a:rPr lang="en-US" i="1" dirty="0"/>
              <a:t>Forest Economics </a:t>
            </a:r>
            <a:r>
              <a:rPr lang="en-US" dirty="0"/>
              <a:t>by </a:t>
            </a:r>
            <a:r>
              <a:rPr lang="en-US" dirty="0" err="1"/>
              <a:t>Daowei</a:t>
            </a:r>
            <a:r>
              <a:rPr lang="en-US" dirty="0"/>
              <a:t> Zhang and Peter H. </a:t>
            </a:r>
            <a:r>
              <a:rPr lang="en-US" dirty="0" err="1"/>
              <a:t>Pearse</a:t>
            </a:r>
            <a:r>
              <a:rPr lang="en-US" dirty="0"/>
              <a:t>, published by UBC Press, 2011. </a:t>
            </a:r>
            <a:endParaRPr lang="en-CA" dirty="0"/>
          </a:p>
        </p:txBody>
      </p:sp>
      <p:sp>
        <p:nvSpPr>
          <p:cNvPr id="2" name="矩形 1"/>
          <p:cNvSpPr/>
          <p:nvPr/>
        </p:nvSpPr>
        <p:spPr>
          <a:xfrm>
            <a:off x="4101513" y="900548"/>
            <a:ext cx="2481864" cy="369332"/>
          </a:xfrm>
          <a:prstGeom prst="rect">
            <a:avLst/>
          </a:prstGeom>
        </p:spPr>
        <p:txBody>
          <a:bodyPr wrap="square">
            <a:spAutoFit/>
          </a:bodyPr>
          <a:lstStyle/>
          <a:p>
            <a:r>
              <a:rPr lang="en-US" altLang="zh-CN" b="1"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S</a:t>
            </a:r>
            <a:r>
              <a:rPr lang="zh-CN" altLang="en-US" b="1"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a:t>
            </a:r>
            <a:r>
              <a:rPr lang="en-US" altLang="zh-CN" b="1"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t</a:t>
            </a:r>
            <a:r>
              <a:rPr lang="zh-CN" altLang="en-US" b="1"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a:t>
            </a:r>
            <a:r>
              <a:rPr lang="en-US" altLang="zh-CN" b="1"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=P</a:t>
            </a:r>
            <a:r>
              <a:rPr lang="zh-CN" altLang="en-US" b="1"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a:t>
            </a:r>
            <a:r>
              <a:rPr lang="en-US" altLang="zh-CN" b="1"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Q</a:t>
            </a:r>
            <a:r>
              <a:rPr lang="zh-CN" altLang="en-US" b="1"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a:t>
            </a:r>
            <a:r>
              <a:rPr lang="en-US" altLang="zh-CN" b="1"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t</a:t>
            </a:r>
            <a:r>
              <a:rPr lang="zh-CN" altLang="en-US" b="1"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a:t>
            </a:r>
            <a:endParaRPr lang="en-US" altLang="zh-CN" b="1"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endParaRPr>
          </a:p>
        </p:txBody>
      </p:sp>
    </p:spTree>
    <p:extLst>
      <p:ext uri="{BB962C8B-B14F-4D97-AF65-F5344CB8AC3E}">
        <p14:creationId xmlns:p14="http://schemas.microsoft.com/office/powerpoint/2010/main" val="296061983"/>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p:cNvGraphicFramePr>
            <a:graphicFrameLocks noGrp="1"/>
          </p:cNvGraphicFramePr>
          <p:nvPr>
            <p:extLst>
              <p:ext uri="{D42A27DB-BD31-4B8C-83A1-F6EECF244321}">
                <p14:modId xmlns:p14="http://schemas.microsoft.com/office/powerpoint/2010/main" val="4264499732"/>
              </p:ext>
            </p:extLst>
          </p:nvPr>
        </p:nvGraphicFramePr>
        <p:xfrm>
          <a:off x="767034" y="3023618"/>
          <a:ext cx="8168640" cy="3273552"/>
        </p:xfrm>
        <a:graphic>
          <a:graphicData uri="http://schemas.openxmlformats.org/drawingml/2006/table">
            <a:tbl>
              <a:tblPr firstRow="1" bandRow="1">
                <a:tableStyleId>{7DF18680-E054-41AD-8BC1-D1AEF772440D}</a:tableStyleId>
              </a:tblPr>
              <a:tblGrid>
                <a:gridCol w="1361440">
                  <a:extLst>
                    <a:ext uri="{9D8B030D-6E8A-4147-A177-3AD203B41FA5}">
                      <a16:colId xmlns:a16="http://schemas.microsoft.com/office/drawing/2014/main" val="20000"/>
                    </a:ext>
                  </a:extLst>
                </a:gridCol>
                <a:gridCol w="1361440">
                  <a:extLst>
                    <a:ext uri="{9D8B030D-6E8A-4147-A177-3AD203B41FA5}">
                      <a16:colId xmlns:a16="http://schemas.microsoft.com/office/drawing/2014/main" val="20001"/>
                    </a:ext>
                  </a:extLst>
                </a:gridCol>
                <a:gridCol w="1361440">
                  <a:extLst>
                    <a:ext uri="{9D8B030D-6E8A-4147-A177-3AD203B41FA5}">
                      <a16:colId xmlns:a16="http://schemas.microsoft.com/office/drawing/2014/main" val="20002"/>
                    </a:ext>
                  </a:extLst>
                </a:gridCol>
                <a:gridCol w="1361440">
                  <a:extLst>
                    <a:ext uri="{9D8B030D-6E8A-4147-A177-3AD203B41FA5}">
                      <a16:colId xmlns:a16="http://schemas.microsoft.com/office/drawing/2014/main" val="20003"/>
                    </a:ext>
                  </a:extLst>
                </a:gridCol>
                <a:gridCol w="1361440">
                  <a:extLst>
                    <a:ext uri="{9D8B030D-6E8A-4147-A177-3AD203B41FA5}">
                      <a16:colId xmlns:a16="http://schemas.microsoft.com/office/drawing/2014/main" val="20004"/>
                    </a:ext>
                  </a:extLst>
                </a:gridCol>
                <a:gridCol w="1361440">
                  <a:extLst>
                    <a:ext uri="{9D8B030D-6E8A-4147-A177-3AD203B41FA5}">
                      <a16:colId xmlns:a16="http://schemas.microsoft.com/office/drawing/2014/main" val="20005"/>
                    </a:ext>
                  </a:extLst>
                </a:gridCol>
              </a:tblGrid>
              <a:tr h="786384">
                <a:tc>
                  <a:txBody>
                    <a:bodyPr/>
                    <a:lstStyle/>
                    <a:p>
                      <a:pPr algn="ctr"/>
                      <a:endParaRPr lang="zh-CN" altLang="en-US" dirty="0"/>
                    </a:p>
                  </a:txBody>
                  <a:tcPr anchor="ctr">
                    <a:cell3D prstMaterial="dkEdge">
                      <a:bevel prst="coolSlant"/>
                      <a:lightRig rig="flood" dir="t"/>
                    </a:cell3D>
                  </a:tcPr>
                </a:tc>
                <a:tc>
                  <a:txBody>
                    <a:bodyPr/>
                    <a:lstStyle/>
                    <a:p>
                      <a:pPr algn="ctr"/>
                      <a:r>
                        <a:rPr lang="en-US" altLang="zh-CN" dirty="0"/>
                        <a:t>1</a:t>
                      </a:r>
                      <a:endParaRPr lang="zh-CN" altLang="en-US" dirty="0"/>
                    </a:p>
                  </a:txBody>
                  <a:tcPr anchor="ctr">
                    <a:cell3D prstMaterial="dkEdge">
                      <a:bevel prst="coolSlant"/>
                      <a:lightRig rig="flood" dir="t"/>
                    </a:cell3D>
                  </a:tcPr>
                </a:tc>
                <a:tc>
                  <a:txBody>
                    <a:bodyPr/>
                    <a:lstStyle/>
                    <a:p>
                      <a:pPr algn="ctr"/>
                      <a:r>
                        <a:rPr lang="en-US" altLang="zh-CN" dirty="0"/>
                        <a:t>2</a:t>
                      </a:r>
                      <a:endParaRPr lang="zh-CN" altLang="en-US" dirty="0"/>
                    </a:p>
                  </a:txBody>
                  <a:tcPr anchor="ctr">
                    <a:cell3D prstMaterial="dkEdge">
                      <a:bevel prst="coolSlant"/>
                      <a:lightRig rig="flood" dir="t"/>
                    </a:cell3D>
                  </a:tcPr>
                </a:tc>
                <a:tc>
                  <a:txBody>
                    <a:bodyPr/>
                    <a:lstStyle/>
                    <a:p>
                      <a:pPr algn="ctr"/>
                      <a:r>
                        <a:rPr lang="en-US" altLang="zh-CN" dirty="0"/>
                        <a:t>3</a:t>
                      </a:r>
                      <a:endParaRPr lang="zh-CN" altLang="en-US" dirty="0"/>
                    </a:p>
                  </a:txBody>
                  <a:tcPr anchor="ctr">
                    <a:cell3D prstMaterial="dkEdge">
                      <a:bevel prst="coolSlant"/>
                      <a:lightRig rig="flood" dir="t"/>
                    </a:cell3D>
                  </a:tcPr>
                </a:tc>
                <a:tc>
                  <a:txBody>
                    <a:bodyPr/>
                    <a:lstStyle/>
                    <a:p>
                      <a:pPr algn="ctr"/>
                      <a:r>
                        <a:rPr lang="en-US" altLang="zh-CN" dirty="0"/>
                        <a:t>4</a:t>
                      </a:r>
                      <a:endParaRPr lang="zh-CN" altLang="en-US" dirty="0"/>
                    </a:p>
                  </a:txBody>
                  <a:tcPr anchor="ctr">
                    <a:cell3D prstMaterial="dkEdge">
                      <a:bevel prst="coolSlant"/>
                      <a:lightRig rig="flood" dir="t"/>
                    </a:cell3D>
                  </a:tcPr>
                </a:tc>
                <a:tc>
                  <a:txBody>
                    <a:bodyPr/>
                    <a:lstStyle/>
                    <a:p>
                      <a:pPr algn="ctr"/>
                      <a:r>
                        <a:rPr lang="en-US" altLang="zh-CN" dirty="0"/>
                        <a:t>5</a:t>
                      </a:r>
                      <a:endParaRPr lang="zh-CN" altLang="en-US" dirty="0"/>
                    </a:p>
                  </a:txBody>
                  <a:tcPr anchor="ctr">
                    <a:cell3D prstMaterial="dkEdge">
                      <a:bevel prst="coolSlant"/>
                      <a:lightRig rig="flood" dir="t"/>
                    </a:cell3D>
                  </a:tcPr>
                </a:tc>
                <a:extLst>
                  <a:ext uri="{0D108BD9-81ED-4DB2-BD59-A6C34878D82A}">
                    <a16:rowId xmlns:a16="http://schemas.microsoft.com/office/drawing/2014/main" val="10000"/>
                  </a:ext>
                </a:extLst>
              </a:tr>
              <a:tr h="786384">
                <a:tc>
                  <a:txBody>
                    <a:bodyPr/>
                    <a:lstStyle/>
                    <a:p>
                      <a:pPr algn="ctr"/>
                      <a:r>
                        <a:rPr lang="zh-CN" altLang="en-US" dirty="0"/>
                        <a:t>总价值</a:t>
                      </a:r>
                      <a:r>
                        <a:rPr lang="en-US" altLang="zh-CN" dirty="0"/>
                        <a:t>S</a:t>
                      </a:r>
                      <a:r>
                        <a:rPr lang="zh-CN" altLang="en-US" dirty="0"/>
                        <a:t>（</a:t>
                      </a:r>
                      <a:r>
                        <a:rPr lang="en-US" altLang="zh-CN" dirty="0"/>
                        <a:t>t</a:t>
                      </a:r>
                      <a:r>
                        <a:rPr lang="zh-CN" altLang="en-US" dirty="0"/>
                        <a:t>）</a:t>
                      </a:r>
                    </a:p>
                  </a:txBody>
                  <a:tcPr anchor="ctr">
                    <a:cell3D prstMaterial="dkEdge">
                      <a:bevel w="77470" h="12700" prst="softRound"/>
                      <a:lightRig rig="flood" dir="t"/>
                    </a:cell3D>
                  </a:tcPr>
                </a:tc>
                <a:tc>
                  <a:txBody>
                    <a:bodyPr/>
                    <a:lstStyle/>
                    <a:p>
                      <a:pPr algn="ctr"/>
                      <a:r>
                        <a:rPr lang="en-US" altLang="zh-CN" dirty="0"/>
                        <a:t>0</a:t>
                      </a:r>
                      <a:endParaRPr lang="zh-CN" altLang="en-US" dirty="0"/>
                    </a:p>
                  </a:txBody>
                  <a:tcPr anchor="ctr">
                    <a:cell3D prstMaterial="dkEdge">
                      <a:bevel w="77470" h="12700" prst="softRound"/>
                      <a:lightRig rig="flood" dir="t"/>
                    </a:cell3D>
                  </a:tcPr>
                </a:tc>
                <a:tc>
                  <a:txBody>
                    <a:bodyPr/>
                    <a:lstStyle/>
                    <a:p>
                      <a:pPr algn="ctr"/>
                      <a:r>
                        <a:rPr lang="en-US" altLang="zh-CN" dirty="0"/>
                        <a:t>1</a:t>
                      </a:r>
                      <a:endParaRPr lang="zh-CN" altLang="en-US" dirty="0"/>
                    </a:p>
                  </a:txBody>
                  <a:tcPr anchor="ctr">
                    <a:cell3D prstMaterial="dkEdge">
                      <a:bevel w="77470" h="12700" prst="softRound"/>
                      <a:lightRig rig="flood" dir="t"/>
                    </a:cell3D>
                  </a:tcPr>
                </a:tc>
                <a:tc>
                  <a:txBody>
                    <a:bodyPr/>
                    <a:lstStyle/>
                    <a:p>
                      <a:pPr algn="ctr"/>
                      <a:r>
                        <a:rPr lang="en-US" altLang="zh-CN" dirty="0"/>
                        <a:t>3</a:t>
                      </a:r>
                      <a:endParaRPr lang="zh-CN" altLang="en-US" dirty="0"/>
                    </a:p>
                  </a:txBody>
                  <a:tcPr anchor="ctr">
                    <a:cell3D prstMaterial="dkEdge">
                      <a:bevel w="77470" h="12700" prst="softRound"/>
                      <a:lightRig rig="flood" dir="t"/>
                    </a:cell3D>
                  </a:tcPr>
                </a:tc>
                <a:tc>
                  <a:txBody>
                    <a:bodyPr/>
                    <a:lstStyle/>
                    <a:p>
                      <a:pPr algn="ctr"/>
                      <a:r>
                        <a:rPr lang="en-US" altLang="zh-CN" dirty="0"/>
                        <a:t>4</a:t>
                      </a:r>
                      <a:endParaRPr lang="zh-CN" altLang="en-US" dirty="0"/>
                    </a:p>
                  </a:txBody>
                  <a:tcPr anchor="ctr">
                    <a:cell3D prstMaterial="dkEdge">
                      <a:bevel w="77470" h="12700" prst="softRound"/>
                      <a:lightRig rig="flood" dir="t"/>
                    </a:cell3D>
                  </a:tcPr>
                </a:tc>
                <a:tc>
                  <a:txBody>
                    <a:bodyPr/>
                    <a:lstStyle/>
                    <a:p>
                      <a:pPr algn="ctr"/>
                      <a:r>
                        <a:rPr lang="en-US" altLang="zh-CN" dirty="0"/>
                        <a:t>4</a:t>
                      </a:r>
                      <a:endParaRPr lang="zh-CN" altLang="en-US" dirty="0"/>
                    </a:p>
                  </a:txBody>
                  <a:tcPr anchor="ctr">
                    <a:cell3D prstMaterial="dkEdge">
                      <a:bevel w="77470" h="12700" prst="softRound"/>
                      <a:lightRig rig="flood" dir="t"/>
                    </a:cell3D>
                  </a:tcPr>
                </a:tc>
                <a:extLst>
                  <a:ext uri="{0D108BD9-81ED-4DB2-BD59-A6C34878D82A}">
                    <a16:rowId xmlns:a16="http://schemas.microsoft.com/office/drawing/2014/main" val="10001"/>
                  </a:ext>
                </a:extLst>
              </a:tr>
              <a:tr h="786384">
                <a:tc>
                  <a:txBody>
                    <a:bodyPr/>
                    <a:lstStyle/>
                    <a:p>
                      <a:pPr algn="ctr"/>
                      <a:r>
                        <a:rPr lang="zh-CN" altLang="en-US" dirty="0"/>
                        <a:t>平均增长量</a:t>
                      </a:r>
                      <a:r>
                        <a:rPr lang="en-US" altLang="zh-CN" dirty="0"/>
                        <a:t>S</a:t>
                      </a:r>
                      <a:r>
                        <a:rPr lang="zh-CN" altLang="en-US" dirty="0"/>
                        <a:t>（</a:t>
                      </a:r>
                      <a:r>
                        <a:rPr lang="en-US" altLang="zh-CN" dirty="0"/>
                        <a:t>t</a:t>
                      </a:r>
                      <a:r>
                        <a:rPr lang="zh-CN" altLang="en-US" dirty="0"/>
                        <a:t>）</a:t>
                      </a:r>
                      <a:r>
                        <a:rPr lang="en-US" altLang="zh-CN" dirty="0"/>
                        <a:t>/t</a:t>
                      </a:r>
                      <a:endParaRPr lang="zh-CN" altLang="en-US" dirty="0"/>
                    </a:p>
                  </a:txBody>
                  <a:tcPr anchor="ctr">
                    <a:cell3D prstMaterial="dkEdge">
                      <a:bevel w="77470" h="12700" prst="softRound"/>
                      <a:lightRig rig="flood" dir="t"/>
                    </a:cell3D>
                  </a:tcPr>
                </a:tc>
                <a:tc>
                  <a:txBody>
                    <a:bodyPr/>
                    <a:lstStyle/>
                    <a:p>
                      <a:pPr algn="ctr"/>
                      <a:r>
                        <a:rPr lang="en-US" altLang="zh-CN" dirty="0"/>
                        <a:t>0</a:t>
                      </a:r>
                      <a:endParaRPr lang="zh-CN" altLang="en-US" dirty="0"/>
                    </a:p>
                  </a:txBody>
                  <a:tcPr anchor="ctr">
                    <a:cell3D prstMaterial="dkEdge">
                      <a:bevel w="77470" h="12700" prst="softRound"/>
                      <a:lightRig rig="flood" dir="t"/>
                    </a:cell3D>
                  </a:tcPr>
                </a:tc>
                <a:tc>
                  <a:txBody>
                    <a:bodyPr/>
                    <a:lstStyle/>
                    <a:p>
                      <a:pPr algn="ctr"/>
                      <a:r>
                        <a:rPr lang="en-US" altLang="zh-CN" dirty="0"/>
                        <a:t>0.5</a:t>
                      </a:r>
                      <a:endParaRPr lang="zh-CN" altLang="en-US" dirty="0"/>
                    </a:p>
                  </a:txBody>
                  <a:tcPr anchor="ctr">
                    <a:cell3D prstMaterial="dkEdge">
                      <a:bevel w="77470" h="12700" prst="softRound"/>
                      <a:lightRig rig="flood" dir="t"/>
                    </a:cell3D>
                  </a:tcPr>
                </a:tc>
                <a:tc>
                  <a:txBody>
                    <a:bodyPr/>
                    <a:lstStyle/>
                    <a:p>
                      <a:pPr algn="ctr"/>
                      <a:r>
                        <a:rPr lang="en-US" altLang="zh-CN" dirty="0"/>
                        <a:t>1</a:t>
                      </a:r>
                      <a:endParaRPr lang="zh-CN" altLang="en-US" dirty="0"/>
                    </a:p>
                  </a:txBody>
                  <a:tcPr anchor="ctr">
                    <a:cell3D prstMaterial="dkEdge">
                      <a:bevel w="77470" h="12700" prst="softRound"/>
                      <a:lightRig rig="flood" dir="t"/>
                    </a:cell3D>
                  </a:tcPr>
                </a:tc>
                <a:tc>
                  <a:txBody>
                    <a:bodyPr/>
                    <a:lstStyle/>
                    <a:p>
                      <a:pPr algn="ctr"/>
                      <a:r>
                        <a:rPr lang="en-US" altLang="zh-CN" dirty="0"/>
                        <a:t>1</a:t>
                      </a:r>
                      <a:endParaRPr lang="zh-CN" altLang="en-US" dirty="0"/>
                    </a:p>
                  </a:txBody>
                  <a:tcPr anchor="ctr">
                    <a:cell3D prstMaterial="dkEdge">
                      <a:bevel w="77470" h="12700" prst="softRound"/>
                      <a:lightRig rig="flood" dir="t"/>
                    </a:cell3D>
                  </a:tcPr>
                </a:tc>
                <a:tc>
                  <a:txBody>
                    <a:bodyPr/>
                    <a:lstStyle/>
                    <a:p>
                      <a:pPr algn="ctr"/>
                      <a:r>
                        <a:rPr lang="en-US" altLang="zh-CN" dirty="0"/>
                        <a:t>0.8</a:t>
                      </a:r>
                      <a:endParaRPr lang="zh-CN" altLang="en-US" dirty="0"/>
                    </a:p>
                  </a:txBody>
                  <a:tcPr anchor="ctr">
                    <a:cell3D prstMaterial="dkEdge">
                      <a:bevel w="77470" h="12700" prst="softRound"/>
                      <a:lightRig rig="flood" dir="t"/>
                    </a:cell3D>
                  </a:tcPr>
                </a:tc>
                <a:extLst>
                  <a:ext uri="{0D108BD9-81ED-4DB2-BD59-A6C34878D82A}">
                    <a16:rowId xmlns:a16="http://schemas.microsoft.com/office/drawing/2014/main" val="10002"/>
                  </a:ext>
                </a:extLst>
              </a:tr>
              <a:tr h="786384">
                <a:tc>
                  <a:txBody>
                    <a:bodyPr/>
                    <a:lstStyle/>
                    <a:p>
                      <a:pPr algn="ctr"/>
                      <a:r>
                        <a:rPr lang="zh-CN" altLang="en-US" dirty="0"/>
                        <a:t>边际增长量</a:t>
                      </a:r>
                      <a:r>
                        <a:rPr lang="en-US" altLang="zh-CN" dirty="0"/>
                        <a:t>S</a:t>
                      </a:r>
                      <a:r>
                        <a:rPr lang="zh-CN" altLang="en-US" dirty="0"/>
                        <a:t>（</a:t>
                      </a:r>
                      <a:r>
                        <a:rPr lang="en-US" altLang="zh-CN" dirty="0"/>
                        <a:t>t+1</a:t>
                      </a:r>
                      <a:r>
                        <a:rPr lang="zh-CN" altLang="en-US" dirty="0"/>
                        <a:t>）</a:t>
                      </a:r>
                      <a:r>
                        <a:rPr lang="en-US" altLang="zh-CN" dirty="0"/>
                        <a:t>-S</a:t>
                      </a:r>
                      <a:r>
                        <a:rPr lang="zh-CN" altLang="en-US" dirty="0"/>
                        <a:t>（</a:t>
                      </a:r>
                      <a:r>
                        <a:rPr lang="en-US" altLang="zh-CN" dirty="0"/>
                        <a:t>t</a:t>
                      </a:r>
                      <a:r>
                        <a:rPr lang="zh-CN" altLang="en-US" dirty="0"/>
                        <a:t>）</a:t>
                      </a:r>
                    </a:p>
                  </a:txBody>
                  <a:tcPr anchor="ctr">
                    <a:cell3D prstMaterial="dkEdge">
                      <a:bevel w="77470" h="12700" prst="softRound"/>
                      <a:lightRig rig="flood" dir="t"/>
                    </a:cell3D>
                  </a:tcPr>
                </a:tc>
                <a:tc>
                  <a:txBody>
                    <a:bodyPr/>
                    <a:lstStyle/>
                    <a:p>
                      <a:pPr algn="ctr"/>
                      <a:r>
                        <a:rPr lang="en-US" altLang="zh-CN" dirty="0"/>
                        <a:t>1</a:t>
                      </a:r>
                      <a:endParaRPr lang="zh-CN" altLang="en-US" dirty="0"/>
                    </a:p>
                  </a:txBody>
                  <a:tcPr anchor="ctr">
                    <a:cell3D prstMaterial="dkEdge">
                      <a:bevel w="77470" h="12700" prst="softRound"/>
                      <a:lightRig rig="flood" dir="t"/>
                    </a:cell3D>
                  </a:tcPr>
                </a:tc>
                <a:tc>
                  <a:txBody>
                    <a:bodyPr/>
                    <a:lstStyle/>
                    <a:p>
                      <a:pPr algn="ctr"/>
                      <a:r>
                        <a:rPr lang="en-US" altLang="zh-CN" dirty="0"/>
                        <a:t>2</a:t>
                      </a:r>
                      <a:endParaRPr lang="zh-CN" altLang="en-US" dirty="0"/>
                    </a:p>
                  </a:txBody>
                  <a:tcPr anchor="ctr">
                    <a:cell3D prstMaterial="dkEdge">
                      <a:bevel w="77470" h="12700" prst="softRound"/>
                      <a:lightRig rig="flood" dir="t"/>
                    </a:cell3D>
                  </a:tcPr>
                </a:tc>
                <a:tc>
                  <a:txBody>
                    <a:bodyPr/>
                    <a:lstStyle/>
                    <a:p>
                      <a:pPr algn="ctr"/>
                      <a:r>
                        <a:rPr lang="en-US" altLang="zh-CN" dirty="0"/>
                        <a:t>1</a:t>
                      </a:r>
                      <a:endParaRPr lang="zh-CN" altLang="en-US" dirty="0"/>
                    </a:p>
                  </a:txBody>
                  <a:tcPr anchor="ctr">
                    <a:cell3D prstMaterial="dkEdge">
                      <a:bevel w="77470" h="12700" prst="softRound"/>
                      <a:lightRig rig="flood" dir="t"/>
                    </a:cell3D>
                  </a:tcPr>
                </a:tc>
                <a:tc>
                  <a:txBody>
                    <a:bodyPr/>
                    <a:lstStyle/>
                    <a:p>
                      <a:pPr algn="ctr"/>
                      <a:r>
                        <a:rPr lang="en-US" altLang="zh-CN" dirty="0"/>
                        <a:t>0</a:t>
                      </a:r>
                      <a:endParaRPr lang="zh-CN" altLang="en-US" dirty="0"/>
                    </a:p>
                  </a:txBody>
                  <a:tcPr anchor="ctr">
                    <a:cell3D prstMaterial="dkEdge">
                      <a:bevel w="77470" h="12700" prst="softRound"/>
                      <a:lightRig rig="flood" dir="t"/>
                    </a:cell3D>
                  </a:tcPr>
                </a:tc>
                <a:tc>
                  <a:txBody>
                    <a:bodyPr/>
                    <a:lstStyle/>
                    <a:p>
                      <a:pPr algn="ctr"/>
                      <a:endParaRPr lang="zh-CN" altLang="en-US" dirty="0"/>
                    </a:p>
                  </a:txBody>
                  <a:tcPr anchor="ctr">
                    <a:cell3D prstMaterial="dkEdge">
                      <a:bevel w="77470" h="12700" prst="softRound"/>
                      <a:lightRig rig="flood" dir="t"/>
                    </a:cell3D>
                  </a:tcPr>
                </a:tc>
                <a:extLst>
                  <a:ext uri="{0D108BD9-81ED-4DB2-BD59-A6C34878D82A}">
                    <a16:rowId xmlns:a16="http://schemas.microsoft.com/office/drawing/2014/main" val="10003"/>
                  </a:ext>
                </a:extLst>
              </a:tr>
            </a:tbl>
          </a:graphicData>
        </a:graphic>
      </p:graphicFrame>
      <p:cxnSp>
        <p:nvCxnSpPr>
          <p:cNvPr id="5" name="直接连接符 4"/>
          <p:cNvCxnSpPr/>
          <p:nvPr/>
        </p:nvCxnSpPr>
        <p:spPr>
          <a:xfrm>
            <a:off x="767034" y="3023618"/>
            <a:ext cx="1341120" cy="792478"/>
          </a:xfrm>
          <a:prstGeom prst="line">
            <a:avLst/>
          </a:prstGeom>
        </p:spPr>
        <p:style>
          <a:lnRef idx="1">
            <a:schemeClr val="accent1"/>
          </a:lnRef>
          <a:fillRef idx="0">
            <a:schemeClr val="accent1"/>
          </a:fillRef>
          <a:effectRef idx="0">
            <a:schemeClr val="accent1"/>
          </a:effectRef>
          <a:fontRef idx="minor">
            <a:schemeClr val="tx1"/>
          </a:fontRef>
        </p:style>
      </p:cxnSp>
      <p:sp>
        <p:nvSpPr>
          <p:cNvPr id="6" name="文本框 5"/>
          <p:cNvSpPr txBox="1"/>
          <p:nvPr/>
        </p:nvSpPr>
        <p:spPr>
          <a:xfrm>
            <a:off x="1437594" y="3023618"/>
            <a:ext cx="293670" cy="523220"/>
          </a:xfrm>
          <a:prstGeom prst="rect">
            <a:avLst/>
          </a:prstGeom>
          <a:noFill/>
        </p:spPr>
        <p:txBody>
          <a:bodyPr wrap="none" rtlCol="0">
            <a:spAutoFit/>
          </a:bodyPr>
          <a:lstStyle/>
          <a:p>
            <a:r>
              <a:rPr lang="en-US" altLang="zh-CN" sz="2800" dirty="0"/>
              <a:t>t</a:t>
            </a:r>
            <a:endParaRPr lang="zh-CN" altLang="en-US" sz="2800" dirty="0"/>
          </a:p>
        </p:txBody>
      </p:sp>
      <p:sp>
        <p:nvSpPr>
          <p:cNvPr id="7" name="文本框 6"/>
          <p:cNvSpPr txBox="1"/>
          <p:nvPr/>
        </p:nvSpPr>
        <p:spPr>
          <a:xfrm>
            <a:off x="872992" y="3292876"/>
            <a:ext cx="375424" cy="523220"/>
          </a:xfrm>
          <a:prstGeom prst="rect">
            <a:avLst/>
          </a:prstGeom>
          <a:noFill/>
        </p:spPr>
        <p:txBody>
          <a:bodyPr wrap="none" rtlCol="0">
            <a:spAutoFit/>
          </a:bodyPr>
          <a:lstStyle/>
          <a:p>
            <a:r>
              <a:rPr lang="en-US" altLang="zh-CN" sz="2800" dirty="0"/>
              <a:t>S</a:t>
            </a:r>
            <a:endParaRPr lang="zh-CN" altLang="en-US" sz="2800" dirty="0"/>
          </a:p>
        </p:txBody>
      </p:sp>
      <p:sp>
        <p:nvSpPr>
          <p:cNvPr id="8" name="文本框 7"/>
          <p:cNvSpPr txBox="1"/>
          <p:nvPr/>
        </p:nvSpPr>
        <p:spPr>
          <a:xfrm>
            <a:off x="748817" y="631386"/>
            <a:ext cx="8186857" cy="1938992"/>
          </a:xfrm>
          <a:prstGeom prst="rect">
            <a:avLst/>
          </a:prstGeom>
          <a:noFill/>
        </p:spPr>
        <p:txBody>
          <a:bodyPr wrap="none" rtlCol="0">
            <a:spAutoFit/>
            <a:scene3d>
              <a:camera prst="orthographicFront"/>
              <a:lightRig rig="harsh" dir="t"/>
            </a:scene3d>
            <a:sp3d extrusionH="57150" prstMaterial="matte">
              <a:bevelT w="63500" h="12700" prst="angle"/>
              <a:contourClr>
                <a:schemeClr val="bg1">
                  <a:lumMod val="65000"/>
                </a:schemeClr>
              </a:contourClr>
            </a:sp3d>
          </a:bodyPr>
          <a:lstStyle/>
          <a:p>
            <a:r>
              <a:rPr lang="zh-CN" altLang="en-US" sz="2400" b="1" dirty="0">
                <a:ln/>
                <a:solidFill>
                  <a:schemeClr val="accent4">
                    <a:lumMod val="75000"/>
                  </a:schemeClr>
                </a:solidFill>
              </a:rPr>
              <a:t>当平均增长量等于边际增长量时，平均增长量达到最大值</a:t>
            </a:r>
            <a:endParaRPr lang="en-US" altLang="zh-CN" sz="2400" b="1" dirty="0">
              <a:ln/>
              <a:solidFill>
                <a:schemeClr val="accent4">
                  <a:lumMod val="75000"/>
                </a:schemeClr>
              </a:solidFill>
            </a:endParaRPr>
          </a:p>
          <a:p>
            <a:endParaRPr lang="en-US" altLang="zh-CN" sz="2400" b="1" dirty="0">
              <a:ln/>
              <a:solidFill>
                <a:schemeClr val="accent4">
                  <a:lumMod val="75000"/>
                </a:schemeClr>
              </a:solidFill>
            </a:endParaRPr>
          </a:p>
          <a:p>
            <a:r>
              <a:rPr lang="zh-CN" altLang="en-US" sz="2400" b="1" dirty="0">
                <a:ln/>
                <a:solidFill>
                  <a:schemeClr val="accent4">
                    <a:lumMod val="75000"/>
                  </a:schemeClr>
                </a:solidFill>
              </a:rPr>
              <a:t>当边际增长</a:t>
            </a:r>
            <a:r>
              <a:rPr lang="zh-CN" altLang="en-US" sz="2400" b="1">
                <a:ln/>
                <a:solidFill>
                  <a:schemeClr val="accent4">
                    <a:lumMod val="75000"/>
                  </a:schemeClr>
                </a:solidFill>
              </a:rPr>
              <a:t>量大于平均增长</a:t>
            </a:r>
            <a:r>
              <a:rPr lang="zh-CN" altLang="en-US" sz="2400" b="1" dirty="0">
                <a:ln/>
                <a:solidFill>
                  <a:schemeClr val="accent4">
                    <a:lumMod val="75000"/>
                  </a:schemeClr>
                </a:solidFill>
              </a:rPr>
              <a:t>量时，平均增长曲线进一步上升</a:t>
            </a:r>
            <a:endParaRPr lang="en-US" altLang="zh-CN" sz="2400" b="1" dirty="0">
              <a:ln/>
              <a:solidFill>
                <a:schemeClr val="accent4">
                  <a:lumMod val="75000"/>
                </a:schemeClr>
              </a:solidFill>
            </a:endParaRPr>
          </a:p>
          <a:p>
            <a:endParaRPr lang="en-US" altLang="zh-CN" sz="2400" b="1" dirty="0">
              <a:ln/>
              <a:solidFill>
                <a:schemeClr val="accent4">
                  <a:lumMod val="75000"/>
                </a:schemeClr>
              </a:solidFill>
            </a:endParaRPr>
          </a:p>
          <a:p>
            <a:r>
              <a:rPr lang="zh-CN" altLang="en-US" sz="2400" b="1" dirty="0">
                <a:ln/>
                <a:solidFill>
                  <a:schemeClr val="accent4">
                    <a:lumMod val="75000"/>
                  </a:schemeClr>
                </a:solidFill>
              </a:rPr>
              <a:t>当边际增长量小于平均增长量时，平均增长曲线开始下降</a:t>
            </a:r>
          </a:p>
        </p:txBody>
      </p:sp>
    </p:spTree>
    <p:extLst>
      <p:ext uri="{BB962C8B-B14F-4D97-AF65-F5344CB8AC3E}">
        <p14:creationId xmlns:p14="http://schemas.microsoft.com/office/powerpoint/2010/main" val="210798208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730591" y="0"/>
            <a:ext cx="2427511" cy="5096293"/>
          </a:xfrm>
        </p:spPr>
        <p:txBody>
          <a:bodyPr/>
          <a:lstStyle/>
          <a:p>
            <a:r>
              <a:rPr lang="zh-CN" altLang="en-US" dirty="0">
                <a:effectLst>
                  <a:innerShdw blurRad="63500" dist="50800" dir="13500000">
                    <a:prstClr val="black">
                      <a:alpha val="50000"/>
                    </a:prstClr>
                  </a:innerShdw>
                </a:effectLst>
              </a:rPr>
              <a:t>两个重要术语：</a:t>
            </a:r>
            <a:br>
              <a:rPr lang="en-US" altLang="zh-CN" dirty="0">
                <a:effectLst>
                  <a:innerShdw blurRad="63500" dist="50800" dir="13500000">
                    <a:prstClr val="black">
                      <a:alpha val="50000"/>
                    </a:prstClr>
                  </a:innerShdw>
                </a:effectLst>
              </a:rPr>
            </a:br>
            <a:r>
              <a:rPr lang="en-US" altLang="zh-CN" dirty="0">
                <a:effectLst>
                  <a:innerShdw blurRad="63500" dist="50800" dir="13500000">
                    <a:prstClr val="black">
                      <a:alpha val="50000"/>
                    </a:prstClr>
                  </a:innerShdw>
                </a:effectLst>
              </a:rPr>
              <a:t>MAI</a:t>
            </a:r>
            <a:r>
              <a:rPr lang="zh-CN" altLang="en-US" dirty="0">
                <a:effectLst>
                  <a:innerShdw blurRad="63500" dist="50800" dir="13500000">
                    <a:prstClr val="black">
                      <a:alpha val="50000"/>
                    </a:prstClr>
                  </a:innerShdw>
                </a:effectLst>
              </a:rPr>
              <a:t>：平均生长量</a:t>
            </a:r>
            <a:br>
              <a:rPr lang="en-US" altLang="zh-CN" dirty="0">
                <a:effectLst>
                  <a:innerShdw blurRad="63500" dist="50800" dir="13500000">
                    <a:prstClr val="black">
                      <a:alpha val="50000"/>
                    </a:prstClr>
                  </a:innerShdw>
                </a:effectLst>
              </a:rPr>
            </a:br>
            <a:br>
              <a:rPr lang="en-US" altLang="zh-CN" dirty="0">
                <a:effectLst>
                  <a:innerShdw blurRad="63500" dist="50800" dir="13500000">
                    <a:prstClr val="black">
                      <a:alpha val="50000"/>
                    </a:prstClr>
                  </a:innerShdw>
                </a:effectLst>
              </a:rPr>
            </a:br>
            <a:r>
              <a:rPr lang="en-US" altLang="zh-CN" dirty="0">
                <a:effectLst>
                  <a:innerShdw blurRad="63500" dist="50800" dir="13500000">
                    <a:prstClr val="black">
                      <a:alpha val="50000"/>
                    </a:prstClr>
                  </a:innerShdw>
                </a:effectLst>
              </a:rPr>
              <a:t>CAI</a:t>
            </a:r>
            <a:r>
              <a:rPr lang="zh-CN" altLang="en-US" dirty="0">
                <a:effectLst>
                  <a:innerShdw blurRad="63500" dist="50800" dir="13500000">
                    <a:prstClr val="black">
                      <a:alpha val="50000"/>
                    </a:prstClr>
                  </a:innerShdw>
                </a:effectLst>
              </a:rPr>
              <a:t>：年生长量</a:t>
            </a:r>
          </a:p>
        </p:txBody>
      </p:sp>
      <p:sp>
        <p:nvSpPr>
          <p:cNvPr id="3" name="内容占位符 2"/>
          <p:cNvSpPr>
            <a:spLocks noGrp="1"/>
          </p:cNvSpPr>
          <p:nvPr>
            <p:ph sz="half" idx="1"/>
          </p:nvPr>
        </p:nvSpPr>
        <p:spPr>
          <a:xfrm>
            <a:off x="390777" y="462575"/>
            <a:ext cx="2786716" cy="5845105"/>
          </a:xfrm>
          <a:gradFill>
            <a:gsLst>
              <a:gs pos="0">
                <a:schemeClr val="bg2">
                  <a:lumMod val="90000"/>
                </a:schemeClr>
              </a:gs>
              <a:gs pos="100000">
                <a:schemeClr val="bg2">
                  <a:lumMod val="75000"/>
                </a:schemeClr>
              </a:gs>
            </a:gsLst>
            <a:lin ang="2700000" scaled="1"/>
          </a:gradFill>
          <a:effectLst>
            <a:innerShdw blurRad="228600" dist="127000" dir="13500000">
              <a:prstClr val="black">
                <a:alpha val="50000"/>
              </a:prstClr>
            </a:innerShdw>
          </a:effectLst>
        </p:spPr>
        <p:txBody>
          <a:bodyPr/>
          <a:lstStyle/>
          <a:p>
            <a:r>
              <a:rPr lang="en-US" altLang="zh-CN" dirty="0"/>
              <a:t>Mean </a:t>
            </a:r>
            <a:r>
              <a:rPr lang="en-US" altLang="zh-CN" dirty="0" err="1"/>
              <a:t>amnual</a:t>
            </a:r>
            <a:r>
              <a:rPr lang="en-US" altLang="zh-CN" dirty="0"/>
              <a:t> increment</a:t>
            </a:r>
            <a:r>
              <a:rPr lang="zh-CN" altLang="en-US" dirty="0"/>
              <a:t>（</a:t>
            </a:r>
            <a:r>
              <a:rPr lang="en-US" altLang="zh-CN" dirty="0"/>
              <a:t>MAI</a:t>
            </a:r>
            <a:r>
              <a:rPr lang="zh-CN" altLang="en-US" dirty="0"/>
              <a:t>）</a:t>
            </a:r>
            <a:endParaRPr lang="en-US" altLang="zh-CN" dirty="0"/>
          </a:p>
          <a:p>
            <a:r>
              <a:rPr lang="en-US" altLang="zh-CN" dirty="0"/>
              <a:t>Q</a:t>
            </a:r>
            <a:r>
              <a:rPr lang="zh-CN" altLang="en-US" dirty="0"/>
              <a:t>（</a:t>
            </a:r>
            <a:r>
              <a:rPr lang="en-US" altLang="zh-CN" dirty="0"/>
              <a:t>t</a:t>
            </a:r>
            <a:r>
              <a:rPr lang="zh-CN" altLang="en-US" dirty="0"/>
              <a:t>）</a:t>
            </a:r>
            <a:r>
              <a:rPr lang="en-US" altLang="zh-CN" dirty="0"/>
              <a:t>/t</a:t>
            </a:r>
          </a:p>
          <a:p>
            <a:r>
              <a:rPr lang="zh-CN" altLang="en-US" dirty="0"/>
              <a:t>某个林分的蓄积量除以其树龄</a:t>
            </a:r>
          </a:p>
        </p:txBody>
      </p:sp>
      <p:sp>
        <p:nvSpPr>
          <p:cNvPr id="4" name="内容占位符 3"/>
          <p:cNvSpPr>
            <a:spLocks noGrp="1"/>
          </p:cNvSpPr>
          <p:nvPr>
            <p:ph sz="half" idx="2"/>
          </p:nvPr>
        </p:nvSpPr>
        <p:spPr>
          <a:xfrm>
            <a:off x="3347743" y="462575"/>
            <a:ext cx="2843436" cy="5845105"/>
          </a:xfrm>
          <a:gradFill>
            <a:gsLst>
              <a:gs pos="0">
                <a:schemeClr val="bg2">
                  <a:tint val="94000"/>
                  <a:satMod val="140000"/>
                  <a:lumMod val="120000"/>
                </a:schemeClr>
              </a:gs>
              <a:gs pos="100000">
                <a:schemeClr val="bg2">
                  <a:tint val="97000"/>
                  <a:shade val="70000"/>
                  <a:satMod val="190000"/>
                  <a:lumMod val="72000"/>
                  <a:alpha val="69000"/>
                </a:schemeClr>
              </a:gs>
            </a:gsLst>
            <a:path path="circle">
              <a:fillToRect l="50000" t="50000" r="50000"/>
            </a:path>
          </a:gra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lstStyle/>
          <a:p>
            <a:r>
              <a:rPr lang="en-US" altLang="zh-CN" dirty="0" err="1"/>
              <a:t>Curent</a:t>
            </a:r>
            <a:r>
              <a:rPr lang="en-US" altLang="zh-CN" dirty="0"/>
              <a:t> annual increment</a:t>
            </a:r>
            <a:r>
              <a:rPr lang="zh-CN" altLang="en-US" dirty="0"/>
              <a:t>（</a:t>
            </a:r>
            <a:r>
              <a:rPr lang="en-US" altLang="zh-CN" dirty="0"/>
              <a:t>CAI</a:t>
            </a:r>
            <a:r>
              <a:rPr lang="zh-CN" altLang="en-US" dirty="0"/>
              <a:t>）</a:t>
            </a:r>
            <a:endParaRPr lang="en-US" altLang="zh-CN" dirty="0"/>
          </a:p>
          <a:p>
            <a:r>
              <a:rPr lang="en-US" altLang="zh-CN" dirty="0"/>
              <a:t>ΔQ=Q</a:t>
            </a:r>
            <a:r>
              <a:rPr lang="zh-CN" altLang="en-US" dirty="0"/>
              <a:t>（</a:t>
            </a:r>
            <a:r>
              <a:rPr lang="en-US" altLang="zh-CN" dirty="0"/>
              <a:t>t-1</a:t>
            </a:r>
            <a:r>
              <a:rPr lang="zh-CN" altLang="en-US" dirty="0"/>
              <a:t>）</a:t>
            </a:r>
            <a:r>
              <a:rPr lang="en-US" altLang="zh-CN" dirty="0"/>
              <a:t>-Q</a:t>
            </a:r>
            <a:r>
              <a:rPr lang="zh-CN" altLang="en-US" dirty="0"/>
              <a:t>（</a:t>
            </a:r>
            <a:r>
              <a:rPr lang="en-US" altLang="zh-CN" dirty="0"/>
              <a:t>t</a:t>
            </a:r>
            <a:r>
              <a:rPr lang="zh-CN" altLang="en-US" dirty="0"/>
              <a:t>）</a:t>
            </a:r>
            <a:endParaRPr lang="en-US" altLang="zh-CN" dirty="0"/>
          </a:p>
          <a:p>
            <a:r>
              <a:rPr lang="en-US" altLang="zh-CN" dirty="0" err="1"/>
              <a:t>Q</a:t>
            </a:r>
            <a:r>
              <a:rPr lang="en-US" altLang="zh-CN" baseline="-25000" dirty="0" err="1"/>
              <a:t>t</a:t>
            </a:r>
            <a:r>
              <a:rPr lang="en-US" altLang="zh-CN" baseline="-25000" dirty="0"/>
              <a:t> </a:t>
            </a:r>
            <a:r>
              <a:rPr lang="en-US" altLang="zh-CN" dirty="0"/>
              <a:t>= </a:t>
            </a:r>
            <a:r>
              <a:rPr lang="en-US" altLang="zh-CN" dirty="0" err="1"/>
              <a:t>dQ</a:t>
            </a:r>
            <a:r>
              <a:rPr lang="zh-CN" altLang="en-US" dirty="0"/>
              <a:t>（</a:t>
            </a:r>
            <a:r>
              <a:rPr lang="en-US" altLang="zh-CN" dirty="0"/>
              <a:t>t</a:t>
            </a:r>
            <a:r>
              <a:rPr lang="zh-CN" altLang="en-US" dirty="0"/>
              <a:t>）</a:t>
            </a:r>
            <a:r>
              <a:rPr lang="en-US" altLang="zh-CN" dirty="0"/>
              <a:t>/</a:t>
            </a:r>
            <a:r>
              <a:rPr lang="en-US" altLang="zh-CN" dirty="0" err="1"/>
              <a:t>dt</a:t>
            </a:r>
            <a:endParaRPr lang="en-US" altLang="zh-CN" dirty="0"/>
          </a:p>
          <a:p>
            <a:r>
              <a:rPr lang="zh-CN" altLang="en-US" dirty="0"/>
              <a:t>林分当年的生长量</a:t>
            </a:r>
            <a:endParaRPr lang="en-US" altLang="zh-CN" dirty="0"/>
          </a:p>
          <a:p>
            <a:r>
              <a:rPr lang="zh-CN" altLang="en-US" dirty="0"/>
              <a:t>森林蓄积量    </a:t>
            </a:r>
            <a:r>
              <a:rPr lang="en-US" altLang="zh-CN" dirty="0"/>
              <a:t>Q</a:t>
            </a:r>
            <a:r>
              <a:rPr lang="zh-CN" altLang="en-US" dirty="0"/>
              <a:t>（</a:t>
            </a:r>
            <a:r>
              <a:rPr lang="en-US" altLang="zh-CN" dirty="0"/>
              <a:t>t</a:t>
            </a:r>
            <a:r>
              <a:rPr lang="zh-CN" altLang="en-US" dirty="0"/>
              <a:t>）关于</a:t>
            </a:r>
            <a:r>
              <a:rPr lang="en-US" altLang="zh-CN" dirty="0"/>
              <a:t>t</a:t>
            </a:r>
            <a:r>
              <a:rPr lang="zh-CN" altLang="en-US" dirty="0"/>
              <a:t>的导数</a:t>
            </a:r>
          </a:p>
        </p:txBody>
      </p:sp>
      <p:sp>
        <p:nvSpPr>
          <p:cNvPr id="5" name="文本框 4"/>
          <p:cNvSpPr txBox="1"/>
          <p:nvPr/>
        </p:nvSpPr>
        <p:spPr>
          <a:xfrm>
            <a:off x="4102458" y="6386940"/>
            <a:ext cx="5041542" cy="369332"/>
          </a:xfrm>
          <a:prstGeom prst="rect">
            <a:avLst/>
          </a:prstGeom>
          <a:noFill/>
        </p:spPr>
        <p:txBody>
          <a:bodyPr wrap="square" rtlCol="0">
            <a:spAutoFit/>
          </a:bodyPr>
          <a:lstStyle/>
          <a:p>
            <a:pPr algn="r"/>
            <a:r>
              <a:rPr lang="zh-CN" altLang="en-US" dirty="0"/>
              <a:t>当</a:t>
            </a:r>
            <a:r>
              <a:rPr lang="en-US" altLang="zh-CN" dirty="0"/>
              <a:t>MAI=CAI</a:t>
            </a:r>
            <a:r>
              <a:rPr lang="zh-CN" altLang="en-US" dirty="0"/>
              <a:t>时，得到该林地的最大平均生长量</a:t>
            </a:r>
          </a:p>
        </p:txBody>
      </p:sp>
    </p:spTree>
    <p:extLst>
      <p:ext uri="{BB962C8B-B14F-4D97-AF65-F5344CB8AC3E}">
        <p14:creationId xmlns:p14="http://schemas.microsoft.com/office/powerpoint/2010/main" val="3137815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4000" dirty="0"/>
              <a:t>Optimum economic rotation</a:t>
            </a:r>
            <a:br>
              <a:rPr lang="en-US" altLang="zh-CN" sz="4000" dirty="0"/>
            </a:br>
            <a:r>
              <a:rPr lang="zh-CN" altLang="en-US" sz="4000" dirty="0"/>
              <a:t>最佳经济采伐周期</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normAutofit/>
              </a:bodyPr>
              <a:lstStyle/>
              <a:p>
                <a:r>
                  <a:rPr lang="zh-CN" altLang="en-US" dirty="0"/>
                  <a:t>让森林继续生长一年的边际效益（立木价值的增长率）</a:t>
                </a:r>
                <a:r>
                  <a:rPr lang="en-US" altLang="zh-CN" dirty="0"/>
                  <a:t>=</a:t>
                </a:r>
                <a:r>
                  <a:rPr lang="zh-CN" altLang="en-US" dirty="0"/>
                  <a:t>资本的机会成本</a:t>
                </a:r>
                <a:endParaRPr lang="en-US" altLang="zh-CN" dirty="0"/>
              </a:p>
              <a:p>
                <a14:m>
                  <m:oMath xmlns:m="http://schemas.openxmlformats.org/officeDocument/2006/math">
                    <m:f>
                      <m:fPr>
                        <m:ctrlPr>
                          <a:rPr lang="en-US" altLang="zh-CN" i="1" smtClean="0">
                            <a:latin typeface="Cambria Math" panose="02040503050406030204" pitchFamily="18" charset="0"/>
                          </a:rPr>
                        </m:ctrlPr>
                      </m:fPr>
                      <m:num>
                        <m:r>
                          <a:rPr lang="en-US" altLang="zh-CN"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𝑆</m:t>
                        </m:r>
                      </m:num>
                      <m:den>
                        <m:r>
                          <a:rPr lang="en-US" altLang="zh-CN" b="0" i="1" smtClean="0">
                            <a:latin typeface="Cambria Math" panose="02040503050406030204" pitchFamily="18" charset="0"/>
                          </a:rPr>
                          <m:t>𝑆</m:t>
                        </m:r>
                        <m:r>
                          <a:rPr lang="en-US" altLang="zh-CN" b="0" i="1" smtClean="0">
                            <a:latin typeface="Cambria Math" panose="02040503050406030204" pitchFamily="18" charset="0"/>
                          </a:rPr>
                          <m:t>(</m:t>
                        </m:r>
                        <m:r>
                          <a:rPr lang="en-US" altLang="zh-CN" b="0" i="1" smtClean="0">
                            <a:latin typeface="Cambria Math" panose="02040503050406030204" pitchFamily="18" charset="0"/>
                          </a:rPr>
                          <m:t>𝑡</m:t>
                        </m:r>
                        <m:r>
                          <a:rPr lang="en-US" altLang="zh-CN" b="0" i="1" smtClean="0">
                            <a:latin typeface="Cambria Math" panose="02040503050406030204" pitchFamily="18" charset="0"/>
                          </a:rPr>
                          <m:t>)</m:t>
                        </m:r>
                      </m:den>
                    </m:f>
                    <m:r>
                      <a:rPr lang="en-US" altLang="zh-CN" b="0" i="1" smtClean="0">
                        <a:latin typeface="Cambria Math" panose="02040503050406030204" pitchFamily="18" charset="0"/>
                      </a:rPr>
                      <m:t>=</m:t>
                    </m:r>
                    <m:r>
                      <a:rPr lang="en-US" altLang="zh-CN" b="0" i="1" smtClean="0">
                        <a:latin typeface="Cambria Math" panose="02040503050406030204" pitchFamily="18" charset="0"/>
                      </a:rPr>
                      <m:t>𝑖</m:t>
                    </m:r>
                  </m:oMath>
                </a14:m>
                <a:endParaRPr lang="en-US" altLang="zh-CN" dirty="0"/>
              </a:p>
              <a:p>
                <a:r>
                  <a:rPr lang="en-US" altLang="zh-CN" dirty="0"/>
                  <a:t>ΔS/S(t)</a:t>
                </a:r>
                <a:r>
                  <a:rPr lang="zh-CN" altLang="en-US" dirty="0"/>
                  <a:t>表示森林价值增长率的变化（立木价值增长的百分比），随森林年龄的增长而下降</a:t>
                </a: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0">
                <a:blip r:embed="rId2"/>
                <a:stretch>
                  <a:fillRect/>
                </a:stretch>
              </a:blipFill>
            </p:spPr>
            <p:txBody>
              <a:bodyPr/>
              <a:lstStyle/>
              <a:p>
                <a:r>
                  <a:rPr lang="zh-CN" altLang="en-US">
                    <a:noFill/>
                  </a:rPr>
                  <a:t> </a:t>
                </a:r>
              </a:p>
            </p:txBody>
          </p:sp>
        </mc:Fallback>
      </mc:AlternateContent>
      <p:pic>
        <p:nvPicPr>
          <p:cNvPr id="4" name="图片 3">
            <a:hlinkClick r:id="rId3" action="ppaction://hlinksldjump"/>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496285" y="5513832"/>
            <a:ext cx="1219200" cy="1219200"/>
          </a:xfrm>
          <a:prstGeom prst="rect">
            <a:avLst/>
          </a:prstGeom>
        </p:spPr>
      </p:pic>
    </p:spTree>
    <p:extLst>
      <p:ext uri="{BB962C8B-B14F-4D97-AF65-F5344CB8AC3E}">
        <p14:creationId xmlns:p14="http://schemas.microsoft.com/office/powerpoint/2010/main" val="40215304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另一种证明方法</a:t>
            </a:r>
          </a:p>
        </p:txBody>
      </p:sp>
      <mc:AlternateContent xmlns:mc="http://schemas.openxmlformats.org/markup-compatibility/2006" xmlns:a14="http://schemas.microsoft.com/office/drawing/2010/main">
        <mc:Choice Requires="a14">
          <p:sp>
            <p:nvSpPr>
              <p:cNvPr id="3" name="内容占位符 2"/>
              <p:cNvSpPr>
                <a:spLocks noGrp="1"/>
              </p:cNvSpPr>
              <p:nvPr>
                <p:ph sz="half" idx="1"/>
              </p:nvPr>
            </p:nvSpPr>
            <p:spPr/>
            <p:txBody>
              <a:bodyPr>
                <a:normAutofit/>
              </a:bodyPr>
              <a:lstStyle/>
              <a:p>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𝑉</m:t>
                        </m:r>
                      </m:e>
                      <m:sub>
                        <m:r>
                          <a:rPr lang="en-US" altLang="zh-CN" b="0" i="1" smtClean="0">
                            <a:latin typeface="Cambria Math" panose="02040503050406030204" pitchFamily="18" charset="0"/>
                          </a:rPr>
                          <m:t>0</m:t>
                        </m:r>
                      </m:sub>
                    </m:sSub>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𝑆</m:t>
                        </m:r>
                        <m:r>
                          <a:rPr lang="en-US" altLang="zh-CN" b="0" i="1" smtClean="0">
                            <a:latin typeface="Cambria Math" panose="02040503050406030204" pitchFamily="18" charset="0"/>
                          </a:rPr>
                          <m:t>(</m:t>
                        </m:r>
                        <m:r>
                          <a:rPr lang="en-US" altLang="zh-CN" b="0" i="1" smtClean="0">
                            <a:latin typeface="Cambria Math" panose="02040503050406030204" pitchFamily="18" charset="0"/>
                          </a:rPr>
                          <m:t>𝑡</m:t>
                        </m:r>
                        <m:r>
                          <a:rPr lang="en-US" altLang="zh-CN" b="0" i="1" smtClean="0">
                            <a:latin typeface="Cambria Math" panose="02040503050406030204" pitchFamily="18" charset="0"/>
                          </a:rPr>
                          <m:t>)</m:t>
                        </m:r>
                      </m:num>
                      <m:den>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(1+</m:t>
                            </m:r>
                            <m:r>
                              <a:rPr lang="en-US" altLang="zh-CN" b="0" i="1" smtClean="0">
                                <a:latin typeface="Cambria Math" panose="02040503050406030204" pitchFamily="18" charset="0"/>
                              </a:rPr>
                              <m:t>𝑖</m:t>
                            </m:r>
                            <m:r>
                              <a:rPr lang="en-US" altLang="zh-CN" b="0" i="1" smtClean="0">
                                <a:latin typeface="Cambria Math" panose="02040503050406030204" pitchFamily="18" charset="0"/>
                              </a:rPr>
                              <m:t>)</m:t>
                            </m:r>
                          </m:e>
                          <m:sup>
                            <m:r>
                              <a:rPr lang="en-US" altLang="zh-CN" b="0" i="1" smtClean="0">
                                <a:latin typeface="Cambria Math" panose="02040503050406030204" pitchFamily="18" charset="0"/>
                              </a:rPr>
                              <m:t>𝑡</m:t>
                            </m:r>
                          </m:sup>
                        </m:sSup>
                      </m:den>
                    </m:f>
                  </m:oMath>
                </a14:m>
                <a:endParaRPr lang="en-US" altLang="zh-CN" dirty="0"/>
              </a:p>
              <a:p>
                <a:r>
                  <a:rPr lang="zh-CN" altLang="en-US" dirty="0"/>
                  <a:t>在最佳采伐期时，净现值最大</a:t>
                </a:r>
                <a:endParaRPr lang="en-US" altLang="zh-CN" dirty="0"/>
              </a:p>
              <a:p>
                <a:r>
                  <a:rPr lang="zh-CN" altLang="en-US" dirty="0"/>
                  <a:t>则有：</a:t>
                </a:r>
                <a:r>
                  <a:rPr lang="en-US" altLang="zh-CN" dirty="0"/>
                  <a:t>ΔV</a:t>
                </a:r>
                <a:r>
                  <a:rPr lang="en-US" altLang="zh-CN" baseline="-25000" dirty="0"/>
                  <a:t>0</a:t>
                </a:r>
                <a:r>
                  <a:rPr lang="en-US" altLang="zh-CN" dirty="0"/>
                  <a:t>=0</a:t>
                </a:r>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sz="half" idx="1"/>
              </p:nvPr>
            </p:nvSpPr>
            <p:spPr>
              <a:blipFill rotWithShape="0">
                <a:blip r:embed="rId2"/>
                <a:stretch>
                  <a:fillRect l="-162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内容占位符 3"/>
              <p:cNvSpPr>
                <a:spLocks noGrp="1"/>
              </p:cNvSpPr>
              <p:nvPr>
                <p:ph sz="half" idx="2"/>
              </p:nvPr>
            </p:nvSpPr>
            <p:spPr/>
            <p:txBody>
              <a:bodyPr>
                <a:normAutofit/>
              </a:bodyPr>
              <a:lstStyle/>
              <a:p>
                <a:r>
                  <a:rPr lang="zh-CN" altLang="en-US" dirty="0"/>
                  <a:t>即：</a:t>
                </a:r>
                <a:endParaRPr lang="en-US" altLang="zh-CN" dirty="0"/>
              </a:p>
              <a:p>
                <a14:m>
                  <m:oMath xmlns:m="http://schemas.openxmlformats.org/officeDocument/2006/math">
                    <m:f>
                      <m:fPr>
                        <m:ctrlPr>
                          <a:rPr lang="en-US" altLang="zh-CN" i="1" smtClean="0">
                            <a:latin typeface="Cambria Math" panose="02040503050406030204" pitchFamily="18" charset="0"/>
                          </a:rPr>
                        </m:ctrlPr>
                      </m:fPr>
                      <m:num>
                        <m:r>
                          <a:rPr lang="en-US" altLang="zh-CN" i="1">
                            <a:latin typeface="Cambria Math" panose="02040503050406030204" pitchFamily="18" charset="0"/>
                          </a:rPr>
                          <m:t>𝑆</m:t>
                        </m:r>
                        <m:r>
                          <a:rPr lang="en-US" altLang="zh-CN" i="1">
                            <a:latin typeface="Cambria Math" panose="02040503050406030204" pitchFamily="18" charset="0"/>
                          </a:rPr>
                          <m:t>(</m:t>
                        </m:r>
                        <m:r>
                          <a:rPr lang="en-US" altLang="zh-CN" i="1">
                            <a:latin typeface="Cambria Math" panose="02040503050406030204" pitchFamily="18" charset="0"/>
                          </a:rPr>
                          <m:t>𝑡</m:t>
                        </m:r>
                        <m:r>
                          <a:rPr lang="en-US" altLang="zh-CN" b="0" i="1" smtClean="0">
                            <a:latin typeface="Cambria Math" panose="02040503050406030204" pitchFamily="18" charset="0"/>
                          </a:rPr>
                          <m:t>+1</m:t>
                        </m:r>
                        <m:r>
                          <a:rPr lang="en-US" altLang="zh-CN" i="1">
                            <a:latin typeface="Cambria Math" panose="02040503050406030204" pitchFamily="18" charset="0"/>
                          </a:rPr>
                          <m:t>)</m:t>
                        </m:r>
                      </m:num>
                      <m:den>
                        <m:sSup>
                          <m:sSupPr>
                            <m:ctrlPr>
                              <a:rPr lang="en-US" altLang="zh-CN" i="1">
                                <a:latin typeface="Cambria Math" panose="02040503050406030204" pitchFamily="18" charset="0"/>
                              </a:rPr>
                            </m:ctrlPr>
                          </m:sSupPr>
                          <m:e>
                            <m:r>
                              <a:rPr lang="en-US" altLang="zh-CN" i="1">
                                <a:latin typeface="Cambria Math" panose="02040503050406030204" pitchFamily="18" charset="0"/>
                              </a:rPr>
                              <m:t>(1+</m:t>
                            </m:r>
                            <m:r>
                              <a:rPr lang="en-US" altLang="zh-CN" i="1">
                                <a:latin typeface="Cambria Math" panose="02040503050406030204" pitchFamily="18" charset="0"/>
                              </a:rPr>
                              <m:t>𝑖</m:t>
                            </m:r>
                            <m:r>
                              <a:rPr lang="en-US" altLang="zh-CN" i="1">
                                <a:latin typeface="Cambria Math" panose="02040503050406030204" pitchFamily="18" charset="0"/>
                              </a:rPr>
                              <m:t>)</m:t>
                            </m:r>
                          </m:e>
                          <m:sup>
                            <m:r>
                              <a:rPr lang="en-US" altLang="zh-CN" i="1">
                                <a:latin typeface="Cambria Math" panose="02040503050406030204" pitchFamily="18" charset="0"/>
                              </a:rPr>
                              <m:t>𝑡</m:t>
                            </m:r>
                            <m:r>
                              <a:rPr lang="en-US" altLang="zh-CN" b="0" i="1" smtClean="0">
                                <a:latin typeface="Cambria Math" panose="02040503050406030204" pitchFamily="18" charset="0"/>
                              </a:rPr>
                              <m:t>+1</m:t>
                            </m:r>
                          </m:sup>
                        </m:sSup>
                      </m:den>
                    </m:f>
                  </m:oMath>
                </a14:m>
                <a:r>
                  <a:rPr lang="en-US" altLang="zh-CN" dirty="0"/>
                  <a:t> -</a:t>
                </a:r>
                <a14:m>
                  <m:oMath xmlns:m="http://schemas.openxmlformats.org/officeDocument/2006/math">
                    <m:f>
                      <m:fPr>
                        <m:ctrlPr>
                          <a:rPr lang="en-US" altLang="zh-CN" i="1">
                            <a:latin typeface="Cambria Math" panose="02040503050406030204" pitchFamily="18" charset="0"/>
                          </a:rPr>
                        </m:ctrlPr>
                      </m:fPr>
                      <m:num>
                        <m:r>
                          <a:rPr lang="en-US" altLang="zh-CN" i="1">
                            <a:latin typeface="Cambria Math" panose="02040503050406030204" pitchFamily="18" charset="0"/>
                          </a:rPr>
                          <m:t>𝑆</m:t>
                        </m:r>
                        <m:r>
                          <a:rPr lang="en-US" altLang="zh-CN" i="1">
                            <a:latin typeface="Cambria Math" panose="02040503050406030204" pitchFamily="18" charset="0"/>
                          </a:rPr>
                          <m:t>(</m:t>
                        </m:r>
                        <m:r>
                          <a:rPr lang="en-US" altLang="zh-CN" i="1">
                            <a:latin typeface="Cambria Math" panose="02040503050406030204" pitchFamily="18" charset="0"/>
                          </a:rPr>
                          <m:t>𝑡</m:t>
                        </m:r>
                        <m:r>
                          <a:rPr lang="en-US" altLang="zh-CN" i="1">
                            <a:latin typeface="Cambria Math" panose="02040503050406030204" pitchFamily="18" charset="0"/>
                          </a:rPr>
                          <m:t>)</m:t>
                        </m:r>
                      </m:num>
                      <m:den>
                        <m:sSup>
                          <m:sSupPr>
                            <m:ctrlPr>
                              <a:rPr lang="en-US" altLang="zh-CN" i="1">
                                <a:latin typeface="Cambria Math" panose="02040503050406030204" pitchFamily="18" charset="0"/>
                              </a:rPr>
                            </m:ctrlPr>
                          </m:sSupPr>
                          <m:e>
                            <m:r>
                              <a:rPr lang="en-US" altLang="zh-CN" i="1">
                                <a:latin typeface="Cambria Math" panose="02040503050406030204" pitchFamily="18" charset="0"/>
                              </a:rPr>
                              <m:t>(1+</m:t>
                            </m:r>
                            <m:r>
                              <a:rPr lang="en-US" altLang="zh-CN" i="1">
                                <a:latin typeface="Cambria Math" panose="02040503050406030204" pitchFamily="18" charset="0"/>
                              </a:rPr>
                              <m:t>𝑖</m:t>
                            </m:r>
                            <m:r>
                              <a:rPr lang="en-US" altLang="zh-CN" i="1">
                                <a:latin typeface="Cambria Math" panose="02040503050406030204" pitchFamily="18" charset="0"/>
                              </a:rPr>
                              <m:t>)</m:t>
                            </m:r>
                          </m:e>
                          <m:sup>
                            <m:r>
                              <a:rPr lang="en-US" altLang="zh-CN" i="1">
                                <a:latin typeface="Cambria Math" panose="02040503050406030204" pitchFamily="18" charset="0"/>
                              </a:rPr>
                              <m:t>𝑡</m:t>
                            </m:r>
                          </m:sup>
                        </m:sSup>
                      </m:den>
                    </m:f>
                  </m:oMath>
                </a14:m>
                <a:r>
                  <a:rPr lang="en-US" altLang="zh-CN" dirty="0"/>
                  <a:t> = 0</a:t>
                </a:r>
              </a:p>
              <a:p>
                <a:r>
                  <a:rPr lang="zh-CN" altLang="en-US" dirty="0"/>
                  <a:t>解得：</a:t>
                </a:r>
                <a:endParaRPr lang="en-US" altLang="zh-CN" dirty="0"/>
              </a:p>
              <a:p>
                <a14:m>
                  <m:oMath xmlns:m="http://schemas.openxmlformats.org/officeDocument/2006/math">
                    <m:r>
                      <a:rPr lang="en-US" altLang="zh-CN" i="1">
                        <a:latin typeface="Cambria Math" panose="02040503050406030204" pitchFamily="18" charset="0"/>
                      </a:rPr>
                      <m:t>𝑆</m:t>
                    </m:r>
                    <m:r>
                      <a:rPr lang="en-US" altLang="zh-CN" i="1">
                        <a:latin typeface="Cambria Math" panose="02040503050406030204" pitchFamily="18" charset="0"/>
                      </a:rPr>
                      <m:t>(</m:t>
                    </m:r>
                    <m:r>
                      <a:rPr lang="en-US" altLang="zh-CN" i="1">
                        <a:latin typeface="Cambria Math" panose="02040503050406030204" pitchFamily="18" charset="0"/>
                      </a:rPr>
                      <m:t>𝑡</m:t>
                    </m:r>
                    <m:r>
                      <a:rPr lang="en-US" altLang="zh-CN" i="1">
                        <a:latin typeface="Cambria Math" panose="02040503050406030204" pitchFamily="18" charset="0"/>
                      </a:rPr>
                      <m:t>+1)</m:t>
                    </m:r>
                  </m:oMath>
                </a14:m>
                <a:r>
                  <a:rPr lang="en-US" altLang="zh-CN" dirty="0"/>
                  <a:t>= </a:t>
                </a:r>
                <a14:m>
                  <m:oMath xmlns:m="http://schemas.openxmlformats.org/officeDocument/2006/math">
                    <m:r>
                      <a:rPr lang="en-US" altLang="zh-CN" i="1">
                        <a:latin typeface="Cambria Math" panose="02040503050406030204" pitchFamily="18" charset="0"/>
                      </a:rPr>
                      <m:t>(1+</m:t>
                    </m:r>
                    <m:r>
                      <a:rPr lang="en-US" altLang="zh-CN" i="1">
                        <a:latin typeface="Cambria Math" panose="02040503050406030204" pitchFamily="18" charset="0"/>
                      </a:rPr>
                      <m:t>𝑖</m:t>
                    </m:r>
                    <m:r>
                      <a:rPr lang="en-US" altLang="zh-CN" i="1">
                        <a:latin typeface="Cambria Math" panose="02040503050406030204" pitchFamily="18" charset="0"/>
                      </a:rPr>
                      <m:t>)</m:t>
                    </m:r>
                  </m:oMath>
                </a14:m>
                <a:r>
                  <a:rPr lang="en-US" altLang="zh-CN" dirty="0"/>
                  <a:t> </a:t>
                </a:r>
                <a14:m>
                  <m:oMath xmlns:m="http://schemas.openxmlformats.org/officeDocument/2006/math">
                    <m:r>
                      <a:rPr lang="en-US" altLang="zh-CN" i="1">
                        <a:latin typeface="Cambria Math" panose="02040503050406030204" pitchFamily="18" charset="0"/>
                      </a:rPr>
                      <m:t>𝑆</m:t>
                    </m:r>
                    <m:r>
                      <a:rPr lang="en-US" altLang="zh-CN" i="1">
                        <a:latin typeface="Cambria Math" panose="02040503050406030204" pitchFamily="18" charset="0"/>
                      </a:rPr>
                      <m:t>(</m:t>
                    </m:r>
                    <m:r>
                      <a:rPr lang="en-US" altLang="zh-CN" i="1">
                        <a:latin typeface="Cambria Math" panose="02040503050406030204" pitchFamily="18" charset="0"/>
                      </a:rPr>
                      <m:t>𝑡</m:t>
                    </m:r>
                    <m:r>
                      <a:rPr lang="en-US" altLang="zh-CN" i="1">
                        <a:latin typeface="Cambria Math" panose="02040503050406030204" pitchFamily="18" charset="0"/>
                      </a:rPr>
                      <m:t>)</m:t>
                    </m:r>
                  </m:oMath>
                </a14:m>
                <a:endParaRPr lang="en-US" altLang="zh-CN" dirty="0"/>
              </a:p>
              <a:p>
                <a:r>
                  <a:rPr lang="en-US" altLang="zh-CN" dirty="0"/>
                  <a:t>ΔS=</a:t>
                </a:r>
                <a:r>
                  <a:rPr lang="en-US" altLang="zh-CN" dirty="0" err="1"/>
                  <a:t>iS</a:t>
                </a:r>
                <a:r>
                  <a:rPr lang="zh-CN" altLang="en-US" dirty="0"/>
                  <a:t>（</a:t>
                </a:r>
                <a:r>
                  <a:rPr lang="en-US" altLang="zh-CN" dirty="0"/>
                  <a:t>t</a:t>
                </a:r>
                <a:r>
                  <a:rPr lang="zh-CN" altLang="en-US" dirty="0"/>
                  <a:t>）</a:t>
                </a:r>
                <a:endParaRPr lang="en-US" altLang="zh-CN" dirty="0"/>
              </a:p>
              <a:p>
                <a14:m>
                  <m:oMath xmlns:m="http://schemas.openxmlformats.org/officeDocument/2006/math">
                    <m:f>
                      <m:fPr>
                        <m:ctrlPr>
                          <a:rPr lang="en-US" altLang="zh-CN" i="1">
                            <a:latin typeface="Cambria Math" panose="02040503050406030204" pitchFamily="18" charset="0"/>
                          </a:rPr>
                        </m:ctrlPr>
                      </m:fPr>
                      <m:num>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𝑆</m:t>
                        </m:r>
                      </m:num>
                      <m:den>
                        <m:r>
                          <a:rPr lang="en-US" altLang="zh-CN" i="1">
                            <a:latin typeface="Cambria Math" panose="02040503050406030204" pitchFamily="18" charset="0"/>
                          </a:rPr>
                          <m:t>𝑆</m:t>
                        </m:r>
                        <m:r>
                          <a:rPr lang="en-US" altLang="zh-CN" i="1">
                            <a:latin typeface="Cambria Math" panose="02040503050406030204" pitchFamily="18" charset="0"/>
                          </a:rPr>
                          <m:t>(</m:t>
                        </m:r>
                        <m:r>
                          <a:rPr lang="en-US" altLang="zh-CN" i="1">
                            <a:latin typeface="Cambria Math" panose="02040503050406030204" pitchFamily="18" charset="0"/>
                          </a:rPr>
                          <m:t>𝑡</m:t>
                        </m:r>
                        <m:r>
                          <a:rPr lang="en-US" altLang="zh-CN" i="1">
                            <a:latin typeface="Cambria Math" panose="02040503050406030204" pitchFamily="18" charset="0"/>
                          </a:rPr>
                          <m:t>)</m:t>
                        </m:r>
                      </m:den>
                    </m:f>
                    <m:r>
                      <a:rPr lang="en-US" altLang="zh-CN" i="1">
                        <a:latin typeface="Cambria Math" panose="02040503050406030204" pitchFamily="18" charset="0"/>
                      </a:rPr>
                      <m:t>=</m:t>
                    </m:r>
                    <m:r>
                      <a:rPr lang="en-US" altLang="zh-CN" i="1">
                        <a:latin typeface="Cambria Math" panose="02040503050406030204" pitchFamily="18" charset="0"/>
                      </a:rPr>
                      <m:t>𝑖</m:t>
                    </m:r>
                  </m:oMath>
                </a14:m>
                <a:endParaRPr lang="en-US" altLang="zh-CN" dirty="0"/>
              </a:p>
            </p:txBody>
          </p:sp>
        </mc:Choice>
        <mc:Fallback xmlns="">
          <p:sp>
            <p:nvSpPr>
              <p:cNvPr id="4" name="内容占位符 3"/>
              <p:cNvSpPr>
                <a:spLocks noGrp="1" noRot="1" noChangeAspect="1" noMove="1" noResize="1" noEditPoints="1" noAdjustHandles="1" noChangeArrowheads="1" noChangeShapeType="1" noTextEdit="1"/>
              </p:cNvSpPr>
              <p:nvPr>
                <p:ph sz="half" idx="2"/>
              </p:nvPr>
            </p:nvSpPr>
            <p:spPr>
              <a:xfrm rot="-900000">
                <a:off x="3758050" y="583643"/>
                <a:ext cx="2783997" cy="5304640"/>
              </a:xfrm>
              <a:blipFill rotWithShape="0">
                <a:blip r:embed="rId3"/>
                <a:stretch>
                  <a:fillRect l="-6897"/>
                </a:stretch>
              </a:blipFill>
            </p:spPr>
            <p:txBody>
              <a:bodyPr/>
              <a:lstStyle/>
              <a:p>
                <a:r>
                  <a:rPr lang="zh-CN" altLang="en-US">
                    <a:noFill/>
                  </a:rPr>
                  <a:t> </a:t>
                </a:r>
              </a:p>
            </p:txBody>
          </p:sp>
        </mc:Fallback>
      </mc:AlternateContent>
      <p:pic>
        <p:nvPicPr>
          <p:cNvPr id="5" name="图片 4">
            <a:hlinkClick r:id="rId4" action="ppaction://hlinksldjump"/>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5452872"/>
            <a:ext cx="1219200" cy="1219200"/>
          </a:xfrm>
          <a:prstGeom prst="rect">
            <a:avLst/>
          </a:prstGeom>
        </p:spPr>
      </p:pic>
    </p:spTree>
    <p:extLst>
      <p:ext uri="{BB962C8B-B14F-4D97-AF65-F5344CB8AC3E}">
        <p14:creationId xmlns:p14="http://schemas.microsoft.com/office/powerpoint/2010/main" val="35416936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以上，只考虑森林资本的占用成本，不考虑土地成本</a:t>
            </a:r>
          </a:p>
        </p:txBody>
      </p:sp>
      <p:sp>
        <p:nvSpPr>
          <p:cNvPr id="3" name="内容占位符 2"/>
          <p:cNvSpPr>
            <a:spLocks noGrp="1"/>
          </p:cNvSpPr>
          <p:nvPr>
            <p:ph idx="1"/>
          </p:nvPr>
        </p:nvSpPr>
        <p:spPr/>
        <p:txBody>
          <a:bodyPr>
            <a:scene3d>
              <a:camera prst="orthographicFront"/>
              <a:lightRig rig="threePt" dir="t"/>
            </a:scene3d>
            <a:sp3d extrusionH="57150">
              <a:bevelT w="38100" h="38100"/>
            </a:sp3d>
          </a:bodyPr>
          <a:lstStyle/>
          <a:p>
            <a:r>
              <a:rPr lang="zh-CN" altLang="en-US" dirty="0">
                <a:ln w="0"/>
                <a:solidFill>
                  <a:schemeClr val="accent4">
                    <a:lumMod val="75000"/>
                  </a:schemeClr>
                </a:solidFill>
                <a:effectLst>
                  <a:outerShdw blurRad="38100" dist="25400" dir="5400000" algn="ctr" rotWithShape="0">
                    <a:srgbClr val="6E747A">
                      <a:alpha val="43000"/>
                    </a:srgbClr>
                  </a:outerShdw>
                </a:effectLst>
              </a:rPr>
              <a:t>接下来考虑土地成本</a:t>
            </a:r>
            <a:endParaRPr lang="en-US" altLang="zh-CN" dirty="0">
              <a:ln w="0"/>
              <a:solidFill>
                <a:schemeClr val="accent4">
                  <a:lumMod val="75000"/>
                </a:schemeClr>
              </a:solidFill>
              <a:effectLst>
                <a:outerShdw blurRad="38100" dist="25400" dir="5400000" algn="ctr" rotWithShape="0">
                  <a:srgbClr val="6E747A">
                    <a:alpha val="43000"/>
                  </a:srgbClr>
                </a:outerShdw>
              </a:effectLst>
            </a:endParaRPr>
          </a:p>
          <a:p>
            <a:r>
              <a:rPr lang="zh-CN" altLang="en-US" dirty="0"/>
              <a:t>先假定土地仅适用于生产木材或生产木材是这块土地最有效的利用方式</a:t>
            </a:r>
            <a:endParaRPr lang="en-US" altLang="zh-CN" dirty="0"/>
          </a:p>
          <a:p>
            <a:r>
              <a:rPr lang="zh-CN" altLang="en-US" dirty="0"/>
              <a:t>每一采伐周期的森林具有同等的价值和成本</a:t>
            </a:r>
            <a:endParaRPr lang="en-US" altLang="zh-CN" dirty="0"/>
          </a:p>
          <a:p>
            <a:r>
              <a:rPr lang="zh-CN" altLang="en-US" dirty="0"/>
              <a:t>每隔</a:t>
            </a:r>
            <a:r>
              <a:rPr lang="en-US" altLang="zh-CN" dirty="0"/>
              <a:t>t</a:t>
            </a:r>
            <a:r>
              <a:rPr lang="zh-CN" altLang="en-US" dirty="0"/>
              <a:t>年可采伐森林，得到立木价值</a:t>
            </a:r>
            <a:r>
              <a:rPr lang="en-US" altLang="zh-CN" dirty="0"/>
              <a:t>S</a:t>
            </a:r>
            <a:r>
              <a:rPr lang="zh-CN" altLang="en-US" dirty="0"/>
              <a:t>（</a:t>
            </a:r>
            <a:r>
              <a:rPr lang="en-US" altLang="zh-CN" dirty="0"/>
              <a:t>t</a:t>
            </a:r>
            <a:r>
              <a:rPr lang="zh-CN" altLang="en-US" dirty="0"/>
              <a:t>）</a:t>
            </a:r>
            <a:endParaRPr lang="en-US" altLang="zh-CN" dirty="0"/>
          </a:p>
          <a:p>
            <a:r>
              <a:rPr lang="zh-CN" altLang="en-US" dirty="0"/>
              <a:t>其总的净现值为</a:t>
            </a:r>
          </a:p>
        </p:txBody>
      </p:sp>
    </p:spTree>
    <p:extLst>
      <p:ext uri="{BB962C8B-B14F-4D97-AF65-F5344CB8AC3E}">
        <p14:creationId xmlns:p14="http://schemas.microsoft.com/office/powerpoint/2010/main" val="459455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1999172722"/>
              </p:ext>
            </p:extLst>
          </p:nvPr>
        </p:nvGraphicFramePr>
        <p:xfrm>
          <a:off x="457200" y="808038"/>
          <a:ext cx="8482013" cy="1014412"/>
        </p:xfrm>
        <a:graphic>
          <a:graphicData uri="http://schemas.openxmlformats.org/presentationml/2006/ole">
            <mc:AlternateContent xmlns:mc="http://schemas.openxmlformats.org/markup-compatibility/2006">
              <mc:Choice xmlns:v="urn:schemas-microsoft-com:vml" Requires="v">
                <p:oleObj spid="_x0000_s7204" name="公式" r:id="rId4" imgW="3504960" imgH="419040" progId="Equation.3">
                  <p:embed/>
                </p:oleObj>
              </mc:Choice>
              <mc:Fallback>
                <p:oleObj name="公式" r:id="rId4" imgW="3504960" imgH="419040" progId="Equation.3">
                  <p:embed/>
                  <p:pic>
                    <p:nvPicPr>
                      <p:cNvPr id="0" name=""/>
                      <p:cNvPicPr/>
                      <p:nvPr/>
                    </p:nvPicPr>
                    <p:blipFill>
                      <a:blip r:embed="rId5"/>
                      <a:stretch>
                        <a:fillRect/>
                      </a:stretch>
                    </p:blipFill>
                    <p:spPr>
                      <a:xfrm>
                        <a:off x="457200" y="808038"/>
                        <a:ext cx="8482013" cy="1014412"/>
                      </a:xfrm>
                      <a:prstGeom prst="rect">
                        <a:avLst/>
                      </a:prstGeom>
                    </p:spPr>
                  </p:pic>
                </p:oleObj>
              </mc:Fallback>
            </mc:AlternateContent>
          </a:graphicData>
        </a:graphic>
      </p:graphicFrame>
      <p:sp>
        <p:nvSpPr>
          <p:cNvPr id="5" name="文本框 4"/>
          <p:cNvSpPr txBox="1"/>
          <p:nvPr/>
        </p:nvSpPr>
        <p:spPr>
          <a:xfrm>
            <a:off x="707136" y="2244143"/>
            <a:ext cx="6179897" cy="461665"/>
          </a:xfrm>
          <a:prstGeom prst="rect">
            <a:avLst/>
          </a:prstGeom>
          <a:noFill/>
        </p:spPr>
        <p:txBody>
          <a:bodyPr wrap="none" rtlCol="0">
            <a:spAutoFit/>
            <a:scene3d>
              <a:camera prst="orthographicFront"/>
              <a:lightRig rig="soft" dir="t">
                <a:rot lat="0" lon="0" rev="15600000"/>
              </a:lightRig>
            </a:scene3d>
            <a:sp3d extrusionH="57150" prstMaterial="softEdge">
              <a:bevelT w="25400" h="38100"/>
            </a:sp3d>
          </a:bodyPr>
          <a:lstStyle/>
          <a:p>
            <a:r>
              <a:rPr lang="zh-CN" altLang="en-US" sz="2400" b="1" dirty="0">
                <a:ln/>
                <a:solidFill>
                  <a:schemeClr val="accent4"/>
                </a:solidFill>
              </a:rPr>
              <a:t>根据无穷递降等比数列求和公式：</a:t>
            </a:r>
            <a:r>
              <a:rPr lang="en-US" altLang="zh-CN" sz="2400" b="1" dirty="0">
                <a:ln/>
                <a:solidFill>
                  <a:schemeClr val="accent4"/>
                </a:solidFill>
              </a:rPr>
              <a:t>s=a/(1-q)</a:t>
            </a:r>
            <a:endParaRPr lang="zh-CN" altLang="en-US" sz="2400" b="1" dirty="0">
              <a:ln/>
              <a:solidFill>
                <a:schemeClr val="accent4"/>
              </a:solidFill>
            </a:endParaRPr>
          </a:p>
        </p:txBody>
      </p:sp>
      <p:graphicFrame>
        <p:nvGraphicFramePr>
          <p:cNvPr id="6" name="对象 5"/>
          <p:cNvGraphicFramePr>
            <a:graphicFrameLocks noChangeAspect="1"/>
          </p:cNvGraphicFramePr>
          <p:nvPr>
            <p:extLst>
              <p:ext uri="{D42A27DB-BD31-4B8C-83A1-F6EECF244321}">
                <p14:modId xmlns:p14="http://schemas.microsoft.com/office/powerpoint/2010/main" val="3430168667"/>
              </p:ext>
            </p:extLst>
          </p:nvPr>
        </p:nvGraphicFramePr>
        <p:xfrm>
          <a:off x="2410879" y="2938463"/>
          <a:ext cx="4087813" cy="2952750"/>
        </p:xfrm>
        <a:graphic>
          <a:graphicData uri="http://schemas.openxmlformats.org/presentationml/2006/ole">
            <mc:AlternateContent xmlns:mc="http://schemas.openxmlformats.org/markup-compatibility/2006">
              <mc:Choice xmlns:v="urn:schemas-microsoft-com:vml" Requires="v">
                <p:oleObj spid="_x0000_s7205" name="公式" r:id="rId6" imgW="1688760" imgH="1218960" progId="Equation.3">
                  <p:embed/>
                </p:oleObj>
              </mc:Choice>
              <mc:Fallback>
                <p:oleObj name="公式" r:id="rId6" imgW="1688760" imgH="1218960" progId="Equation.3">
                  <p:embed/>
                  <p:pic>
                    <p:nvPicPr>
                      <p:cNvPr id="0" name=""/>
                      <p:cNvPicPr/>
                      <p:nvPr/>
                    </p:nvPicPr>
                    <p:blipFill>
                      <a:blip r:embed="rId7"/>
                      <a:stretch>
                        <a:fillRect/>
                      </a:stretch>
                    </p:blipFill>
                    <p:spPr>
                      <a:xfrm>
                        <a:off x="2410879" y="2938463"/>
                        <a:ext cx="4087813" cy="2952750"/>
                      </a:xfrm>
                      <a:prstGeom prst="rect">
                        <a:avLst/>
                      </a:prstGeom>
                    </p:spPr>
                  </p:pic>
                </p:oleObj>
              </mc:Fallback>
            </mc:AlternateContent>
          </a:graphicData>
        </a:graphic>
      </p:graphicFrame>
      <p:sp>
        <p:nvSpPr>
          <p:cNvPr id="7" name="矩形 6"/>
          <p:cNvSpPr/>
          <p:nvPr/>
        </p:nvSpPr>
        <p:spPr>
          <a:xfrm>
            <a:off x="8619744" y="1377696"/>
            <a:ext cx="231648" cy="231648"/>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74221473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5" presetClass="emph" presetSubtype="0" repeatCount="indefinite" fill="hold" grpId="1" nodeType="clickEffect">
                                  <p:stCondLst>
                                    <p:cond delay="0"/>
                                  </p:stCondLst>
                                  <p:endCondLst>
                                    <p:cond evt="onNext" delay="0">
                                      <p:tgtEl>
                                        <p:sldTgt/>
                                      </p:tgtEl>
                                    </p:cond>
                                  </p:endCondLst>
                                  <p:childTnLst>
                                    <p:animClr clrSpc="hsl" dir="cw">
                                      <p:cBhvr override="childStyle">
                                        <p:cTn id="6" dur="500" fill="hold"/>
                                        <p:tgtEl>
                                          <p:spTgt spid="7"/>
                                        </p:tgtEl>
                                        <p:attrNameLst>
                                          <p:attrName>style.color</p:attrName>
                                        </p:attrNameLst>
                                      </p:cBhvr>
                                      <p:by>
                                        <p:hsl h="0" s="-70588" l="0"/>
                                      </p:by>
                                    </p:animClr>
                                    <p:animClr clrSpc="hsl" dir="cw">
                                      <p:cBhvr>
                                        <p:cTn id="7" dur="500" fill="hold"/>
                                        <p:tgtEl>
                                          <p:spTgt spid="7"/>
                                        </p:tgtEl>
                                        <p:attrNameLst>
                                          <p:attrName>fillcolor</p:attrName>
                                        </p:attrNameLst>
                                      </p:cBhvr>
                                      <p:by>
                                        <p:hsl h="0" s="-70588" l="0"/>
                                      </p:by>
                                    </p:animClr>
                                    <p:animClr clrSpc="hsl" dir="cw">
                                      <p:cBhvr>
                                        <p:cTn id="8" dur="500" fill="hold"/>
                                        <p:tgtEl>
                                          <p:spTgt spid="7"/>
                                        </p:tgtEl>
                                        <p:attrNameLst>
                                          <p:attrName>stroke.color</p:attrName>
                                        </p:attrNameLst>
                                      </p:cBhvr>
                                      <p:by>
                                        <p:hsl h="0" s="-70588" l="0"/>
                                      </p:by>
                                    </p:animClr>
                                    <p:set>
                                      <p:cBhvr>
                                        <p:cTn id="9" dur="500" fill="hold"/>
                                        <p:tgtEl>
                                          <p:spTgt spid="7"/>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1"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330065" y="505958"/>
            <a:ext cx="1690834" cy="5107184"/>
          </a:xfrm>
        </p:spPr>
        <p:txBody>
          <a:bodyPr>
            <a:noAutofit/>
          </a:bodyPr>
          <a:lstStyle/>
          <a:p>
            <a:r>
              <a:rPr lang="en-US" altLang="zh-CN" sz="2000" dirty="0">
                <a:solidFill>
                  <a:schemeClr val="accent3">
                    <a:lumMod val="75000"/>
                  </a:schemeClr>
                </a:solidFill>
              </a:rPr>
              <a:t>Land Expectation</a:t>
            </a:r>
            <a:br>
              <a:rPr lang="en-US" altLang="zh-CN" sz="2000" dirty="0">
                <a:solidFill>
                  <a:schemeClr val="accent3">
                    <a:lumMod val="75000"/>
                  </a:schemeClr>
                </a:solidFill>
              </a:rPr>
            </a:br>
            <a:r>
              <a:rPr lang="en-US" altLang="zh-CN" sz="2000" dirty="0">
                <a:solidFill>
                  <a:schemeClr val="accent3">
                    <a:lumMod val="75000"/>
                  </a:schemeClr>
                </a:solidFill>
              </a:rPr>
              <a:t>Value</a:t>
            </a:r>
            <a:br>
              <a:rPr lang="en-US" altLang="zh-CN" sz="2000" dirty="0">
                <a:solidFill>
                  <a:schemeClr val="accent3">
                    <a:lumMod val="75000"/>
                  </a:schemeClr>
                </a:solidFill>
              </a:rPr>
            </a:br>
            <a:br>
              <a:rPr lang="en-US" altLang="zh-CN" sz="2000" dirty="0">
                <a:solidFill>
                  <a:schemeClr val="accent3">
                    <a:lumMod val="75000"/>
                  </a:schemeClr>
                </a:solidFill>
              </a:rPr>
            </a:br>
            <a:r>
              <a:rPr lang="zh-CN" altLang="en-US" sz="2000" dirty="0">
                <a:solidFill>
                  <a:schemeClr val="accent3">
                    <a:lumMod val="75000"/>
                  </a:schemeClr>
                </a:solidFill>
              </a:rPr>
              <a:t>土地期望值</a:t>
            </a:r>
            <a:br>
              <a:rPr lang="en-US" altLang="zh-CN" sz="2000" dirty="0">
                <a:solidFill>
                  <a:schemeClr val="accent3">
                    <a:lumMod val="75000"/>
                  </a:schemeClr>
                </a:solidFill>
              </a:rPr>
            </a:br>
            <a:r>
              <a:rPr lang="zh-CN" altLang="en-US" sz="2000" dirty="0">
                <a:solidFill>
                  <a:schemeClr val="accent3">
                    <a:lumMod val="75000"/>
                  </a:schemeClr>
                </a:solidFill>
              </a:rPr>
              <a:t>（“地租”、无林地价值）</a:t>
            </a:r>
          </a:p>
        </p:txBody>
      </p:sp>
      <p:sp>
        <p:nvSpPr>
          <p:cNvPr id="6" name="内容占位符 5"/>
          <p:cNvSpPr>
            <a:spLocks noGrp="1"/>
          </p:cNvSpPr>
          <p:nvPr>
            <p:ph idx="1"/>
          </p:nvPr>
        </p:nvSpPr>
        <p:spPr>
          <a:xfrm>
            <a:off x="2362273" y="1706879"/>
            <a:ext cx="6658261" cy="4737115"/>
          </a:xfrm>
        </p:spPr>
        <p:txBody>
          <a:bodyPr anchor="t"/>
          <a:lstStyle/>
          <a:p>
            <a:r>
              <a:rPr lang="en-US" altLang="zh-CN" dirty="0"/>
              <a:t>V</a:t>
            </a:r>
            <a:r>
              <a:rPr lang="en-US" altLang="zh-CN" baseline="-25000" dirty="0"/>
              <a:t>s</a:t>
            </a:r>
            <a:r>
              <a:rPr lang="zh-CN" altLang="en-US" dirty="0"/>
              <a:t>：地价</a:t>
            </a:r>
            <a:endParaRPr lang="en-US" altLang="zh-CN" dirty="0"/>
          </a:p>
          <a:p>
            <a:r>
              <a:rPr lang="zh-CN" altLang="en-US" dirty="0"/>
              <a:t>四个重要假设：</a:t>
            </a:r>
            <a:endParaRPr lang="en-US" altLang="zh-CN" dirty="0"/>
          </a:p>
          <a:p>
            <a:pPr lvl="1"/>
            <a:r>
              <a:rPr lang="zh-CN" altLang="en-US" dirty="0"/>
              <a:t>土地以连续生产木材为目的</a:t>
            </a:r>
            <a:endParaRPr lang="en-US" altLang="zh-CN" dirty="0"/>
          </a:p>
          <a:p>
            <a:pPr lvl="1"/>
            <a:r>
              <a:rPr lang="zh-CN" altLang="en-US" dirty="0"/>
              <a:t>每个采伐周期的森林具有同样的价值（林价和林木生长量不变）</a:t>
            </a:r>
            <a:endParaRPr lang="en-US" altLang="zh-CN" dirty="0"/>
          </a:p>
          <a:p>
            <a:pPr lvl="1"/>
            <a:r>
              <a:rPr lang="zh-CN" altLang="en-US" dirty="0"/>
              <a:t>在生产周期开始时，土地处于无林地状态下</a:t>
            </a:r>
            <a:endParaRPr lang="en-US" altLang="zh-CN" dirty="0"/>
          </a:p>
          <a:p>
            <a:pPr lvl="1"/>
            <a:r>
              <a:rPr lang="zh-CN" altLang="en-US" dirty="0"/>
              <a:t>造林没有成本</a:t>
            </a:r>
          </a:p>
        </p:txBody>
      </p:sp>
      <p:graphicFrame>
        <p:nvGraphicFramePr>
          <p:cNvPr id="4" name="对象 3"/>
          <p:cNvGraphicFramePr>
            <a:graphicFrameLocks noChangeAspect="1"/>
          </p:cNvGraphicFramePr>
          <p:nvPr>
            <p:extLst>
              <p:ext uri="{D42A27DB-BD31-4B8C-83A1-F6EECF244321}">
                <p14:modId xmlns:p14="http://schemas.microsoft.com/office/powerpoint/2010/main" val="2353100329"/>
              </p:ext>
            </p:extLst>
          </p:nvPr>
        </p:nvGraphicFramePr>
        <p:xfrm>
          <a:off x="3502025" y="354013"/>
          <a:ext cx="3117850" cy="1130300"/>
        </p:xfrm>
        <a:graphic>
          <a:graphicData uri="http://schemas.openxmlformats.org/presentationml/2006/ole">
            <mc:AlternateContent xmlns:mc="http://schemas.openxmlformats.org/markup-compatibility/2006">
              <mc:Choice xmlns:v="urn:schemas-microsoft-com:vml" Requires="v">
                <p:oleObj spid="_x0000_s8209" name="公式" r:id="rId3" imgW="1155600" imgH="419040" progId="Equation.3">
                  <p:embed/>
                </p:oleObj>
              </mc:Choice>
              <mc:Fallback>
                <p:oleObj name="公式" r:id="rId3" imgW="1155600" imgH="419040" progId="Equation.3">
                  <p:embed/>
                  <p:pic>
                    <p:nvPicPr>
                      <p:cNvPr id="0" name=""/>
                      <p:cNvPicPr/>
                      <p:nvPr/>
                    </p:nvPicPr>
                    <p:blipFill>
                      <a:blip r:embed="rId4"/>
                      <a:stretch>
                        <a:fillRect/>
                      </a:stretch>
                    </p:blipFill>
                    <p:spPr>
                      <a:xfrm>
                        <a:off x="3502025" y="354013"/>
                        <a:ext cx="3117850" cy="1130300"/>
                      </a:xfrm>
                      <a:prstGeom prst="rect">
                        <a:avLst/>
                      </a:prstGeom>
                    </p:spPr>
                  </p:pic>
                </p:oleObj>
              </mc:Fallback>
            </mc:AlternateContent>
          </a:graphicData>
        </a:graphic>
      </p:graphicFrame>
    </p:spTree>
    <p:extLst>
      <p:ext uri="{BB962C8B-B14F-4D97-AF65-F5344CB8AC3E}">
        <p14:creationId xmlns:p14="http://schemas.microsoft.com/office/powerpoint/2010/main" val="10845885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fade">
                                      <p:cBhvr>
                                        <p:cTn id="12" dur="500"/>
                                        <p:tgtEl>
                                          <p:spTgt spid="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xEl>
                                              <p:pRg st="1" end="1"/>
                                            </p:txEl>
                                          </p:spTgt>
                                        </p:tgtEl>
                                        <p:attrNameLst>
                                          <p:attrName>style.visibility</p:attrName>
                                        </p:attrNameLst>
                                      </p:cBhvr>
                                      <p:to>
                                        <p:strVal val="visible"/>
                                      </p:to>
                                    </p:set>
                                    <p:animEffect transition="in" filter="fade">
                                      <p:cBhvr>
                                        <p:cTn id="17" dur="500"/>
                                        <p:tgtEl>
                                          <p:spTgt spid="6">
                                            <p:txEl>
                                              <p:pRg st="1" end="1"/>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6">
                                            <p:txEl>
                                              <p:pRg st="2" end="2"/>
                                            </p:txEl>
                                          </p:spTgt>
                                        </p:tgtEl>
                                        <p:attrNameLst>
                                          <p:attrName>style.visibility</p:attrName>
                                        </p:attrNameLst>
                                      </p:cBhvr>
                                      <p:to>
                                        <p:strVal val="visible"/>
                                      </p:to>
                                    </p:set>
                                    <p:animEffect transition="in" filter="fade">
                                      <p:cBhvr>
                                        <p:cTn id="20" dur="500"/>
                                        <p:tgtEl>
                                          <p:spTgt spid="6">
                                            <p:txEl>
                                              <p:pRg st="2" end="2"/>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6">
                                            <p:txEl>
                                              <p:pRg st="3" end="3"/>
                                            </p:txEl>
                                          </p:spTgt>
                                        </p:tgtEl>
                                        <p:attrNameLst>
                                          <p:attrName>style.visibility</p:attrName>
                                        </p:attrNameLst>
                                      </p:cBhvr>
                                      <p:to>
                                        <p:strVal val="visible"/>
                                      </p:to>
                                    </p:set>
                                    <p:animEffect transition="in" filter="fade">
                                      <p:cBhvr>
                                        <p:cTn id="23" dur="500"/>
                                        <p:tgtEl>
                                          <p:spTgt spid="6">
                                            <p:txEl>
                                              <p:pRg st="3" end="3"/>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6">
                                            <p:txEl>
                                              <p:pRg st="4" end="4"/>
                                            </p:txEl>
                                          </p:spTgt>
                                        </p:tgtEl>
                                        <p:attrNameLst>
                                          <p:attrName>style.visibility</p:attrName>
                                        </p:attrNameLst>
                                      </p:cBhvr>
                                      <p:to>
                                        <p:strVal val="visible"/>
                                      </p:to>
                                    </p:set>
                                    <p:animEffect transition="in" filter="fade">
                                      <p:cBhvr>
                                        <p:cTn id="26" dur="500"/>
                                        <p:tgtEl>
                                          <p:spTgt spid="6">
                                            <p:txEl>
                                              <p:pRg st="4" end="4"/>
                                            </p:txEl>
                                          </p:spTgt>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6">
                                            <p:txEl>
                                              <p:pRg st="5" end="5"/>
                                            </p:txEl>
                                          </p:spTgt>
                                        </p:tgtEl>
                                        <p:attrNameLst>
                                          <p:attrName>style.visibility</p:attrName>
                                        </p:attrNameLst>
                                      </p:cBhvr>
                                      <p:to>
                                        <p:strVal val="visible"/>
                                      </p:to>
                                    </p:set>
                                    <p:animEffect transition="in" filter="fade">
                                      <p:cBhvr>
                                        <p:cTn id="29" dur="500"/>
                                        <p:tgtEl>
                                          <p:spTgt spid="6">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在地价最大时进行森林采伐</a:t>
            </a:r>
          </a:p>
        </p:txBody>
      </p:sp>
      <p:sp>
        <p:nvSpPr>
          <p:cNvPr id="3" name="内容占位符 2"/>
          <p:cNvSpPr>
            <a:spLocks noGrp="1"/>
          </p:cNvSpPr>
          <p:nvPr>
            <p:ph idx="1"/>
          </p:nvPr>
        </p:nvSpPr>
        <p:spPr>
          <a:xfrm>
            <a:off x="892735" y="1467497"/>
            <a:ext cx="8003018" cy="1370822"/>
          </a:xfrm>
        </p:spPr>
        <p:txBody>
          <a:bodyPr/>
          <a:lstStyle/>
          <a:p>
            <a:r>
              <a:rPr lang="zh-CN" altLang="en-US" dirty="0"/>
              <a:t>即：</a:t>
            </a:r>
            <a:r>
              <a:rPr lang="en-US" altLang="zh-CN" dirty="0"/>
              <a:t>ΔV</a:t>
            </a:r>
            <a:r>
              <a:rPr lang="en-US" altLang="zh-CN" baseline="-25000" dirty="0"/>
              <a:t>s</a:t>
            </a:r>
            <a:r>
              <a:rPr lang="en-US" altLang="zh-CN" dirty="0"/>
              <a:t>=0</a:t>
            </a:r>
          </a:p>
          <a:p>
            <a:endParaRPr lang="zh-CN" altLang="en-US" dirty="0"/>
          </a:p>
        </p:txBody>
      </p:sp>
      <p:graphicFrame>
        <p:nvGraphicFramePr>
          <p:cNvPr id="4" name="对象 3"/>
          <p:cNvGraphicFramePr>
            <a:graphicFrameLocks noChangeAspect="1"/>
          </p:cNvGraphicFramePr>
          <p:nvPr>
            <p:extLst>
              <p:ext uri="{D42A27DB-BD31-4B8C-83A1-F6EECF244321}">
                <p14:modId xmlns:p14="http://schemas.microsoft.com/office/powerpoint/2010/main" val="2108885724"/>
              </p:ext>
            </p:extLst>
          </p:nvPr>
        </p:nvGraphicFramePr>
        <p:xfrm>
          <a:off x="1201420" y="2010358"/>
          <a:ext cx="7159625" cy="1130300"/>
        </p:xfrm>
        <a:graphic>
          <a:graphicData uri="http://schemas.openxmlformats.org/presentationml/2006/ole">
            <mc:AlternateContent xmlns:mc="http://schemas.openxmlformats.org/markup-compatibility/2006">
              <mc:Choice xmlns:v="urn:schemas-microsoft-com:vml" Requires="v">
                <p:oleObj spid="_x0000_s9385" name="公式" r:id="rId3" imgW="2654280" imgH="419040" progId="Equation.3">
                  <p:embed/>
                </p:oleObj>
              </mc:Choice>
              <mc:Fallback>
                <p:oleObj name="公式" r:id="rId3" imgW="2654280" imgH="419040" progId="Equation.3">
                  <p:embed/>
                  <p:pic>
                    <p:nvPicPr>
                      <p:cNvPr id="0" name=""/>
                      <p:cNvPicPr/>
                      <p:nvPr/>
                    </p:nvPicPr>
                    <p:blipFill>
                      <a:blip r:embed="rId4"/>
                      <a:stretch>
                        <a:fillRect/>
                      </a:stretch>
                    </p:blipFill>
                    <p:spPr>
                      <a:xfrm>
                        <a:off x="1201420" y="2010358"/>
                        <a:ext cx="7159625" cy="1130300"/>
                      </a:xfrm>
                      <a:prstGeom prst="rect">
                        <a:avLst/>
                      </a:prstGeom>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288985623"/>
              </p:ext>
            </p:extLst>
          </p:nvPr>
        </p:nvGraphicFramePr>
        <p:xfrm>
          <a:off x="1030763" y="3433890"/>
          <a:ext cx="7500938" cy="1300162"/>
        </p:xfrm>
        <a:graphic>
          <a:graphicData uri="http://schemas.openxmlformats.org/presentationml/2006/ole">
            <mc:AlternateContent xmlns:mc="http://schemas.openxmlformats.org/markup-compatibility/2006">
              <mc:Choice xmlns:v="urn:schemas-microsoft-com:vml" Requires="v">
                <p:oleObj spid="_x0000_s9386" name="公式" r:id="rId5" imgW="2781000" imgH="482400" progId="Equation.3">
                  <p:embed/>
                </p:oleObj>
              </mc:Choice>
              <mc:Fallback>
                <p:oleObj name="公式" r:id="rId5" imgW="2781000" imgH="482400" progId="Equation.3">
                  <p:embed/>
                  <p:pic>
                    <p:nvPicPr>
                      <p:cNvPr id="0" name=""/>
                      <p:cNvPicPr/>
                      <p:nvPr/>
                    </p:nvPicPr>
                    <p:blipFill>
                      <a:blip r:embed="rId6"/>
                      <a:stretch>
                        <a:fillRect/>
                      </a:stretch>
                    </p:blipFill>
                    <p:spPr>
                      <a:xfrm>
                        <a:off x="1030763" y="3433890"/>
                        <a:ext cx="7500938" cy="1300162"/>
                      </a:xfrm>
                      <a:prstGeom prst="rect">
                        <a:avLst/>
                      </a:prstGeom>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3148854466"/>
              </p:ext>
            </p:extLst>
          </p:nvPr>
        </p:nvGraphicFramePr>
        <p:xfrm>
          <a:off x="2897188" y="4819650"/>
          <a:ext cx="3767137" cy="1128713"/>
        </p:xfrm>
        <a:graphic>
          <a:graphicData uri="http://schemas.openxmlformats.org/presentationml/2006/ole">
            <mc:AlternateContent xmlns:mc="http://schemas.openxmlformats.org/markup-compatibility/2006">
              <mc:Choice xmlns:v="urn:schemas-microsoft-com:vml" Requires="v">
                <p:oleObj spid="_x0000_s9387" name="公式" r:id="rId7" imgW="1396800" imgH="419040" progId="Equation.3">
                  <p:embed/>
                </p:oleObj>
              </mc:Choice>
              <mc:Fallback>
                <p:oleObj name="公式" r:id="rId7" imgW="1396800" imgH="419040" progId="Equation.3">
                  <p:embed/>
                  <p:pic>
                    <p:nvPicPr>
                      <p:cNvPr id="0" name=""/>
                      <p:cNvPicPr/>
                      <p:nvPr/>
                    </p:nvPicPr>
                    <p:blipFill>
                      <a:blip r:embed="rId8"/>
                      <a:stretch>
                        <a:fillRect/>
                      </a:stretch>
                    </p:blipFill>
                    <p:spPr>
                      <a:xfrm>
                        <a:off x="2897188" y="4819650"/>
                        <a:ext cx="3767137" cy="1128713"/>
                      </a:xfrm>
                      <a:prstGeom prst="rect">
                        <a:avLst/>
                      </a:prstGeom>
                    </p:spPr>
                  </p:pic>
                </p:oleObj>
              </mc:Fallback>
            </mc:AlternateContent>
          </a:graphicData>
        </a:graphic>
      </p:graphicFrame>
    </p:spTree>
    <p:extLst>
      <p:ext uri="{BB962C8B-B14F-4D97-AF65-F5344CB8AC3E}">
        <p14:creationId xmlns:p14="http://schemas.microsoft.com/office/powerpoint/2010/main" val="14076374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671101013"/>
              </p:ext>
            </p:extLst>
          </p:nvPr>
        </p:nvGraphicFramePr>
        <p:xfrm>
          <a:off x="2148256" y="1088898"/>
          <a:ext cx="4381957" cy="1312926"/>
        </p:xfrm>
        <a:graphic>
          <a:graphicData uri="http://schemas.openxmlformats.org/presentationml/2006/ole">
            <mc:AlternateContent xmlns:mc="http://schemas.openxmlformats.org/markup-compatibility/2006">
              <mc:Choice xmlns:v="urn:schemas-microsoft-com:vml" Requires="v">
                <p:oleObj spid="_x0000_s10292" name="公式" r:id="rId3" imgW="1396800" imgH="419040" progId="Equation.3">
                  <p:embed/>
                </p:oleObj>
              </mc:Choice>
              <mc:Fallback>
                <p:oleObj name="公式" r:id="rId3" imgW="1396800" imgH="419040" progId="Equation.3">
                  <p:embed/>
                  <p:pic>
                    <p:nvPicPr>
                      <p:cNvPr id="0" name=""/>
                      <p:cNvPicPr/>
                      <p:nvPr/>
                    </p:nvPicPr>
                    <p:blipFill>
                      <a:blip r:embed="rId4"/>
                      <a:stretch>
                        <a:fillRect/>
                      </a:stretch>
                    </p:blipFill>
                    <p:spPr>
                      <a:xfrm>
                        <a:off x="2148256" y="1088898"/>
                        <a:ext cx="4381957" cy="1312926"/>
                      </a:xfrm>
                      <a:prstGeom prst="rect">
                        <a:avLst/>
                      </a:prstGeom>
                    </p:spPr>
                  </p:pic>
                </p:oleObj>
              </mc:Fallback>
            </mc:AlternateContent>
          </a:graphicData>
        </a:graphic>
      </p:graphicFrame>
      <p:sp>
        <p:nvSpPr>
          <p:cNvPr id="3" name="文本框 2"/>
          <p:cNvSpPr txBox="1"/>
          <p:nvPr/>
        </p:nvSpPr>
        <p:spPr>
          <a:xfrm>
            <a:off x="1792224" y="2450592"/>
            <a:ext cx="1682496" cy="1200329"/>
          </a:xfrm>
          <a:prstGeom prst="rect">
            <a:avLst/>
          </a:prstGeom>
          <a:noFill/>
        </p:spPr>
        <p:txBody>
          <a:bodyPr wrap="square" rtlCol="0">
            <a:spAutoFit/>
          </a:bodyPr>
          <a:lstStyle/>
          <a:p>
            <a:r>
              <a:rPr lang="zh-CN" altLang="en-US" dirty="0"/>
              <a:t>森林增长一年所带来的立木价值的增长率（边际效益）</a:t>
            </a:r>
          </a:p>
        </p:txBody>
      </p:sp>
      <p:sp>
        <p:nvSpPr>
          <p:cNvPr id="4" name="文本框 3"/>
          <p:cNvSpPr txBox="1"/>
          <p:nvPr/>
        </p:nvSpPr>
        <p:spPr>
          <a:xfrm>
            <a:off x="4339234" y="2589091"/>
            <a:ext cx="1682496" cy="923330"/>
          </a:xfrm>
          <a:prstGeom prst="rect">
            <a:avLst/>
          </a:prstGeom>
          <a:noFill/>
        </p:spPr>
        <p:txBody>
          <a:bodyPr wrap="square" rtlCol="0">
            <a:spAutoFit/>
          </a:bodyPr>
          <a:lstStyle/>
          <a:p>
            <a:r>
              <a:rPr lang="zh-CN" altLang="en-US" dirty="0"/>
              <a:t>包括维持土地成本来内的边际成本</a:t>
            </a:r>
          </a:p>
        </p:txBody>
      </p:sp>
      <p:pic>
        <p:nvPicPr>
          <p:cNvPr id="6" name="图片 5">
            <a:hlinkClick r:id="rId5" action="ppaction://hlinksldjump"/>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886244" y="1425359"/>
            <a:ext cx="1625397" cy="1625397"/>
          </a:xfrm>
          <a:prstGeom prst="rect">
            <a:avLst/>
          </a:prstGeom>
        </p:spPr>
      </p:pic>
      <p:sp>
        <p:nvSpPr>
          <p:cNvPr id="7" name="文本框 6"/>
          <p:cNvSpPr txBox="1"/>
          <p:nvPr/>
        </p:nvSpPr>
        <p:spPr>
          <a:xfrm>
            <a:off x="524256" y="4058150"/>
            <a:ext cx="7773859" cy="461665"/>
          </a:xfrm>
          <a:prstGeom prst="rect">
            <a:avLst/>
          </a:prstGeom>
          <a:noFill/>
        </p:spPr>
        <p:txBody>
          <a:bodyPr wrap="none" rtlCol="0">
            <a:spAutoFit/>
            <a:scene3d>
              <a:camera prst="orthographicFront"/>
              <a:lightRig rig="harsh" dir="t"/>
            </a:scene3d>
            <a:sp3d extrusionH="57150" prstMaterial="matte">
              <a:bevelT w="63500" h="12700" prst="angle"/>
              <a:contourClr>
                <a:schemeClr val="bg1">
                  <a:lumMod val="65000"/>
                </a:schemeClr>
              </a:contourClr>
            </a:sp3d>
          </a:bodyPr>
          <a:lstStyle/>
          <a:p>
            <a:r>
              <a:rPr lang="zh-CN" altLang="en-US" sz="2400" b="1" dirty="0">
                <a:ln/>
                <a:solidFill>
                  <a:schemeClr val="accent3"/>
                </a:solidFill>
              </a:rPr>
              <a:t>这就是著名的“弗斯曼公式”（</a:t>
            </a:r>
            <a:r>
              <a:rPr lang="en-US" altLang="zh-CN" sz="2400" b="1" dirty="0" err="1">
                <a:ln/>
                <a:solidFill>
                  <a:schemeClr val="accent3"/>
                </a:solidFill>
              </a:rPr>
              <a:t>Faustmann</a:t>
            </a:r>
            <a:r>
              <a:rPr lang="en-US" altLang="zh-CN" sz="2400" b="1" dirty="0">
                <a:ln/>
                <a:solidFill>
                  <a:schemeClr val="accent3"/>
                </a:solidFill>
              </a:rPr>
              <a:t> formula</a:t>
            </a:r>
            <a:r>
              <a:rPr lang="zh-CN" altLang="en-US" sz="2400" b="1" dirty="0">
                <a:ln/>
                <a:solidFill>
                  <a:schemeClr val="accent3"/>
                </a:solidFill>
              </a:rPr>
              <a:t>）</a:t>
            </a:r>
          </a:p>
        </p:txBody>
      </p:sp>
      <p:sp>
        <p:nvSpPr>
          <p:cNvPr id="8" name="文本框 7"/>
          <p:cNvSpPr txBox="1"/>
          <p:nvPr/>
        </p:nvSpPr>
        <p:spPr>
          <a:xfrm>
            <a:off x="1308027" y="4927044"/>
            <a:ext cx="5828840" cy="369332"/>
          </a:xfrm>
          <a:prstGeom prst="rect">
            <a:avLst/>
          </a:prstGeom>
          <a:noFill/>
        </p:spPr>
        <p:txBody>
          <a:bodyPr wrap="none" rtlCol="0">
            <a:spAutoFit/>
          </a:bodyPr>
          <a:lstStyle/>
          <a:p>
            <a:r>
              <a:rPr lang="zh-CN" altLang="en-US" dirty="0"/>
              <a:t>由德国资本经济理论学家马丁</a:t>
            </a:r>
            <a:r>
              <a:rPr lang="en-US" altLang="zh-CN" dirty="0"/>
              <a:t>·</a:t>
            </a:r>
            <a:r>
              <a:rPr lang="zh-CN" altLang="en-US" dirty="0"/>
              <a:t>弗斯曼于</a:t>
            </a:r>
            <a:r>
              <a:rPr lang="en-US" altLang="zh-CN" dirty="0"/>
              <a:t>1849</a:t>
            </a:r>
            <a:r>
              <a:rPr lang="zh-CN" altLang="en-US" dirty="0"/>
              <a:t>年推导得出</a:t>
            </a:r>
          </a:p>
        </p:txBody>
      </p:sp>
      <p:sp>
        <p:nvSpPr>
          <p:cNvPr id="9" name="文本框 8">
            <a:hlinkClick r:id="rId7" action="ppaction://hlinksldjump"/>
          </p:cNvPr>
          <p:cNvSpPr txBox="1"/>
          <p:nvPr/>
        </p:nvSpPr>
        <p:spPr>
          <a:xfrm>
            <a:off x="300789" y="6063916"/>
            <a:ext cx="3615862" cy="369332"/>
          </a:xfrm>
          <a:prstGeom prst="rect">
            <a:avLst/>
          </a:prstGeom>
        </p:spPr>
        <p:style>
          <a:lnRef idx="1">
            <a:schemeClr val="accent5"/>
          </a:lnRef>
          <a:fillRef idx="3">
            <a:schemeClr val="accent5"/>
          </a:fillRef>
          <a:effectRef idx="2">
            <a:schemeClr val="accent5"/>
          </a:effectRef>
          <a:fontRef idx="minor">
            <a:schemeClr val="lt1"/>
          </a:fontRef>
        </p:style>
        <p:txBody>
          <a:bodyPr wrap="none" rtlCol="0">
            <a:spAutoFit/>
          </a:bodyPr>
          <a:lstStyle/>
          <a:p>
            <a:r>
              <a:rPr lang="en-US" altLang="zh-CN" dirty="0" err="1">
                <a:solidFill>
                  <a:schemeClr val="tx2">
                    <a:lumMod val="60000"/>
                    <a:lumOff val="40000"/>
                  </a:schemeClr>
                </a:solidFill>
                <a:effectLst>
                  <a:innerShdw blurRad="63500" dist="50800" dir="18900000">
                    <a:prstClr val="black">
                      <a:alpha val="50000"/>
                    </a:prstClr>
                  </a:innerShdw>
                </a:effectLst>
              </a:rPr>
              <a:t>Faustmann</a:t>
            </a:r>
            <a:r>
              <a:rPr lang="zh-CN" altLang="en-US" dirty="0">
                <a:solidFill>
                  <a:schemeClr val="tx2">
                    <a:lumMod val="60000"/>
                    <a:lumOff val="40000"/>
                  </a:schemeClr>
                </a:solidFill>
                <a:effectLst>
                  <a:innerShdw blurRad="63500" dist="50800" dir="18900000">
                    <a:prstClr val="black">
                      <a:alpha val="50000"/>
                    </a:prstClr>
                  </a:innerShdw>
                </a:effectLst>
              </a:rPr>
              <a:t>公式对异龄林同样适用</a:t>
            </a:r>
          </a:p>
        </p:txBody>
      </p:sp>
    </p:spTree>
    <p:extLst>
      <p:ext uri="{BB962C8B-B14F-4D97-AF65-F5344CB8AC3E}">
        <p14:creationId xmlns:p14="http://schemas.microsoft.com/office/powerpoint/2010/main" val="838261268"/>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Freeform 1"/>
          <p:cNvSpPr>
            <a:spLocks/>
          </p:cNvSpPr>
          <p:nvPr/>
        </p:nvSpPr>
        <p:spPr bwMode="auto">
          <a:xfrm>
            <a:off x="3492500" y="2708275"/>
            <a:ext cx="2232025" cy="1581150"/>
          </a:xfrm>
          <a:custGeom>
            <a:avLst/>
            <a:gdLst>
              <a:gd name="T0" fmla="*/ 0 w 2483"/>
              <a:gd name="T1" fmla="*/ 0 h 2539"/>
              <a:gd name="T2" fmla="*/ 138192282 w 2483"/>
              <a:gd name="T3" fmla="*/ 312353411 h 2539"/>
              <a:gd name="T4" fmla="*/ 822689537 w 2483"/>
              <a:gd name="T5" fmla="*/ 705314335 h 2539"/>
              <a:gd name="T6" fmla="*/ 1384349009 w 2483"/>
              <a:gd name="T7" fmla="*/ 899469467 h 2539"/>
              <a:gd name="T8" fmla="*/ 2006619241 w 2483"/>
              <a:gd name="T9" fmla="*/ 983952323 h 2539"/>
              <a:gd name="T10" fmla="*/ 0 60000 65536"/>
              <a:gd name="T11" fmla="*/ 0 60000 65536"/>
              <a:gd name="T12" fmla="*/ 0 60000 65536"/>
              <a:gd name="T13" fmla="*/ 0 60000 65536"/>
              <a:gd name="T14" fmla="*/ 0 60000 65536"/>
              <a:gd name="T15" fmla="*/ 0 w 2483"/>
              <a:gd name="T16" fmla="*/ 0 h 2539"/>
              <a:gd name="T17" fmla="*/ 2483 w 2483"/>
              <a:gd name="T18" fmla="*/ 2539 h 2539"/>
            </a:gdLst>
            <a:ahLst/>
            <a:cxnLst>
              <a:cxn ang="T10">
                <a:pos x="T0" y="T1"/>
              </a:cxn>
              <a:cxn ang="T11">
                <a:pos x="T2" y="T3"/>
              </a:cxn>
              <a:cxn ang="T12">
                <a:pos x="T4" y="T5"/>
              </a:cxn>
              <a:cxn ang="T13">
                <a:pos x="T6" y="T7"/>
              </a:cxn>
              <a:cxn ang="T14">
                <a:pos x="T8" y="T9"/>
              </a:cxn>
            </a:cxnLst>
            <a:rect l="T15" t="T16" r="T17" b="T18"/>
            <a:pathLst>
              <a:path w="2483" h="2539">
                <a:moveTo>
                  <a:pt x="0" y="0"/>
                </a:moveTo>
                <a:cubicBezTo>
                  <a:pt x="0" y="251"/>
                  <a:pt x="1" y="503"/>
                  <a:pt x="171" y="806"/>
                </a:cubicBezTo>
                <a:cubicBezTo>
                  <a:pt x="341" y="1109"/>
                  <a:pt x="761" y="1567"/>
                  <a:pt x="1018" y="1820"/>
                </a:cubicBezTo>
                <a:cubicBezTo>
                  <a:pt x="1275" y="2073"/>
                  <a:pt x="1469" y="2201"/>
                  <a:pt x="1713" y="2321"/>
                </a:cubicBezTo>
                <a:cubicBezTo>
                  <a:pt x="1957" y="2441"/>
                  <a:pt x="2355" y="2503"/>
                  <a:pt x="2483" y="2539"/>
                </a:cubicBezTo>
              </a:path>
            </a:pathLst>
          </a:custGeom>
          <a:noFill/>
          <a:ln w="9525">
            <a:solidFill>
              <a:srgbClr val="000000"/>
            </a:solidFill>
            <a:round/>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a:p>
        </p:txBody>
      </p:sp>
      <p:grpSp>
        <p:nvGrpSpPr>
          <p:cNvPr id="32771" name="Group 2"/>
          <p:cNvGrpSpPr>
            <a:grpSpLocks/>
          </p:cNvGrpSpPr>
          <p:nvPr/>
        </p:nvGrpSpPr>
        <p:grpSpPr bwMode="auto">
          <a:xfrm>
            <a:off x="1187450" y="1447800"/>
            <a:ext cx="6699250" cy="4429125"/>
            <a:chOff x="2470" y="2966"/>
            <a:chExt cx="6911" cy="4393"/>
          </a:xfrm>
        </p:grpSpPr>
        <p:sp>
          <p:nvSpPr>
            <p:cNvPr id="4" name="Text Box 2233"/>
            <p:cNvSpPr txBox="1">
              <a:spLocks noRot="1" noChangeAspect="1" noMove="1" noResize="1" noEditPoints="1" noAdjustHandles="1" noChangeArrowheads="1" noChangeShapeType="1" noTextEdit="1"/>
            </p:cNvSpPr>
            <p:nvPr/>
          </p:nvSpPr>
          <p:spPr bwMode="auto">
            <a:xfrm>
              <a:off x="5755" y="4484"/>
              <a:ext cx="3626" cy="955"/>
            </a:xfrm>
            <a:prstGeom prst="rect">
              <a:avLst/>
            </a:prstGeom>
            <a:blipFill rotWithShape="1">
              <a:blip r:embed="rId3" cstate="print">
                <a:extLst>
                  <a:ext uri="{28A0092B-C50C-407E-A947-70E740481C1C}">
                    <a14:useLocalDpi xmlns:a14="http://schemas.microsoft.com/office/drawing/2010/main"/>
                  </a:ext>
                </a:extLst>
              </a:blip>
              <a:stretch>
                <a:fillRect t="-3311" b="-1987"/>
              </a:stretch>
            </a:blipFill>
            <a:ln w="9525">
              <a:noFill/>
              <a:miter lim="800000"/>
              <a:headEnd/>
              <a:tailEnd/>
            </a:ln>
          </p:spPr>
          <p:txBody>
            <a:bodyPr/>
            <a:lstStyle/>
            <a:p>
              <a:pPr fontAlgn="auto">
                <a:spcBef>
                  <a:spcPts val="0"/>
                </a:spcBef>
                <a:spcAft>
                  <a:spcPts val="0"/>
                </a:spcAft>
                <a:defRPr/>
              </a:pPr>
              <a:r>
                <a:rPr lang="en-CA">
                  <a:noFill/>
                  <a:latin typeface="+mn-lt"/>
                  <a:ea typeface="+mn-ea"/>
                </a:rPr>
                <a:t> </a:t>
              </a:r>
            </a:p>
          </p:txBody>
        </p:sp>
        <p:sp>
          <p:nvSpPr>
            <p:cNvPr id="32778" name="Text Box 2234"/>
            <p:cNvSpPr txBox="1">
              <a:spLocks noChangeArrowheads="1"/>
            </p:cNvSpPr>
            <p:nvPr/>
          </p:nvSpPr>
          <p:spPr bwMode="auto">
            <a:xfrm>
              <a:off x="6857" y="6960"/>
              <a:ext cx="2285" cy="38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bIns="0" anchor="b"/>
            <a:lstStyle>
              <a:lvl1pPr eaLnBrk="0" hangingPunct="0">
                <a:defRPr>
                  <a:solidFill>
                    <a:schemeClr val="tx1"/>
                  </a:solidFill>
                  <a:latin typeface="Arial" charset="0"/>
                  <a:ea typeface="宋体" charset="0"/>
                </a:defRPr>
              </a:lvl1pPr>
              <a:lvl2pPr marL="742950" indent="-285750" eaLnBrk="0" hangingPunct="0">
                <a:defRPr>
                  <a:solidFill>
                    <a:schemeClr val="tx1"/>
                  </a:solidFill>
                  <a:latin typeface="Arial" charset="0"/>
                  <a:ea typeface="宋体" charset="0"/>
                </a:defRPr>
              </a:lvl2pPr>
              <a:lvl3pPr marL="1143000" indent="-228600" eaLnBrk="0" hangingPunct="0">
                <a:defRPr>
                  <a:solidFill>
                    <a:schemeClr val="tx1"/>
                  </a:solidFill>
                  <a:latin typeface="Arial" charset="0"/>
                  <a:ea typeface="宋体" charset="0"/>
                </a:defRPr>
              </a:lvl3pPr>
              <a:lvl4pPr marL="1600200" indent="-228600" eaLnBrk="0" hangingPunct="0">
                <a:defRPr>
                  <a:solidFill>
                    <a:schemeClr val="tx1"/>
                  </a:solidFill>
                  <a:latin typeface="Arial" charset="0"/>
                  <a:ea typeface="宋体" charset="0"/>
                </a:defRPr>
              </a:lvl4pPr>
              <a:lvl5pPr marL="2057400" indent="-228600" eaLnBrk="0" hangingPunct="0">
                <a:defRPr>
                  <a:solidFill>
                    <a:schemeClr val="tx1"/>
                  </a:solidFill>
                  <a:latin typeface="Arial" charset="0"/>
                  <a:ea typeface="宋体" charset="0"/>
                </a:defRPr>
              </a:lvl5pPr>
              <a:lvl6pPr marL="2514600" indent="-228600" eaLnBrk="0" fontAlgn="base" hangingPunct="0">
                <a:spcBef>
                  <a:spcPct val="0"/>
                </a:spcBef>
                <a:spcAft>
                  <a:spcPct val="0"/>
                </a:spcAft>
                <a:defRPr>
                  <a:solidFill>
                    <a:schemeClr val="tx1"/>
                  </a:solidFill>
                  <a:latin typeface="Arial" charset="0"/>
                  <a:ea typeface="宋体" charset="0"/>
                </a:defRPr>
              </a:lvl6pPr>
              <a:lvl7pPr marL="2971800" indent="-228600" eaLnBrk="0" fontAlgn="base" hangingPunct="0">
                <a:spcBef>
                  <a:spcPct val="0"/>
                </a:spcBef>
                <a:spcAft>
                  <a:spcPct val="0"/>
                </a:spcAft>
                <a:defRPr>
                  <a:solidFill>
                    <a:schemeClr val="tx1"/>
                  </a:solidFill>
                  <a:latin typeface="Arial" charset="0"/>
                  <a:ea typeface="宋体" charset="0"/>
                </a:defRPr>
              </a:lvl7pPr>
              <a:lvl8pPr marL="3429000" indent="-228600" eaLnBrk="0" fontAlgn="base" hangingPunct="0">
                <a:spcBef>
                  <a:spcPct val="0"/>
                </a:spcBef>
                <a:spcAft>
                  <a:spcPct val="0"/>
                </a:spcAft>
                <a:defRPr>
                  <a:solidFill>
                    <a:schemeClr val="tx1"/>
                  </a:solidFill>
                  <a:latin typeface="Arial" charset="0"/>
                  <a:ea typeface="宋体" charset="0"/>
                </a:defRPr>
              </a:lvl8pPr>
              <a:lvl9pPr marL="3886200" indent="-228600" eaLnBrk="0" fontAlgn="base" hangingPunct="0">
                <a:spcBef>
                  <a:spcPct val="0"/>
                </a:spcBef>
                <a:spcAft>
                  <a:spcPct val="0"/>
                </a:spcAft>
                <a:defRPr>
                  <a:solidFill>
                    <a:schemeClr val="tx1"/>
                  </a:solidFill>
                  <a:latin typeface="Arial" charset="0"/>
                  <a:ea typeface="宋体" charset="0"/>
                </a:defRPr>
              </a:lvl9pPr>
            </a:lstStyle>
            <a:p>
              <a:pPr algn="ctr" eaLnBrk="1" hangingPunct="1"/>
              <a:r>
                <a:rPr lang="en-US" altLang="zh-CN">
                  <a:latin typeface="Times New Roman" charset="0"/>
                  <a:cs typeface="Times New Roman" charset="0"/>
                </a:rPr>
                <a:t>Rotation age (years)</a:t>
              </a:r>
              <a:endParaRPr lang="en-CA">
                <a:latin typeface="Times New Roman" charset="0"/>
                <a:cs typeface="Times New Roman" charset="0"/>
              </a:endParaRPr>
            </a:p>
          </p:txBody>
        </p:sp>
        <p:cxnSp>
          <p:nvCxnSpPr>
            <p:cNvPr id="32779" name="AutoShape 2235"/>
            <p:cNvCxnSpPr>
              <a:cxnSpLocks noChangeShapeType="1"/>
            </p:cNvCxnSpPr>
            <p:nvPr/>
          </p:nvCxnSpPr>
          <p:spPr bwMode="auto">
            <a:xfrm>
              <a:off x="4126" y="5928"/>
              <a:ext cx="3805" cy="2"/>
            </a:xfrm>
            <a:prstGeom prst="straightConnector1">
              <a:avLst/>
            </a:prstGeom>
            <a:noFill/>
            <a:ln w="6350">
              <a:solidFill>
                <a:srgbClr val="000000"/>
              </a:solidFill>
              <a:prstDash val="dash"/>
              <a:round/>
              <a:headEnd/>
              <a:tailEnd/>
            </a:ln>
            <a:extLst>
              <a:ext uri="{909E8E84-426E-40dd-AFC4-6F175D3DCCD1}">
                <a14:hiddenFill xmlns:a14="http://schemas.microsoft.com/office/drawing/2010/main" xmlns="">
                  <a:noFill/>
                </a14:hiddenFill>
              </a:ext>
            </a:extLst>
          </p:spPr>
        </p:cxnSp>
        <p:cxnSp>
          <p:nvCxnSpPr>
            <p:cNvPr id="32780" name="AutoShape 2236"/>
            <p:cNvCxnSpPr>
              <a:cxnSpLocks noChangeShapeType="1"/>
            </p:cNvCxnSpPr>
            <p:nvPr/>
          </p:nvCxnSpPr>
          <p:spPr bwMode="auto">
            <a:xfrm>
              <a:off x="6030" y="5945"/>
              <a:ext cx="1" cy="979"/>
            </a:xfrm>
            <a:prstGeom prst="straightConnector1">
              <a:avLst/>
            </a:prstGeom>
            <a:noFill/>
            <a:ln w="6350">
              <a:solidFill>
                <a:srgbClr val="000000"/>
              </a:solidFill>
              <a:prstDash val="dash"/>
              <a:round/>
              <a:headEnd/>
              <a:tailEnd/>
            </a:ln>
            <a:extLst>
              <a:ext uri="{909E8E84-426E-40dd-AFC4-6F175D3DCCD1}">
                <a14:hiddenFill xmlns:a14="http://schemas.microsoft.com/office/drawing/2010/main" xmlns="">
                  <a:noFill/>
                </a14:hiddenFill>
              </a:ext>
            </a:extLst>
          </p:spPr>
        </p:cxnSp>
        <p:sp>
          <p:nvSpPr>
            <p:cNvPr id="32781" name="Text Box 2237"/>
            <p:cNvSpPr txBox="1">
              <a:spLocks noChangeArrowheads="1"/>
            </p:cNvSpPr>
            <p:nvPr/>
          </p:nvSpPr>
          <p:spPr bwMode="auto">
            <a:xfrm>
              <a:off x="5222" y="2966"/>
              <a:ext cx="2405" cy="67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charset="0"/>
                  <a:ea typeface="宋体" charset="0"/>
                </a:defRPr>
              </a:lvl1pPr>
              <a:lvl2pPr marL="742950" indent="-285750" eaLnBrk="0" hangingPunct="0">
                <a:defRPr>
                  <a:solidFill>
                    <a:schemeClr val="tx1"/>
                  </a:solidFill>
                  <a:latin typeface="Arial" charset="0"/>
                  <a:ea typeface="宋体" charset="0"/>
                </a:defRPr>
              </a:lvl2pPr>
              <a:lvl3pPr marL="1143000" indent="-228600" eaLnBrk="0" hangingPunct="0">
                <a:defRPr>
                  <a:solidFill>
                    <a:schemeClr val="tx1"/>
                  </a:solidFill>
                  <a:latin typeface="Arial" charset="0"/>
                  <a:ea typeface="宋体" charset="0"/>
                </a:defRPr>
              </a:lvl3pPr>
              <a:lvl4pPr marL="1600200" indent="-228600" eaLnBrk="0" hangingPunct="0">
                <a:defRPr>
                  <a:solidFill>
                    <a:schemeClr val="tx1"/>
                  </a:solidFill>
                  <a:latin typeface="Arial" charset="0"/>
                  <a:ea typeface="宋体" charset="0"/>
                </a:defRPr>
              </a:lvl4pPr>
              <a:lvl5pPr marL="2057400" indent="-228600" eaLnBrk="0" hangingPunct="0">
                <a:defRPr>
                  <a:solidFill>
                    <a:schemeClr val="tx1"/>
                  </a:solidFill>
                  <a:latin typeface="Arial" charset="0"/>
                  <a:ea typeface="宋体" charset="0"/>
                </a:defRPr>
              </a:lvl5pPr>
              <a:lvl6pPr marL="2514600" indent="-228600" eaLnBrk="0" fontAlgn="base" hangingPunct="0">
                <a:spcBef>
                  <a:spcPct val="0"/>
                </a:spcBef>
                <a:spcAft>
                  <a:spcPct val="0"/>
                </a:spcAft>
                <a:defRPr>
                  <a:solidFill>
                    <a:schemeClr val="tx1"/>
                  </a:solidFill>
                  <a:latin typeface="Arial" charset="0"/>
                  <a:ea typeface="宋体" charset="0"/>
                </a:defRPr>
              </a:lvl6pPr>
              <a:lvl7pPr marL="2971800" indent="-228600" eaLnBrk="0" fontAlgn="base" hangingPunct="0">
                <a:spcBef>
                  <a:spcPct val="0"/>
                </a:spcBef>
                <a:spcAft>
                  <a:spcPct val="0"/>
                </a:spcAft>
                <a:defRPr>
                  <a:solidFill>
                    <a:schemeClr val="tx1"/>
                  </a:solidFill>
                  <a:latin typeface="Arial" charset="0"/>
                  <a:ea typeface="宋体" charset="0"/>
                </a:defRPr>
              </a:lvl7pPr>
              <a:lvl8pPr marL="3429000" indent="-228600" eaLnBrk="0" fontAlgn="base" hangingPunct="0">
                <a:spcBef>
                  <a:spcPct val="0"/>
                </a:spcBef>
                <a:spcAft>
                  <a:spcPct val="0"/>
                </a:spcAft>
                <a:defRPr>
                  <a:solidFill>
                    <a:schemeClr val="tx1"/>
                  </a:solidFill>
                  <a:latin typeface="Arial" charset="0"/>
                  <a:ea typeface="宋体" charset="0"/>
                </a:defRPr>
              </a:lvl8pPr>
              <a:lvl9pPr marL="3886200" indent="-228600" eaLnBrk="0" fontAlgn="base" hangingPunct="0">
                <a:spcBef>
                  <a:spcPct val="0"/>
                </a:spcBef>
                <a:spcAft>
                  <a:spcPct val="0"/>
                </a:spcAft>
                <a:defRPr>
                  <a:solidFill>
                    <a:schemeClr val="tx1"/>
                  </a:solidFill>
                  <a:latin typeface="Arial" charset="0"/>
                  <a:ea typeface="宋体" charset="0"/>
                </a:defRPr>
              </a:lvl9pPr>
            </a:lstStyle>
            <a:p>
              <a:pPr algn="ctr" eaLnBrk="1" hangingPunct="1"/>
              <a:r>
                <a:rPr lang="en-US" altLang="zh-CN">
                  <a:latin typeface="Times New Roman" charset="0"/>
                  <a:cs typeface="Times New Roman" charset="0"/>
                </a:rPr>
                <a:t>Incremental growth in value </a:t>
              </a:r>
              <a:r>
                <a:rPr lang="en-US" altLang="zh-CN">
                  <a:latin typeface="Times New Roman" charset="0"/>
                  <a:cs typeface="Times New Roman" charset="0"/>
                  <a:sym typeface="Symbol" charset="0"/>
                </a:rPr>
                <a:t></a:t>
              </a:r>
              <a:r>
                <a:rPr lang="en-US" altLang="zh-CN" i="1">
                  <a:latin typeface="Times New Roman" charset="0"/>
                  <a:cs typeface="Times New Roman" charset="0"/>
                </a:rPr>
                <a:t>S</a:t>
              </a:r>
              <a:r>
                <a:rPr lang="en-US" altLang="zh-CN">
                  <a:latin typeface="Times New Roman" charset="0"/>
                  <a:cs typeface="Times New Roman" charset="0"/>
                </a:rPr>
                <a:t>/</a:t>
              </a:r>
              <a:r>
                <a:rPr lang="en-US" altLang="zh-CN" i="1">
                  <a:latin typeface="Times New Roman" charset="0"/>
                  <a:cs typeface="Times New Roman" charset="0"/>
                </a:rPr>
                <a:t>S</a:t>
              </a:r>
              <a:r>
                <a:rPr lang="en-US" altLang="zh-CN">
                  <a:latin typeface="Times New Roman" charset="0"/>
                  <a:cs typeface="Times New Roman" charset="0"/>
                </a:rPr>
                <a:t>(</a:t>
              </a:r>
              <a:r>
                <a:rPr lang="en-US" altLang="zh-CN" i="1">
                  <a:latin typeface="Times New Roman" charset="0"/>
                  <a:cs typeface="Times New Roman" charset="0"/>
                </a:rPr>
                <a:t>t</a:t>
              </a:r>
              <a:r>
                <a:rPr lang="en-US" altLang="zh-CN">
                  <a:latin typeface="Times New Roman" charset="0"/>
                  <a:cs typeface="Times New Roman" charset="0"/>
                </a:rPr>
                <a:t>)</a:t>
              </a:r>
              <a:endParaRPr lang="en-CA">
                <a:latin typeface="Times New Roman" charset="0"/>
                <a:cs typeface="Times New Roman" charset="0"/>
              </a:endParaRPr>
            </a:p>
          </p:txBody>
        </p:sp>
        <p:sp>
          <p:nvSpPr>
            <p:cNvPr id="32782" name="Text Box 2238"/>
            <p:cNvSpPr txBox="1">
              <a:spLocks noChangeArrowheads="1"/>
            </p:cNvSpPr>
            <p:nvPr/>
          </p:nvSpPr>
          <p:spPr bwMode="auto">
            <a:xfrm>
              <a:off x="2470" y="3170"/>
              <a:ext cx="1656" cy="92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charset="0"/>
                  <a:ea typeface="宋体" charset="0"/>
                </a:defRPr>
              </a:lvl1pPr>
              <a:lvl2pPr marL="742950" indent="-285750" eaLnBrk="0" hangingPunct="0">
                <a:defRPr>
                  <a:solidFill>
                    <a:schemeClr val="tx1"/>
                  </a:solidFill>
                  <a:latin typeface="Arial" charset="0"/>
                  <a:ea typeface="宋体" charset="0"/>
                </a:defRPr>
              </a:lvl2pPr>
              <a:lvl3pPr marL="1143000" indent="-228600" eaLnBrk="0" hangingPunct="0">
                <a:defRPr>
                  <a:solidFill>
                    <a:schemeClr val="tx1"/>
                  </a:solidFill>
                  <a:latin typeface="Arial" charset="0"/>
                  <a:ea typeface="宋体" charset="0"/>
                </a:defRPr>
              </a:lvl3pPr>
              <a:lvl4pPr marL="1600200" indent="-228600" eaLnBrk="0" hangingPunct="0">
                <a:defRPr>
                  <a:solidFill>
                    <a:schemeClr val="tx1"/>
                  </a:solidFill>
                  <a:latin typeface="Arial" charset="0"/>
                  <a:ea typeface="宋体" charset="0"/>
                </a:defRPr>
              </a:lvl4pPr>
              <a:lvl5pPr marL="2057400" indent="-228600" eaLnBrk="0" hangingPunct="0">
                <a:defRPr>
                  <a:solidFill>
                    <a:schemeClr val="tx1"/>
                  </a:solidFill>
                  <a:latin typeface="Arial" charset="0"/>
                  <a:ea typeface="宋体" charset="0"/>
                </a:defRPr>
              </a:lvl5pPr>
              <a:lvl6pPr marL="2514600" indent="-228600" eaLnBrk="0" fontAlgn="base" hangingPunct="0">
                <a:spcBef>
                  <a:spcPct val="0"/>
                </a:spcBef>
                <a:spcAft>
                  <a:spcPct val="0"/>
                </a:spcAft>
                <a:defRPr>
                  <a:solidFill>
                    <a:schemeClr val="tx1"/>
                  </a:solidFill>
                  <a:latin typeface="Arial" charset="0"/>
                  <a:ea typeface="宋体" charset="0"/>
                </a:defRPr>
              </a:lvl6pPr>
              <a:lvl7pPr marL="2971800" indent="-228600" eaLnBrk="0" fontAlgn="base" hangingPunct="0">
                <a:spcBef>
                  <a:spcPct val="0"/>
                </a:spcBef>
                <a:spcAft>
                  <a:spcPct val="0"/>
                </a:spcAft>
                <a:defRPr>
                  <a:solidFill>
                    <a:schemeClr val="tx1"/>
                  </a:solidFill>
                  <a:latin typeface="Arial" charset="0"/>
                  <a:ea typeface="宋体" charset="0"/>
                </a:defRPr>
              </a:lvl7pPr>
              <a:lvl8pPr marL="3429000" indent="-228600" eaLnBrk="0" fontAlgn="base" hangingPunct="0">
                <a:spcBef>
                  <a:spcPct val="0"/>
                </a:spcBef>
                <a:spcAft>
                  <a:spcPct val="0"/>
                </a:spcAft>
                <a:defRPr>
                  <a:solidFill>
                    <a:schemeClr val="tx1"/>
                  </a:solidFill>
                  <a:latin typeface="Arial" charset="0"/>
                  <a:ea typeface="宋体" charset="0"/>
                </a:defRPr>
              </a:lvl8pPr>
              <a:lvl9pPr marL="3886200" indent="-228600" eaLnBrk="0" fontAlgn="base" hangingPunct="0">
                <a:spcBef>
                  <a:spcPct val="0"/>
                </a:spcBef>
                <a:spcAft>
                  <a:spcPct val="0"/>
                </a:spcAft>
                <a:defRPr>
                  <a:solidFill>
                    <a:schemeClr val="tx1"/>
                  </a:solidFill>
                  <a:latin typeface="Arial" charset="0"/>
                  <a:ea typeface="宋体" charset="0"/>
                </a:defRPr>
              </a:lvl9pPr>
            </a:lstStyle>
            <a:p>
              <a:pPr algn="ctr" eaLnBrk="1" hangingPunct="1"/>
              <a:r>
                <a:rPr lang="en-US" altLang="zh-CN">
                  <a:latin typeface="Times New Roman" charset="0"/>
                  <a:cs typeface="Times New Roman" charset="0"/>
                </a:rPr>
                <a:t>Annual costs and returns ($)</a:t>
              </a:r>
              <a:endParaRPr lang="en-CA">
                <a:latin typeface="Times New Roman" charset="0"/>
                <a:cs typeface="Times New Roman" charset="0"/>
              </a:endParaRPr>
            </a:p>
          </p:txBody>
        </p:sp>
        <p:sp>
          <p:nvSpPr>
            <p:cNvPr id="32783" name="Text Box 2239"/>
            <p:cNvSpPr txBox="1">
              <a:spLocks noChangeArrowheads="1"/>
            </p:cNvSpPr>
            <p:nvPr/>
          </p:nvSpPr>
          <p:spPr bwMode="auto">
            <a:xfrm>
              <a:off x="5873" y="6960"/>
              <a:ext cx="604" cy="3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charset="0"/>
                  <a:ea typeface="宋体" charset="0"/>
                </a:defRPr>
              </a:lvl1pPr>
              <a:lvl2pPr marL="742950" indent="-285750" eaLnBrk="0" hangingPunct="0">
                <a:defRPr>
                  <a:solidFill>
                    <a:schemeClr val="tx1"/>
                  </a:solidFill>
                  <a:latin typeface="Arial" charset="0"/>
                  <a:ea typeface="宋体" charset="0"/>
                </a:defRPr>
              </a:lvl2pPr>
              <a:lvl3pPr marL="1143000" indent="-228600" eaLnBrk="0" hangingPunct="0">
                <a:defRPr>
                  <a:solidFill>
                    <a:schemeClr val="tx1"/>
                  </a:solidFill>
                  <a:latin typeface="Arial" charset="0"/>
                  <a:ea typeface="宋体" charset="0"/>
                </a:defRPr>
              </a:lvl3pPr>
              <a:lvl4pPr marL="1600200" indent="-228600" eaLnBrk="0" hangingPunct="0">
                <a:defRPr>
                  <a:solidFill>
                    <a:schemeClr val="tx1"/>
                  </a:solidFill>
                  <a:latin typeface="Arial" charset="0"/>
                  <a:ea typeface="宋体" charset="0"/>
                </a:defRPr>
              </a:lvl4pPr>
              <a:lvl5pPr marL="2057400" indent="-228600" eaLnBrk="0" hangingPunct="0">
                <a:defRPr>
                  <a:solidFill>
                    <a:schemeClr val="tx1"/>
                  </a:solidFill>
                  <a:latin typeface="Arial" charset="0"/>
                  <a:ea typeface="宋体" charset="0"/>
                </a:defRPr>
              </a:lvl5pPr>
              <a:lvl6pPr marL="2514600" indent="-228600" eaLnBrk="0" fontAlgn="base" hangingPunct="0">
                <a:spcBef>
                  <a:spcPct val="0"/>
                </a:spcBef>
                <a:spcAft>
                  <a:spcPct val="0"/>
                </a:spcAft>
                <a:defRPr>
                  <a:solidFill>
                    <a:schemeClr val="tx1"/>
                  </a:solidFill>
                  <a:latin typeface="Arial" charset="0"/>
                  <a:ea typeface="宋体" charset="0"/>
                </a:defRPr>
              </a:lvl6pPr>
              <a:lvl7pPr marL="2971800" indent="-228600" eaLnBrk="0" fontAlgn="base" hangingPunct="0">
                <a:spcBef>
                  <a:spcPct val="0"/>
                </a:spcBef>
                <a:spcAft>
                  <a:spcPct val="0"/>
                </a:spcAft>
                <a:defRPr>
                  <a:solidFill>
                    <a:schemeClr val="tx1"/>
                  </a:solidFill>
                  <a:latin typeface="Arial" charset="0"/>
                  <a:ea typeface="宋体" charset="0"/>
                </a:defRPr>
              </a:lvl7pPr>
              <a:lvl8pPr marL="3429000" indent="-228600" eaLnBrk="0" fontAlgn="base" hangingPunct="0">
                <a:spcBef>
                  <a:spcPct val="0"/>
                </a:spcBef>
                <a:spcAft>
                  <a:spcPct val="0"/>
                </a:spcAft>
                <a:defRPr>
                  <a:solidFill>
                    <a:schemeClr val="tx1"/>
                  </a:solidFill>
                  <a:latin typeface="Arial" charset="0"/>
                  <a:ea typeface="宋体" charset="0"/>
                </a:defRPr>
              </a:lvl8pPr>
              <a:lvl9pPr marL="3886200" indent="-228600" eaLnBrk="0" fontAlgn="base" hangingPunct="0">
                <a:spcBef>
                  <a:spcPct val="0"/>
                </a:spcBef>
                <a:spcAft>
                  <a:spcPct val="0"/>
                </a:spcAft>
                <a:defRPr>
                  <a:solidFill>
                    <a:schemeClr val="tx1"/>
                  </a:solidFill>
                  <a:latin typeface="Arial" charset="0"/>
                  <a:ea typeface="宋体" charset="0"/>
                </a:defRPr>
              </a:lvl9pPr>
            </a:lstStyle>
            <a:p>
              <a:pPr eaLnBrk="1" hangingPunct="1"/>
              <a:r>
                <a:rPr lang="en-US" altLang="zh-CN" i="1">
                  <a:latin typeface="Times New Roman" charset="0"/>
                  <a:cs typeface="Times New Roman" charset="0"/>
                </a:rPr>
                <a:t>t</a:t>
              </a:r>
              <a:r>
                <a:rPr lang="en-US" altLang="zh-CN" baseline="30000">
                  <a:latin typeface="Times New Roman" charset="0"/>
                  <a:cs typeface="Times New Roman" charset="0"/>
                </a:rPr>
                <a:t>*</a:t>
              </a:r>
              <a:endParaRPr lang="en-CA">
                <a:latin typeface="Times New Roman" charset="0"/>
                <a:cs typeface="Times New Roman" charset="0"/>
              </a:endParaRPr>
            </a:p>
          </p:txBody>
        </p:sp>
        <p:cxnSp>
          <p:nvCxnSpPr>
            <p:cNvPr id="32784" name="AutoShape 2240"/>
            <p:cNvCxnSpPr>
              <a:cxnSpLocks noChangeShapeType="1"/>
            </p:cNvCxnSpPr>
            <p:nvPr/>
          </p:nvCxnSpPr>
          <p:spPr bwMode="auto">
            <a:xfrm>
              <a:off x="4126" y="3168"/>
              <a:ext cx="11" cy="3744"/>
            </a:xfrm>
            <a:prstGeom prst="straightConnector1">
              <a:avLst/>
            </a:prstGeom>
            <a:noFill/>
            <a:ln w="19050">
              <a:solidFill>
                <a:srgbClr val="000000"/>
              </a:solidFill>
              <a:round/>
              <a:headEnd/>
              <a:tailEnd/>
            </a:ln>
            <a:extLst>
              <a:ext uri="{909E8E84-426E-40dd-AFC4-6F175D3DCCD1}">
                <a14:hiddenFill xmlns:a14="http://schemas.microsoft.com/office/drawing/2010/main" xmlns="">
                  <a:noFill/>
                </a14:hiddenFill>
              </a:ext>
            </a:extLst>
          </p:spPr>
        </p:cxnSp>
        <p:cxnSp>
          <p:nvCxnSpPr>
            <p:cNvPr id="32785" name="AutoShape 2241"/>
            <p:cNvCxnSpPr>
              <a:cxnSpLocks noChangeShapeType="1"/>
            </p:cNvCxnSpPr>
            <p:nvPr/>
          </p:nvCxnSpPr>
          <p:spPr bwMode="auto">
            <a:xfrm>
              <a:off x="4144" y="6911"/>
              <a:ext cx="4808" cy="1"/>
            </a:xfrm>
            <a:prstGeom prst="straightConnector1">
              <a:avLst/>
            </a:prstGeom>
            <a:noFill/>
            <a:ln w="9525">
              <a:solidFill>
                <a:srgbClr val="000000"/>
              </a:solidFill>
              <a:round/>
              <a:headEnd/>
              <a:tailEnd/>
            </a:ln>
            <a:extLst>
              <a:ext uri="{909E8E84-426E-40dd-AFC4-6F175D3DCCD1}">
                <a14:hiddenFill xmlns:a14="http://schemas.microsoft.com/office/drawing/2010/main" xmlns="">
                  <a:noFill/>
                </a14:hiddenFill>
              </a:ext>
            </a:extLst>
          </p:spPr>
        </p:cxnSp>
        <p:sp>
          <p:nvSpPr>
            <p:cNvPr id="32786" name="Arc 2242"/>
            <p:cNvSpPr>
              <a:spLocks/>
            </p:cNvSpPr>
            <p:nvPr/>
          </p:nvSpPr>
          <p:spPr bwMode="auto">
            <a:xfrm rot="10069173">
              <a:off x="5362" y="3167"/>
              <a:ext cx="2230" cy="3318"/>
            </a:xfrm>
            <a:custGeom>
              <a:avLst/>
              <a:gdLst>
                <a:gd name="T0" fmla="*/ 129 w 21600"/>
                <a:gd name="T1" fmla="*/ 0 h 25183"/>
                <a:gd name="T2" fmla="*/ 217 w 21600"/>
                <a:gd name="T3" fmla="*/ 437 h 25183"/>
                <a:gd name="T4" fmla="*/ 0 w 21600"/>
                <a:gd name="T5" fmla="*/ 311 h 25183"/>
                <a:gd name="T6" fmla="*/ 0 60000 65536"/>
                <a:gd name="T7" fmla="*/ 0 60000 65536"/>
                <a:gd name="T8" fmla="*/ 0 60000 65536"/>
                <a:gd name="T9" fmla="*/ 0 w 21600"/>
                <a:gd name="T10" fmla="*/ 0 h 25183"/>
                <a:gd name="T11" fmla="*/ 21600 w 21600"/>
                <a:gd name="T12" fmla="*/ 25183 h 25183"/>
              </a:gdLst>
              <a:ahLst/>
              <a:cxnLst>
                <a:cxn ang="T6">
                  <a:pos x="T0" y="T1"/>
                </a:cxn>
                <a:cxn ang="T7">
                  <a:pos x="T2" y="T3"/>
                </a:cxn>
                <a:cxn ang="T8">
                  <a:pos x="T4" y="T5"/>
                </a:cxn>
              </a:cxnLst>
              <a:rect l="T9" t="T10" r="T11" b="T12"/>
              <a:pathLst>
                <a:path w="21600" h="25183" fill="none" extrusionOk="0">
                  <a:moveTo>
                    <a:pt x="12084" y="0"/>
                  </a:moveTo>
                  <a:cubicBezTo>
                    <a:pt x="18034" y="4016"/>
                    <a:pt x="21600" y="10725"/>
                    <a:pt x="21600" y="17903"/>
                  </a:cubicBezTo>
                  <a:cubicBezTo>
                    <a:pt x="21600" y="20384"/>
                    <a:pt x="21172" y="22846"/>
                    <a:pt x="20336" y="25183"/>
                  </a:cubicBezTo>
                </a:path>
                <a:path w="21600" h="25183" stroke="0" extrusionOk="0">
                  <a:moveTo>
                    <a:pt x="12084" y="0"/>
                  </a:moveTo>
                  <a:cubicBezTo>
                    <a:pt x="18034" y="4016"/>
                    <a:pt x="21600" y="10725"/>
                    <a:pt x="21600" y="17903"/>
                  </a:cubicBezTo>
                  <a:cubicBezTo>
                    <a:pt x="21600" y="20384"/>
                    <a:pt x="21172" y="22846"/>
                    <a:pt x="20336" y="25183"/>
                  </a:cubicBezTo>
                  <a:lnTo>
                    <a:pt x="0" y="17903"/>
                  </a:lnTo>
                  <a:lnTo>
                    <a:pt x="12084" y="0"/>
                  </a:lnTo>
                  <a:close/>
                </a:path>
              </a:pathLst>
            </a:custGeom>
            <a:noFill/>
            <a:ln w="9525">
              <a:solidFill>
                <a:srgbClr val="000000"/>
              </a:solidFill>
              <a:round/>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a:p>
          </p:txBody>
        </p:sp>
        <p:sp>
          <p:nvSpPr>
            <p:cNvPr id="32787" name="Text Box 2243"/>
            <p:cNvSpPr txBox="1">
              <a:spLocks noChangeArrowheads="1"/>
            </p:cNvSpPr>
            <p:nvPr/>
          </p:nvSpPr>
          <p:spPr bwMode="auto">
            <a:xfrm>
              <a:off x="3694" y="5753"/>
              <a:ext cx="288" cy="46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charset="0"/>
                  <a:ea typeface="宋体" charset="0"/>
                </a:defRPr>
              </a:lvl1pPr>
              <a:lvl2pPr marL="742950" indent="-285750" eaLnBrk="0" hangingPunct="0">
                <a:defRPr>
                  <a:solidFill>
                    <a:schemeClr val="tx1"/>
                  </a:solidFill>
                  <a:latin typeface="Arial" charset="0"/>
                  <a:ea typeface="宋体" charset="0"/>
                </a:defRPr>
              </a:lvl2pPr>
              <a:lvl3pPr marL="1143000" indent="-228600" eaLnBrk="0" hangingPunct="0">
                <a:defRPr>
                  <a:solidFill>
                    <a:schemeClr val="tx1"/>
                  </a:solidFill>
                  <a:latin typeface="Arial" charset="0"/>
                  <a:ea typeface="宋体" charset="0"/>
                </a:defRPr>
              </a:lvl3pPr>
              <a:lvl4pPr marL="1600200" indent="-228600" eaLnBrk="0" hangingPunct="0">
                <a:defRPr>
                  <a:solidFill>
                    <a:schemeClr val="tx1"/>
                  </a:solidFill>
                  <a:latin typeface="Arial" charset="0"/>
                  <a:ea typeface="宋体" charset="0"/>
                </a:defRPr>
              </a:lvl4pPr>
              <a:lvl5pPr marL="2057400" indent="-228600" eaLnBrk="0" hangingPunct="0">
                <a:defRPr>
                  <a:solidFill>
                    <a:schemeClr val="tx1"/>
                  </a:solidFill>
                  <a:latin typeface="Arial" charset="0"/>
                  <a:ea typeface="宋体" charset="0"/>
                </a:defRPr>
              </a:lvl5pPr>
              <a:lvl6pPr marL="2514600" indent="-228600" eaLnBrk="0" fontAlgn="base" hangingPunct="0">
                <a:spcBef>
                  <a:spcPct val="0"/>
                </a:spcBef>
                <a:spcAft>
                  <a:spcPct val="0"/>
                </a:spcAft>
                <a:defRPr>
                  <a:solidFill>
                    <a:schemeClr val="tx1"/>
                  </a:solidFill>
                  <a:latin typeface="Arial" charset="0"/>
                  <a:ea typeface="宋体" charset="0"/>
                </a:defRPr>
              </a:lvl6pPr>
              <a:lvl7pPr marL="2971800" indent="-228600" eaLnBrk="0" fontAlgn="base" hangingPunct="0">
                <a:spcBef>
                  <a:spcPct val="0"/>
                </a:spcBef>
                <a:spcAft>
                  <a:spcPct val="0"/>
                </a:spcAft>
                <a:defRPr>
                  <a:solidFill>
                    <a:schemeClr val="tx1"/>
                  </a:solidFill>
                  <a:latin typeface="Arial" charset="0"/>
                  <a:ea typeface="宋体" charset="0"/>
                </a:defRPr>
              </a:lvl7pPr>
              <a:lvl8pPr marL="3429000" indent="-228600" eaLnBrk="0" fontAlgn="base" hangingPunct="0">
                <a:spcBef>
                  <a:spcPct val="0"/>
                </a:spcBef>
                <a:spcAft>
                  <a:spcPct val="0"/>
                </a:spcAft>
                <a:defRPr>
                  <a:solidFill>
                    <a:schemeClr val="tx1"/>
                  </a:solidFill>
                  <a:latin typeface="Arial" charset="0"/>
                  <a:ea typeface="宋体" charset="0"/>
                </a:defRPr>
              </a:lvl8pPr>
              <a:lvl9pPr marL="3886200" indent="-228600" eaLnBrk="0" fontAlgn="base" hangingPunct="0">
                <a:spcBef>
                  <a:spcPct val="0"/>
                </a:spcBef>
                <a:spcAft>
                  <a:spcPct val="0"/>
                </a:spcAft>
                <a:defRPr>
                  <a:solidFill>
                    <a:schemeClr val="tx1"/>
                  </a:solidFill>
                  <a:latin typeface="Arial" charset="0"/>
                  <a:ea typeface="宋体" charset="0"/>
                </a:defRPr>
              </a:lvl9pPr>
            </a:lstStyle>
            <a:p>
              <a:pPr eaLnBrk="1" hangingPunct="1"/>
              <a:r>
                <a:rPr lang="en-US" altLang="zh-CN" i="1">
                  <a:latin typeface="Times New Roman" charset="0"/>
                  <a:cs typeface="Times New Roman" charset="0"/>
                </a:rPr>
                <a:t>i</a:t>
              </a:r>
              <a:endParaRPr lang="en-CA">
                <a:latin typeface="Times New Roman" charset="0"/>
                <a:cs typeface="Times New Roman" charset="0"/>
              </a:endParaRPr>
            </a:p>
          </p:txBody>
        </p:sp>
        <p:cxnSp>
          <p:nvCxnSpPr>
            <p:cNvPr id="32788" name="AutoShape 2244"/>
            <p:cNvCxnSpPr>
              <a:cxnSpLocks noChangeShapeType="1"/>
            </p:cNvCxnSpPr>
            <p:nvPr/>
          </p:nvCxnSpPr>
          <p:spPr bwMode="auto">
            <a:xfrm>
              <a:off x="5499" y="5125"/>
              <a:ext cx="0" cy="1834"/>
            </a:xfrm>
            <a:prstGeom prst="straightConnector1">
              <a:avLst/>
            </a:prstGeom>
            <a:noFill/>
            <a:ln w="9525">
              <a:solidFill>
                <a:srgbClr val="000000"/>
              </a:solidFill>
              <a:prstDash val="lgDash"/>
              <a:round/>
              <a:headEnd/>
              <a:tailEnd/>
            </a:ln>
            <a:extLst>
              <a:ext uri="{909E8E84-426E-40dd-AFC4-6F175D3DCCD1}">
                <a14:hiddenFill xmlns:a14="http://schemas.microsoft.com/office/drawing/2010/main" xmlns="">
                  <a:noFill/>
                </a14:hiddenFill>
              </a:ext>
            </a:extLst>
          </p:spPr>
        </p:cxnSp>
        <p:sp>
          <p:nvSpPr>
            <p:cNvPr id="32789" name="Text Box 2245"/>
            <p:cNvSpPr txBox="1">
              <a:spLocks noChangeArrowheads="1"/>
            </p:cNvSpPr>
            <p:nvPr/>
          </p:nvSpPr>
          <p:spPr bwMode="auto">
            <a:xfrm>
              <a:off x="5285" y="6911"/>
              <a:ext cx="588" cy="43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charset="0"/>
                  <a:ea typeface="宋体" charset="0"/>
                </a:defRPr>
              </a:lvl1pPr>
              <a:lvl2pPr marL="742950" indent="-285750" eaLnBrk="0" hangingPunct="0">
                <a:defRPr>
                  <a:solidFill>
                    <a:schemeClr val="tx1"/>
                  </a:solidFill>
                  <a:latin typeface="Arial" charset="0"/>
                  <a:ea typeface="宋体" charset="0"/>
                </a:defRPr>
              </a:lvl2pPr>
              <a:lvl3pPr marL="1143000" indent="-228600" eaLnBrk="0" hangingPunct="0">
                <a:defRPr>
                  <a:solidFill>
                    <a:schemeClr val="tx1"/>
                  </a:solidFill>
                  <a:latin typeface="Arial" charset="0"/>
                  <a:ea typeface="宋体" charset="0"/>
                </a:defRPr>
              </a:lvl3pPr>
              <a:lvl4pPr marL="1600200" indent="-228600" eaLnBrk="0" hangingPunct="0">
                <a:defRPr>
                  <a:solidFill>
                    <a:schemeClr val="tx1"/>
                  </a:solidFill>
                  <a:latin typeface="Arial" charset="0"/>
                  <a:ea typeface="宋体" charset="0"/>
                </a:defRPr>
              </a:lvl4pPr>
              <a:lvl5pPr marL="2057400" indent="-228600" eaLnBrk="0" hangingPunct="0">
                <a:defRPr>
                  <a:solidFill>
                    <a:schemeClr val="tx1"/>
                  </a:solidFill>
                  <a:latin typeface="Arial" charset="0"/>
                  <a:ea typeface="宋体" charset="0"/>
                </a:defRPr>
              </a:lvl5pPr>
              <a:lvl6pPr marL="2514600" indent="-228600" eaLnBrk="0" fontAlgn="base" hangingPunct="0">
                <a:spcBef>
                  <a:spcPct val="0"/>
                </a:spcBef>
                <a:spcAft>
                  <a:spcPct val="0"/>
                </a:spcAft>
                <a:defRPr>
                  <a:solidFill>
                    <a:schemeClr val="tx1"/>
                  </a:solidFill>
                  <a:latin typeface="Arial" charset="0"/>
                  <a:ea typeface="宋体" charset="0"/>
                </a:defRPr>
              </a:lvl6pPr>
              <a:lvl7pPr marL="2971800" indent="-228600" eaLnBrk="0" fontAlgn="base" hangingPunct="0">
                <a:spcBef>
                  <a:spcPct val="0"/>
                </a:spcBef>
                <a:spcAft>
                  <a:spcPct val="0"/>
                </a:spcAft>
                <a:defRPr>
                  <a:solidFill>
                    <a:schemeClr val="tx1"/>
                  </a:solidFill>
                  <a:latin typeface="Arial" charset="0"/>
                  <a:ea typeface="宋体" charset="0"/>
                </a:defRPr>
              </a:lvl7pPr>
              <a:lvl8pPr marL="3429000" indent="-228600" eaLnBrk="0" fontAlgn="base" hangingPunct="0">
                <a:spcBef>
                  <a:spcPct val="0"/>
                </a:spcBef>
                <a:spcAft>
                  <a:spcPct val="0"/>
                </a:spcAft>
                <a:defRPr>
                  <a:solidFill>
                    <a:schemeClr val="tx1"/>
                  </a:solidFill>
                  <a:latin typeface="Arial" charset="0"/>
                  <a:ea typeface="宋体" charset="0"/>
                </a:defRPr>
              </a:lvl8pPr>
              <a:lvl9pPr marL="3886200" indent="-228600" eaLnBrk="0" fontAlgn="base" hangingPunct="0">
                <a:spcBef>
                  <a:spcPct val="0"/>
                </a:spcBef>
                <a:spcAft>
                  <a:spcPct val="0"/>
                </a:spcAft>
                <a:defRPr>
                  <a:solidFill>
                    <a:schemeClr val="tx1"/>
                  </a:solidFill>
                  <a:latin typeface="Arial" charset="0"/>
                  <a:ea typeface="宋体" charset="0"/>
                </a:defRPr>
              </a:lvl9pPr>
            </a:lstStyle>
            <a:p>
              <a:pPr eaLnBrk="1" hangingPunct="1"/>
              <a:r>
                <a:rPr lang="en-US" altLang="zh-CN" i="1">
                  <a:latin typeface="Times New Roman" charset="0"/>
                  <a:cs typeface="Times New Roman" charset="0"/>
                </a:rPr>
                <a:t>t</a:t>
              </a:r>
              <a:r>
                <a:rPr lang="en-US" altLang="zh-CN" i="1" baseline="-25000">
                  <a:latin typeface="Times New Roman" charset="0"/>
                  <a:cs typeface="Times New Roman" charset="0"/>
                </a:rPr>
                <a:t>F</a:t>
              </a:r>
              <a:endParaRPr lang="en-CA">
                <a:latin typeface="Times New Roman" charset="0"/>
                <a:cs typeface="Times New Roman" charset="0"/>
              </a:endParaRPr>
            </a:p>
          </p:txBody>
        </p:sp>
      </p:grpSp>
      <p:sp>
        <p:nvSpPr>
          <p:cNvPr id="32772" name="Rectangle 16"/>
          <p:cNvSpPr>
            <a:spLocks noChangeArrowheads="1"/>
          </p:cNvSpPr>
          <p:nvPr/>
        </p:nvSpPr>
        <p:spPr bwMode="auto">
          <a:xfrm>
            <a:off x="1331913" y="692150"/>
            <a:ext cx="6673850"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p>
            <a:r>
              <a:rPr lang="en-US" altLang="zh-CN" b="1">
                <a:solidFill>
                  <a:srgbClr val="000000"/>
                </a:solidFill>
                <a:latin typeface="Times New Roman" charset="0"/>
                <a:cs typeface="Times New Roman" charset="0"/>
              </a:rPr>
              <a:t>Figure 7.2: Optimal economic rotation for continuous forest crops</a:t>
            </a:r>
            <a:endParaRPr lang="en-CA" b="1">
              <a:latin typeface="Times New Roman" charset="0"/>
              <a:cs typeface="Times New Roman" charset="0"/>
            </a:endParaRPr>
          </a:p>
        </p:txBody>
      </p:sp>
      <p:sp>
        <p:nvSpPr>
          <p:cNvPr id="32773" name="Rectangle 24"/>
          <p:cNvSpPr>
            <a:spLocks noChangeArrowheads="1"/>
          </p:cNvSpPr>
          <p:nvPr/>
        </p:nvSpPr>
        <p:spPr bwMode="auto">
          <a:xfrm>
            <a:off x="0" y="45720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p>
            <a:endParaRPr lang="zh-CN" altLang="en-US"/>
          </a:p>
        </p:txBody>
      </p:sp>
      <p:cxnSp>
        <p:nvCxnSpPr>
          <p:cNvPr id="20" name="Straight Arrow Connector 19"/>
          <p:cNvCxnSpPr/>
          <p:nvPr/>
        </p:nvCxnSpPr>
        <p:spPr>
          <a:xfrm flipH="1">
            <a:off x="4056063" y="2133600"/>
            <a:ext cx="430212" cy="447675"/>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1" name="Straight Arrow Connector 20"/>
          <p:cNvCxnSpPr/>
          <p:nvPr/>
        </p:nvCxnSpPr>
        <p:spPr>
          <a:xfrm flipH="1">
            <a:off x="4867275" y="3498850"/>
            <a:ext cx="315913" cy="442913"/>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2" name="文本框 1"/>
          <p:cNvSpPr txBox="1"/>
          <p:nvPr/>
        </p:nvSpPr>
        <p:spPr>
          <a:xfrm>
            <a:off x="5183188" y="6114983"/>
            <a:ext cx="2066698" cy="646331"/>
          </a:xfrm>
          <a:prstGeom prst="rect">
            <a:avLst/>
          </a:prstGeom>
          <a:noFill/>
        </p:spPr>
        <p:txBody>
          <a:bodyPr wrap="square" rtlCol="0">
            <a:spAutoFit/>
          </a:bodyPr>
          <a:lstStyle/>
          <a:p>
            <a:r>
              <a:rPr lang="zh-CN" altLang="en-US" dirty="0"/>
              <a:t>一次性森林生长的最佳生长周期年龄</a:t>
            </a:r>
          </a:p>
        </p:txBody>
      </p:sp>
      <p:cxnSp>
        <p:nvCxnSpPr>
          <p:cNvPr id="5" name="直接箭头连接符 4"/>
          <p:cNvCxnSpPr>
            <a:stCxn id="2" idx="0"/>
          </p:cNvCxnSpPr>
          <p:nvPr/>
        </p:nvCxnSpPr>
        <p:spPr>
          <a:xfrm flipH="1" flipV="1">
            <a:off x="4668839" y="5685203"/>
            <a:ext cx="1547698" cy="4297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文本框 24"/>
          <p:cNvSpPr txBox="1"/>
          <p:nvPr/>
        </p:nvSpPr>
        <p:spPr>
          <a:xfrm>
            <a:off x="2501835" y="5950420"/>
            <a:ext cx="2333164" cy="646331"/>
          </a:xfrm>
          <a:prstGeom prst="rect">
            <a:avLst/>
          </a:prstGeom>
          <a:noFill/>
        </p:spPr>
        <p:txBody>
          <a:bodyPr wrap="square" rtlCol="0">
            <a:spAutoFit/>
          </a:bodyPr>
          <a:lstStyle/>
          <a:p>
            <a:r>
              <a:rPr lang="zh-CN" altLang="en-US" dirty="0"/>
              <a:t>连续培育森林生长的最佳生长周期年龄</a:t>
            </a:r>
          </a:p>
        </p:txBody>
      </p:sp>
      <p:cxnSp>
        <p:nvCxnSpPr>
          <p:cNvPr id="9" name="直接箭头连接符 8"/>
          <p:cNvCxnSpPr>
            <a:stCxn id="25" idx="0"/>
          </p:cNvCxnSpPr>
          <p:nvPr/>
        </p:nvCxnSpPr>
        <p:spPr>
          <a:xfrm flipV="1">
            <a:off x="3668417" y="5685203"/>
            <a:ext cx="387646" cy="2652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0" name="图片 9">
            <a:hlinkClick r:id="rId4" action="ppaction://hlinksldjump"/>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41065" y="4192414"/>
            <a:ext cx="1625397" cy="1625397"/>
          </a:xfrm>
          <a:prstGeom prst="rect">
            <a:avLst/>
          </a:prstGeom>
        </p:spPr>
      </p:pic>
    </p:spTree>
    <p:extLst>
      <p:ext uri="{BB962C8B-B14F-4D97-AF65-F5344CB8AC3E}">
        <p14:creationId xmlns:p14="http://schemas.microsoft.com/office/powerpoint/2010/main" val="2697600202"/>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effectLst/>
              </a:rPr>
              <a:t>the </a:t>
            </a:r>
            <a:r>
              <a:rPr lang="en-US" altLang="zh-CN" dirty="0" err="1">
                <a:effectLst/>
              </a:rPr>
              <a:t>Faustmann</a:t>
            </a:r>
            <a:r>
              <a:rPr lang="en-US" altLang="zh-CN" dirty="0">
                <a:effectLst/>
              </a:rPr>
              <a:t> Model (land rent theory) </a:t>
            </a:r>
            <a:r>
              <a:rPr lang="en-US" altLang="zh-Hans" dirty="0">
                <a:effectLst/>
              </a:rPr>
              <a:t>Faustmann</a:t>
            </a:r>
            <a:r>
              <a:rPr lang="zh-Hans" altLang="en-US" dirty="0">
                <a:effectLst/>
              </a:rPr>
              <a:t>模型</a:t>
            </a:r>
            <a:endParaRPr lang="zh-CN" altLang="en-US" dirty="0"/>
          </a:p>
        </p:txBody>
      </p:sp>
      <p:sp>
        <p:nvSpPr>
          <p:cNvPr id="3" name="内容占位符 2"/>
          <p:cNvSpPr>
            <a:spLocks noGrp="1"/>
          </p:cNvSpPr>
          <p:nvPr>
            <p:ph idx="1"/>
          </p:nvPr>
        </p:nvSpPr>
        <p:spPr/>
        <p:txBody>
          <a:bodyPr/>
          <a:lstStyle/>
          <a:p>
            <a:r>
              <a:rPr lang="en-US" altLang="zh-CN" dirty="0">
                <a:effectLst/>
              </a:rPr>
              <a:t>the best known for providing a benchmark model for determining optimal timber rotation age.</a:t>
            </a:r>
          </a:p>
          <a:p>
            <a:r>
              <a:rPr lang="zh-CN" altLang="en-US" dirty="0">
                <a:effectLst/>
              </a:rPr>
              <a:t>决定木材最优轮伐价值的基准模型</a:t>
            </a:r>
            <a:endParaRPr lang="zh-CN" altLang="en-US" dirty="0"/>
          </a:p>
        </p:txBody>
      </p:sp>
    </p:spTree>
    <p:extLst>
      <p:ext uri="{BB962C8B-B14F-4D97-AF65-F5344CB8AC3E}">
        <p14:creationId xmlns:p14="http://schemas.microsoft.com/office/powerpoint/2010/main" val="24448339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the </a:t>
            </a:r>
            <a:r>
              <a:rPr lang="en-US" altLang="zh-CN" dirty="0" err="1">
                <a:effectLst/>
              </a:rPr>
              <a:t>Faustmann</a:t>
            </a:r>
            <a:r>
              <a:rPr lang="en-US" altLang="zh-CN" dirty="0">
                <a:effectLst/>
              </a:rPr>
              <a:t> Model</a:t>
            </a:r>
            <a:endParaRPr lang="zh-CN" altLang="en-US" dirty="0"/>
          </a:p>
        </p:txBody>
      </p:sp>
      <p:sp>
        <p:nvSpPr>
          <p:cNvPr id="3" name="内容占位符 2"/>
          <p:cNvSpPr>
            <a:spLocks noGrp="1"/>
          </p:cNvSpPr>
          <p:nvPr>
            <p:ph idx="1"/>
          </p:nvPr>
        </p:nvSpPr>
        <p:spPr/>
        <p:txBody>
          <a:bodyPr/>
          <a:lstStyle/>
          <a:p>
            <a:r>
              <a:rPr lang="en-US" altLang="zh-CN" dirty="0" err="1">
                <a:effectLst/>
              </a:rPr>
              <a:t>Faustmann</a:t>
            </a:r>
            <a:r>
              <a:rPr lang="en-US" altLang="zh-CN" dirty="0">
                <a:effectLst/>
              </a:rPr>
              <a:t> (1849) showed that the value of a forest can be expressed as a sum of discounted net cash flow over an infinite time period. </a:t>
            </a:r>
          </a:p>
          <a:p>
            <a:r>
              <a:rPr lang="en-US" altLang="zh-CN" dirty="0">
                <a:effectLst/>
              </a:rPr>
              <a:t>A forest owner's goal is to choose rotation so that the value of a forest is maximized. </a:t>
            </a:r>
          </a:p>
          <a:p>
            <a:r>
              <a:rPr lang="en-US" altLang="zh-CN" dirty="0" err="1">
                <a:effectLst/>
              </a:rPr>
              <a:t>Faustmann</a:t>
            </a:r>
            <a:r>
              <a:rPr lang="zh-CN" altLang="en-US" dirty="0">
                <a:effectLst/>
              </a:rPr>
              <a:t>证明了任一土地的最优轮伐期可以确定为最大化土地现值的轮伐期。</a:t>
            </a:r>
            <a:endParaRPr lang="en-US" altLang="zh-CN" dirty="0">
              <a:effectLst/>
            </a:endParaRPr>
          </a:p>
        </p:txBody>
      </p:sp>
    </p:spTree>
    <p:extLst>
      <p:ext uri="{BB962C8B-B14F-4D97-AF65-F5344CB8AC3E}">
        <p14:creationId xmlns:p14="http://schemas.microsoft.com/office/powerpoint/2010/main" val="42038173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61143" y="-180578"/>
            <a:ext cx="7886700" cy="1325563"/>
          </a:xfrm>
        </p:spPr>
        <p:txBody>
          <a:bodyPr/>
          <a:lstStyle/>
          <a:p>
            <a:r>
              <a:rPr lang="zh-CN" altLang="en-US" dirty="0"/>
              <a:t>连续生长森林的短周期</a:t>
            </a:r>
          </a:p>
        </p:txBody>
      </p:sp>
      <p:pic>
        <p:nvPicPr>
          <p:cNvPr id="4" name="内容占位符 3">
            <a:hlinkClick r:id="rId3" action="ppaction://hlinksldjump"/>
          </p:cNvPr>
          <p:cNvPicPr>
            <a:picLocks noGrp="1" noChangeAspect="1"/>
          </p:cNvPicPr>
          <p:nvPr>
            <p:ph idx="1"/>
          </p:nvPr>
        </p:nvPicPr>
        <p:blipFill>
          <a:blip r:embed="rId4">
            <a:extLst>
              <a:ext uri="{28A0092B-C50C-407E-A947-70E740481C1C}">
                <a14:useLocalDpi xmlns:a14="http://schemas.microsoft.com/office/drawing/2010/main" val="0"/>
              </a:ext>
            </a:extLst>
          </a:blip>
          <a:stretch>
            <a:fillRect/>
          </a:stretch>
        </p:blipFill>
        <p:spPr>
          <a:xfrm>
            <a:off x="51543" y="4690518"/>
            <a:ext cx="1219200" cy="1219200"/>
          </a:xfrm>
        </p:spPr>
      </p:pic>
      <p:sp>
        <p:nvSpPr>
          <p:cNvPr id="5" name="文本框 4"/>
          <p:cNvSpPr txBox="1"/>
          <p:nvPr/>
        </p:nvSpPr>
        <p:spPr>
          <a:xfrm>
            <a:off x="2312125" y="722029"/>
            <a:ext cx="4801314" cy="461665"/>
          </a:xfrm>
          <a:prstGeom prst="rect">
            <a:avLst/>
          </a:prstGeom>
          <a:noFill/>
        </p:spPr>
        <p:txBody>
          <a:bodyPr wrap="none" rtlCol="0">
            <a:spAutoFit/>
          </a:bodyPr>
          <a:lstStyle/>
          <a:p>
            <a:r>
              <a:rPr lang="zh-CN" altLang="en-US" sz="2400" dirty="0"/>
              <a:t>连续培育森林时，成本的增长为：</a:t>
            </a:r>
          </a:p>
        </p:txBody>
      </p:sp>
      <p:graphicFrame>
        <p:nvGraphicFramePr>
          <p:cNvPr id="6" name="对象 5"/>
          <p:cNvGraphicFramePr>
            <a:graphicFrameLocks noChangeAspect="1"/>
          </p:cNvGraphicFramePr>
          <p:nvPr>
            <p:extLst>
              <p:ext uri="{D42A27DB-BD31-4B8C-83A1-F6EECF244321}">
                <p14:modId xmlns:p14="http://schemas.microsoft.com/office/powerpoint/2010/main" val="3056643039"/>
              </p:ext>
            </p:extLst>
          </p:nvPr>
        </p:nvGraphicFramePr>
        <p:xfrm>
          <a:off x="6893816" y="583454"/>
          <a:ext cx="1544790" cy="738813"/>
        </p:xfrm>
        <a:graphic>
          <a:graphicData uri="http://schemas.openxmlformats.org/presentationml/2006/ole">
            <mc:AlternateContent xmlns:mc="http://schemas.openxmlformats.org/markup-compatibility/2006">
              <mc:Choice xmlns:v="urn:schemas-microsoft-com:vml" Requires="v">
                <p:oleObj spid="_x0000_s11292" name="公式" r:id="rId5" imgW="876240" imgH="419040" progId="Equation.3">
                  <p:embed/>
                </p:oleObj>
              </mc:Choice>
              <mc:Fallback>
                <p:oleObj name="公式" r:id="rId5" imgW="876240" imgH="419040" progId="Equation.3">
                  <p:embed/>
                  <p:pic>
                    <p:nvPicPr>
                      <p:cNvPr id="0" name=""/>
                      <p:cNvPicPr/>
                      <p:nvPr/>
                    </p:nvPicPr>
                    <p:blipFill>
                      <a:blip r:embed="rId6"/>
                      <a:stretch>
                        <a:fillRect/>
                      </a:stretch>
                    </p:blipFill>
                    <p:spPr>
                      <a:xfrm>
                        <a:off x="6893816" y="583454"/>
                        <a:ext cx="1544790" cy="738813"/>
                      </a:xfrm>
                      <a:prstGeom prst="rect">
                        <a:avLst/>
                      </a:prstGeom>
                    </p:spPr>
                  </p:pic>
                </p:oleObj>
              </mc:Fallback>
            </mc:AlternateContent>
          </a:graphicData>
        </a:graphic>
      </p:graphicFrame>
      <p:sp>
        <p:nvSpPr>
          <p:cNvPr id="7" name="文本框 6"/>
          <p:cNvSpPr txBox="1"/>
          <p:nvPr/>
        </p:nvSpPr>
        <p:spPr>
          <a:xfrm>
            <a:off x="2312125" y="1714806"/>
            <a:ext cx="5404043" cy="461665"/>
          </a:xfrm>
          <a:prstGeom prst="rect">
            <a:avLst/>
          </a:prstGeom>
          <a:noFill/>
        </p:spPr>
        <p:txBody>
          <a:bodyPr wrap="none" rtlCol="0">
            <a:spAutoFit/>
          </a:bodyPr>
          <a:lstStyle/>
          <a:p>
            <a:r>
              <a:rPr lang="zh-CN" altLang="en-US" sz="2400" dirty="0"/>
              <a:t>一次性培育森林时，成本的增长为：</a:t>
            </a:r>
            <a:r>
              <a:rPr lang="en-US" altLang="zh-CN" sz="2400" dirty="0" err="1"/>
              <a:t>i</a:t>
            </a:r>
            <a:r>
              <a:rPr lang="en-US" altLang="zh-CN" sz="2400" dirty="0"/>
              <a:t>&lt;</a:t>
            </a:r>
            <a:endParaRPr lang="zh-CN" altLang="en-US" sz="2400" dirty="0"/>
          </a:p>
        </p:txBody>
      </p:sp>
      <p:graphicFrame>
        <p:nvGraphicFramePr>
          <p:cNvPr id="8" name="对象 7"/>
          <p:cNvGraphicFramePr>
            <a:graphicFrameLocks noChangeAspect="1"/>
          </p:cNvGraphicFramePr>
          <p:nvPr>
            <p:extLst>
              <p:ext uri="{D42A27DB-BD31-4B8C-83A1-F6EECF244321}">
                <p14:modId xmlns:p14="http://schemas.microsoft.com/office/powerpoint/2010/main" val="1404685564"/>
              </p:ext>
            </p:extLst>
          </p:nvPr>
        </p:nvGraphicFramePr>
        <p:xfrm>
          <a:off x="7599210" y="1576231"/>
          <a:ext cx="1544790" cy="738813"/>
        </p:xfrm>
        <a:graphic>
          <a:graphicData uri="http://schemas.openxmlformats.org/presentationml/2006/ole">
            <mc:AlternateContent xmlns:mc="http://schemas.openxmlformats.org/markup-compatibility/2006">
              <mc:Choice xmlns:v="urn:schemas-microsoft-com:vml" Requires="v">
                <p:oleObj spid="_x0000_s11293" name="公式" r:id="rId7" imgW="876240" imgH="419040" progId="Equation.3">
                  <p:embed/>
                </p:oleObj>
              </mc:Choice>
              <mc:Fallback>
                <p:oleObj name="公式" r:id="rId7" imgW="876240" imgH="419040" progId="Equation.3">
                  <p:embed/>
                  <p:pic>
                    <p:nvPicPr>
                      <p:cNvPr id="0" name=""/>
                      <p:cNvPicPr/>
                      <p:nvPr/>
                    </p:nvPicPr>
                    <p:blipFill>
                      <a:blip r:embed="rId6"/>
                      <a:stretch>
                        <a:fillRect/>
                      </a:stretch>
                    </p:blipFill>
                    <p:spPr>
                      <a:xfrm>
                        <a:off x="7599210" y="1576231"/>
                        <a:ext cx="1544790" cy="738813"/>
                      </a:xfrm>
                      <a:prstGeom prst="rect">
                        <a:avLst/>
                      </a:prstGeom>
                    </p:spPr>
                  </p:pic>
                </p:oleObj>
              </mc:Fallback>
            </mc:AlternateContent>
          </a:graphicData>
        </a:graphic>
      </p:graphicFrame>
      <p:sp>
        <p:nvSpPr>
          <p:cNvPr id="9" name="Freeform 1"/>
          <p:cNvSpPr>
            <a:spLocks/>
          </p:cNvSpPr>
          <p:nvPr/>
        </p:nvSpPr>
        <p:spPr bwMode="auto">
          <a:xfrm>
            <a:off x="4027333" y="3017872"/>
            <a:ext cx="1697192" cy="1271553"/>
          </a:xfrm>
          <a:custGeom>
            <a:avLst/>
            <a:gdLst>
              <a:gd name="T0" fmla="*/ 0 w 2483"/>
              <a:gd name="T1" fmla="*/ 0 h 2539"/>
              <a:gd name="T2" fmla="*/ 138192282 w 2483"/>
              <a:gd name="T3" fmla="*/ 312353411 h 2539"/>
              <a:gd name="T4" fmla="*/ 822689537 w 2483"/>
              <a:gd name="T5" fmla="*/ 705314335 h 2539"/>
              <a:gd name="T6" fmla="*/ 1384349009 w 2483"/>
              <a:gd name="T7" fmla="*/ 899469467 h 2539"/>
              <a:gd name="T8" fmla="*/ 2006619241 w 2483"/>
              <a:gd name="T9" fmla="*/ 983952323 h 2539"/>
              <a:gd name="T10" fmla="*/ 0 60000 65536"/>
              <a:gd name="T11" fmla="*/ 0 60000 65536"/>
              <a:gd name="T12" fmla="*/ 0 60000 65536"/>
              <a:gd name="T13" fmla="*/ 0 60000 65536"/>
              <a:gd name="T14" fmla="*/ 0 60000 65536"/>
              <a:gd name="T15" fmla="*/ 0 w 2483"/>
              <a:gd name="T16" fmla="*/ 0 h 2539"/>
              <a:gd name="T17" fmla="*/ 2483 w 2483"/>
              <a:gd name="T18" fmla="*/ 2539 h 2539"/>
            </a:gdLst>
            <a:ahLst/>
            <a:cxnLst>
              <a:cxn ang="T10">
                <a:pos x="T0" y="T1"/>
              </a:cxn>
              <a:cxn ang="T11">
                <a:pos x="T2" y="T3"/>
              </a:cxn>
              <a:cxn ang="T12">
                <a:pos x="T4" y="T5"/>
              </a:cxn>
              <a:cxn ang="T13">
                <a:pos x="T6" y="T7"/>
              </a:cxn>
              <a:cxn ang="T14">
                <a:pos x="T8" y="T9"/>
              </a:cxn>
            </a:cxnLst>
            <a:rect l="T15" t="T16" r="T17" b="T18"/>
            <a:pathLst>
              <a:path w="2483" h="2539">
                <a:moveTo>
                  <a:pt x="0" y="0"/>
                </a:moveTo>
                <a:cubicBezTo>
                  <a:pt x="0" y="251"/>
                  <a:pt x="1" y="503"/>
                  <a:pt x="171" y="806"/>
                </a:cubicBezTo>
                <a:cubicBezTo>
                  <a:pt x="341" y="1109"/>
                  <a:pt x="761" y="1567"/>
                  <a:pt x="1018" y="1820"/>
                </a:cubicBezTo>
                <a:cubicBezTo>
                  <a:pt x="1275" y="2073"/>
                  <a:pt x="1469" y="2201"/>
                  <a:pt x="1713" y="2321"/>
                </a:cubicBezTo>
                <a:cubicBezTo>
                  <a:pt x="1957" y="2441"/>
                  <a:pt x="2355" y="2503"/>
                  <a:pt x="2483" y="2539"/>
                </a:cubicBezTo>
              </a:path>
            </a:pathLst>
          </a:custGeom>
          <a:noFill/>
          <a:ln w="9525">
            <a:solidFill>
              <a:srgbClr val="000000"/>
            </a:solidFill>
            <a:round/>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a:p>
        </p:txBody>
      </p:sp>
      <p:grpSp>
        <p:nvGrpSpPr>
          <p:cNvPr id="10" name="Group 2"/>
          <p:cNvGrpSpPr>
            <a:grpSpLocks/>
          </p:cNvGrpSpPr>
          <p:nvPr/>
        </p:nvGrpSpPr>
        <p:grpSpPr bwMode="auto">
          <a:xfrm>
            <a:off x="2792711" y="2315044"/>
            <a:ext cx="5093989" cy="3561881"/>
            <a:chOff x="2470" y="2966"/>
            <a:chExt cx="6911" cy="4393"/>
          </a:xfrm>
        </p:grpSpPr>
        <p:sp>
          <p:nvSpPr>
            <p:cNvPr id="11" name="Text Box 2233"/>
            <p:cNvSpPr txBox="1">
              <a:spLocks noRot="1" noChangeAspect="1" noMove="1" noResize="1" noEditPoints="1" noAdjustHandles="1" noChangeArrowheads="1" noChangeShapeType="1" noTextEdit="1"/>
            </p:cNvSpPr>
            <p:nvPr/>
          </p:nvSpPr>
          <p:spPr bwMode="auto">
            <a:xfrm>
              <a:off x="5755" y="4484"/>
              <a:ext cx="3626" cy="955"/>
            </a:xfrm>
            <a:prstGeom prst="rect">
              <a:avLst/>
            </a:prstGeom>
            <a:blipFill rotWithShape="1">
              <a:blip r:embed="rId8" cstate="print">
                <a:extLst>
                  <a:ext uri="{28A0092B-C50C-407E-A947-70E740481C1C}">
                    <a14:useLocalDpi xmlns:a14="http://schemas.microsoft.com/office/drawing/2010/main"/>
                  </a:ext>
                </a:extLst>
              </a:blip>
              <a:stretch>
                <a:fillRect t="-3311" b="-1987"/>
              </a:stretch>
            </a:blipFill>
            <a:ln w="9525">
              <a:noFill/>
              <a:miter lim="800000"/>
              <a:headEnd/>
              <a:tailEnd/>
            </a:ln>
          </p:spPr>
          <p:txBody>
            <a:bodyPr/>
            <a:lstStyle/>
            <a:p>
              <a:pPr fontAlgn="auto">
                <a:spcBef>
                  <a:spcPts val="0"/>
                </a:spcBef>
                <a:spcAft>
                  <a:spcPts val="0"/>
                </a:spcAft>
                <a:defRPr/>
              </a:pPr>
              <a:r>
                <a:rPr lang="en-CA">
                  <a:noFill/>
                  <a:latin typeface="+mn-lt"/>
                  <a:ea typeface="+mn-ea"/>
                </a:rPr>
                <a:t> </a:t>
              </a:r>
            </a:p>
          </p:txBody>
        </p:sp>
        <p:sp>
          <p:nvSpPr>
            <p:cNvPr id="12" name="Text Box 2234"/>
            <p:cNvSpPr txBox="1">
              <a:spLocks noChangeArrowheads="1"/>
            </p:cNvSpPr>
            <p:nvPr/>
          </p:nvSpPr>
          <p:spPr bwMode="auto">
            <a:xfrm>
              <a:off x="6857" y="6960"/>
              <a:ext cx="2285" cy="38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bIns="0" anchor="b"/>
            <a:lstStyle>
              <a:lvl1pPr eaLnBrk="0" hangingPunct="0">
                <a:defRPr>
                  <a:solidFill>
                    <a:schemeClr val="tx1"/>
                  </a:solidFill>
                  <a:latin typeface="Arial" charset="0"/>
                  <a:ea typeface="宋体" charset="0"/>
                </a:defRPr>
              </a:lvl1pPr>
              <a:lvl2pPr marL="742950" indent="-285750" eaLnBrk="0" hangingPunct="0">
                <a:defRPr>
                  <a:solidFill>
                    <a:schemeClr val="tx1"/>
                  </a:solidFill>
                  <a:latin typeface="Arial" charset="0"/>
                  <a:ea typeface="宋体" charset="0"/>
                </a:defRPr>
              </a:lvl2pPr>
              <a:lvl3pPr marL="1143000" indent="-228600" eaLnBrk="0" hangingPunct="0">
                <a:defRPr>
                  <a:solidFill>
                    <a:schemeClr val="tx1"/>
                  </a:solidFill>
                  <a:latin typeface="Arial" charset="0"/>
                  <a:ea typeface="宋体" charset="0"/>
                </a:defRPr>
              </a:lvl3pPr>
              <a:lvl4pPr marL="1600200" indent="-228600" eaLnBrk="0" hangingPunct="0">
                <a:defRPr>
                  <a:solidFill>
                    <a:schemeClr val="tx1"/>
                  </a:solidFill>
                  <a:latin typeface="Arial" charset="0"/>
                  <a:ea typeface="宋体" charset="0"/>
                </a:defRPr>
              </a:lvl4pPr>
              <a:lvl5pPr marL="2057400" indent="-228600" eaLnBrk="0" hangingPunct="0">
                <a:defRPr>
                  <a:solidFill>
                    <a:schemeClr val="tx1"/>
                  </a:solidFill>
                  <a:latin typeface="Arial" charset="0"/>
                  <a:ea typeface="宋体" charset="0"/>
                </a:defRPr>
              </a:lvl5pPr>
              <a:lvl6pPr marL="2514600" indent="-228600" eaLnBrk="0" fontAlgn="base" hangingPunct="0">
                <a:spcBef>
                  <a:spcPct val="0"/>
                </a:spcBef>
                <a:spcAft>
                  <a:spcPct val="0"/>
                </a:spcAft>
                <a:defRPr>
                  <a:solidFill>
                    <a:schemeClr val="tx1"/>
                  </a:solidFill>
                  <a:latin typeface="Arial" charset="0"/>
                  <a:ea typeface="宋体" charset="0"/>
                </a:defRPr>
              </a:lvl6pPr>
              <a:lvl7pPr marL="2971800" indent="-228600" eaLnBrk="0" fontAlgn="base" hangingPunct="0">
                <a:spcBef>
                  <a:spcPct val="0"/>
                </a:spcBef>
                <a:spcAft>
                  <a:spcPct val="0"/>
                </a:spcAft>
                <a:defRPr>
                  <a:solidFill>
                    <a:schemeClr val="tx1"/>
                  </a:solidFill>
                  <a:latin typeface="Arial" charset="0"/>
                  <a:ea typeface="宋体" charset="0"/>
                </a:defRPr>
              </a:lvl7pPr>
              <a:lvl8pPr marL="3429000" indent="-228600" eaLnBrk="0" fontAlgn="base" hangingPunct="0">
                <a:spcBef>
                  <a:spcPct val="0"/>
                </a:spcBef>
                <a:spcAft>
                  <a:spcPct val="0"/>
                </a:spcAft>
                <a:defRPr>
                  <a:solidFill>
                    <a:schemeClr val="tx1"/>
                  </a:solidFill>
                  <a:latin typeface="Arial" charset="0"/>
                  <a:ea typeface="宋体" charset="0"/>
                </a:defRPr>
              </a:lvl8pPr>
              <a:lvl9pPr marL="3886200" indent="-228600" eaLnBrk="0" fontAlgn="base" hangingPunct="0">
                <a:spcBef>
                  <a:spcPct val="0"/>
                </a:spcBef>
                <a:spcAft>
                  <a:spcPct val="0"/>
                </a:spcAft>
                <a:defRPr>
                  <a:solidFill>
                    <a:schemeClr val="tx1"/>
                  </a:solidFill>
                  <a:latin typeface="Arial" charset="0"/>
                  <a:ea typeface="宋体" charset="0"/>
                </a:defRPr>
              </a:lvl9pPr>
            </a:lstStyle>
            <a:p>
              <a:pPr algn="ctr" eaLnBrk="1" hangingPunct="1"/>
              <a:r>
                <a:rPr lang="en-US" altLang="zh-CN">
                  <a:latin typeface="Times New Roman" charset="0"/>
                  <a:cs typeface="Times New Roman" charset="0"/>
                </a:rPr>
                <a:t>Rotation age (years)</a:t>
              </a:r>
              <a:endParaRPr lang="en-CA">
                <a:latin typeface="Times New Roman" charset="0"/>
                <a:cs typeface="Times New Roman" charset="0"/>
              </a:endParaRPr>
            </a:p>
          </p:txBody>
        </p:sp>
        <p:cxnSp>
          <p:nvCxnSpPr>
            <p:cNvPr id="13" name="AutoShape 2235"/>
            <p:cNvCxnSpPr>
              <a:cxnSpLocks noChangeShapeType="1"/>
            </p:cNvCxnSpPr>
            <p:nvPr/>
          </p:nvCxnSpPr>
          <p:spPr bwMode="auto">
            <a:xfrm>
              <a:off x="4126" y="5928"/>
              <a:ext cx="3805" cy="2"/>
            </a:xfrm>
            <a:prstGeom prst="straightConnector1">
              <a:avLst/>
            </a:prstGeom>
            <a:noFill/>
            <a:ln w="6350">
              <a:solidFill>
                <a:srgbClr val="000000"/>
              </a:solidFill>
              <a:prstDash val="dash"/>
              <a:round/>
              <a:headEnd/>
              <a:tailEnd/>
            </a:ln>
            <a:extLst>
              <a:ext uri="{909E8E84-426E-40dd-AFC4-6F175D3DCCD1}">
                <a14:hiddenFill xmlns:a14="http://schemas.microsoft.com/office/drawing/2010/main" xmlns="">
                  <a:noFill/>
                </a14:hiddenFill>
              </a:ext>
            </a:extLst>
          </p:spPr>
        </p:cxnSp>
        <p:cxnSp>
          <p:nvCxnSpPr>
            <p:cNvPr id="14" name="AutoShape 2236"/>
            <p:cNvCxnSpPr>
              <a:cxnSpLocks noChangeShapeType="1"/>
            </p:cNvCxnSpPr>
            <p:nvPr/>
          </p:nvCxnSpPr>
          <p:spPr bwMode="auto">
            <a:xfrm>
              <a:off x="6030" y="5945"/>
              <a:ext cx="1" cy="979"/>
            </a:xfrm>
            <a:prstGeom prst="straightConnector1">
              <a:avLst/>
            </a:prstGeom>
            <a:noFill/>
            <a:ln w="6350">
              <a:solidFill>
                <a:srgbClr val="000000"/>
              </a:solidFill>
              <a:prstDash val="dash"/>
              <a:round/>
              <a:headEnd/>
              <a:tailEnd/>
            </a:ln>
            <a:extLst>
              <a:ext uri="{909E8E84-426E-40dd-AFC4-6F175D3DCCD1}">
                <a14:hiddenFill xmlns:a14="http://schemas.microsoft.com/office/drawing/2010/main" xmlns="">
                  <a:noFill/>
                </a14:hiddenFill>
              </a:ext>
            </a:extLst>
          </p:spPr>
        </p:cxnSp>
        <p:sp>
          <p:nvSpPr>
            <p:cNvPr id="15" name="Text Box 2237"/>
            <p:cNvSpPr txBox="1">
              <a:spLocks noChangeArrowheads="1"/>
            </p:cNvSpPr>
            <p:nvPr/>
          </p:nvSpPr>
          <p:spPr bwMode="auto">
            <a:xfrm>
              <a:off x="5222" y="2966"/>
              <a:ext cx="2405" cy="67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charset="0"/>
                  <a:ea typeface="宋体" charset="0"/>
                </a:defRPr>
              </a:lvl1pPr>
              <a:lvl2pPr marL="742950" indent="-285750" eaLnBrk="0" hangingPunct="0">
                <a:defRPr>
                  <a:solidFill>
                    <a:schemeClr val="tx1"/>
                  </a:solidFill>
                  <a:latin typeface="Arial" charset="0"/>
                  <a:ea typeface="宋体" charset="0"/>
                </a:defRPr>
              </a:lvl2pPr>
              <a:lvl3pPr marL="1143000" indent="-228600" eaLnBrk="0" hangingPunct="0">
                <a:defRPr>
                  <a:solidFill>
                    <a:schemeClr val="tx1"/>
                  </a:solidFill>
                  <a:latin typeface="Arial" charset="0"/>
                  <a:ea typeface="宋体" charset="0"/>
                </a:defRPr>
              </a:lvl3pPr>
              <a:lvl4pPr marL="1600200" indent="-228600" eaLnBrk="0" hangingPunct="0">
                <a:defRPr>
                  <a:solidFill>
                    <a:schemeClr val="tx1"/>
                  </a:solidFill>
                  <a:latin typeface="Arial" charset="0"/>
                  <a:ea typeface="宋体" charset="0"/>
                </a:defRPr>
              </a:lvl4pPr>
              <a:lvl5pPr marL="2057400" indent="-228600" eaLnBrk="0" hangingPunct="0">
                <a:defRPr>
                  <a:solidFill>
                    <a:schemeClr val="tx1"/>
                  </a:solidFill>
                  <a:latin typeface="Arial" charset="0"/>
                  <a:ea typeface="宋体" charset="0"/>
                </a:defRPr>
              </a:lvl5pPr>
              <a:lvl6pPr marL="2514600" indent="-228600" eaLnBrk="0" fontAlgn="base" hangingPunct="0">
                <a:spcBef>
                  <a:spcPct val="0"/>
                </a:spcBef>
                <a:spcAft>
                  <a:spcPct val="0"/>
                </a:spcAft>
                <a:defRPr>
                  <a:solidFill>
                    <a:schemeClr val="tx1"/>
                  </a:solidFill>
                  <a:latin typeface="Arial" charset="0"/>
                  <a:ea typeface="宋体" charset="0"/>
                </a:defRPr>
              </a:lvl6pPr>
              <a:lvl7pPr marL="2971800" indent="-228600" eaLnBrk="0" fontAlgn="base" hangingPunct="0">
                <a:spcBef>
                  <a:spcPct val="0"/>
                </a:spcBef>
                <a:spcAft>
                  <a:spcPct val="0"/>
                </a:spcAft>
                <a:defRPr>
                  <a:solidFill>
                    <a:schemeClr val="tx1"/>
                  </a:solidFill>
                  <a:latin typeface="Arial" charset="0"/>
                  <a:ea typeface="宋体" charset="0"/>
                </a:defRPr>
              </a:lvl7pPr>
              <a:lvl8pPr marL="3429000" indent="-228600" eaLnBrk="0" fontAlgn="base" hangingPunct="0">
                <a:spcBef>
                  <a:spcPct val="0"/>
                </a:spcBef>
                <a:spcAft>
                  <a:spcPct val="0"/>
                </a:spcAft>
                <a:defRPr>
                  <a:solidFill>
                    <a:schemeClr val="tx1"/>
                  </a:solidFill>
                  <a:latin typeface="Arial" charset="0"/>
                  <a:ea typeface="宋体" charset="0"/>
                </a:defRPr>
              </a:lvl8pPr>
              <a:lvl9pPr marL="3886200" indent="-228600" eaLnBrk="0" fontAlgn="base" hangingPunct="0">
                <a:spcBef>
                  <a:spcPct val="0"/>
                </a:spcBef>
                <a:spcAft>
                  <a:spcPct val="0"/>
                </a:spcAft>
                <a:defRPr>
                  <a:solidFill>
                    <a:schemeClr val="tx1"/>
                  </a:solidFill>
                  <a:latin typeface="Arial" charset="0"/>
                  <a:ea typeface="宋体" charset="0"/>
                </a:defRPr>
              </a:lvl9pPr>
            </a:lstStyle>
            <a:p>
              <a:pPr algn="ctr" eaLnBrk="1" hangingPunct="1"/>
              <a:r>
                <a:rPr lang="en-US" altLang="zh-CN">
                  <a:latin typeface="Times New Roman" charset="0"/>
                  <a:cs typeface="Times New Roman" charset="0"/>
                </a:rPr>
                <a:t>Incremental growth in value </a:t>
              </a:r>
              <a:r>
                <a:rPr lang="en-US" altLang="zh-CN">
                  <a:latin typeface="Times New Roman" charset="0"/>
                  <a:cs typeface="Times New Roman" charset="0"/>
                  <a:sym typeface="Symbol" charset="0"/>
                </a:rPr>
                <a:t></a:t>
              </a:r>
              <a:r>
                <a:rPr lang="en-US" altLang="zh-CN" i="1">
                  <a:latin typeface="Times New Roman" charset="0"/>
                  <a:cs typeface="Times New Roman" charset="0"/>
                </a:rPr>
                <a:t>S</a:t>
              </a:r>
              <a:r>
                <a:rPr lang="en-US" altLang="zh-CN">
                  <a:latin typeface="Times New Roman" charset="0"/>
                  <a:cs typeface="Times New Roman" charset="0"/>
                </a:rPr>
                <a:t>/</a:t>
              </a:r>
              <a:r>
                <a:rPr lang="en-US" altLang="zh-CN" i="1">
                  <a:latin typeface="Times New Roman" charset="0"/>
                  <a:cs typeface="Times New Roman" charset="0"/>
                </a:rPr>
                <a:t>S</a:t>
              </a:r>
              <a:r>
                <a:rPr lang="en-US" altLang="zh-CN">
                  <a:latin typeface="Times New Roman" charset="0"/>
                  <a:cs typeface="Times New Roman" charset="0"/>
                </a:rPr>
                <a:t>(</a:t>
              </a:r>
              <a:r>
                <a:rPr lang="en-US" altLang="zh-CN" i="1">
                  <a:latin typeface="Times New Roman" charset="0"/>
                  <a:cs typeface="Times New Roman" charset="0"/>
                </a:rPr>
                <a:t>t</a:t>
              </a:r>
              <a:r>
                <a:rPr lang="en-US" altLang="zh-CN">
                  <a:latin typeface="Times New Roman" charset="0"/>
                  <a:cs typeface="Times New Roman" charset="0"/>
                </a:rPr>
                <a:t>)</a:t>
              </a:r>
              <a:endParaRPr lang="en-CA">
                <a:latin typeface="Times New Roman" charset="0"/>
                <a:cs typeface="Times New Roman" charset="0"/>
              </a:endParaRPr>
            </a:p>
          </p:txBody>
        </p:sp>
        <p:sp>
          <p:nvSpPr>
            <p:cNvPr id="16" name="Text Box 2238"/>
            <p:cNvSpPr txBox="1">
              <a:spLocks noChangeArrowheads="1"/>
            </p:cNvSpPr>
            <p:nvPr/>
          </p:nvSpPr>
          <p:spPr bwMode="auto">
            <a:xfrm>
              <a:off x="2470" y="3170"/>
              <a:ext cx="1656" cy="92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charset="0"/>
                  <a:ea typeface="宋体" charset="0"/>
                </a:defRPr>
              </a:lvl1pPr>
              <a:lvl2pPr marL="742950" indent="-285750" eaLnBrk="0" hangingPunct="0">
                <a:defRPr>
                  <a:solidFill>
                    <a:schemeClr val="tx1"/>
                  </a:solidFill>
                  <a:latin typeface="Arial" charset="0"/>
                  <a:ea typeface="宋体" charset="0"/>
                </a:defRPr>
              </a:lvl2pPr>
              <a:lvl3pPr marL="1143000" indent="-228600" eaLnBrk="0" hangingPunct="0">
                <a:defRPr>
                  <a:solidFill>
                    <a:schemeClr val="tx1"/>
                  </a:solidFill>
                  <a:latin typeface="Arial" charset="0"/>
                  <a:ea typeface="宋体" charset="0"/>
                </a:defRPr>
              </a:lvl3pPr>
              <a:lvl4pPr marL="1600200" indent="-228600" eaLnBrk="0" hangingPunct="0">
                <a:defRPr>
                  <a:solidFill>
                    <a:schemeClr val="tx1"/>
                  </a:solidFill>
                  <a:latin typeface="Arial" charset="0"/>
                  <a:ea typeface="宋体" charset="0"/>
                </a:defRPr>
              </a:lvl4pPr>
              <a:lvl5pPr marL="2057400" indent="-228600" eaLnBrk="0" hangingPunct="0">
                <a:defRPr>
                  <a:solidFill>
                    <a:schemeClr val="tx1"/>
                  </a:solidFill>
                  <a:latin typeface="Arial" charset="0"/>
                  <a:ea typeface="宋体" charset="0"/>
                </a:defRPr>
              </a:lvl5pPr>
              <a:lvl6pPr marL="2514600" indent="-228600" eaLnBrk="0" fontAlgn="base" hangingPunct="0">
                <a:spcBef>
                  <a:spcPct val="0"/>
                </a:spcBef>
                <a:spcAft>
                  <a:spcPct val="0"/>
                </a:spcAft>
                <a:defRPr>
                  <a:solidFill>
                    <a:schemeClr val="tx1"/>
                  </a:solidFill>
                  <a:latin typeface="Arial" charset="0"/>
                  <a:ea typeface="宋体" charset="0"/>
                </a:defRPr>
              </a:lvl6pPr>
              <a:lvl7pPr marL="2971800" indent="-228600" eaLnBrk="0" fontAlgn="base" hangingPunct="0">
                <a:spcBef>
                  <a:spcPct val="0"/>
                </a:spcBef>
                <a:spcAft>
                  <a:spcPct val="0"/>
                </a:spcAft>
                <a:defRPr>
                  <a:solidFill>
                    <a:schemeClr val="tx1"/>
                  </a:solidFill>
                  <a:latin typeface="Arial" charset="0"/>
                  <a:ea typeface="宋体" charset="0"/>
                </a:defRPr>
              </a:lvl7pPr>
              <a:lvl8pPr marL="3429000" indent="-228600" eaLnBrk="0" fontAlgn="base" hangingPunct="0">
                <a:spcBef>
                  <a:spcPct val="0"/>
                </a:spcBef>
                <a:spcAft>
                  <a:spcPct val="0"/>
                </a:spcAft>
                <a:defRPr>
                  <a:solidFill>
                    <a:schemeClr val="tx1"/>
                  </a:solidFill>
                  <a:latin typeface="Arial" charset="0"/>
                  <a:ea typeface="宋体" charset="0"/>
                </a:defRPr>
              </a:lvl8pPr>
              <a:lvl9pPr marL="3886200" indent="-228600" eaLnBrk="0" fontAlgn="base" hangingPunct="0">
                <a:spcBef>
                  <a:spcPct val="0"/>
                </a:spcBef>
                <a:spcAft>
                  <a:spcPct val="0"/>
                </a:spcAft>
                <a:defRPr>
                  <a:solidFill>
                    <a:schemeClr val="tx1"/>
                  </a:solidFill>
                  <a:latin typeface="Arial" charset="0"/>
                  <a:ea typeface="宋体" charset="0"/>
                </a:defRPr>
              </a:lvl9pPr>
            </a:lstStyle>
            <a:p>
              <a:pPr algn="ctr" eaLnBrk="1" hangingPunct="1"/>
              <a:r>
                <a:rPr lang="en-US" altLang="zh-CN">
                  <a:latin typeface="Times New Roman" charset="0"/>
                  <a:cs typeface="Times New Roman" charset="0"/>
                </a:rPr>
                <a:t>Annual costs and returns ($)</a:t>
              </a:r>
              <a:endParaRPr lang="en-CA">
                <a:latin typeface="Times New Roman" charset="0"/>
                <a:cs typeface="Times New Roman" charset="0"/>
              </a:endParaRPr>
            </a:p>
          </p:txBody>
        </p:sp>
        <p:sp>
          <p:nvSpPr>
            <p:cNvPr id="17" name="Text Box 2239"/>
            <p:cNvSpPr txBox="1">
              <a:spLocks noChangeArrowheads="1"/>
            </p:cNvSpPr>
            <p:nvPr/>
          </p:nvSpPr>
          <p:spPr bwMode="auto">
            <a:xfrm>
              <a:off x="5873" y="6960"/>
              <a:ext cx="604" cy="3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charset="0"/>
                  <a:ea typeface="宋体" charset="0"/>
                </a:defRPr>
              </a:lvl1pPr>
              <a:lvl2pPr marL="742950" indent="-285750" eaLnBrk="0" hangingPunct="0">
                <a:defRPr>
                  <a:solidFill>
                    <a:schemeClr val="tx1"/>
                  </a:solidFill>
                  <a:latin typeface="Arial" charset="0"/>
                  <a:ea typeface="宋体" charset="0"/>
                </a:defRPr>
              </a:lvl2pPr>
              <a:lvl3pPr marL="1143000" indent="-228600" eaLnBrk="0" hangingPunct="0">
                <a:defRPr>
                  <a:solidFill>
                    <a:schemeClr val="tx1"/>
                  </a:solidFill>
                  <a:latin typeface="Arial" charset="0"/>
                  <a:ea typeface="宋体" charset="0"/>
                </a:defRPr>
              </a:lvl3pPr>
              <a:lvl4pPr marL="1600200" indent="-228600" eaLnBrk="0" hangingPunct="0">
                <a:defRPr>
                  <a:solidFill>
                    <a:schemeClr val="tx1"/>
                  </a:solidFill>
                  <a:latin typeface="Arial" charset="0"/>
                  <a:ea typeface="宋体" charset="0"/>
                </a:defRPr>
              </a:lvl4pPr>
              <a:lvl5pPr marL="2057400" indent="-228600" eaLnBrk="0" hangingPunct="0">
                <a:defRPr>
                  <a:solidFill>
                    <a:schemeClr val="tx1"/>
                  </a:solidFill>
                  <a:latin typeface="Arial" charset="0"/>
                  <a:ea typeface="宋体" charset="0"/>
                </a:defRPr>
              </a:lvl5pPr>
              <a:lvl6pPr marL="2514600" indent="-228600" eaLnBrk="0" fontAlgn="base" hangingPunct="0">
                <a:spcBef>
                  <a:spcPct val="0"/>
                </a:spcBef>
                <a:spcAft>
                  <a:spcPct val="0"/>
                </a:spcAft>
                <a:defRPr>
                  <a:solidFill>
                    <a:schemeClr val="tx1"/>
                  </a:solidFill>
                  <a:latin typeface="Arial" charset="0"/>
                  <a:ea typeface="宋体" charset="0"/>
                </a:defRPr>
              </a:lvl6pPr>
              <a:lvl7pPr marL="2971800" indent="-228600" eaLnBrk="0" fontAlgn="base" hangingPunct="0">
                <a:spcBef>
                  <a:spcPct val="0"/>
                </a:spcBef>
                <a:spcAft>
                  <a:spcPct val="0"/>
                </a:spcAft>
                <a:defRPr>
                  <a:solidFill>
                    <a:schemeClr val="tx1"/>
                  </a:solidFill>
                  <a:latin typeface="Arial" charset="0"/>
                  <a:ea typeface="宋体" charset="0"/>
                </a:defRPr>
              </a:lvl7pPr>
              <a:lvl8pPr marL="3429000" indent="-228600" eaLnBrk="0" fontAlgn="base" hangingPunct="0">
                <a:spcBef>
                  <a:spcPct val="0"/>
                </a:spcBef>
                <a:spcAft>
                  <a:spcPct val="0"/>
                </a:spcAft>
                <a:defRPr>
                  <a:solidFill>
                    <a:schemeClr val="tx1"/>
                  </a:solidFill>
                  <a:latin typeface="Arial" charset="0"/>
                  <a:ea typeface="宋体" charset="0"/>
                </a:defRPr>
              </a:lvl8pPr>
              <a:lvl9pPr marL="3886200" indent="-228600" eaLnBrk="0" fontAlgn="base" hangingPunct="0">
                <a:spcBef>
                  <a:spcPct val="0"/>
                </a:spcBef>
                <a:spcAft>
                  <a:spcPct val="0"/>
                </a:spcAft>
                <a:defRPr>
                  <a:solidFill>
                    <a:schemeClr val="tx1"/>
                  </a:solidFill>
                  <a:latin typeface="Arial" charset="0"/>
                  <a:ea typeface="宋体" charset="0"/>
                </a:defRPr>
              </a:lvl9pPr>
            </a:lstStyle>
            <a:p>
              <a:pPr eaLnBrk="1" hangingPunct="1"/>
              <a:r>
                <a:rPr lang="en-US" altLang="zh-CN" i="1">
                  <a:latin typeface="Times New Roman" charset="0"/>
                  <a:cs typeface="Times New Roman" charset="0"/>
                </a:rPr>
                <a:t>t</a:t>
              </a:r>
              <a:r>
                <a:rPr lang="en-US" altLang="zh-CN" baseline="30000">
                  <a:latin typeface="Times New Roman" charset="0"/>
                  <a:cs typeface="Times New Roman" charset="0"/>
                </a:rPr>
                <a:t>*</a:t>
              </a:r>
              <a:endParaRPr lang="en-CA">
                <a:latin typeface="Times New Roman" charset="0"/>
                <a:cs typeface="Times New Roman" charset="0"/>
              </a:endParaRPr>
            </a:p>
          </p:txBody>
        </p:sp>
        <p:cxnSp>
          <p:nvCxnSpPr>
            <p:cNvPr id="18" name="AutoShape 2240"/>
            <p:cNvCxnSpPr>
              <a:cxnSpLocks noChangeShapeType="1"/>
            </p:cNvCxnSpPr>
            <p:nvPr/>
          </p:nvCxnSpPr>
          <p:spPr bwMode="auto">
            <a:xfrm>
              <a:off x="4126" y="3168"/>
              <a:ext cx="11" cy="3744"/>
            </a:xfrm>
            <a:prstGeom prst="straightConnector1">
              <a:avLst/>
            </a:prstGeom>
            <a:noFill/>
            <a:ln w="19050">
              <a:solidFill>
                <a:srgbClr val="000000"/>
              </a:solidFill>
              <a:round/>
              <a:headEnd/>
              <a:tailEnd/>
            </a:ln>
            <a:extLst>
              <a:ext uri="{909E8E84-426E-40dd-AFC4-6F175D3DCCD1}">
                <a14:hiddenFill xmlns:a14="http://schemas.microsoft.com/office/drawing/2010/main" xmlns="">
                  <a:noFill/>
                </a14:hiddenFill>
              </a:ext>
            </a:extLst>
          </p:spPr>
        </p:cxnSp>
        <p:cxnSp>
          <p:nvCxnSpPr>
            <p:cNvPr id="19" name="AutoShape 2241"/>
            <p:cNvCxnSpPr>
              <a:cxnSpLocks noChangeShapeType="1"/>
            </p:cNvCxnSpPr>
            <p:nvPr/>
          </p:nvCxnSpPr>
          <p:spPr bwMode="auto">
            <a:xfrm>
              <a:off x="4144" y="6911"/>
              <a:ext cx="4808" cy="1"/>
            </a:xfrm>
            <a:prstGeom prst="straightConnector1">
              <a:avLst/>
            </a:prstGeom>
            <a:noFill/>
            <a:ln w="9525">
              <a:solidFill>
                <a:srgbClr val="000000"/>
              </a:solidFill>
              <a:round/>
              <a:headEnd/>
              <a:tailEnd/>
            </a:ln>
            <a:extLst>
              <a:ext uri="{909E8E84-426E-40dd-AFC4-6F175D3DCCD1}">
                <a14:hiddenFill xmlns:a14="http://schemas.microsoft.com/office/drawing/2010/main" xmlns="">
                  <a:noFill/>
                </a14:hiddenFill>
              </a:ext>
            </a:extLst>
          </p:spPr>
        </p:cxnSp>
        <p:sp>
          <p:nvSpPr>
            <p:cNvPr id="20" name="Arc 2242"/>
            <p:cNvSpPr>
              <a:spLocks/>
            </p:cNvSpPr>
            <p:nvPr/>
          </p:nvSpPr>
          <p:spPr bwMode="auto">
            <a:xfrm rot="10069173">
              <a:off x="5362" y="3167"/>
              <a:ext cx="2230" cy="3318"/>
            </a:xfrm>
            <a:custGeom>
              <a:avLst/>
              <a:gdLst>
                <a:gd name="T0" fmla="*/ 129 w 21600"/>
                <a:gd name="T1" fmla="*/ 0 h 25183"/>
                <a:gd name="T2" fmla="*/ 217 w 21600"/>
                <a:gd name="T3" fmla="*/ 437 h 25183"/>
                <a:gd name="T4" fmla="*/ 0 w 21600"/>
                <a:gd name="T5" fmla="*/ 311 h 25183"/>
                <a:gd name="T6" fmla="*/ 0 60000 65536"/>
                <a:gd name="T7" fmla="*/ 0 60000 65536"/>
                <a:gd name="T8" fmla="*/ 0 60000 65536"/>
                <a:gd name="T9" fmla="*/ 0 w 21600"/>
                <a:gd name="T10" fmla="*/ 0 h 25183"/>
                <a:gd name="T11" fmla="*/ 21600 w 21600"/>
                <a:gd name="T12" fmla="*/ 25183 h 25183"/>
              </a:gdLst>
              <a:ahLst/>
              <a:cxnLst>
                <a:cxn ang="T6">
                  <a:pos x="T0" y="T1"/>
                </a:cxn>
                <a:cxn ang="T7">
                  <a:pos x="T2" y="T3"/>
                </a:cxn>
                <a:cxn ang="T8">
                  <a:pos x="T4" y="T5"/>
                </a:cxn>
              </a:cxnLst>
              <a:rect l="T9" t="T10" r="T11" b="T12"/>
              <a:pathLst>
                <a:path w="21600" h="25183" fill="none" extrusionOk="0">
                  <a:moveTo>
                    <a:pt x="12084" y="0"/>
                  </a:moveTo>
                  <a:cubicBezTo>
                    <a:pt x="18034" y="4016"/>
                    <a:pt x="21600" y="10725"/>
                    <a:pt x="21600" y="17903"/>
                  </a:cubicBezTo>
                  <a:cubicBezTo>
                    <a:pt x="21600" y="20384"/>
                    <a:pt x="21172" y="22846"/>
                    <a:pt x="20336" y="25183"/>
                  </a:cubicBezTo>
                </a:path>
                <a:path w="21600" h="25183" stroke="0" extrusionOk="0">
                  <a:moveTo>
                    <a:pt x="12084" y="0"/>
                  </a:moveTo>
                  <a:cubicBezTo>
                    <a:pt x="18034" y="4016"/>
                    <a:pt x="21600" y="10725"/>
                    <a:pt x="21600" y="17903"/>
                  </a:cubicBezTo>
                  <a:cubicBezTo>
                    <a:pt x="21600" y="20384"/>
                    <a:pt x="21172" y="22846"/>
                    <a:pt x="20336" y="25183"/>
                  </a:cubicBezTo>
                  <a:lnTo>
                    <a:pt x="0" y="17903"/>
                  </a:lnTo>
                  <a:lnTo>
                    <a:pt x="12084" y="0"/>
                  </a:lnTo>
                  <a:close/>
                </a:path>
              </a:pathLst>
            </a:custGeom>
            <a:noFill/>
            <a:ln w="9525">
              <a:solidFill>
                <a:srgbClr val="000000"/>
              </a:solidFill>
              <a:round/>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a:p>
          </p:txBody>
        </p:sp>
        <p:sp>
          <p:nvSpPr>
            <p:cNvPr id="21" name="Text Box 2243"/>
            <p:cNvSpPr txBox="1">
              <a:spLocks noChangeArrowheads="1"/>
            </p:cNvSpPr>
            <p:nvPr/>
          </p:nvSpPr>
          <p:spPr bwMode="auto">
            <a:xfrm>
              <a:off x="3694" y="5753"/>
              <a:ext cx="288" cy="46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charset="0"/>
                  <a:ea typeface="宋体" charset="0"/>
                </a:defRPr>
              </a:lvl1pPr>
              <a:lvl2pPr marL="742950" indent="-285750" eaLnBrk="0" hangingPunct="0">
                <a:defRPr>
                  <a:solidFill>
                    <a:schemeClr val="tx1"/>
                  </a:solidFill>
                  <a:latin typeface="Arial" charset="0"/>
                  <a:ea typeface="宋体" charset="0"/>
                </a:defRPr>
              </a:lvl2pPr>
              <a:lvl3pPr marL="1143000" indent="-228600" eaLnBrk="0" hangingPunct="0">
                <a:defRPr>
                  <a:solidFill>
                    <a:schemeClr val="tx1"/>
                  </a:solidFill>
                  <a:latin typeface="Arial" charset="0"/>
                  <a:ea typeface="宋体" charset="0"/>
                </a:defRPr>
              </a:lvl3pPr>
              <a:lvl4pPr marL="1600200" indent="-228600" eaLnBrk="0" hangingPunct="0">
                <a:defRPr>
                  <a:solidFill>
                    <a:schemeClr val="tx1"/>
                  </a:solidFill>
                  <a:latin typeface="Arial" charset="0"/>
                  <a:ea typeface="宋体" charset="0"/>
                </a:defRPr>
              </a:lvl4pPr>
              <a:lvl5pPr marL="2057400" indent="-228600" eaLnBrk="0" hangingPunct="0">
                <a:defRPr>
                  <a:solidFill>
                    <a:schemeClr val="tx1"/>
                  </a:solidFill>
                  <a:latin typeface="Arial" charset="0"/>
                  <a:ea typeface="宋体" charset="0"/>
                </a:defRPr>
              </a:lvl5pPr>
              <a:lvl6pPr marL="2514600" indent="-228600" eaLnBrk="0" fontAlgn="base" hangingPunct="0">
                <a:spcBef>
                  <a:spcPct val="0"/>
                </a:spcBef>
                <a:spcAft>
                  <a:spcPct val="0"/>
                </a:spcAft>
                <a:defRPr>
                  <a:solidFill>
                    <a:schemeClr val="tx1"/>
                  </a:solidFill>
                  <a:latin typeface="Arial" charset="0"/>
                  <a:ea typeface="宋体" charset="0"/>
                </a:defRPr>
              </a:lvl6pPr>
              <a:lvl7pPr marL="2971800" indent="-228600" eaLnBrk="0" fontAlgn="base" hangingPunct="0">
                <a:spcBef>
                  <a:spcPct val="0"/>
                </a:spcBef>
                <a:spcAft>
                  <a:spcPct val="0"/>
                </a:spcAft>
                <a:defRPr>
                  <a:solidFill>
                    <a:schemeClr val="tx1"/>
                  </a:solidFill>
                  <a:latin typeface="Arial" charset="0"/>
                  <a:ea typeface="宋体" charset="0"/>
                </a:defRPr>
              </a:lvl7pPr>
              <a:lvl8pPr marL="3429000" indent="-228600" eaLnBrk="0" fontAlgn="base" hangingPunct="0">
                <a:spcBef>
                  <a:spcPct val="0"/>
                </a:spcBef>
                <a:spcAft>
                  <a:spcPct val="0"/>
                </a:spcAft>
                <a:defRPr>
                  <a:solidFill>
                    <a:schemeClr val="tx1"/>
                  </a:solidFill>
                  <a:latin typeface="Arial" charset="0"/>
                  <a:ea typeface="宋体" charset="0"/>
                </a:defRPr>
              </a:lvl8pPr>
              <a:lvl9pPr marL="3886200" indent="-228600" eaLnBrk="0" fontAlgn="base" hangingPunct="0">
                <a:spcBef>
                  <a:spcPct val="0"/>
                </a:spcBef>
                <a:spcAft>
                  <a:spcPct val="0"/>
                </a:spcAft>
                <a:defRPr>
                  <a:solidFill>
                    <a:schemeClr val="tx1"/>
                  </a:solidFill>
                  <a:latin typeface="Arial" charset="0"/>
                  <a:ea typeface="宋体" charset="0"/>
                </a:defRPr>
              </a:lvl9pPr>
            </a:lstStyle>
            <a:p>
              <a:pPr eaLnBrk="1" hangingPunct="1"/>
              <a:r>
                <a:rPr lang="en-US" altLang="zh-CN" i="1">
                  <a:latin typeface="Times New Roman" charset="0"/>
                  <a:cs typeface="Times New Roman" charset="0"/>
                </a:rPr>
                <a:t>i</a:t>
              </a:r>
              <a:endParaRPr lang="en-CA">
                <a:latin typeface="Times New Roman" charset="0"/>
                <a:cs typeface="Times New Roman" charset="0"/>
              </a:endParaRPr>
            </a:p>
          </p:txBody>
        </p:sp>
        <p:cxnSp>
          <p:nvCxnSpPr>
            <p:cNvPr id="22" name="AutoShape 2244"/>
            <p:cNvCxnSpPr>
              <a:cxnSpLocks noChangeShapeType="1"/>
            </p:cNvCxnSpPr>
            <p:nvPr/>
          </p:nvCxnSpPr>
          <p:spPr bwMode="auto">
            <a:xfrm>
              <a:off x="5499" y="5125"/>
              <a:ext cx="0" cy="1834"/>
            </a:xfrm>
            <a:prstGeom prst="straightConnector1">
              <a:avLst/>
            </a:prstGeom>
            <a:noFill/>
            <a:ln w="9525">
              <a:solidFill>
                <a:srgbClr val="000000"/>
              </a:solidFill>
              <a:prstDash val="lgDash"/>
              <a:round/>
              <a:headEnd/>
              <a:tailEnd/>
            </a:ln>
            <a:extLst>
              <a:ext uri="{909E8E84-426E-40dd-AFC4-6F175D3DCCD1}">
                <a14:hiddenFill xmlns:a14="http://schemas.microsoft.com/office/drawing/2010/main" xmlns="">
                  <a:noFill/>
                </a14:hiddenFill>
              </a:ext>
            </a:extLst>
          </p:spPr>
        </p:cxnSp>
        <p:sp>
          <p:nvSpPr>
            <p:cNvPr id="23" name="Text Box 2245"/>
            <p:cNvSpPr txBox="1">
              <a:spLocks noChangeArrowheads="1"/>
            </p:cNvSpPr>
            <p:nvPr/>
          </p:nvSpPr>
          <p:spPr bwMode="auto">
            <a:xfrm>
              <a:off x="5285" y="6911"/>
              <a:ext cx="588" cy="43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charset="0"/>
                  <a:ea typeface="宋体" charset="0"/>
                </a:defRPr>
              </a:lvl1pPr>
              <a:lvl2pPr marL="742950" indent="-285750" eaLnBrk="0" hangingPunct="0">
                <a:defRPr>
                  <a:solidFill>
                    <a:schemeClr val="tx1"/>
                  </a:solidFill>
                  <a:latin typeface="Arial" charset="0"/>
                  <a:ea typeface="宋体" charset="0"/>
                </a:defRPr>
              </a:lvl2pPr>
              <a:lvl3pPr marL="1143000" indent="-228600" eaLnBrk="0" hangingPunct="0">
                <a:defRPr>
                  <a:solidFill>
                    <a:schemeClr val="tx1"/>
                  </a:solidFill>
                  <a:latin typeface="Arial" charset="0"/>
                  <a:ea typeface="宋体" charset="0"/>
                </a:defRPr>
              </a:lvl3pPr>
              <a:lvl4pPr marL="1600200" indent="-228600" eaLnBrk="0" hangingPunct="0">
                <a:defRPr>
                  <a:solidFill>
                    <a:schemeClr val="tx1"/>
                  </a:solidFill>
                  <a:latin typeface="Arial" charset="0"/>
                  <a:ea typeface="宋体" charset="0"/>
                </a:defRPr>
              </a:lvl4pPr>
              <a:lvl5pPr marL="2057400" indent="-228600" eaLnBrk="0" hangingPunct="0">
                <a:defRPr>
                  <a:solidFill>
                    <a:schemeClr val="tx1"/>
                  </a:solidFill>
                  <a:latin typeface="Arial" charset="0"/>
                  <a:ea typeface="宋体" charset="0"/>
                </a:defRPr>
              </a:lvl5pPr>
              <a:lvl6pPr marL="2514600" indent="-228600" eaLnBrk="0" fontAlgn="base" hangingPunct="0">
                <a:spcBef>
                  <a:spcPct val="0"/>
                </a:spcBef>
                <a:spcAft>
                  <a:spcPct val="0"/>
                </a:spcAft>
                <a:defRPr>
                  <a:solidFill>
                    <a:schemeClr val="tx1"/>
                  </a:solidFill>
                  <a:latin typeface="Arial" charset="0"/>
                  <a:ea typeface="宋体" charset="0"/>
                </a:defRPr>
              </a:lvl6pPr>
              <a:lvl7pPr marL="2971800" indent="-228600" eaLnBrk="0" fontAlgn="base" hangingPunct="0">
                <a:spcBef>
                  <a:spcPct val="0"/>
                </a:spcBef>
                <a:spcAft>
                  <a:spcPct val="0"/>
                </a:spcAft>
                <a:defRPr>
                  <a:solidFill>
                    <a:schemeClr val="tx1"/>
                  </a:solidFill>
                  <a:latin typeface="Arial" charset="0"/>
                  <a:ea typeface="宋体" charset="0"/>
                </a:defRPr>
              </a:lvl7pPr>
              <a:lvl8pPr marL="3429000" indent="-228600" eaLnBrk="0" fontAlgn="base" hangingPunct="0">
                <a:spcBef>
                  <a:spcPct val="0"/>
                </a:spcBef>
                <a:spcAft>
                  <a:spcPct val="0"/>
                </a:spcAft>
                <a:defRPr>
                  <a:solidFill>
                    <a:schemeClr val="tx1"/>
                  </a:solidFill>
                  <a:latin typeface="Arial" charset="0"/>
                  <a:ea typeface="宋体" charset="0"/>
                </a:defRPr>
              </a:lvl8pPr>
              <a:lvl9pPr marL="3886200" indent="-228600" eaLnBrk="0" fontAlgn="base" hangingPunct="0">
                <a:spcBef>
                  <a:spcPct val="0"/>
                </a:spcBef>
                <a:spcAft>
                  <a:spcPct val="0"/>
                </a:spcAft>
                <a:defRPr>
                  <a:solidFill>
                    <a:schemeClr val="tx1"/>
                  </a:solidFill>
                  <a:latin typeface="Arial" charset="0"/>
                  <a:ea typeface="宋体" charset="0"/>
                </a:defRPr>
              </a:lvl9pPr>
            </a:lstStyle>
            <a:p>
              <a:pPr eaLnBrk="1" hangingPunct="1"/>
              <a:r>
                <a:rPr lang="en-US" altLang="zh-CN" i="1">
                  <a:latin typeface="Times New Roman" charset="0"/>
                  <a:cs typeface="Times New Roman" charset="0"/>
                </a:rPr>
                <a:t>t</a:t>
              </a:r>
              <a:r>
                <a:rPr lang="en-US" altLang="zh-CN" i="1" baseline="-25000">
                  <a:latin typeface="Times New Roman" charset="0"/>
                  <a:cs typeface="Times New Roman" charset="0"/>
                </a:rPr>
                <a:t>F</a:t>
              </a:r>
              <a:endParaRPr lang="en-CA">
                <a:latin typeface="Times New Roman" charset="0"/>
                <a:cs typeface="Times New Roman" charset="0"/>
              </a:endParaRPr>
            </a:p>
          </p:txBody>
        </p:sp>
      </p:grpSp>
      <p:cxnSp>
        <p:nvCxnSpPr>
          <p:cNvPr id="25" name="Straight Arrow Connector 20"/>
          <p:cNvCxnSpPr/>
          <p:nvPr/>
        </p:nvCxnSpPr>
        <p:spPr>
          <a:xfrm flipH="1">
            <a:off x="5532434" y="3794647"/>
            <a:ext cx="75697" cy="356189"/>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30" name="文本框 29"/>
          <p:cNvSpPr txBox="1"/>
          <p:nvPr/>
        </p:nvSpPr>
        <p:spPr>
          <a:xfrm>
            <a:off x="1932541" y="4116195"/>
            <a:ext cx="1331167" cy="1477328"/>
          </a:xfrm>
          <a:prstGeom prst="rect">
            <a:avLst/>
          </a:prstGeom>
          <a:noFill/>
        </p:spPr>
        <p:txBody>
          <a:bodyPr wrap="square" rtlCol="0">
            <a:spAutoFit/>
          </a:bodyPr>
          <a:lstStyle/>
          <a:p>
            <a:r>
              <a:rPr lang="zh-CN" altLang="en-US" dirty="0">
                <a:solidFill>
                  <a:schemeClr val="accent3">
                    <a:lumMod val="75000"/>
                  </a:schemeClr>
                </a:solidFill>
              </a:rPr>
              <a:t>增长的成本高于利率</a:t>
            </a:r>
            <a:r>
              <a:rPr lang="en-US" altLang="zh-CN" dirty="0" err="1">
                <a:solidFill>
                  <a:schemeClr val="accent3">
                    <a:lumMod val="75000"/>
                  </a:schemeClr>
                </a:solidFill>
              </a:rPr>
              <a:t>i</a:t>
            </a:r>
            <a:r>
              <a:rPr lang="zh-CN" altLang="en-US" dirty="0">
                <a:solidFill>
                  <a:schemeClr val="accent3">
                    <a:lumMod val="75000"/>
                  </a:schemeClr>
                </a:solidFill>
              </a:rPr>
              <a:t>，并在树龄增大时逐渐趋向利率</a:t>
            </a:r>
            <a:r>
              <a:rPr lang="en-US" altLang="zh-CN" dirty="0" err="1">
                <a:solidFill>
                  <a:schemeClr val="accent3">
                    <a:lumMod val="75000"/>
                  </a:schemeClr>
                </a:solidFill>
              </a:rPr>
              <a:t>i</a:t>
            </a:r>
            <a:endParaRPr lang="zh-CN" altLang="en-US" dirty="0">
              <a:solidFill>
                <a:schemeClr val="accent3">
                  <a:lumMod val="75000"/>
                </a:schemeClr>
              </a:solidFill>
            </a:endParaRPr>
          </a:p>
        </p:txBody>
      </p:sp>
      <p:sp>
        <p:nvSpPr>
          <p:cNvPr id="31" name="文本框 30"/>
          <p:cNvSpPr txBox="1"/>
          <p:nvPr/>
        </p:nvSpPr>
        <p:spPr>
          <a:xfrm>
            <a:off x="7022061" y="3933012"/>
            <a:ext cx="1945544" cy="1477328"/>
          </a:xfrm>
          <a:prstGeom prst="rect">
            <a:avLst/>
          </a:prstGeom>
          <a:noFill/>
        </p:spPr>
        <p:txBody>
          <a:bodyPr wrap="square" rtlCol="0">
            <a:spAutoFit/>
          </a:bodyPr>
          <a:lstStyle/>
          <a:p>
            <a:r>
              <a:rPr lang="zh-CN" altLang="en-US" dirty="0">
                <a:solidFill>
                  <a:schemeClr val="accent3">
                    <a:lumMod val="75000"/>
                  </a:schemeClr>
                </a:solidFill>
              </a:rPr>
              <a:t>土地的机会成本使树木继续生长的成本增加，采伐森林变得更为迫切</a:t>
            </a:r>
          </a:p>
        </p:txBody>
      </p:sp>
    </p:spTree>
    <p:extLst>
      <p:ext uri="{BB962C8B-B14F-4D97-AF65-F5344CB8AC3E}">
        <p14:creationId xmlns:p14="http://schemas.microsoft.com/office/powerpoint/2010/main" val="22748710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868815" y="3574507"/>
            <a:ext cx="3761842" cy="973667"/>
          </a:xfrm>
        </p:spPr>
        <p:txBody>
          <a:bodyPr>
            <a:noAutofit/>
          </a:bodyPr>
          <a:lstStyle/>
          <a:p>
            <a:pPr algn="l"/>
            <a:r>
              <a:rPr lang="zh-CN" altLang="en-US" sz="2400" dirty="0"/>
              <a:t>在生长周期较长的情况下，贴现的力量降低了将来成本的价值</a:t>
            </a:r>
            <a:br>
              <a:rPr lang="en-US" altLang="zh-CN" sz="2400" dirty="0"/>
            </a:br>
            <a:br>
              <a:rPr lang="en-US" altLang="zh-CN" sz="2400" dirty="0"/>
            </a:br>
            <a:r>
              <a:rPr lang="zh-CN" altLang="en-US" sz="2400" dirty="0"/>
              <a:t>所以考虑下一次和所有未来的森林价值而使最佳生长周期缩短的程度很有限</a:t>
            </a:r>
          </a:p>
        </p:txBody>
      </p:sp>
      <p:sp>
        <p:nvSpPr>
          <p:cNvPr id="3" name="内容占位符 2"/>
          <p:cNvSpPr>
            <a:spLocks noGrp="1"/>
          </p:cNvSpPr>
          <p:nvPr>
            <p:ph idx="1"/>
          </p:nvPr>
        </p:nvSpPr>
        <p:spPr>
          <a:xfrm>
            <a:off x="474936" y="318351"/>
            <a:ext cx="8011142" cy="2302186"/>
          </a:xfrm>
          <a:gradFill>
            <a:gsLst>
              <a:gs pos="0">
                <a:schemeClr val="bg2">
                  <a:tint val="93000"/>
                  <a:satMod val="150000"/>
                  <a:shade val="98000"/>
                  <a:lumMod val="102000"/>
                </a:schemeClr>
              </a:gs>
              <a:gs pos="50000">
                <a:schemeClr val="bg2">
                  <a:tint val="98000"/>
                  <a:satMod val="130000"/>
                  <a:shade val="90000"/>
                  <a:lumMod val="103000"/>
                </a:schemeClr>
              </a:gs>
              <a:gs pos="100000">
                <a:schemeClr val="bg2">
                  <a:shade val="63000"/>
                  <a:satMod val="120000"/>
                </a:schemeClr>
              </a:gs>
            </a:gsLst>
            <a:lin ang="5400000" scaled="0"/>
          </a:gra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rmAutofit/>
          </a:bodyPr>
          <a:lstStyle/>
          <a:p>
            <a:r>
              <a:rPr lang="zh-CN" altLang="en-US" dirty="0"/>
              <a:t>第一次采伐</a:t>
            </a:r>
            <a:endParaRPr lang="en-US" altLang="zh-CN" dirty="0"/>
          </a:p>
          <a:p>
            <a:r>
              <a:rPr lang="zh-CN" altLang="en-US" dirty="0"/>
              <a:t>森林</a:t>
            </a:r>
            <a:r>
              <a:rPr lang="en-US" altLang="zh-CN" dirty="0"/>
              <a:t>60</a:t>
            </a:r>
            <a:r>
              <a:rPr lang="zh-CN" altLang="en-US" dirty="0"/>
              <a:t>年后价值</a:t>
            </a:r>
            <a:r>
              <a:rPr lang="en-US" altLang="zh-CN" dirty="0"/>
              <a:t>10000</a:t>
            </a:r>
            <a:r>
              <a:rPr lang="zh-CN" altLang="en-US" dirty="0"/>
              <a:t>元</a:t>
            </a:r>
            <a:endParaRPr lang="en-US" altLang="zh-CN" dirty="0"/>
          </a:p>
          <a:p>
            <a:r>
              <a:rPr lang="zh-CN" altLang="en-US" dirty="0"/>
              <a:t>贴现率</a:t>
            </a:r>
            <a:r>
              <a:rPr lang="en-US" altLang="zh-CN" dirty="0" err="1"/>
              <a:t>i</a:t>
            </a:r>
            <a:r>
              <a:rPr lang="en-US" altLang="zh-CN" dirty="0"/>
              <a:t>=5%</a:t>
            </a:r>
          </a:p>
          <a:p>
            <a:r>
              <a:rPr lang="zh-CN" altLang="en-US" dirty="0"/>
              <a:t>现值：</a:t>
            </a:r>
            <a:r>
              <a:rPr lang="en-US" altLang="zh-CN" dirty="0"/>
              <a:t>535.36</a:t>
            </a:r>
            <a:r>
              <a:rPr lang="zh-CN" altLang="en-US" dirty="0"/>
              <a:t>元</a:t>
            </a:r>
          </a:p>
        </p:txBody>
      </p:sp>
      <p:sp>
        <p:nvSpPr>
          <p:cNvPr id="4" name="内容占位符 3"/>
          <p:cNvSpPr>
            <a:spLocks noGrp="1"/>
          </p:cNvSpPr>
          <p:nvPr>
            <p:ph sz="quarter" idx="10"/>
          </p:nvPr>
        </p:nvSpPr>
        <p:spPr>
          <a:xfrm>
            <a:off x="474936" y="2977375"/>
            <a:ext cx="3703126" cy="3572711"/>
          </a:xfrm>
          <a:ln>
            <a:noFill/>
          </a:ln>
          <a:effectLst/>
          <a:scene3d>
            <a:camera prst="orthographicFront">
              <a:rot lat="0" lon="0" rev="0"/>
            </a:camera>
            <a:lightRig rig="chilly" dir="t">
              <a:rot lat="0" lon="0" rev="18480000"/>
            </a:lightRig>
          </a:scene3d>
          <a:sp3d prstMaterial="clear">
            <a:bevelT h="63500"/>
          </a:sp3d>
        </p:spPr>
        <p:txBody>
          <a:bodyPr>
            <a:normAutofit fontScale="85000" lnSpcReduction="10000"/>
          </a:bodyPr>
          <a:lstStyle/>
          <a:p>
            <a:r>
              <a:rPr lang="zh-CN" altLang="en-US" dirty="0"/>
              <a:t>其后，每</a:t>
            </a:r>
            <a:r>
              <a:rPr lang="en-US" altLang="zh-CN" dirty="0"/>
              <a:t>60</a:t>
            </a:r>
            <a:r>
              <a:rPr lang="zh-CN" altLang="en-US" dirty="0"/>
              <a:t>年采伐一次</a:t>
            </a:r>
            <a:endParaRPr lang="en-US" altLang="zh-CN" dirty="0"/>
          </a:p>
          <a:p>
            <a:r>
              <a:rPr lang="zh-CN" altLang="en-US" dirty="0"/>
              <a:t>每次</a:t>
            </a:r>
            <a:r>
              <a:rPr lang="en-US" altLang="zh-CN" dirty="0"/>
              <a:t>10000</a:t>
            </a:r>
            <a:r>
              <a:rPr lang="zh-CN" altLang="en-US" dirty="0"/>
              <a:t>元</a:t>
            </a:r>
            <a:endParaRPr lang="en-US" altLang="zh-CN" dirty="0"/>
          </a:p>
          <a:p>
            <a:r>
              <a:rPr lang="zh-CN" altLang="en-US" dirty="0"/>
              <a:t>贴现率</a:t>
            </a:r>
            <a:r>
              <a:rPr lang="en-US" altLang="zh-CN" dirty="0" err="1"/>
              <a:t>i</a:t>
            </a:r>
            <a:r>
              <a:rPr lang="en-US" altLang="zh-CN" dirty="0"/>
              <a:t>=5%</a:t>
            </a:r>
          </a:p>
          <a:p>
            <a:r>
              <a:rPr lang="zh-CN" altLang="en-US" dirty="0"/>
              <a:t>有：</a:t>
            </a:r>
            <a:r>
              <a:rPr lang="en-US" altLang="zh-CN" dirty="0"/>
              <a:t>10000/((1+0.05)^60-1)=565.63</a:t>
            </a:r>
          </a:p>
          <a:p>
            <a:r>
              <a:rPr lang="zh-CN" altLang="en-US" dirty="0"/>
              <a:t>再贴现回第</a:t>
            </a:r>
            <a:r>
              <a:rPr lang="en-US" altLang="zh-CN" dirty="0"/>
              <a:t>0</a:t>
            </a:r>
            <a:r>
              <a:rPr lang="zh-CN" altLang="en-US" dirty="0"/>
              <a:t>期</a:t>
            </a:r>
            <a:endParaRPr lang="en-US" altLang="zh-CN" dirty="0"/>
          </a:p>
          <a:p>
            <a:r>
              <a:rPr lang="zh-CN" altLang="en-US" dirty="0"/>
              <a:t>现值：</a:t>
            </a:r>
            <a:r>
              <a:rPr lang="en-US" altLang="zh-CN" dirty="0"/>
              <a:t>30</a:t>
            </a:r>
            <a:r>
              <a:rPr lang="zh-CN" altLang="en-US" dirty="0"/>
              <a:t>元（第一次采伐后无限次采伐的收益现值）</a:t>
            </a:r>
            <a:endParaRPr lang="en-US" altLang="zh-CN" dirty="0"/>
          </a:p>
          <a:p>
            <a:endParaRPr lang="zh-CN" altLang="en-US" dirty="0"/>
          </a:p>
        </p:txBody>
      </p:sp>
    </p:spTree>
    <p:extLst>
      <p:ext uri="{BB962C8B-B14F-4D97-AF65-F5344CB8AC3E}">
        <p14:creationId xmlns:p14="http://schemas.microsoft.com/office/powerpoint/2010/main" val="3793047811"/>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当利率降低，生长周期缩短时，这种效果将变大</a:t>
            </a:r>
          </a:p>
        </p:txBody>
      </p:sp>
      <p:sp>
        <p:nvSpPr>
          <p:cNvPr id="3" name="内容占位符 2"/>
          <p:cNvSpPr>
            <a:spLocks noGrp="1"/>
          </p:cNvSpPr>
          <p:nvPr>
            <p:ph idx="1"/>
          </p:nvPr>
        </p:nvSpPr>
        <p:spPr/>
        <p:txBody>
          <a:bodyPr/>
          <a:lstStyle/>
          <a:p>
            <a:r>
              <a:rPr lang="zh-CN" altLang="en-US" dirty="0"/>
              <a:t>生长周期变为</a:t>
            </a:r>
            <a:r>
              <a:rPr lang="en-US" altLang="zh-CN" dirty="0"/>
              <a:t>30</a:t>
            </a:r>
            <a:r>
              <a:rPr lang="zh-CN" altLang="en-US" dirty="0"/>
              <a:t>年</a:t>
            </a:r>
            <a:endParaRPr lang="en-US" altLang="zh-CN" dirty="0"/>
          </a:p>
          <a:p>
            <a:r>
              <a:rPr lang="zh-CN" altLang="en-US" dirty="0"/>
              <a:t>第一次采伐现值变为</a:t>
            </a:r>
            <a:r>
              <a:rPr lang="en-US" altLang="zh-CN" dirty="0"/>
              <a:t>2313.77</a:t>
            </a:r>
            <a:r>
              <a:rPr lang="zh-CN" altLang="en-US" dirty="0"/>
              <a:t>元</a:t>
            </a:r>
            <a:endParaRPr lang="en-US" altLang="zh-CN" dirty="0"/>
          </a:p>
          <a:p>
            <a:r>
              <a:rPr lang="zh-CN" altLang="en-US" dirty="0"/>
              <a:t>此后无限次采伐，增加的收益现值为</a:t>
            </a:r>
            <a:r>
              <a:rPr lang="en-US" altLang="zh-CN" dirty="0"/>
              <a:t>130.87</a:t>
            </a:r>
            <a:r>
              <a:rPr lang="zh-CN" altLang="en-US" dirty="0"/>
              <a:t>元</a:t>
            </a:r>
            <a:endParaRPr lang="en-US" altLang="zh-CN" dirty="0"/>
          </a:p>
          <a:p>
            <a:endParaRPr lang="zh-CN" altLang="en-US" dirty="0"/>
          </a:p>
        </p:txBody>
      </p:sp>
      <p:sp>
        <p:nvSpPr>
          <p:cNvPr id="4" name="内容占位符 3"/>
          <p:cNvSpPr>
            <a:spLocks noGrp="1"/>
          </p:cNvSpPr>
          <p:nvPr>
            <p:ph sz="half" idx="4294967295"/>
          </p:nvPr>
        </p:nvSpPr>
        <p:spPr>
          <a:xfrm>
            <a:off x="628650" y="3501483"/>
            <a:ext cx="8515350" cy="2675480"/>
          </a:xfrm>
        </p:spPr>
        <p:txBody>
          <a:bodyPr/>
          <a:lstStyle/>
          <a:p>
            <a:r>
              <a:rPr lang="zh-CN" altLang="en-US" dirty="0"/>
              <a:t>利率变为</a:t>
            </a:r>
            <a:r>
              <a:rPr lang="en-US" altLang="zh-CN" dirty="0"/>
              <a:t>2.5%</a:t>
            </a:r>
          </a:p>
          <a:p>
            <a:r>
              <a:rPr lang="zh-CN" altLang="en-US" dirty="0"/>
              <a:t>第一次采伐现值变为</a:t>
            </a:r>
            <a:r>
              <a:rPr lang="en-US" altLang="zh-CN" dirty="0"/>
              <a:t>2272,48</a:t>
            </a:r>
            <a:r>
              <a:rPr lang="zh-CN" altLang="en-US" dirty="0"/>
              <a:t>元</a:t>
            </a:r>
            <a:endParaRPr lang="en-US" altLang="zh-CN" dirty="0"/>
          </a:p>
          <a:p>
            <a:r>
              <a:rPr lang="zh-CN" altLang="en-US" dirty="0"/>
              <a:t>此后无限次采伐，增加的现值收益为</a:t>
            </a:r>
            <a:r>
              <a:rPr lang="en-US" altLang="zh-CN" dirty="0"/>
              <a:t>128.56</a:t>
            </a:r>
            <a:r>
              <a:rPr lang="zh-CN" altLang="en-US" dirty="0"/>
              <a:t>元</a:t>
            </a:r>
          </a:p>
        </p:txBody>
      </p:sp>
    </p:spTree>
    <p:extLst>
      <p:ext uri="{BB962C8B-B14F-4D97-AF65-F5344CB8AC3E}">
        <p14:creationId xmlns:p14="http://schemas.microsoft.com/office/powerpoint/2010/main" val="19444333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600" dirty="0"/>
              <a:t>对</a:t>
            </a:r>
            <a:r>
              <a:rPr lang="en-US" altLang="zh-CN" sz="3600" dirty="0" err="1"/>
              <a:t>Faustmann</a:t>
            </a:r>
            <a:r>
              <a:rPr lang="zh-CN" altLang="en-US" sz="3600" dirty="0"/>
              <a:t>模型的变形</a:t>
            </a:r>
          </a:p>
        </p:txBody>
      </p:sp>
      <p:sp>
        <p:nvSpPr>
          <p:cNvPr id="3" name="内容占位符 2"/>
          <p:cNvSpPr>
            <a:spLocks noGrp="1"/>
          </p:cNvSpPr>
          <p:nvPr>
            <p:ph idx="1"/>
          </p:nvPr>
        </p:nvSpPr>
        <p:spPr/>
        <p:txBody>
          <a:bodyPr>
            <a:normAutofit/>
          </a:bodyPr>
          <a:lstStyle/>
          <a:p>
            <a:r>
              <a:rPr lang="en-US" altLang="zh-CN" dirty="0"/>
              <a:t>A</a:t>
            </a:r>
            <a:r>
              <a:rPr lang="zh-CN" altLang="en-US" dirty="0"/>
              <a:t>：土地年机会成本或地租</a:t>
            </a:r>
            <a:endParaRPr lang="en-US" altLang="zh-CN" dirty="0"/>
          </a:p>
          <a:p>
            <a:r>
              <a:rPr lang="en-US" altLang="zh-CN" dirty="0"/>
              <a:t>A=</a:t>
            </a:r>
            <a:r>
              <a:rPr lang="en-US" altLang="zh-CN" dirty="0" err="1"/>
              <a:t>iV</a:t>
            </a:r>
            <a:r>
              <a:rPr lang="en-US" altLang="zh-CN" baseline="-25000" dirty="0" err="1"/>
              <a:t>s</a:t>
            </a:r>
            <a:r>
              <a:rPr lang="en-US" altLang="zh-CN" dirty="0"/>
              <a:t> </a:t>
            </a:r>
            <a:r>
              <a:rPr lang="zh-CN" altLang="en-US" dirty="0"/>
              <a:t>年地租</a:t>
            </a:r>
            <a:r>
              <a:rPr lang="en-US" altLang="zh-CN" dirty="0"/>
              <a:t>=</a:t>
            </a:r>
            <a:r>
              <a:rPr lang="zh-CN" altLang="en-US" dirty="0"/>
              <a:t>年地价</a:t>
            </a:r>
            <a:endParaRPr lang="en-US" altLang="zh-CN" dirty="0"/>
          </a:p>
          <a:p>
            <a:r>
              <a:rPr lang="en-US" altLang="zh-CN" dirty="0"/>
              <a:t>ΔS=</a:t>
            </a:r>
            <a:r>
              <a:rPr lang="en-US" altLang="zh-CN" dirty="0" err="1"/>
              <a:t>iS</a:t>
            </a:r>
            <a:r>
              <a:rPr lang="zh-CN" altLang="en-US" dirty="0"/>
              <a:t>（</a:t>
            </a:r>
            <a:r>
              <a:rPr lang="en-US" altLang="zh-CN" dirty="0"/>
              <a:t>t</a:t>
            </a:r>
            <a:r>
              <a:rPr lang="zh-CN" altLang="en-US" dirty="0"/>
              <a:t>）</a:t>
            </a:r>
            <a:r>
              <a:rPr lang="en-US" altLang="zh-CN" dirty="0"/>
              <a:t>/1-</a:t>
            </a:r>
            <a:r>
              <a:rPr lang="zh-CN" altLang="en-US" dirty="0"/>
              <a:t>（</a:t>
            </a:r>
            <a:r>
              <a:rPr lang="en-US" altLang="zh-CN" dirty="0"/>
              <a:t>1+i</a:t>
            </a:r>
            <a:r>
              <a:rPr lang="zh-CN" altLang="en-US" dirty="0"/>
              <a:t>）</a:t>
            </a:r>
            <a:r>
              <a:rPr lang="en-US" altLang="zh-CN" baseline="30000" dirty="0"/>
              <a:t>-t</a:t>
            </a:r>
          </a:p>
          <a:p>
            <a:pPr marL="0" indent="0">
              <a:buNone/>
            </a:pPr>
            <a:r>
              <a:rPr lang="en-US" altLang="zh-CN" baseline="30000" dirty="0"/>
              <a:t>	=</a:t>
            </a:r>
            <a:r>
              <a:rPr lang="en-US" altLang="zh-CN" sz="4000" baseline="30000" dirty="0" err="1">
                <a:solidFill>
                  <a:schemeClr val="accent3">
                    <a:lumMod val="75000"/>
                  </a:schemeClr>
                </a:solidFill>
              </a:rPr>
              <a:t>iS</a:t>
            </a:r>
            <a:r>
              <a:rPr lang="zh-CN" altLang="en-US" sz="4000" baseline="30000" dirty="0">
                <a:solidFill>
                  <a:schemeClr val="accent3">
                    <a:lumMod val="75000"/>
                  </a:schemeClr>
                </a:solidFill>
              </a:rPr>
              <a:t>（</a:t>
            </a:r>
            <a:r>
              <a:rPr lang="en-US" altLang="zh-CN" sz="4000" baseline="30000" dirty="0">
                <a:solidFill>
                  <a:schemeClr val="accent3">
                    <a:lumMod val="75000"/>
                  </a:schemeClr>
                </a:solidFill>
              </a:rPr>
              <a:t>t</a:t>
            </a:r>
            <a:r>
              <a:rPr lang="zh-CN" altLang="en-US" sz="4000" baseline="30000" dirty="0">
                <a:solidFill>
                  <a:schemeClr val="accent3">
                    <a:lumMod val="75000"/>
                  </a:schemeClr>
                </a:solidFill>
              </a:rPr>
              <a:t>）</a:t>
            </a:r>
            <a:r>
              <a:rPr lang="en-US" altLang="zh-CN" sz="4000" baseline="30000" dirty="0">
                <a:solidFill>
                  <a:schemeClr val="accent3">
                    <a:lumMod val="75000"/>
                  </a:schemeClr>
                </a:solidFill>
              </a:rPr>
              <a:t>+A</a:t>
            </a:r>
          </a:p>
          <a:p>
            <a:pPr marL="0" indent="0">
              <a:buNone/>
            </a:pPr>
            <a:r>
              <a:rPr lang="zh-CN" altLang="en-US" sz="4000" baseline="30000" dirty="0"/>
              <a:t>只要立木价值的增量超过持有立木和林地的成本，林主就会让森林继续生长</a:t>
            </a:r>
            <a:endParaRPr lang="en-US" altLang="zh-CN" sz="4000" baseline="30000" dirty="0"/>
          </a:p>
          <a:p>
            <a:pPr marL="0" indent="0">
              <a:buNone/>
            </a:pPr>
            <a:r>
              <a:rPr lang="zh-CN" altLang="en-US" sz="4000" baseline="30000" dirty="0"/>
              <a:t>反之，则应进行采伐</a:t>
            </a:r>
            <a:endParaRPr lang="zh-CN" altLang="en-US" dirty="0"/>
          </a:p>
        </p:txBody>
      </p:sp>
    </p:spTree>
    <p:extLst>
      <p:ext uri="{BB962C8B-B14F-4D97-AF65-F5344CB8AC3E}">
        <p14:creationId xmlns:p14="http://schemas.microsoft.com/office/powerpoint/2010/main" val="23606922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2" cstate="email">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rcRect r="-1206" b="20920"/>
          <a:stretch/>
        </p:blipFill>
        <p:spPr>
          <a:xfrm>
            <a:off x="1706880" y="69668"/>
            <a:ext cx="5843451" cy="6723017"/>
          </a:xfrm>
          <a:prstGeom prst="rect">
            <a:avLst/>
          </a:prstGeom>
        </p:spPr>
      </p:pic>
      <p:sp>
        <p:nvSpPr>
          <p:cNvPr id="3" name="矩形 2"/>
          <p:cNvSpPr/>
          <p:nvPr/>
        </p:nvSpPr>
        <p:spPr>
          <a:xfrm>
            <a:off x="1820091" y="4781006"/>
            <a:ext cx="5521235" cy="574765"/>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209006" y="1027611"/>
            <a:ext cx="1436914" cy="3693319"/>
          </a:xfrm>
          <a:prstGeom prst="rect">
            <a:avLst/>
          </a:prstGeom>
          <a:noFill/>
        </p:spPr>
        <p:txBody>
          <a:bodyPr wrap="square" rtlCol="0">
            <a:spAutoFit/>
          </a:bodyPr>
          <a:lstStyle/>
          <a:p>
            <a:r>
              <a:rPr lang="zh-CN" altLang="en-US" dirty="0"/>
              <a:t>当立木价值年增长量</a:t>
            </a:r>
            <a:endParaRPr lang="en-US" altLang="zh-CN" dirty="0"/>
          </a:p>
          <a:p>
            <a:r>
              <a:rPr lang="en-US" altLang="zh-CN" dirty="0"/>
              <a:t>ΔS</a:t>
            </a:r>
            <a:r>
              <a:rPr lang="zh-CN" altLang="en-US" dirty="0"/>
              <a:t>（</a:t>
            </a:r>
            <a:r>
              <a:rPr lang="en-US" altLang="zh-CN" dirty="0"/>
              <a:t>t</a:t>
            </a:r>
            <a:r>
              <a:rPr lang="zh-CN" altLang="en-US" dirty="0"/>
              <a:t>）</a:t>
            </a:r>
            <a:endParaRPr lang="en-US" altLang="zh-CN" dirty="0"/>
          </a:p>
          <a:p>
            <a:endParaRPr lang="en-US" altLang="zh-CN" dirty="0"/>
          </a:p>
          <a:p>
            <a:r>
              <a:rPr lang="zh-CN" altLang="en-US" dirty="0"/>
              <a:t>与</a:t>
            </a:r>
            <a:endParaRPr lang="en-US" altLang="zh-CN" dirty="0"/>
          </a:p>
          <a:p>
            <a:endParaRPr lang="en-US" altLang="zh-CN" dirty="0"/>
          </a:p>
          <a:p>
            <a:r>
              <a:rPr lang="zh-CN" altLang="en-US" dirty="0"/>
              <a:t>年成本增量</a:t>
            </a:r>
            <a:endParaRPr lang="en-US" altLang="zh-CN" dirty="0"/>
          </a:p>
          <a:p>
            <a:r>
              <a:rPr lang="en-US" altLang="zh-CN" dirty="0" err="1"/>
              <a:t>iS</a:t>
            </a:r>
            <a:r>
              <a:rPr lang="zh-CN" altLang="en-US" dirty="0"/>
              <a:t>（</a:t>
            </a:r>
            <a:r>
              <a:rPr lang="en-US" altLang="zh-CN" dirty="0"/>
              <a:t>t</a:t>
            </a:r>
            <a:r>
              <a:rPr lang="zh-CN" altLang="en-US" dirty="0"/>
              <a:t>）</a:t>
            </a:r>
            <a:r>
              <a:rPr lang="en-US" altLang="zh-CN" dirty="0"/>
              <a:t>+A</a:t>
            </a:r>
          </a:p>
          <a:p>
            <a:endParaRPr lang="en-US" altLang="zh-CN" dirty="0"/>
          </a:p>
          <a:p>
            <a:r>
              <a:rPr lang="zh-CN" altLang="en-US" dirty="0"/>
              <a:t>相等时，</a:t>
            </a:r>
            <a:endParaRPr lang="en-US" altLang="zh-CN" dirty="0"/>
          </a:p>
          <a:p>
            <a:endParaRPr lang="en-US" altLang="zh-CN" dirty="0"/>
          </a:p>
          <a:p>
            <a:r>
              <a:rPr lang="zh-CN" altLang="en-US" dirty="0"/>
              <a:t>达到最佳采伐年龄</a:t>
            </a:r>
          </a:p>
        </p:txBody>
      </p:sp>
    </p:spTree>
    <p:extLst>
      <p:ext uri="{BB962C8B-B14F-4D97-AF65-F5344CB8AC3E}">
        <p14:creationId xmlns:p14="http://schemas.microsoft.com/office/powerpoint/2010/main" val="1079152697"/>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案例</a:t>
            </a:r>
          </a:p>
        </p:txBody>
      </p:sp>
      <p:sp>
        <p:nvSpPr>
          <p:cNvPr id="3" name="内容占位符 2"/>
          <p:cNvSpPr>
            <a:spLocks noGrp="1"/>
          </p:cNvSpPr>
          <p:nvPr>
            <p:ph idx="1"/>
          </p:nvPr>
        </p:nvSpPr>
        <p:spPr/>
        <p:txBody>
          <a:bodyPr/>
          <a:lstStyle/>
          <a:p>
            <a:r>
              <a:rPr lang="zh-CN" altLang="en-US" dirty="0"/>
              <a:t>年地租</a:t>
            </a:r>
            <a:r>
              <a:rPr lang="en-US" altLang="zh-CN" dirty="0"/>
              <a:t>A=</a:t>
            </a:r>
            <a:r>
              <a:rPr lang="zh-CN" altLang="en-US" dirty="0"/>
              <a:t>贴现率</a:t>
            </a:r>
            <a:r>
              <a:rPr lang="en-US" altLang="zh-CN" dirty="0" err="1"/>
              <a:t>i</a:t>
            </a:r>
            <a:r>
              <a:rPr lang="zh-CN" altLang="en-US" dirty="0"/>
              <a:t>*地价</a:t>
            </a:r>
            <a:r>
              <a:rPr lang="en-US" altLang="zh-CN" dirty="0"/>
              <a:t>V</a:t>
            </a:r>
            <a:r>
              <a:rPr lang="en-US" altLang="zh-CN" baseline="-25000" dirty="0"/>
              <a:t>s</a:t>
            </a:r>
          </a:p>
          <a:p>
            <a:r>
              <a:rPr lang="zh-CN" altLang="en-US" dirty="0"/>
              <a:t>贴现率</a:t>
            </a:r>
            <a:r>
              <a:rPr lang="en-US" altLang="zh-CN" dirty="0"/>
              <a:t>5%</a:t>
            </a:r>
          </a:p>
          <a:p>
            <a:r>
              <a:rPr lang="zh-CN" altLang="en-US" dirty="0"/>
              <a:t>在生长周期为</a:t>
            </a:r>
            <a:r>
              <a:rPr lang="en-US" altLang="zh-CN" dirty="0"/>
              <a:t>58</a:t>
            </a:r>
            <a:r>
              <a:rPr lang="zh-CN" altLang="en-US" dirty="0"/>
              <a:t>年时</a:t>
            </a:r>
            <a:endParaRPr lang="en-US" altLang="zh-CN" dirty="0"/>
          </a:p>
          <a:p>
            <a:r>
              <a:rPr lang="zh-CN" altLang="en-US" dirty="0"/>
              <a:t>每公顷的土地价值最大，为</a:t>
            </a:r>
            <a:r>
              <a:rPr lang="en-US" altLang="zh-CN" dirty="0"/>
              <a:t>827</a:t>
            </a:r>
            <a:r>
              <a:rPr lang="zh-CN" altLang="en-US" dirty="0"/>
              <a:t>元</a:t>
            </a:r>
            <a:endParaRPr lang="en-US" altLang="zh-CN" dirty="0"/>
          </a:p>
          <a:p>
            <a:r>
              <a:rPr lang="zh-CN" altLang="en-US" dirty="0"/>
              <a:t>此时，土地的机会成本（年地租）</a:t>
            </a:r>
            <a:endParaRPr lang="en-US" altLang="zh-CN" dirty="0"/>
          </a:p>
          <a:p>
            <a:pPr marL="365760" lvl="1" indent="0">
              <a:buNone/>
            </a:pPr>
            <a:r>
              <a:rPr lang="en-US" altLang="zh-CN" dirty="0"/>
              <a:t>A=0.05</a:t>
            </a:r>
            <a:r>
              <a:rPr lang="zh-CN" altLang="en-US" dirty="0"/>
              <a:t>*</a:t>
            </a:r>
            <a:r>
              <a:rPr lang="en-US" altLang="zh-CN" dirty="0"/>
              <a:t>827=41.4</a:t>
            </a:r>
            <a:r>
              <a:rPr lang="zh-CN" altLang="en-US" dirty="0"/>
              <a:t>元</a:t>
            </a:r>
            <a:endParaRPr lang="en-US" altLang="zh-CN" dirty="0"/>
          </a:p>
          <a:p>
            <a:pPr marL="365760" lvl="1" indent="0">
              <a:buNone/>
            </a:pPr>
            <a:r>
              <a:rPr lang="zh-CN" altLang="en-US" dirty="0">
                <a:solidFill>
                  <a:schemeClr val="accent3">
                    <a:lumMod val="75000"/>
                  </a:schemeClr>
                </a:solidFill>
              </a:rPr>
              <a:t>最大地价或与之相应的立木价值的增量和成本增量的大体相等，规定了最佳经济采伐周期</a:t>
            </a:r>
          </a:p>
        </p:txBody>
      </p:sp>
    </p:spTree>
    <p:extLst>
      <p:ext uri="{BB962C8B-B14F-4D97-AF65-F5344CB8AC3E}">
        <p14:creationId xmlns:p14="http://schemas.microsoft.com/office/powerpoint/2010/main" val="364391004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1"/>
          <p:cNvSpPr>
            <a:spLocks noChangeArrowheads="1"/>
          </p:cNvSpPr>
          <p:nvPr/>
        </p:nvSpPr>
        <p:spPr bwMode="auto">
          <a:xfrm>
            <a:off x="1258888" y="620713"/>
            <a:ext cx="6553200" cy="508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a:lnSpc>
                <a:spcPct val="150000"/>
              </a:lnSpc>
            </a:pPr>
            <a:r>
              <a:rPr lang="en-US" altLang="zh-CN" b="1">
                <a:solidFill>
                  <a:srgbClr val="000000"/>
                </a:solidFill>
                <a:latin typeface="Times New Roman" charset="0"/>
                <a:cs typeface="Times New Roman" charset="0"/>
              </a:rPr>
              <a:t>Figure 7.3: Incremental growth in value and costs with stand age</a:t>
            </a:r>
            <a:endParaRPr lang="en-CA" b="1">
              <a:solidFill>
                <a:srgbClr val="000000"/>
              </a:solidFill>
              <a:latin typeface="Times New Roman" charset="0"/>
              <a:cs typeface="Times New Roman" charset="0"/>
            </a:endParaRPr>
          </a:p>
        </p:txBody>
      </p:sp>
      <p:graphicFrame>
        <p:nvGraphicFramePr>
          <p:cNvPr id="33795" name="Chart 2"/>
          <p:cNvGraphicFramePr>
            <a:graphicFrameLocks/>
          </p:cNvGraphicFramePr>
          <p:nvPr>
            <p:extLst>
              <p:ext uri="{D42A27DB-BD31-4B8C-83A1-F6EECF244321}">
                <p14:modId xmlns:p14="http://schemas.microsoft.com/office/powerpoint/2010/main" val="4153698305"/>
              </p:ext>
            </p:extLst>
          </p:nvPr>
        </p:nvGraphicFramePr>
        <p:xfrm>
          <a:off x="819560" y="1577975"/>
          <a:ext cx="7446962" cy="4489450"/>
        </p:xfrm>
        <a:graphic>
          <a:graphicData uri="http://schemas.openxmlformats.org/presentationml/2006/ole">
            <mc:AlternateContent xmlns:mc="http://schemas.openxmlformats.org/markup-compatibility/2006">
              <mc:Choice xmlns:v="urn:schemas-microsoft-com:vml" Requires="v">
                <p:oleObj spid="_x0000_s5142" name="图表" r:id="rId3" imgW="7449958" imgH="4487045" progId="Excel.Chart.8">
                  <p:embed/>
                </p:oleObj>
              </mc:Choice>
              <mc:Fallback>
                <p:oleObj name="图表" r:id="rId3" imgW="7449958" imgH="4487045" progId="Excel.Chart.8">
                  <p:embed/>
                  <p:pic>
                    <p:nvPicPr>
                      <p:cNvPr id="0" name=""/>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9560" y="1577975"/>
                        <a:ext cx="7446962" cy="44894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oleObj>
              </mc:Fallback>
            </mc:AlternateContent>
          </a:graphicData>
        </a:graphic>
      </p:graphicFrame>
      <p:sp>
        <p:nvSpPr>
          <p:cNvPr id="5" name="Footer Placeholder 1"/>
          <p:cNvSpPr>
            <a:spLocks noGrp="1"/>
          </p:cNvSpPr>
          <p:nvPr>
            <p:ph type="ftr" sz="quarter" idx="4294967295"/>
          </p:nvPr>
        </p:nvSpPr>
        <p:spPr>
          <a:xfrm>
            <a:off x="0" y="6519863"/>
            <a:ext cx="2392363" cy="365125"/>
          </a:xfrm>
        </p:spPr>
        <p:txBody>
          <a:bodyPr/>
          <a:lstStyle/>
          <a:p>
            <a:pPr>
              <a:defRPr/>
            </a:pPr>
            <a:r>
              <a:rPr lang="en-US" dirty="0"/>
              <a:t>Adapted from </a:t>
            </a:r>
            <a:r>
              <a:rPr lang="en-US" i="1" dirty="0"/>
              <a:t>Forest Economics </a:t>
            </a:r>
            <a:r>
              <a:rPr lang="en-US" dirty="0"/>
              <a:t>by </a:t>
            </a:r>
            <a:r>
              <a:rPr lang="en-US" dirty="0" err="1"/>
              <a:t>Daowei</a:t>
            </a:r>
            <a:r>
              <a:rPr lang="en-US" dirty="0"/>
              <a:t> Zhang and Peter H. </a:t>
            </a:r>
            <a:r>
              <a:rPr lang="en-US" dirty="0" err="1"/>
              <a:t>Pearse</a:t>
            </a:r>
            <a:r>
              <a:rPr lang="en-US" dirty="0"/>
              <a:t>, published by UBC Press, 2011. </a:t>
            </a:r>
            <a:endParaRPr lang="en-CA" dirty="0"/>
          </a:p>
        </p:txBody>
      </p:sp>
      <p:sp>
        <p:nvSpPr>
          <p:cNvPr id="2" name="文本框 1"/>
          <p:cNvSpPr txBox="1"/>
          <p:nvPr/>
        </p:nvSpPr>
        <p:spPr>
          <a:xfrm>
            <a:off x="5956663" y="1490890"/>
            <a:ext cx="2262158" cy="369332"/>
          </a:xfrm>
          <a:prstGeom prst="rect">
            <a:avLst/>
          </a:prstGeom>
          <a:noFill/>
        </p:spPr>
        <p:txBody>
          <a:bodyPr wrap="none" rtlCol="0">
            <a:spAutoFit/>
          </a:bodyPr>
          <a:lstStyle/>
          <a:p>
            <a:r>
              <a:rPr lang="zh-CN" altLang="en-US" dirty="0">
                <a:solidFill>
                  <a:schemeClr val="accent3">
                    <a:lumMod val="75000"/>
                  </a:schemeClr>
                </a:solidFill>
              </a:rPr>
              <a:t>年（边际）成本增量</a:t>
            </a:r>
          </a:p>
        </p:txBody>
      </p:sp>
      <p:sp>
        <p:nvSpPr>
          <p:cNvPr id="6" name="文本框 5"/>
          <p:cNvSpPr txBox="1"/>
          <p:nvPr/>
        </p:nvSpPr>
        <p:spPr>
          <a:xfrm>
            <a:off x="2803890" y="2807610"/>
            <a:ext cx="2273207" cy="646331"/>
          </a:xfrm>
          <a:prstGeom prst="rect">
            <a:avLst/>
          </a:prstGeom>
          <a:noFill/>
        </p:spPr>
        <p:txBody>
          <a:bodyPr wrap="square" rtlCol="0">
            <a:spAutoFit/>
          </a:bodyPr>
          <a:lstStyle/>
          <a:p>
            <a:r>
              <a:rPr lang="zh-CN" altLang="en-US" dirty="0">
                <a:solidFill>
                  <a:schemeClr val="accent3">
                    <a:lumMod val="75000"/>
                  </a:schemeClr>
                </a:solidFill>
              </a:rPr>
              <a:t>年（边际）立木价值增量</a:t>
            </a:r>
          </a:p>
        </p:txBody>
      </p:sp>
      <p:grpSp>
        <p:nvGrpSpPr>
          <p:cNvPr id="4" name="组合 3"/>
          <p:cNvGrpSpPr/>
          <p:nvPr/>
        </p:nvGrpSpPr>
        <p:grpSpPr>
          <a:xfrm>
            <a:off x="3013166" y="6148250"/>
            <a:ext cx="5573485" cy="646331"/>
            <a:chOff x="3013166" y="6148250"/>
            <a:chExt cx="5573485" cy="646331"/>
          </a:xfrm>
        </p:grpSpPr>
        <p:sp>
          <p:nvSpPr>
            <p:cNvPr id="3" name="文本框 2"/>
            <p:cNvSpPr txBox="1"/>
            <p:nvPr/>
          </p:nvSpPr>
          <p:spPr>
            <a:xfrm>
              <a:off x="3013166" y="6148250"/>
              <a:ext cx="5573485" cy="646331"/>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0800000" scaled="1"/>
              <a:tileRect/>
            </a:gradFill>
            <a:effectLst>
              <a:outerShdw blurRad="101600" dist="76200" dir="2700000" algn="tl" rotWithShape="0">
                <a:prstClr val="black">
                  <a:alpha val="40000"/>
                </a:prstClr>
              </a:outerShdw>
            </a:effectLst>
          </p:spPr>
          <p:txBody>
            <a:bodyPr wrap="square" rtlCol="0">
              <a:spAutoFit/>
              <a:scene3d>
                <a:camera prst="orthographicFront"/>
                <a:lightRig rig="soft" dir="t">
                  <a:rot lat="0" lon="0" rev="15600000"/>
                </a:lightRig>
              </a:scene3d>
              <a:sp3d extrusionH="57150" prstMaterial="softEdge">
                <a:bevelT w="25400" h="38100"/>
              </a:sp3d>
            </a:bodyPr>
            <a:lstStyle/>
            <a:p>
              <a:r>
                <a:rPr lang="zh-CN" altLang="en-US" b="1" dirty="0">
                  <a:ln/>
                  <a:solidFill>
                    <a:schemeClr val="accent4"/>
                  </a:solidFill>
                </a:rPr>
                <a:t>在本例中，最佳采伐年龄下立木价值的年增长量（</a:t>
              </a:r>
              <a:r>
                <a:rPr lang="en-US" altLang="zh-CN" b="1" dirty="0">
                  <a:ln/>
                  <a:solidFill>
                    <a:schemeClr val="accent4"/>
                  </a:solidFill>
                </a:rPr>
                <a:t>ΔS</a:t>
              </a:r>
              <a:r>
                <a:rPr lang="zh-CN" altLang="en-US" b="1" dirty="0">
                  <a:ln/>
                  <a:solidFill>
                    <a:schemeClr val="accent4"/>
                  </a:solidFill>
                </a:rPr>
                <a:t>）并未达到其最大值，但地价达到了最大值</a:t>
              </a:r>
            </a:p>
          </p:txBody>
        </p:sp>
        <p:sp>
          <p:nvSpPr>
            <p:cNvPr id="8" name="文本框 7"/>
            <p:cNvSpPr txBox="1"/>
            <p:nvPr/>
          </p:nvSpPr>
          <p:spPr>
            <a:xfrm>
              <a:off x="3048000" y="6182049"/>
              <a:ext cx="5508000" cy="576000"/>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0" scaled="1"/>
              <a:tileRect/>
            </a:gradFill>
            <a:effectLst>
              <a:innerShdw blurRad="25400" dist="25400" dir="13500000">
                <a:prstClr val="black">
                  <a:alpha val="50000"/>
                </a:prstClr>
              </a:innerShdw>
            </a:effectLst>
          </p:spPr>
          <p:txBody>
            <a:bodyPr wrap="square" rtlCol="0">
              <a:spAutoFit/>
              <a:scene3d>
                <a:camera prst="orthographicFront"/>
                <a:lightRig rig="soft" dir="t">
                  <a:rot lat="0" lon="0" rev="15600000"/>
                </a:lightRig>
              </a:scene3d>
              <a:sp3d extrusionH="57150" prstMaterial="softEdge">
                <a:bevelT w="25400" h="38100"/>
              </a:sp3d>
            </a:bodyPr>
            <a:lstStyle/>
            <a:p>
              <a:r>
                <a:rPr lang="zh-CN" altLang="en-US" b="1" dirty="0">
                  <a:ln/>
                  <a:solidFill>
                    <a:schemeClr val="accent4"/>
                  </a:solidFill>
                </a:rPr>
                <a:t>在本例中，最佳采伐年龄下立木价值的年增长量（</a:t>
              </a:r>
              <a:r>
                <a:rPr lang="en-US" altLang="zh-CN" b="1" dirty="0">
                  <a:ln/>
                  <a:solidFill>
                    <a:schemeClr val="accent4"/>
                  </a:solidFill>
                </a:rPr>
                <a:t>ΔS</a:t>
              </a:r>
              <a:r>
                <a:rPr lang="zh-CN" altLang="en-US" b="1" dirty="0">
                  <a:ln/>
                  <a:solidFill>
                    <a:schemeClr val="accent4"/>
                  </a:solidFill>
                </a:rPr>
                <a:t>）并未达到其最大值，但地价达到了最大值</a:t>
              </a:r>
            </a:p>
          </p:txBody>
        </p:sp>
      </p:grpSp>
      <p:cxnSp>
        <p:nvCxnSpPr>
          <p:cNvPr id="9" name="直接箭头连接符 8"/>
          <p:cNvCxnSpPr>
            <a:stCxn id="3" idx="0"/>
          </p:cNvCxnSpPr>
          <p:nvPr/>
        </p:nvCxnSpPr>
        <p:spPr>
          <a:xfrm flipV="1">
            <a:off x="5799909" y="3561806"/>
            <a:ext cx="949234" cy="2586444"/>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spTree>
    <p:extLst>
      <p:ext uri="{BB962C8B-B14F-4D97-AF65-F5344CB8AC3E}">
        <p14:creationId xmlns:p14="http://schemas.microsoft.com/office/powerpoint/2010/main" val="110747422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fltVal val="0"/>
                                          </p:val>
                                        </p:tav>
                                        <p:tav tm="100000">
                                          <p:val>
                                            <p:strVal val="#ppt_w"/>
                                          </p:val>
                                        </p:tav>
                                      </p:tavLst>
                                    </p:anim>
                                    <p:anim calcmode="lin" valueType="num">
                                      <p:cBhvr>
                                        <p:cTn id="8" dur="1000" fill="hold"/>
                                        <p:tgtEl>
                                          <p:spTgt spid="4"/>
                                        </p:tgtEl>
                                        <p:attrNameLst>
                                          <p:attrName>ppt_h</p:attrName>
                                        </p:attrNameLst>
                                      </p:cBhvr>
                                      <p:tavLst>
                                        <p:tav tm="0">
                                          <p:val>
                                            <p:fltVal val="0"/>
                                          </p:val>
                                        </p:tav>
                                        <p:tav tm="100000">
                                          <p:val>
                                            <p:strVal val="#ppt_h"/>
                                          </p:val>
                                        </p:tav>
                                      </p:tavLst>
                                    </p:anim>
                                    <p:anim calcmode="lin" valueType="num">
                                      <p:cBhvr>
                                        <p:cTn id="9" dur="1000" fill="hold"/>
                                        <p:tgtEl>
                                          <p:spTgt spid="4"/>
                                        </p:tgtEl>
                                        <p:attrNameLst>
                                          <p:attrName>style.rotation</p:attrName>
                                        </p:attrNameLst>
                                      </p:cBhvr>
                                      <p:tavLst>
                                        <p:tav tm="0">
                                          <p:val>
                                            <p:fltVal val="90"/>
                                          </p:val>
                                        </p:tav>
                                        <p:tav tm="100000">
                                          <p:val>
                                            <p:fltVal val="0"/>
                                          </p:val>
                                        </p:tav>
                                      </p:tavLst>
                                    </p:anim>
                                    <p:animEffect transition="in" filter="fade">
                                      <p:cBhvr>
                                        <p:cTn id="10" dur="1000"/>
                                        <p:tgtEl>
                                          <p:spTgt spid="4"/>
                                        </p:tgtEl>
                                      </p:cBhvr>
                                    </p:animEffect>
                                  </p:childTnLst>
                                </p:cTn>
                              </p:par>
                            </p:childTnLst>
                          </p:cTn>
                        </p:par>
                        <p:par>
                          <p:cTn id="11" fill="hold">
                            <p:stCondLst>
                              <p:cond delay="1000"/>
                            </p:stCondLst>
                            <p:childTnLst>
                              <p:par>
                                <p:cTn id="12" presetID="22" presetClass="entr" presetSubtype="4" fill="hold" nodeType="after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down)">
                                      <p:cBhvr>
                                        <p:cTn id="14"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进一步考虑：造林成本</a:t>
            </a:r>
          </a:p>
        </p:txBody>
      </p:sp>
      <mc:AlternateContent xmlns:mc="http://schemas.openxmlformats.org/markup-compatibility/2006" xmlns:a14="http://schemas.microsoft.com/office/drawing/2010/main">
        <mc:Choice Requires="a14">
          <p:sp>
            <p:nvSpPr>
              <p:cNvPr id="3" name="内容占位符 2"/>
              <p:cNvSpPr>
                <a:spLocks noGrp="1"/>
              </p:cNvSpPr>
              <p:nvPr>
                <p:ph sz="half" idx="1"/>
              </p:nvPr>
            </p:nvSpPr>
            <p:spPr/>
            <p:txBody>
              <a:bodyPr>
                <a:normAutofit fontScale="92500" lnSpcReduction="20000"/>
              </a:bodyPr>
              <a:lstStyle/>
              <a:p>
                <a:r>
                  <a:rPr lang="zh-CN" altLang="en-US" dirty="0"/>
                  <a:t>如果更新造林发生了成本</a:t>
                </a:r>
                <a:r>
                  <a:rPr lang="en-US" altLang="zh-CN" dirty="0"/>
                  <a:t>C</a:t>
                </a:r>
              </a:p>
              <a:p>
                <a:r>
                  <a:rPr lang="zh-CN" altLang="en-US" dirty="0"/>
                  <a:t>则在计算林地价值时，需要从采伐所得的立木价值</a:t>
                </a:r>
                <a:r>
                  <a:rPr lang="en-US" altLang="zh-CN" dirty="0"/>
                  <a:t>S</a:t>
                </a:r>
                <a:r>
                  <a:rPr lang="zh-CN" altLang="en-US" dirty="0"/>
                  <a:t>（</a:t>
                </a:r>
                <a:r>
                  <a:rPr lang="en-US" altLang="zh-CN" dirty="0"/>
                  <a:t>t</a:t>
                </a:r>
                <a:r>
                  <a:rPr lang="zh-CN" altLang="en-US" dirty="0"/>
                  <a:t>）中扣除造林成本</a:t>
                </a:r>
                <a:r>
                  <a:rPr lang="en-US" altLang="zh-CN" dirty="0"/>
                  <a:t>C</a:t>
                </a:r>
              </a:p>
              <a:p>
                <a:r>
                  <a:rPr lang="zh-CN" altLang="en-US" dirty="0"/>
                  <a:t>有</a:t>
                </a:r>
                <a14:m>
                  <m:oMath xmlns:m="http://schemas.openxmlformats.org/officeDocument/2006/math">
                    <m:sSub>
                      <m:sSubPr>
                        <m:ctrlPr>
                          <a:rPr lang="en-US" altLang="zh-CN" b="0" i="1" smtClean="0">
                            <a:latin typeface="Cambria Math" panose="02040503050406030204" pitchFamily="18" charset="0"/>
                          </a:rPr>
                        </m:ctrlPr>
                      </m:sSubPr>
                      <m:e>
                        <m:r>
                          <a:rPr lang="en-US" altLang="zh-CN" i="1">
                            <a:latin typeface="Cambria Math" panose="02040503050406030204" pitchFamily="18" charset="0"/>
                          </a:rPr>
                          <m:t>𝑉</m:t>
                        </m:r>
                      </m:e>
                      <m:sub>
                        <m:r>
                          <a:rPr lang="en-US" altLang="zh-CN" b="0" i="1" smtClean="0">
                            <a:latin typeface="Cambria Math" panose="02040503050406030204" pitchFamily="18" charset="0"/>
                          </a:rPr>
                          <m:t>𝑠</m:t>
                        </m:r>
                      </m:sub>
                    </m:sSub>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𝑆</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𝑡</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𝐶</m:t>
                        </m:r>
                      </m:num>
                      <m:den>
                        <m:r>
                          <a:rPr lang="en-US" altLang="zh-CN" b="0" i="1" smtClean="0">
                            <a:latin typeface="Cambria Math" panose="02040503050406030204" pitchFamily="18" charset="0"/>
                          </a:rPr>
                          <m:t>(1+</m:t>
                        </m:r>
                        <m:r>
                          <a:rPr lang="en-US" altLang="zh-CN" b="0" i="1" smtClean="0">
                            <a:latin typeface="Cambria Math" panose="02040503050406030204" pitchFamily="18" charset="0"/>
                          </a:rPr>
                          <m:t>𝑖</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m:t>
                            </m:r>
                          </m:e>
                          <m:sup>
                            <m:r>
                              <a:rPr lang="en-US" altLang="zh-CN" b="0" i="1" smtClean="0">
                                <a:latin typeface="Cambria Math" panose="02040503050406030204" pitchFamily="18" charset="0"/>
                              </a:rPr>
                              <m:t>𝑡</m:t>
                            </m:r>
                          </m:sup>
                        </m:sSup>
                        <m:r>
                          <a:rPr lang="en-US" altLang="zh-CN" b="0" i="1" smtClean="0">
                            <a:latin typeface="Cambria Math" panose="02040503050406030204" pitchFamily="18" charset="0"/>
                          </a:rPr>
                          <m:t>−1</m:t>
                        </m:r>
                      </m:den>
                    </m:f>
                  </m:oMath>
                </a14:m>
                <a:endParaRPr lang="en-US" altLang="zh-CN" dirty="0"/>
              </a:p>
              <a:p>
                <a:r>
                  <a:rPr lang="zh-CN" altLang="en-US" dirty="0"/>
                  <a:t>立木价值的增长率为</a:t>
                </a:r>
                <a:r>
                  <a:rPr lang="en-US" altLang="zh-CN" dirty="0"/>
                  <a:t>ΔS/[S(t)-C]</a:t>
                </a:r>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sz="half" idx="1"/>
              </p:nvPr>
            </p:nvSpPr>
            <p:spPr>
              <a:blipFill>
                <a:blip r:embed="rId2"/>
                <a:stretch>
                  <a:fillRect l="-2606" t="-380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内容占位符 3"/>
              <p:cNvSpPr>
                <a:spLocks noGrp="1"/>
              </p:cNvSpPr>
              <p:nvPr>
                <p:ph sz="half" idx="2"/>
              </p:nvPr>
            </p:nvSpPr>
            <p:spPr/>
            <p:txBody>
              <a:bodyPr>
                <a:normAutofit fontScale="92500" lnSpcReduction="20000"/>
              </a:bodyPr>
              <a:lstStyle/>
              <a:p>
                <a:r>
                  <a:rPr lang="zh-CN" altLang="en-US" dirty="0"/>
                  <a:t>如果一开始就是一块无林地</a:t>
                </a:r>
                <a:endParaRPr lang="en-US" altLang="zh-CN" dirty="0"/>
              </a:p>
              <a:p>
                <a:r>
                  <a:rPr lang="zh-CN" altLang="en-US" dirty="0"/>
                  <a:t>需要有绿化造林成本</a:t>
                </a:r>
                <a:endParaRPr lang="en-US" altLang="zh-CN" dirty="0"/>
              </a:p>
              <a:p>
                <a:r>
                  <a:rPr lang="zh-CN" altLang="en-US" dirty="0"/>
                  <a:t>以后每年还有更新造林成本</a:t>
                </a:r>
                <a:endParaRPr lang="en-US" altLang="zh-CN" dirty="0"/>
              </a:p>
              <a:p>
                <a:r>
                  <a:rPr lang="zh-CN" altLang="en-US" dirty="0"/>
                  <a:t>则有</a:t>
                </a:r>
                <a:endParaRPr lang="en-US" altLang="zh-CN" dirty="0"/>
              </a:p>
              <a:p>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𝑉</m:t>
                        </m:r>
                      </m:e>
                      <m:sub>
                        <m:r>
                          <a:rPr lang="en-US" altLang="zh-CN" i="1">
                            <a:latin typeface="Cambria Math" panose="02040503050406030204" pitchFamily="18" charset="0"/>
                          </a:rPr>
                          <m:t>𝑠</m:t>
                        </m:r>
                      </m:sub>
                    </m:sSub>
                    <m:r>
                      <a:rPr lang="en-US" altLang="zh-CN" i="1">
                        <a:latin typeface="Cambria Math" panose="02040503050406030204" pitchFamily="18" charset="0"/>
                      </a:rPr>
                      <m:t>=</m:t>
                    </m:r>
                    <m:f>
                      <m:fPr>
                        <m:ctrlPr>
                          <a:rPr lang="en-US" altLang="zh-CN" i="1">
                            <a:latin typeface="Cambria Math" panose="02040503050406030204" pitchFamily="18" charset="0"/>
                          </a:rPr>
                        </m:ctrlPr>
                      </m:fPr>
                      <m:num>
                        <m:r>
                          <a:rPr lang="en-US" altLang="zh-CN" i="1">
                            <a:latin typeface="Cambria Math" panose="02040503050406030204" pitchFamily="18" charset="0"/>
                          </a:rPr>
                          <m:t>𝑆</m:t>
                        </m:r>
                        <m:d>
                          <m:dPr>
                            <m:ctrlPr>
                              <a:rPr lang="en-US" altLang="zh-CN" i="1">
                                <a:latin typeface="Cambria Math" panose="02040503050406030204" pitchFamily="18" charset="0"/>
                              </a:rPr>
                            </m:ctrlPr>
                          </m:dPr>
                          <m:e>
                            <m:r>
                              <a:rPr lang="en-US" altLang="zh-CN" i="1">
                                <a:latin typeface="Cambria Math" panose="02040503050406030204" pitchFamily="18" charset="0"/>
                              </a:rPr>
                              <m:t>𝑡</m:t>
                            </m:r>
                          </m:e>
                        </m:d>
                        <m:r>
                          <a:rPr lang="en-US" altLang="zh-CN" i="1">
                            <a:latin typeface="Cambria Math" panose="02040503050406030204" pitchFamily="18" charset="0"/>
                          </a:rPr>
                          <m:t>−</m:t>
                        </m:r>
                        <m:r>
                          <a:rPr lang="en-US" altLang="zh-CN" i="1">
                            <a:latin typeface="Cambria Math" panose="02040503050406030204" pitchFamily="18" charset="0"/>
                          </a:rPr>
                          <m:t>𝐶</m:t>
                        </m:r>
                      </m:num>
                      <m:den>
                        <m:r>
                          <a:rPr lang="en-US" altLang="zh-CN" i="1">
                            <a:latin typeface="Cambria Math" panose="02040503050406030204" pitchFamily="18" charset="0"/>
                          </a:rPr>
                          <m:t>(1+</m:t>
                        </m:r>
                        <m:r>
                          <a:rPr lang="en-US" altLang="zh-CN" i="1">
                            <a:latin typeface="Cambria Math" panose="02040503050406030204" pitchFamily="18" charset="0"/>
                          </a:rPr>
                          <m:t>𝑖</m:t>
                        </m:r>
                        <m:sSup>
                          <m:sSupPr>
                            <m:ctrlPr>
                              <a:rPr lang="en-US" altLang="zh-CN" i="1">
                                <a:latin typeface="Cambria Math" panose="02040503050406030204" pitchFamily="18" charset="0"/>
                              </a:rPr>
                            </m:ctrlPr>
                          </m:sSupPr>
                          <m:e>
                            <m:r>
                              <a:rPr lang="en-US" altLang="zh-CN" i="1">
                                <a:latin typeface="Cambria Math" panose="02040503050406030204" pitchFamily="18" charset="0"/>
                              </a:rPr>
                              <m:t>)</m:t>
                            </m:r>
                          </m:e>
                          <m:sup>
                            <m:r>
                              <a:rPr lang="en-US" altLang="zh-CN" i="1">
                                <a:latin typeface="Cambria Math" panose="02040503050406030204" pitchFamily="18" charset="0"/>
                              </a:rPr>
                              <m:t>𝑡</m:t>
                            </m:r>
                          </m:sup>
                        </m:sSup>
                        <m:r>
                          <a:rPr lang="en-US" altLang="zh-CN" i="1">
                            <a:latin typeface="Cambria Math" panose="02040503050406030204" pitchFamily="18" charset="0"/>
                          </a:rPr>
                          <m:t>−1</m:t>
                        </m:r>
                      </m:den>
                    </m:f>
                    <m:r>
                      <a:rPr lang="en-US" altLang="zh-CN" b="0" i="1" smtClean="0">
                        <a:latin typeface="Cambria Math" panose="02040503050406030204" pitchFamily="18" charset="0"/>
                      </a:rPr>
                      <m:t>−</m:t>
                    </m:r>
                    <m:r>
                      <a:rPr lang="en-US" altLang="zh-CN" b="0" i="1" smtClean="0">
                        <a:latin typeface="Cambria Math" panose="02040503050406030204" pitchFamily="18" charset="0"/>
                      </a:rPr>
                      <m:t>𝐶</m:t>
                    </m:r>
                  </m:oMath>
                </a14:m>
                <a:endParaRPr lang="en-US" altLang="zh-CN" b="0" dirty="0"/>
              </a:p>
              <a:p>
                <a:pPr marL="0" indent="0">
                  <a:buNone/>
                </a:pPr>
                <a:r>
                  <a:rPr lang="en-US" altLang="zh-CN" dirty="0"/>
                  <a:t> =</a:t>
                </a:r>
                <a14:m>
                  <m:oMath xmlns:m="http://schemas.openxmlformats.org/officeDocument/2006/math">
                    <m:f>
                      <m:fPr>
                        <m:ctrlPr>
                          <a:rPr lang="en-US" altLang="zh-CN" i="1">
                            <a:latin typeface="Cambria Math" panose="02040503050406030204" pitchFamily="18" charset="0"/>
                          </a:rPr>
                        </m:ctrlPr>
                      </m:fPr>
                      <m:num>
                        <m:r>
                          <a:rPr lang="en-US" altLang="zh-CN" i="1">
                            <a:latin typeface="Cambria Math" panose="02040503050406030204" pitchFamily="18" charset="0"/>
                          </a:rPr>
                          <m:t>𝑆</m:t>
                        </m:r>
                        <m:d>
                          <m:dPr>
                            <m:ctrlPr>
                              <a:rPr lang="en-US" altLang="zh-CN" i="1">
                                <a:latin typeface="Cambria Math" panose="02040503050406030204" pitchFamily="18" charset="0"/>
                              </a:rPr>
                            </m:ctrlPr>
                          </m:dPr>
                          <m:e>
                            <m:r>
                              <a:rPr lang="en-US" altLang="zh-CN" i="1">
                                <a:latin typeface="Cambria Math" panose="02040503050406030204" pitchFamily="18" charset="0"/>
                              </a:rPr>
                              <m:t>𝑡</m:t>
                            </m:r>
                          </m:e>
                        </m:d>
                        <m:r>
                          <a:rPr lang="en-US" altLang="zh-CN" i="1">
                            <a:latin typeface="Cambria Math" panose="02040503050406030204" pitchFamily="18" charset="0"/>
                          </a:rPr>
                          <m:t>−</m:t>
                        </m:r>
                        <m:r>
                          <a:rPr lang="en-US" altLang="zh-CN" i="1">
                            <a:latin typeface="Cambria Math" panose="02040503050406030204" pitchFamily="18" charset="0"/>
                          </a:rPr>
                          <m:t>𝐶</m:t>
                        </m:r>
                        <m:r>
                          <a:rPr lang="en-US" altLang="zh-CN" b="0" i="1" smtClean="0">
                            <a:latin typeface="Cambria Math" panose="02040503050406030204" pitchFamily="18" charset="0"/>
                          </a:rPr>
                          <m:t>(1+</m:t>
                        </m:r>
                        <m:r>
                          <a:rPr lang="en-US" altLang="zh-CN" b="0" i="1" smtClean="0">
                            <a:latin typeface="Cambria Math" panose="02040503050406030204" pitchFamily="18" charset="0"/>
                          </a:rPr>
                          <m:t>𝑖</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m:t>
                            </m:r>
                          </m:e>
                          <m:sup>
                            <m:r>
                              <a:rPr lang="en-US" altLang="zh-CN" b="0" i="1" smtClean="0">
                                <a:latin typeface="Cambria Math" panose="02040503050406030204" pitchFamily="18" charset="0"/>
                              </a:rPr>
                              <m:t>𝑡</m:t>
                            </m:r>
                          </m:sup>
                        </m:sSup>
                      </m:num>
                      <m:den>
                        <m:r>
                          <a:rPr lang="en-US" altLang="zh-CN" i="1">
                            <a:latin typeface="Cambria Math" panose="02040503050406030204" pitchFamily="18" charset="0"/>
                          </a:rPr>
                          <m:t>(1+</m:t>
                        </m:r>
                        <m:r>
                          <a:rPr lang="en-US" altLang="zh-CN" i="1">
                            <a:latin typeface="Cambria Math" panose="02040503050406030204" pitchFamily="18" charset="0"/>
                          </a:rPr>
                          <m:t>𝑖</m:t>
                        </m:r>
                        <m:sSup>
                          <m:sSupPr>
                            <m:ctrlPr>
                              <a:rPr lang="en-US" altLang="zh-CN" i="1">
                                <a:latin typeface="Cambria Math" panose="02040503050406030204" pitchFamily="18" charset="0"/>
                              </a:rPr>
                            </m:ctrlPr>
                          </m:sSupPr>
                          <m:e>
                            <m:r>
                              <a:rPr lang="en-US" altLang="zh-CN" i="1">
                                <a:latin typeface="Cambria Math" panose="02040503050406030204" pitchFamily="18" charset="0"/>
                              </a:rPr>
                              <m:t>)</m:t>
                            </m:r>
                          </m:e>
                          <m:sup>
                            <m:r>
                              <a:rPr lang="en-US" altLang="zh-CN" i="1">
                                <a:latin typeface="Cambria Math" panose="02040503050406030204" pitchFamily="18" charset="0"/>
                              </a:rPr>
                              <m:t>𝑡</m:t>
                            </m:r>
                          </m:sup>
                        </m:sSup>
                        <m:r>
                          <a:rPr lang="en-US" altLang="zh-CN" i="1">
                            <a:latin typeface="Cambria Math" panose="02040503050406030204" pitchFamily="18" charset="0"/>
                          </a:rPr>
                          <m:t>−1</m:t>
                        </m:r>
                      </m:den>
                    </m:f>
                  </m:oMath>
                </a14:m>
                <a:endParaRPr lang="en-US" altLang="zh-CN" dirty="0"/>
              </a:p>
              <a:p>
                <a:pPr marL="0" indent="0">
                  <a:buNone/>
                </a:pPr>
                <a:r>
                  <a:rPr lang="en-US" altLang="zh-CN" dirty="0"/>
                  <a:t>=</a:t>
                </a:r>
                <a14:m>
                  <m:oMath xmlns:m="http://schemas.openxmlformats.org/officeDocument/2006/math">
                    <m:f>
                      <m:fPr>
                        <m:ctrlPr>
                          <a:rPr lang="en-US" altLang="zh-CN" i="1">
                            <a:latin typeface="Cambria Math" panose="02040503050406030204" pitchFamily="18" charset="0"/>
                          </a:rPr>
                        </m:ctrlPr>
                      </m:fPr>
                      <m:num>
                        <m:r>
                          <a:rPr lang="en-US" altLang="zh-CN" i="1">
                            <a:latin typeface="Cambria Math" panose="02040503050406030204" pitchFamily="18" charset="0"/>
                          </a:rPr>
                          <m:t>𝑆</m:t>
                        </m:r>
                        <m:d>
                          <m:dPr>
                            <m:ctrlPr>
                              <a:rPr lang="en-US" altLang="zh-CN" i="1">
                                <a:latin typeface="Cambria Math" panose="02040503050406030204" pitchFamily="18" charset="0"/>
                              </a:rPr>
                            </m:ctrlPr>
                          </m:dPr>
                          <m:e>
                            <m:r>
                              <a:rPr lang="en-US" altLang="zh-CN" i="1">
                                <a:latin typeface="Cambria Math" panose="02040503050406030204" pitchFamily="18" charset="0"/>
                              </a:rPr>
                              <m:t>𝑡</m:t>
                            </m:r>
                          </m:e>
                        </m:d>
                        <m:r>
                          <a:rPr lang="en-US" altLang="zh-CN" i="1" smtClean="0">
                            <a:latin typeface="Cambria Math" panose="02040503050406030204" pitchFamily="18" charset="0"/>
                          </a:rPr>
                          <m:t> </m:t>
                        </m:r>
                        <m:r>
                          <a:rPr lang="en-US" altLang="zh-CN" i="1">
                            <a:latin typeface="Cambria Math" panose="02040503050406030204" pitchFamily="18" charset="0"/>
                          </a:rPr>
                          <m:t>(1+</m:t>
                        </m:r>
                        <m:r>
                          <a:rPr lang="en-US" altLang="zh-CN" i="1">
                            <a:latin typeface="Cambria Math" panose="02040503050406030204" pitchFamily="18" charset="0"/>
                          </a:rPr>
                          <m:t>𝑖</m:t>
                        </m:r>
                        <m:sSup>
                          <m:sSupPr>
                            <m:ctrlPr>
                              <a:rPr lang="en-US" altLang="zh-CN" i="1">
                                <a:latin typeface="Cambria Math" panose="02040503050406030204" pitchFamily="18" charset="0"/>
                              </a:rPr>
                            </m:ctrlPr>
                          </m:sSupPr>
                          <m:e>
                            <m:r>
                              <a:rPr lang="en-US" altLang="zh-CN" i="1">
                                <a:latin typeface="Cambria Math" panose="02040503050406030204" pitchFamily="18" charset="0"/>
                              </a:rPr>
                              <m:t>)</m:t>
                            </m:r>
                          </m:e>
                          <m:sup>
                            <m:r>
                              <a:rPr lang="en-US" altLang="zh-CN" b="0" i="1" smtClean="0">
                                <a:latin typeface="Cambria Math" panose="02040503050406030204" pitchFamily="18" charset="0"/>
                              </a:rPr>
                              <m:t>−</m:t>
                            </m:r>
                            <m:r>
                              <a:rPr lang="en-US" altLang="zh-CN" i="1">
                                <a:latin typeface="Cambria Math" panose="02040503050406030204" pitchFamily="18" charset="0"/>
                              </a:rPr>
                              <m:t>𝑡</m:t>
                            </m:r>
                          </m:sup>
                        </m:sSup>
                        <m:r>
                          <a:rPr lang="en-US" altLang="zh-CN" b="0" i="1" smtClean="0">
                            <a:latin typeface="Cambria Math" panose="02040503050406030204" pitchFamily="18" charset="0"/>
                          </a:rPr>
                          <m:t>−</m:t>
                        </m:r>
                        <m:r>
                          <a:rPr lang="en-US" altLang="zh-CN" b="0" i="1" smtClean="0">
                            <a:latin typeface="Cambria Math" panose="02040503050406030204" pitchFamily="18" charset="0"/>
                          </a:rPr>
                          <m:t>𝐶</m:t>
                        </m:r>
                      </m:num>
                      <m:den>
                        <m:r>
                          <a:rPr lang="en-US" altLang="zh-CN" b="0" i="1" smtClean="0">
                            <a:latin typeface="Cambria Math" panose="02040503050406030204" pitchFamily="18" charset="0"/>
                          </a:rPr>
                          <m:t>1−</m:t>
                        </m:r>
                        <m:r>
                          <a:rPr lang="en-US" altLang="zh-CN" i="1">
                            <a:latin typeface="Cambria Math" panose="02040503050406030204" pitchFamily="18" charset="0"/>
                          </a:rPr>
                          <m:t>(1+</m:t>
                        </m:r>
                        <m:r>
                          <a:rPr lang="en-US" altLang="zh-CN" i="1">
                            <a:latin typeface="Cambria Math" panose="02040503050406030204" pitchFamily="18" charset="0"/>
                          </a:rPr>
                          <m:t>𝑖</m:t>
                        </m:r>
                        <m:sSup>
                          <m:sSupPr>
                            <m:ctrlPr>
                              <a:rPr lang="en-US" altLang="zh-CN" i="1">
                                <a:latin typeface="Cambria Math" panose="02040503050406030204" pitchFamily="18" charset="0"/>
                              </a:rPr>
                            </m:ctrlPr>
                          </m:sSupPr>
                          <m:e>
                            <m:r>
                              <a:rPr lang="en-US" altLang="zh-CN" i="1">
                                <a:latin typeface="Cambria Math" panose="02040503050406030204" pitchFamily="18" charset="0"/>
                              </a:rPr>
                              <m:t>)</m:t>
                            </m:r>
                          </m:e>
                          <m:sup>
                            <m:r>
                              <a:rPr lang="en-US" altLang="zh-CN" b="0" i="1" smtClean="0">
                                <a:latin typeface="Cambria Math" panose="02040503050406030204" pitchFamily="18" charset="0"/>
                              </a:rPr>
                              <m:t>−</m:t>
                            </m:r>
                            <m:r>
                              <a:rPr lang="en-US" altLang="zh-CN" i="1">
                                <a:latin typeface="Cambria Math" panose="02040503050406030204" pitchFamily="18" charset="0"/>
                              </a:rPr>
                              <m:t>𝑡</m:t>
                            </m:r>
                          </m:sup>
                        </m:sSup>
                      </m:den>
                    </m:f>
                  </m:oMath>
                </a14:m>
                <a:endParaRPr lang="zh-CN" altLang="en-US" dirty="0"/>
              </a:p>
            </p:txBody>
          </p:sp>
        </mc:Choice>
        <mc:Fallback xmlns="">
          <p:sp>
            <p:nvSpPr>
              <p:cNvPr id="4" name="内容占位符 3"/>
              <p:cNvSpPr>
                <a:spLocks noGrp="1" noRot="1" noChangeAspect="1" noMove="1" noResize="1" noEditPoints="1" noAdjustHandles="1" noChangeArrowheads="1" noChangeShapeType="1" noTextEdit="1"/>
              </p:cNvSpPr>
              <p:nvPr>
                <p:ph sz="half" idx="2"/>
              </p:nvPr>
            </p:nvSpPr>
            <p:spPr>
              <a:blipFill>
                <a:blip r:embed="rId3"/>
                <a:stretch>
                  <a:fillRect l="-2606" t="-3801"/>
                </a:stretch>
              </a:blipFill>
            </p:spPr>
            <p:txBody>
              <a:bodyPr/>
              <a:lstStyle/>
              <a:p>
                <a:r>
                  <a:rPr lang="zh-CN" altLang="en-US">
                    <a:noFill/>
                  </a:rPr>
                  <a:t> </a:t>
                </a:r>
              </a:p>
            </p:txBody>
          </p:sp>
        </mc:Fallback>
      </mc:AlternateContent>
      <p:sp>
        <p:nvSpPr>
          <p:cNvPr id="5" name="文本框 4"/>
          <p:cNvSpPr txBox="1"/>
          <p:nvPr/>
        </p:nvSpPr>
        <p:spPr>
          <a:xfrm>
            <a:off x="847844" y="5407355"/>
            <a:ext cx="2218741" cy="1200329"/>
          </a:xfrm>
          <a:prstGeom prst="rect">
            <a:avLst/>
          </a:prstGeom>
          <a:noFill/>
        </p:spPr>
        <p:txBody>
          <a:bodyPr wrap="square" rtlCol="0">
            <a:spAutoFit/>
          </a:bodyPr>
          <a:lstStyle/>
          <a:p>
            <a:r>
              <a:rPr lang="zh-CN" altLang="en-US" dirty="0"/>
              <a:t>可知：森林的价值是一个关于时间和造林投入的连续函数</a:t>
            </a:r>
          </a:p>
        </p:txBody>
      </p:sp>
    </p:spTree>
    <p:extLst>
      <p:ext uri="{BB962C8B-B14F-4D97-AF65-F5344CB8AC3E}">
        <p14:creationId xmlns:p14="http://schemas.microsoft.com/office/powerpoint/2010/main" val="41874339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Optimal Rotation Age in Continuous Format </a:t>
            </a:r>
            <a:endParaRPr lang="zh-CN" altLang="en-US" dirty="0"/>
          </a:p>
        </p:txBody>
      </p:sp>
      <p:sp>
        <p:nvSpPr>
          <p:cNvPr id="3" name="文本占位符 2"/>
          <p:cNvSpPr>
            <a:spLocks noGrp="1"/>
          </p:cNvSpPr>
          <p:nvPr>
            <p:ph type="body" idx="1"/>
          </p:nvPr>
        </p:nvSpPr>
        <p:spPr/>
        <p:txBody>
          <a:bodyPr/>
          <a:lstStyle/>
          <a:p>
            <a:r>
              <a:rPr lang="zh-CN" altLang="en-US" dirty="0"/>
              <a:t>最佳采伐周期的连续型表述</a:t>
            </a:r>
          </a:p>
        </p:txBody>
      </p:sp>
    </p:spTree>
    <p:extLst>
      <p:ext uri="{BB962C8B-B14F-4D97-AF65-F5344CB8AC3E}">
        <p14:creationId xmlns:p14="http://schemas.microsoft.com/office/powerpoint/2010/main" val="24130865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a:t>
            </a:r>
            <a:r>
              <a:rPr lang="zh-CN" altLang="en-US" dirty="0"/>
              <a:t>、概念模型</a:t>
            </a:r>
          </a:p>
        </p:txBody>
      </p:sp>
      <p:sp>
        <p:nvSpPr>
          <p:cNvPr id="3" name="内容占位符 2"/>
          <p:cNvSpPr>
            <a:spLocks noGrp="1"/>
          </p:cNvSpPr>
          <p:nvPr>
            <p:ph idx="1"/>
          </p:nvPr>
        </p:nvSpPr>
        <p:spPr/>
        <p:txBody>
          <a:bodyPr/>
          <a:lstStyle/>
          <a:p>
            <a:r>
              <a:rPr lang="zh-CN" altLang="en-US" dirty="0"/>
              <a:t>无林地</a:t>
            </a:r>
            <a:r>
              <a:rPr lang="en-US" altLang="zh-CN" dirty="0"/>
              <a:t>1</a:t>
            </a:r>
            <a:r>
              <a:rPr lang="zh-CN" altLang="en-US" dirty="0"/>
              <a:t>公顷</a:t>
            </a:r>
            <a:endParaRPr lang="en-US" altLang="zh-CN" dirty="0"/>
          </a:p>
          <a:p>
            <a:r>
              <a:rPr lang="zh-CN" altLang="en-US" dirty="0"/>
              <a:t>从第</a:t>
            </a:r>
            <a:r>
              <a:rPr lang="en-US" altLang="zh-CN" dirty="0"/>
              <a:t>0</a:t>
            </a:r>
            <a:r>
              <a:rPr lang="zh-CN" altLang="en-US" dirty="0"/>
              <a:t>年开始绿化造林</a:t>
            </a:r>
            <a:endParaRPr lang="en-US" altLang="zh-CN" dirty="0"/>
          </a:p>
          <a:p>
            <a:r>
              <a:rPr lang="zh-CN" altLang="en-US" dirty="0"/>
              <a:t>每一个轮伐期末进行再次更新造林</a:t>
            </a:r>
            <a:endParaRPr lang="en-US" altLang="zh-CN" dirty="0"/>
          </a:p>
          <a:p>
            <a:r>
              <a:rPr lang="zh-CN" altLang="en-US" dirty="0"/>
              <a:t>则生产函数为</a:t>
            </a:r>
            <a:endParaRPr lang="en-US" altLang="zh-CN" dirty="0"/>
          </a:p>
          <a:p>
            <a:r>
              <a:rPr lang="en-US" altLang="zh-CN" dirty="0"/>
              <a:t>Q=Q</a:t>
            </a:r>
            <a:r>
              <a:rPr lang="zh-CN" altLang="en-US" dirty="0"/>
              <a:t>（</a:t>
            </a:r>
            <a:r>
              <a:rPr lang="en-US" altLang="zh-CN" dirty="0"/>
              <a:t>t</a:t>
            </a:r>
            <a:r>
              <a:rPr lang="zh-CN" altLang="en-US" dirty="0"/>
              <a:t>，</a:t>
            </a:r>
            <a:r>
              <a:rPr lang="en-US" altLang="zh-CN" dirty="0"/>
              <a:t>E</a:t>
            </a:r>
            <a:r>
              <a:rPr lang="zh-CN" altLang="en-US" dirty="0"/>
              <a:t>）</a:t>
            </a:r>
            <a:endParaRPr lang="en-US" altLang="zh-CN" dirty="0"/>
          </a:p>
          <a:p>
            <a:r>
              <a:rPr lang="en-US" altLang="zh-CN" dirty="0"/>
              <a:t>Q</a:t>
            </a:r>
            <a:r>
              <a:rPr lang="zh-CN" altLang="en-US" dirty="0"/>
              <a:t>表示林木的蓄积量</a:t>
            </a:r>
            <a:endParaRPr lang="en-US" altLang="zh-CN" dirty="0"/>
          </a:p>
          <a:p>
            <a:r>
              <a:rPr lang="zh-CN" altLang="en-US" dirty="0"/>
              <a:t>它是时间</a:t>
            </a:r>
            <a:r>
              <a:rPr lang="en-US" altLang="zh-CN" dirty="0"/>
              <a:t>t</a:t>
            </a:r>
            <a:r>
              <a:rPr lang="zh-CN" altLang="en-US" dirty="0"/>
              <a:t>和初始时期营林投入</a:t>
            </a:r>
            <a:r>
              <a:rPr lang="en-US" altLang="zh-CN" dirty="0"/>
              <a:t>E</a:t>
            </a:r>
            <a:r>
              <a:rPr lang="zh-CN" altLang="en-US" dirty="0"/>
              <a:t>的函数</a:t>
            </a:r>
          </a:p>
        </p:txBody>
      </p:sp>
    </p:spTree>
    <p:extLst>
      <p:ext uri="{BB962C8B-B14F-4D97-AF65-F5344CB8AC3E}">
        <p14:creationId xmlns:p14="http://schemas.microsoft.com/office/powerpoint/2010/main" val="156475829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50952" y="68448"/>
            <a:ext cx="7886700" cy="1325563"/>
          </a:xfrm>
        </p:spPr>
        <p:txBody>
          <a:bodyPr/>
          <a:lstStyle/>
          <a:p>
            <a:r>
              <a:rPr lang="zh-CN" altLang="en-US" dirty="0"/>
              <a:t>造林投入</a:t>
            </a:r>
          </a:p>
        </p:txBody>
      </p:sp>
      <p:sp>
        <p:nvSpPr>
          <p:cNvPr id="3" name="内容占位符 2"/>
          <p:cNvSpPr>
            <a:spLocks noGrp="1"/>
          </p:cNvSpPr>
          <p:nvPr>
            <p:ph sz="half" idx="1"/>
          </p:nvPr>
        </p:nvSpPr>
        <p:spPr>
          <a:xfrm>
            <a:off x="935272" y="1394012"/>
            <a:ext cx="4316953" cy="2040564"/>
          </a:xfrm>
          <a:prstGeom prst="roundRect">
            <a:avLst/>
          </a:prstGeom>
          <a:gradFill flip="none" rotWithShape="1">
            <a:gsLst>
              <a:gs pos="0">
                <a:schemeClr val="accent1">
                  <a:tint val="66000"/>
                  <a:satMod val="160000"/>
                  <a:alpha val="50000"/>
                </a:schemeClr>
              </a:gs>
              <a:gs pos="50000">
                <a:schemeClr val="accent1">
                  <a:tint val="44500"/>
                  <a:satMod val="160000"/>
                  <a:alpha val="46000"/>
                </a:schemeClr>
              </a:gs>
              <a:gs pos="100000">
                <a:schemeClr val="accent1">
                  <a:tint val="23500"/>
                  <a:satMod val="160000"/>
                  <a:alpha val="15000"/>
                </a:schemeClr>
              </a:gs>
            </a:gsLst>
            <a:lin ang="2700000" scaled="1"/>
            <a:tileRect/>
          </a:gradFill>
          <a:effectLst>
            <a:innerShdw blurRad="63500" dist="50800" dir="13500000">
              <a:prstClr val="black">
                <a:alpha val="50000"/>
              </a:prstClr>
            </a:innerShdw>
          </a:effectLst>
        </p:spPr>
        <p:txBody>
          <a:bodyPr>
            <a:normAutofit/>
          </a:bodyPr>
          <a:lstStyle/>
          <a:p>
            <a:r>
              <a:rPr lang="zh-CN" altLang="en-US" dirty="0"/>
              <a:t>无造林投入时，土地闲置至自然再生，其生产水平</a:t>
            </a:r>
            <a:r>
              <a:rPr lang="en-US" altLang="zh-CN" dirty="0"/>
              <a:t>Q=Q</a:t>
            </a:r>
            <a:r>
              <a:rPr lang="zh-CN" altLang="en-US" dirty="0"/>
              <a:t>（</a:t>
            </a:r>
            <a:r>
              <a:rPr lang="en-US" altLang="zh-CN" dirty="0"/>
              <a:t>t</a:t>
            </a:r>
            <a:r>
              <a:rPr lang="zh-CN" altLang="en-US" dirty="0"/>
              <a:t>）</a:t>
            </a:r>
            <a:endParaRPr lang="en-US" altLang="zh-CN" dirty="0"/>
          </a:p>
          <a:p>
            <a:endParaRPr lang="zh-CN" altLang="en-US" dirty="0"/>
          </a:p>
        </p:txBody>
      </p:sp>
      <p:sp>
        <p:nvSpPr>
          <p:cNvPr id="4" name="内容占位符 3"/>
          <p:cNvSpPr>
            <a:spLocks noGrp="1"/>
          </p:cNvSpPr>
          <p:nvPr>
            <p:ph sz="half" idx="2"/>
          </p:nvPr>
        </p:nvSpPr>
        <p:spPr>
          <a:xfrm>
            <a:off x="935273" y="3646449"/>
            <a:ext cx="4316952" cy="2959334"/>
          </a:xfrm>
          <a:prstGeom prst="roundRect">
            <a:avLst/>
          </a:prstGeom>
          <a:gradFill flip="none" rotWithShape="1">
            <a:gsLst>
              <a:gs pos="0">
                <a:schemeClr val="accent1">
                  <a:tint val="66000"/>
                  <a:satMod val="160000"/>
                  <a:alpha val="81000"/>
                </a:schemeClr>
              </a:gs>
              <a:gs pos="50000">
                <a:schemeClr val="accent1">
                  <a:tint val="44500"/>
                  <a:satMod val="160000"/>
                  <a:alpha val="44000"/>
                </a:schemeClr>
              </a:gs>
              <a:gs pos="100000">
                <a:schemeClr val="accent1">
                  <a:tint val="23500"/>
                  <a:satMod val="160000"/>
                  <a:alpha val="6000"/>
                </a:schemeClr>
              </a:gs>
            </a:gsLst>
            <a:lin ang="2700000" scaled="1"/>
            <a:tileRect/>
          </a:gradFill>
          <a:scene3d>
            <a:camera prst="orthographicFront"/>
            <a:lightRig rig="threePt" dir="t"/>
          </a:scene3d>
          <a:sp3d>
            <a:bevelT/>
          </a:sp3d>
        </p:spPr>
        <p:txBody>
          <a:bodyPr>
            <a:normAutofit/>
          </a:bodyPr>
          <a:lstStyle/>
          <a:p>
            <a:r>
              <a:rPr lang="zh-CN" altLang="en-US" dirty="0"/>
              <a:t>有造林投入时，可以通过造林初期的整地、种植、施肥等，以及后期的施肥、除草等</a:t>
            </a:r>
            <a:endParaRPr lang="en-US" altLang="zh-CN" dirty="0"/>
          </a:p>
          <a:p>
            <a:r>
              <a:rPr lang="zh-CN" altLang="en-US" dirty="0"/>
              <a:t>缩短树木的生长时间</a:t>
            </a:r>
            <a:endParaRPr lang="en-US" altLang="zh-CN" dirty="0"/>
          </a:p>
          <a:p>
            <a:r>
              <a:rPr lang="zh-CN" altLang="en-US" dirty="0"/>
              <a:t>提高立木的产量</a:t>
            </a:r>
          </a:p>
        </p:txBody>
      </p:sp>
      <p:sp>
        <p:nvSpPr>
          <p:cNvPr id="5" name="内容占位符 2"/>
          <p:cNvSpPr txBox="1">
            <a:spLocks/>
          </p:cNvSpPr>
          <p:nvPr/>
        </p:nvSpPr>
        <p:spPr>
          <a:xfrm>
            <a:off x="5406912" y="1394011"/>
            <a:ext cx="3636727" cy="5211771"/>
          </a:xfrm>
          <a:prstGeom prst="roundRect">
            <a:avLst/>
          </a:prstGeom>
          <a:gradFill>
            <a:gsLst>
              <a:gs pos="51000">
                <a:schemeClr val="accent1">
                  <a:satMod val="120000"/>
                  <a:alpha val="38000"/>
                </a:schemeClr>
              </a:gs>
              <a:gs pos="100000">
                <a:schemeClr val="accent1">
                  <a:shade val="60000"/>
                  <a:satMod val="180000"/>
                  <a:lumMod val="70000"/>
                  <a:alpha val="25000"/>
                </a:schemeClr>
              </a:gs>
            </a:gsLst>
          </a:gradFill>
        </p:spPr>
        <p:style>
          <a:lnRef idx="1">
            <a:schemeClr val="accent1"/>
          </a:lnRef>
          <a:fillRef idx="3">
            <a:schemeClr val="accent1"/>
          </a:fillRef>
          <a:effectRef idx="2">
            <a:schemeClr val="accent1"/>
          </a:effectRef>
          <a:fontRef idx="minor">
            <a:schemeClr val="lt1"/>
          </a:fontRef>
        </p:style>
        <p:txBody>
          <a:bodyPr vert="horz" lIns="91440" tIns="45720" rIns="91440" bIns="45720" rtlCol="0">
            <a:normAutofit fontScale="92500"/>
          </a:bodyPr>
          <a:lstStyle>
            <a:lvl1pPr marL="365760" indent="-365760" algn="l" defTabSz="914400" rtl="0" eaLnBrk="1" latinLnBrk="0" hangingPunct="1">
              <a:spcBef>
                <a:spcPct val="20000"/>
              </a:spcBef>
              <a:spcAft>
                <a:spcPts val="600"/>
              </a:spcAft>
              <a:buSzPct val="140000"/>
              <a:buFont typeface="Symbol" charset="2"/>
              <a:buChar char="-"/>
              <a:defRPr sz="2800" kern="1200">
                <a:solidFill>
                  <a:schemeClr val="tx1"/>
                </a:solidFill>
                <a:effectLst>
                  <a:outerShdw blurRad="38100" dist="38100" dir="2700000" algn="tl">
                    <a:srgbClr val="000000">
                      <a:alpha val="43137"/>
                    </a:srgbClr>
                  </a:outerShdw>
                </a:effectLst>
                <a:latin typeface="+mn-lt"/>
                <a:ea typeface="+mn-ea"/>
                <a:cs typeface="+mn-cs"/>
              </a:defRPr>
            </a:lvl1pPr>
            <a:lvl2pPr marL="731520" indent="-365760" algn="l" defTabSz="914400" rtl="0" eaLnBrk="1" latinLnBrk="0" hangingPunct="1">
              <a:spcBef>
                <a:spcPct val="20000"/>
              </a:spcBef>
              <a:spcAft>
                <a:spcPts val="600"/>
              </a:spcAft>
              <a:buSzPct val="140000"/>
              <a:buFont typeface="Symbol" charset="2"/>
              <a:buChar char="-"/>
              <a:defRPr sz="2400" kern="1200">
                <a:solidFill>
                  <a:schemeClr val="tx1"/>
                </a:solidFill>
                <a:effectLst>
                  <a:outerShdw blurRad="38100" dist="38100" dir="2700000" algn="tl">
                    <a:srgbClr val="000000">
                      <a:alpha val="43137"/>
                    </a:srgbClr>
                  </a:outerShdw>
                </a:effectLst>
                <a:latin typeface="+mn-lt"/>
                <a:ea typeface="+mn-ea"/>
                <a:cs typeface="+mn-cs"/>
              </a:defRPr>
            </a:lvl2pPr>
            <a:lvl3pPr marL="1097280" indent="-320040" algn="l" defTabSz="914400" rtl="0" eaLnBrk="1" latinLnBrk="0" hangingPunct="1">
              <a:spcBef>
                <a:spcPct val="20000"/>
              </a:spcBef>
              <a:spcAft>
                <a:spcPts val="600"/>
              </a:spcAft>
              <a:buSzPct val="140000"/>
              <a:buFont typeface="Symbol" charset="2"/>
              <a:buChar char="-"/>
              <a:defRPr sz="2000" kern="1200">
                <a:solidFill>
                  <a:schemeClr val="tx1"/>
                </a:solidFill>
                <a:effectLst>
                  <a:outerShdw blurRad="38100" dist="38100" dir="2700000" algn="tl">
                    <a:srgbClr val="000000">
                      <a:alpha val="43137"/>
                    </a:srgbClr>
                  </a:outerShdw>
                </a:effectLst>
                <a:latin typeface="+mn-lt"/>
                <a:ea typeface="+mn-ea"/>
                <a:cs typeface="+mn-cs"/>
              </a:defRPr>
            </a:lvl3pPr>
            <a:lvl4pPr marL="1371600" indent="-274320" algn="l" defTabSz="914400" rtl="0" eaLnBrk="1" latinLnBrk="0" hangingPunct="1">
              <a:spcBef>
                <a:spcPct val="20000"/>
              </a:spcBef>
              <a:spcAft>
                <a:spcPts val="600"/>
              </a:spcAft>
              <a:buSzPct val="140000"/>
              <a:buFont typeface="Symbol" charset="2"/>
              <a:buChar char="-"/>
              <a:defRPr sz="1800" kern="1200">
                <a:solidFill>
                  <a:schemeClr val="tx1"/>
                </a:solidFill>
                <a:effectLst>
                  <a:outerShdw blurRad="38100" dist="38100" dir="2700000" algn="tl">
                    <a:srgbClr val="000000">
                      <a:alpha val="43137"/>
                    </a:srgbClr>
                  </a:outerShdw>
                </a:effectLst>
                <a:latin typeface="+mn-lt"/>
                <a:ea typeface="+mn-ea"/>
                <a:cs typeface="+mn-cs"/>
              </a:defRPr>
            </a:lvl4pPr>
            <a:lvl5pPr marL="1645920" indent="-274320" algn="l" defTabSz="914400" rtl="0" eaLnBrk="1" latinLnBrk="0" hangingPunct="1">
              <a:spcBef>
                <a:spcPct val="20000"/>
              </a:spcBef>
              <a:spcAft>
                <a:spcPts val="600"/>
              </a:spcAft>
              <a:buSzPct val="140000"/>
              <a:buFont typeface="Symbol" charset="2"/>
              <a:buChar char="-"/>
              <a:defRPr sz="1800" kern="1200">
                <a:solidFill>
                  <a:schemeClr val="tx1"/>
                </a:solidFill>
                <a:effectLst>
                  <a:outerShdw blurRad="38100" dist="38100" dir="2700000" algn="tl">
                    <a:srgbClr val="000000">
                      <a:alpha val="43137"/>
                    </a:srgbClr>
                  </a:outerShdw>
                </a:effectLst>
                <a:latin typeface="+mn-lt"/>
                <a:ea typeface="+mn-ea"/>
                <a:cs typeface="+mn-cs"/>
              </a:defRPr>
            </a:lvl5pPr>
            <a:lvl6pPr marL="1920240" indent="-228600" algn="l" defTabSz="914400" rtl="0" eaLnBrk="1" latinLnBrk="0" hangingPunct="1">
              <a:spcBef>
                <a:spcPts val="24"/>
              </a:spcBef>
              <a:spcAft>
                <a:spcPts val="600"/>
              </a:spcAft>
              <a:buClrTx/>
              <a:buSzPct val="130000"/>
              <a:buFont typeface="Wingdings" pitchFamily="2" charset="2"/>
              <a:buChar char=""/>
              <a:defRPr sz="1800" kern="1200">
                <a:solidFill>
                  <a:schemeClr val="tx1"/>
                </a:solidFill>
                <a:effectLst>
                  <a:outerShdw blurRad="38100" dist="38100" dir="2700000" algn="ctr" rotWithShape="0">
                    <a:srgbClr val="000000">
                      <a:alpha val="43000"/>
                    </a:srgbClr>
                  </a:outerShdw>
                </a:effectLst>
                <a:latin typeface="+mn-lt"/>
                <a:ea typeface="+mn-ea"/>
                <a:cs typeface="+mn-cs"/>
              </a:defRPr>
            </a:lvl6pPr>
            <a:lvl7pPr marL="2194560" indent="-228600" algn="l" defTabSz="914400" rtl="0" eaLnBrk="1" latinLnBrk="0" hangingPunct="1">
              <a:spcBef>
                <a:spcPts val="24"/>
              </a:spcBef>
              <a:spcAft>
                <a:spcPts val="600"/>
              </a:spcAft>
              <a:buClrTx/>
              <a:buSzPct val="130000"/>
              <a:buFont typeface="Wingdings" pitchFamily="2" charset="2"/>
              <a:buChar char=""/>
              <a:defRPr sz="1800" kern="1200">
                <a:solidFill>
                  <a:schemeClr val="tx1"/>
                </a:solidFill>
                <a:effectLst>
                  <a:outerShdw blurRad="38100" dist="38100" dir="2700000" algn="ctr" rotWithShape="0">
                    <a:srgbClr val="000000">
                      <a:alpha val="43000"/>
                    </a:srgbClr>
                  </a:outerShdw>
                </a:effectLst>
                <a:latin typeface="+mn-lt"/>
                <a:ea typeface="+mn-ea"/>
                <a:cs typeface="+mn-cs"/>
              </a:defRPr>
            </a:lvl7pPr>
            <a:lvl8pPr marL="2468880" indent="-228600" algn="l" defTabSz="914400" rtl="0" eaLnBrk="1" latinLnBrk="0" hangingPunct="1">
              <a:spcBef>
                <a:spcPts val="24"/>
              </a:spcBef>
              <a:spcAft>
                <a:spcPts val="600"/>
              </a:spcAft>
              <a:buClrTx/>
              <a:buSzPct val="130000"/>
              <a:buFont typeface="Wingdings" pitchFamily="2" charset="2"/>
              <a:buChar char=""/>
              <a:defRPr sz="1800" kern="1200">
                <a:solidFill>
                  <a:schemeClr val="tx1"/>
                </a:solidFill>
                <a:effectLst>
                  <a:outerShdw blurRad="38100" dist="38100" dir="2700000" algn="ctr" rotWithShape="0">
                    <a:srgbClr val="000000">
                      <a:alpha val="43000"/>
                    </a:srgbClr>
                  </a:outerShdw>
                </a:effectLst>
                <a:latin typeface="+mn-lt"/>
                <a:ea typeface="+mn-ea"/>
                <a:cs typeface="+mn-cs"/>
              </a:defRPr>
            </a:lvl8pPr>
            <a:lvl9pPr marL="2743200" indent="-228600" algn="l" defTabSz="914400" rtl="0" eaLnBrk="1" latinLnBrk="0" hangingPunct="1">
              <a:spcBef>
                <a:spcPts val="24"/>
              </a:spcBef>
              <a:spcAft>
                <a:spcPts val="600"/>
              </a:spcAft>
              <a:buClrTx/>
              <a:buSzPct val="130000"/>
              <a:buFont typeface="Wingdings" pitchFamily="2" charset="2"/>
              <a:buChar char=""/>
              <a:defRPr sz="1800" kern="1200">
                <a:solidFill>
                  <a:schemeClr val="tx1"/>
                </a:solidFill>
                <a:effectLst>
                  <a:outerShdw blurRad="38100" dist="38100" dir="2700000" algn="ctr" rotWithShape="0">
                    <a:srgbClr val="000000">
                      <a:alpha val="43000"/>
                    </a:srgbClr>
                  </a:outerShdw>
                </a:effectLst>
                <a:latin typeface="+mn-lt"/>
                <a:ea typeface="+mn-ea"/>
                <a:cs typeface="+mn-cs"/>
              </a:defRPr>
            </a:lvl9pPr>
          </a:lstStyle>
          <a:p>
            <a:r>
              <a:rPr lang="zh-CN" altLang="en-US" dirty="0"/>
              <a:t>将所有造林投入用各自的单位成本作为权重和贴现率，贴现到起始时期，得到总造林成本</a:t>
            </a:r>
            <a:r>
              <a:rPr lang="en-US" altLang="zh-CN" dirty="0"/>
              <a:t>C</a:t>
            </a:r>
          </a:p>
          <a:p>
            <a:r>
              <a:rPr lang="en-US" altLang="zh-CN" dirty="0"/>
              <a:t>C=</a:t>
            </a:r>
            <a:r>
              <a:rPr lang="en-US" altLang="zh-CN" dirty="0" err="1"/>
              <a:t>wE</a:t>
            </a:r>
            <a:endParaRPr lang="en-US" altLang="zh-CN" dirty="0"/>
          </a:p>
          <a:p>
            <a:r>
              <a:rPr lang="en-US" altLang="zh-CN" dirty="0"/>
              <a:t>W</a:t>
            </a:r>
            <a:r>
              <a:rPr lang="zh-CN" altLang="en-US" dirty="0"/>
              <a:t>是造林投入的单位成本（也可看作造林所用劳动力的单位成本），</a:t>
            </a:r>
            <a:r>
              <a:rPr lang="en-US" altLang="zh-CN" dirty="0"/>
              <a:t>E</a:t>
            </a:r>
            <a:r>
              <a:rPr lang="zh-CN" altLang="en-US" dirty="0"/>
              <a:t>是造林投入总量</a:t>
            </a:r>
          </a:p>
        </p:txBody>
      </p:sp>
    </p:spTree>
    <p:extLst>
      <p:ext uri="{BB962C8B-B14F-4D97-AF65-F5344CB8AC3E}">
        <p14:creationId xmlns:p14="http://schemas.microsoft.com/office/powerpoint/2010/main" val="356553780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案例：</a:t>
            </a:r>
          </a:p>
        </p:txBody>
      </p:sp>
      <p:sp>
        <p:nvSpPr>
          <p:cNvPr id="3" name="内容占位符 2"/>
          <p:cNvSpPr>
            <a:spLocks noGrp="1"/>
          </p:cNvSpPr>
          <p:nvPr>
            <p:ph idx="1"/>
          </p:nvPr>
        </p:nvSpPr>
        <p:spPr/>
        <p:txBody>
          <a:bodyPr>
            <a:normAutofit fontScale="92500" lnSpcReduction="10000"/>
          </a:bodyPr>
          <a:lstStyle/>
          <a:p>
            <a:r>
              <a:rPr lang="zh-CN" altLang="en-US" dirty="0"/>
              <a:t>若第</a:t>
            </a:r>
            <a:r>
              <a:rPr lang="en-US" altLang="zh-CN" dirty="0"/>
              <a:t>0</a:t>
            </a:r>
            <a:r>
              <a:rPr lang="zh-CN" altLang="en-US" dirty="0"/>
              <a:t>年花费</a:t>
            </a:r>
            <a:r>
              <a:rPr lang="en-US" altLang="zh-CN" dirty="0"/>
              <a:t>750</a:t>
            </a:r>
            <a:r>
              <a:rPr lang="zh-CN" altLang="en-US" dirty="0"/>
              <a:t>元征地和造林</a:t>
            </a:r>
            <a:endParaRPr lang="en-US" altLang="zh-CN" dirty="0"/>
          </a:p>
          <a:p>
            <a:r>
              <a:rPr lang="zh-CN" altLang="en-US" dirty="0"/>
              <a:t>第</a:t>
            </a:r>
            <a:r>
              <a:rPr lang="en-US" altLang="zh-CN" dirty="0"/>
              <a:t>5</a:t>
            </a:r>
            <a:r>
              <a:rPr lang="zh-CN" altLang="en-US" dirty="0"/>
              <a:t>年化肥</a:t>
            </a:r>
            <a:r>
              <a:rPr lang="en-US" altLang="zh-CN" dirty="0"/>
              <a:t>200</a:t>
            </a:r>
            <a:r>
              <a:rPr lang="zh-CN" altLang="en-US" dirty="0"/>
              <a:t>元除草</a:t>
            </a:r>
            <a:endParaRPr lang="en-US" altLang="zh-CN" dirty="0"/>
          </a:p>
          <a:p>
            <a:r>
              <a:rPr lang="zh-CN" altLang="en-US" dirty="0"/>
              <a:t>贴现率</a:t>
            </a:r>
            <a:r>
              <a:rPr lang="en-US" altLang="zh-CN" dirty="0"/>
              <a:t>6%</a:t>
            </a:r>
          </a:p>
          <a:p>
            <a:r>
              <a:rPr lang="zh-CN" altLang="en-US" dirty="0"/>
              <a:t>则初始阶段的总造林成本为</a:t>
            </a:r>
            <a:r>
              <a:rPr lang="en-US" altLang="zh-CN" dirty="0"/>
              <a:t>750+200/</a:t>
            </a:r>
            <a:r>
              <a:rPr lang="zh-CN" altLang="en-US" dirty="0"/>
              <a:t>（</a:t>
            </a:r>
            <a:r>
              <a:rPr lang="en-US" altLang="zh-CN" dirty="0"/>
              <a:t>1+6%</a:t>
            </a:r>
            <a:r>
              <a:rPr lang="zh-CN" altLang="en-US" dirty="0"/>
              <a:t>）</a:t>
            </a:r>
            <a:r>
              <a:rPr lang="en-US" altLang="zh-CN" baseline="30000" dirty="0"/>
              <a:t>5</a:t>
            </a:r>
          </a:p>
          <a:p>
            <a:r>
              <a:rPr lang="en-US" altLang="zh-CN" dirty="0"/>
              <a:t>=899.5</a:t>
            </a:r>
            <a:r>
              <a:rPr lang="zh-CN" altLang="en-US" dirty="0"/>
              <a:t>元</a:t>
            </a:r>
            <a:endParaRPr lang="en-US" altLang="zh-CN" dirty="0"/>
          </a:p>
          <a:p>
            <a:r>
              <a:rPr lang="zh-CN" altLang="en-US" dirty="0"/>
              <a:t>如果劳动力成本是</a:t>
            </a:r>
            <a:r>
              <a:rPr lang="en-US" altLang="zh-CN" dirty="0"/>
              <a:t>15</a:t>
            </a:r>
            <a:r>
              <a:rPr lang="zh-CN" altLang="en-US" dirty="0"/>
              <a:t>元</a:t>
            </a:r>
            <a:r>
              <a:rPr lang="en-US" altLang="zh-CN" dirty="0"/>
              <a:t>/</a:t>
            </a:r>
            <a:r>
              <a:rPr lang="zh-CN" altLang="en-US" dirty="0"/>
              <a:t>小时</a:t>
            </a:r>
            <a:endParaRPr lang="en-US" altLang="zh-CN" dirty="0"/>
          </a:p>
          <a:p>
            <a:r>
              <a:rPr lang="zh-CN" altLang="en-US" dirty="0"/>
              <a:t>造林投入的单位成本</a:t>
            </a:r>
            <a:r>
              <a:rPr lang="en-US" altLang="zh-CN" dirty="0"/>
              <a:t>w</a:t>
            </a:r>
            <a:r>
              <a:rPr lang="zh-CN" altLang="en-US" dirty="0"/>
              <a:t>就是</a:t>
            </a:r>
            <a:r>
              <a:rPr lang="en-US" altLang="zh-CN" dirty="0"/>
              <a:t>15</a:t>
            </a:r>
            <a:r>
              <a:rPr lang="zh-CN" altLang="en-US" dirty="0"/>
              <a:t>元</a:t>
            </a:r>
            <a:r>
              <a:rPr lang="en-US" altLang="zh-CN" dirty="0"/>
              <a:t>/</a:t>
            </a:r>
            <a:r>
              <a:rPr lang="zh-CN" altLang="en-US" dirty="0"/>
              <a:t>小时</a:t>
            </a:r>
            <a:endParaRPr lang="en-US" altLang="zh-CN" dirty="0"/>
          </a:p>
          <a:p>
            <a:r>
              <a:rPr lang="zh-CN" altLang="en-US" dirty="0"/>
              <a:t>造林投入总量</a:t>
            </a:r>
            <a:r>
              <a:rPr lang="en-US" altLang="zh-CN" dirty="0"/>
              <a:t>E</a:t>
            </a:r>
            <a:r>
              <a:rPr lang="zh-CN" altLang="en-US" dirty="0"/>
              <a:t>为</a:t>
            </a:r>
            <a:r>
              <a:rPr lang="en-US" altLang="zh-CN" dirty="0"/>
              <a:t>899.5/15=60</a:t>
            </a:r>
            <a:r>
              <a:rPr lang="zh-CN" altLang="en-US" dirty="0"/>
              <a:t>小时</a:t>
            </a:r>
            <a:endParaRPr lang="en-US" altLang="zh-CN" dirty="0"/>
          </a:p>
          <a:p>
            <a:r>
              <a:rPr lang="zh-CN" altLang="en-US" dirty="0"/>
              <a:t>由此，可将所有造林成本，包括材料、机器成本等都看作劳动力成本</a:t>
            </a:r>
            <a:endParaRPr lang="en-US" altLang="zh-CN" dirty="0"/>
          </a:p>
          <a:p>
            <a:endParaRPr lang="zh-CN" altLang="en-US" dirty="0"/>
          </a:p>
        </p:txBody>
      </p:sp>
    </p:spTree>
    <p:extLst>
      <p:ext uri="{BB962C8B-B14F-4D97-AF65-F5344CB8AC3E}">
        <p14:creationId xmlns:p14="http://schemas.microsoft.com/office/powerpoint/2010/main" val="355034466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71718" y="94123"/>
            <a:ext cx="3254557" cy="1552774"/>
          </a:xfrm>
        </p:spPr>
        <p:txBody>
          <a:bodyPr>
            <a:normAutofit/>
          </a:bodyPr>
          <a:lstStyle/>
          <a:p>
            <a:r>
              <a:rPr lang="zh-CN" altLang="en-US" dirty="0"/>
              <a:t>立木价格</a:t>
            </a:r>
            <a:r>
              <a:rPr lang="en-US" altLang="zh-CN" dirty="0"/>
              <a:t>P</a:t>
            </a:r>
            <a:endParaRPr lang="zh-CN" altLang="en-US" dirty="0"/>
          </a:p>
        </p:txBody>
      </p:sp>
      <p:sp>
        <p:nvSpPr>
          <p:cNvPr id="3" name="文本占位符 2"/>
          <p:cNvSpPr>
            <a:spLocks noGrp="1"/>
          </p:cNvSpPr>
          <p:nvPr>
            <p:ph type="body" idx="1"/>
          </p:nvPr>
        </p:nvSpPr>
        <p:spPr>
          <a:xfrm>
            <a:off x="752398" y="1196344"/>
            <a:ext cx="2615313" cy="1126735"/>
          </a:xfrm>
          <a:gradFill flip="none" rotWithShape="1">
            <a:gsLst>
              <a:gs pos="0">
                <a:schemeClr val="accent1">
                  <a:tint val="66000"/>
                  <a:satMod val="160000"/>
                  <a:alpha val="61000"/>
                </a:schemeClr>
              </a:gs>
              <a:gs pos="50000">
                <a:schemeClr val="accent1">
                  <a:tint val="44500"/>
                  <a:satMod val="160000"/>
                  <a:alpha val="37000"/>
                </a:schemeClr>
              </a:gs>
              <a:gs pos="100000">
                <a:schemeClr val="accent1">
                  <a:tint val="23500"/>
                  <a:satMod val="160000"/>
                  <a:alpha val="68000"/>
                </a:schemeClr>
              </a:gs>
            </a:gsLst>
            <a:lin ang="2700000" scaled="1"/>
            <a:tileRect/>
          </a:gradFill>
          <a:scene3d>
            <a:camera prst="orthographicFront"/>
            <a:lightRig rig="threePt" dir="t"/>
          </a:scene3d>
          <a:sp3d>
            <a:bevelT/>
          </a:sp3d>
        </p:spPr>
        <p:txBody>
          <a:bodyPr>
            <a:normAutofit/>
          </a:bodyPr>
          <a:lstStyle/>
          <a:p>
            <a:r>
              <a:rPr lang="zh-CN" altLang="en-US" dirty="0"/>
              <a:t>立木价格</a:t>
            </a:r>
            <a:r>
              <a:rPr lang="en-US" altLang="zh-CN" dirty="0"/>
              <a:t>P</a:t>
            </a:r>
            <a:r>
              <a:rPr lang="zh-CN" altLang="en-US" dirty="0"/>
              <a:t>与立木蓄积量</a:t>
            </a:r>
            <a:r>
              <a:rPr lang="en-US" altLang="zh-CN" dirty="0"/>
              <a:t>Q</a:t>
            </a:r>
            <a:r>
              <a:rPr lang="zh-CN" altLang="en-US" dirty="0"/>
              <a:t>之积为总立木价值</a:t>
            </a:r>
            <a:r>
              <a:rPr lang="en-US" altLang="zh-CN" dirty="0"/>
              <a:t>S</a:t>
            </a:r>
            <a:r>
              <a:rPr lang="zh-CN" altLang="en-US" dirty="0"/>
              <a:t>（</a:t>
            </a:r>
            <a:r>
              <a:rPr lang="en-US" altLang="zh-CN" dirty="0"/>
              <a:t>t</a:t>
            </a:r>
            <a:r>
              <a:rPr lang="zh-CN" altLang="en-US" dirty="0"/>
              <a:t>）</a:t>
            </a:r>
          </a:p>
        </p:txBody>
      </p:sp>
      <p:sp>
        <p:nvSpPr>
          <p:cNvPr id="4" name="内容占位符 3"/>
          <p:cNvSpPr>
            <a:spLocks noGrp="1"/>
          </p:cNvSpPr>
          <p:nvPr>
            <p:ph sz="half" idx="2"/>
          </p:nvPr>
        </p:nvSpPr>
        <p:spPr>
          <a:xfrm>
            <a:off x="754604" y="2495958"/>
            <a:ext cx="2578608" cy="3938700"/>
          </a:xfrm>
          <a:gradFill flip="none" rotWithShape="1">
            <a:gsLst>
              <a:gs pos="0">
                <a:schemeClr val="accent1">
                  <a:tint val="66000"/>
                  <a:satMod val="160000"/>
                  <a:alpha val="61000"/>
                </a:schemeClr>
              </a:gs>
              <a:gs pos="50000">
                <a:schemeClr val="accent1">
                  <a:tint val="44500"/>
                  <a:satMod val="160000"/>
                  <a:alpha val="37000"/>
                </a:schemeClr>
              </a:gs>
              <a:gs pos="100000">
                <a:schemeClr val="accent1">
                  <a:tint val="23500"/>
                  <a:satMod val="160000"/>
                  <a:alpha val="68000"/>
                </a:schemeClr>
              </a:gs>
            </a:gsLst>
            <a:lin ang="2700000" scaled="1"/>
            <a:tileRect/>
          </a:gradFill>
          <a:scene3d>
            <a:camera prst="orthographicFront"/>
            <a:lightRig rig="threePt" dir="t"/>
          </a:scene3d>
          <a:sp3d>
            <a:bevelT/>
          </a:sp3d>
        </p:spPr>
        <p:txBody>
          <a:bodyPr vert="horz" lIns="91440" tIns="45720" rIns="91440" bIns="45720" rtlCol="0" anchor="ctr">
            <a:normAutofit lnSpcReduction="10000"/>
          </a:bodyPr>
          <a:lstStyle/>
          <a:p>
            <a:pPr marL="0" indent="0">
              <a:buNone/>
            </a:pPr>
            <a:r>
              <a:rPr lang="zh-CN" altLang="en-US" dirty="0"/>
              <a:t>用连续贴现率</a:t>
            </a:r>
            <a:r>
              <a:rPr lang="en-US" altLang="zh-CN" dirty="0"/>
              <a:t>r</a:t>
            </a:r>
            <a:r>
              <a:rPr lang="zh-CN" altLang="en-US" dirty="0"/>
              <a:t>将其贴现为现值</a:t>
            </a:r>
            <a:endParaRPr lang="en-US" altLang="zh-CN" dirty="0"/>
          </a:p>
          <a:p>
            <a:pPr marL="0" indent="0">
              <a:buNone/>
            </a:pPr>
            <a:r>
              <a:rPr lang="zh-CN" altLang="en-US" dirty="0"/>
              <a:t>则每公顷收入转化为无林地时期的现值为</a:t>
            </a:r>
            <a:endParaRPr lang="en-US" altLang="zh-CN" dirty="0"/>
          </a:p>
          <a:p>
            <a:pPr marL="0" indent="0">
              <a:buNone/>
            </a:pPr>
            <a:r>
              <a:rPr lang="en-US" altLang="zh-CN" dirty="0"/>
              <a:t>PQ(</a:t>
            </a:r>
            <a:r>
              <a:rPr lang="en-US" altLang="zh-CN" dirty="0" err="1"/>
              <a:t>t,E</a:t>
            </a:r>
            <a:r>
              <a:rPr lang="zh-CN" altLang="en-US" dirty="0"/>
              <a:t>）</a:t>
            </a:r>
            <a:r>
              <a:rPr lang="en-US" altLang="zh-CN" dirty="0"/>
              <a:t>e</a:t>
            </a:r>
            <a:r>
              <a:rPr lang="en-US" altLang="zh-CN" baseline="30000" dirty="0"/>
              <a:t>-</a:t>
            </a:r>
            <a:r>
              <a:rPr lang="en-US" altLang="zh-CN" baseline="30000" dirty="0" err="1"/>
              <a:t>rt</a:t>
            </a:r>
            <a:endParaRPr lang="en-US" altLang="zh-CN" baseline="30000" dirty="0"/>
          </a:p>
          <a:p>
            <a:pPr marL="0" indent="0">
              <a:buNone/>
            </a:pPr>
            <a:endParaRPr lang="zh-CN" altLang="en-US" dirty="0"/>
          </a:p>
        </p:txBody>
      </p:sp>
      <p:sp>
        <p:nvSpPr>
          <p:cNvPr id="5" name="文本占位符 4"/>
          <p:cNvSpPr>
            <a:spLocks noGrp="1"/>
          </p:cNvSpPr>
          <p:nvPr>
            <p:ph type="body" sz="quarter" idx="3"/>
          </p:nvPr>
        </p:nvSpPr>
        <p:spPr>
          <a:xfrm>
            <a:off x="4006955" y="1196344"/>
            <a:ext cx="2718868" cy="2532511"/>
          </a:xfrm>
          <a:gradFill flip="none" rotWithShape="1">
            <a:gsLst>
              <a:gs pos="0">
                <a:schemeClr val="accent1">
                  <a:tint val="66000"/>
                  <a:satMod val="160000"/>
                  <a:alpha val="61000"/>
                </a:schemeClr>
              </a:gs>
              <a:gs pos="50000">
                <a:schemeClr val="accent1">
                  <a:tint val="44500"/>
                  <a:satMod val="160000"/>
                  <a:alpha val="37000"/>
                </a:schemeClr>
              </a:gs>
              <a:gs pos="100000">
                <a:schemeClr val="accent1">
                  <a:tint val="23500"/>
                  <a:satMod val="160000"/>
                  <a:alpha val="68000"/>
                </a:schemeClr>
              </a:gs>
            </a:gsLst>
            <a:lin ang="2700000" scaled="1"/>
            <a:tileRect/>
          </a:gradFill>
          <a:scene3d>
            <a:camera prst="orthographicFront"/>
            <a:lightRig rig="threePt" dir="t"/>
          </a:scene3d>
          <a:sp3d>
            <a:bevelT/>
          </a:sp3d>
        </p:spPr>
        <p:txBody>
          <a:bodyPr vert="horz" lIns="91440" tIns="45720" rIns="91440" bIns="45720" rtlCol="0" anchor="ctr">
            <a:normAutofit/>
          </a:bodyPr>
          <a:lstStyle/>
          <a:p>
            <a:r>
              <a:rPr lang="zh-CN" altLang="en-US" dirty="0"/>
              <a:t>第一次轮伐期的净现值</a:t>
            </a:r>
            <a:endParaRPr lang="en-US" altLang="zh-CN" dirty="0"/>
          </a:p>
          <a:p>
            <a:r>
              <a:rPr lang="en-US" altLang="zh-CN" dirty="0"/>
              <a:t>V</a:t>
            </a:r>
            <a:r>
              <a:rPr lang="en-US" altLang="zh-CN" baseline="-25000" dirty="0"/>
              <a:t>1</a:t>
            </a:r>
          </a:p>
          <a:p>
            <a:r>
              <a:rPr lang="en-US" altLang="zh-CN" dirty="0"/>
              <a:t>=PQ(</a:t>
            </a:r>
            <a:r>
              <a:rPr lang="en-US" altLang="zh-CN" dirty="0" err="1"/>
              <a:t>t,E</a:t>
            </a:r>
            <a:r>
              <a:rPr lang="zh-CN" altLang="en-US" dirty="0"/>
              <a:t>）</a:t>
            </a:r>
            <a:r>
              <a:rPr lang="en-US" altLang="zh-CN" dirty="0"/>
              <a:t>e</a:t>
            </a:r>
            <a:r>
              <a:rPr lang="en-US" altLang="zh-CN" baseline="30000" dirty="0"/>
              <a:t>-</a:t>
            </a:r>
            <a:r>
              <a:rPr lang="en-US" altLang="zh-CN" baseline="30000" dirty="0" err="1"/>
              <a:t>rt</a:t>
            </a:r>
            <a:r>
              <a:rPr lang="en-US" altLang="zh-CN" dirty="0"/>
              <a:t>-</a:t>
            </a:r>
            <a:r>
              <a:rPr lang="en-US" altLang="zh-CN" dirty="0" err="1"/>
              <a:t>wE</a:t>
            </a:r>
            <a:endParaRPr lang="en-US" altLang="zh-CN" dirty="0"/>
          </a:p>
        </p:txBody>
      </p:sp>
      <p:sp>
        <p:nvSpPr>
          <p:cNvPr id="6" name="内容占位符 5"/>
          <p:cNvSpPr>
            <a:spLocks noGrp="1"/>
          </p:cNvSpPr>
          <p:nvPr>
            <p:ph sz="quarter" idx="4"/>
          </p:nvPr>
        </p:nvSpPr>
        <p:spPr>
          <a:xfrm>
            <a:off x="4006955" y="4060252"/>
            <a:ext cx="2718868" cy="2374406"/>
          </a:xfrm>
          <a:gradFill flip="none" rotWithShape="1">
            <a:gsLst>
              <a:gs pos="0">
                <a:schemeClr val="accent1">
                  <a:tint val="66000"/>
                  <a:satMod val="160000"/>
                  <a:alpha val="61000"/>
                </a:schemeClr>
              </a:gs>
              <a:gs pos="50000">
                <a:schemeClr val="accent1">
                  <a:tint val="44500"/>
                  <a:satMod val="160000"/>
                  <a:alpha val="37000"/>
                </a:schemeClr>
              </a:gs>
              <a:gs pos="100000">
                <a:schemeClr val="accent1">
                  <a:tint val="23500"/>
                  <a:satMod val="160000"/>
                  <a:alpha val="68000"/>
                </a:schemeClr>
              </a:gs>
            </a:gsLst>
            <a:lin ang="2700000" scaled="1"/>
            <a:tileRect/>
          </a:gradFill>
          <a:scene3d>
            <a:camera prst="orthographicFront"/>
            <a:lightRig rig="threePt" dir="t"/>
          </a:scene3d>
          <a:sp3d>
            <a:bevelT/>
          </a:sp3d>
        </p:spPr>
        <p:txBody>
          <a:bodyPr vert="horz" lIns="91440" tIns="45720" rIns="91440" bIns="45720" rtlCol="0" anchor="ctr">
            <a:normAutofit lnSpcReduction="10000"/>
          </a:bodyPr>
          <a:lstStyle/>
          <a:p>
            <a:pPr marL="0" indent="0">
              <a:buNone/>
            </a:pPr>
            <a:r>
              <a:rPr lang="zh-CN" altLang="en-US" dirty="0"/>
              <a:t>将土地价值</a:t>
            </a:r>
            <a:r>
              <a:rPr lang="en-US" altLang="zh-CN" dirty="0"/>
              <a:t>Vs</a:t>
            </a:r>
            <a:r>
              <a:rPr lang="zh-CN" altLang="en-US" dirty="0"/>
              <a:t>最大化，意味着在土地所有轮伐期（从第</a:t>
            </a:r>
            <a:r>
              <a:rPr lang="en-US" altLang="zh-CN" dirty="0"/>
              <a:t>1</a:t>
            </a:r>
            <a:r>
              <a:rPr lang="zh-CN" altLang="en-US" dirty="0"/>
              <a:t>期到第无限期）的净现值总和取最大值</a:t>
            </a:r>
          </a:p>
        </p:txBody>
      </p:sp>
    </p:spTree>
    <p:extLst>
      <p:ext uri="{BB962C8B-B14F-4D97-AF65-F5344CB8AC3E}">
        <p14:creationId xmlns:p14="http://schemas.microsoft.com/office/powerpoint/2010/main" val="89940753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最大化净现值</a:t>
            </a:r>
            <a:r>
              <a:rPr lang="en-US" altLang="zh-CN" dirty="0"/>
              <a:t>V</a:t>
            </a:r>
            <a:r>
              <a:rPr lang="en-US" altLang="zh-CN" baseline="-25000" dirty="0"/>
              <a:t>s</a:t>
            </a:r>
            <a:endParaRPr lang="zh-CN" altLang="en-US" baseline="-25000"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14:m>
                  <m:oMath xmlns:m="http://schemas.openxmlformats.org/officeDocument/2006/math">
                    <m:sSub>
                      <m:sSubPr>
                        <m:ctrlPr>
                          <a:rPr lang="en-US" altLang="zh-CN" b="0" i="1" smtClean="0">
                            <a:latin typeface="Cambria Math" panose="02040503050406030204" pitchFamily="18" charset="0"/>
                          </a:rPr>
                        </m:ctrlPr>
                      </m:sSubPr>
                      <m:e>
                        <m:r>
                          <a:rPr lang="en-US" altLang="zh-CN" i="1">
                            <a:latin typeface="Cambria Math" panose="02040503050406030204" pitchFamily="18" charset="0"/>
                          </a:rPr>
                          <m:t>𝑉</m:t>
                        </m:r>
                        <m:r>
                          <m:rPr>
                            <m:nor/>
                          </m:rPr>
                          <a:rPr lang="zh-CN" altLang="en-US" dirty="0"/>
                          <m:t> </m:t>
                        </m:r>
                      </m:e>
                      <m:sub>
                        <m:r>
                          <a:rPr lang="en-US" altLang="zh-CN" b="0" i="1" smtClean="0">
                            <a:latin typeface="Cambria Math" panose="02040503050406030204" pitchFamily="18" charset="0"/>
                          </a:rPr>
                          <m:t>𝑠</m:t>
                        </m:r>
                      </m:sub>
                    </m:sSub>
                    <m:r>
                      <a:rPr lang="en-US" altLang="zh-CN" b="0" i="1" smtClean="0">
                        <a:latin typeface="Cambria Math" panose="02040503050406030204" pitchFamily="18" charset="0"/>
                      </a:rPr>
                      <m:t>=</m:t>
                    </m:r>
                    <m:nary>
                      <m:naryPr>
                        <m:chr m:val="∑"/>
                        <m:limLoc m:val="subSup"/>
                        <m:ctrlPr>
                          <a:rPr lang="en-US" altLang="zh-CN" b="0" i="1" smtClean="0">
                            <a:latin typeface="Cambria Math" panose="02040503050406030204" pitchFamily="18" charset="0"/>
                          </a:rPr>
                        </m:ctrlPr>
                      </m:naryPr>
                      <m:sub>
                        <m:r>
                          <m:rPr>
                            <m:brk m:alnAt="25"/>
                          </m:rPr>
                          <a:rPr lang="en-US" altLang="zh-CN" b="0" i="1" smtClean="0">
                            <a:latin typeface="Cambria Math" panose="02040503050406030204" pitchFamily="18" charset="0"/>
                          </a:rPr>
                          <m:t>𝑖</m:t>
                        </m:r>
                      </m:sub>
                      <m:sup>
                        <m:r>
                          <a:rPr lang="en-US" altLang="zh-CN" b="0" i="1" smtClean="0">
                            <a:latin typeface="Cambria Math" panose="02040503050406030204" pitchFamily="18" charset="0"/>
                            <a:ea typeface="Cambria Math" panose="02040503050406030204" pitchFamily="18" charset="0"/>
                          </a:rPr>
                          <m:t>∞</m:t>
                        </m:r>
                      </m:sup>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𝑉</m:t>
                            </m:r>
                          </m:e>
                          <m:sub>
                            <m:r>
                              <a:rPr lang="en-US" altLang="zh-CN" b="0" i="1" smtClean="0">
                                <a:latin typeface="Cambria Math" panose="02040503050406030204" pitchFamily="18" charset="0"/>
                              </a:rPr>
                              <m:t>𝑖</m:t>
                            </m:r>
                          </m:sub>
                        </m:sSub>
                      </m:e>
                    </m:nary>
                  </m:oMath>
                </a14:m>
                <a:endParaRPr lang="en-US" altLang="zh-CN" b="0" i="1" dirty="0">
                  <a:latin typeface="Cambria Math" panose="02040503050406030204" pitchFamily="18" charset="0"/>
                </a:endParaRPr>
              </a:p>
              <a:p>
                <a:r>
                  <a:rPr lang="en-US" altLang="zh-CN" b="0" dirty="0"/>
                  <a:t>=</a:t>
                </a:r>
                <a14:m>
                  <m:oMath xmlns:m="http://schemas.openxmlformats.org/officeDocument/2006/math">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𝑃𝑄</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𝑡</m:t>
                            </m:r>
                            <m:r>
                              <a:rPr lang="en-US" altLang="zh-CN" b="0" i="1" smtClean="0">
                                <a:latin typeface="Cambria Math" panose="02040503050406030204" pitchFamily="18" charset="0"/>
                              </a:rPr>
                              <m:t>,</m:t>
                            </m:r>
                            <m:r>
                              <a:rPr lang="en-US" altLang="zh-CN" b="0" i="1" smtClean="0">
                                <a:latin typeface="Cambria Math" panose="02040503050406030204" pitchFamily="18" charset="0"/>
                              </a:rPr>
                              <m:t>𝐸</m:t>
                            </m:r>
                          </m:e>
                        </m:d>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𝑒</m:t>
                            </m:r>
                          </m:e>
                          <m:sup>
                            <m:r>
                              <a:rPr lang="en-US" altLang="zh-CN" b="0" i="1" smtClean="0">
                                <a:latin typeface="Cambria Math" panose="02040503050406030204" pitchFamily="18" charset="0"/>
                              </a:rPr>
                              <m:t>−</m:t>
                            </m:r>
                            <m:r>
                              <a:rPr lang="en-US" altLang="zh-CN" b="0" i="1" smtClean="0">
                                <a:latin typeface="Cambria Math" panose="02040503050406030204" pitchFamily="18" charset="0"/>
                              </a:rPr>
                              <m:t>𝑟𝑡</m:t>
                            </m:r>
                          </m:sup>
                        </m:sSup>
                        <m:r>
                          <a:rPr lang="en-US" altLang="zh-CN" b="0" i="1" smtClean="0">
                            <a:latin typeface="Cambria Math" panose="02040503050406030204" pitchFamily="18" charset="0"/>
                          </a:rPr>
                          <m:t>−</m:t>
                        </m:r>
                        <m:r>
                          <a:rPr lang="en-US" altLang="zh-CN" b="0" i="1" smtClean="0">
                            <a:latin typeface="Cambria Math" panose="02040503050406030204" pitchFamily="18" charset="0"/>
                          </a:rPr>
                          <m:t>𝑤𝐸</m:t>
                        </m:r>
                      </m:e>
                    </m:d>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1+</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𝑒</m:t>
                            </m:r>
                          </m:e>
                          <m:sup>
                            <m:r>
                              <a:rPr lang="en-US" altLang="zh-CN" b="0" i="1" smtClean="0">
                                <a:latin typeface="Cambria Math" panose="02040503050406030204" pitchFamily="18" charset="0"/>
                              </a:rPr>
                              <m:t>−</m:t>
                            </m:r>
                            <m:r>
                              <a:rPr lang="en-US" altLang="zh-CN" b="0" i="1" smtClean="0">
                                <a:latin typeface="Cambria Math" panose="02040503050406030204" pitchFamily="18" charset="0"/>
                              </a:rPr>
                              <m:t>𝑟𝑡</m:t>
                            </m:r>
                          </m:sup>
                        </m:sSup>
                        <m:r>
                          <a:rPr lang="en-US" altLang="zh-CN" b="0" i="1" smtClean="0">
                            <a:latin typeface="Cambria Math" panose="02040503050406030204" pitchFamily="18" charset="0"/>
                          </a:rPr>
                          <m:t>+</m:t>
                        </m:r>
                        <m:sSup>
                          <m:sSupPr>
                            <m:ctrlPr>
                              <a:rPr lang="en-US" altLang="zh-CN" i="1">
                                <a:latin typeface="Cambria Math" panose="02040503050406030204" pitchFamily="18" charset="0"/>
                              </a:rPr>
                            </m:ctrlPr>
                          </m:sSupPr>
                          <m:e>
                            <m:r>
                              <a:rPr lang="en-US" altLang="zh-CN" i="1">
                                <a:latin typeface="Cambria Math" panose="02040503050406030204" pitchFamily="18" charset="0"/>
                              </a:rPr>
                              <m:t>𝑒</m:t>
                            </m:r>
                          </m:e>
                          <m:sup>
                            <m:r>
                              <a:rPr lang="en-US" altLang="zh-CN" i="1">
                                <a:latin typeface="Cambria Math" panose="02040503050406030204" pitchFamily="18" charset="0"/>
                              </a:rPr>
                              <m:t>−</m:t>
                            </m:r>
                            <m:r>
                              <a:rPr lang="en-US" altLang="zh-CN" b="0" i="1" smtClean="0">
                                <a:latin typeface="Cambria Math" panose="02040503050406030204" pitchFamily="18" charset="0"/>
                              </a:rPr>
                              <m:t>2</m:t>
                            </m:r>
                            <m:r>
                              <a:rPr lang="en-US" altLang="zh-CN" i="1">
                                <a:latin typeface="Cambria Math" panose="02040503050406030204" pitchFamily="18" charset="0"/>
                              </a:rPr>
                              <m:t>𝑟𝑡</m:t>
                            </m:r>
                          </m:sup>
                        </m:sSup>
                        <m:r>
                          <a:rPr lang="en-US" altLang="zh-CN" i="1">
                            <a:latin typeface="Cambria Math" panose="02040503050406030204" pitchFamily="18" charset="0"/>
                          </a:rPr>
                          <m:t>+</m:t>
                        </m:r>
                        <m:sSup>
                          <m:sSupPr>
                            <m:ctrlPr>
                              <a:rPr lang="en-US" altLang="zh-CN" i="1">
                                <a:latin typeface="Cambria Math" panose="02040503050406030204" pitchFamily="18" charset="0"/>
                              </a:rPr>
                            </m:ctrlPr>
                          </m:sSupPr>
                          <m:e>
                            <m:r>
                              <a:rPr lang="en-US" altLang="zh-CN" i="1">
                                <a:latin typeface="Cambria Math" panose="02040503050406030204" pitchFamily="18" charset="0"/>
                              </a:rPr>
                              <m:t>𝑒</m:t>
                            </m:r>
                          </m:e>
                          <m:sup>
                            <m:r>
                              <a:rPr lang="en-US" altLang="zh-CN" i="1">
                                <a:latin typeface="Cambria Math" panose="02040503050406030204" pitchFamily="18" charset="0"/>
                              </a:rPr>
                              <m:t>−</m:t>
                            </m:r>
                            <m:r>
                              <a:rPr lang="en-US" altLang="zh-CN" b="0" i="1" smtClean="0">
                                <a:latin typeface="Cambria Math" panose="02040503050406030204" pitchFamily="18" charset="0"/>
                              </a:rPr>
                              <m:t>3</m:t>
                            </m:r>
                            <m:r>
                              <a:rPr lang="en-US" altLang="zh-CN" i="1">
                                <a:latin typeface="Cambria Math" panose="02040503050406030204" pitchFamily="18" charset="0"/>
                              </a:rPr>
                              <m:t>𝑟𝑡</m:t>
                            </m:r>
                          </m:sup>
                        </m:sSup>
                        <m:r>
                          <a:rPr lang="en-US" altLang="zh-CN" i="1">
                            <a:latin typeface="Cambria Math" panose="02040503050406030204" pitchFamily="18" charset="0"/>
                          </a:rPr>
                          <m:t>+…</m:t>
                        </m:r>
                      </m:e>
                    </m:d>
                  </m:oMath>
                </a14:m>
                <a:endParaRPr lang="en-US" altLang="zh-CN" b="0" i="1" dirty="0">
                  <a:latin typeface="Cambria Math" panose="02040503050406030204" pitchFamily="18" charset="0"/>
                </a:endParaRPr>
              </a:p>
              <a:p>
                <a14:m>
                  <m:oMath xmlns:m="http://schemas.openxmlformats.org/officeDocument/2006/math">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i="1">
                            <a:latin typeface="Cambria Math" panose="02040503050406030204" pitchFamily="18" charset="0"/>
                          </a:rPr>
                          <m:t>𝑃𝑄</m:t>
                        </m:r>
                        <m:d>
                          <m:dPr>
                            <m:ctrlPr>
                              <a:rPr lang="en-US" altLang="zh-CN" i="1">
                                <a:latin typeface="Cambria Math" panose="02040503050406030204" pitchFamily="18" charset="0"/>
                              </a:rPr>
                            </m:ctrlPr>
                          </m:dPr>
                          <m:e>
                            <m:r>
                              <a:rPr lang="en-US" altLang="zh-CN" i="1">
                                <a:latin typeface="Cambria Math" panose="02040503050406030204" pitchFamily="18" charset="0"/>
                              </a:rPr>
                              <m:t>𝑡</m:t>
                            </m:r>
                            <m:r>
                              <a:rPr lang="en-US" altLang="zh-CN" i="1">
                                <a:latin typeface="Cambria Math" panose="02040503050406030204" pitchFamily="18" charset="0"/>
                              </a:rPr>
                              <m:t>,</m:t>
                            </m:r>
                            <m:r>
                              <a:rPr lang="en-US" altLang="zh-CN" i="1">
                                <a:latin typeface="Cambria Math" panose="02040503050406030204" pitchFamily="18" charset="0"/>
                              </a:rPr>
                              <m:t>𝐸</m:t>
                            </m:r>
                          </m:e>
                        </m:d>
                        <m:sSup>
                          <m:sSupPr>
                            <m:ctrlPr>
                              <a:rPr lang="en-US" altLang="zh-CN" i="1">
                                <a:latin typeface="Cambria Math" panose="02040503050406030204" pitchFamily="18" charset="0"/>
                              </a:rPr>
                            </m:ctrlPr>
                          </m:sSupPr>
                          <m:e>
                            <m:r>
                              <a:rPr lang="en-US" altLang="zh-CN" i="1">
                                <a:latin typeface="Cambria Math" panose="02040503050406030204" pitchFamily="18" charset="0"/>
                              </a:rPr>
                              <m:t>𝑒</m:t>
                            </m:r>
                          </m:e>
                          <m:sup>
                            <m:r>
                              <a:rPr lang="en-US" altLang="zh-CN" i="1">
                                <a:latin typeface="Cambria Math" panose="02040503050406030204" pitchFamily="18" charset="0"/>
                              </a:rPr>
                              <m:t>−</m:t>
                            </m:r>
                            <m:r>
                              <a:rPr lang="en-US" altLang="zh-CN" i="1">
                                <a:latin typeface="Cambria Math" panose="02040503050406030204" pitchFamily="18" charset="0"/>
                              </a:rPr>
                              <m:t>𝑟𝑡</m:t>
                            </m:r>
                          </m:sup>
                        </m:sSup>
                        <m:r>
                          <a:rPr lang="en-US" altLang="zh-CN" i="1">
                            <a:latin typeface="Cambria Math" panose="02040503050406030204" pitchFamily="18" charset="0"/>
                          </a:rPr>
                          <m:t>−</m:t>
                        </m:r>
                        <m:r>
                          <a:rPr lang="en-US" altLang="zh-CN" i="1">
                            <a:latin typeface="Cambria Math" panose="02040503050406030204" pitchFamily="18" charset="0"/>
                          </a:rPr>
                          <m:t>𝑤𝐸</m:t>
                        </m:r>
                      </m:num>
                      <m:den>
                        <m:r>
                          <a:rPr lang="en-US" altLang="zh-CN" b="0" i="1" smtClean="0">
                            <a:latin typeface="Cambria Math" panose="02040503050406030204" pitchFamily="18" charset="0"/>
                          </a:rPr>
                          <m:t>1−</m:t>
                        </m:r>
                        <m:sSup>
                          <m:sSupPr>
                            <m:ctrlPr>
                              <a:rPr lang="en-US" altLang="zh-CN" b="0" i="1" smtClean="0">
                                <a:latin typeface="Cambria Math" panose="02040503050406030204" pitchFamily="18" charset="0"/>
                              </a:rPr>
                            </m:ctrlPr>
                          </m:sSupPr>
                          <m:e>
                            <m:r>
                              <a:rPr lang="en-US" altLang="zh-CN" i="1">
                                <a:latin typeface="Cambria Math" panose="02040503050406030204" pitchFamily="18" charset="0"/>
                              </a:rPr>
                              <m:t>𝑒</m:t>
                            </m:r>
                          </m:e>
                          <m:sup>
                            <m:r>
                              <a:rPr lang="en-US" altLang="zh-CN" b="0" i="1" smtClean="0">
                                <a:latin typeface="Cambria Math" panose="02040503050406030204" pitchFamily="18" charset="0"/>
                              </a:rPr>
                              <m:t>−</m:t>
                            </m:r>
                            <m:r>
                              <a:rPr lang="en-US" altLang="zh-CN" b="0" i="1" smtClean="0">
                                <a:latin typeface="Cambria Math" panose="02040503050406030204" pitchFamily="18" charset="0"/>
                              </a:rPr>
                              <m:t>𝑟𝑡</m:t>
                            </m:r>
                          </m:sup>
                        </m:sSup>
                      </m:den>
                    </m:f>
                  </m:oMath>
                </a14:m>
                <a:endParaRPr lang="en-US" altLang="zh-CN" i="1" dirty="0">
                  <a:latin typeface="Cambria Math" panose="02040503050406030204" pitchFamily="18" charset="0"/>
                </a:endParaRPr>
              </a:p>
              <a:p>
                <a:r>
                  <a:rPr lang="zh-CN" altLang="en-US" b="0" dirty="0">
                    <a:latin typeface="Cambria Math" panose="02040503050406030204" pitchFamily="18" charset="0"/>
                  </a:rPr>
                  <a:t>如果营林投资不能盈利，则不再进行任何造林投入，让林地自然再生，则有</a:t>
                </a:r>
                <a:endParaRPr lang="en-US" altLang="zh-CN" b="0" dirty="0">
                  <a:latin typeface="Cambria Math" panose="02040503050406030204" pitchFamily="18" charset="0"/>
                </a:endParaRPr>
              </a:p>
              <a:p>
                <a14:m>
                  <m:oMath xmlns:m="http://schemas.openxmlformats.org/officeDocument/2006/math">
                    <m:sSub>
                      <m:sSubPr>
                        <m:ctrlPr>
                          <a:rPr lang="en-US" altLang="zh-CN" b="0" i="1" smtClean="0">
                            <a:latin typeface="Cambria Math" panose="02040503050406030204" pitchFamily="18" charset="0"/>
                          </a:rPr>
                        </m:ctrlPr>
                      </m:sSubPr>
                      <m:e>
                        <m:r>
                          <a:rPr lang="en-US" altLang="zh-CN" i="1">
                            <a:latin typeface="Cambria Math" panose="02040503050406030204" pitchFamily="18" charset="0"/>
                          </a:rPr>
                          <m:t>𝑉</m:t>
                        </m:r>
                      </m:e>
                      <m:sub>
                        <m:r>
                          <a:rPr lang="en-US" altLang="zh-CN" b="0" i="1" smtClean="0">
                            <a:latin typeface="Cambria Math" panose="02040503050406030204" pitchFamily="18" charset="0"/>
                          </a:rPr>
                          <m:t>𝑠</m:t>
                        </m:r>
                      </m:sub>
                    </m:sSub>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𝑃𝑄</m:t>
                        </m:r>
                        <m:r>
                          <a:rPr lang="en-US" altLang="zh-CN" b="0" i="1" smtClean="0">
                            <a:latin typeface="Cambria Math" panose="02040503050406030204" pitchFamily="18" charset="0"/>
                          </a:rPr>
                          <m:t>(</m:t>
                        </m:r>
                        <m:r>
                          <a:rPr lang="en-US" altLang="zh-CN" b="0" i="1" smtClean="0">
                            <a:latin typeface="Cambria Math" panose="02040503050406030204" pitchFamily="18" charset="0"/>
                          </a:rPr>
                          <m:t>𝑡</m:t>
                        </m:r>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𝑒</m:t>
                            </m:r>
                          </m:e>
                          <m:sup>
                            <m:r>
                              <a:rPr lang="en-US" altLang="zh-CN" b="0" i="1" smtClean="0">
                                <a:latin typeface="Cambria Math" panose="02040503050406030204" pitchFamily="18" charset="0"/>
                              </a:rPr>
                              <m:t>−</m:t>
                            </m:r>
                            <m:r>
                              <a:rPr lang="en-US" altLang="zh-CN" b="0" i="1" smtClean="0">
                                <a:latin typeface="Cambria Math" panose="02040503050406030204" pitchFamily="18" charset="0"/>
                              </a:rPr>
                              <m:t>𝑟𝑡</m:t>
                            </m:r>
                          </m:sup>
                        </m:sSup>
                      </m:num>
                      <m:den>
                        <m:r>
                          <a:rPr lang="en-US" altLang="zh-CN" b="0" i="1" smtClean="0">
                            <a:latin typeface="Cambria Math" panose="02040503050406030204" pitchFamily="18" charset="0"/>
                          </a:rPr>
                          <m:t>1−</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𝑒</m:t>
                            </m:r>
                          </m:e>
                          <m:sup>
                            <m:r>
                              <a:rPr lang="en-US" altLang="zh-CN" b="0" i="1" smtClean="0">
                                <a:latin typeface="Cambria Math" panose="02040503050406030204" pitchFamily="18" charset="0"/>
                              </a:rPr>
                              <m:t>−</m:t>
                            </m:r>
                            <m:r>
                              <a:rPr lang="en-US" altLang="zh-CN" b="0" i="1" smtClean="0">
                                <a:latin typeface="Cambria Math" panose="02040503050406030204" pitchFamily="18" charset="0"/>
                              </a:rPr>
                              <m:t>𝑟𝑡</m:t>
                            </m:r>
                          </m:sup>
                        </m:sSup>
                      </m:den>
                    </m:f>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𝑃𝑄</m:t>
                        </m:r>
                        <m:r>
                          <a:rPr lang="en-US" altLang="zh-CN" b="0" i="1" smtClean="0">
                            <a:latin typeface="Cambria Math" panose="02040503050406030204" pitchFamily="18" charset="0"/>
                          </a:rPr>
                          <m:t>(</m:t>
                        </m:r>
                        <m:r>
                          <a:rPr lang="en-US" altLang="zh-CN" b="0" i="1" smtClean="0">
                            <a:latin typeface="Cambria Math" panose="02040503050406030204" pitchFamily="18" charset="0"/>
                          </a:rPr>
                          <m:t>𝑡</m:t>
                        </m:r>
                        <m:r>
                          <a:rPr lang="en-US" altLang="zh-CN" b="0" i="1" smtClean="0">
                            <a:latin typeface="Cambria Math" panose="02040503050406030204" pitchFamily="18" charset="0"/>
                          </a:rPr>
                          <m:t>)</m:t>
                        </m:r>
                      </m:num>
                      <m:den>
                        <m:sSup>
                          <m:sSupPr>
                            <m:ctrlPr>
                              <a:rPr lang="en-US" altLang="zh-CN" b="0" i="1" smtClean="0">
                                <a:latin typeface="Cambria Math" panose="02040503050406030204" pitchFamily="18" charset="0"/>
                              </a:rPr>
                            </m:ctrlPr>
                          </m:sSupPr>
                          <m:e>
                            <m:r>
                              <a:rPr lang="en-US" altLang="zh-CN" i="1">
                                <a:latin typeface="Cambria Math" panose="02040503050406030204" pitchFamily="18" charset="0"/>
                              </a:rPr>
                              <m:t>𝑒</m:t>
                            </m:r>
                          </m:e>
                          <m:sup>
                            <m:r>
                              <a:rPr lang="en-US" altLang="zh-CN" b="0" i="1" smtClean="0">
                                <a:latin typeface="Cambria Math" panose="02040503050406030204" pitchFamily="18" charset="0"/>
                              </a:rPr>
                              <m:t>𝑟𝑡</m:t>
                            </m:r>
                          </m:sup>
                        </m:sSup>
                        <m:r>
                          <a:rPr lang="en-US" altLang="zh-CN" b="0" i="1" smtClean="0">
                            <a:latin typeface="Cambria Math" panose="02040503050406030204" pitchFamily="18" charset="0"/>
                          </a:rPr>
                          <m:t>−1</m:t>
                        </m:r>
                      </m:den>
                    </m:f>
                  </m:oMath>
                </a14:m>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0">
                <a:blip r:embed="rId2"/>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97108957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其它变形</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normAutofit/>
              </a:bodyPr>
              <a:lstStyle/>
              <a:p>
                <a:r>
                  <a:rPr lang="zh-CN" altLang="en-US" dirty="0"/>
                  <a:t>如果一块林地已经有树木在生长</a:t>
                </a:r>
                <a:endParaRPr lang="en-US" altLang="zh-CN" dirty="0"/>
              </a:p>
              <a:p>
                <a:r>
                  <a:rPr lang="zh-CN" altLang="en-US" dirty="0"/>
                  <a:t>需要加上这些树木的价值并乘以贴现因子 </a:t>
                </a:r>
                <a:r>
                  <a:rPr lang="en-US" altLang="zh-CN" dirty="0"/>
                  <a:t>e</a:t>
                </a:r>
                <a:r>
                  <a:rPr lang="en-US" altLang="zh-CN" baseline="30000" dirty="0"/>
                  <a:t>-</a:t>
                </a:r>
                <a:r>
                  <a:rPr lang="en-US" altLang="zh-CN" baseline="30000" dirty="0" err="1"/>
                  <a:t>rt</a:t>
                </a:r>
                <a:endParaRPr lang="en-US" altLang="zh-CN" baseline="30000" dirty="0"/>
              </a:p>
              <a:p>
                <a:r>
                  <a:rPr lang="zh-CN" altLang="en-US" dirty="0"/>
                  <a:t>假定</a:t>
                </a:r>
                <a:r>
                  <a:rPr lang="en-US" altLang="zh-CN" dirty="0"/>
                  <a:t>x</a:t>
                </a:r>
                <a:r>
                  <a:rPr lang="zh-CN" altLang="en-US" dirty="0"/>
                  <a:t>为林地上的树木达到成材出售时所需的年限，则有幼林在林地上生长时的土地价值计算公式为：</a:t>
                </a:r>
                <a:endParaRPr lang="en-US" altLang="zh-CN" dirty="0"/>
              </a:p>
              <a:p>
                <a14:m>
                  <m:oMath xmlns:m="http://schemas.openxmlformats.org/officeDocument/2006/math">
                    <m:r>
                      <a:rPr lang="en-US" altLang="zh-CN" b="0" i="1" smtClean="0">
                        <a:latin typeface="Cambria Math" panose="02040503050406030204" pitchFamily="18" charset="0"/>
                      </a:rPr>
                      <m:t>𝑉</m:t>
                    </m:r>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1</m:t>
                        </m:r>
                      </m:num>
                      <m:den>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𝑒</m:t>
                            </m:r>
                          </m:e>
                          <m:sup>
                            <m:r>
                              <a:rPr lang="en-US" altLang="zh-CN" b="0" i="1" smtClean="0">
                                <a:latin typeface="Cambria Math" panose="02040503050406030204" pitchFamily="18" charset="0"/>
                              </a:rPr>
                              <m:t>𝑟𝑥</m:t>
                            </m:r>
                          </m:sup>
                        </m:sSup>
                      </m:den>
                    </m:f>
                    <m:r>
                      <a:rPr lang="en-US" altLang="zh-CN" b="0" i="1" smtClean="0">
                        <a:latin typeface="Cambria Math" panose="02040503050406030204" pitchFamily="18" charset="0"/>
                      </a:rPr>
                      <m:t>[</m:t>
                    </m:r>
                    <m:r>
                      <a:rPr lang="en-US" altLang="zh-CN" i="1">
                        <a:latin typeface="Cambria Math" panose="02040503050406030204" pitchFamily="18" charset="0"/>
                      </a:rPr>
                      <m:t>𝑃𝑄</m:t>
                    </m:r>
                    <m:d>
                      <m:dPr>
                        <m:ctrlPr>
                          <a:rPr lang="en-US" altLang="zh-CN" i="1">
                            <a:latin typeface="Cambria Math" panose="02040503050406030204" pitchFamily="18" charset="0"/>
                          </a:rPr>
                        </m:ctrlPr>
                      </m:dPr>
                      <m:e>
                        <m:r>
                          <a:rPr lang="en-US" altLang="zh-CN" i="1">
                            <a:latin typeface="Cambria Math" panose="02040503050406030204" pitchFamily="18" charset="0"/>
                          </a:rPr>
                          <m:t>𝑡</m:t>
                        </m:r>
                        <m:r>
                          <a:rPr lang="en-US" altLang="zh-CN" i="1">
                            <a:latin typeface="Cambria Math" panose="02040503050406030204" pitchFamily="18" charset="0"/>
                          </a:rPr>
                          <m:t>,</m:t>
                        </m:r>
                        <m:r>
                          <a:rPr lang="en-US" altLang="zh-CN" i="1">
                            <a:latin typeface="Cambria Math" panose="02040503050406030204" pitchFamily="18" charset="0"/>
                          </a:rPr>
                          <m:t>𝐸</m:t>
                        </m:r>
                      </m:e>
                    </m:d>
                  </m:oMath>
                </a14:m>
                <a:r>
                  <a:rPr lang="en-US" altLang="zh-CN" dirty="0"/>
                  <a:t>+</a:t>
                </a:r>
                <a14:m>
                  <m:oMath xmlns:m="http://schemas.openxmlformats.org/officeDocument/2006/math">
                    <m:f>
                      <m:fPr>
                        <m:ctrlPr>
                          <a:rPr lang="en-US" altLang="zh-CN" i="1">
                            <a:latin typeface="Cambria Math" panose="02040503050406030204" pitchFamily="18" charset="0"/>
                          </a:rPr>
                        </m:ctrlPr>
                      </m:fPr>
                      <m:num>
                        <m:r>
                          <a:rPr lang="en-US" altLang="zh-CN" i="1">
                            <a:latin typeface="Cambria Math" panose="02040503050406030204" pitchFamily="18" charset="0"/>
                          </a:rPr>
                          <m:t>𝑃𝑄</m:t>
                        </m:r>
                        <m:d>
                          <m:dPr>
                            <m:ctrlPr>
                              <a:rPr lang="en-US" altLang="zh-CN" i="1">
                                <a:latin typeface="Cambria Math" panose="02040503050406030204" pitchFamily="18" charset="0"/>
                              </a:rPr>
                            </m:ctrlPr>
                          </m:dPr>
                          <m:e>
                            <m:r>
                              <a:rPr lang="en-US" altLang="zh-CN" i="1">
                                <a:latin typeface="Cambria Math" panose="02040503050406030204" pitchFamily="18" charset="0"/>
                              </a:rPr>
                              <m:t>𝑡</m:t>
                            </m:r>
                            <m:r>
                              <a:rPr lang="en-US" altLang="zh-CN" i="1">
                                <a:latin typeface="Cambria Math" panose="02040503050406030204" pitchFamily="18" charset="0"/>
                              </a:rPr>
                              <m:t>,</m:t>
                            </m:r>
                            <m:r>
                              <a:rPr lang="en-US" altLang="zh-CN" i="1">
                                <a:latin typeface="Cambria Math" panose="02040503050406030204" pitchFamily="18" charset="0"/>
                              </a:rPr>
                              <m:t>𝐸</m:t>
                            </m:r>
                          </m:e>
                        </m:d>
                        <m:sSup>
                          <m:sSupPr>
                            <m:ctrlPr>
                              <a:rPr lang="en-US" altLang="zh-CN" i="1">
                                <a:latin typeface="Cambria Math" panose="02040503050406030204" pitchFamily="18" charset="0"/>
                              </a:rPr>
                            </m:ctrlPr>
                          </m:sSupPr>
                          <m:e>
                            <m:r>
                              <a:rPr lang="en-US" altLang="zh-CN" i="1">
                                <a:latin typeface="Cambria Math" panose="02040503050406030204" pitchFamily="18" charset="0"/>
                              </a:rPr>
                              <m:t>𝑒</m:t>
                            </m:r>
                          </m:e>
                          <m:sup>
                            <m:r>
                              <a:rPr lang="en-US" altLang="zh-CN" i="1">
                                <a:latin typeface="Cambria Math" panose="02040503050406030204" pitchFamily="18" charset="0"/>
                              </a:rPr>
                              <m:t>−</m:t>
                            </m:r>
                            <m:r>
                              <a:rPr lang="en-US" altLang="zh-CN" i="1">
                                <a:latin typeface="Cambria Math" panose="02040503050406030204" pitchFamily="18" charset="0"/>
                              </a:rPr>
                              <m:t>𝑟𝑡</m:t>
                            </m:r>
                          </m:sup>
                        </m:sSup>
                        <m:r>
                          <a:rPr lang="en-US" altLang="zh-CN" i="1">
                            <a:latin typeface="Cambria Math" panose="02040503050406030204" pitchFamily="18" charset="0"/>
                          </a:rPr>
                          <m:t>−</m:t>
                        </m:r>
                        <m:r>
                          <a:rPr lang="en-US" altLang="zh-CN" i="1">
                            <a:latin typeface="Cambria Math" panose="02040503050406030204" pitchFamily="18" charset="0"/>
                          </a:rPr>
                          <m:t>𝑤𝐸</m:t>
                        </m:r>
                      </m:num>
                      <m:den>
                        <m:r>
                          <a:rPr lang="en-US" altLang="zh-CN" i="1">
                            <a:latin typeface="Cambria Math" panose="02040503050406030204" pitchFamily="18" charset="0"/>
                          </a:rPr>
                          <m:t>1−</m:t>
                        </m:r>
                        <m:sSup>
                          <m:sSupPr>
                            <m:ctrlPr>
                              <a:rPr lang="en-US" altLang="zh-CN" i="1">
                                <a:latin typeface="Cambria Math" panose="02040503050406030204" pitchFamily="18" charset="0"/>
                              </a:rPr>
                            </m:ctrlPr>
                          </m:sSupPr>
                          <m:e>
                            <m:r>
                              <a:rPr lang="en-US" altLang="zh-CN" i="1">
                                <a:latin typeface="Cambria Math" panose="02040503050406030204" pitchFamily="18" charset="0"/>
                              </a:rPr>
                              <m:t>𝑒</m:t>
                            </m:r>
                          </m:e>
                          <m:sup>
                            <m:r>
                              <a:rPr lang="en-US" altLang="zh-CN" i="1">
                                <a:latin typeface="Cambria Math" panose="02040503050406030204" pitchFamily="18" charset="0"/>
                              </a:rPr>
                              <m:t>−</m:t>
                            </m:r>
                            <m:r>
                              <a:rPr lang="en-US" altLang="zh-CN" i="1">
                                <a:latin typeface="Cambria Math" panose="02040503050406030204" pitchFamily="18" charset="0"/>
                              </a:rPr>
                              <m:t>𝑟𝑡</m:t>
                            </m:r>
                          </m:sup>
                        </m:sSup>
                      </m:den>
                    </m:f>
                  </m:oMath>
                </a14:m>
                <a:r>
                  <a:rPr lang="en-US" altLang="zh-CN" dirty="0"/>
                  <a:t>]</a:t>
                </a:r>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3"/>
                <a:stretch>
                  <a:fillRect l="-2579" r="-830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内容占位符 2"/>
              <p:cNvSpPr>
                <a:spLocks noGrp="1"/>
              </p:cNvSpPr>
              <p:nvPr>
                <p:ph sz="quarter" idx="10"/>
              </p:nvPr>
            </p:nvSpPr>
            <p:spPr/>
            <p:txBody>
              <a:bodyPr/>
              <a:lstStyle/>
              <a:p>
                <a:r>
                  <a:rPr lang="zh-CN" altLang="en-US" dirty="0"/>
                  <a:t>如果按照政府要求，存在再造林成本但是没有绿化成本</a:t>
                </a:r>
                <a:endParaRPr lang="en-US" altLang="zh-CN" dirty="0"/>
              </a:p>
              <a:p>
                <a:r>
                  <a:rPr lang="zh-CN" altLang="en-US" dirty="0"/>
                  <a:t>则有</a:t>
                </a:r>
                <a:endParaRPr lang="en-US" altLang="zh-CN" dirty="0"/>
              </a:p>
              <a:p>
                <a14:m>
                  <m:oMath xmlns:m="http://schemas.openxmlformats.org/officeDocument/2006/math">
                    <m:sSub>
                      <m:sSubPr>
                        <m:ctrlPr>
                          <a:rPr lang="en-US" altLang="zh-CN" b="0" i="1" smtClean="0">
                            <a:latin typeface="Cambria Math" panose="02040503050406030204" pitchFamily="18" charset="0"/>
                          </a:rPr>
                        </m:ctrlPr>
                      </m:sSubPr>
                      <m:e>
                        <m:r>
                          <a:rPr lang="en-US" altLang="zh-CN" i="1">
                            <a:latin typeface="Cambria Math" panose="02040503050406030204" pitchFamily="18" charset="0"/>
                          </a:rPr>
                          <m:t>𝑉</m:t>
                        </m:r>
                      </m:e>
                      <m:sub>
                        <m:r>
                          <a:rPr lang="en-US" altLang="zh-CN" b="0" i="1" smtClean="0">
                            <a:latin typeface="Cambria Math" panose="02040503050406030204" pitchFamily="18" charset="0"/>
                          </a:rPr>
                          <m:t>𝑠</m:t>
                        </m:r>
                      </m:sub>
                    </m:sSub>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𝑃𝑄</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𝑡</m:t>
                                </m:r>
                                <m:r>
                                  <a:rPr lang="en-US" altLang="zh-CN" b="0" i="1" smtClean="0">
                                    <a:latin typeface="Cambria Math" panose="02040503050406030204" pitchFamily="18" charset="0"/>
                                  </a:rPr>
                                  <m:t>,</m:t>
                                </m:r>
                                <m:r>
                                  <a:rPr lang="en-US" altLang="zh-CN" b="0" i="1" smtClean="0">
                                    <a:latin typeface="Cambria Math" panose="02040503050406030204" pitchFamily="18" charset="0"/>
                                  </a:rPr>
                                  <m:t>𝐸</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𝑤𝐸</m:t>
                            </m:r>
                          </m:e>
                        </m:d>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𝑒</m:t>
                            </m:r>
                          </m:e>
                          <m:sup>
                            <m:r>
                              <a:rPr lang="en-US" altLang="zh-CN" b="0" i="1" smtClean="0">
                                <a:latin typeface="Cambria Math" panose="02040503050406030204" pitchFamily="18" charset="0"/>
                              </a:rPr>
                              <m:t>−</m:t>
                            </m:r>
                            <m:r>
                              <a:rPr lang="en-US" altLang="zh-CN" b="0" i="1" smtClean="0">
                                <a:latin typeface="Cambria Math" panose="02040503050406030204" pitchFamily="18" charset="0"/>
                              </a:rPr>
                              <m:t>𝑟𝑡</m:t>
                            </m:r>
                          </m:sup>
                        </m:sSup>
                      </m:num>
                      <m:den>
                        <m:r>
                          <a:rPr lang="en-US" altLang="zh-CN" b="0" i="1" smtClean="0">
                            <a:latin typeface="Cambria Math" panose="02040503050406030204" pitchFamily="18" charset="0"/>
                          </a:rPr>
                          <m:t>1−</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𝑒</m:t>
                            </m:r>
                          </m:e>
                          <m:sup>
                            <m:r>
                              <a:rPr lang="en-US" altLang="zh-CN" b="0" i="1" smtClean="0">
                                <a:latin typeface="Cambria Math" panose="02040503050406030204" pitchFamily="18" charset="0"/>
                              </a:rPr>
                              <m:t>−</m:t>
                            </m:r>
                            <m:r>
                              <a:rPr lang="en-US" altLang="zh-CN" b="0" i="1" smtClean="0">
                                <a:latin typeface="Cambria Math" panose="02040503050406030204" pitchFamily="18" charset="0"/>
                              </a:rPr>
                              <m:t>𝑟𝑡</m:t>
                            </m:r>
                          </m:sup>
                        </m:sSup>
                      </m:den>
                    </m:f>
                  </m:oMath>
                </a14:m>
                <a:endParaRPr lang="en-US" altLang="zh-CN" dirty="0"/>
              </a:p>
              <a:p>
                <a:r>
                  <a:rPr lang="en-US" altLang="zh-CN" dirty="0"/>
                  <a:t>=</a:t>
                </a:r>
                <a14:m>
                  <m:oMath xmlns:m="http://schemas.openxmlformats.org/officeDocument/2006/math">
                    <m:f>
                      <m:fPr>
                        <m:ctrlPr>
                          <a:rPr lang="en-US" altLang="zh-CN" i="1" smtClean="0">
                            <a:latin typeface="Cambria Math" panose="02040503050406030204" pitchFamily="18" charset="0"/>
                          </a:rPr>
                        </m:ctrlPr>
                      </m:fPr>
                      <m:num>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𝑃𝑄</m:t>
                            </m:r>
                            <m:d>
                              <m:dPr>
                                <m:ctrlPr>
                                  <a:rPr lang="en-US" altLang="zh-CN" i="1">
                                    <a:latin typeface="Cambria Math" panose="02040503050406030204" pitchFamily="18" charset="0"/>
                                  </a:rPr>
                                </m:ctrlPr>
                              </m:dPr>
                              <m:e>
                                <m:r>
                                  <a:rPr lang="en-US" altLang="zh-CN" i="1">
                                    <a:latin typeface="Cambria Math" panose="02040503050406030204" pitchFamily="18" charset="0"/>
                                  </a:rPr>
                                  <m:t>𝑡</m:t>
                                </m:r>
                                <m:r>
                                  <a:rPr lang="en-US" altLang="zh-CN" i="1">
                                    <a:latin typeface="Cambria Math" panose="02040503050406030204" pitchFamily="18" charset="0"/>
                                  </a:rPr>
                                  <m:t>,</m:t>
                                </m:r>
                                <m:r>
                                  <a:rPr lang="en-US" altLang="zh-CN" i="1">
                                    <a:latin typeface="Cambria Math" panose="02040503050406030204" pitchFamily="18" charset="0"/>
                                  </a:rPr>
                                  <m:t>𝐸</m:t>
                                </m:r>
                              </m:e>
                            </m:d>
                            <m:r>
                              <a:rPr lang="en-US" altLang="zh-CN" i="1">
                                <a:latin typeface="Cambria Math" panose="02040503050406030204" pitchFamily="18" charset="0"/>
                              </a:rPr>
                              <m:t>−</m:t>
                            </m:r>
                            <m:r>
                              <a:rPr lang="en-US" altLang="zh-CN" i="1">
                                <a:latin typeface="Cambria Math" panose="02040503050406030204" pitchFamily="18" charset="0"/>
                              </a:rPr>
                              <m:t>𝑤𝐸</m:t>
                            </m:r>
                          </m:e>
                        </m:d>
                      </m:num>
                      <m:den>
                        <m:sSup>
                          <m:sSupPr>
                            <m:ctrlPr>
                              <a:rPr lang="en-US" altLang="zh-CN" i="1">
                                <a:latin typeface="Cambria Math" panose="02040503050406030204" pitchFamily="18" charset="0"/>
                              </a:rPr>
                            </m:ctrlPr>
                          </m:sSupPr>
                          <m:e>
                            <m:r>
                              <a:rPr lang="en-US" altLang="zh-CN" i="1">
                                <a:latin typeface="Cambria Math" panose="02040503050406030204" pitchFamily="18" charset="0"/>
                              </a:rPr>
                              <m:t>𝑒</m:t>
                            </m:r>
                          </m:e>
                          <m:sup>
                            <m:r>
                              <a:rPr lang="en-US" altLang="zh-CN" i="1">
                                <a:latin typeface="Cambria Math" panose="02040503050406030204" pitchFamily="18" charset="0"/>
                              </a:rPr>
                              <m:t>𝑟𝑡</m:t>
                            </m:r>
                          </m:sup>
                        </m:sSup>
                        <m:r>
                          <a:rPr lang="en-US" altLang="zh-CN" b="0" i="1" smtClean="0">
                            <a:latin typeface="Cambria Math" panose="02040503050406030204" pitchFamily="18" charset="0"/>
                          </a:rPr>
                          <m:t>−1</m:t>
                        </m:r>
                      </m:den>
                    </m:f>
                  </m:oMath>
                </a14:m>
                <a:endParaRPr lang="zh-CN" altLang="en-US" dirty="0"/>
              </a:p>
            </p:txBody>
          </p:sp>
        </mc:Choice>
        <mc:Fallback xmlns="">
          <p:sp>
            <p:nvSpPr>
              <p:cNvPr id="4" name="内容占位符 2"/>
              <p:cNvSpPr>
                <a:spLocks noGrp="1" noRot="1" noChangeAspect="1" noMove="1" noResize="1" noEditPoints="1" noAdjustHandles="1" noChangeArrowheads="1" noChangeShapeType="1" noTextEdit="1"/>
              </p:cNvSpPr>
              <p:nvPr>
                <p:ph idx="1"/>
              </p:nvPr>
            </p:nvSpPr>
            <p:spPr>
              <a:xfrm rot="900000">
                <a:off x="107757" y="1337638"/>
                <a:ext cx="4089717" cy="5077623"/>
              </a:xfrm>
              <a:blipFill rotWithShape="0">
                <a:blip r:embed="rId4"/>
                <a:stretch>
                  <a:fillRect l="-162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548183194"/>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rot="16200000">
            <a:off x="1948980" y="-1143505"/>
            <a:ext cx="5245402" cy="9144639"/>
          </a:xfrm>
          <a:prstGeom prst="rect">
            <a:avLst/>
          </a:prstGeom>
        </p:spPr>
      </p:pic>
    </p:spTree>
    <p:extLst>
      <p:ext uri="{BB962C8B-B14F-4D97-AF65-F5344CB8AC3E}">
        <p14:creationId xmlns:p14="http://schemas.microsoft.com/office/powerpoint/2010/main" val="955350893"/>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弗斯曼轮伐期</a:t>
            </a:r>
          </a:p>
        </p:txBody>
      </p:sp>
      <mc:AlternateContent xmlns:mc="http://schemas.openxmlformats.org/markup-compatibility/2006" xmlns:a14="http://schemas.microsoft.com/office/drawing/2010/main">
        <mc:Choice Requires="a14">
          <p:sp>
            <p:nvSpPr>
              <p:cNvPr id="3" name="内容占位符 2"/>
              <p:cNvSpPr>
                <a:spLocks noGrp="1"/>
              </p:cNvSpPr>
              <p:nvPr>
                <p:ph sz="half" idx="1"/>
              </p:nvPr>
            </p:nvSpPr>
            <p:spPr/>
            <p:txBody>
              <a:bodyPr>
                <a:normAutofit/>
              </a:bodyPr>
              <a:lstStyle/>
              <a:p>
                <a:r>
                  <a:rPr lang="zh-CN" altLang="en-US" dirty="0"/>
                  <a:t>取得土地期望值的必要条件</a:t>
                </a:r>
                <a:endParaRPr lang="en-US" altLang="zh-CN" dirty="0"/>
              </a:p>
              <a:p>
                <a:pPr>
                  <a:buFont typeface="Arial" panose="020B0604020202020204" pitchFamily="34" charset="0"/>
                  <a:buChar char="•"/>
                </a:pPr>
                <a:r>
                  <a:rPr lang="zh-CN" altLang="en-US" dirty="0"/>
                  <a:t>对</a:t>
                </a:r>
                <a:r>
                  <a:rPr lang="en-US" altLang="zh-CN" dirty="0"/>
                  <a:t>t</a:t>
                </a:r>
                <a:r>
                  <a:rPr lang="zh-CN" altLang="en-US" dirty="0"/>
                  <a:t>的偏导值</a:t>
                </a:r>
                <a:r>
                  <a:rPr lang="en-US" altLang="zh-CN" dirty="0"/>
                  <a:t>=0</a:t>
                </a:r>
                <a:r>
                  <a:rPr lang="zh-CN" altLang="en-US" dirty="0"/>
                  <a:t>时</a:t>
                </a:r>
                <a:endParaRPr lang="en-US" altLang="zh-CN" dirty="0"/>
              </a:p>
              <a:p>
                <a:pPr>
                  <a:buFont typeface="Arial" panose="020B0604020202020204" pitchFamily="34" charset="0"/>
                  <a:buChar char="•"/>
                </a:pPr>
                <a14:m>
                  <m:oMath xmlns:m="http://schemas.openxmlformats.org/officeDocument/2006/math">
                    <m:sSub>
                      <m:sSubPr>
                        <m:ctrlPr>
                          <a:rPr lang="en-US" altLang="zh-CN" b="0" i="1" smtClean="0">
                            <a:latin typeface="Cambria Math" panose="02040503050406030204" pitchFamily="18" charset="0"/>
                          </a:rPr>
                        </m:ctrlPr>
                      </m:sSubPr>
                      <m:e>
                        <m:r>
                          <a:rPr lang="en-US" altLang="zh-CN" i="1">
                            <a:latin typeface="Cambria Math" panose="02040503050406030204" pitchFamily="18" charset="0"/>
                          </a:rPr>
                          <m:t>𝑉</m:t>
                        </m:r>
                      </m:e>
                      <m:sub>
                        <m:r>
                          <a:rPr lang="en-US" altLang="zh-CN" b="0" i="1" smtClean="0">
                            <a:latin typeface="Cambria Math" panose="02040503050406030204" pitchFamily="18" charset="0"/>
                          </a:rPr>
                          <m:t>𝑡</m:t>
                        </m:r>
                      </m:sub>
                    </m:sSub>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𝑃</m:t>
                        </m:r>
                        <m:sSub>
                          <m:sSubPr>
                            <m:ctrlPr>
                              <a:rPr lang="en-US" altLang="zh-CN" b="0" i="1" smtClean="0">
                                <a:latin typeface="Cambria Math" panose="02040503050406030204" pitchFamily="18" charset="0"/>
                              </a:rPr>
                            </m:ctrlPr>
                          </m:sSubPr>
                          <m:e>
                            <m:r>
                              <a:rPr lang="en-US" altLang="zh-CN" i="1">
                                <a:latin typeface="Cambria Math" panose="02040503050406030204" pitchFamily="18" charset="0"/>
                              </a:rPr>
                              <m:t>𝑄</m:t>
                            </m:r>
                          </m:e>
                          <m:sub>
                            <m:r>
                              <a:rPr lang="en-US" altLang="zh-CN" b="0" i="1" smtClean="0">
                                <a:latin typeface="Cambria Math" panose="02040503050406030204" pitchFamily="18" charset="0"/>
                              </a:rPr>
                              <m:t>𝑡</m:t>
                            </m:r>
                          </m:sub>
                        </m:sSub>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1−</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𝑒</m:t>
                                </m:r>
                              </m:e>
                              <m:sup>
                                <m:r>
                                  <a:rPr lang="en-US" altLang="zh-CN" b="0" i="1" smtClean="0">
                                    <a:latin typeface="Cambria Math" panose="02040503050406030204" pitchFamily="18" charset="0"/>
                                  </a:rPr>
                                  <m:t>−</m:t>
                                </m:r>
                                <m:r>
                                  <a:rPr lang="en-US" altLang="zh-CN" b="0" i="1" smtClean="0">
                                    <a:latin typeface="Cambria Math" panose="02040503050406030204" pitchFamily="18" charset="0"/>
                                  </a:rPr>
                                  <m:t>𝑟𝑡</m:t>
                                </m:r>
                              </m:sup>
                            </m:sSup>
                          </m:e>
                        </m:d>
                        <m:r>
                          <a:rPr lang="en-US" altLang="zh-CN" b="0" i="0" smtClean="0">
                            <a:latin typeface="Cambria Math" panose="02040503050406030204" pitchFamily="18" charset="0"/>
                          </a:rPr>
                          <m:t>−</m:t>
                        </m:r>
                        <m:r>
                          <m:rPr>
                            <m:sty m:val="p"/>
                          </m:rPr>
                          <a:rPr lang="en-US" altLang="zh-CN" b="0" i="0" smtClean="0">
                            <a:latin typeface="Cambria Math" panose="02040503050406030204" pitchFamily="18" charset="0"/>
                          </a:rPr>
                          <m:t>rPQ</m:t>
                        </m:r>
                        <m:r>
                          <a:rPr lang="en-US" altLang="zh-CN" b="0" i="0" smtClean="0">
                            <a:latin typeface="Cambria Math" panose="02040503050406030204" pitchFamily="18" charset="0"/>
                          </a:rPr>
                          <m:t>+</m:t>
                        </m:r>
                        <m:r>
                          <m:rPr>
                            <m:sty m:val="p"/>
                          </m:rPr>
                          <a:rPr lang="en-US" altLang="zh-CN" b="0" i="0" smtClean="0">
                            <a:latin typeface="Cambria Math" panose="02040503050406030204" pitchFamily="18" charset="0"/>
                          </a:rPr>
                          <m:t>rwE</m:t>
                        </m:r>
                      </m:e>
                    </m:d>
                    <m:r>
                      <a:rPr lang="en-US" altLang="zh-CN" b="0" i="0" smtClean="0">
                        <a:latin typeface="Cambria Math" panose="02040503050406030204" pitchFamily="18" charset="0"/>
                      </a:rPr>
                      <m:t>]</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𝑒</m:t>
                        </m:r>
                      </m:e>
                      <m:sup>
                        <m:r>
                          <a:rPr lang="en-US" altLang="zh-CN" b="0" i="1" smtClean="0">
                            <a:latin typeface="Cambria Math" panose="02040503050406030204" pitchFamily="18" charset="0"/>
                          </a:rPr>
                          <m:t>−</m:t>
                        </m:r>
                        <m:r>
                          <a:rPr lang="en-US" altLang="zh-CN" b="0" i="1" smtClean="0">
                            <a:latin typeface="Cambria Math" panose="02040503050406030204" pitchFamily="18" charset="0"/>
                          </a:rPr>
                          <m:t>𝑟𝑡</m:t>
                        </m:r>
                      </m:sup>
                    </m:sSup>
                    <m:r>
                      <a:rPr lang="en-US" altLang="zh-CN" b="0" i="1" smtClean="0">
                        <a:latin typeface="Cambria Math" panose="02040503050406030204" pitchFamily="18" charset="0"/>
                      </a:rPr>
                      <m:t>(1−</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𝑒</m:t>
                        </m:r>
                      </m:e>
                      <m:sup>
                        <m:r>
                          <a:rPr lang="en-US" altLang="zh-CN" b="0" i="1" smtClean="0">
                            <a:latin typeface="Cambria Math" panose="02040503050406030204" pitchFamily="18" charset="0"/>
                          </a:rPr>
                          <m:t>−</m:t>
                        </m:r>
                        <m:r>
                          <a:rPr lang="en-US" altLang="zh-CN" b="0" i="1" smtClean="0">
                            <a:latin typeface="Cambria Math" panose="02040503050406030204" pitchFamily="18" charset="0"/>
                          </a:rPr>
                          <m:t>𝑟𝑡</m:t>
                        </m:r>
                      </m:sup>
                    </m:sSup>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m:t>
                        </m:r>
                      </m:e>
                      <m:sup>
                        <m:r>
                          <a:rPr lang="en-US" altLang="zh-CN" b="0" i="1" smtClean="0">
                            <a:latin typeface="Cambria Math" panose="02040503050406030204" pitchFamily="18" charset="0"/>
                          </a:rPr>
                          <m:t>−2</m:t>
                        </m:r>
                      </m:sup>
                    </m:sSup>
                    <m:r>
                      <a:rPr lang="en-US" altLang="zh-CN" b="0" i="1" smtClean="0">
                        <a:latin typeface="Cambria Math" panose="02040503050406030204" pitchFamily="18" charset="0"/>
                      </a:rPr>
                      <m:t>=0</m:t>
                    </m:r>
                  </m:oMath>
                </a14:m>
                <a:endParaRPr lang="en-US" altLang="zh-CN" b="0" dirty="0"/>
              </a:p>
            </p:txBody>
          </p:sp>
        </mc:Choice>
        <mc:Fallback xmlns="">
          <p:sp>
            <p:nvSpPr>
              <p:cNvPr id="3" name="内容占位符 2"/>
              <p:cNvSpPr>
                <a:spLocks noGrp="1" noRot="1" noChangeAspect="1" noMove="1" noResize="1" noEditPoints="1" noAdjustHandles="1" noChangeArrowheads="1" noChangeShapeType="1" noTextEdit="1"/>
              </p:cNvSpPr>
              <p:nvPr>
                <p:ph sz="half" idx="1"/>
              </p:nvPr>
            </p:nvSpPr>
            <p:spPr>
              <a:xfrm rot="-900000">
                <a:off x="292785" y="326757"/>
                <a:ext cx="5815227" cy="3028073"/>
              </a:xfrm>
              <a:blipFill rotWithShape="0">
                <a:blip r:embed="rId2"/>
                <a:stretch>
                  <a:fillRect l="-447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内容占位符 3"/>
              <p:cNvSpPr>
                <a:spLocks noGrp="1"/>
              </p:cNvSpPr>
              <p:nvPr>
                <p:ph sz="half" idx="2"/>
              </p:nvPr>
            </p:nvSpPr>
            <p:spPr/>
            <p:txBody>
              <a:bodyPr>
                <a:normAutofit/>
              </a:bodyPr>
              <a:lstStyle/>
              <a:p>
                <a:r>
                  <a:rPr lang="en-US" altLang="zh-CN" dirty="0"/>
                  <a:t>Vt</a:t>
                </a:r>
                <a:r>
                  <a:rPr lang="zh-CN" altLang="en-US" dirty="0"/>
                  <a:t>和</a:t>
                </a:r>
                <a:r>
                  <a:rPr lang="en-US" altLang="zh-CN" dirty="0" err="1"/>
                  <a:t>Qt</a:t>
                </a:r>
                <a:r>
                  <a:rPr lang="zh-CN" altLang="en-US" dirty="0"/>
                  <a:t>分别标识地价</a:t>
                </a:r>
                <a:r>
                  <a:rPr lang="en-US" altLang="zh-CN" dirty="0"/>
                  <a:t>Vs</a:t>
                </a:r>
                <a:r>
                  <a:rPr lang="zh-CN" altLang="en-US" dirty="0"/>
                  <a:t>和林木蓄积量</a:t>
                </a:r>
                <a:r>
                  <a:rPr lang="en-US" altLang="zh-CN" dirty="0"/>
                  <a:t>Q</a:t>
                </a:r>
                <a:r>
                  <a:rPr lang="zh-CN" altLang="en-US" dirty="0"/>
                  <a:t>对时间的导数</a:t>
                </a:r>
                <a:endParaRPr lang="en-US" altLang="zh-CN" dirty="0"/>
              </a:p>
              <a:p>
                <a:r>
                  <a:rPr lang="zh-CN" altLang="en-US" dirty="0"/>
                  <a:t>可简化为：</a:t>
                </a:r>
                <a14:m>
                  <m:oMath xmlns:m="http://schemas.openxmlformats.org/officeDocument/2006/math">
                    <m:f>
                      <m:fPr>
                        <m:ctrlPr>
                          <a:rPr lang="en-US" altLang="zh-CN" i="1" smtClean="0">
                            <a:latin typeface="Cambria Math" panose="02040503050406030204" pitchFamily="18" charset="0"/>
                          </a:rPr>
                        </m:ctrlPr>
                      </m:fPr>
                      <m:num>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𝑄</m:t>
                            </m:r>
                          </m:e>
                          <m:sub>
                            <m:r>
                              <a:rPr lang="en-US" altLang="zh-CN" b="0" i="1" smtClean="0">
                                <a:latin typeface="Cambria Math" panose="02040503050406030204" pitchFamily="18" charset="0"/>
                              </a:rPr>
                              <m:t>𝑡</m:t>
                            </m:r>
                          </m:sub>
                        </m:sSub>
                      </m:num>
                      <m:den>
                        <m:r>
                          <a:rPr lang="en-US" altLang="zh-CN" b="0" i="1" smtClean="0">
                            <a:latin typeface="Cambria Math" panose="02040503050406030204" pitchFamily="18" charset="0"/>
                          </a:rPr>
                          <m:t>𝑄</m:t>
                        </m:r>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𝑤𝐸</m:t>
                            </m:r>
                          </m:num>
                          <m:den>
                            <m:r>
                              <a:rPr lang="en-US" altLang="zh-CN" b="0" i="1" smtClean="0">
                                <a:latin typeface="Cambria Math" panose="02040503050406030204" pitchFamily="18" charset="0"/>
                              </a:rPr>
                              <m:t>𝑃</m:t>
                            </m:r>
                          </m:den>
                        </m:f>
                      </m:den>
                    </m:f>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𝑟</m:t>
                        </m:r>
                      </m:num>
                      <m:den>
                        <m:r>
                          <a:rPr lang="en-US" altLang="zh-CN" b="0" i="1" smtClean="0">
                            <a:latin typeface="Cambria Math" panose="02040503050406030204" pitchFamily="18" charset="0"/>
                          </a:rPr>
                          <m:t>1−</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𝑒</m:t>
                            </m:r>
                          </m:e>
                          <m:sup>
                            <m:r>
                              <a:rPr lang="en-US" altLang="zh-CN" b="0" i="1" smtClean="0">
                                <a:latin typeface="Cambria Math" panose="02040503050406030204" pitchFamily="18" charset="0"/>
                              </a:rPr>
                              <m:t>−</m:t>
                            </m:r>
                            <m:r>
                              <a:rPr lang="en-US" altLang="zh-CN" b="0" i="1" smtClean="0">
                                <a:latin typeface="Cambria Math" panose="02040503050406030204" pitchFamily="18" charset="0"/>
                              </a:rPr>
                              <m:t>𝑟𝑡</m:t>
                            </m:r>
                          </m:sup>
                        </m:sSup>
                      </m:den>
                    </m:f>
                  </m:oMath>
                </a14:m>
                <a:endParaRPr lang="en-US" altLang="zh-CN" dirty="0"/>
              </a:p>
              <a:p>
                <a:r>
                  <a:rPr lang="zh-CN" altLang="en-US" dirty="0"/>
                  <a:t>对天然林，有：</a:t>
                </a:r>
                <a:r>
                  <a:rPr lang="en-US" altLang="zh-CN" dirty="0" err="1"/>
                  <a:t>wE</a:t>
                </a:r>
                <a:r>
                  <a:rPr lang="en-US" altLang="zh-CN" dirty="0"/>
                  <a:t>=0</a:t>
                </a:r>
              </a:p>
              <a:p>
                <a:r>
                  <a:rPr lang="zh-CN" altLang="en-US" dirty="0"/>
                  <a:t>则：</a:t>
                </a:r>
                <a14:m>
                  <m:oMath xmlns:m="http://schemas.openxmlformats.org/officeDocument/2006/math">
                    <m:f>
                      <m:fPr>
                        <m:ctrlPr>
                          <a:rPr lang="en-US" altLang="zh-CN" i="1">
                            <a:latin typeface="Cambria Math" panose="02040503050406030204" pitchFamily="18" charset="0"/>
                          </a:rPr>
                        </m:ctrlPr>
                      </m:fPr>
                      <m:num>
                        <m:sSub>
                          <m:sSubPr>
                            <m:ctrlPr>
                              <a:rPr lang="en-US" altLang="zh-CN" i="1">
                                <a:latin typeface="Cambria Math" panose="02040503050406030204" pitchFamily="18" charset="0"/>
                              </a:rPr>
                            </m:ctrlPr>
                          </m:sSubPr>
                          <m:e>
                            <m:r>
                              <a:rPr lang="en-US" altLang="zh-CN" i="1">
                                <a:latin typeface="Cambria Math" panose="02040503050406030204" pitchFamily="18" charset="0"/>
                              </a:rPr>
                              <m:t>𝑄</m:t>
                            </m:r>
                          </m:e>
                          <m:sub>
                            <m:r>
                              <a:rPr lang="en-US" altLang="zh-CN" i="1">
                                <a:latin typeface="Cambria Math" panose="02040503050406030204" pitchFamily="18" charset="0"/>
                              </a:rPr>
                              <m:t>𝑡</m:t>
                            </m:r>
                          </m:sub>
                        </m:sSub>
                      </m:num>
                      <m:den>
                        <m:r>
                          <a:rPr lang="en-US" altLang="zh-CN" i="1">
                            <a:latin typeface="Cambria Math" panose="02040503050406030204" pitchFamily="18" charset="0"/>
                          </a:rPr>
                          <m:t>𝑄</m:t>
                        </m:r>
                      </m:den>
                    </m:f>
                    <m:r>
                      <a:rPr lang="en-US" altLang="zh-CN" i="1">
                        <a:latin typeface="Cambria Math" panose="02040503050406030204" pitchFamily="18" charset="0"/>
                      </a:rPr>
                      <m:t>=</m:t>
                    </m:r>
                    <m:f>
                      <m:fPr>
                        <m:ctrlPr>
                          <a:rPr lang="en-US" altLang="zh-CN" i="1">
                            <a:latin typeface="Cambria Math" panose="02040503050406030204" pitchFamily="18" charset="0"/>
                          </a:rPr>
                        </m:ctrlPr>
                      </m:fPr>
                      <m:num>
                        <m:r>
                          <a:rPr lang="en-US" altLang="zh-CN" i="1">
                            <a:latin typeface="Cambria Math" panose="02040503050406030204" pitchFamily="18" charset="0"/>
                          </a:rPr>
                          <m:t>𝑟</m:t>
                        </m:r>
                      </m:num>
                      <m:den>
                        <m:r>
                          <a:rPr lang="en-US" altLang="zh-CN" i="1">
                            <a:latin typeface="Cambria Math" panose="02040503050406030204" pitchFamily="18" charset="0"/>
                          </a:rPr>
                          <m:t>1−</m:t>
                        </m:r>
                        <m:sSup>
                          <m:sSupPr>
                            <m:ctrlPr>
                              <a:rPr lang="en-US" altLang="zh-CN" i="1">
                                <a:latin typeface="Cambria Math" panose="02040503050406030204" pitchFamily="18" charset="0"/>
                              </a:rPr>
                            </m:ctrlPr>
                          </m:sSupPr>
                          <m:e>
                            <m:r>
                              <a:rPr lang="en-US" altLang="zh-CN" i="1">
                                <a:latin typeface="Cambria Math" panose="02040503050406030204" pitchFamily="18" charset="0"/>
                              </a:rPr>
                              <m:t>𝑒</m:t>
                            </m:r>
                          </m:e>
                          <m:sup>
                            <m:r>
                              <a:rPr lang="en-US" altLang="zh-CN" i="1">
                                <a:latin typeface="Cambria Math" panose="02040503050406030204" pitchFamily="18" charset="0"/>
                              </a:rPr>
                              <m:t>−</m:t>
                            </m:r>
                            <m:r>
                              <a:rPr lang="en-US" altLang="zh-CN" i="1">
                                <a:latin typeface="Cambria Math" panose="02040503050406030204" pitchFamily="18" charset="0"/>
                              </a:rPr>
                              <m:t>𝑟𝑡</m:t>
                            </m:r>
                          </m:sup>
                        </m:sSup>
                      </m:den>
                    </m:f>
                  </m:oMath>
                </a14:m>
                <a:endParaRPr lang="zh-CN" altLang="en-US" dirty="0"/>
              </a:p>
            </p:txBody>
          </p:sp>
        </mc:Choice>
        <mc:Fallback xmlns="">
          <p:sp>
            <p:nvSpPr>
              <p:cNvPr id="4" name="内容占位符 3"/>
              <p:cNvSpPr>
                <a:spLocks noGrp="1" noRot="1" noChangeAspect="1" noMove="1" noResize="1" noEditPoints="1" noAdjustHandles="1" noChangeArrowheads="1" noChangeShapeType="1" noTextEdit="1"/>
              </p:cNvSpPr>
              <p:nvPr>
                <p:ph sz="half" idx="2"/>
              </p:nvPr>
            </p:nvSpPr>
            <p:spPr>
              <a:xfrm rot="-900000">
                <a:off x="331094" y="2827109"/>
                <a:ext cx="6591063" cy="3426231"/>
              </a:xfrm>
              <a:blipFill rotWithShape="0">
                <a:blip r:embed="rId3"/>
                <a:stretch>
                  <a:fillRect l="-3950" t="-485" b="-4126"/>
                </a:stretch>
              </a:blipFill>
            </p:spPr>
            <p:txBody>
              <a:bodyPr/>
              <a:lstStyle/>
              <a:p>
                <a:r>
                  <a:rPr lang="zh-CN" altLang="en-US">
                    <a:noFill/>
                  </a:rPr>
                  <a:t> </a:t>
                </a:r>
              </a:p>
            </p:txBody>
          </p:sp>
        </mc:Fallback>
      </mc:AlternateContent>
      <p:pic>
        <p:nvPicPr>
          <p:cNvPr id="5" name="图片 4">
            <a:hlinkClick r:id="rId4" action="ppaction://hlinksldjump"/>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flipH="1">
            <a:off x="6904751" y="4379803"/>
            <a:ext cx="1248537" cy="1219200"/>
          </a:xfrm>
          <a:prstGeom prst="rect">
            <a:avLst/>
          </a:prstGeom>
        </p:spPr>
      </p:pic>
    </p:spTree>
    <p:extLst>
      <p:ext uri="{BB962C8B-B14F-4D97-AF65-F5344CB8AC3E}">
        <p14:creationId xmlns:p14="http://schemas.microsoft.com/office/powerpoint/2010/main" val="369445313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Cutting Cycles for an Uneven-Aged Stand </a:t>
            </a:r>
            <a:endParaRPr lang="zh-CN" altLang="en-US" dirty="0"/>
          </a:p>
        </p:txBody>
      </p:sp>
      <p:sp>
        <p:nvSpPr>
          <p:cNvPr id="3" name="文本占位符 2"/>
          <p:cNvSpPr>
            <a:spLocks noGrp="1"/>
          </p:cNvSpPr>
          <p:nvPr>
            <p:ph type="body" idx="1"/>
          </p:nvPr>
        </p:nvSpPr>
        <p:spPr/>
        <p:txBody>
          <a:bodyPr/>
          <a:lstStyle/>
          <a:p>
            <a:r>
              <a:rPr lang="zh-CN" altLang="en-US" dirty="0"/>
              <a:t>异龄林分的采伐周期</a:t>
            </a:r>
          </a:p>
        </p:txBody>
      </p:sp>
    </p:spTree>
    <p:extLst>
      <p:ext uri="{BB962C8B-B14F-4D97-AF65-F5344CB8AC3E}">
        <p14:creationId xmlns:p14="http://schemas.microsoft.com/office/powerpoint/2010/main" val="296648569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a:effectLst/>
              </a:rPr>
              <a:t>uneven-aged stand</a:t>
            </a:r>
            <a:r>
              <a:rPr lang="en-US" altLang="zh-CN" dirty="0">
                <a:effectLst/>
              </a:rPr>
              <a:t> </a:t>
            </a:r>
            <a:endParaRPr lang="zh-CN" altLang="en-US" dirty="0"/>
          </a:p>
        </p:txBody>
      </p:sp>
      <p:sp>
        <p:nvSpPr>
          <p:cNvPr id="3" name="内容占位符 2"/>
          <p:cNvSpPr>
            <a:spLocks noGrp="1"/>
          </p:cNvSpPr>
          <p:nvPr>
            <p:ph idx="1"/>
          </p:nvPr>
        </p:nvSpPr>
        <p:spPr/>
        <p:txBody>
          <a:bodyPr/>
          <a:lstStyle/>
          <a:p>
            <a:r>
              <a:rPr lang="en-US" altLang="zh-CN" dirty="0">
                <a:effectLst/>
              </a:rPr>
              <a:t>Uneven-age management is an alternative that sustains the forest cover, provides income at more frequent intervals, minimizes regeneration costs and provides many wildlife habitat and recreational benefits.</a:t>
            </a:r>
          </a:p>
          <a:p>
            <a:r>
              <a:rPr lang="en-US" altLang="zh-CN" dirty="0">
                <a:effectLst/>
              </a:rPr>
              <a:t>An </a:t>
            </a:r>
            <a:r>
              <a:rPr lang="en-US" altLang="zh-CN" b="1" dirty="0">
                <a:effectLst/>
              </a:rPr>
              <a:t>uneven-aged stand</a:t>
            </a:r>
            <a:r>
              <a:rPr lang="en-US" altLang="zh-CN" dirty="0">
                <a:effectLst/>
              </a:rPr>
              <a:t> is a group of trees that differ significantly in ages; by convention, the spread of ages exceeds 25% of the planned life span for an age class.</a:t>
            </a:r>
            <a:endParaRPr lang="zh-CN" altLang="en-US" dirty="0"/>
          </a:p>
        </p:txBody>
      </p:sp>
    </p:spTree>
    <p:extLst>
      <p:ext uri="{BB962C8B-B14F-4D97-AF65-F5344CB8AC3E}">
        <p14:creationId xmlns:p14="http://schemas.microsoft.com/office/powerpoint/2010/main" val="347051175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如何计算异龄林的最佳采伐周期？</a:t>
            </a:r>
          </a:p>
        </p:txBody>
      </p:sp>
      <p:sp>
        <p:nvSpPr>
          <p:cNvPr id="3" name="内容占位符 2"/>
          <p:cNvSpPr>
            <a:spLocks noGrp="1"/>
          </p:cNvSpPr>
          <p:nvPr>
            <p:ph idx="1"/>
          </p:nvPr>
        </p:nvSpPr>
        <p:spPr/>
        <p:txBody>
          <a:bodyPr>
            <a:normAutofit/>
          </a:bodyPr>
          <a:lstStyle/>
          <a:p>
            <a:r>
              <a:rPr lang="zh-CN" altLang="en-US" dirty="0"/>
              <a:t>因此，和同龄林一样</a:t>
            </a:r>
            <a:endParaRPr lang="en-US" altLang="zh-CN" dirty="0"/>
          </a:p>
          <a:p>
            <a:r>
              <a:rPr lang="zh-CN" altLang="en-US" dirty="0"/>
              <a:t>异龄林应该保留的蓄积量、最佳产量和最佳采伐（间伐</a:t>
            </a:r>
            <a:r>
              <a:rPr lang="en-US" altLang="zh-CN" dirty="0"/>
              <a:t>thinning</a:t>
            </a:r>
            <a:r>
              <a:rPr lang="zh-CN" altLang="en-US" dirty="0"/>
              <a:t>）周期的经济学解释</a:t>
            </a:r>
            <a:endParaRPr lang="en-US" altLang="zh-CN" dirty="0"/>
          </a:p>
          <a:p>
            <a:r>
              <a:rPr lang="zh-CN" altLang="en-US" dirty="0"/>
              <a:t>同样依赖于“边际成本</a:t>
            </a:r>
            <a:r>
              <a:rPr lang="en-US" altLang="zh-CN" dirty="0"/>
              <a:t>=</a:t>
            </a:r>
            <a:r>
              <a:rPr lang="zh-CN" altLang="en-US" dirty="0"/>
              <a:t>边际效益”</a:t>
            </a:r>
            <a:endParaRPr lang="en-US" altLang="zh-CN" dirty="0"/>
          </a:p>
          <a:p>
            <a:r>
              <a:rPr lang="zh-CN" altLang="en-US" dirty="0"/>
              <a:t>推迟一年采伐所获得的额外收益</a:t>
            </a:r>
            <a:r>
              <a:rPr lang="en-US" altLang="zh-CN" dirty="0"/>
              <a:t>=</a:t>
            </a:r>
            <a:r>
              <a:rPr lang="zh-CN" altLang="en-US" dirty="0"/>
              <a:t>多保留该片土地和立木一年所产生的成本</a:t>
            </a:r>
          </a:p>
        </p:txBody>
      </p:sp>
      <p:sp>
        <p:nvSpPr>
          <p:cNvPr id="4" name="内容占位符 3"/>
          <p:cNvSpPr>
            <a:spLocks noGrp="1"/>
          </p:cNvSpPr>
          <p:nvPr>
            <p:ph sz="quarter" idx="10"/>
          </p:nvPr>
        </p:nvSpPr>
        <p:spPr/>
        <p:txBody>
          <a:bodyPr/>
          <a:lstStyle/>
          <a:p>
            <a:r>
              <a:rPr lang="zh-CN" altLang="en-US" dirty="0"/>
              <a:t>把每次异龄林部分砍伐后剩下的商品材视为再次造林的成本</a:t>
            </a:r>
            <a:endParaRPr lang="en-US" altLang="zh-CN" dirty="0"/>
          </a:p>
          <a:p>
            <a:r>
              <a:rPr lang="zh-CN" altLang="en-US" dirty="0"/>
              <a:t>那么异龄林的土地和森林价值的最大化的理论基础就和同龄林分的土地期望值（或者地价）是一致的</a:t>
            </a:r>
          </a:p>
        </p:txBody>
      </p:sp>
    </p:spTree>
    <p:extLst>
      <p:ext uri="{BB962C8B-B14F-4D97-AF65-F5344CB8AC3E}">
        <p14:creationId xmlns:p14="http://schemas.microsoft.com/office/powerpoint/2010/main" val="3904295683"/>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Comparisons with Other Rotation Criteria </a:t>
            </a:r>
            <a:endParaRPr lang="zh-CN" altLang="en-US" dirty="0"/>
          </a:p>
        </p:txBody>
      </p:sp>
      <p:sp>
        <p:nvSpPr>
          <p:cNvPr id="3" name="文本占位符 2"/>
          <p:cNvSpPr>
            <a:spLocks noGrp="1"/>
          </p:cNvSpPr>
          <p:nvPr>
            <p:ph type="body" idx="1"/>
          </p:nvPr>
        </p:nvSpPr>
        <p:spPr/>
        <p:txBody>
          <a:bodyPr/>
          <a:lstStyle/>
          <a:p>
            <a:r>
              <a:rPr lang="zh-CN" altLang="en-US" dirty="0"/>
              <a:t>其它轮伐周期比较</a:t>
            </a:r>
          </a:p>
        </p:txBody>
      </p:sp>
    </p:spTree>
    <p:extLst>
      <p:ext uri="{BB962C8B-B14F-4D97-AF65-F5344CB8AC3E}">
        <p14:creationId xmlns:p14="http://schemas.microsoft.com/office/powerpoint/2010/main" val="378556817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dirty="0"/>
              <a:t>三种其它轮伐周期</a:t>
            </a:r>
          </a:p>
        </p:txBody>
      </p:sp>
      <p:sp>
        <p:nvSpPr>
          <p:cNvPr id="6" name="内容占位符 5"/>
          <p:cNvSpPr>
            <a:spLocks noGrp="1"/>
          </p:cNvSpPr>
          <p:nvPr>
            <p:ph idx="1"/>
          </p:nvPr>
        </p:nvSpPr>
        <p:spPr/>
        <p:txBody>
          <a:bodyPr>
            <a:normAutofit/>
          </a:bodyPr>
          <a:lstStyle/>
          <a:p>
            <a:r>
              <a:rPr lang="zh-CN" altLang="en-US" dirty="0">
                <a:ln w="0"/>
                <a:solidFill>
                  <a:schemeClr val="accent6">
                    <a:lumMod val="75000"/>
                  </a:schemeClr>
                </a:solidFill>
                <a:effectLst>
                  <a:outerShdw blurRad="38100" dist="25400" dir="5400000" algn="ctr" rotWithShape="0">
                    <a:srgbClr val="6E747A">
                      <a:alpha val="43000"/>
                    </a:srgbClr>
                  </a:outerShdw>
                </a:effectLst>
              </a:rPr>
              <a:t>立木价值增长量最大化的采伐期</a:t>
            </a:r>
            <a:endParaRPr lang="en-US" altLang="zh-CN" dirty="0">
              <a:ln w="0"/>
              <a:solidFill>
                <a:schemeClr val="accent6">
                  <a:lumMod val="75000"/>
                </a:schemeClr>
              </a:solidFill>
              <a:effectLst>
                <a:outerShdw blurRad="38100" dist="25400" dir="5400000" algn="ctr" rotWithShape="0">
                  <a:srgbClr val="6E747A">
                    <a:alpha val="43000"/>
                  </a:srgbClr>
                </a:outerShdw>
              </a:effectLst>
            </a:endParaRPr>
          </a:p>
          <a:p>
            <a:pPr lvl="1"/>
            <a:r>
              <a:rPr lang="zh-CN" altLang="en-US" dirty="0"/>
              <a:t>“林租最大化”</a:t>
            </a:r>
            <a:endParaRPr lang="en-US" altLang="zh-CN" dirty="0"/>
          </a:p>
          <a:p>
            <a:pPr lvl="1"/>
            <a:r>
              <a:rPr lang="en-US" altLang="zh-CN" dirty="0"/>
              <a:t>S(t)/t</a:t>
            </a:r>
            <a:r>
              <a:rPr lang="zh-CN" altLang="en-US" dirty="0"/>
              <a:t>，也就是立木价值的年平均增长率最大化</a:t>
            </a:r>
            <a:endParaRPr lang="en-US" altLang="zh-CN" dirty="0"/>
          </a:p>
          <a:p>
            <a:pPr lvl="1"/>
            <a:r>
              <a:rPr lang="zh-CN" altLang="en-US" dirty="0"/>
              <a:t>忽略了资本和土地的机会成本</a:t>
            </a:r>
          </a:p>
        </p:txBody>
      </p:sp>
      <p:sp>
        <p:nvSpPr>
          <p:cNvPr id="7" name="内容占位符 6"/>
          <p:cNvSpPr>
            <a:spLocks noGrp="1"/>
          </p:cNvSpPr>
          <p:nvPr>
            <p:ph sz="quarter" idx="10"/>
          </p:nvPr>
        </p:nvSpPr>
        <p:spPr/>
        <p:txBody>
          <a:bodyPr/>
          <a:lstStyle/>
          <a:p>
            <a:r>
              <a:rPr lang="zh-CN" altLang="en-US" dirty="0">
                <a:ln w="0"/>
                <a:solidFill>
                  <a:schemeClr val="accent3">
                    <a:lumMod val="75000"/>
                  </a:schemeClr>
                </a:solidFill>
                <a:effectLst>
                  <a:outerShdw blurRad="38100" dist="25400" dir="5400000" algn="ctr" rotWithShape="0">
                    <a:srgbClr val="6E747A">
                      <a:alpha val="43000"/>
                    </a:srgbClr>
                  </a:outerShdw>
                </a:effectLst>
              </a:rPr>
              <a:t>木材生产量最大化的采伐期</a:t>
            </a:r>
            <a:endParaRPr lang="en-US" altLang="zh-CN" dirty="0">
              <a:ln w="0"/>
              <a:solidFill>
                <a:schemeClr val="accent3">
                  <a:lumMod val="75000"/>
                </a:schemeClr>
              </a:solidFill>
              <a:effectLst>
                <a:outerShdw blurRad="38100" dist="25400" dir="5400000" algn="ctr" rotWithShape="0">
                  <a:srgbClr val="6E747A">
                    <a:alpha val="43000"/>
                  </a:srgbClr>
                </a:outerShdw>
              </a:effectLst>
            </a:endParaRPr>
          </a:p>
          <a:p>
            <a:pPr lvl="1"/>
            <a:r>
              <a:rPr lang="zh-CN" altLang="en-US" dirty="0"/>
              <a:t>当木材的平均年增量（</a:t>
            </a:r>
            <a:r>
              <a:rPr lang="en-US" altLang="zh-CN" dirty="0"/>
              <a:t>MAI</a:t>
            </a:r>
            <a:r>
              <a:rPr lang="zh-CN" altLang="en-US" dirty="0"/>
              <a:t>）达到最大值时进行采伐</a:t>
            </a:r>
            <a:endParaRPr lang="en-US" altLang="zh-CN" dirty="0"/>
          </a:p>
          <a:p>
            <a:pPr lvl="1"/>
            <a:r>
              <a:rPr lang="zh-CN" altLang="en-US" dirty="0"/>
              <a:t>不考虑任何经济变量</a:t>
            </a:r>
            <a:endParaRPr lang="en-US" altLang="zh-CN" dirty="0"/>
          </a:p>
          <a:p>
            <a:pPr lvl="1"/>
            <a:r>
              <a:rPr lang="zh-CN" altLang="en-US" dirty="0"/>
              <a:t>采伐年龄通常比最佳经济采伐周期大</a:t>
            </a:r>
          </a:p>
        </p:txBody>
      </p:sp>
      <p:sp>
        <p:nvSpPr>
          <p:cNvPr id="8" name="内容占位符 7"/>
          <p:cNvSpPr>
            <a:spLocks noGrp="1"/>
          </p:cNvSpPr>
          <p:nvPr>
            <p:ph idx="11"/>
          </p:nvPr>
        </p:nvSpPr>
        <p:spPr/>
        <p:txBody>
          <a:bodyPr>
            <a:normAutofit fontScale="92500" lnSpcReduction="20000"/>
          </a:bodyPr>
          <a:lstStyle/>
          <a:p>
            <a:r>
              <a:rPr lang="zh-CN" altLang="en-US" dirty="0">
                <a:ln w="0"/>
                <a:solidFill>
                  <a:schemeClr val="tx2">
                    <a:lumMod val="75000"/>
                  </a:schemeClr>
                </a:solidFill>
                <a:effectLst>
                  <a:outerShdw blurRad="38100" dist="25400" dir="5400000" algn="ctr" rotWithShape="0">
                    <a:srgbClr val="6E747A">
                      <a:alpha val="43000"/>
                    </a:srgbClr>
                  </a:outerShdw>
                </a:effectLst>
              </a:rPr>
              <a:t>一次性森林价值最大的轮伐期（一次性轮伐期）</a:t>
            </a:r>
            <a:endParaRPr lang="en-US" altLang="zh-CN" dirty="0">
              <a:ln w="0"/>
              <a:solidFill>
                <a:schemeClr val="tx2">
                  <a:lumMod val="75000"/>
                </a:schemeClr>
              </a:solidFill>
              <a:effectLst>
                <a:outerShdw blurRad="38100" dist="25400" dir="5400000" algn="ctr" rotWithShape="0">
                  <a:srgbClr val="6E747A">
                    <a:alpha val="43000"/>
                  </a:srgbClr>
                </a:outerShdw>
              </a:effectLst>
            </a:endParaRPr>
          </a:p>
          <a:p>
            <a:pPr lvl="1"/>
            <a:r>
              <a:rPr lang="zh-CN" altLang="en-US" dirty="0"/>
              <a:t>不考虑土地的机会成本</a:t>
            </a:r>
            <a:endParaRPr lang="en-US" altLang="zh-CN" dirty="0"/>
          </a:p>
          <a:p>
            <a:pPr lvl="1"/>
            <a:r>
              <a:rPr lang="zh-CN" altLang="en-US" dirty="0"/>
              <a:t>最佳采伐期是使利润和成本的增量相等时的年龄</a:t>
            </a:r>
            <a:endParaRPr lang="en-US" altLang="zh-CN" dirty="0"/>
          </a:p>
          <a:p>
            <a:pPr lvl="1"/>
            <a:r>
              <a:rPr lang="zh-CN" altLang="en-US" dirty="0"/>
              <a:t>采伐期比最佳经济采伐期长</a:t>
            </a:r>
          </a:p>
        </p:txBody>
      </p:sp>
    </p:spTree>
    <p:extLst>
      <p:ext uri="{BB962C8B-B14F-4D97-AF65-F5344CB8AC3E}">
        <p14:creationId xmlns:p14="http://schemas.microsoft.com/office/powerpoint/2010/main" val="3164522045"/>
      </p:ext>
    </p:extLst>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标题 1"/>
              <p:cNvSpPr>
                <a:spLocks noGrp="1"/>
              </p:cNvSpPr>
              <p:nvPr>
                <p:ph type="title"/>
              </p:nvPr>
            </p:nvSpPr>
            <p:spPr/>
            <p:txBody>
              <a:bodyPr>
                <a:normAutofit fontScale="90000"/>
              </a:bodyPr>
              <a:lstStyle/>
              <a:p>
                <a:pPr/>
                <a:r>
                  <a:rPr lang="zh-CN" altLang="en-US" dirty="0"/>
                  <a:t>永续利用采伐期：</a:t>
                </a:r>
                <a:br>
                  <a:rPr lang="en-US" altLang="zh-CN" dirty="0"/>
                </a:br>
                <a14:m>
                  <m:oMathPara xmlns:m="http://schemas.openxmlformats.org/officeDocument/2006/math">
                    <m:oMathParaPr>
                      <m:jc m:val="centerGroup"/>
                    </m:oMathParaPr>
                    <m:oMath xmlns:m="http://schemas.openxmlformats.org/officeDocument/2006/math">
                      <m:f>
                        <m:fPr>
                          <m:ctrlPr>
                            <a:rPr lang="en-US" altLang="zh-CN" i="1" smtClean="0">
                              <a:latin typeface="Cambria Math" panose="02040503050406030204" pitchFamily="18" charset="0"/>
                            </a:rPr>
                          </m:ctrlPr>
                        </m:fPr>
                        <m:num>
                          <m:r>
                            <a:rPr lang="en-US" altLang="zh-CN" b="0" i="1" smtClean="0">
                              <a:latin typeface="Cambria Math" panose="02040503050406030204" pitchFamily="18" charset="0"/>
                            </a:rPr>
                            <m:t>𝑄</m:t>
                          </m:r>
                          <m:r>
                            <a:rPr lang="en-US" altLang="zh-CN" b="0" i="1" smtClean="0">
                              <a:latin typeface="Cambria Math" panose="02040503050406030204" pitchFamily="18" charset="0"/>
                            </a:rPr>
                            <m:t>(</m:t>
                          </m:r>
                          <m:r>
                            <a:rPr lang="en-US" altLang="zh-CN" b="0" i="1" smtClean="0">
                              <a:latin typeface="Cambria Math" panose="02040503050406030204" pitchFamily="18" charset="0"/>
                            </a:rPr>
                            <m:t>𝑡</m:t>
                          </m:r>
                          <m:r>
                            <a:rPr lang="en-US" altLang="zh-CN" b="0" i="1" smtClean="0">
                              <a:latin typeface="Cambria Math" panose="02040503050406030204" pitchFamily="18" charset="0"/>
                            </a:rPr>
                            <m:t>,</m:t>
                          </m:r>
                          <m:r>
                            <a:rPr lang="en-US" altLang="zh-CN" b="0" i="1" smtClean="0">
                              <a:latin typeface="Cambria Math" panose="02040503050406030204" pitchFamily="18" charset="0"/>
                            </a:rPr>
                            <m:t>𝐸</m:t>
                          </m:r>
                          <m:r>
                            <a:rPr lang="en-US" altLang="zh-CN" b="0" i="1" smtClean="0">
                              <a:latin typeface="Cambria Math" panose="02040503050406030204" pitchFamily="18" charset="0"/>
                            </a:rPr>
                            <m:t>)</m:t>
                          </m:r>
                        </m:num>
                        <m:den>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𝑄</m:t>
                              </m:r>
                            </m:e>
                            <m:sub>
                              <m:r>
                                <a:rPr lang="en-US" altLang="zh-CN" b="0" i="1" smtClean="0">
                                  <a:latin typeface="Cambria Math" panose="02040503050406030204" pitchFamily="18" charset="0"/>
                                </a:rPr>
                                <m:t>𝑡</m:t>
                              </m:r>
                            </m:sub>
                          </m:sSub>
                        </m:den>
                      </m:f>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1</m:t>
                          </m:r>
                        </m:num>
                        <m:den>
                          <m:r>
                            <a:rPr lang="en-US" altLang="zh-CN" b="0" i="1" smtClean="0">
                              <a:latin typeface="Cambria Math" panose="02040503050406030204" pitchFamily="18" charset="0"/>
                            </a:rPr>
                            <m:t>𝑡</m:t>
                          </m:r>
                        </m:den>
                      </m:f>
                    </m:oMath>
                  </m:oMathPara>
                </a14:m>
                <a:endParaRPr lang="zh-CN" altLang="en-US" dirty="0"/>
              </a:p>
            </p:txBody>
          </p:sp>
        </mc:Choice>
        <mc:Fallback xmlns="">
          <p:sp>
            <p:nvSpPr>
              <p:cNvPr id="2" name="标题 1"/>
              <p:cNvSpPr>
                <a:spLocks noGrp="1" noRot="1" noChangeAspect="1" noMove="1" noResize="1" noEditPoints="1" noAdjustHandles="1" noChangeArrowheads="1" noChangeShapeType="1" noTextEdit="1"/>
              </p:cNvSpPr>
              <p:nvPr>
                <p:ph type="title"/>
              </p:nvPr>
            </p:nvSpPr>
            <p:spPr>
              <a:blipFill>
                <a:blip r:embed="rId2"/>
                <a:stretch>
                  <a:fillRect l="-2733" t="-27619" b="-32381"/>
                </a:stretch>
              </a:blipFill>
            </p:spPr>
            <p:txBody>
              <a:bodyPr/>
              <a:lstStyle/>
              <a:p>
                <a:r>
                  <a:rPr lang="zh-CN" altLang="en-US">
                    <a:noFill/>
                  </a:rPr>
                  <a:t> </a:t>
                </a:r>
              </a:p>
            </p:txBody>
          </p:sp>
        </mc:Fallback>
      </mc:AlternateContent>
      <p:sp>
        <p:nvSpPr>
          <p:cNvPr id="3" name="内容占位符 2"/>
          <p:cNvSpPr>
            <a:spLocks noGrp="1"/>
          </p:cNvSpPr>
          <p:nvPr>
            <p:ph sz="half" idx="1"/>
          </p:nvPr>
        </p:nvSpPr>
        <p:spPr>
          <a:gradFill flip="none" rotWithShape="1">
            <a:gsLst>
              <a:gs pos="0">
                <a:schemeClr val="accent1">
                  <a:shade val="30000"/>
                  <a:satMod val="115000"/>
                  <a:alpha val="87000"/>
                </a:schemeClr>
              </a:gs>
              <a:gs pos="50000">
                <a:schemeClr val="accent1">
                  <a:shade val="67500"/>
                  <a:satMod val="115000"/>
                  <a:alpha val="90000"/>
                </a:schemeClr>
              </a:gs>
              <a:gs pos="100000">
                <a:schemeClr val="accent1">
                  <a:shade val="100000"/>
                  <a:satMod val="115000"/>
                  <a:alpha val="75000"/>
                </a:schemeClr>
              </a:gs>
            </a:gsLst>
            <a:lin ang="8100000" scaled="1"/>
            <a:tileRect/>
          </a:gradFill>
          <a:effectLst>
            <a:innerShdw blurRad="63500" dist="50800" dir="18900000">
              <a:prstClr val="black">
                <a:alpha val="50000"/>
              </a:prstClr>
            </a:innerShdw>
          </a:effectLst>
        </p:spPr>
        <p:txBody>
          <a:bodyPr>
            <a:normAutofit/>
          </a:bodyPr>
          <a:lstStyle/>
          <a:p>
            <a:r>
              <a:rPr lang="zh-CN" altLang="en-US" dirty="0"/>
              <a:t>年平均生长量（</a:t>
            </a:r>
            <a:r>
              <a:rPr lang="en-US" altLang="zh-CN" dirty="0"/>
              <a:t>MAI</a:t>
            </a:r>
            <a:r>
              <a:rPr lang="zh-CN" altLang="en-US" dirty="0"/>
              <a:t>）：一个林分或一个林区的平均蓄积量除以其树龄</a:t>
            </a:r>
            <a:endParaRPr lang="en-US" altLang="zh-CN" dirty="0"/>
          </a:p>
          <a:p>
            <a:r>
              <a:rPr lang="en-US" altLang="zh-CN" dirty="0"/>
              <a:t>MAI=Q(</a:t>
            </a:r>
            <a:r>
              <a:rPr lang="en-US" altLang="zh-CN" dirty="0" err="1"/>
              <a:t>t,E</a:t>
            </a:r>
            <a:r>
              <a:rPr lang="zh-CN" altLang="en-US" dirty="0"/>
              <a:t>）</a:t>
            </a:r>
            <a:r>
              <a:rPr lang="en-US" altLang="zh-CN" dirty="0"/>
              <a:t>/t</a:t>
            </a:r>
          </a:p>
          <a:p>
            <a:r>
              <a:rPr lang="zh-CN" altLang="en-US" dirty="0"/>
              <a:t>是原点到林木生长曲线</a:t>
            </a:r>
            <a:r>
              <a:rPr lang="en-US" altLang="zh-CN" dirty="0"/>
              <a:t>Q(</a:t>
            </a:r>
            <a:r>
              <a:rPr lang="en-US" altLang="zh-CN" dirty="0" err="1"/>
              <a:t>t,E</a:t>
            </a:r>
            <a:r>
              <a:rPr lang="zh-CN" altLang="en-US" dirty="0"/>
              <a:t>）上任意一点的斜率</a:t>
            </a:r>
            <a:endParaRPr lang="en-US" altLang="zh-CN" dirty="0"/>
          </a:p>
        </p:txBody>
      </p:sp>
      <p:sp>
        <p:nvSpPr>
          <p:cNvPr id="4" name="内容占位符 3"/>
          <p:cNvSpPr>
            <a:spLocks noGrp="1"/>
          </p:cNvSpPr>
          <p:nvPr>
            <p:ph sz="half" idx="2"/>
          </p:nvPr>
        </p:nvSpPr>
        <p:spPr>
          <a:gradFill flip="none" rotWithShape="1">
            <a:gsLst>
              <a:gs pos="0">
                <a:schemeClr val="accent1">
                  <a:shade val="30000"/>
                  <a:satMod val="115000"/>
                  <a:alpha val="87000"/>
                </a:schemeClr>
              </a:gs>
              <a:gs pos="50000">
                <a:schemeClr val="accent1">
                  <a:shade val="67500"/>
                  <a:satMod val="115000"/>
                  <a:alpha val="90000"/>
                </a:schemeClr>
              </a:gs>
              <a:gs pos="100000">
                <a:schemeClr val="accent1">
                  <a:shade val="100000"/>
                  <a:satMod val="115000"/>
                  <a:alpha val="75000"/>
                </a:schemeClr>
              </a:gs>
            </a:gsLst>
            <a:lin ang="2700000" scaled="1"/>
            <a:tileRect/>
          </a:gradFill>
          <a:effectLst>
            <a:outerShdw blurRad="203200" dist="101600" dir="600000" algn="tl" rotWithShape="0">
              <a:prstClr val="black">
                <a:alpha val="40000"/>
              </a:prstClr>
            </a:outerShdw>
          </a:effectLst>
        </p:spPr>
        <p:txBody>
          <a:bodyPr>
            <a:normAutofit/>
          </a:bodyPr>
          <a:lstStyle/>
          <a:p>
            <a:r>
              <a:rPr lang="zh-CN" altLang="en-US" dirty="0"/>
              <a:t>年生长量（</a:t>
            </a:r>
            <a:r>
              <a:rPr lang="en-US" altLang="zh-CN" dirty="0"/>
              <a:t>CAI</a:t>
            </a:r>
            <a:r>
              <a:rPr lang="zh-CN" altLang="en-US" dirty="0"/>
              <a:t>）</a:t>
            </a:r>
            <a:endParaRPr lang="en-US" altLang="zh-CN" dirty="0"/>
          </a:p>
          <a:p>
            <a:r>
              <a:rPr lang="zh-CN" altLang="en-US" dirty="0"/>
              <a:t>类似于边际产量，是林木生长曲线切线的斜率</a:t>
            </a:r>
            <a:endParaRPr lang="en-US" altLang="zh-CN" dirty="0"/>
          </a:p>
          <a:p>
            <a:r>
              <a:rPr lang="en-US" altLang="zh-CN" dirty="0"/>
              <a:t>CAI=</a:t>
            </a:r>
            <a:r>
              <a:rPr lang="en-US" altLang="zh-CN" dirty="0" err="1"/>
              <a:t>Q</a:t>
            </a:r>
            <a:r>
              <a:rPr lang="en-US" altLang="zh-CN" baseline="-25000" dirty="0" err="1"/>
              <a:t>t</a:t>
            </a:r>
            <a:r>
              <a:rPr lang="en-US" altLang="zh-CN" dirty="0"/>
              <a:t>=</a:t>
            </a:r>
            <a:r>
              <a:rPr lang="en-US" altLang="zh-CN" dirty="0" err="1"/>
              <a:t>dQ</a:t>
            </a:r>
            <a:r>
              <a:rPr lang="en-US" altLang="zh-CN" dirty="0"/>
              <a:t>(</a:t>
            </a:r>
            <a:r>
              <a:rPr lang="en-US" altLang="zh-CN" dirty="0" err="1"/>
              <a:t>t,E</a:t>
            </a:r>
            <a:r>
              <a:rPr lang="en-US" altLang="zh-CN" dirty="0"/>
              <a:t>)/</a:t>
            </a:r>
            <a:r>
              <a:rPr lang="en-US" altLang="zh-CN" dirty="0" err="1"/>
              <a:t>dt</a:t>
            </a:r>
            <a:endParaRPr lang="en-US" altLang="zh-CN" dirty="0"/>
          </a:p>
          <a:p>
            <a:pPr marL="0" indent="0">
              <a:buNone/>
            </a:pPr>
            <a:endParaRPr lang="zh-CN" altLang="en-US" dirty="0"/>
          </a:p>
        </p:txBody>
      </p:sp>
      <p:sp>
        <p:nvSpPr>
          <p:cNvPr id="5" name="内容占位符 3"/>
          <p:cNvSpPr txBox="1">
            <a:spLocks/>
          </p:cNvSpPr>
          <p:nvPr/>
        </p:nvSpPr>
        <p:spPr>
          <a:xfrm>
            <a:off x="4629150" y="4086647"/>
            <a:ext cx="3886200" cy="2771353"/>
          </a:xfrm>
          <a:prstGeom prst="rect">
            <a:avLst/>
          </a:prstGeom>
          <a:gradFill flip="none" rotWithShape="1">
            <a:gsLst>
              <a:gs pos="0">
                <a:schemeClr val="accent1">
                  <a:shade val="30000"/>
                  <a:satMod val="115000"/>
                  <a:alpha val="87000"/>
                </a:schemeClr>
              </a:gs>
              <a:gs pos="50000">
                <a:schemeClr val="accent1">
                  <a:shade val="67500"/>
                  <a:satMod val="115000"/>
                  <a:alpha val="90000"/>
                </a:schemeClr>
              </a:gs>
              <a:gs pos="100000">
                <a:schemeClr val="accent1">
                  <a:shade val="100000"/>
                  <a:satMod val="115000"/>
                  <a:alpha val="75000"/>
                </a:schemeClr>
              </a:gs>
            </a:gsLst>
            <a:lin ang="2700000" scaled="1"/>
            <a:tileRect/>
          </a:gradFill>
          <a:effectLst>
            <a:outerShdw blurRad="203200" dist="101600" dir="600000" algn="tl" rotWithShape="0">
              <a:prstClr val="black">
                <a:alpha val="40000"/>
              </a:prstClr>
            </a:outerShdw>
          </a:effectLst>
        </p:spPr>
        <p:txBody>
          <a:bodyPr vert="horz" lIns="91440" tIns="45720" rIns="91440" bIns="45720" rtlCol="0" anchor="t">
            <a:normAutofit/>
          </a:bodyPr>
          <a:lstStyle>
            <a:lvl1pPr marL="365760" indent="-365760" algn="l" defTabSz="914400" rtl="0" eaLnBrk="1" latinLnBrk="0" hangingPunct="1">
              <a:spcBef>
                <a:spcPct val="20000"/>
              </a:spcBef>
              <a:spcAft>
                <a:spcPts val="600"/>
              </a:spcAft>
              <a:buSzPct val="140000"/>
              <a:buFont typeface="Symbol" charset="2"/>
              <a:buChar char="-"/>
              <a:defRPr sz="2800" kern="1200">
                <a:solidFill>
                  <a:schemeClr val="tx1"/>
                </a:solidFill>
                <a:effectLst>
                  <a:outerShdw blurRad="38100" dist="38100" dir="2700000" algn="tl">
                    <a:srgbClr val="000000">
                      <a:alpha val="43137"/>
                    </a:srgbClr>
                  </a:outerShdw>
                </a:effectLst>
                <a:latin typeface="+mn-lt"/>
                <a:ea typeface="+mn-ea"/>
                <a:cs typeface="+mn-cs"/>
              </a:defRPr>
            </a:lvl1pPr>
            <a:lvl2pPr marL="731520" indent="-365760" algn="l" defTabSz="914400" rtl="0" eaLnBrk="1" latinLnBrk="0" hangingPunct="1">
              <a:spcBef>
                <a:spcPct val="20000"/>
              </a:spcBef>
              <a:spcAft>
                <a:spcPts val="600"/>
              </a:spcAft>
              <a:buSzPct val="140000"/>
              <a:buFont typeface="Symbol" charset="2"/>
              <a:buChar char="-"/>
              <a:defRPr sz="2400" kern="1200">
                <a:solidFill>
                  <a:schemeClr val="tx1"/>
                </a:solidFill>
                <a:effectLst>
                  <a:outerShdw blurRad="38100" dist="38100" dir="2700000" algn="tl">
                    <a:srgbClr val="000000">
                      <a:alpha val="43137"/>
                    </a:srgbClr>
                  </a:outerShdw>
                </a:effectLst>
                <a:latin typeface="+mn-lt"/>
                <a:ea typeface="+mn-ea"/>
                <a:cs typeface="+mn-cs"/>
              </a:defRPr>
            </a:lvl2pPr>
            <a:lvl3pPr marL="1097280" indent="-320040" algn="l" defTabSz="914400" rtl="0" eaLnBrk="1" latinLnBrk="0" hangingPunct="1">
              <a:spcBef>
                <a:spcPct val="20000"/>
              </a:spcBef>
              <a:spcAft>
                <a:spcPts val="600"/>
              </a:spcAft>
              <a:buSzPct val="140000"/>
              <a:buFont typeface="Symbol" charset="2"/>
              <a:buChar char="-"/>
              <a:defRPr sz="2000" kern="1200">
                <a:solidFill>
                  <a:schemeClr val="tx1"/>
                </a:solidFill>
                <a:effectLst>
                  <a:outerShdw blurRad="38100" dist="38100" dir="2700000" algn="tl">
                    <a:srgbClr val="000000">
                      <a:alpha val="43137"/>
                    </a:srgbClr>
                  </a:outerShdw>
                </a:effectLst>
                <a:latin typeface="+mn-lt"/>
                <a:ea typeface="+mn-ea"/>
                <a:cs typeface="+mn-cs"/>
              </a:defRPr>
            </a:lvl3pPr>
            <a:lvl4pPr marL="1371600" indent="-274320" algn="l" defTabSz="914400" rtl="0" eaLnBrk="1" latinLnBrk="0" hangingPunct="1">
              <a:spcBef>
                <a:spcPct val="20000"/>
              </a:spcBef>
              <a:spcAft>
                <a:spcPts val="600"/>
              </a:spcAft>
              <a:buSzPct val="140000"/>
              <a:buFont typeface="Symbol" charset="2"/>
              <a:buChar char="-"/>
              <a:defRPr sz="1800" kern="1200">
                <a:solidFill>
                  <a:schemeClr val="tx1"/>
                </a:solidFill>
                <a:effectLst>
                  <a:outerShdw blurRad="38100" dist="38100" dir="2700000" algn="tl">
                    <a:srgbClr val="000000">
                      <a:alpha val="43137"/>
                    </a:srgbClr>
                  </a:outerShdw>
                </a:effectLst>
                <a:latin typeface="+mn-lt"/>
                <a:ea typeface="+mn-ea"/>
                <a:cs typeface="+mn-cs"/>
              </a:defRPr>
            </a:lvl4pPr>
            <a:lvl5pPr marL="1645920" indent="-274320" algn="l" defTabSz="914400" rtl="0" eaLnBrk="1" latinLnBrk="0" hangingPunct="1">
              <a:spcBef>
                <a:spcPct val="20000"/>
              </a:spcBef>
              <a:spcAft>
                <a:spcPts val="600"/>
              </a:spcAft>
              <a:buSzPct val="140000"/>
              <a:buFont typeface="Symbol" charset="2"/>
              <a:buChar char="-"/>
              <a:defRPr sz="1800" kern="1200">
                <a:solidFill>
                  <a:schemeClr val="tx1"/>
                </a:solidFill>
                <a:effectLst>
                  <a:outerShdw blurRad="38100" dist="38100" dir="2700000" algn="tl">
                    <a:srgbClr val="000000">
                      <a:alpha val="43137"/>
                    </a:srgbClr>
                  </a:outerShdw>
                </a:effectLst>
                <a:latin typeface="+mn-lt"/>
                <a:ea typeface="+mn-ea"/>
                <a:cs typeface="+mn-cs"/>
              </a:defRPr>
            </a:lvl5pPr>
            <a:lvl6pPr marL="1920240" indent="-228600" algn="l" defTabSz="914400" rtl="0" eaLnBrk="1" latinLnBrk="0" hangingPunct="1">
              <a:spcBef>
                <a:spcPts val="24"/>
              </a:spcBef>
              <a:spcAft>
                <a:spcPts val="600"/>
              </a:spcAft>
              <a:buClrTx/>
              <a:buSzPct val="130000"/>
              <a:buFont typeface="Wingdings" pitchFamily="2" charset="2"/>
              <a:buChar char=""/>
              <a:defRPr sz="1800" kern="1200">
                <a:solidFill>
                  <a:schemeClr val="tx1"/>
                </a:solidFill>
                <a:effectLst>
                  <a:outerShdw blurRad="38100" dist="38100" dir="2700000" algn="ctr" rotWithShape="0">
                    <a:srgbClr val="000000">
                      <a:alpha val="43000"/>
                    </a:srgbClr>
                  </a:outerShdw>
                </a:effectLst>
                <a:latin typeface="+mn-lt"/>
                <a:ea typeface="+mn-ea"/>
                <a:cs typeface="+mn-cs"/>
              </a:defRPr>
            </a:lvl6pPr>
            <a:lvl7pPr marL="2194560" indent="-228600" algn="l" defTabSz="914400" rtl="0" eaLnBrk="1" latinLnBrk="0" hangingPunct="1">
              <a:spcBef>
                <a:spcPts val="24"/>
              </a:spcBef>
              <a:spcAft>
                <a:spcPts val="600"/>
              </a:spcAft>
              <a:buClrTx/>
              <a:buSzPct val="130000"/>
              <a:buFont typeface="Wingdings" pitchFamily="2" charset="2"/>
              <a:buChar char=""/>
              <a:defRPr sz="1800" kern="1200">
                <a:solidFill>
                  <a:schemeClr val="tx1"/>
                </a:solidFill>
                <a:effectLst>
                  <a:outerShdw blurRad="38100" dist="38100" dir="2700000" algn="ctr" rotWithShape="0">
                    <a:srgbClr val="000000">
                      <a:alpha val="43000"/>
                    </a:srgbClr>
                  </a:outerShdw>
                </a:effectLst>
                <a:latin typeface="+mn-lt"/>
                <a:ea typeface="+mn-ea"/>
                <a:cs typeface="+mn-cs"/>
              </a:defRPr>
            </a:lvl7pPr>
            <a:lvl8pPr marL="2468880" indent="-228600" algn="l" defTabSz="914400" rtl="0" eaLnBrk="1" latinLnBrk="0" hangingPunct="1">
              <a:spcBef>
                <a:spcPts val="24"/>
              </a:spcBef>
              <a:spcAft>
                <a:spcPts val="600"/>
              </a:spcAft>
              <a:buClrTx/>
              <a:buSzPct val="130000"/>
              <a:buFont typeface="Wingdings" pitchFamily="2" charset="2"/>
              <a:buChar char=""/>
              <a:defRPr sz="1800" kern="1200">
                <a:solidFill>
                  <a:schemeClr val="tx1"/>
                </a:solidFill>
                <a:effectLst>
                  <a:outerShdw blurRad="38100" dist="38100" dir="2700000" algn="ctr" rotWithShape="0">
                    <a:srgbClr val="000000">
                      <a:alpha val="43000"/>
                    </a:srgbClr>
                  </a:outerShdw>
                </a:effectLst>
                <a:latin typeface="+mn-lt"/>
                <a:ea typeface="+mn-ea"/>
                <a:cs typeface="+mn-cs"/>
              </a:defRPr>
            </a:lvl8pPr>
            <a:lvl9pPr marL="2743200" indent="-228600" algn="l" defTabSz="914400" rtl="0" eaLnBrk="1" latinLnBrk="0" hangingPunct="1">
              <a:spcBef>
                <a:spcPts val="24"/>
              </a:spcBef>
              <a:spcAft>
                <a:spcPts val="600"/>
              </a:spcAft>
              <a:buClrTx/>
              <a:buSzPct val="130000"/>
              <a:buFont typeface="Wingdings" pitchFamily="2" charset="2"/>
              <a:buChar char=""/>
              <a:defRPr sz="1800" kern="1200">
                <a:solidFill>
                  <a:schemeClr val="tx1"/>
                </a:solidFill>
                <a:effectLst>
                  <a:outerShdw blurRad="38100" dist="38100" dir="2700000" algn="ctr" rotWithShape="0">
                    <a:srgbClr val="000000">
                      <a:alpha val="43000"/>
                    </a:srgbClr>
                  </a:outerShdw>
                </a:effectLst>
                <a:latin typeface="+mn-lt"/>
                <a:ea typeface="+mn-ea"/>
                <a:cs typeface="+mn-cs"/>
              </a:defRPr>
            </a:lvl9pPr>
          </a:lstStyle>
          <a:p>
            <a:r>
              <a:rPr lang="zh-CN" altLang="en-US" dirty="0"/>
              <a:t>边际生产曲线和平均生产曲线的交点，年平均产量最大化</a:t>
            </a:r>
            <a:endParaRPr lang="en-US" altLang="zh-CN" dirty="0"/>
          </a:p>
          <a:p>
            <a:r>
              <a:rPr lang="en-US" altLang="zh-CN" dirty="0" err="1"/>
              <a:t>Q</a:t>
            </a:r>
            <a:r>
              <a:rPr lang="en-US" altLang="zh-CN" baseline="-25000" dirty="0" err="1"/>
              <a:t>t</a:t>
            </a:r>
            <a:r>
              <a:rPr lang="en-US" altLang="zh-CN" dirty="0"/>
              <a:t>=Q(</a:t>
            </a:r>
            <a:r>
              <a:rPr lang="en-US" altLang="zh-CN" dirty="0" err="1"/>
              <a:t>t,E</a:t>
            </a:r>
            <a:r>
              <a:rPr lang="zh-CN" altLang="en-US" dirty="0"/>
              <a:t>）</a:t>
            </a:r>
            <a:r>
              <a:rPr lang="en-US" altLang="zh-CN" dirty="0"/>
              <a:t>/t</a:t>
            </a:r>
          </a:p>
          <a:p>
            <a:endParaRPr lang="en-US" altLang="zh-CN" dirty="0"/>
          </a:p>
          <a:p>
            <a:pPr marL="0" indent="0">
              <a:buFont typeface="Symbol" charset="2"/>
              <a:buNone/>
            </a:pPr>
            <a:endParaRPr lang="zh-CN" altLang="en-US" dirty="0"/>
          </a:p>
        </p:txBody>
      </p:sp>
    </p:spTree>
    <p:extLst>
      <p:ext uri="{BB962C8B-B14F-4D97-AF65-F5344CB8AC3E}">
        <p14:creationId xmlns:p14="http://schemas.microsoft.com/office/powerpoint/2010/main" val="382056398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三种不同轮伐周期的比较</a:t>
            </a:r>
          </a:p>
        </p:txBody>
      </p:sp>
      <p:sp>
        <p:nvSpPr>
          <p:cNvPr id="3" name="内容占位符 2"/>
          <p:cNvSpPr>
            <a:spLocks noGrp="1"/>
          </p:cNvSpPr>
          <p:nvPr>
            <p:ph idx="1"/>
          </p:nvPr>
        </p:nvSpPr>
        <p:spPr/>
        <p:txBody>
          <a:bodyPr>
            <a:normAutofit fontScale="85000" lnSpcReduction="10000"/>
          </a:bodyPr>
          <a:lstStyle/>
          <a:p>
            <a:r>
              <a:rPr lang="zh-CN" altLang="en-US" dirty="0"/>
              <a:t>永续利用产量采伐期基于木材生产量的最大化，是一个生物学指标，没有考虑价格、利率等经济学因素</a:t>
            </a:r>
            <a:endParaRPr lang="en-US" altLang="zh-CN" dirty="0"/>
          </a:p>
          <a:p>
            <a:r>
              <a:rPr lang="zh-CN" altLang="en-US" dirty="0"/>
              <a:t>“林租”森林采伐期没有考虑利率，因此忽略了持有森林土地和林木资本带来的累积成本</a:t>
            </a:r>
            <a:endParaRPr lang="en-US" altLang="zh-CN" dirty="0"/>
          </a:p>
          <a:p>
            <a:r>
              <a:rPr lang="zh-CN" altLang="en-US" dirty="0"/>
              <a:t>一次性采伐期模型没有考虑土地可用于生长森林生物的机会成本</a:t>
            </a:r>
            <a:endParaRPr lang="en-US" altLang="zh-CN" dirty="0"/>
          </a:p>
          <a:p>
            <a:r>
              <a:rPr lang="zh-CN" altLang="en-US" dirty="0"/>
              <a:t>只有弗斯曼模型将生物的、经济的（价格、成本和利率）等因素都考虑在内</a:t>
            </a:r>
            <a:endParaRPr lang="en-US" altLang="zh-CN" dirty="0"/>
          </a:p>
          <a:p>
            <a:r>
              <a:rPr lang="zh-CN" altLang="en-US" dirty="0"/>
              <a:t>在大多数情况下弗斯曼采伐期比最大持续产量采伐期短</a:t>
            </a:r>
            <a:endParaRPr lang="en-US" altLang="zh-CN" dirty="0"/>
          </a:p>
          <a:p>
            <a:r>
              <a:rPr lang="zh-CN" altLang="en-US" dirty="0"/>
              <a:t>但如果林木为采伐周期短的速生林，且利率低于最大持续产量采伐期的倒数（</a:t>
            </a:r>
            <a:r>
              <a:rPr lang="en-US" altLang="zh-CN" dirty="0"/>
              <a:t>1/t</a:t>
            </a:r>
            <a:r>
              <a:rPr lang="zh-CN" altLang="en-US" dirty="0"/>
              <a:t>）时，可能弗斯曼采伐期反而更长</a:t>
            </a:r>
          </a:p>
        </p:txBody>
      </p:sp>
    </p:spTree>
    <p:extLst>
      <p:ext uri="{BB962C8B-B14F-4D97-AF65-F5344CB8AC3E}">
        <p14:creationId xmlns:p14="http://schemas.microsoft.com/office/powerpoint/2010/main" val="415567860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94852" y="315731"/>
            <a:ext cx="4302781" cy="523220"/>
          </a:xfrm>
          <a:prstGeom prst="rect">
            <a:avLst/>
          </a:prstGeom>
          <a:noFill/>
        </p:spPr>
        <p:txBody>
          <a:bodyPr wrap="none" rtlCol="0">
            <a:spAutoFit/>
            <a:scene3d>
              <a:camera prst="orthographicFront"/>
              <a:lightRig rig="threePt" dir="t"/>
            </a:scene3d>
            <a:sp3d extrusionH="57150">
              <a:bevelT w="38100" h="38100"/>
            </a:sp3d>
          </a:bodyPr>
          <a:lstStyle/>
          <a:p>
            <a:r>
              <a:rPr lang="en-US" altLang="zh-CN" sz="2800" dirty="0">
                <a:solidFill>
                  <a:schemeClr val="accent1">
                    <a:lumMod val="20000"/>
                    <a:lumOff val="80000"/>
                  </a:schemeClr>
                </a:solidFill>
              </a:rPr>
              <a:t> </a:t>
            </a:r>
            <a:r>
              <a:rPr lang="en-US" altLang="zh-CN" sz="2800" dirty="0">
                <a:solidFill>
                  <a:schemeClr val="accent1">
                    <a:lumMod val="20000"/>
                    <a:lumOff val="80000"/>
                  </a:schemeClr>
                </a:solidFill>
                <a:effectLst>
                  <a:outerShdw blurRad="50800" dist="38100" dir="2700000" algn="tl" rotWithShape="0">
                    <a:prstClr val="black">
                      <a:alpha val="40000"/>
                    </a:prstClr>
                  </a:outerShdw>
                </a:effectLst>
                <a:latin typeface="Berlin Sans FB Demi" panose="020E0802020502020306" pitchFamily="34" charset="0"/>
              </a:rPr>
              <a:t>the </a:t>
            </a:r>
            <a:r>
              <a:rPr lang="en-US" altLang="zh-CN" sz="2800" b="1" dirty="0" err="1">
                <a:solidFill>
                  <a:schemeClr val="accent1">
                    <a:lumMod val="20000"/>
                    <a:lumOff val="80000"/>
                  </a:schemeClr>
                </a:solidFill>
                <a:effectLst>
                  <a:outerShdw blurRad="50800" dist="38100" dir="2700000" algn="tl" rotWithShape="0">
                    <a:prstClr val="black">
                      <a:alpha val="40000"/>
                    </a:prstClr>
                  </a:outerShdw>
                </a:effectLst>
                <a:latin typeface="Berlin Sans FB Demi" panose="020E0802020502020306" pitchFamily="34" charset="0"/>
              </a:rPr>
              <a:t>Faustmann</a:t>
            </a:r>
            <a:r>
              <a:rPr lang="en-US" altLang="zh-CN" sz="2800" dirty="0">
                <a:solidFill>
                  <a:schemeClr val="accent1">
                    <a:lumMod val="20000"/>
                    <a:lumOff val="80000"/>
                  </a:schemeClr>
                </a:solidFill>
                <a:effectLst>
                  <a:outerShdw blurRad="50800" dist="38100" dir="2700000" algn="tl" rotWithShape="0">
                    <a:prstClr val="black">
                      <a:alpha val="40000"/>
                    </a:prstClr>
                  </a:outerShdw>
                </a:effectLst>
                <a:latin typeface="Berlin Sans FB Demi" panose="020E0802020502020306" pitchFamily="34" charset="0"/>
              </a:rPr>
              <a:t> Model</a:t>
            </a:r>
            <a:r>
              <a:rPr lang="en-US" altLang="zh-CN" sz="2800" dirty="0">
                <a:solidFill>
                  <a:schemeClr val="accent1">
                    <a:lumMod val="20000"/>
                    <a:lumOff val="80000"/>
                  </a:schemeClr>
                </a:solidFill>
                <a:latin typeface="Berlin Sans FB Demi" panose="020E0802020502020306" pitchFamily="34" charset="0"/>
              </a:rPr>
              <a:t>  </a:t>
            </a:r>
            <a:r>
              <a:rPr lang="zh-CN" altLang="en-US" sz="2800" b="1" dirty="0">
                <a:ln w="9525">
                  <a:solidFill>
                    <a:schemeClr val="bg1"/>
                  </a:solidFill>
                  <a:prstDash val="solid"/>
                </a:ln>
                <a:solidFill>
                  <a:schemeClr val="accent1">
                    <a:lumMod val="20000"/>
                    <a:lumOff val="80000"/>
                  </a:schemeClr>
                </a:solidFill>
                <a:effectLst>
                  <a:outerShdw blurRad="50800" dist="38100" dir="2700000" algn="tl" rotWithShape="0">
                    <a:prstClr val="black">
                      <a:alpha val="40000"/>
                    </a:prstClr>
                  </a:outerShdw>
                </a:effectLst>
                <a:latin typeface="Berlin Sans FB Demi" panose="020E0802020502020306" pitchFamily="34" charset="0"/>
              </a:rPr>
              <a:t>：</a:t>
            </a:r>
          </a:p>
        </p:txBody>
      </p:sp>
      <p:graphicFrame>
        <p:nvGraphicFramePr>
          <p:cNvPr id="3" name="对象 2"/>
          <p:cNvGraphicFramePr>
            <a:graphicFrameLocks noChangeAspect="1"/>
          </p:cNvGraphicFramePr>
          <p:nvPr>
            <p:extLst>
              <p:ext uri="{D42A27DB-BD31-4B8C-83A1-F6EECF244321}">
                <p14:modId xmlns:p14="http://schemas.microsoft.com/office/powerpoint/2010/main" val="617476776"/>
              </p:ext>
            </p:extLst>
          </p:nvPr>
        </p:nvGraphicFramePr>
        <p:xfrm>
          <a:off x="1505013" y="1172584"/>
          <a:ext cx="5744372" cy="1648385"/>
        </p:xfrm>
        <a:graphic>
          <a:graphicData uri="http://schemas.openxmlformats.org/presentationml/2006/ole">
            <mc:AlternateContent xmlns:mc="http://schemas.openxmlformats.org/markup-compatibility/2006">
              <mc:Choice xmlns:v="urn:schemas-microsoft-com:vml" Requires="v">
                <p:oleObj spid="_x0000_s13333" name="公式" r:id="rId4" imgW="1460160" imgH="419040" progId="Equation.3">
                  <p:embed/>
                </p:oleObj>
              </mc:Choice>
              <mc:Fallback>
                <p:oleObj name="公式" r:id="rId4" imgW="1460160" imgH="419040" progId="Equation.3">
                  <p:embed/>
                  <p:pic>
                    <p:nvPicPr>
                      <p:cNvPr id="0" name=""/>
                      <p:cNvPicPr/>
                      <p:nvPr/>
                    </p:nvPicPr>
                    <p:blipFill>
                      <a:blip r:embed="rId5"/>
                      <a:stretch>
                        <a:fillRect/>
                      </a:stretch>
                    </p:blipFill>
                    <p:spPr>
                      <a:xfrm>
                        <a:off x="1505013" y="1172584"/>
                        <a:ext cx="5744372" cy="1648385"/>
                      </a:xfrm>
                      <a:prstGeom prst="rect">
                        <a:avLst/>
                      </a:prstGeom>
                    </p:spPr>
                  </p:pic>
                </p:oleObj>
              </mc:Fallback>
            </mc:AlternateContent>
          </a:graphicData>
        </a:graphic>
      </p:graphicFrame>
      <p:sp>
        <p:nvSpPr>
          <p:cNvPr id="4" name="矩形 3"/>
          <p:cNvSpPr/>
          <p:nvPr/>
        </p:nvSpPr>
        <p:spPr>
          <a:xfrm>
            <a:off x="3302598" y="1172584"/>
            <a:ext cx="1172583" cy="742277"/>
          </a:xfrm>
          <a:prstGeom prst="rect">
            <a:avLst/>
          </a:prstGeom>
          <a:noFill/>
          <a:ln>
            <a:solidFill>
              <a:srgbClr val="FF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59962" y="3154602"/>
            <a:ext cx="4267515" cy="923330"/>
          </a:xfrm>
          <a:prstGeom prst="rect">
            <a:avLst/>
          </a:prstGeom>
          <a:noFill/>
        </p:spPr>
        <p:txBody>
          <a:bodyPr wrap="none" rtlCol="0">
            <a:spAutoFit/>
          </a:bodyPr>
          <a:lstStyle/>
          <a:p>
            <a:r>
              <a:rPr lang="en-US" altLang="zh-CN" dirty="0"/>
              <a:t>S</a:t>
            </a:r>
            <a:r>
              <a:rPr lang="zh-CN" altLang="en-US" dirty="0"/>
              <a:t>（</a:t>
            </a:r>
            <a:r>
              <a:rPr lang="en-US" altLang="zh-CN" dirty="0"/>
              <a:t>t</a:t>
            </a:r>
            <a:r>
              <a:rPr lang="zh-CN" altLang="en-US" dirty="0"/>
              <a:t>）：在第</a:t>
            </a:r>
            <a:r>
              <a:rPr lang="en-US" altLang="zh-CN" dirty="0"/>
              <a:t>t</a:t>
            </a:r>
            <a:r>
              <a:rPr lang="zh-CN" altLang="en-US" dirty="0"/>
              <a:t>期砍伐时收获的立木价值</a:t>
            </a:r>
            <a:endParaRPr lang="en-US" altLang="zh-CN" dirty="0"/>
          </a:p>
          <a:p>
            <a:endParaRPr lang="en-US" altLang="zh-CN" dirty="0"/>
          </a:p>
          <a:p>
            <a:r>
              <a:rPr lang="en-US" altLang="zh-CN" dirty="0"/>
              <a:t>S</a:t>
            </a:r>
            <a:r>
              <a:rPr lang="zh-CN" altLang="en-US" dirty="0"/>
              <a:t>（</a:t>
            </a:r>
            <a:r>
              <a:rPr lang="en-US" altLang="zh-CN" dirty="0"/>
              <a:t>t</a:t>
            </a:r>
            <a:r>
              <a:rPr lang="zh-CN" altLang="en-US" dirty="0"/>
              <a:t>）</a:t>
            </a:r>
            <a:r>
              <a:rPr lang="en-US" altLang="zh-CN" dirty="0"/>
              <a:t>=PQ</a:t>
            </a:r>
            <a:r>
              <a:rPr lang="zh-CN" altLang="en-US" dirty="0"/>
              <a:t>（</a:t>
            </a:r>
            <a:r>
              <a:rPr lang="en-US" altLang="zh-CN" dirty="0"/>
              <a:t>t</a:t>
            </a:r>
            <a:r>
              <a:rPr lang="zh-CN" altLang="en-US" dirty="0"/>
              <a:t>）：单位立木价格*蓄积量</a:t>
            </a:r>
          </a:p>
        </p:txBody>
      </p:sp>
      <p:sp>
        <p:nvSpPr>
          <p:cNvPr id="6" name="矩形 5"/>
          <p:cNvSpPr/>
          <p:nvPr/>
        </p:nvSpPr>
        <p:spPr>
          <a:xfrm>
            <a:off x="5100183" y="1226532"/>
            <a:ext cx="634411" cy="742277"/>
          </a:xfrm>
          <a:prstGeom prst="rect">
            <a:avLst/>
          </a:prstGeom>
          <a:noFill/>
          <a:ln>
            <a:solidFill>
              <a:srgbClr val="FF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659962" y="4400823"/>
            <a:ext cx="6591869" cy="369332"/>
          </a:xfrm>
          <a:prstGeom prst="rect">
            <a:avLst/>
          </a:prstGeom>
          <a:noFill/>
        </p:spPr>
        <p:txBody>
          <a:bodyPr wrap="none" rtlCol="0">
            <a:spAutoFit/>
          </a:bodyPr>
          <a:lstStyle/>
          <a:p>
            <a:r>
              <a:rPr lang="en-US" altLang="zh-CN" dirty="0"/>
              <a:t>C</a:t>
            </a:r>
            <a:r>
              <a:rPr lang="zh-CN" altLang="en-US" dirty="0"/>
              <a:t>：每次砍伐之后再造林的成本（假定其等于初始的造林成本）</a:t>
            </a:r>
          </a:p>
        </p:txBody>
      </p:sp>
      <p:sp>
        <p:nvSpPr>
          <p:cNvPr id="8" name="矩形 7"/>
          <p:cNvSpPr/>
          <p:nvPr/>
        </p:nvSpPr>
        <p:spPr>
          <a:xfrm>
            <a:off x="6626128" y="1597670"/>
            <a:ext cx="634411" cy="742277"/>
          </a:xfrm>
          <a:prstGeom prst="rect">
            <a:avLst/>
          </a:prstGeom>
          <a:noFill/>
          <a:ln>
            <a:solidFill>
              <a:srgbClr val="FF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9" name="文本框 8"/>
              <p:cNvSpPr txBox="1"/>
              <p:nvPr/>
            </p:nvSpPr>
            <p:spPr>
              <a:xfrm>
                <a:off x="659962" y="5093046"/>
                <a:ext cx="7186583" cy="1206292"/>
              </a:xfrm>
              <a:prstGeom prst="rect">
                <a:avLst/>
              </a:prstGeom>
              <a:noFill/>
            </p:spPr>
            <p:txBody>
              <a:bodyPr wrap="none" rtlCol="0">
                <a:spAutoFit/>
              </a:bodyPr>
              <a:lstStyle/>
              <a:p>
                <a:r>
                  <a:rPr lang="zh-CN" altLang="en-US" sz="2000" dirty="0">
                    <a:ln w="0"/>
                    <a:solidFill>
                      <a:srgbClr val="C00000"/>
                    </a:solidFill>
                    <a:effectLst>
                      <a:outerShdw blurRad="38100" dist="25400" dir="5400000" algn="ctr" rotWithShape="0">
                        <a:srgbClr val="6E747A">
                          <a:alpha val="43000"/>
                        </a:srgbClr>
                      </a:outerShdw>
                    </a:effectLst>
                  </a:rPr>
                  <a:t>每</a:t>
                </a:r>
                <a:r>
                  <a:rPr lang="en-US" altLang="zh-CN" sz="2000" dirty="0">
                    <a:ln w="0"/>
                    <a:solidFill>
                      <a:srgbClr val="C00000"/>
                    </a:solidFill>
                    <a:effectLst>
                      <a:outerShdw blurRad="38100" dist="25400" dir="5400000" algn="ctr" rotWithShape="0">
                        <a:srgbClr val="6E747A">
                          <a:alpha val="43000"/>
                        </a:srgbClr>
                      </a:outerShdw>
                    </a:effectLst>
                  </a:rPr>
                  <a:t>t</a:t>
                </a:r>
                <a:r>
                  <a:rPr lang="zh-CN" altLang="en-US" sz="2000" dirty="0">
                    <a:ln w="0"/>
                    <a:solidFill>
                      <a:srgbClr val="C00000"/>
                    </a:solidFill>
                    <a:effectLst>
                      <a:outerShdw blurRad="38100" dist="25400" dir="5400000" algn="ctr" rotWithShape="0">
                        <a:srgbClr val="6E747A">
                          <a:alpha val="43000"/>
                        </a:srgbClr>
                      </a:outerShdw>
                    </a:effectLst>
                  </a:rPr>
                  <a:t>期砍伐一次，一共砍伐无限次，是一个永续年金求现值问题</a:t>
                </a:r>
                <a:endParaRPr lang="en-US" altLang="zh-CN" sz="2000" dirty="0">
                  <a:ln w="0"/>
                  <a:solidFill>
                    <a:srgbClr val="C00000"/>
                  </a:solidFill>
                  <a:effectLst>
                    <a:outerShdw blurRad="38100" dist="25400" dir="5400000" algn="ctr" rotWithShape="0">
                      <a:srgbClr val="6E747A">
                        <a:alpha val="43000"/>
                      </a:srgbClr>
                    </a:outerShdw>
                  </a:effectLst>
                </a:endParaRPr>
              </a:p>
              <a:p>
                <a:endParaRPr lang="en-US" altLang="zh-CN" sz="2000" dirty="0">
                  <a:ln w="0"/>
                  <a:solidFill>
                    <a:srgbClr val="C00000"/>
                  </a:solidFill>
                  <a:effectLst>
                    <a:outerShdw blurRad="38100" dist="25400" dir="5400000" algn="ctr" rotWithShape="0">
                      <a:srgbClr val="6E747A">
                        <a:alpha val="43000"/>
                      </a:srgbClr>
                    </a:outerShdw>
                  </a:effectLst>
                </a:endParaRPr>
              </a:p>
              <a:p>
                <a:r>
                  <a:rPr lang="zh-CN" altLang="en-US" sz="2000" dirty="0">
                    <a:ln w="0"/>
                    <a:solidFill>
                      <a:srgbClr val="C00000"/>
                    </a:solidFill>
                    <a:effectLst>
                      <a:outerShdw blurRad="38100" dist="25400" dir="5400000" algn="ctr" rotWithShape="0">
                        <a:srgbClr val="6E747A">
                          <a:alpha val="43000"/>
                        </a:srgbClr>
                      </a:outerShdw>
                    </a:effectLst>
                  </a:rPr>
                  <a:t>即：</a:t>
                </a:r>
                <a14:m>
                  <m:oMath xmlns:m="http://schemas.openxmlformats.org/officeDocument/2006/math">
                    <m:f>
                      <m:fPr>
                        <m:ctrlPr>
                          <a:rPr lang="en-US" altLang="zh-CN" sz="2000" i="1" smtClean="0">
                            <a:ln w="0"/>
                            <a:solidFill>
                              <a:srgbClr val="C00000"/>
                            </a:solidFill>
                            <a:effectLst>
                              <a:outerShdw blurRad="38100" dist="25400" dir="5400000" algn="ctr" rotWithShape="0">
                                <a:srgbClr val="6E747A">
                                  <a:alpha val="43000"/>
                                </a:srgbClr>
                              </a:outerShdw>
                            </a:effectLst>
                            <a:latin typeface="Cambria Math" panose="02040503050406030204" pitchFamily="18" charset="0"/>
                          </a:rPr>
                        </m:ctrlPr>
                      </m:fPr>
                      <m:num>
                        <m:r>
                          <a:rPr lang="en-US" altLang="zh-CN" sz="2000" b="0" i="1" smtClean="0">
                            <a:ln w="0"/>
                            <a:solidFill>
                              <a:srgbClr val="C00000"/>
                            </a:solidFill>
                            <a:effectLst>
                              <a:outerShdw blurRad="38100" dist="25400" dir="5400000" algn="ctr" rotWithShape="0">
                                <a:srgbClr val="6E747A">
                                  <a:alpha val="43000"/>
                                </a:srgbClr>
                              </a:outerShdw>
                            </a:effectLst>
                            <a:latin typeface="Cambria Math" panose="02040503050406030204" pitchFamily="18" charset="0"/>
                          </a:rPr>
                          <m:t>𝑆</m:t>
                        </m:r>
                        <m:d>
                          <m:dPr>
                            <m:ctrlPr>
                              <a:rPr lang="en-US" altLang="zh-CN" sz="2000" b="0" i="1" smtClean="0">
                                <a:ln w="0"/>
                                <a:solidFill>
                                  <a:srgbClr val="C00000"/>
                                </a:solidFill>
                                <a:effectLst>
                                  <a:outerShdw blurRad="38100" dist="25400" dir="5400000" algn="ctr" rotWithShape="0">
                                    <a:srgbClr val="6E747A">
                                      <a:alpha val="43000"/>
                                    </a:srgbClr>
                                  </a:outerShdw>
                                </a:effectLst>
                                <a:latin typeface="Cambria Math" panose="02040503050406030204" pitchFamily="18" charset="0"/>
                              </a:rPr>
                            </m:ctrlPr>
                          </m:dPr>
                          <m:e>
                            <m:r>
                              <a:rPr lang="en-US" altLang="zh-CN" sz="2000" b="0" i="1" smtClean="0">
                                <a:ln w="0"/>
                                <a:solidFill>
                                  <a:srgbClr val="C00000"/>
                                </a:solidFill>
                                <a:effectLst>
                                  <a:outerShdw blurRad="38100" dist="25400" dir="5400000" algn="ctr" rotWithShape="0">
                                    <a:srgbClr val="6E747A">
                                      <a:alpha val="43000"/>
                                    </a:srgbClr>
                                  </a:outerShdw>
                                </a:effectLst>
                                <a:latin typeface="Cambria Math" panose="02040503050406030204" pitchFamily="18" charset="0"/>
                              </a:rPr>
                              <m:t>𝑡</m:t>
                            </m:r>
                          </m:e>
                        </m:d>
                        <m:r>
                          <a:rPr lang="en-US" altLang="zh-CN" sz="2000" b="0" i="1" smtClean="0">
                            <a:ln w="0"/>
                            <a:solidFill>
                              <a:srgbClr val="C00000"/>
                            </a:solidFill>
                            <a:effectLst>
                              <a:outerShdw blurRad="38100" dist="25400" dir="5400000" algn="ctr" rotWithShape="0">
                                <a:srgbClr val="6E747A">
                                  <a:alpha val="43000"/>
                                </a:srgbClr>
                              </a:outerShdw>
                            </a:effectLst>
                            <a:latin typeface="Cambria Math" panose="02040503050406030204" pitchFamily="18" charset="0"/>
                          </a:rPr>
                          <m:t>−</m:t>
                        </m:r>
                        <m:r>
                          <a:rPr lang="en-US" altLang="zh-CN" sz="2000" b="0" i="1" smtClean="0">
                            <a:ln w="0"/>
                            <a:solidFill>
                              <a:srgbClr val="C00000"/>
                            </a:solidFill>
                            <a:effectLst>
                              <a:outerShdw blurRad="38100" dist="25400" dir="5400000" algn="ctr" rotWithShape="0">
                                <a:srgbClr val="6E747A">
                                  <a:alpha val="43000"/>
                                </a:srgbClr>
                              </a:outerShdw>
                            </a:effectLst>
                            <a:latin typeface="Cambria Math" panose="02040503050406030204" pitchFamily="18" charset="0"/>
                          </a:rPr>
                          <m:t>𝐶</m:t>
                        </m:r>
                      </m:num>
                      <m:den>
                        <m:r>
                          <a:rPr lang="en-US" altLang="zh-CN" sz="2000" b="0" i="1" smtClean="0">
                            <a:ln w="0"/>
                            <a:solidFill>
                              <a:srgbClr val="C00000"/>
                            </a:solidFill>
                            <a:effectLst>
                              <a:outerShdw blurRad="38100" dist="25400" dir="5400000" algn="ctr" rotWithShape="0">
                                <a:srgbClr val="6E747A">
                                  <a:alpha val="43000"/>
                                </a:srgbClr>
                              </a:outerShdw>
                            </a:effectLst>
                            <a:latin typeface="Cambria Math" panose="02040503050406030204" pitchFamily="18" charset="0"/>
                          </a:rPr>
                          <m:t>(1+</m:t>
                        </m:r>
                        <m:r>
                          <a:rPr lang="en-US" altLang="zh-CN" sz="2000" b="0" i="1" smtClean="0">
                            <a:ln w="0"/>
                            <a:solidFill>
                              <a:srgbClr val="C00000"/>
                            </a:solidFill>
                            <a:effectLst>
                              <a:outerShdw blurRad="38100" dist="25400" dir="5400000" algn="ctr" rotWithShape="0">
                                <a:srgbClr val="6E747A">
                                  <a:alpha val="43000"/>
                                </a:srgbClr>
                              </a:outerShdw>
                            </a:effectLst>
                            <a:latin typeface="Cambria Math" panose="02040503050406030204" pitchFamily="18" charset="0"/>
                          </a:rPr>
                          <m:t>𝑖</m:t>
                        </m:r>
                        <m:sSup>
                          <m:sSupPr>
                            <m:ctrlPr>
                              <a:rPr lang="en-US" altLang="zh-CN" sz="2000" b="0" i="1" smtClean="0">
                                <a:ln w="0"/>
                                <a:solidFill>
                                  <a:srgbClr val="C00000"/>
                                </a:solidFill>
                                <a:effectLst>
                                  <a:outerShdw blurRad="38100" dist="25400" dir="5400000" algn="ctr" rotWithShape="0">
                                    <a:srgbClr val="6E747A">
                                      <a:alpha val="43000"/>
                                    </a:srgbClr>
                                  </a:outerShdw>
                                </a:effectLst>
                                <a:latin typeface="Cambria Math" panose="02040503050406030204" pitchFamily="18" charset="0"/>
                              </a:rPr>
                            </m:ctrlPr>
                          </m:sSupPr>
                          <m:e>
                            <m:r>
                              <a:rPr lang="en-US" altLang="zh-CN" sz="2000" b="0" i="1" smtClean="0">
                                <a:ln w="0"/>
                                <a:solidFill>
                                  <a:srgbClr val="C00000"/>
                                </a:solidFill>
                                <a:effectLst>
                                  <a:outerShdw blurRad="38100" dist="25400" dir="5400000" algn="ctr" rotWithShape="0">
                                    <a:srgbClr val="6E747A">
                                      <a:alpha val="43000"/>
                                    </a:srgbClr>
                                  </a:outerShdw>
                                </a:effectLst>
                                <a:latin typeface="Cambria Math" panose="02040503050406030204" pitchFamily="18" charset="0"/>
                              </a:rPr>
                              <m:t>)</m:t>
                            </m:r>
                          </m:e>
                          <m:sup>
                            <m:r>
                              <a:rPr lang="en-US" altLang="zh-CN" sz="2000" b="0" i="1" smtClean="0">
                                <a:ln w="0"/>
                                <a:solidFill>
                                  <a:srgbClr val="C00000"/>
                                </a:solidFill>
                                <a:effectLst>
                                  <a:outerShdw blurRad="38100" dist="25400" dir="5400000" algn="ctr" rotWithShape="0">
                                    <a:srgbClr val="6E747A">
                                      <a:alpha val="43000"/>
                                    </a:srgbClr>
                                  </a:outerShdw>
                                </a:effectLst>
                                <a:latin typeface="Cambria Math" panose="02040503050406030204" pitchFamily="18" charset="0"/>
                              </a:rPr>
                              <m:t>𝑡</m:t>
                            </m:r>
                          </m:sup>
                        </m:sSup>
                      </m:den>
                    </m:f>
                  </m:oMath>
                </a14:m>
                <a:r>
                  <a:rPr lang="en-US" altLang="zh-CN" sz="2000" dirty="0">
                    <a:ln w="0"/>
                    <a:solidFill>
                      <a:srgbClr val="C00000"/>
                    </a:solidFill>
                    <a:effectLst>
                      <a:outerShdw blurRad="38100" dist="25400" dir="5400000" algn="ctr" rotWithShape="0">
                        <a:srgbClr val="6E747A">
                          <a:alpha val="43000"/>
                        </a:srgbClr>
                      </a:outerShdw>
                    </a:effectLst>
                  </a:rPr>
                  <a:t>+</a:t>
                </a:r>
                <a14:m>
                  <m:oMath xmlns:m="http://schemas.openxmlformats.org/officeDocument/2006/math">
                    <m:f>
                      <m:fPr>
                        <m:ctrlPr>
                          <a:rPr lang="en-US" altLang="zh-CN" sz="2000" i="1">
                            <a:ln w="0"/>
                            <a:solidFill>
                              <a:srgbClr val="C00000"/>
                            </a:solidFill>
                            <a:effectLst>
                              <a:outerShdw blurRad="38100" dist="25400" dir="5400000" algn="ctr" rotWithShape="0">
                                <a:srgbClr val="6E747A">
                                  <a:alpha val="43000"/>
                                </a:srgbClr>
                              </a:outerShdw>
                            </a:effectLst>
                            <a:latin typeface="Cambria Math" panose="02040503050406030204" pitchFamily="18" charset="0"/>
                          </a:rPr>
                        </m:ctrlPr>
                      </m:fPr>
                      <m:num>
                        <m:r>
                          <a:rPr lang="en-US" altLang="zh-CN" sz="2000" i="1">
                            <a:ln w="0"/>
                            <a:solidFill>
                              <a:srgbClr val="C00000"/>
                            </a:solidFill>
                            <a:effectLst>
                              <a:outerShdw blurRad="38100" dist="25400" dir="5400000" algn="ctr" rotWithShape="0">
                                <a:srgbClr val="6E747A">
                                  <a:alpha val="43000"/>
                                </a:srgbClr>
                              </a:outerShdw>
                            </a:effectLst>
                            <a:latin typeface="Cambria Math" panose="02040503050406030204" pitchFamily="18" charset="0"/>
                          </a:rPr>
                          <m:t>𝑆</m:t>
                        </m:r>
                        <m:d>
                          <m:dPr>
                            <m:ctrlPr>
                              <a:rPr lang="en-US" altLang="zh-CN" sz="2000" i="1">
                                <a:ln w="0"/>
                                <a:solidFill>
                                  <a:srgbClr val="C00000"/>
                                </a:solidFill>
                                <a:effectLst>
                                  <a:outerShdw blurRad="38100" dist="25400" dir="5400000" algn="ctr" rotWithShape="0">
                                    <a:srgbClr val="6E747A">
                                      <a:alpha val="43000"/>
                                    </a:srgbClr>
                                  </a:outerShdw>
                                </a:effectLst>
                                <a:latin typeface="Cambria Math" panose="02040503050406030204" pitchFamily="18" charset="0"/>
                              </a:rPr>
                            </m:ctrlPr>
                          </m:dPr>
                          <m:e>
                            <m:r>
                              <a:rPr lang="en-US" altLang="zh-CN" sz="2000" i="1">
                                <a:ln w="0"/>
                                <a:solidFill>
                                  <a:srgbClr val="C00000"/>
                                </a:solidFill>
                                <a:effectLst>
                                  <a:outerShdw blurRad="38100" dist="25400" dir="5400000" algn="ctr" rotWithShape="0">
                                    <a:srgbClr val="6E747A">
                                      <a:alpha val="43000"/>
                                    </a:srgbClr>
                                  </a:outerShdw>
                                </a:effectLst>
                                <a:latin typeface="Cambria Math" panose="02040503050406030204" pitchFamily="18" charset="0"/>
                              </a:rPr>
                              <m:t>𝑡</m:t>
                            </m:r>
                          </m:e>
                        </m:d>
                        <m:r>
                          <a:rPr lang="en-US" altLang="zh-CN" sz="2000" i="1">
                            <a:ln w="0"/>
                            <a:solidFill>
                              <a:srgbClr val="C00000"/>
                            </a:solidFill>
                            <a:effectLst>
                              <a:outerShdw blurRad="38100" dist="25400" dir="5400000" algn="ctr" rotWithShape="0">
                                <a:srgbClr val="6E747A">
                                  <a:alpha val="43000"/>
                                </a:srgbClr>
                              </a:outerShdw>
                            </a:effectLst>
                            <a:latin typeface="Cambria Math" panose="02040503050406030204" pitchFamily="18" charset="0"/>
                          </a:rPr>
                          <m:t>−</m:t>
                        </m:r>
                        <m:r>
                          <a:rPr lang="en-US" altLang="zh-CN" sz="2000" i="1">
                            <a:ln w="0"/>
                            <a:solidFill>
                              <a:srgbClr val="C00000"/>
                            </a:solidFill>
                            <a:effectLst>
                              <a:outerShdw blurRad="38100" dist="25400" dir="5400000" algn="ctr" rotWithShape="0">
                                <a:srgbClr val="6E747A">
                                  <a:alpha val="43000"/>
                                </a:srgbClr>
                              </a:outerShdw>
                            </a:effectLst>
                            <a:latin typeface="Cambria Math" panose="02040503050406030204" pitchFamily="18" charset="0"/>
                          </a:rPr>
                          <m:t>𝐶</m:t>
                        </m:r>
                      </m:num>
                      <m:den>
                        <m:r>
                          <a:rPr lang="en-US" altLang="zh-CN" sz="2000" i="1">
                            <a:ln w="0"/>
                            <a:solidFill>
                              <a:srgbClr val="C00000"/>
                            </a:solidFill>
                            <a:effectLst>
                              <a:outerShdw blurRad="38100" dist="25400" dir="5400000" algn="ctr" rotWithShape="0">
                                <a:srgbClr val="6E747A">
                                  <a:alpha val="43000"/>
                                </a:srgbClr>
                              </a:outerShdw>
                            </a:effectLst>
                            <a:latin typeface="Cambria Math" panose="02040503050406030204" pitchFamily="18" charset="0"/>
                          </a:rPr>
                          <m:t>(1+</m:t>
                        </m:r>
                        <m:r>
                          <a:rPr lang="en-US" altLang="zh-CN" sz="2000" i="1">
                            <a:ln w="0"/>
                            <a:solidFill>
                              <a:srgbClr val="C00000"/>
                            </a:solidFill>
                            <a:effectLst>
                              <a:outerShdw blurRad="38100" dist="25400" dir="5400000" algn="ctr" rotWithShape="0">
                                <a:srgbClr val="6E747A">
                                  <a:alpha val="43000"/>
                                </a:srgbClr>
                              </a:outerShdw>
                            </a:effectLst>
                            <a:latin typeface="Cambria Math" panose="02040503050406030204" pitchFamily="18" charset="0"/>
                          </a:rPr>
                          <m:t>𝑖</m:t>
                        </m:r>
                        <m:sSup>
                          <m:sSupPr>
                            <m:ctrlPr>
                              <a:rPr lang="en-US" altLang="zh-CN" sz="2000" i="1">
                                <a:ln w="0"/>
                                <a:solidFill>
                                  <a:srgbClr val="C00000"/>
                                </a:solidFill>
                                <a:effectLst>
                                  <a:outerShdw blurRad="38100" dist="25400" dir="5400000" algn="ctr" rotWithShape="0">
                                    <a:srgbClr val="6E747A">
                                      <a:alpha val="43000"/>
                                    </a:srgbClr>
                                  </a:outerShdw>
                                </a:effectLst>
                                <a:latin typeface="Cambria Math" panose="02040503050406030204" pitchFamily="18" charset="0"/>
                              </a:rPr>
                            </m:ctrlPr>
                          </m:sSupPr>
                          <m:e>
                            <m:r>
                              <a:rPr lang="en-US" altLang="zh-CN" sz="2000" i="1">
                                <a:ln w="0"/>
                                <a:solidFill>
                                  <a:srgbClr val="C00000"/>
                                </a:solidFill>
                                <a:effectLst>
                                  <a:outerShdw blurRad="38100" dist="25400" dir="5400000" algn="ctr" rotWithShape="0">
                                    <a:srgbClr val="6E747A">
                                      <a:alpha val="43000"/>
                                    </a:srgbClr>
                                  </a:outerShdw>
                                </a:effectLst>
                                <a:latin typeface="Cambria Math" panose="02040503050406030204" pitchFamily="18" charset="0"/>
                              </a:rPr>
                              <m:t>)</m:t>
                            </m:r>
                          </m:e>
                          <m:sup>
                            <m:r>
                              <a:rPr lang="en-US" altLang="zh-CN" sz="2000" b="0" i="1" smtClean="0">
                                <a:ln w="0"/>
                                <a:solidFill>
                                  <a:srgbClr val="C00000"/>
                                </a:solidFill>
                                <a:effectLst>
                                  <a:outerShdw blurRad="38100" dist="25400" dir="5400000" algn="ctr" rotWithShape="0">
                                    <a:srgbClr val="6E747A">
                                      <a:alpha val="43000"/>
                                    </a:srgbClr>
                                  </a:outerShdw>
                                </a:effectLst>
                                <a:latin typeface="Cambria Math" panose="02040503050406030204" pitchFamily="18" charset="0"/>
                              </a:rPr>
                              <m:t>2</m:t>
                            </m:r>
                            <m:r>
                              <a:rPr lang="en-US" altLang="zh-CN" sz="2000" i="1">
                                <a:ln w="0"/>
                                <a:solidFill>
                                  <a:srgbClr val="C00000"/>
                                </a:solidFill>
                                <a:effectLst>
                                  <a:outerShdw blurRad="38100" dist="25400" dir="5400000" algn="ctr" rotWithShape="0">
                                    <a:srgbClr val="6E747A">
                                      <a:alpha val="43000"/>
                                    </a:srgbClr>
                                  </a:outerShdw>
                                </a:effectLst>
                                <a:latin typeface="Cambria Math" panose="02040503050406030204" pitchFamily="18" charset="0"/>
                              </a:rPr>
                              <m:t>𝑡</m:t>
                            </m:r>
                          </m:sup>
                        </m:sSup>
                      </m:den>
                    </m:f>
                    <m:r>
                      <a:rPr lang="en-US" altLang="zh-CN" sz="2000" b="0" i="1" smtClean="0">
                        <a:ln w="0"/>
                        <a:solidFill>
                          <a:srgbClr val="C00000"/>
                        </a:solidFill>
                        <a:effectLst>
                          <a:outerShdw blurRad="38100" dist="25400" dir="5400000" algn="ctr" rotWithShape="0">
                            <a:srgbClr val="6E747A">
                              <a:alpha val="43000"/>
                            </a:srgbClr>
                          </a:outerShdw>
                        </a:effectLst>
                        <a:latin typeface="Cambria Math" panose="02040503050406030204" pitchFamily="18" charset="0"/>
                      </a:rPr>
                      <m:t>+</m:t>
                    </m:r>
                    <m:r>
                      <a:rPr lang="en-US" altLang="zh-CN" sz="2000" i="1">
                        <a:ln w="0"/>
                        <a:solidFill>
                          <a:srgbClr val="C00000"/>
                        </a:solidFill>
                        <a:effectLst>
                          <a:outerShdw blurRad="38100" dist="25400" dir="5400000" algn="ctr" rotWithShape="0">
                            <a:srgbClr val="6E747A">
                              <a:alpha val="43000"/>
                            </a:srgbClr>
                          </a:outerShdw>
                        </a:effectLst>
                        <a:latin typeface="Cambria Math" panose="02040503050406030204" pitchFamily="18" charset="0"/>
                      </a:rPr>
                      <m:t>…</m:t>
                    </m:r>
                    <m:f>
                      <m:fPr>
                        <m:ctrlPr>
                          <a:rPr lang="en-US" altLang="zh-CN" sz="2000" i="1">
                            <a:ln w="0"/>
                            <a:solidFill>
                              <a:srgbClr val="C00000"/>
                            </a:solidFill>
                            <a:effectLst>
                              <a:outerShdw blurRad="38100" dist="25400" dir="5400000" algn="ctr" rotWithShape="0">
                                <a:srgbClr val="6E747A">
                                  <a:alpha val="43000"/>
                                </a:srgbClr>
                              </a:outerShdw>
                            </a:effectLst>
                            <a:latin typeface="Cambria Math" panose="02040503050406030204" pitchFamily="18" charset="0"/>
                          </a:rPr>
                        </m:ctrlPr>
                      </m:fPr>
                      <m:num>
                        <m:r>
                          <a:rPr lang="en-US" altLang="zh-CN" sz="2000" i="1">
                            <a:ln w="0"/>
                            <a:solidFill>
                              <a:srgbClr val="C00000"/>
                            </a:solidFill>
                            <a:effectLst>
                              <a:outerShdw blurRad="38100" dist="25400" dir="5400000" algn="ctr" rotWithShape="0">
                                <a:srgbClr val="6E747A">
                                  <a:alpha val="43000"/>
                                </a:srgbClr>
                              </a:outerShdw>
                            </a:effectLst>
                            <a:latin typeface="Cambria Math" panose="02040503050406030204" pitchFamily="18" charset="0"/>
                          </a:rPr>
                          <m:t>𝑆</m:t>
                        </m:r>
                        <m:d>
                          <m:dPr>
                            <m:ctrlPr>
                              <a:rPr lang="en-US" altLang="zh-CN" sz="2000" i="1">
                                <a:ln w="0"/>
                                <a:solidFill>
                                  <a:srgbClr val="C00000"/>
                                </a:solidFill>
                                <a:effectLst>
                                  <a:outerShdw blurRad="38100" dist="25400" dir="5400000" algn="ctr" rotWithShape="0">
                                    <a:srgbClr val="6E747A">
                                      <a:alpha val="43000"/>
                                    </a:srgbClr>
                                  </a:outerShdw>
                                </a:effectLst>
                                <a:latin typeface="Cambria Math" panose="02040503050406030204" pitchFamily="18" charset="0"/>
                              </a:rPr>
                            </m:ctrlPr>
                          </m:dPr>
                          <m:e>
                            <m:r>
                              <a:rPr lang="en-US" altLang="zh-CN" sz="2000" i="1">
                                <a:ln w="0"/>
                                <a:solidFill>
                                  <a:srgbClr val="C00000"/>
                                </a:solidFill>
                                <a:effectLst>
                                  <a:outerShdw blurRad="38100" dist="25400" dir="5400000" algn="ctr" rotWithShape="0">
                                    <a:srgbClr val="6E747A">
                                      <a:alpha val="43000"/>
                                    </a:srgbClr>
                                  </a:outerShdw>
                                </a:effectLst>
                                <a:latin typeface="Cambria Math" panose="02040503050406030204" pitchFamily="18" charset="0"/>
                              </a:rPr>
                              <m:t>𝑡</m:t>
                            </m:r>
                          </m:e>
                        </m:d>
                        <m:r>
                          <a:rPr lang="en-US" altLang="zh-CN" sz="2000" i="1">
                            <a:ln w="0"/>
                            <a:solidFill>
                              <a:srgbClr val="C00000"/>
                            </a:solidFill>
                            <a:effectLst>
                              <a:outerShdw blurRad="38100" dist="25400" dir="5400000" algn="ctr" rotWithShape="0">
                                <a:srgbClr val="6E747A">
                                  <a:alpha val="43000"/>
                                </a:srgbClr>
                              </a:outerShdw>
                            </a:effectLst>
                            <a:latin typeface="Cambria Math" panose="02040503050406030204" pitchFamily="18" charset="0"/>
                          </a:rPr>
                          <m:t>−</m:t>
                        </m:r>
                        <m:r>
                          <a:rPr lang="en-US" altLang="zh-CN" sz="2000" i="1">
                            <a:ln w="0"/>
                            <a:solidFill>
                              <a:srgbClr val="C00000"/>
                            </a:solidFill>
                            <a:effectLst>
                              <a:outerShdw blurRad="38100" dist="25400" dir="5400000" algn="ctr" rotWithShape="0">
                                <a:srgbClr val="6E747A">
                                  <a:alpha val="43000"/>
                                </a:srgbClr>
                              </a:outerShdw>
                            </a:effectLst>
                            <a:latin typeface="Cambria Math" panose="02040503050406030204" pitchFamily="18" charset="0"/>
                          </a:rPr>
                          <m:t>𝐶</m:t>
                        </m:r>
                      </m:num>
                      <m:den>
                        <m:r>
                          <a:rPr lang="en-US" altLang="zh-CN" sz="2000" i="1">
                            <a:ln w="0"/>
                            <a:solidFill>
                              <a:srgbClr val="C00000"/>
                            </a:solidFill>
                            <a:effectLst>
                              <a:outerShdw blurRad="38100" dist="25400" dir="5400000" algn="ctr" rotWithShape="0">
                                <a:srgbClr val="6E747A">
                                  <a:alpha val="43000"/>
                                </a:srgbClr>
                              </a:outerShdw>
                            </a:effectLst>
                            <a:latin typeface="Cambria Math" panose="02040503050406030204" pitchFamily="18" charset="0"/>
                          </a:rPr>
                          <m:t>(1+</m:t>
                        </m:r>
                        <m:r>
                          <a:rPr lang="en-US" altLang="zh-CN" sz="2000" i="1">
                            <a:ln w="0"/>
                            <a:solidFill>
                              <a:srgbClr val="C00000"/>
                            </a:solidFill>
                            <a:effectLst>
                              <a:outerShdw blurRad="38100" dist="25400" dir="5400000" algn="ctr" rotWithShape="0">
                                <a:srgbClr val="6E747A">
                                  <a:alpha val="43000"/>
                                </a:srgbClr>
                              </a:outerShdw>
                            </a:effectLst>
                            <a:latin typeface="Cambria Math" panose="02040503050406030204" pitchFamily="18" charset="0"/>
                          </a:rPr>
                          <m:t>𝑖</m:t>
                        </m:r>
                        <m:sSup>
                          <m:sSupPr>
                            <m:ctrlPr>
                              <a:rPr lang="en-US" altLang="zh-CN" sz="2000" i="1">
                                <a:ln w="0"/>
                                <a:solidFill>
                                  <a:srgbClr val="C00000"/>
                                </a:solidFill>
                                <a:effectLst>
                                  <a:outerShdw blurRad="38100" dist="25400" dir="5400000" algn="ctr" rotWithShape="0">
                                    <a:srgbClr val="6E747A">
                                      <a:alpha val="43000"/>
                                    </a:srgbClr>
                                  </a:outerShdw>
                                </a:effectLst>
                                <a:latin typeface="Cambria Math" panose="02040503050406030204" pitchFamily="18" charset="0"/>
                              </a:rPr>
                            </m:ctrlPr>
                          </m:sSupPr>
                          <m:e>
                            <m:r>
                              <a:rPr lang="en-US" altLang="zh-CN" sz="2000" i="1">
                                <a:ln w="0"/>
                                <a:solidFill>
                                  <a:srgbClr val="C00000"/>
                                </a:solidFill>
                                <a:effectLst>
                                  <a:outerShdw blurRad="38100" dist="25400" dir="5400000" algn="ctr" rotWithShape="0">
                                    <a:srgbClr val="6E747A">
                                      <a:alpha val="43000"/>
                                    </a:srgbClr>
                                  </a:outerShdw>
                                </a:effectLst>
                                <a:latin typeface="Cambria Math" panose="02040503050406030204" pitchFamily="18" charset="0"/>
                              </a:rPr>
                              <m:t>)</m:t>
                            </m:r>
                          </m:e>
                          <m:sup>
                            <m:r>
                              <a:rPr lang="en-US" altLang="zh-CN" sz="2000" i="1" smtClean="0">
                                <a:ln w="0"/>
                                <a:solidFill>
                                  <a:srgbClr val="C00000"/>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rPr>
                              <m:t>∞</m:t>
                            </m:r>
                            <m:r>
                              <a:rPr lang="en-US" altLang="zh-CN" sz="2000" i="1">
                                <a:ln w="0"/>
                                <a:solidFill>
                                  <a:srgbClr val="C00000"/>
                                </a:solidFill>
                                <a:effectLst>
                                  <a:outerShdw blurRad="38100" dist="25400" dir="5400000" algn="ctr" rotWithShape="0">
                                    <a:srgbClr val="6E747A">
                                      <a:alpha val="43000"/>
                                    </a:srgbClr>
                                  </a:outerShdw>
                                </a:effectLst>
                                <a:latin typeface="Cambria Math" panose="02040503050406030204" pitchFamily="18" charset="0"/>
                              </a:rPr>
                              <m:t>𝑡</m:t>
                            </m:r>
                          </m:sup>
                        </m:sSup>
                      </m:den>
                    </m:f>
                  </m:oMath>
                </a14:m>
                <a:endParaRPr lang="zh-CN" altLang="en-US" sz="2000" dirty="0">
                  <a:ln w="0"/>
                  <a:solidFill>
                    <a:srgbClr val="C00000"/>
                  </a:solidFill>
                  <a:effectLst>
                    <a:outerShdw blurRad="38100" dist="25400" dir="5400000" algn="ctr" rotWithShape="0">
                      <a:srgbClr val="6E747A">
                        <a:alpha val="43000"/>
                      </a:srgbClr>
                    </a:outerShdw>
                  </a:effectLst>
                </a:endParaRPr>
              </a:p>
            </p:txBody>
          </p:sp>
        </mc:Choice>
        <mc:Fallback xmlns="">
          <p:sp>
            <p:nvSpPr>
              <p:cNvPr id="9" name="文本框 8"/>
              <p:cNvSpPr txBox="1">
                <a:spLocks noRot="1" noChangeAspect="1" noMove="1" noResize="1" noEditPoints="1" noAdjustHandles="1" noChangeArrowheads="1" noChangeShapeType="1" noTextEdit="1"/>
              </p:cNvSpPr>
              <p:nvPr/>
            </p:nvSpPr>
            <p:spPr>
              <a:xfrm>
                <a:off x="659962" y="5093046"/>
                <a:ext cx="7186583" cy="1206292"/>
              </a:xfrm>
              <a:prstGeom prst="rect">
                <a:avLst/>
              </a:prstGeom>
              <a:blipFill rotWithShape="0">
                <a:blip r:embed="rId6"/>
                <a:stretch>
                  <a:fillRect l="-1103" t="-3535" r="-424" b="-303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文本框 9"/>
              <p:cNvSpPr txBox="1"/>
              <p:nvPr/>
            </p:nvSpPr>
            <p:spPr>
              <a:xfrm>
                <a:off x="5199017" y="2955611"/>
                <a:ext cx="3185487" cy="1371658"/>
              </a:xfrm>
              <a:prstGeom prst="rect">
                <a:avLst/>
              </a:prstGeom>
              <a:noFill/>
            </p:spPr>
            <p:txBody>
              <a:bodyPr wrap="none" rtlCol="0">
                <a:spAutoFit/>
              </a:bodyPr>
              <a:lstStyle/>
              <a:p>
                <a:r>
                  <a:rPr lang="zh-CN" altLang="en-US" dirty="0"/>
                  <a:t>根据无穷等比数列求和公式：</a:t>
                </a:r>
                <a:endParaRPr lang="en-US" altLang="zh-CN" dirty="0"/>
              </a:p>
              <a:p>
                <a:r>
                  <a:rPr lang="en-US" altLang="zh-CN" dirty="0"/>
                  <a:t>S=a/(1-q)</a:t>
                </a:r>
              </a:p>
              <a:p>
                <a:r>
                  <a:rPr lang="en-US" altLang="zh-CN" dirty="0"/>
                  <a:t>a= </a:t>
                </a:r>
                <a14:m>
                  <m:oMath xmlns:m="http://schemas.openxmlformats.org/officeDocument/2006/math">
                    <m:f>
                      <m:fPr>
                        <m:ctrlPr>
                          <a:rPr lang="en-US" altLang="zh-CN" i="1">
                            <a:ln w="0"/>
                            <a:solidFill>
                              <a:srgbClr val="C00000"/>
                            </a:solidFill>
                            <a:effectLst>
                              <a:outerShdw blurRad="38100" dist="25400" dir="5400000" algn="ctr" rotWithShape="0">
                                <a:srgbClr val="6E747A">
                                  <a:alpha val="43000"/>
                                </a:srgbClr>
                              </a:outerShdw>
                            </a:effectLst>
                            <a:latin typeface="Cambria Math" panose="02040503050406030204" pitchFamily="18" charset="0"/>
                          </a:rPr>
                        </m:ctrlPr>
                      </m:fPr>
                      <m:num>
                        <m:r>
                          <a:rPr lang="en-US" altLang="zh-CN" i="1">
                            <a:ln w="0"/>
                            <a:solidFill>
                              <a:srgbClr val="C00000"/>
                            </a:solidFill>
                            <a:effectLst>
                              <a:outerShdw blurRad="38100" dist="25400" dir="5400000" algn="ctr" rotWithShape="0">
                                <a:srgbClr val="6E747A">
                                  <a:alpha val="43000"/>
                                </a:srgbClr>
                              </a:outerShdw>
                            </a:effectLst>
                            <a:latin typeface="Cambria Math" panose="02040503050406030204" pitchFamily="18" charset="0"/>
                          </a:rPr>
                          <m:t>𝑆</m:t>
                        </m:r>
                        <m:d>
                          <m:dPr>
                            <m:ctrlPr>
                              <a:rPr lang="en-US" altLang="zh-CN" i="1">
                                <a:ln w="0"/>
                                <a:solidFill>
                                  <a:srgbClr val="C00000"/>
                                </a:solidFill>
                                <a:effectLst>
                                  <a:outerShdw blurRad="38100" dist="25400" dir="5400000" algn="ctr" rotWithShape="0">
                                    <a:srgbClr val="6E747A">
                                      <a:alpha val="43000"/>
                                    </a:srgbClr>
                                  </a:outerShdw>
                                </a:effectLst>
                                <a:latin typeface="Cambria Math" panose="02040503050406030204" pitchFamily="18" charset="0"/>
                              </a:rPr>
                            </m:ctrlPr>
                          </m:dPr>
                          <m:e>
                            <m:r>
                              <a:rPr lang="en-US" altLang="zh-CN" i="1">
                                <a:ln w="0"/>
                                <a:solidFill>
                                  <a:srgbClr val="C00000"/>
                                </a:solidFill>
                                <a:effectLst>
                                  <a:outerShdw blurRad="38100" dist="25400" dir="5400000" algn="ctr" rotWithShape="0">
                                    <a:srgbClr val="6E747A">
                                      <a:alpha val="43000"/>
                                    </a:srgbClr>
                                  </a:outerShdw>
                                </a:effectLst>
                                <a:latin typeface="Cambria Math" panose="02040503050406030204" pitchFamily="18" charset="0"/>
                              </a:rPr>
                              <m:t>𝑡</m:t>
                            </m:r>
                          </m:e>
                        </m:d>
                        <m:r>
                          <a:rPr lang="en-US" altLang="zh-CN" i="1">
                            <a:ln w="0"/>
                            <a:solidFill>
                              <a:srgbClr val="C00000"/>
                            </a:solidFill>
                            <a:effectLst>
                              <a:outerShdw blurRad="38100" dist="25400" dir="5400000" algn="ctr" rotWithShape="0">
                                <a:srgbClr val="6E747A">
                                  <a:alpha val="43000"/>
                                </a:srgbClr>
                              </a:outerShdw>
                            </a:effectLst>
                            <a:latin typeface="Cambria Math" panose="02040503050406030204" pitchFamily="18" charset="0"/>
                          </a:rPr>
                          <m:t>−</m:t>
                        </m:r>
                        <m:r>
                          <a:rPr lang="en-US" altLang="zh-CN" i="1">
                            <a:ln w="0"/>
                            <a:solidFill>
                              <a:srgbClr val="C00000"/>
                            </a:solidFill>
                            <a:effectLst>
                              <a:outerShdw blurRad="38100" dist="25400" dir="5400000" algn="ctr" rotWithShape="0">
                                <a:srgbClr val="6E747A">
                                  <a:alpha val="43000"/>
                                </a:srgbClr>
                              </a:outerShdw>
                            </a:effectLst>
                            <a:latin typeface="Cambria Math" panose="02040503050406030204" pitchFamily="18" charset="0"/>
                          </a:rPr>
                          <m:t>𝐶</m:t>
                        </m:r>
                      </m:num>
                      <m:den>
                        <m:r>
                          <a:rPr lang="en-US" altLang="zh-CN" i="1">
                            <a:ln w="0"/>
                            <a:solidFill>
                              <a:srgbClr val="C00000"/>
                            </a:solidFill>
                            <a:effectLst>
                              <a:outerShdw blurRad="38100" dist="25400" dir="5400000" algn="ctr" rotWithShape="0">
                                <a:srgbClr val="6E747A">
                                  <a:alpha val="43000"/>
                                </a:srgbClr>
                              </a:outerShdw>
                            </a:effectLst>
                            <a:latin typeface="Cambria Math" panose="02040503050406030204" pitchFamily="18" charset="0"/>
                          </a:rPr>
                          <m:t>(1+</m:t>
                        </m:r>
                        <m:r>
                          <a:rPr lang="en-US" altLang="zh-CN" i="1">
                            <a:ln w="0"/>
                            <a:solidFill>
                              <a:srgbClr val="C00000"/>
                            </a:solidFill>
                            <a:effectLst>
                              <a:outerShdw blurRad="38100" dist="25400" dir="5400000" algn="ctr" rotWithShape="0">
                                <a:srgbClr val="6E747A">
                                  <a:alpha val="43000"/>
                                </a:srgbClr>
                              </a:outerShdw>
                            </a:effectLst>
                            <a:latin typeface="Cambria Math" panose="02040503050406030204" pitchFamily="18" charset="0"/>
                          </a:rPr>
                          <m:t>𝑖</m:t>
                        </m:r>
                        <m:sSup>
                          <m:sSupPr>
                            <m:ctrlPr>
                              <a:rPr lang="en-US" altLang="zh-CN" i="1">
                                <a:ln w="0"/>
                                <a:solidFill>
                                  <a:srgbClr val="C00000"/>
                                </a:solidFill>
                                <a:effectLst>
                                  <a:outerShdw blurRad="38100" dist="25400" dir="5400000" algn="ctr" rotWithShape="0">
                                    <a:srgbClr val="6E747A">
                                      <a:alpha val="43000"/>
                                    </a:srgbClr>
                                  </a:outerShdw>
                                </a:effectLst>
                                <a:latin typeface="Cambria Math" panose="02040503050406030204" pitchFamily="18" charset="0"/>
                              </a:rPr>
                            </m:ctrlPr>
                          </m:sSupPr>
                          <m:e>
                            <m:r>
                              <a:rPr lang="en-US" altLang="zh-CN" i="1">
                                <a:ln w="0"/>
                                <a:solidFill>
                                  <a:srgbClr val="C00000"/>
                                </a:solidFill>
                                <a:effectLst>
                                  <a:outerShdw blurRad="38100" dist="25400" dir="5400000" algn="ctr" rotWithShape="0">
                                    <a:srgbClr val="6E747A">
                                      <a:alpha val="43000"/>
                                    </a:srgbClr>
                                  </a:outerShdw>
                                </a:effectLst>
                                <a:latin typeface="Cambria Math" panose="02040503050406030204" pitchFamily="18" charset="0"/>
                              </a:rPr>
                              <m:t>)</m:t>
                            </m:r>
                          </m:e>
                          <m:sup>
                            <m:r>
                              <a:rPr lang="en-US" altLang="zh-CN" i="1">
                                <a:ln w="0"/>
                                <a:solidFill>
                                  <a:srgbClr val="C00000"/>
                                </a:solidFill>
                                <a:effectLst>
                                  <a:outerShdw blurRad="38100" dist="25400" dir="5400000" algn="ctr" rotWithShape="0">
                                    <a:srgbClr val="6E747A">
                                      <a:alpha val="43000"/>
                                    </a:srgbClr>
                                  </a:outerShdw>
                                </a:effectLst>
                                <a:latin typeface="Cambria Math" panose="02040503050406030204" pitchFamily="18" charset="0"/>
                              </a:rPr>
                              <m:t>𝑡</m:t>
                            </m:r>
                          </m:sup>
                        </m:sSup>
                      </m:den>
                    </m:f>
                  </m:oMath>
                </a14:m>
                <a:r>
                  <a:rPr lang="zh-CN" altLang="en-US" dirty="0"/>
                  <a:t> </a:t>
                </a:r>
                <a:r>
                  <a:rPr lang="en-US" altLang="zh-CN" dirty="0"/>
                  <a:t>q=</a:t>
                </a:r>
                <a14:m>
                  <m:oMath xmlns:m="http://schemas.openxmlformats.org/officeDocument/2006/math">
                    <m:f>
                      <m:fPr>
                        <m:ctrlPr>
                          <a:rPr lang="en-US" altLang="zh-CN" i="1">
                            <a:ln w="0"/>
                            <a:solidFill>
                              <a:srgbClr val="C00000"/>
                            </a:solidFill>
                            <a:effectLst>
                              <a:outerShdw blurRad="38100" dist="25400" dir="5400000" algn="ctr" rotWithShape="0">
                                <a:srgbClr val="6E747A">
                                  <a:alpha val="43000"/>
                                </a:srgbClr>
                              </a:outerShdw>
                            </a:effectLst>
                            <a:latin typeface="Cambria Math" panose="02040503050406030204" pitchFamily="18" charset="0"/>
                          </a:rPr>
                        </m:ctrlPr>
                      </m:fPr>
                      <m:num>
                        <m:r>
                          <a:rPr lang="en-US" altLang="zh-CN" b="0" i="1" smtClean="0">
                            <a:ln w="0"/>
                            <a:solidFill>
                              <a:srgbClr val="C00000"/>
                            </a:solidFill>
                            <a:effectLst>
                              <a:outerShdw blurRad="38100" dist="25400" dir="5400000" algn="ctr" rotWithShape="0">
                                <a:srgbClr val="6E747A">
                                  <a:alpha val="43000"/>
                                </a:srgbClr>
                              </a:outerShdw>
                            </a:effectLst>
                            <a:latin typeface="Cambria Math" panose="02040503050406030204" pitchFamily="18" charset="0"/>
                          </a:rPr>
                          <m:t>1</m:t>
                        </m:r>
                      </m:num>
                      <m:den>
                        <m:r>
                          <a:rPr lang="en-US" altLang="zh-CN" i="1">
                            <a:ln w="0"/>
                            <a:solidFill>
                              <a:srgbClr val="C00000"/>
                            </a:solidFill>
                            <a:effectLst>
                              <a:outerShdw blurRad="38100" dist="25400" dir="5400000" algn="ctr" rotWithShape="0">
                                <a:srgbClr val="6E747A">
                                  <a:alpha val="43000"/>
                                </a:srgbClr>
                              </a:outerShdw>
                            </a:effectLst>
                            <a:latin typeface="Cambria Math" panose="02040503050406030204" pitchFamily="18" charset="0"/>
                          </a:rPr>
                          <m:t>(1+</m:t>
                        </m:r>
                        <m:r>
                          <a:rPr lang="en-US" altLang="zh-CN" i="1">
                            <a:ln w="0"/>
                            <a:solidFill>
                              <a:srgbClr val="C00000"/>
                            </a:solidFill>
                            <a:effectLst>
                              <a:outerShdw blurRad="38100" dist="25400" dir="5400000" algn="ctr" rotWithShape="0">
                                <a:srgbClr val="6E747A">
                                  <a:alpha val="43000"/>
                                </a:srgbClr>
                              </a:outerShdw>
                            </a:effectLst>
                            <a:latin typeface="Cambria Math" panose="02040503050406030204" pitchFamily="18" charset="0"/>
                          </a:rPr>
                          <m:t>𝑖</m:t>
                        </m:r>
                        <m:sSup>
                          <m:sSupPr>
                            <m:ctrlPr>
                              <a:rPr lang="en-US" altLang="zh-CN" i="1">
                                <a:ln w="0"/>
                                <a:solidFill>
                                  <a:srgbClr val="C00000"/>
                                </a:solidFill>
                                <a:effectLst>
                                  <a:outerShdw blurRad="38100" dist="25400" dir="5400000" algn="ctr" rotWithShape="0">
                                    <a:srgbClr val="6E747A">
                                      <a:alpha val="43000"/>
                                    </a:srgbClr>
                                  </a:outerShdw>
                                </a:effectLst>
                                <a:latin typeface="Cambria Math" panose="02040503050406030204" pitchFamily="18" charset="0"/>
                              </a:rPr>
                            </m:ctrlPr>
                          </m:sSupPr>
                          <m:e>
                            <m:r>
                              <a:rPr lang="en-US" altLang="zh-CN" i="1">
                                <a:ln w="0"/>
                                <a:solidFill>
                                  <a:srgbClr val="C00000"/>
                                </a:solidFill>
                                <a:effectLst>
                                  <a:outerShdw blurRad="38100" dist="25400" dir="5400000" algn="ctr" rotWithShape="0">
                                    <a:srgbClr val="6E747A">
                                      <a:alpha val="43000"/>
                                    </a:srgbClr>
                                  </a:outerShdw>
                                </a:effectLst>
                                <a:latin typeface="Cambria Math" panose="02040503050406030204" pitchFamily="18" charset="0"/>
                              </a:rPr>
                              <m:t>)</m:t>
                            </m:r>
                          </m:e>
                          <m:sup>
                            <m:r>
                              <a:rPr lang="en-US" altLang="zh-CN" i="1">
                                <a:ln w="0"/>
                                <a:solidFill>
                                  <a:srgbClr val="C00000"/>
                                </a:solidFill>
                                <a:effectLst>
                                  <a:outerShdw blurRad="38100" dist="25400" dir="5400000" algn="ctr" rotWithShape="0">
                                    <a:srgbClr val="6E747A">
                                      <a:alpha val="43000"/>
                                    </a:srgbClr>
                                  </a:outerShdw>
                                </a:effectLst>
                                <a:latin typeface="Cambria Math" panose="02040503050406030204" pitchFamily="18" charset="0"/>
                              </a:rPr>
                              <m:t>𝑡</m:t>
                            </m:r>
                          </m:sup>
                        </m:sSup>
                      </m:den>
                    </m:f>
                  </m:oMath>
                </a14:m>
                <a:endParaRPr lang="en-US" altLang="zh-CN" dirty="0"/>
              </a:p>
              <a:p>
                <a:r>
                  <a:rPr lang="zh-CN" altLang="en-US" dirty="0"/>
                  <a:t>求得</a:t>
                </a:r>
                <a:r>
                  <a:rPr lang="en-US" altLang="zh-CN" dirty="0"/>
                  <a:t>Vs</a:t>
                </a:r>
                <a:endParaRPr lang="zh-CN" altLang="en-US" dirty="0"/>
              </a:p>
            </p:txBody>
          </p:sp>
        </mc:Choice>
        <mc:Fallback xmlns="">
          <p:sp>
            <p:nvSpPr>
              <p:cNvPr id="10" name="文本框 9"/>
              <p:cNvSpPr txBox="1">
                <a:spLocks noRot="1" noChangeAspect="1" noMove="1" noResize="1" noEditPoints="1" noAdjustHandles="1" noChangeArrowheads="1" noChangeShapeType="1" noTextEdit="1"/>
              </p:cNvSpPr>
              <p:nvPr/>
            </p:nvSpPr>
            <p:spPr>
              <a:xfrm>
                <a:off x="5199017" y="2955611"/>
                <a:ext cx="3185487" cy="1371658"/>
              </a:xfrm>
              <a:prstGeom prst="rect">
                <a:avLst/>
              </a:prstGeom>
              <a:blipFill rotWithShape="0">
                <a:blip r:embed="rId7"/>
                <a:stretch>
                  <a:fillRect l="-1724" t="-2222" r="-1149" b="-6667"/>
                </a:stretch>
              </a:blipFill>
            </p:spPr>
            <p:txBody>
              <a:bodyPr/>
              <a:lstStyle/>
              <a:p>
                <a:r>
                  <a:rPr lang="zh-CN" altLang="en-US">
                    <a:noFill/>
                  </a:rPr>
                  <a:t> </a:t>
                </a:r>
              </a:p>
            </p:txBody>
          </p:sp>
        </mc:Fallback>
      </mc:AlternateContent>
      <p:sp>
        <p:nvSpPr>
          <p:cNvPr id="11" name="矩形 10"/>
          <p:cNvSpPr/>
          <p:nvPr/>
        </p:nvSpPr>
        <p:spPr>
          <a:xfrm>
            <a:off x="2985392" y="2089096"/>
            <a:ext cx="3010459" cy="731873"/>
          </a:xfrm>
          <a:prstGeom prst="rect">
            <a:avLst/>
          </a:prstGeom>
          <a:noFill/>
          <a:ln>
            <a:solidFill>
              <a:srgbClr val="FF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p:nvSpPr>
        <p:spPr>
          <a:xfrm>
            <a:off x="1345474" y="1397726"/>
            <a:ext cx="940526" cy="1136468"/>
          </a:xfrm>
          <a:prstGeom prst="ellipse">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4" name="直接箭头连接符 13"/>
          <p:cNvCxnSpPr>
            <a:stCxn id="12" idx="1"/>
          </p:cNvCxnSpPr>
          <p:nvPr/>
        </p:nvCxnSpPr>
        <p:spPr>
          <a:xfrm flipH="1" flipV="1">
            <a:off x="1123406" y="1397726"/>
            <a:ext cx="359805" cy="166432"/>
          </a:xfrm>
          <a:prstGeom prst="straightConnector1">
            <a:avLst/>
          </a:prstGeom>
          <a:ln>
            <a:headEnd type="triangle" w="med" len="med"/>
            <a:tailEnd type="none" w="med" len="med"/>
          </a:ln>
        </p:spPr>
        <p:style>
          <a:lnRef idx="3">
            <a:schemeClr val="accent3"/>
          </a:lnRef>
          <a:fillRef idx="0">
            <a:schemeClr val="accent3"/>
          </a:fillRef>
          <a:effectRef idx="2">
            <a:schemeClr val="accent3"/>
          </a:effectRef>
          <a:fontRef idx="minor">
            <a:schemeClr val="tx1"/>
          </a:fontRef>
        </p:style>
      </p:cxnSp>
      <p:sp>
        <p:nvSpPr>
          <p:cNvPr id="16" name="文本框 15"/>
          <p:cNvSpPr txBox="1"/>
          <p:nvPr/>
        </p:nvSpPr>
        <p:spPr>
          <a:xfrm>
            <a:off x="523060" y="1124673"/>
            <a:ext cx="686406" cy="400110"/>
          </a:xfrm>
          <a:prstGeom prst="rect">
            <a:avLst/>
          </a:prstGeom>
          <a:noFill/>
        </p:spPr>
        <p:txBody>
          <a:bodyPr wrap="none" rtlCol="0">
            <a:spAutoFit/>
          </a:bodyPr>
          <a:lstStyle/>
          <a:p>
            <a:r>
              <a:rPr lang="en-US" altLang="zh-CN" sz="2000" dirty="0">
                <a:ln w="3175">
                  <a:solidFill>
                    <a:schemeClr val="bg1">
                      <a:lumMod val="95000"/>
                    </a:schemeClr>
                  </a:solidFill>
                </a:ln>
                <a:solidFill>
                  <a:srgbClr val="FFC000"/>
                </a:solidFill>
                <a:effectLst>
                  <a:outerShdw blurRad="50800" dist="38100" dir="2700000" algn="tl" rotWithShape="0">
                    <a:prstClr val="black">
                      <a:alpha val="40000"/>
                    </a:prstClr>
                  </a:outerShdw>
                </a:effectLst>
              </a:rPr>
              <a:t>Max</a:t>
            </a:r>
            <a:endParaRPr lang="zh-CN" altLang="en-US" sz="2000" dirty="0">
              <a:ln w="3175">
                <a:solidFill>
                  <a:schemeClr val="bg1">
                    <a:lumMod val="95000"/>
                  </a:schemeClr>
                </a:solidFill>
              </a:ln>
              <a:solidFill>
                <a:srgbClr val="FFC000"/>
              </a:solidFill>
              <a:effectLst>
                <a:outerShdw blurRad="50800" dist="38100" dir="2700000" algn="tl" rotWithShape="0">
                  <a:prstClr val="black">
                    <a:alpha val="40000"/>
                  </a:prstClr>
                </a:outerShdw>
              </a:effectLst>
            </a:endParaRPr>
          </a:p>
        </p:txBody>
      </p:sp>
    </p:spTree>
    <p:extLst>
      <p:ext uri="{BB962C8B-B14F-4D97-AF65-F5344CB8AC3E}">
        <p14:creationId xmlns:p14="http://schemas.microsoft.com/office/powerpoint/2010/main" val="376547622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32" presetClass="emph" presetSubtype="0" repeatCount="indefinite" fill="hold" grpId="0" nodeType="withEffect">
                                  <p:stCondLst>
                                    <p:cond delay="0"/>
                                  </p:stCondLst>
                                  <p:endCondLst>
                                    <p:cond evt="onNext" delay="0">
                                      <p:tgtEl>
                                        <p:sldTgt/>
                                      </p:tgtEl>
                                    </p:cond>
                                  </p:endCondLst>
                                  <p:childTnLst>
                                    <p:animRot by="120000">
                                      <p:cBhvr>
                                        <p:cTn id="8" dur="100" fill="hold">
                                          <p:stCondLst>
                                            <p:cond delay="0"/>
                                          </p:stCondLst>
                                        </p:cTn>
                                        <p:tgtEl>
                                          <p:spTgt spid="4"/>
                                        </p:tgtEl>
                                        <p:attrNameLst>
                                          <p:attrName>r</p:attrName>
                                        </p:attrNameLst>
                                      </p:cBhvr>
                                    </p:animRot>
                                    <p:animRot by="-240000">
                                      <p:cBhvr>
                                        <p:cTn id="9" dur="200" fill="hold">
                                          <p:stCondLst>
                                            <p:cond delay="200"/>
                                          </p:stCondLst>
                                        </p:cTn>
                                        <p:tgtEl>
                                          <p:spTgt spid="4"/>
                                        </p:tgtEl>
                                        <p:attrNameLst>
                                          <p:attrName>r</p:attrName>
                                        </p:attrNameLst>
                                      </p:cBhvr>
                                    </p:animRot>
                                    <p:animRot by="240000">
                                      <p:cBhvr>
                                        <p:cTn id="10" dur="200" fill="hold">
                                          <p:stCondLst>
                                            <p:cond delay="400"/>
                                          </p:stCondLst>
                                        </p:cTn>
                                        <p:tgtEl>
                                          <p:spTgt spid="4"/>
                                        </p:tgtEl>
                                        <p:attrNameLst>
                                          <p:attrName>r</p:attrName>
                                        </p:attrNameLst>
                                      </p:cBhvr>
                                    </p:animRot>
                                    <p:animRot by="-240000">
                                      <p:cBhvr>
                                        <p:cTn id="11" dur="200" fill="hold">
                                          <p:stCondLst>
                                            <p:cond delay="600"/>
                                          </p:stCondLst>
                                        </p:cTn>
                                        <p:tgtEl>
                                          <p:spTgt spid="4"/>
                                        </p:tgtEl>
                                        <p:attrNameLst>
                                          <p:attrName>r</p:attrName>
                                        </p:attrNameLst>
                                      </p:cBhvr>
                                    </p:animRot>
                                    <p:animRot by="120000">
                                      <p:cBhvr>
                                        <p:cTn id="12" dur="200" fill="hold">
                                          <p:stCondLst>
                                            <p:cond delay="800"/>
                                          </p:stCondLst>
                                        </p:cTn>
                                        <p:tgtEl>
                                          <p:spTgt spid="4"/>
                                        </p:tgtEl>
                                        <p:attrNameLst>
                                          <p:attrName>r</p:attrName>
                                        </p:attrNameLst>
                                      </p:cBhvr>
                                    </p:animRot>
                                  </p:childTnLst>
                                </p:cTn>
                              </p:par>
                              <p:par>
                                <p:cTn id="13" presetID="10" presetClass="entr" presetSubtype="0" fill="hold" grpId="1"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1" nodeType="clickEffect">
                                  <p:stCondLst>
                                    <p:cond delay="0"/>
                                  </p:stCondLst>
                                  <p:childTnLst>
                                    <p:set>
                                      <p:cBhvr>
                                        <p:cTn id="19" dur="1" fill="hold">
                                          <p:stCondLst>
                                            <p:cond delay="0"/>
                                          </p:stCondLst>
                                        </p:cTn>
                                        <p:tgtEl>
                                          <p:spTgt spid="6"/>
                                        </p:tgtEl>
                                        <p:attrNameLst>
                                          <p:attrName>style.visibility</p:attrName>
                                        </p:attrNameLst>
                                      </p:cBhvr>
                                      <p:to>
                                        <p:strVal val="visible"/>
                                      </p:to>
                                    </p:set>
                                  </p:childTnLst>
                                </p:cTn>
                              </p:par>
                              <p:par>
                                <p:cTn id="20" presetID="32" presetClass="emph" presetSubtype="0" repeatCount="indefinite" fill="hold" grpId="0" nodeType="withEffect">
                                  <p:stCondLst>
                                    <p:cond delay="0"/>
                                  </p:stCondLst>
                                  <p:endCondLst>
                                    <p:cond evt="onNext" delay="0">
                                      <p:tgtEl>
                                        <p:sldTgt/>
                                      </p:tgtEl>
                                    </p:cond>
                                  </p:endCondLst>
                                  <p:childTnLst>
                                    <p:animRot by="120000">
                                      <p:cBhvr>
                                        <p:cTn id="21" dur="100" fill="hold">
                                          <p:stCondLst>
                                            <p:cond delay="0"/>
                                          </p:stCondLst>
                                        </p:cTn>
                                        <p:tgtEl>
                                          <p:spTgt spid="6"/>
                                        </p:tgtEl>
                                        <p:attrNameLst>
                                          <p:attrName>r</p:attrName>
                                        </p:attrNameLst>
                                      </p:cBhvr>
                                    </p:animRot>
                                    <p:animRot by="-240000">
                                      <p:cBhvr>
                                        <p:cTn id="22" dur="200" fill="hold">
                                          <p:stCondLst>
                                            <p:cond delay="200"/>
                                          </p:stCondLst>
                                        </p:cTn>
                                        <p:tgtEl>
                                          <p:spTgt spid="6"/>
                                        </p:tgtEl>
                                        <p:attrNameLst>
                                          <p:attrName>r</p:attrName>
                                        </p:attrNameLst>
                                      </p:cBhvr>
                                    </p:animRot>
                                    <p:animRot by="240000">
                                      <p:cBhvr>
                                        <p:cTn id="23" dur="200" fill="hold">
                                          <p:stCondLst>
                                            <p:cond delay="400"/>
                                          </p:stCondLst>
                                        </p:cTn>
                                        <p:tgtEl>
                                          <p:spTgt spid="6"/>
                                        </p:tgtEl>
                                        <p:attrNameLst>
                                          <p:attrName>r</p:attrName>
                                        </p:attrNameLst>
                                      </p:cBhvr>
                                    </p:animRot>
                                    <p:animRot by="-240000">
                                      <p:cBhvr>
                                        <p:cTn id="24" dur="200" fill="hold">
                                          <p:stCondLst>
                                            <p:cond delay="600"/>
                                          </p:stCondLst>
                                        </p:cTn>
                                        <p:tgtEl>
                                          <p:spTgt spid="6"/>
                                        </p:tgtEl>
                                        <p:attrNameLst>
                                          <p:attrName>r</p:attrName>
                                        </p:attrNameLst>
                                      </p:cBhvr>
                                    </p:animRot>
                                    <p:animRot by="120000">
                                      <p:cBhvr>
                                        <p:cTn id="25" dur="200" fill="hold">
                                          <p:stCondLst>
                                            <p:cond delay="800"/>
                                          </p:stCondLst>
                                        </p:cTn>
                                        <p:tgtEl>
                                          <p:spTgt spid="6"/>
                                        </p:tgtEl>
                                        <p:attrNameLst>
                                          <p:attrName>r</p:attrName>
                                        </p:attrNameLst>
                                      </p:cBhvr>
                                    </p:animRot>
                                  </p:childTnLst>
                                </p:cTn>
                              </p:par>
                            </p:childTnLst>
                          </p:cTn>
                        </p:par>
                        <p:par>
                          <p:cTn id="26" fill="hold">
                            <p:stCondLst>
                              <p:cond delay="1000"/>
                            </p:stCondLst>
                            <p:childTnLst>
                              <p:par>
                                <p:cTn id="27" presetID="10" presetClass="entr" presetSubtype="0" fill="hold" grpId="0" nodeType="after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fade">
                                      <p:cBhvr>
                                        <p:cTn id="29" dur="500"/>
                                        <p:tgtEl>
                                          <p:spTgt spid="7"/>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1" nodeType="clickEffect">
                                  <p:stCondLst>
                                    <p:cond delay="0"/>
                                  </p:stCondLst>
                                  <p:childTnLst>
                                    <p:set>
                                      <p:cBhvr>
                                        <p:cTn id="33" dur="1" fill="hold">
                                          <p:stCondLst>
                                            <p:cond delay="0"/>
                                          </p:stCondLst>
                                        </p:cTn>
                                        <p:tgtEl>
                                          <p:spTgt spid="8"/>
                                        </p:tgtEl>
                                        <p:attrNameLst>
                                          <p:attrName>style.visibility</p:attrName>
                                        </p:attrNameLst>
                                      </p:cBhvr>
                                      <p:to>
                                        <p:strVal val="visible"/>
                                      </p:to>
                                    </p:set>
                                  </p:childTnLst>
                                </p:cTn>
                              </p:par>
                              <p:par>
                                <p:cTn id="34" presetID="32" presetClass="emph" presetSubtype="0" repeatCount="indefinite" fill="hold" grpId="0" nodeType="withEffect">
                                  <p:stCondLst>
                                    <p:cond delay="0"/>
                                  </p:stCondLst>
                                  <p:endCondLst>
                                    <p:cond evt="onNext" delay="0">
                                      <p:tgtEl>
                                        <p:sldTgt/>
                                      </p:tgtEl>
                                    </p:cond>
                                  </p:endCondLst>
                                  <p:childTnLst>
                                    <p:animRot by="120000">
                                      <p:cBhvr>
                                        <p:cTn id="35" dur="100" fill="hold">
                                          <p:stCondLst>
                                            <p:cond delay="0"/>
                                          </p:stCondLst>
                                        </p:cTn>
                                        <p:tgtEl>
                                          <p:spTgt spid="8"/>
                                        </p:tgtEl>
                                        <p:attrNameLst>
                                          <p:attrName>r</p:attrName>
                                        </p:attrNameLst>
                                      </p:cBhvr>
                                    </p:animRot>
                                    <p:animRot by="-240000">
                                      <p:cBhvr>
                                        <p:cTn id="36" dur="200" fill="hold">
                                          <p:stCondLst>
                                            <p:cond delay="200"/>
                                          </p:stCondLst>
                                        </p:cTn>
                                        <p:tgtEl>
                                          <p:spTgt spid="8"/>
                                        </p:tgtEl>
                                        <p:attrNameLst>
                                          <p:attrName>r</p:attrName>
                                        </p:attrNameLst>
                                      </p:cBhvr>
                                    </p:animRot>
                                    <p:animRot by="240000">
                                      <p:cBhvr>
                                        <p:cTn id="37" dur="200" fill="hold">
                                          <p:stCondLst>
                                            <p:cond delay="400"/>
                                          </p:stCondLst>
                                        </p:cTn>
                                        <p:tgtEl>
                                          <p:spTgt spid="8"/>
                                        </p:tgtEl>
                                        <p:attrNameLst>
                                          <p:attrName>r</p:attrName>
                                        </p:attrNameLst>
                                      </p:cBhvr>
                                    </p:animRot>
                                    <p:animRot by="-240000">
                                      <p:cBhvr>
                                        <p:cTn id="38" dur="200" fill="hold">
                                          <p:stCondLst>
                                            <p:cond delay="600"/>
                                          </p:stCondLst>
                                        </p:cTn>
                                        <p:tgtEl>
                                          <p:spTgt spid="8"/>
                                        </p:tgtEl>
                                        <p:attrNameLst>
                                          <p:attrName>r</p:attrName>
                                        </p:attrNameLst>
                                      </p:cBhvr>
                                    </p:animRot>
                                    <p:animRot by="120000">
                                      <p:cBhvr>
                                        <p:cTn id="39" dur="200" fill="hold">
                                          <p:stCondLst>
                                            <p:cond delay="800"/>
                                          </p:stCondLst>
                                        </p:cTn>
                                        <p:tgtEl>
                                          <p:spTgt spid="8"/>
                                        </p:tgtEl>
                                        <p:attrNameLst>
                                          <p:attrName>r</p:attrName>
                                        </p:attrNameLst>
                                      </p:cBhvr>
                                    </p:animRo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9"/>
                                        </p:tgtEl>
                                        <p:attrNameLst>
                                          <p:attrName>style.visibility</p:attrName>
                                        </p:attrNameLst>
                                      </p:cBhvr>
                                      <p:to>
                                        <p:strVal val="visible"/>
                                      </p:to>
                                    </p:set>
                                    <p:animEffect transition="in" filter="fade">
                                      <p:cBhvr>
                                        <p:cTn id="44" dur="500"/>
                                        <p:tgtEl>
                                          <p:spTgt spid="9"/>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xit" presetSubtype="0" fill="hold" grpId="0" nodeType="clickEffect">
                                  <p:stCondLst>
                                    <p:cond delay="0"/>
                                  </p:stCondLst>
                                  <p:childTnLst>
                                    <p:animEffect transition="out" filter="fade">
                                      <p:cBhvr>
                                        <p:cTn id="48" dur="500"/>
                                        <p:tgtEl>
                                          <p:spTgt spid="5"/>
                                        </p:tgtEl>
                                      </p:cBhvr>
                                    </p:animEffect>
                                    <p:set>
                                      <p:cBhvr>
                                        <p:cTn id="49" dur="1" fill="hold">
                                          <p:stCondLst>
                                            <p:cond delay="499"/>
                                          </p:stCondLst>
                                        </p:cTn>
                                        <p:tgtEl>
                                          <p:spTgt spid="5"/>
                                        </p:tgtEl>
                                        <p:attrNameLst>
                                          <p:attrName>style.visibility</p:attrName>
                                        </p:attrNameLst>
                                      </p:cBhvr>
                                      <p:to>
                                        <p:strVal val="hidden"/>
                                      </p:to>
                                    </p:set>
                                  </p:childTnLst>
                                </p:cTn>
                              </p:par>
                              <p:par>
                                <p:cTn id="50" presetID="1" presetClass="exit" presetSubtype="0" fill="hold" grpId="1" nodeType="withEffect">
                                  <p:stCondLst>
                                    <p:cond delay="0"/>
                                  </p:stCondLst>
                                  <p:childTnLst>
                                    <p:set>
                                      <p:cBhvr>
                                        <p:cTn id="51" dur="1" fill="hold">
                                          <p:stCondLst>
                                            <p:cond delay="0"/>
                                          </p:stCondLst>
                                        </p:cTn>
                                        <p:tgtEl>
                                          <p:spTgt spid="7"/>
                                        </p:tgtEl>
                                        <p:attrNameLst>
                                          <p:attrName>style.visibility</p:attrName>
                                        </p:attrNameLst>
                                      </p:cBhvr>
                                      <p:to>
                                        <p:strVal val="hidden"/>
                                      </p:to>
                                    </p:set>
                                  </p:childTnLst>
                                </p:cTn>
                              </p:par>
                              <p:par>
                                <p:cTn id="52" presetID="31" presetClass="entr" presetSubtype="0" fill="hold" grpId="1" nodeType="withEffect">
                                  <p:stCondLst>
                                    <p:cond delay="0"/>
                                  </p:stCondLst>
                                  <p:childTnLst>
                                    <p:set>
                                      <p:cBhvr>
                                        <p:cTn id="53" dur="1" fill="hold">
                                          <p:stCondLst>
                                            <p:cond delay="0"/>
                                          </p:stCondLst>
                                        </p:cTn>
                                        <p:tgtEl>
                                          <p:spTgt spid="10"/>
                                        </p:tgtEl>
                                        <p:attrNameLst>
                                          <p:attrName>style.visibility</p:attrName>
                                        </p:attrNameLst>
                                      </p:cBhvr>
                                      <p:to>
                                        <p:strVal val="visible"/>
                                      </p:to>
                                    </p:set>
                                    <p:anim calcmode="lin" valueType="num">
                                      <p:cBhvr>
                                        <p:cTn id="54" dur="1000" fill="hold"/>
                                        <p:tgtEl>
                                          <p:spTgt spid="10"/>
                                        </p:tgtEl>
                                        <p:attrNameLst>
                                          <p:attrName>ppt_w</p:attrName>
                                        </p:attrNameLst>
                                      </p:cBhvr>
                                      <p:tavLst>
                                        <p:tav tm="0">
                                          <p:val>
                                            <p:fltVal val="0"/>
                                          </p:val>
                                        </p:tav>
                                        <p:tav tm="100000">
                                          <p:val>
                                            <p:strVal val="#ppt_w"/>
                                          </p:val>
                                        </p:tav>
                                      </p:tavLst>
                                    </p:anim>
                                    <p:anim calcmode="lin" valueType="num">
                                      <p:cBhvr>
                                        <p:cTn id="55" dur="1000" fill="hold"/>
                                        <p:tgtEl>
                                          <p:spTgt spid="10"/>
                                        </p:tgtEl>
                                        <p:attrNameLst>
                                          <p:attrName>ppt_h</p:attrName>
                                        </p:attrNameLst>
                                      </p:cBhvr>
                                      <p:tavLst>
                                        <p:tav tm="0">
                                          <p:val>
                                            <p:fltVal val="0"/>
                                          </p:val>
                                        </p:tav>
                                        <p:tav tm="100000">
                                          <p:val>
                                            <p:strVal val="#ppt_h"/>
                                          </p:val>
                                        </p:tav>
                                      </p:tavLst>
                                    </p:anim>
                                    <p:anim calcmode="lin" valueType="num">
                                      <p:cBhvr>
                                        <p:cTn id="56" dur="1000" fill="hold"/>
                                        <p:tgtEl>
                                          <p:spTgt spid="10"/>
                                        </p:tgtEl>
                                        <p:attrNameLst>
                                          <p:attrName>style.rotation</p:attrName>
                                        </p:attrNameLst>
                                      </p:cBhvr>
                                      <p:tavLst>
                                        <p:tav tm="0">
                                          <p:val>
                                            <p:fltVal val="90"/>
                                          </p:val>
                                        </p:tav>
                                        <p:tav tm="100000">
                                          <p:val>
                                            <p:fltVal val="0"/>
                                          </p:val>
                                        </p:tav>
                                      </p:tavLst>
                                    </p:anim>
                                    <p:animEffect transition="in" filter="fade">
                                      <p:cBhvr>
                                        <p:cTn id="57" dur="1000"/>
                                        <p:tgtEl>
                                          <p:spTgt spid="10"/>
                                        </p:tgtEl>
                                      </p:cBhvr>
                                    </p:animEffect>
                                  </p:childTnLst>
                                </p:cTn>
                              </p:par>
                            </p:childTnLst>
                          </p:cTn>
                        </p:par>
                        <p:par>
                          <p:cTn id="58" fill="hold">
                            <p:stCondLst>
                              <p:cond delay="1000"/>
                            </p:stCondLst>
                            <p:childTnLst>
                              <p:par>
                                <p:cTn id="59" presetID="6" presetClass="emph" presetSubtype="0" fill="hold" grpId="2" nodeType="afterEffect">
                                  <p:stCondLst>
                                    <p:cond delay="0"/>
                                  </p:stCondLst>
                                  <p:childTnLst>
                                    <p:animScale>
                                      <p:cBhvr>
                                        <p:cTn id="60" dur="2000" fill="hold"/>
                                        <p:tgtEl>
                                          <p:spTgt spid="10"/>
                                        </p:tgtEl>
                                      </p:cBhvr>
                                      <p:by x="150000" y="150000"/>
                                    </p:animScale>
                                  </p:childTnLst>
                                </p:cTn>
                              </p:par>
                              <p:par>
                                <p:cTn id="61" presetID="1" presetClass="entr" presetSubtype="0" fill="hold" grpId="1" nodeType="withEffect">
                                  <p:stCondLst>
                                    <p:cond delay="0"/>
                                  </p:stCondLst>
                                  <p:childTnLst>
                                    <p:set>
                                      <p:cBhvr>
                                        <p:cTn id="62" dur="1" fill="hold">
                                          <p:stCondLst>
                                            <p:cond delay="0"/>
                                          </p:stCondLst>
                                        </p:cTn>
                                        <p:tgtEl>
                                          <p:spTgt spid="11"/>
                                        </p:tgtEl>
                                        <p:attrNameLst>
                                          <p:attrName>style.visibility</p:attrName>
                                        </p:attrNameLst>
                                      </p:cBhvr>
                                      <p:to>
                                        <p:strVal val="visible"/>
                                      </p:to>
                                    </p:set>
                                  </p:childTnLst>
                                </p:cTn>
                              </p:par>
                              <p:par>
                                <p:cTn id="63" presetID="32" presetClass="emph" presetSubtype="0" repeatCount="indefinite" fill="hold" grpId="0" nodeType="withEffect">
                                  <p:stCondLst>
                                    <p:cond delay="0"/>
                                  </p:stCondLst>
                                  <p:endCondLst>
                                    <p:cond evt="onNext" delay="0">
                                      <p:tgtEl>
                                        <p:sldTgt/>
                                      </p:tgtEl>
                                    </p:cond>
                                  </p:endCondLst>
                                  <p:childTnLst>
                                    <p:animRot by="120000">
                                      <p:cBhvr>
                                        <p:cTn id="64" dur="100" fill="hold">
                                          <p:stCondLst>
                                            <p:cond delay="0"/>
                                          </p:stCondLst>
                                        </p:cTn>
                                        <p:tgtEl>
                                          <p:spTgt spid="11"/>
                                        </p:tgtEl>
                                        <p:attrNameLst>
                                          <p:attrName>r</p:attrName>
                                        </p:attrNameLst>
                                      </p:cBhvr>
                                    </p:animRot>
                                    <p:animRot by="-240000">
                                      <p:cBhvr>
                                        <p:cTn id="65" dur="200" fill="hold">
                                          <p:stCondLst>
                                            <p:cond delay="200"/>
                                          </p:stCondLst>
                                        </p:cTn>
                                        <p:tgtEl>
                                          <p:spTgt spid="11"/>
                                        </p:tgtEl>
                                        <p:attrNameLst>
                                          <p:attrName>r</p:attrName>
                                        </p:attrNameLst>
                                      </p:cBhvr>
                                    </p:animRot>
                                    <p:animRot by="240000">
                                      <p:cBhvr>
                                        <p:cTn id="66" dur="200" fill="hold">
                                          <p:stCondLst>
                                            <p:cond delay="400"/>
                                          </p:stCondLst>
                                        </p:cTn>
                                        <p:tgtEl>
                                          <p:spTgt spid="11"/>
                                        </p:tgtEl>
                                        <p:attrNameLst>
                                          <p:attrName>r</p:attrName>
                                        </p:attrNameLst>
                                      </p:cBhvr>
                                    </p:animRot>
                                    <p:animRot by="-240000">
                                      <p:cBhvr>
                                        <p:cTn id="67" dur="200" fill="hold">
                                          <p:stCondLst>
                                            <p:cond delay="600"/>
                                          </p:stCondLst>
                                        </p:cTn>
                                        <p:tgtEl>
                                          <p:spTgt spid="11"/>
                                        </p:tgtEl>
                                        <p:attrNameLst>
                                          <p:attrName>r</p:attrName>
                                        </p:attrNameLst>
                                      </p:cBhvr>
                                    </p:animRot>
                                    <p:animRot by="120000">
                                      <p:cBhvr>
                                        <p:cTn id="68" dur="200" fill="hold">
                                          <p:stCondLst>
                                            <p:cond delay="800"/>
                                          </p:stCondLst>
                                        </p:cTn>
                                        <p:tgtEl>
                                          <p:spTgt spid="11"/>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5" grpId="0"/>
      <p:bldP spid="5" grpId="1"/>
      <p:bldP spid="6" grpId="0" animBg="1"/>
      <p:bldP spid="6" grpId="1" animBg="1"/>
      <p:bldP spid="7" grpId="0"/>
      <p:bldP spid="7" grpId="1"/>
      <p:bldP spid="8" grpId="0" animBg="1"/>
      <p:bldP spid="8" grpId="1" animBg="1"/>
      <p:bldP spid="9" grpId="0"/>
      <p:bldP spid="10" grpId="1"/>
      <p:bldP spid="10" grpId="2"/>
      <p:bldP spid="11" grpId="0" animBg="1"/>
      <p:bldP spid="11" grpId="1"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2629942115"/>
              </p:ext>
            </p:extLst>
          </p:nvPr>
        </p:nvGraphicFramePr>
        <p:xfrm>
          <a:off x="1362927" y="914400"/>
          <a:ext cx="6644104" cy="1906569"/>
        </p:xfrm>
        <a:graphic>
          <a:graphicData uri="http://schemas.openxmlformats.org/presentationml/2006/ole">
            <mc:AlternateContent xmlns:mc="http://schemas.openxmlformats.org/markup-compatibility/2006">
              <mc:Choice xmlns:v="urn:schemas-microsoft-com:vml" Requires="v">
                <p:oleObj spid="_x0000_s14348" name="公式" r:id="rId3" imgW="1460160" imgH="419040" progId="Equation.3">
                  <p:embed/>
                </p:oleObj>
              </mc:Choice>
              <mc:Fallback>
                <p:oleObj name="公式" r:id="rId3" imgW="1460160" imgH="419040" progId="Equation.3">
                  <p:embed/>
                  <p:pic>
                    <p:nvPicPr>
                      <p:cNvPr id="0" name=""/>
                      <p:cNvPicPr/>
                      <p:nvPr/>
                    </p:nvPicPr>
                    <p:blipFill>
                      <a:blip r:embed="rId4"/>
                      <a:stretch>
                        <a:fillRect/>
                      </a:stretch>
                    </p:blipFill>
                    <p:spPr>
                      <a:xfrm>
                        <a:off x="1362927" y="914400"/>
                        <a:ext cx="6644104" cy="1906569"/>
                      </a:xfrm>
                      <a:prstGeom prst="rect">
                        <a:avLst/>
                      </a:prstGeom>
                    </p:spPr>
                  </p:pic>
                </p:oleObj>
              </mc:Fallback>
            </mc:AlternateContent>
          </a:graphicData>
        </a:graphic>
      </p:graphicFrame>
      <p:sp>
        <p:nvSpPr>
          <p:cNvPr id="3" name="文本框 2"/>
          <p:cNvSpPr txBox="1"/>
          <p:nvPr/>
        </p:nvSpPr>
        <p:spPr>
          <a:xfrm>
            <a:off x="1362927" y="3422469"/>
            <a:ext cx="4528422" cy="646331"/>
          </a:xfrm>
          <a:prstGeom prst="rect">
            <a:avLst/>
          </a:prstGeom>
          <a:noFill/>
        </p:spPr>
        <p:txBody>
          <a:bodyPr wrap="square" rtlCol="0">
            <a:spAutoFit/>
            <a:scene3d>
              <a:camera prst="orthographicFront"/>
              <a:lightRig rig="threePt" dir="t"/>
            </a:scene3d>
            <a:sp3d extrusionH="57150">
              <a:bevelT h="25400" prst="softRound"/>
            </a:sp3d>
          </a:bodyPr>
          <a:lstStyle/>
          <a:p>
            <a:r>
              <a:rPr lang="zh-CN" altLang="en-US" sz="3600" dirty="0">
                <a:solidFill>
                  <a:schemeClr val="bg2">
                    <a:lumMod val="90000"/>
                  </a:schemeClr>
                </a:solidFill>
                <a:effectLst>
                  <a:outerShdw blurRad="50800" dist="38100" dir="2700000" algn="tl" rotWithShape="0">
                    <a:prstClr val="black">
                      <a:alpha val="40000"/>
                    </a:prstClr>
                  </a:outerShdw>
                </a:effectLst>
              </a:rPr>
              <a:t>不考虑初始造林成本</a:t>
            </a:r>
          </a:p>
        </p:txBody>
      </p:sp>
      <p:sp>
        <p:nvSpPr>
          <p:cNvPr id="4" name="圆角矩形 3"/>
          <p:cNvSpPr/>
          <p:nvPr/>
        </p:nvSpPr>
        <p:spPr>
          <a:xfrm>
            <a:off x="6688183" y="1254034"/>
            <a:ext cx="1528354" cy="1136469"/>
          </a:xfrm>
          <a:prstGeom prst="roundRect">
            <a:avLst/>
          </a:prstGeom>
          <a:solidFill>
            <a:srgbClr val="90B7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1362927" y="4539671"/>
            <a:ext cx="4528422" cy="1200329"/>
          </a:xfrm>
          <a:prstGeom prst="rect">
            <a:avLst/>
          </a:prstGeom>
          <a:noFill/>
        </p:spPr>
        <p:txBody>
          <a:bodyPr wrap="square" rtlCol="0">
            <a:spAutoFit/>
            <a:scene3d>
              <a:camera prst="orthographicFront"/>
              <a:lightRig rig="threePt" dir="t"/>
            </a:scene3d>
            <a:sp3d extrusionH="57150">
              <a:bevelT h="25400" prst="softRound"/>
            </a:sp3d>
          </a:bodyPr>
          <a:lstStyle/>
          <a:p>
            <a:r>
              <a:rPr lang="zh-CN" altLang="en-US" sz="3600" dirty="0">
                <a:solidFill>
                  <a:srgbClr val="FFC000"/>
                </a:solidFill>
                <a:effectLst>
                  <a:outerShdw blurRad="50800" dist="38100" dir="2700000" algn="tl" rotWithShape="0">
                    <a:prstClr val="black">
                      <a:alpha val="40000"/>
                    </a:prstClr>
                  </a:outerShdw>
                </a:effectLst>
              </a:rPr>
              <a:t>不考虑初始造林成本和再造林成本</a:t>
            </a:r>
          </a:p>
        </p:txBody>
      </p:sp>
      <p:sp>
        <p:nvSpPr>
          <p:cNvPr id="6" name="圆角矩形 5"/>
          <p:cNvSpPr/>
          <p:nvPr/>
        </p:nvSpPr>
        <p:spPr>
          <a:xfrm>
            <a:off x="4950323" y="685799"/>
            <a:ext cx="1528354" cy="1136469"/>
          </a:xfrm>
          <a:prstGeom prst="roundRect">
            <a:avLst/>
          </a:prstGeom>
          <a:solidFill>
            <a:srgbClr val="90B7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8062579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42"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1000"/>
                                        <p:tgtEl>
                                          <p:spTgt spid="4"/>
                                        </p:tgtEl>
                                      </p:cBhvr>
                                    </p:animEffect>
                                    <p:anim calcmode="lin" valueType="num">
                                      <p:cBhvr>
                                        <p:cTn id="11" dur="1000" fill="hold"/>
                                        <p:tgtEl>
                                          <p:spTgt spid="4"/>
                                        </p:tgtEl>
                                        <p:attrNameLst>
                                          <p:attrName>ppt_x</p:attrName>
                                        </p:attrNameLst>
                                      </p:cBhvr>
                                      <p:tavLst>
                                        <p:tav tm="0">
                                          <p:val>
                                            <p:strVal val="#ppt_x"/>
                                          </p:val>
                                        </p:tav>
                                        <p:tav tm="100000">
                                          <p:val>
                                            <p:strVal val="#ppt_x"/>
                                          </p:val>
                                        </p:tav>
                                      </p:tavLst>
                                    </p:anim>
                                    <p:anim calcmode="lin" valueType="num">
                                      <p:cBhvr>
                                        <p:cTn id="12"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par>
                                <p:cTn id="18" presetID="42" presetClass="entr" presetSubtype="0" fill="hold" grpId="0" nodeType="with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fade">
                                      <p:cBhvr>
                                        <p:cTn id="20" dur="1000"/>
                                        <p:tgtEl>
                                          <p:spTgt spid="6"/>
                                        </p:tgtEl>
                                      </p:cBhvr>
                                    </p:animEffect>
                                    <p:anim calcmode="lin" valueType="num">
                                      <p:cBhvr>
                                        <p:cTn id="21" dur="1000" fill="hold"/>
                                        <p:tgtEl>
                                          <p:spTgt spid="6"/>
                                        </p:tgtEl>
                                        <p:attrNameLst>
                                          <p:attrName>ppt_x</p:attrName>
                                        </p:attrNameLst>
                                      </p:cBhvr>
                                      <p:tavLst>
                                        <p:tav tm="0">
                                          <p:val>
                                            <p:strVal val="#ppt_x"/>
                                          </p:val>
                                        </p:tav>
                                        <p:tav tm="100000">
                                          <p:val>
                                            <p:strVal val="#ppt_x"/>
                                          </p:val>
                                        </p:tav>
                                      </p:tavLst>
                                    </p:anim>
                                    <p:anim calcmode="lin" valueType="num">
                                      <p:cBhvr>
                                        <p:cTn id="22"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P spid="5" grpId="0"/>
      <p:bldP spid="6"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87828" y="300446"/>
            <a:ext cx="5336717" cy="584775"/>
          </a:xfrm>
          <a:prstGeom prst="rect">
            <a:avLst/>
          </a:prstGeom>
          <a:noFill/>
        </p:spPr>
        <p:txBody>
          <a:bodyPr wrap="none" rtlCol="0">
            <a:spAutoFit/>
            <a:scene3d>
              <a:camera prst="orthographicFront"/>
              <a:lightRig rig="harsh" dir="t"/>
            </a:scene3d>
            <a:sp3d extrusionH="57150" prstMaterial="matte">
              <a:bevelT w="63500" h="12700" prst="angle"/>
              <a:contourClr>
                <a:schemeClr val="bg1">
                  <a:lumMod val="65000"/>
                </a:schemeClr>
              </a:contourClr>
            </a:sp3d>
          </a:bodyPr>
          <a:lstStyle/>
          <a:p>
            <a:r>
              <a:rPr lang="zh-CN" altLang="en-US" sz="3200" b="1" dirty="0">
                <a:ln/>
                <a:solidFill>
                  <a:schemeClr val="accent3"/>
                </a:solidFill>
              </a:rPr>
              <a:t>要找到适当的</a:t>
            </a:r>
            <a:r>
              <a:rPr lang="en-US" altLang="zh-CN" sz="3200" b="1" dirty="0">
                <a:ln/>
                <a:solidFill>
                  <a:schemeClr val="accent3"/>
                </a:solidFill>
              </a:rPr>
              <a:t>t</a:t>
            </a:r>
            <a:r>
              <a:rPr lang="zh-CN" altLang="en-US" sz="3200" b="1" dirty="0">
                <a:ln/>
                <a:solidFill>
                  <a:schemeClr val="accent3"/>
                </a:solidFill>
              </a:rPr>
              <a:t>，使</a:t>
            </a:r>
            <a:r>
              <a:rPr lang="en-US" altLang="zh-CN" sz="3200" b="1" dirty="0">
                <a:ln/>
                <a:solidFill>
                  <a:schemeClr val="accent3"/>
                </a:solidFill>
              </a:rPr>
              <a:t>Vs</a:t>
            </a:r>
            <a:r>
              <a:rPr lang="zh-CN" altLang="en-US" sz="3200" b="1" dirty="0">
                <a:ln/>
                <a:solidFill>
                  <a:schemeClr val="accent3"/>
                </a:solidFill>
              </a:rPr>
              <a:t>最大化</a:t>
            </a:r>
            <a:endParaRPr lang="en-US" altLang="zh-CN" sz="3200" b="1" dirty="0">
              <a:ln/>
              <a:solidFill>
                <a:schemeClr val="accent3"/>
              </a:solidFill>
            </a:endParaRPr>
          </a:p>
        </p:txBody>
      </p:sp>
      <p:sp>
        <p:nvSpPr>
          <p:cNvPr id="3" name="文本框 2"/>
          <p:cNvSpPr txBox="1"/>
          <p:nvPr/>
        </p:nvSpPr>
        <p:spPr>
          <a:xfrm>
            <a:off x="822960" y="1119834"/>
            <a:ext cx="6410729" cy="369332"/>
          </a:xfrm>
          <a:prstGeom prst="rect">
            <a:avLst/>
          </a:prstGeom>
          <a:noFill/>
        </p:spPr>
        <p:txBody>
          <a:bodyPr wrap="none" rtlCol="0">
            <a:spAutoFit/>
          </a:bodyPr>
          <a:lstStyle/>
          <a:p>
            <a:r>
              <a:rPr lang="zh-CN" altLang="en-US" dirty="0"/>
              <a:t>则需要：每</a:t>
            </a:r>
            <a:r>
              <a:rPr lang="en-US" altLang="zh-CN" dirty="0"/>
              <a:t>t+1</a:t>
            </a:r>
            <a:r>
              <a:rPr lang="zh-CN" altLang="en-US" dirty="0"/>
              <a:t>期砍伐一次，和每</a:t>
            </a:r>
            <a:r>
              <a:rPr lang="en-US" altLang="zh-CN" dirty="0"/>
              <a:t>t</a:t>
            </a:r>
            <a:r>
              <a:rPr lang="zh-CN" altLang="en-US" dirty="0"/>
              <a:t>期砍伐一次，得到的</a:t>
            </a:r>
            <a:r>
              <a:rPr lang="en-US" altLang="zh-CN" dirty="0"/>
              <a:t>Vs</a:t>
            </a:r>
            <a:r>
              <a:rPr lang="zh-CN" altLang="en-US" dirty="0"/>
              <a:t>相等</a:t>
            </a:r>
          </a:p>
        </p:txBody>
      </p:sp>
      <mc:AlternateContent xmlns:mc="http://schemas.openxmlformats.org/markup-compatibility/2006" xmlns:a14="http://schemas.microsoft.com/office/drawing/2010/main">
        <mc:Choice Requires="a14">
          <p:sp>
            <p:nvSpPr>
              <p:cNvPr id="4" name="文本框 3"/>
              <p:cNvSpPr txBox="1"/>
              <p:nvPr/>
            </p:nvSpPr>
            <p:spPr>
              <a:xfrm>
                <a:off x="1619795" y="1697652"/>
                <a:ext cx="5381896" cy="874598"/>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t="100000" r="100000"/>
                </a:path>
                <a:tileRect l="-100000" b="-100000"/>
              </a:gra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altLang="zh-CN" sz="2400" i="1" smtClean="0">
                              <a:latin typeface="Cambria Math" panose="02040503050406030204" pitchFamily="18" charset="0"/>
                            </a:rPr>
                          </m:ctrlPr>
                        </m:fPr>
                        <m:num>
                          <m:r>
                            <a:rPr lang="en-US" altLang="zh-CN" sz="2400" b="0" i="1" smtClean="0">
                              <a:latin typeface="Cambria Math" panose="02040503050406030204" pitchFamily="18" charset="0"/>
                            </a:rPr>
                            <m:t>𝑆</m:t>
                          </m:r>
                          <m:d>
                            <m:dPr>
                              <m:ctrlPr>
                                <a:rPr lang="en-US" altLang="zh-CN" sz="2400" b="0" i="1" smtClean="0">
                                  <a:latin typeface="Cambria Math" panose="02040503050406030204" pitchFamily="18" charset="0"/>
                                </a:rPr>
                              </m:ctrlPr>
                            </m:dPr>
                            <m:e>
                              <m:r>
                                <a:rPr lang="en-US" altLang="zh-CN" sz="2400" b="0" i="1" smtClean="0">
                                  <a:latin typeface="Cambria Math" panose="02040503050406030204" pitchFamily="18" charset="0"/>
                                </a:rPr>
                                <m:t>𝑡</m:t>
                              </m:r>
                            </m:e>
                          </m:d>
                        </m:num>
                        <m:den>
                          <m:r>
                            <a:rPr lang="en-US" altLang="zh-CN" sz="2400" b="0" i="1" smtClean="0">
                              <a:latin typeface="Cambria Math" panose="02040503050406030204" pitchFamily="18" charset="0"/>
                            </a:rPr>
                            <m:t>(1+</m:t>
                          </m:r>
                          <m:r>
                            <a:rPr lang="en-US" altLang="zh-CN" sz="2400" b="0" i="1" smtClean="0">
                              <a:latin typeface="Cambria Math" panose="02040503050406030204" pitchFamily="18" charset="0"/>
                            </a:rPr>
                            <m:t>𝑖</m:t>
                          </m:r>
                          <m:sSup>
                            <m:sSupPr>
                              <m:ctrlPr>
                                <a:rPr lang="en-US" altLang="zh-CN" sz="2400" b="0" i="1" smtClean="0">
                                  <a:latin typeface="Cambria Math" panose="02040503050406030204" pitchFamily="18" charset="0"/>
                                </a:rPr>
                              </m:ctrlPr>
                            </m:sSupPr>
                            <m:e>
                              <m:r>
                                <a:rPr lang="en-US" altLang="zh-CN" sz="2400" b="0" i="1" smtClean="0">
                                  <a:latin typeface="Cambria Math" panose="02040503050406030204" pitchFamily="18" charset="0"/>
                                </a:rPr>
                                <m:t>)</m:t>
                              </m:r>
                            </m:e>
                            <m:sup>
                              <m:r>
                                <a:rPr lang="en-US" altLang="zh-CN" sz="2400" b="0" i="1" smtClean="0">
                                  <a:latin typeface="Cambria Math" panose="02040503050406030204" pitchFamily="18" charset="0"/>
                                </a:rPr>
                                <m:t>𝑡</m:t>
                              </m:r>
                            </m:sup>
                          </m:sSup>
                          <m:r>
                            <a:rPr lang="en-US" altLang="zh-CN" sz="2400" b="0" i="1" smtClean="0">
                              <a:latin typeface="Cambria Math" panose="02040503050406030204" pitchFamily="18" charset="0"/>
                            </a:rPr>
                            <m:t>−1</m:t>
                          </m:r>
                        </m:den>
                      </m:f>
                      <m:r>
                        <a:rPr lang="en-US" altLang="zh-CN" sz="2400" b="0" i="1" smtClean="0">
                          <a:latin typeface="Cambria Math" panose="02040503050406030204" pitchFamily="18" charset="0"/>
                        </a:rPr>
                        <m:t>=</m:t>
                      </m:r>
                      <m:f>
                        <m:fPr>
                          <m:ctrlPr>
                            <a:rPr lang="en-US" altLang="zh-CN" sz="2400" i="1">
                              <a:latin typeface="Cambria Math" panose="02040503050406030204" pitchFamily="18" charset="0"/>
                            </a:rPr>
                          </m:ctrlPr>
                        </m:fPr>
                        <m:num>
                          <m:r>
                            <a:rPr lang="en-US" altLang="zh-CN" sz="2400" i="1">
                              <a:latin typeface="Cambria Math" panose="02040503050406030204" pitchFamily="18" charset="0"/>
                            </a:rPr>
                            <m:t>𝑆</m:t>
                          </m:r>
                          <m:d>
                            <m:dPr>
                              <m:ctrlPr>
                                <a:rPr lang="en-US" altLang="zh-CN" sz="2400" i="1">
                                  <a:latin typeface="Cambria Math" panose="02040503050406030204" pitchFamily="18" charset="0"/>
                                </a:rPr>
                              </m:ctrlPr>
                            </m:dPr>
                            <m:e>
                              <m:r>
                                <a:rPr lang="en-US" altLang="zh-CN" sz="2400" i="1">
                                  <a:latin typeface="Cambria Math" panose="02040503050406030204" pitchFamily="18" charset="0"/>
                                </a:rPr>
                                <m:t>𝑡</m:t>
                              </m:r>
                              <m:r>
                                <a:rPr lang="en-US" altLang="zh-CN" sz="2400" b="0" i="1" smtClean="0">
                                  <a:latin typeface="Cambria Math" panose="02040503050406030204" pitchFamily="18" charset="0"/>
                                </a:rPr>
                                <m:t>+1</m:t>
                              </m:r>
                            </m:e>
                          </m:d>
                        </m:num>
                        <m:den>
                          <m:r>
                            <a:rPr lang="en-US" altLang="zh-CN" sz="2400" i="1">
                              <a:latin typeface="Cambria Math" panose="02040503050406030204" pitchFamily="18" charset="0"/>
                            </a:rPr>
                            <m:t>(1+</m:t>
                          </m:r>
                          <m:r>
                            <a:rPr lang="en-US" altLang="zh-CN" sz="2400" i="1">
                              <a:latin typeface="Cambria Math" panose="02040503050406030204" pitchFamily="18" charset="0"/>
                            </a:rPr>
                            <m:t>𝑖</m:t>
                          </m:r>
                          <m:sSup>
                            <m:sSupPr>
                              <m:ctrlPr>
                                <a:rPr lang="en-US" altLang="zh-CN" sz="2400" i="1">
                                  <a:latin typeface="Cambria Math" panose="02040503050406030204" pitchFamily="18" charset="0"/>
                                </a:rPr>
                              </m:ctrlPr>
                            </m:sSupPr>
                            <m:e>
                              <m:r>
                                <a:rPr lang="en-US" altLang="zh-CN" sz="2400" i="1">
                                  <a:latin typeface="Cambria Math" panose="02040503050406030204" pitchFamily="18" charset="0"/>
                                </a:rPr>
                                <m:t>)</m:t>
                              </m:r>
                            </m:e>
                            <m:sup>
                              <m:r>
                                <a:rPr lang="en-US" altLang="zh-CN" sz="2400" i="1">
                                  <a:latin typeface="Cambria Math" panose="02040503050406030204" pitchFamily="18" charset="0"/>
                                </a:rPr>
                                <m:t>𝑡</m:t>
                              </m:r>
                              <m:r>
                                <a:rPr lang="en-US" altLang="zh-CN" sz="2400" b="0" i="1" smtClean="0">
                                  <a:latin typeface="Cambria Math" panose="02040503050406030204" pitchFamily="18" charset="0"/>
                                </a:rPr>
                                <m:t>+1</m:t>
                              </m:r>
                            </m:sup>
                          </m:sSup>
                          <m:r>
                            <a:rPr lang="en-US" altLang="zh-CN" sz="2400" i="1">
                              <a:latin typeface="Cambria Math" panose="02040503050406030204" pitchFamily="18" charset="0"/>
                            </a:rPr>
                            <m:t>−1</m:t>
                          </m:r>
                        </m:den>
                      </m:f>
                    </m:oMath>
                  </m:oMathPara>
                </a14:m>
                <a:endParaRPr lang="zh-CN" altLang="en-US" sz="2400" dirty="0"/>
              </a:p>
            </p:txBody>
          </p:sp>
        </mc:Choice>
        <mc:Fallback xmlns="">
          <p:sp>
            <p:nvSpPr>
              <p:cNvPr id="4" name="文本框 3"/>
              <p:cNvSpPr txBox="1">
                <a:spLocks noRot="1" noChangeAspect="1" noMove="1" noResize="1" noEditPoints="1" noAdjustHandles="1" noChangeArrowheads="1" noChangeShapeType="1" noTextEdit="1"/>
              </p:cNvSpPr>
              <p:nvPr/>
            </p:nvSpPr>
            <p:spPr>
              <a:xfrm>
                <a:off x="1619795" y="1697652"/>
                <a:ext cx="5381896" cy="874598"/>
              </a:xfrm>
              <a:prstGeom prst="rect">
                <a:avLst/>
              </a:prstGeom>
              <a:blipFill rotWithShape="0">
                <a:blip r:embed="rId2"/>
                <a:stretch>
                  <a:fillRect/>
                </a:stretch>
              </a:blipFill>
              <a:ln>
                <a:noFill/>
              </a:ln>
              <a:effectLst>
                <a:outerShdw blurRad="44450" dist="27940" dir="5400000" algn="ctr">
                  <a:srgbClr val="000000">
                    <a:alpha val="32000"/>
                  </a:srgbClr>
                </a:outerShdw>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p:cNvSpPr txBox="1"/>
              <p:nvPr/>
            </p:nvSpPr>
            <p:spPr>
              <a:xfrm>
                <a:off x="914401" y="2899954"/>
                <a:ext cx="6792685" cy="3126562"/>
              </a:xfrm>
              <a:prstGeom prst="rect">
                <a:avLst/>
              </a:prstGeom>
              <a:noFill/>
            </p:spPr>
            <p:txBody>
              <a:bodyPr wrap="square" rtlCol="0">
                <a:spAutoFit/>
                <a:scene3d>
                  <a:camera prst="orthographicFront"/>
                  <a:lightRig rig="threePt" dir="t"/>
                </a:scene3d>
                <a:sp3d extrusionH="57150">
                  <a:bevelT w="38100" h="38100"/>
                </a:sp3d>
              </a:bodyPr>
              <a:lstStyle/>
              <a:p>
                <a:pPr/>
                <a14:m>
                  <m:oMathPara xmlns:m="http://schemas.openxmlformats.org/officeDocument/2006/math">
                    <m:oMathParaPr>
                      <m:jc m:val="centerGroup"/>
                    </m:oMathParaPr>
                    <m:oMath xmlns:m="http://schemas.openxmlformats.org/officeDocument/2006/math">
                      <m:r>
                        <a:rPr lang="en-US" altLang="zh-CN" sz="2800" b="0" i="1" smtClean="0">
                          <a:latin typeface="Cambria Math" panose="02040503050406030204" pitchFamily="18" charset="0"/>
                        </a:rPr>
                        <m:t>𝑆</m:t>
                      </m:r>
                      <m:d>
                        <m:dPr>
                          <m:ctrlPr>
                            <a:rPr lang="en-US" altLang="zh-CN" sz="2800" b="0" i="1" smtClean="0">
                              <a:latin typeface="Cambria Math" panose="02040503050406030204" pitchFamily="18" charset="0"/>
                            </a:rPr>
                          </m:ctrlPr>
                        </m:dPr>
                        <m:e>
                          <m:r>
                            <a:rPr lang="en-US" altLang="zh-CN" sz="2800" b="0" i="1" smtClean="0">
                              <a:latin typeface="Cambria Math" panose="02040503050406030204" pitchFamily="18" charset="0"/>
                            </a:rPr>
                            <m:t>𝑡</m:t>
                          </m:r>
                          <m:r>
                            <a:rPr lang="en-US" altLang="zh-CN" sz="2800" b="0" i="1" smtClean="0">
                              <a:latin typeface="Cambria Math" panose="02040503050406030204" pitchFamily="18" charset="0"/>
                            </a:rPr>
                            <m:t>+1</m:t>
                          </m:r>
                        </m:e>
                      </m:d>
                      <m:r>
                        <a:rPr lang="en-US" altLang="zh-CN" sz="2800" b="0" i="1" smtClean="0">
                          <a:latin typeface="Cambria Math" panose="02040503050406030204" pitchFamily="18" charset="0"/>
                        </a:rPr>
                        <m:t>=</m:t>
                      </m:r>
                      <m:f>
                        <m:fPr>
                          <m:ctrlPr>
                            <a:rPr lang="en-US" altLang="zh-CN" sz="2800" i="1" smtClean="0">
                              <a:latin typeface="Cambria Math" panose="02040503050406030204" pitchFamily="18" charset="0"/>
                            </a:rPr>
                          </m:ctrlPr>
                        </m:fPr>
                        <m:num>
                          <m:r>
                            <a:rPr lang="en-US" altLang="zh-CN" sz="2800" i="1">
                              <a:latin typeface="Cambria Math" panose="02040503050406030204" pitchFamily="18" charset="0"/>
                            </a:rPr>
                            <m:t>𝑆</m:t>
                          </m:r>
                          <m:d>
                            <m:dPr>
                              <m:ctrlPr>
                                <a:rPr lang="en-US" altLang="zh-CN" sz="2800" i="1">
                                  <a:latin typeface="Cambria Math" panose="02040503050406030204" pitchFamily="18" charset="0"/>
                                </a:rPr>
                              </m:ctrlPr>
                            </m:dPr>
                            <m:e>
                              <m:r>
                                <a:rPr lang="en-US" altLang="zh-CN" sz="2800" i="1">
                                  <a:latin typeface="Cambria Math" panose="02040503050406030204" pitchFamily="18" charset="0"/>
                                </a:rPr>
                                <m:t>𝑡</m:t>
                              </m:r>
                            </m:e>
                          </m:d>
                          <m:r>
                            <a:rPr lang="en-US" altLang="zh-CN" sz="2800" b="0" i="1" smtClean="0">
                              <a:latin typeface="Cambria Math" panose="02040503050406030204" pitchFamily="18" charset="0"/>
                            </a:rPr>
                            <m:t>[</m:t>
                          </m:r>
                          <m:r>
                            <a:rPr lang="en-US" altLang="zh-CN" sz="2800" i="1">
                              <a:latin typeface="Cambria Math" panose="02040503050406030204" pitchFamily="18" charset="0"/>
                            </a:rPr>
                            <m:t>(1+</m:t>
                          </m:r>
                          <m:r>
                            <a:rPr lang="en-US" altLang="zh-CN" sz="2800" i="1">
                              <a:latin typeface="Cambria Math" panose="02040503050406030204" pitchFamily="18" charset="0"/>
                            </a:rPr>
                            <m:t>𝑖</m:t>
                          </m:r>
                          <m:sSup>
                            <m:sSupPr>
                              <m:ctrlPr>
                                <a:rPr lang="en-US" altLang="zh-CN" sz="2800" i="1">
                                  <a:latin typeface="Cambria Math" panose="02040503050406030204" pitchFamily="18" charset="0"/>
                                </a:rPr>
                              </m:ctrlPr>
                            </m:sSupPr>
                            <m:e>
                              <m:r>
                                <a:rPr lang="en-US" altLang="zh-CN" sz="2800" i="1">
                                  <a:latin typeface="Cambria Math" panose="02040503050406030204" pitchFamily="18" charset="0"/>
                                </a:rPr>
                                <m:t>)</m:t>
                              </m:r>
                            </m:e>
                            <m:sup>
                              <m:r>
                                <a:rPr lang="en-US" altLang="zh-CN" sz="2800" i="1">
                                  <a:latin typeface="Cambria Math" panose="02040503050406030204" pitchFamily="18" charset="0"/>
                                </a:rPr>
                                <m:t>𝑡</m:t>
                              </m:r>
                              <m:r>
                                <a:rPr lang="en-US" altLang="zh-CN" sz="2800" b="0" i="1" smtClean="0">
                                  <a:latin typeface="Cambria Math" panose="02040503050406030204" pitchFamily="18" charset="0"/>
                                </a:rPr>
                                <m:t>+1</m:t>
                              </m:r>
                            </m:sup>
                          </m:sSup>
                          <m:r>
                            <a:rPr lang="en-US" altLang="zh-CN" sz="2800" i="1">
                              <a:latin typeface="Cambria Math" panose="02040503050406030204" pitchFamily="18" charset="0"/>
                            </a:rPr>
                            <m:t>−1</m:t>
                          </m:r>
                          <m:r>
                            <a:rPr lang="en-US" altLang="zh-CN" sz="2800" b="0" i="1" smtClean="0">
                              <a:latin typeface="Cambria Math" panose="02040503050406030204" pitchFamily="18" charset="0"/>
                            </a:rPr>
                            <m:t>]</m:t>
                          </m:r>
                        </m:num>
                        <m:den>
                          <m:r>
                            <a:rPr lang="en-US" altLang="zh-CN" sz="2800" i="1">
                              <a:latin typeface="Cambria Math" panose="02040503050406030204" pitchFamily="18" charset="0"/>
                            </a:rPr>
                            <m:t>(1+</m:t>
                          </m:r>
                          <m:r>
                            <a:rPr lang="en-US" altLang="zh-CN" sz="2800" i="1">
                              <a:latin typeface="Cambria Math" panose="02040503050406030204" pitchFamily="18" charset="0"/>
                            </a:rPr>
                            <m:t>𝑖</m:t>
                          </m:r>
                          <m:sSup>
                            <m:sSupPr>
                              <m:ctrlPr>
                                <a:rPr lang="en-US" altLang="zh-CN" sz="2800" i="1">
                                  <a:latin typeface="Cambria Math" panose="02040503050406030204" pitchFamily="18" charset="0"/>
                                </a:rPr>
                              </m:ctrlPr>
                            </m:sSupPr>
                            <m:e>
                              <m:r>
                                <a:rPr lang="en-US" altLang="zh-CN" sz="2800" i="1">
                                  <a:latin typeface="Cambria Math" panose="02040503050406030204" pitchFamily="18" charset="0"/>
                                </a:rPr>
                                <m:t>)</m:t>
                              </m:r>
                            </m:e>
                            <m:sup>
                              <m:r>
                                <a:rPr lang="en-US" altLang="zh-CN" sz="2800" i="1">
                                  <a:latin typeface="Cambria Math" panose="02040503050406030204" pitchFamily="18" charset="0"/>
                                </a:rPr>
                                <m:t>𝑡</m:t>
                              </m:r>
                            </m:sup>
                          </m:sSup>
                          <m:r>
                            <a:rPr lang="en-US" altLang="zh-CN" sz="2800" i="1">
                              <a:latin typeface="Cambria Math" panose="02040503050406030204" pitchFamily="18" charset="0"/>
                            </a:rPr>
                            <m:t>−1</m:t>
                          </m:r>
                        </m:den>
                      </m:f>
                    </m:oMath>
                  </m:oMathPara>
                </a14:m>
                <a:endParaRPr lang="en-US" altLang="zh-CN" sz="2800" dirty="0"/>
              </a:p>
              <a:p>
                <a:pPr/>
                <a14:m>
                  <m:oMathPara xmlns:m="http://schemas.openxmlformats.org/officeDocument/2006/math">
                    <m:oMathParaPr>
                      <m:jc m:val="centerGroup"/>
                    </m:oMathParaPr>
                    <m:oMath xmlns:m="http://schemas.openxmlformats.org/officeDocument/2006/math">
                      <m:r>
                        <a:rPr lang="zh-CN" altLang="en-US" sz="2800" i="1" smtClean="0">
                          <a:latin typeface="Cambria Math" panose="02040503050406030204" pitchFamily="18" charset="0"/>
                        </a:rPr>
                        <m:t>∆</m:t>
                      </m:r>
                      <m:r>
                        <a:rPr lang="en-US" altLang="zh-CN" sz="2800" b="0" i="1" smtClean="0">
                          <a:latin typeface="Cambria Math" panose="02040503050406030204" pitchFamily="18" charset="0"/>
                        </a:rPr>
                        <m:t>𝑆</m:t>
                      </m:r>
                      <m:r>
                        <a:rPr lang="en-US" altLang="zh-CN" sz="2800" b="0" i="1" smtClean="0">
                          <a:latin typeface="Cambria Math" panose="02040503050406030204" pitchFamily="18" charset="0"/>
                        </a:rPr>
                        <m:t>=</m:t>
                      </m:r>
                      <m:r>
                        <a:rPr lang="en-US" altLang="zh-CN" sz="2800" b="0" i="1" smtClean="0">
                          <a:latin typeface="Cambria Math" panose="02040503050406030204" pitchFamily="18" charset="0"/>
                        </a:rPr>
                        <m:t>𝑆</m:t>
                      </m:r>
                      <m:d>
                        <m:dPr>
                          <m:ctrlPr>
                            <a:rPr lang="en-US" altLang="zh-CN" sz="2800" b="0" i="1" smtClean="0">
                              <a:latin typeface="Cambria Math" panose="02040503050406030204" pitchFamily="18" charset="0"/>
                            </a:rPr>
                          </m:ctrlPr>
                        </m:dPr>
                        <m:e>
                          <m:r>
                            <a:rPr lang="en-US" altLang="zh-CN" sz="2800" b="0" i="1" smtClean="0">
                              <a:latin typeface="Cambria Math" panose="02040503050406030204" pitchFamily="18" charset="0"/>
                            </a:rPr>
                            <m:t>𝑡</m:t>
                          </m:r>
                          <m:r>
                            <a:rPr lang="en-US" altLang="zh-CN" sz="2800" b="0" i="1" smtClean="0">
                              <a:latin typeface="Cambria Math" panose="02040503050406030204" pitchFamily="18" charset="0"/>
                            </a:rPr>
                            <m:t>+1</m:t>
                          </m:r>
                        </m:e>
                      </m:d>
                      <m:r>
                        <a:rPr lang="en-US" altLang="zh-CN" sz="2800" b="0" i="1" smtClean="0">
                          <a:latin typeface="Cambria Math" panose="02040503050406030204" pitchFamily="18" charset="0"/>
                        </a:rPr>
                        <m:t>−</m:t>
                      </m:r>
                      <m:r>
                        <a:rPr lang="en-US" altLang="zh-CN" sz="2800" b="0" i="1" smtClean="0">
                          <a:latin typeface="Cambria Math" panose="02040503050406030204" pitchFamily="18" charset="0"/>
                        </a:rPr>
                        <m:t>𝑆</m:t>
                      </m:r>
                      <m:d>
                        <m:dPr>
                          <m:ctrlPr>
                            <a:rPr lang="en-US" altLang="zh-CN" sz="2800" b="0" i="1" smtClean="0">
                              <a:latin typeface="Cambria Math" panose="02040503050406030204" pitchFamily="18" charset="0"/>
                            </a:rPr>
                          </m:ctrlPr>
                        </m:dPr>
                        <m:e>
                          <m:r>
                            <a:rPr lang="en-US" altLang="zh-CN" sz="2800" b="0" i="1" smtClean="0">
                              <a:latin typeface="Cambria Math" panose="02040503050406030204" pitchFamily="18" charset="0"/>
                            </a:rPr>
                            <m:t>𝑡</m:t>
                          </m:r>
                        </m:e>
                      </m:d>
                      <m:r>
                        <a:rPr lang="en-US" altLang="zh-CN" sz="2800" b="0" i="1" smtClean="0">
                          <a:latin typeface="Cambria Math" panose="02040503050406030204" pitchFamily="18" charset="0"/>
                        </a:rPr>
                        <m:t>=</m:t>
                      </m:r>
                      <m:f>
                        <m:fPr>
                          <m:ctrlPr>
                            <a:rPr lang="en-US" altLang="zh-CN" sz="2800" i="1">
                              <a:latin typeface="Cambria Math" panose="02040503050406030204" pitchFamily="18" charset="0"/>
                            </a:rPr>
                          </m:ctrlPr>
                        </m:fPr>
                        <m:num>
                          <m:r>
                            <a:rPr lang="en-US" altLang="zh-CN" sz="2800" i="1">
                              <a:latin typeface="Cambria Math" panose="02040503050406030204" pitchFamily="18" charset="0"/>
                            </a:rPr>
                            <m:t>𝑆</m:t>
                          </m:r>
                          <m:d>
                            <m:dPr>
                              <m:ctrlPr>
                                <a:rPr lang="en-US" altLang="zh-CN" sz="2800" i="1">
                                  <a:latin typeface="Cambria Math" panose="02040503050406030204" pitchFamily="18" charset="0"/>
                                </a:rPr>
                              </m:ctrlPr>
                            </m:dPr>
                            <m:e>
                              <m:r>
                                <a:rPr lang="en-US" altLang="zh-CN" sz="2800" i="1">
                                  <a:latin typeface="Cambria Math" panose="02040503050406030204" pitchFamily="18" charset="0"/>
                                </a:rPr>
                                <m:t>𝑡</m:t>
                              </m:r>
                            </m:e>
                          </m:d>
                          <m:r>
                            <a:rPr lang="en-US" altLang="zh-CN" sz="2800" i="1">
                              <a:latin typeface="Cambria Math" panose="02040503050406030204" pitchFamily="18" charset="0"/>
                            </a:rPr>
                            <m:t>[</m:t>
                          </m:r>
                          <m:d>
                            <m:dPr>
                              <m:endChr m:val="]"/>
                              <m:ctrlPr>
                                <a:rPr lang="en-US" altLang="zh-CN" sz="2800" i="1">
                                  <a:latin typeface="Cambria Math" panose="02040503050406030204" pitchFamily="18" charset="0"/>
                                </a:rPr>
                              </m:ctrlPr>
                            </m:dPr>
                            <m:e>
                              <m:r>
                                <a:rPr lang="en-US" altLang="zh-CN" sz="2800" i="1">
                                  <a:latin typeface="Cambria Math" panose="02040503050406030204" pitchFamily="18" charset="0"/>
                                </a:rPr>
                                <m:t>1+</m:t>
                              </m:r>
                              <m:r>
                                <a:rPr lang="en-US" altLang="zh-CN" sz="2800" i="1">
                                  <a:latin typeface="Cambria Math" panose="02040503050406030204" pitchFamily="18" charset="0"/>
                                </a:rPr>
                                <m:t>𝑖</m:t>
                              </m:r>
                              <m:sSup>
                                <m:sSupPr>
                                  <m:ctrlPr>
                                    <a:rPr lang="en-US" altLang="zh-CN" sz="2800" i="1">
                                      <a:latin typeface="Cambria Math" panose="02040503050406030204" pitchFamily="18" charset="0"/>
                                    </a:rPr>
                                  </m:ctrlPr>
                                </m:sSupPr>
                                <m:e>
                                  <m:r>
                                    <a:rPr lang="en-US" altLang="zh-CN" sz="2800" i="1">
                                      <a:latin typeface="Cambria Math" panose="02040503050406030204" pitchFamily="18" charset="0"/>
                                    </a:rPr>
                                    <m:t>)</m:t>
                                  </m:r>
                                </m:e>
                                <m:sup>
                                  <m:r>
                                    <a:rPr lang="en-US" altLang="zh-CN" sz="2800" i="1">
                                      <a:latin typeface="Cambria Math" panose="02040503050406030204" pitchFamily="18" charset="0"/>
                                    </a:rPr>
                                    <m:t>𝑡</m:t>
                                  </m:r>
                                  <m:r>
                                    <a:rPr lang="en-US" altLang="zh-CN" sz="2800" i="1">
                                      <a:latin typeface="Cambria Math" panose="02040503050406030204" pitchFamily="18" charset="0"/>
                                    </a:rPr>
                                    <m:t>+1</m:t>
                                  </m:r>
                                </m:sup>
                              </m:sSup>
                              <m:r>
                                <a:rPr lang="en-US" altLang="zh-CN" sz="2800" i="1">
                                  <a:latin typeface="Cambria Math" panose="02040503050406030204" pitchFamily="18" charset="0"/>
                                </a:rPr>
                                <m:t>−1</m:t>
                              </m:r>
                            </m:e>
                          </m:d>
                          <m:r>
                            <a:rPr lang="en-US" altLang="zh-CN" sz="2800" b="0" i="1" smtClean="0">
                              <a:latin typeface="Cambria Math" panose="02040503050406030204" pitchFamily="18" charset="0"/>
                            </a:rPr>
                            <m:t>−</m:t>
                          </m:r>
                          <m:r>
                            <a:rPr lang="en-US" altLang="zh-CN" sz="2800" b="0" i="1" smtClean="0">
                              <a:latin typeface="Cambria Math" panose="02040503050406030204" pitchFamily="18" charset="0"/>
                            </a:rPr>
                            <m:t>𝑆</m:t>
                          </m:r>
                          <m:r>
                            <a:rPr lang="en-US" altLang="zh-CN" sz="2800" b="0" i="1" smtClean="0">
                              <a:latin typeface="Cambria Math" panose="02040503050406030204" pitchFamily="18" charset="0"/>
                            </a:rPr>
                            <m:t>(</m:t>
                          </m:r>
                          <m:r>
                            <a:rPr lang="en-US" altLang="zh-CN" sz="2800" b="0" i="1" smtClean="0">
                              <a:latin typeface="Cambria Math" panose="02040503050406030204" pitchFamily="18" charset="0"/>
                            </a:rPr>
                            <m:t>𝑡</m:t>
                          </m:r>
                          <m:r>
                            <a:rPr lang="en-US" altLang="zh-CN" sz="2800" b="0" i="1" smtClean="0">
                              <a:latin typeface="Cambria Math" panose="02040503050406030204" pitchFamily="18" charset="0"/>
                            </a:rPr>
                            <m:t>)[(1+</m:t>
                          </m:r>
                          <m:r>
                            <a:rPr lang="en-US" altLang="zh-CN" sz="2800" i="1">
                              <a:latin typeface="Cambria Math" panose="02040503050406030204" pitchFamily="18" charset="0"/>
                            </a:rPr>
                            <m:t>𝑖</m:t>
                          </m:r>
                          <m:sSup>
                            <m:sSupPr>
                              <m:ctrlPr>
                                <a:rPr lang="en-US" altLang="zh-CN" sz="2800" i="1">
                                  <a:latin typeface="Cambria Math" panose="02040503050406030204" pitchFamily="18" charset="0"/>
                                </a:rPr>
                              </m:ctrlPr>
                            </m:sSupPr>
                            <m:e>
                              <m:r>
                                <a:rPr lang="en-US" altLang="zh-CN" sz="2800" i="1">
                                  <a:latin typeface="Cambria Math" panose="02040503050406030204" pitchFamily="18" charset="0"/>
                                </a:rPr>
                                <m:t>)</m:t>
                              </m:r>
                            </m:e>
                            <m:sup>
                              <m:r>
                                <a:rPr lang="en-US" altLang="zh-CN" sz="2800" i="1">
                                  <a:latin typeface="Cambria Math" panose="02040503050406030204" pitchFamily="18" charset="0"/>
                                </a:rPr>
                                <m:t>𝑡</m:t>
                              </m:r>
                            </m:sup>
                          </m:sSup>
                          <m:r>
                            <a:rPr lang="en-US" altLang="zh-CN" sz="2800" i="1">
                              <a:latin typeface="Cambria Math" panose="02040503050406030204" pitchFamily="18" charset="0"/>
                            </a:rPr>
                            <m:t>−1</m:t>
                          </m:r>
                          <m:r>
                            <a:rPr lang="en-US" altLang="zh-CN" sz="2800" b="0" i="1" smtClean="0">
                              <a:latin typeface="Cambria Math" panose="02040503050406030204" pitchFamily="18" charset="0"/>
                            </a:rPr>
                            <m:t>]</m:t>
                          </m:r>
                        </m:num>
                        <m:den>
                          <m:r>
                            <a:rPr lang="en-US" altLang="zh-CN" sz="2800" i="1">
                              <a:latin typeface="Cambria Math" panose="02040503050406030204" pitchFamily="18" charset="0"/>
                            </a:rPr>
                            <m:t>(1+</m:t>
                          </m:r>
                          <m:r>
                            <a:rPr lang="en-US" altLang="zh-CN" sz="2800" i="1">
                              <a:latin typeface="Cambria Math" panose="02040503050406030204" pitchFamily="18" charset="0"/>
                            </a:rPr>
                            <m:t>𝑖</m:t>
                          </m:r>
                          <m:sSup>
                            <m:sSupPr>
                              <m:ctrlPr>
                                <a:rPr lang="en-US" altLang="zh-CN" sz="2800" i="1">
                                  <a:latin typeface="Cambria Math" panose="02040503050406030204" pitchFamily="18" charset="0"/>
                                </a:rPr>
                              </m:ctrlPr>
                            </m:sSupPr>
                            <m:e>
                              <m:r>
                                <a:rPr lang="en-US" altLang="zh-CN" sz="2800" i="1">
                                  <a:latin typeface="Cambria Math" panose="02040503050406030204" pitchFamily="18" charset="0"/>
                                </a:rPr>
                                <m:t>)</m:t>
                              </m:r>
                            </m:e>
                            <m:sup>
                              <m:r>
                                <a:rPr lang="en-US" altLang="zh-CN" sz="2800" i="1">
                                  <a:latin typeface="Cambria Math" panose="02040503050406030204" pitchFamily="18" charset="0"/>
                                </a:rPr>
                                <m:t>𝑡</m:t>
                              </m:r>
                            </m:sup>
                          </m:sSup>
                          <m:r>
                            <a:rPr lang="en-US" altLang="zh-CN" sz="2800" i="1">
                              <a:latin typeface="Cambria Math" panose="02040503050406030204" pitchFamily="18" charset="0"/>
                            </a:rPr>
                            <m:t>−1</m:t>
                          </m:r>
                        </m:den>
                      </m:f>
                    </m:oMath>
                  </m:oMathPara>
                </a14:m>
                <a:endParaRPr lang="en-US" altLang="zh-CN" sz="2800" dirty="0"/>
              </a:p>
              <a:p>
                <a:r>
                  <a:rPr lang="en-US" altLang="zh-CN" sz="2800" dirty="0"/>
                  <a:t>=</a:t>
                </a:r>
                <a14:m>
                  <m:oMath xmlns:m="http://schemas.openxmlformats.org/officeDocument/2006/math">
                    <m:f>
                      <m:fPr>
                        <m:ctrlPr>
                          <a:rPr lang="en-US" altLang="zh-CN" sz="2800" i="1">
                            <a:latin typeface="Cambria Math" panose="02040503050406030204" pitchFamily="18" charset="0"/>
                          </a:rPr>
                        </m:ctrlPr>
                      </m:fPr>
                      <m:num>
                        <m:r>
                          <a:rPr lang="en-US" altLang="zh-CN" sz="2800" i="1">
                            <a:latin typeface="Cambria Math" panose="02040503050406030204" pitchFamily="18" charset="0"/>
                          </a:rPr>
                          <m:t>𝑆</m:t>
                        </m:r>
                        <m:d>
                          <m:dPr>
                            <m:ctrlPr>
                              <a:rPr lang="en-US" altLang="zh-CN" sz="2800" i="1">
                                <a:latin typeface="Cambria Math" panose="02040503050406030204" pitchFamily="18" charset="0"/>
                              </a:rPr>
                            </m:ctrlPr>
                          </m:dPr>
                          <m:e>
                            <m:r>
                              <a:rPr lang="en-US" altLang="zh-CN" sz="2800" i="1">
                                <a:latin typeface="Cambria Math" panose="02040503050406030204" pitchFamily="18" charset="0"/>
                              </a:rPr>
                              <m:t>𝑡</m:t>
                            </m:r>
                          </m:e>
                        </m:d>
                        <m:r>
                          <a:rPr lang="en-US" altLang="zh-CN" sz="2800" i="1">
                            <a:latin typeface="Cambria Math" panose="02040503050406030204" pitchFamily="18" charset="0"/>
                          </a:rPr>
                          <m:t>[(1+</m:t>
                        </m:r>
                        <m:r>
                          <a:rPr lang="en-US" altLang="zh-CN" sz="2800" i="1">
                            <a:latin typeface="Cambria Math" panose="02040503050406030204" pitchFamily="18" charset="0"/>
                          </a:rPr>
                          <m:t>𝑖</m:t>
                        </m:r>
                        <m:sSup>
                          <m:sSupPr>
                            <m:ctrlPr>
                              <a:rPr lang="en-US" altLang="zh-CN" sz="2800" i="1">
                                <a:latin typeface="Cambria Math" panose="02040503050406030204" pitchFamily="18" charset="0"/>
                              </a:rPr>
                            </m:ctrlPr>
                          </m:sSupPr>
                          <m:e>
                            <m:r>
                              <a:rPr lang="en-US" altLang="zh-CN" sz="2800" i="1">
                                <a:latin typeface="Cambria Math" panose="02040503050406030204" pitchFamily="18" charset="0"/>
                              </a:rPr>
                              <m:t>)</m:t>
                            </m:r>
                          </m:e>
                          <m:sup>
                            <m:r>
                              <a:rPr lang="en-US" altLang="zh-CN" sz="2800" i="1">
                                <a:latin typeface="Cambria Math" panose="02040503050406030204" pitchFamily="18" charset="0"/>
                              </a:rPr>
                              <m:t>𝑡</m:t>
                            </m:r>
                            <m:r>
                              <a:rPr lang="en-US" altLang="zh-CN" sz="2800" b="0" i="1" smtClean="0">
                                <a:latin typeface="Cambria Math" panose="02040503050406030204" pitchFamily="18" charset="0"/>
                              </a:rPr>
                              <m:t>+1</m:t>
                            </m:r>
                          </m:sup>
                        </m:sSup>
                        <m:r>
                          <a:rPr lang="en-US" altLang="zh-CN" sz="2800" b="0" i="1" smtClean="0">
                            <a:latin typeface="Cambria Math" panose="02040503050406030204" pitchFamily="18" charset="0"/>
                          </a:rPr>
                          <m:t>−</m:t>
                        </m:r>
                        <m:r>
                          <a:rPr lang="en-US" altLang="zh-CN" sz="2800" i="1">
                            <a:latin typeface="Cambria Math" panose="02040503050406030204" pitchFamily="18" charset="0"/>
                          </a:rPr>
                          <m:t>(1+</m:t>
                        </m:r>
                        <m:r>
                          <a:rPr lang="en-US" altLang="zh-CN" sz="2800" i="1">
                            <a:latin typeface="Cambria Math" panose="02040503050406030204" pitchFamily="18" charset="0"/>
                          </a:rPr>
                          <m:t>𝑖</m:t>
                        </m:r>
                        <m:sSup>
                          <m:sSupPr>
                            <m:ctrlPr>
                              <a:rPr lang="en-US" altLang="zh-CN" sz="2800" i="1">
                                <a:latin typeface="Cambria Math" panose="02040503050406030204" pitchFamily="18" charset="0"/>
                              </a:rPr>
                            </m:ctrlPr>
                          </m:sSupPr>
                          <m:e>
                            <m:r>
                              <a:rPr lang="en-US" altLang="zh-CN" sz="2800" i="1">
                                <a:latin typeface="Cambria Math" panose="02040503050406030204" pitchFamily="18" charset="0"/>
                              </a:rPr>
                              <m:t>)</m:t>
                            </m:r>
                          </m:e>
                          <m:sup>
                            <m:r>
                              <a:rPr lang="en-US" altLang="zh-CN" sz="2800" i="1">
                                <a:latin typeface="Cambria Math" panose="02040503050406030204" pitchFamily="18" charset="0"/>
                              </a:rPr>
                              <m:t>𝑡</m:t>
                            </m:r>
                          </m:sup>
                        </m:sSup>
                        <m:r>
                          <a:rPr lang="en-US" altLang="zh-CN" sz="2800" i="1">
                            <a:latin typeface="Cambria Math" panose="02040503050406030204" pitchFamily="18" charset="0"/>
                          </a:rPr>
                          <m:t>]</m:t>
                        </m:r>
                      </m:num>
                      <m:den>
                        <m:r>
                          <a:rPr lang="en-US" altLang="zh-CN" sz="2800" i="1">
                            <a:latin typeface="Cambria Math" panose="02040503050406030204" pitchFamily="18" charset="0"/>
                          </a:rPr>
                          <m:t>(1+</m:t>
                        </m:r>
                        <m:r>
                          <a:rPr lang="en-US" altLang="zh-CN" sz="2800" i="1">
                            <a:latin typeface="Cambria Math" panose="02040503050406030204" pitchFamily="18" charset="0"/>
                          </a:rPr>
                          <m:t>𝑖</m:t>
                        </m:r>
                        <m:sSup>
                          <m:sSupPr>
                            <m:ctrlPr>
                              <a:rPr lang="en-US" altLang="zh-CN" sz="2800" i="1">
                                <a:latin typeface="Cambria Math" panose="02040503050406030204" pitchFamily="18" charset="0"/>
                              </a:rPr>
                            </m:ctrlPr>
                          </m:sSupPr>
                          <m:e>
                            <m:r>
                              <a:rPr lang="en-US" altLang="zh-CN" sz="2800" i="1">
                                <a:latin typeface="Cambria Math" panose="02040503050406030204" pitchFamily="18" charset="0"/>
                              </a:rPr>
                              <m:t>)</m:t>
                            </m:r>
                          </m:e>
                          <m:sup>
                            <m:r>
                              <a:rPr lang="en-US" altLang="zh-CN" sz="2800" i="1">
                                <a:latin typeface="Cambria Math" panose="02040503050406030204" pitchFamily="18" charset="0"/>
                              </a:rPr>
                              <m:t>𝑡</m:t>
                            </m:r>
                          </m:sup>
                        </m:sSup>
                        <m:r>
                          <a:rPr lang="en-US" altLang="zh-CN" sz="2800" i="1">
                            <a:latin typeface="Cambria Math" panose="02040503050406030204" pitchFamily="18" charset="0"/>
                          </a:rPr>
                          <m:t>−1</m:t>
                        </m:r>
                      </m:den>
                    </m:f>
                  </m:oMath>
                </a14:m>
                <a:r>
                  <a:rPr lang="en-US" altLang="zh-CN" sz="2800" dirty="0"/>
                  <a:t>=</a:t>
                </a:r>
                <a14:m>
                  <m:oMath xmlns:m="http://schemas.openxmlformats.org/officeDocument/2006/math">
                    <m:f>
                      <m:fPr>
                        <m:ctrlPr>
                          <a:rPr lang="en-US" altLang="zh-CN" sz="2800" i="1">
                            <a:latin typeface="Cambria Math" panose="02040503050406030204" pitchFamily="18" charset="0"/>
                          </a:rPr>
                        </m:ctrlPr>
                      </m:fPr>
                      <m:num>
                        <m:r>
                          <a:rPr lang="en-US" altLang="zh-CN" sz="2800" i="1">
                            <a:latin typeface="Cambria Math" panose="02040503050406030204" pitchFamily="18" charset="0"/>
                          </a:rPr>
                          <m:t>𝑆</m:t>
                        </m:r>
                        <m:d>
                          <m:dPr>
                            <m:ctrlPr>
                              <a:rPr lang="en-US" altLang="zh-CN" sz="2800" i="1">
                                <a:latin typeface="Cambria Math" panose="02040503050406030204" pitchFamily="18" charset="0"/>
                              </a:rPr>
                            </m:ctrlPr>
                          </m:dPr>
                          <m:e>
                            <m:r>
                              <a:rPr lang="en-US" altLang="zh-CN" sz="2800" i="1">
                                <a:latin typeface="Cambria Math" panose="02040503050406030204" pitchFamily="18" charset="0"/>
                              </a:rPr>
                              <m:t>𝑡</m:t>
                            </m:r>
                          </m:e>
                        </m:d>
                        <m:r>
                          <a:rPr lang="en-US" altLang="zh-CN" sz="2800" i="1">
                            <a:latin typeface="Cambria Math" panose="02040503050406030204" pitchFamily="18" charset="0"/>
                          </a:rPr>
                          <m:t>(1+</m:t>
                        </m:r>
                        <m:r>
                          <a:rPr lang="en-US" altLang="zh-CN" sz="2800" i="1">
                            <a:latin typeface="Cambria Math" panose="02040503050406030204" pitchFamily="18" charset="0"/>
                          </a:rPr>
                          <m:t>𝑖</m:t>
                        </m:r>
                        <m:sSup>
                          <m:sSupPr>
                            <m:ctrlPr>
                              <a:rPr lang="en-US" altLang="zh-CN" sz="2800" i="1">
                                <a:latin typeface="Cambria Math" panose="02040503050406030204" pitchFamily="18" charset="0"/>
                              </a:rPr>
                            </m:ctrlPr>
                          </m:sSupPr>
                          <m:e>
                            <m:r>
                              <a:rPr lang="en-US" altLang="zh-CN" sz="2800" i="1">
                                <a:latin typeface="Cambria Math" panose="02040503050406030204" pitchFamily="18" charset="0"/>
                              </a:rPr>
                              <m:t>)</m:t>
                            </m:r>
                          </m:e>
                          <m:sup>
                            <m:r>
                              <a:rPr lang="en-US" altLang="zh-CN" sz="2800" i="1">
                                <a:latin typeface="Cambria Math" panose="02040503050406030204" pitchFamily="18" charset="0"/>
                              </a:rPr>
                              <m:t>𝑡</m:t>
                            </m:r>
                          </m:sup>
                        </m:sSup>
                        <m:r>
                          <a:rPr lang="en-US" altLang="zh-CN" sz="2800" b="0" i="1" smtClean="0">
                            <a:latin typeface="Cambria Math" panose="02040503050406030204" pitchFamily="18" charset="0"/>
                          </a:rPr>
                          <m:t>𝑖</m:t>
                        </m:r>
                      </m:num>
                      <m:den>
                        <m:r>
                          <a:rPr lang="en-US" altLang="zh-CN" sz="2800" i="1">
                            <a:latin typeface="Cambria Math" panose="02040503050406030204" pitchFamily="18" charset="0"/>
                          </a:rPr>
                          <m:t>(1+</m:t>
                        </m:r>
                        <m:r>
                          <a:rPr lang="en-US" altLang="zh-CN" sz="2800" i="1">
                            <a:latin typeface="Cambria Math" panose="02040503050406030204" pitchFamily="18" charset="0"/>
                          </a:rPr>
                          <m:t>𝑖</m:t>
                        </m:r>
                        <m:sSup>
                          <m:sSupPr>
                            <m:ctrlPr>
                              <a:rPr lang="en-US" altLang="zh-CN" sz="2800" i="1">
                                <a:latin typeface="Cambria Math" panose="02040503050406030204" pitchFamily="18" charset="0"/>
                              </a:rPr>
                            </m:ctrlPr>
                          </m:sSupPr>
                          <m:e>
                            <m:r>
                              <a:rPr lang="en-US" altLang="zh-CN" sz="2800" i="1">
                                <a:latin typeface="Cambria Math" panose="02040503050406030204" pitchFamily="18" charset="0"/>
                              </a:rPr>
                              <m:t>)</m:t>
                            </m:r>
                          </m:e>
                          <m:sup>
                            <m:r>
                              <a:rPr lang="en-US" altLang="zh-CN" sz="2800" i="1">
                                <a:latin typeface="Cambria Math" panose="02040503050406030204" pitchFamily="18" charset="0"/>
                              </a:rPr>
                              <m:t>𝑡</m:t>
                            </m:r>
                          </m:sup>
                        </m:sSup>
                        <m:r>
                          <a:rPr lang="en-US" altLang="zh-CN" sz="2800" i="1">
                            <a:latin typeface="Cambria Math" panose="02040503050406030204" pitchFamily="18" charset="0"/>
                          </a:rPr>
                          <m:t>−1</m:t>
                        </m:r>
                      </m:den>
                    </m:f>
                    <m:r>
                      <a:rPr lang="en-US" altLang="zh-CN" sz="2800" i="1" smtClean="0">
                        <a:ln w="0"/>
                        <a:solidFill>
                          <a:srgbClr val="FFC000"/>
                        </a:solidFill>
                        <a:effectLst>
                          <a:outerShdw blurRad="38100" dist="25400" dir="5400000" algn="ctr" rotWithShape="0">
                            <a:srgbClr val="6E747A">
                              <a:alpha val="43000"/>
                            </a:srgbClr>
                          </a:outerShdw>
                        </a:effectLst>
                        <a:latin typeface="Cambria Math" panose="02040503050406030204" pitchFamily="18" charset="0"/>
                      </a:rPr>
                      <m:t>=</m:t>
                    </m:r>
                    <m:f>
                      <m:fPr>
                        <m:ctrlPr>
                          <a:rPr lang="en-US" altLang="zh-CN" sz="2800" i="1">
                            <a:ln w="0"/>
                            <a:solidFill>
                              <a:srgbClr val="FFC000"/>
                            </a:solidFill>
                            <a:effectLst>
                              <a:outerShdw blurRad="38100" dist="25400" dir="5400000" algn="ctr" rotWithShape="0">
                                <a:srgbClr val="6E747A">
                                  <a:alpha val="43000"/>
                                </a:srgbClr>
                              </a:outerShdw>
                            </a:effectLst>
                            <a:latin typeface="Cambria Math" panose="02040503050406030204" pitchFamily="18" charset="0"/>
                          </a:rPr>
                        </m:ctrlPr>
                      </m:fPr>
                      <m:num>
                        <m:r>
                          <a:rPr lang="en-US" altLang="zh-CN" sz="2800" i="1">
                            <a:ln w="0"/>
                            <a:solidFill>
                              <a:srgbClr val="FFC000"/>
                            </a:solidFill>
                            <a:effectLst>
                              <a:outerShdw blurRad="38100" dist="25400" dir="5400000" algn="ctr" rotWithShape="0">
                                <a:srgbClr val="6E747A">
                                  <a:alpha val="43000"/>
                                </a:srgbClr>
                              </a:outerShdw>
                            </a:effectLst>
                            <a:latin typeface="Cambria Math" panose="02040503050406030204" pitchFamily="18" charset="0"/>
                          </a:rPr>
                          <m:t>𝑆</m:t>
                        </m:r>
                        <m:d>
                          <m:dPr>
                            <m:ctrlPr>
                              <a:rPr lang="en-US" altLang="zh-CN" sz="2800" i="1">
                                <a:ln w="0"/>
                                <a:solidFill>
                                  <a:srgbClr val="FFC000"/>
                                </a:solidFill>
                                <a:effectLst>
                                  <a:outerShdw blurRad="38100" dist="25400" dir="5400000" algn="ctr" rotWithShape="0">
                                    <a:srgbClr val="6E747A">
                                      <a:alpha val="43000"/>
                                    </a:srgbClr>
                                  </a:outerShdw>
                                </a:effectLst>
                                <a:latin typeface="Cambria Math" panose="02040503050406030204" pitchFamily="18" charset="0"/>
                              </a:rPr>
                            </m:ctrlPr>
                          </m:dPr>
                          <m:e>
                            <m:r>
                              <a:rPr lang="en-US" altLang="zh-CN" sz="2800" i="1">
                                <a:ln w="0"/>
                                <a:solidFill>
                                  <a:srgbClr val="FFC000"/>
                                </a:solidFill>
                                <a:effectLst>
                                  <a:outerShdw blurRad="38100" dist="25400" dir="5400000" algn="ctr" rotWithShape="0">
                                    <a:srgbClr val="6E747A">
                                      <a:alpha val="43000"/>
                                    </a:srgbClr>
                                  </a:outerShdw>
                                </a:effectLst>
                                <a:latin typeface="Cambria Math" panose="02040503050406030204" pitchFamily="18" charset="0"/>
                              </a:rPr>
                              <m:t>𝑡</m:t>
                            </m:r>
                          </m:e>
                        </m:d>
                        <m:r>
                          <a:rPr lang="en-US" altLang="zh-CN" sz="2800" i="1" smtClean="0">
                            <a:ln w="0"/>
                            <a:solidFill>
                              <a:srgbClr val="FFC000"/>
                            </a:solidFill>
                            <a:effectLst>
                              <a:outerShdw blurRad="38100" dist="25400" dir="5400000" algn="ctr" rotWithShape="0">
                                <a:srgbClr val="6E747A">
                                  <a:alpha val="43000"/>
                                </a:srgbClr>
                              </a:outerShdw>
                            </a:effectLst>
                            <a:latin typeface="Cambria Math" panose="02040503050406030204" pitchFamily="18" charset="0"/>
                          </a:rPr>
                          <m:t>𝑖</m:t>
                        </m:r>
                      </m:num>
                      <m:den>
                        <m:r>
                          <a:rPr lang="en-US" altLang="zh-CN" sz="2800" i="1">
                            <a:ln w="0"/>
                            <a:solidFill>
                              <a:srgbClr val="FFC000"/>
                            </a:solidFill>
                            <a:effectLst>
                              <a:outerShdw blurRad="38100" dist="25400" dir="5400000" algn="ctr" rotWithShape="0">
                                <a:srgbClr val="6E747A">
                                  <a:alpha val="43000"/>
                                </a:srgbClr>
                              </a:outerShdw>
                            </a:effectLst>
                            <a:latin typeface="Cambria Math" panose="02040503050406030204" pitchFamily="18" charset="0"/>
                          </a:rPr>
                          <m:t>1</m:t>
                        </m:r>
                        <m:r>
                          <a:rPr lang="en-US" altLang="zh-CN" sz="2800" i="1" smtClean="0">
                            <a:ln w="0"/>
                            <a:solidFill>
                              <a:srgbClr val="FFC000"/>
                            </a:solidFill>
                            <a:effectLst>
                              <a:outerShdw blurRad="38100" dist="25400" dir="5400000" algn="ctr" rotWithShape="0">
                                <a:srgbClr val="6E747A">
                                  <a:alpha val="43000"/>
                                </a:srgbClr>
                              </a:outerShdw>
                            </a:effectLst>
                            <a:latin typeface="Cambria Math" panose="02040503050406030204" pitchFamily="18" charset="0"/>
                          </a:rPr>
                          <m:t>−</m:t>
                        </m:r>
                        <m:r>
                          <a:rPr lang="en-US" altLang="zh-CN" sz="2800" i="1">
                            <a:ln w="0"/>
                            <a:solidFill>
                              <a:srgbClr val="FFC000"/>
                            </a:solidFill>
                            <a:effectLst>
                              <a:outerShdw blurRad="38100" dist="25400" dir="5400000" algn="ctr" rotWithShape="0">
                                <a:srgbClr val="6E747A">
                                  <a:alpha val="43000"/>
                                </a:srgbClr>
                              </a:outerShdw>
                            </a:effectLst>
                            <a:latin typeface="Cambria Math" panose="02040503050406030204" pitchFamily="18" charset="0"/>
                          </a:rPr>
                          <m:t>(1+</m:t>
                        </m:r>
                        <m:r>
                          <a:rPr lang="en-US" altLang="zh-CN" sz="2800" i="1">
                            <a:ln w="0"/>
                            <a:solidFill>
                              <a:srgbClr val="FFC000"/>
                            </a:solidFill>
                            <a:effectLst>
                              <a:outerShdw blurRad="38100" dist="25400" dir="5400000" algn="ctr" rotWithShape="0">
                                <a:srgbClr val="6E747A">
                                  <a:alpha val="43000"/>
                                </a:srgbClr>
                              </a:outerShdw>
                            </a:effectLst>
                            <a:latin typeface="Cambria Math" panose="02040503050406030204" pitchFamily="18" charset="0"/>
                          </a:rPr>
                          <m:t>𝑖</m:t>
                        </m:r>
                        <m:sSup>
                          <m:sSupPr>
                            <m:ctrlPr>
                              <a:rPr lang="en-US" altLang="zh-CN" sz="2800" i="1">
                                <a:ln w="0"/>
                                <a:solidFill>
                                  <a:srgbClr val="FFC000"/>
                                </a:solidFill>
                                <a:effectLst>
                                  <a:outerShdw blurRad="38100" dist="25400" dir="5400000" algn="ctr" rotWithShape="0">
                                    <a:srgbClr val="6E747A">
                                      <a:alpha val="43000"/>
                                    </a:srgbClr>
                                  </a:outerShdw>
                                </a:effectLst>
                                <a:latin typeface="Cambria Math" panose="02040503050406030204" pitchFamily="18" charset="0"/>
                              </a:rPr>
                            </m:ctrlPr>
                          </m:sSupPr>
                          <m:e>
                            <m:r>
                              <a:rPr lang="en-US" altLang="zh-CN" sz="2800" i="1">
                                <a:ln w="0"/>
                                <a:solidFill>
                                  <a:srgbClr val="FFC000"/>
                                </a:solidFill>
                                <a:effectLst>
                                  <a:outerShdw blurRad="38100" dist="25400" dir="5400000" algn="ctr" rotWithShape="0">
                                    <a:srgbClr val="6E747A">
                                      <a:alpha val="43000"/>
                                    </a:srgbClr>
                                  </a:outerShdw>
                                </a:effectLst>
                                <a:latin typeface="Cambria Math" panose="02040503050406030204" pitchFamily="18" charset="0"/>
                              </a:rPr>
                              <m:t>)</m:t>
                            </m:r>
                          </m:e>
                          <m:sup>
                            <m:r>
                              <a:rPr lang="en-US" altLang="zh-CN" sz="2800" i="1" smtClean="0">
                                <a:ln w="0"/>
                                <a:solidFill>
                                  <a:srgbClr val="FFC000"/>
                                </a:solidFill>
                                <a:effectLst>
                                  <a:outerShdw blurRad="38100" dist="25400" dir="5400000" algn="ctr" rotWithShape="0">
                                    <a:srgbClr val="6E747A">
                                      <a:alpha val="43000"/>
                                    </a:srgbClr>
                                  </a:outerShdw>
                                </a:effectLst>
                                <a:latin typeface="Cambria Math" panose="02040503050406030204" pitchFamily="18" charset="0"/>
                              </a:rPr>
                              <m:t>−</m:t>
                            </m:r>
                            <m:r>
                              <a:rPr lang="en-US" altLang="zh-CN" sz="2800" i="1">
                                <a:ln w="0"/>
                                <a:solidFill>
                                  <a:srgbClr val="FFC000"/>
                                </a:solidFill>
                                <a:effectLst>
                                  <a:outerShdw blurRad="38100" dist="25400" dir="5400000" algn="ctr" rotWithShape="0">
                                    <a:srgbClr val="6E747A">
                                      <a:alpha val="43000"/>
                                    </a:srgbClr>
                                  </a:outerShdw>
                                </a:effectLst>
                                <a:latin typeface="Cambria Math" panose="02040503050406030204" pitchFamily="18" charset="0"/>
                              </a:rPr>
                              <m:t>𝑡</m:t>
                            </m:r>
                          </m:sup>
                        </m:sSup>
                      </m:den>
                    </m:f>
                  </m:oMath>
                </a14:m>
                <a:endParaRPr lang="zh-CN" altLang="en-US" sz="2800" dirty="0"/>
              </a:p>
            </p:txBody>
          </p:sp>
        </mc:Choice>
        <mc:Fallback xmlns="">
          <p:sp>
            <p:nvSpPr>
              <p:cNvPr id="6" name="文本框 5"/>
              <p:cNvSpPr txBox="1">
                <a:spLocks noRot="1" noChangeAspect="1" noMove="1" noResize="1" noEditPoints="1" noAdjustHandles="1" noChangeArrowheads="1" noChangeShapeType="1" noTextEdit="1"/>
              </p:cNvSpPr>
              <p:nvPr/>
            </p:nvSpPr>
            <p:spPr>
              <a:xfrm>
                <a:off x="914401" y="2899954"/>
                <a:ext cx="6792685" cy="3126562"/>
              </a:xfrm>
              <a:prstGeom prst="rect">
                <a:avLst/>
              </a:prstGeom>
              <a:blipFill rotWithShape="0">
                <a:blip r:embed="rId3"/>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2235994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52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anim calcmode="lin" valueType="num">
                                      <p:cBhvr>
                                        <p:cTn id="10" dur="500" fill="hold"/>
                                        <p:tgtEl>
                                          <p:spTgt spid="4"/>
                                        </p:tgtEl>
                                        <p:attrNameLst>
                                          <p:attrName>ppt_x</p:attrName>
                                        </p:attrNameLst>
                                      </p:cBhvr>
                                      <p:tavLst>
                                        <p:tav tm="0">
                                          <p:val>
                                            <p:fltVal val="0.5"/>
                                          </p:val>
                                        </p:tav>
                                        <p:tav tm="100000">
                                          <p:val>
                                            <p:strVal val="#ppt_x"/>
                                          </p:val>
                                        </p:tav>
                                      </p:tavLst>
                                    </p:anim>
                                    <p:anim calcmode="lin" valueType="num">
                                      <p:cBhvr>
                                        <p:cTn id="11" dur="500" fill="hold"/>
                                        <p:tgtEl>
                                          <p:spTgt spid="4"/>
                                        </p:tgtEl>
                                        <p:attrNameLst>
                                          <p:attrName>ppt_y</p:attrName>
                                        </p:attrNameLst>
                                      </p:cBhvr>
                                      <p:tavLst>
                                        <p:tav tm="0">
                                          <p:val>
                                            <p:fltVal val="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矩形 1"/>
              <p:cNvSpPr/>
              <p:nvPr/>
            </p:nvSpPr>
            <p:spPr>
              <a:xfrm>
                <a:off x="407949" y="1221495"/>
                <a:ext cx="3883884" cy="408842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3200" b="1" i="1" smtClean="0">
                          <a:ln w="9525">
                            <a:solidFill>
                              <a:schemeClr val="bg1"/>
                            </a:solidFill>
                            <a:prstDash val="solid"/>
                          </a:ln>
                          <a:solidFill>
                            <a:srgbClr val="FFC000"/>
                          </a:solidFill>
                          <a:effectLst>
                            <a:outerShdw blurRad="12700" dist="38100" dir="2700000" algn="tl" rotWithShape="0">
                              <a:schemeClr val="accent5">
                                <a:lumMod val="60000"/>
                                <a:lumOff val="40000"/>
                              </a:schemeClr>
                            </a:outerShdw>
                          </a:effectLst>
                          <a:latin typeface="Cambria Math" panose="02040503050406030204" pitchFamily="18" charset="0"/>
                        </a:rPr>
                        <m:t>∆</m:t>
                      </m:r>
                      <m:r>
                        <a:rPr lang="en-US" altLang="zh-CN" sz="3200" b="1" i="1">
                          <a:ln w="9525">
                            <a:solidFill>
                              <a:schemeClr val="bg1"/>
                            </a:solidFill>
                            <a:prstDash val="solid"/>
                          </a:ln>
                          <a:solidFill>
                            <a:srgbClr val="FFC000"/>
                          </a:solidFill>
                          <a:effectLst>
                            <a:outerShdw blurRad="12700" dist="38100" dir="2700000" algn="tl" rotWithShape="0">
                              <a:schemeClr val="accent5">
                                <a:lumMod val="60000"/>
                                <a:lumOff val="40000"/>
                              </a:schemeClr>
                            </a:outerShdw>
                          </a:effectLst>
                          <a:latin typeface="Cambria Math" panose="02040503050406030204" pitchFamily="18" charset="0"/>
                        </a:rPr>
                        <m:t>𝑺</m:t>
                      </m:r>
                      <m:r>
                        <a:rPr lang="en-US" altLang="zh-CN" sz="3200" b="1" i="1">
                          <a:ln w="9525">
                            <a:solidFill>
                              <a:schemeClr val="bg1"/>
                            </a:solidFill>
                            <a:prstDash val="solid"/>
                          </a:ln>
                          <a:solidFill>
                            <a:srgbClr val="FFC000"/>
                          </a:solidFill>
                          <a:effectLst>
                            <a:outerShdw blurRad="12700" dist="38100" dir="2700000" algn="tl" rotWithShape="0">
                              <a:schemeClr val="accent5">
                                <a:lumMod val="60000"/>
                                <a:lumOff val="40000"/>
                              </a:schemeClr>
                            </a:outerShdw>
                          </a:effectLst>
                          <a:latin typeface="Cambria Math" panose="02040503050406030204" pitchFamily="18" charset="0"/>
                        </a:rPr>
                        <m:t>=</m:t>
                      </m:r>
                      <m:f>
                        <m:fPr>
                          <m:ctrlPr>
                            <a:rPr lang="en-US" altLang="zh-CN" sz="3200" b="1" i="1">
                              <a:ln w="9525">
                                <a:solidFill>
                                  <a:schemeClr val="bg1"/>
                                </a:solidFill>
                                <a:prstDash val="solid"/>
                              </a:ln>
                              <a:solidFill>
                                <a:srgbClr val="FFC000"/>
                              </a:solidFill>
                              <a:effectLst>
                                <a:outerShdw blurRad="12700" dist="38100" dir="2700000" algn="tl" rotWithShape="0">
                                  <a:schemeClr val="accent5">
                                    <a:lumMod val="60000"/>
                                    <a:lumOff val="40000"/>
                                  </a:schemeClr>
                                </a:outerShdw>
                              </a:effectLst>
                              <a:latin typeface="Cambria Math" panose="02040503050406030204" pitchFamily="18" charset="0"/>
                            </a:rPr>
                          </m:ctrlPr>
                        </m:fPr>
                        <m:num>
                          <m:r>
                            <a:rPr lang="en-US" altLang="zh-CN" sz="3200" b="1" i="1">
                              <a:ln w="9525">
                                <a:solidFill>
                                  <a:schemeClr val="bg1"/>
                                </a:solidFill>
                                <a:prstDash val="solid"/>
                              </a:ln>
                              <a:solidFill>
                                <a:srgbClr val="FFC000"/>
                              </a:solidFill>
                              <a:effectLst>
                                <a:outerShdw blurRad="12700" dist="38100" dir="2700000" algn="tl" rotWithShape="0">
                                  <a:schemeClr val="accent5">
                                    <a:lumMod val="60000"/>
                                    <a:lumOff val="40000"/>
                                  </a:schemeClr>
                                </a:outerShdw>
                              </a:effectLst>
                              <a:latin typeface="Cambria Math" panose="02040503050406030204" pitchFamily="18" charset="0"/>
                            </a:rPr>
                            <m:t>𝑺</m:t>
                          </m:r>
                          <m:d>
                            <m:dPr>
                              <m:ctrlPr>
                                <a:rPr lang="en-US" altLang="zh-CN" sz="3200" b="1" i="1">
                                  <a:ln w="9525">
                                    <a:solidFill>
                                      <a:schemeClr val="bg1"/>
                                    </a:solidFill>
                                    <a:prstDash val="solid"/>
                                  </a:ln>
                                  <a:solidFill>
                                    <a:srgbClr val="FFC000"/>
                                  </a:solidFill>
                                  <a:effectLst>
                                    <a:outerShdw blurRad="12700" dist="38100" dir="2700000" algn="tl" rotWithShape="0">
                                      <a:schemeClr val="accent5">
                                        <a:lumMod val="60000"/>
                                        <a:lumOff val="40000"/>
                                      </a:schemeClr>
                                    </a:outerShdw>
                                  </a:effectLst>
                                  <a:latin typeface="Cambria Math" panose="02040503050406030204" pitchFamily="18" charset="0"/>
                                </a:rPr>
                              </m:ctrlPr>
                            </m:dPr>
                            <m:e>
                              <m:r>
                                <a:rPr lang="en-US" altLang="zh-CN" sz="3200" b="1" i="1">
                                  <a:ln w="9525">
                                    <a:solidFill>
                                      <a:schemeClr val="bg1"/>
                                    </a:solidFill>
                                    <a:prstDash val="solid"/>
                                  </a:ln>
                                  <a:solidFill>
                                    <a:srgbClr val="FFC000"/>
                                  </a:solidFill>
                                  <a:effectLst>
                                    <a:outerShdw blurRad="12700" dist="38100" dir="2700000" algn="tl" rotWithShape="0">
                                      <a:schemeClr val="accent5">
                                        <a:lumMod val="60000"/>
                                        <a:lumOff val="40000"/>
                                      </a:schemeClr>
                                    </a:outerShdw>
                                  </a:effectLst>
                                  <a:latin typeface="Cambria Math" panose="02040503050406030204" pitchFamily="18" charset="0"/>
                                </a:rPr>
                                <m:t>𝒕</m:t>
                              </m:r>
                            </m:e>
                          </m:d>
                          <m:r>
                            <a:rPr lang="en-US" altLang="zh-CN" sz="3200" b="1" i="1">
                              <a:ln w="9525">
                                <a:solidFill>
                                  <a:schemeClr val="bg1"/>
                                </a:solidFill>
                                <a:prstDash val="solid"/>
                              </a:ln>
                              <a:solidFill>
                                <a:srgbClr val="FFC000"/>
                              </a:solidFill>
                              <a:effectLst>
                                <a:outerShdw blurRad="12700" dist="38100" dir="2700000" algn="tl" rotWithShape="0">
                                  <a:schemeClr val="accent5">
                                    <a:lumMod val="60000"/>
                                    <a:lumOff val="40000"/>
                                  </a:schemeClr>
                                </a:outerShdw>
                              </a:effectLst>
                              <a:latin typeface="Cambria Math" panose="02040503050406030204" pitchFamily="18" charset="0"/>
                            </a:rPr>
                            <m:t>𝒊</m:t>
                          </m:r>
                        </m:num>
                        <m:den>
                          <m:r>
                            <a:rPr lang="en-US" altLang="zh-CN" sz="3200" b="1" i="1">
                              <a:ln w="9525">
                                <a:solidFill>
                                  <a:schemeClr val="bg1"/>
                                </a:solidFill>
                                <a:prstDash val="solid"/>
                              </a:ln>
                              <a:solidFill>
                                <a:srgbClr val="FFC000"/>
                              </a:solidFill>
                              <a:effectLst>
                                <a:outerShdw blurRad="12700" dist="38100" dir="2700000" algn="tl" rotWithShape="0">
                                  <a:schemeClr val="accent5">
                                    <a:lumMod val="60000"/>
                                    <a:lumOff val="40000"/>
                                  </a:schemeClr>
                                </a:outerShdw>
                              </a:effectLst>
                              <a:latin typeface="Cambria Math" panose="02040503050406030204" pitchFamily="18" charset="0"/>
                            </a:rPr>
                            <m:t>𝟏</m:t>
                          </m:r>
                          <m:r>
                            <a:rPr lang="en-US" altLang="zh-CN" sz="3200" b="1" i="1">
                              <a:ln w="9525">
                                <a:solidFill>
                                  <a:schemeClr val="bg1"/>
                                </a:solidFill>
                                <a:prstDash val="solid"/>
                              </a:ln>
                              <a:solidFill>
                                <a:srgbClr val="FFC000"/>
                              </a:solidFill>
                              <a:effectLst>
                                <a:outerShdw blurRad="12700" dist="38100" dir="2700000" algn="tl" rotWithShape="0">
                                  <a:schemeClr val="accent5">
                                    <a:lumMod val="60000"/>
                                    <a:lumOff val="40000"/>
                                  </a:schemeClr>
                                </a:outerShdw>
                              </a:effectLst>
                              <a:latin typeface="Cambria Math" panose="02040503050406030204" pitchFamily="18" charset="0"/>
                            </a:rPr>
                            <m:t>−(</m:t>
                          </m:r>
                          <m:r>
                            <a:rPr lang="en-US" altLang="zh-CN" sz="3200" b="1" i="1">
                              <a:ln w="9525">
                                <a:solidFill>
                                  <a:schemeClr val="bg1"/>
                                </a:solidFill>
                                <a:prstDash val="solid"/>
                              </a:ln>
                              <a:solidFill>
                                <a:srgbClr val="FFC000"/>
                              </a:solidFill>
                              <a:effectLst>
                                <a:outerShdw blurRad="12700" dist="38100" dir="2700000" algn="tl" rotWithShape="0">
                                  <a:schemeClr val="accent5">
                                    <a:lumMod val="60000"/>
                                    <a:lumOff val="40000"/>
                                  </a:schemeClr>
                                </a:outerShdw>
                              </a:effectLst>
                              <a:latin typeface="Cambria Math" panose="02040503050406030204" pitchFamily="18" charset="0"/>
                            </a:rPr>
                            <m:t>𝟏</m:t>
                          </m:r>
                          <m:r>
                            <a:rPr lang="en-US" altLang="zh-CN" sz="3200" b="1" i="1">
                              <a:ln w="9525">
                                <a:solidFill>
                                  <a:schemeClr val="bg1"/>
                                </a:solidFill>
                                <a:prstDash val="solid"/>
                              </a:ln>
                              <a:solidFill>
                                <a:srgbClr val="FFC000"/>
                              </a:solidFill>
                              <a:effectLst>
                                <a:outerShdw blurRad="12700" dist="38100" dir="2700000" algn="tl" rotWithShape="0">
                                  <a:schemeClr val="accent5">
                                    <a:lumMod val="60000"/>
                                    <a:lumOff val="40000"/>
                                  </a:schemeClr>
                                </a:outerShdw>
                              </a:effectLst>
                              <a:latin typeface="Cambria Math" panose="02040503050406030204" pitchFamily="18" charset="0"/>
                            </a:rPr>
                            <m:t>+</m:t>
                          </m:r>
                          <m:r>
                            <a:rPr lang="en-US" altLang="zh-CN" sz="3200" b="1" i="1">
                              <a:ln w="9525">
                                <a:solidFill>
                                  <a:schemeClr val="bg1"/>
                                </a:solidFill>
                                <a:prstDash val="solid"/>
                              </a:ln>
                              <a:solidFill>
                                <a:srgbClr val="FFC000"/>
                              </a:solidFill>
                              <a:effectLst>
                                <a:outerShdw blurRad="12700" dist="38100" dir="2700000" algn="tl" rotWithShape="0">
                                  <a:schemeClr val="accent5">
                                    <a:lumMod val="60000"/>
                                    <a:lumOff val="40000"/>
                                  </a:schemeClr>
                                </a:outerShdw>
                              </a:effectLst>
                              <a:latin typeface="Cambria Math" panose="02040503050406030204" pitchFamily="18" charset="0"/>
                            </a:rPr>
                            <m:t>𝒊</m:t>
                          </m:r>
                          <m:sSup>
                            <m:sSupPr>
                              <m:ctrlPr>
                                <a:rPr lang="en-US" altLang="zh-CN" sz="3200" b="1" i="1">
                                  <a:ln w="9525">
                                    <a:solidFill>
                                      <a:schemeClr val="bg1"/>
                                    </a:solidFill>
                                    <a:prstDash val="solid"/>
                                  </a:ln>
                                  <a:solidFill>
                                    <a:srgbClr val="FFC000"/>
                                  </a:solidFill>
                                  <a:effectLst>
                                    <a:outerShdw blurRad="12700" dist="38100" dir="2700000" algn="tl" rotWithShape="0">
                                      <a:schemeClr val="accent5">
                                        <a:lumMod val="60000"/>
                                        <a:lumOff val="40000"/>
                                      </a:schemeClr>
                                    </a:outerShdw>
                                  </a:effectLst>
                                  <a:latin typeface="Cambria Math" panose="02040503050406030204" pitchFamily="18" charset="0"/>
                                </a:rPr>
                              </m:ctrlPr>
                            </m:sSupPr>
                            <m:e>
                              <m:r>
                                <a:rPr lang="en-US" altLang="zh-CN" sz="3200" b="1" i="1">
                                  <a:ln w="9525">
                                    <a:solidFill>
                                      <a:schemeClr val="bg1"/>
                                    </a:solidFill>
                                    <a:prstDash val="solid"/>
                                  </a:ln>
                                  <a:solidFill>
                                    <a:srgbClr val="FFC000"/>
                                  </a:solidFill>
                                  <a:effectLst>
                                    <a:outerShdw blurRad="12700" dist="38100" dir="2700000" algn="tl" rotWithShape="0">
                                      <a:schemeClr val="accent5">
                                        <a:lumMod val="60000"/>
                                        <a:lumOff val="40000"/>
                                      </a:schemeClr>
                                    </a:outerShdw>
                                  </a:effectLst>
                                  <a:latin typeface="Cambria Math" panose="02040503050406030204" pitchFamily="18" charset="0"/>
                                </a:rPr>
                                <m:t>)</m:t>
                              </m:r>
                            </m:e>
                            <m:sup>
                              <m:r>
                                <a:rPr lang="en-US" altLang="zh-CN" sz="3200" b="1" i="1">
                                  <a:ln w="9525">
                                    <a:solidFill>
                                      <a:schemeClr val="bg1"/>
                                    </a:solidFill>
                                    <a:prstDash val="solid"/>
                                  </a:ln>
                                  <a:solidFill>
                                    <a:srgbClr val="FFC000"/>
                                  </a:solidFill>
                                  <a:effectLst>
                                    <a:outerShdw blurRad="12700" dist="38100" dir="2700000" algn="tl" rotWithShape="0">
                                      <a:schemeClr val="accent5">
                                        <a:lumMod val="60000"/>
                                        <a:lumOff val="40000"/>
                                      </a:schemeClr>
                                    </a:outerShdw>
                                  </a:effectLst>
                                  <a:latin typeface="Cambria Math" panose="02040503050406030204" pitchFamily="18" charset="0"/>
                                </a:rPr>
                                <m:t>−</m:t>
                              </m:r>
                              <m:r>
                                <a:rPr lang="en-US" altLang="zh-CN" sz="3200" b="1" i="1">
                                  <a:ln w="9525">
                                    <a:solidFill>
                                      <a:schemeClr val="bg1"/>
                                    </a:solidFill>
                                    <a:prstDash val="solid"/>
                                  </a:ln>
                                  <a:solidFill>
                                    <a:srgbClr val="FFC000"/>
                                  </a:solidFill>
                                  <a:effectLst>
                                    <a:outerShdw blurRad="12700" dist="38100" dir="2700000" algn="tl" rotWithShape="0">
                                      <a:schemeClr val="accent5">
                                        <a:lumMod val="60000"/>
                                        <a:lumOff val="40000"/>
                                      </a:schemeClr>
                                    </a:outerShdw>
                                  </a:effectLst>
                                  <a:latin typeface="Cambria Math" panose="02040503050406030204" pitchFamily="18" charset="0"/>
                                </a:rPr>
                                <m:t>𝒕</m:t>
                              </m:r>
                            </m:sup>
                          </m:sSup>
                        </m:den>
                      </m:f>
                    </m:oMath>
                  </m:oMathPara>
                </a14:m>
                <a:endParaRPr lang="en-US" altLang="zh-CN" sz="3200" b="1" dirty="0">
                  <a:ln w="9525">
                    <a:solidFill>
                      <a:schemeClr val="bg1"/>
                    </a:solidFill>
                    <a:prstDash val="solid"/>
                  </a:ln>
                  <a:solidFill>
                    <a:srgbClr val="FFC000"/>
                  </a:solidFill>
                  <a:effectLst>
                    <a:outerShdw blurRad="12700" dist="38100" dir="2700000" algn="tl" rotWithShape="0">
                      <a:schemeClr val="accent5">
                        <a:lumMod val="60000"/>
                        <a:lumOff val="40000"/>
                      </a:schemeClr>
                    </a:outerShdw>
                  </a:effectLst>
                </a:endParaRPr>
              </a:p>
              <a:p>
                <a:r>
                  <a:rPr lang="en-US" altLang="zh-CN" sz="3200" b="1" dirty="0">
                    <a:ln w="9525">
                      <a:solidFill>
                        <a:schemeClr val="bg1"/>
                      </a:solidFill>
                      <a:prstDash val="solid"/>
                    </a:ln>
                    <a:solidFill>
                      <a:srgbClr val="FFC000"/>
                    </a:solidFill>
                    <a:effectLst>
                      <a:outerShdw blurRad="12700" dist="38100" dir="2700000" algn="tl" rotWithShape="0">
                        <a:schemeClr val="accent5">
                          <a:lumMod val="60000"/>
                          <a:lumOff val="40000"/>
                        </a:schemeClr>
                      </a:outerShdw>
                    </a:effectLst>
                  </a:rPr>
                  <a:t>=</a:t>
                </a:r>
                <a14:m>
                  <m:oMath xmlns:m="http://schemas.openxmlformats.org/officeDocument/2006/math">
                    <m:f>
                      <m:fPr>
                        <m:ctrlPr>
                          <a:rPr lang="en-US" altLang="zh-CN" sz="3200" i="1">
                            <a:latin typeface="Cambria Math" panose="02040503050406030204" pitchFamily="18" charset="0"/>
                          </a:rPr>
                        </m:ctrlPr>
                      </m:fPr>
                      <m:num>
                        <m:r>
                          <a:rPr lang="en-US" altLang="zh-CN" sz="3200" i="1">
                            <a:latin typeface="Cambria Math" panose="02040503050406030204" pitchFamily="18" charset="0"/>
                          </a:rPr>
                          <m:t>𝑆</m:t>
                        </m:r>
                        <m:d>
                          <m:dPr>
                            <m:ctrlPr>
                              <a:rPr lang="en-US" altLang="zh-CN" sz="3200" i="1">
                                <a:latin typeface="Cambria Math" panose="02040503050406030204" pitchFamily="18" charset="0"/>
                              </a:rPr>
                            </m:ctrlPr>
                          </m:dPr>
                          <m:e>
                            <m:r>
                              <a:rPr lang="en-US" altLang="zh-CN" sz="3200" i="1">
                                <a:latin typeface="Cambria Math" panose="02040503050406030204" pitchFamily="18" charset="0"/>
                              </a:rPr>
                              <m:t>𝑡</m:t>
                            </m:r>
                          </m:e>
                        </m:d>
                        <m:r>
                          <a:rPr lang="en-US" altLang="zh-CN" sz="3200" i="1">
                            <a:latin typeface="Cambria Math" panose="02040503050406030204" pitchFamily="18" charset="0"/>
                          </a:rPr>
                          <m:t>(1+</m:t>
                        </m:r>
                        <m:r>
                          <a:rPr lang="en-US" altLang="zh-CN" sz="3200" i="1">
                            <a:latin typeface="Cambria Math" panose="02040503050406030204" pitchFamily="18" charset="0"/>
                          </a:rPr>
                          <m:t>𝑖</m:t>
                        </m:r>
                        <m:sSup>
                          <m:sSupPr>
                            <m:ctrlPr>
                              <a:rPr lang="en-US" altLang="zh-CN" sz="3200" i="1">
                                <a:latin typeface="Cambria Math" panose="02040503050406030204" pitchFamily="18" charset="0"/>
                              </a:rPr>
                            </m:ctrlPr>
                          </m:sSupPr>
                          <m:e>
                            <m:r>
                              <a:rPr lang="en-US" altLang="zh-CN" sz="3200" i="1">
                                <a:latin typeface="Cambria Math" panose="02040503050406030204" pitchFamily="18" charset="0"/>
                              </a:rPr>
                              <m:t>)</m:t>
                            </m:r>
                          </m:e>
                          <m:sup>
                            <m:r>
                              <a:rPr lang="en-US" altLang="zh-CN" sz="3200" i="1">
                                <a:latin typeface="Cambria Math" panose="02040503050406030204" pitchFamily="18" charset="0"/>
                              </a:rPr>
                              <m:t>𝑡</m:t>
                            </m:r>
                          </m:sup>
                        </m:sSup>
                        <m:r>
                          <a:rPr lang="en-US" altLang="zh-CN" sz="3200" i="1">
                            <a:latin typeface="Cambria Math" panose="02040503050406030204" pitchFamily="18" charset="0"/>
                          </a:rPr>
                          <m:t>𝑖</m:t>
                        </m:r>
                        <m:r>
                          <a:rPr lang="en-US" altLang="zh-CN" sz="3200" i="1" smtClean="0">
                            <a:ln w="0"/>
                            <a:solidFill>
                              <a:schemeClr val="bg2">
                                <a:lumMod val="50000"/>
                              </a:schemeClr>
                            </a:solidFill>
                            <a:effectLst>
                              <a:outerShdw blurRad="38100" dist="25400" dir="5400000" algn="ctr" rotWithShape="0">
                                <a:srgbClr val="6E747A">
                                  <a:alpha val="43000"/>
                                </a:srgbClr>
                              </a:outerShdw>
                            </a:effectLst>
                            <a:latin typeface="Cambria Math" panose="02040503050406030204" pitchFamily="18" charset="0"/>
                          </a:rPr>
                          <m:t>−</m:t>
                        </m:r>
                        <m:r>
                          <a:rPr lang="en-US" altLang="zh-CN" sz="3200" i="1" smtClean="0">
                            <a:ln w="0"/>
                            <a:solidFill>
                              <a:schemeClr val="bg2">
                                <a:lumMod val="50000"/>
                              </a:schemeClr>
                            </a:solidFill>
                            <a:effectLst>
                              <a:outerShdw blurRad="38100" dist="25400" dir="5400000" algn="ctr" rotWithShape="0">
                                <a:srgbClr val="6E747A">
                                  <a:alpha val="43000"/>
                                </a:srgbClr>
                              </a:outerShdw>
                            </a:effectLst>
                            <a:latin typeface="Cambria Math" panose="02040503050406030204" pitchFamily="18" charset="0"/>
                          </a:rPr>
                          <m:t>𝑖𝑆</m:t>
                        </m:r>
                        <m:d>
                          <m:dPr>
                            <m:ctrlPr>
                              <a:rPr lang="en-US" altLang="zh-CN" sz="3200" i="1" smtClean="0">
                                <a:ln w="0"/>
                                <a:solidFill>
                                  <a:schemeClr val="bg2">
                                    <a:lumMod val="50000"/>
                                  </a:schemeClr>
                                </a:solidFill>
                                <a:effectLst>
                                  <a:outerShdw blurRad="38100" dist="25400" dir="5400000" algn="ctr" rotWithShape="0">
                                    <a:srgbClr val="6E747A">
                                      <a:alpha val="43000"/>
                                    </a:srgbClr>
                                  </a:outerShdw>
                                </a:effectLst>
                                <a:latin typeface="Cambria Math" panose="02040503050406030204" pitchFamily="18" charset="0"/>
                              </a:rPr>
                            </m:ctrlPr>
                          </m:dPr>
                          <m:e>
                            <m:r>
                              <a:rPr lang="en-US" altLang="zh-CN" sz="3200" i="1" smtClean="0">
                                <a:ln w="0"/>
                                <a:solidFill>
                                  <a:schemeClr val="bg2">
                                    <a:lumMod val="50000"/>
                                  </a:schemeClr>
                                </a:solidFill>
                                <a:effectLst>
                                  <a:outerShdw blurRad="38100" dist="25400" dir="5400000" algn="ctr" rotWithShape="0">
                                    <a:srgbClr val="6E747A">
                                      <a:alpha val="43000"/>
                                    </a:srgbClr>
                                  </a:outerShdw>
                                </a:effectLst>
                                <a:latin typeface="Cambria Math" panose="02040503050406030204" pitchFamily="18" charset="0"/>
                              </a:rPr>
                              <m:t>𝑡</m:t>
                            </m:r>
                          </m:e>
                        </m:d>
                        <m:r>
                          <a:rPr lang="en-US" altLang="zh-CN" sz="3200" i="1" smtClean="0">
                            <a:ln w="0"/>
                            <a:solidFill>
                              <a:schemeClr val="bg2">
                                <a:lumMod val="50000"/>
                              </a:schemeClr>
                            </a:solidFill>
                            <a:effectLst>
                              <a:outerShdw blurRad="38100" dist="25400" dir="5400000" algn="ctr" rotWithShape="0">
                                <a:srgbClr val="6E747A">
                                  <a:alpha val="43000"/>
                                </a:srgbClr>
                              </a:outerShdw>
                            </a:effectLst>
                            <a:latin typeface="Cambria Math" panose="02040503050406030204" pitchFamily="18" charset="0"/>
                          </a:rPr>
                          <m:t>+</m:t>
                        </m:r>
                        <m:r>
                          <a:rPr lang="en-US" altLang="zh-CN" sz="3200" i="1" smtClean="0">
                            <a:ln w="0"/>
                            <a:solidFill>
                              <a:schemeClr val="bg2">
                                <a:lumMod val="50000"/>
                              </a:schemeClr>
                            </a:solidFill>
                            <a:effectLst>
                              <a:outerShdw blurRad="38100" dist="25400" dir="5400000" algn="ctr" rotWithShape="0">
                                <a:srgbClr val="6E747A">
                                  <a:alpha val="43000"/>
                                </a:srgbClr>
                              </a:outerShdw>
                            </a:effectLst>
                            <a:latin typeface="Cambria Math" panose="02040503050406030204" pitchFamily="18" charset="0"/>
                          </a:rPr>
                          <m:t>𝑖𝑆</m:t>
                        </m:r>
                        <m:r>
                          <a:rPr lang="en-US" altLang="zh-CN" sz="3200" i="1" smtClean="0">
                            <a:ln w="0"/>
                            <a:solidFill>
                              <a:schemeClr val="bg2">
                                <a:lumMod val="50000"/>
                              </a:schemeClr>
                            </a:solidFill>
                            <a:effectLst>
                              <a:outerShdw blurRad="38100" dist="25400" dir="5400000" algn="ctr" rotWithShape="0">
                                <a:srgbClr val="6E747A">
                                  <a:alpha val="43000"/>
                                </a:srgbClr>
                              </a:outerShdw>
                            </a:effectLst>
                            <a:latin typeface="Cambria Math" panose="02040503050406030204" pitchFamily="18" charset="0"/>
                          </a:rPr>
                          <m:t>(</m:t>
                        </m:r>
                        <m:r>
                          <a:rPr lang="en-US" altLang="zh-CN" sz="3200" i="1" smtClean="0">
                            <a:ln w="0"/>
                            <a:solidFill>
                              <a:schemeClr val="bg2">
                                <a:lumMod val="50000"/>
                              </a:schemeClr>
                            </a:solidFill>
                            <a:effectLst>
                              <a:outerShdw blurRad="38100" dist="25400" dir="5400000" algn="ctr" rotWithShape="0">
                                <a:srgbClr val="6E747A">
                                  <a:alpha val="43000"/>
                                </a:srgbClr>
                              </a:outerShdw>
                            </a:effectLst>
                            <a:latin typeface="Cambria Math" panose="02040503050406030204" pitchFamily="18" charset="0"/>
                          </a:rPr>
                          <m:t>𝑡</m:t>
                        </m:r>
                        <m:r>
                          <a:rPr lang="en-US" altLang="zh-CN" sz="3200" i="1" smtClean="0">
                            <a:ln w="0"/>
                            <a:solidFill>
                              <a:schemeClr val="bg2">
                                <a:lumMod val="50000"/>
                              </a:schemeClr>
                            </a:solidFill>
                            <a:effectLst>
                              <a:outerShdw blurRad="38100" dist="25400" dir="5400000" algn="ctr" rotWithShape="0">
                                <a:srgbClr val="6E747A">
                                  <a:alpha val="43000"/>
                                </a:srgbClr>
                              </a:outerShdw>
                            </a:effectLst>
                            <a:latin typeface="Cambria Math" panose="02040503050406030204" pitchFamily="18" charset="0"/>
                          </a:rPr>
                          <m:t>)</m:t>
                        </m:r>
                      </m:num>
                      <m:den>
                        <m:r>
                          <a:rPr lang="en-US" altLang="zh-CN" sz="3200" i="1">
                            <a:latin typeface="Cambria Math" panose="02040503050406030204" pitchFamily="18" charset="0"/>
                          </a:rPr>
                          <m:t>(1+</m:t>
                        </m:r>
                        <m:r>
                          <a:rPr lang="en-US" altLang="zh-CN" sz="3200" i="1">
                            <a:latin typeface="Cambria Math" panose="02040503050406030204" pitchFamily="18" charset="0"/>
                          </a:rPr>
                          <m:t>𝑖</m:t>
                        </m:r>
                        <m:sSup>
                          <m:sSupPr>
                            <m:ctrlPr>
                              <a:rPr lang="en-US" altLang="zh-CN" sz="3200" i="1">
                                <a:latin typeface="Cambria Math" panose="02040503050406030204" pitchFamily="18" charset="0"/>
                              </a:rPr>
                            </m:ctrlPr>
                          </m:sSupPr>
                          <m:e>
                            <m:r>
                              <a:rPr lang="en-US" altLang="zh-CN" sz="3200" i="1">
                                <a:latin typeface="Cambria Math" panose="02040503050406030204" pitchFamily="18" charset="0"/>
                              </a:rPr>
                              <m:t>)</m:t>
                            </m:r>
                          </m:e>
                          <m:sup>
                            <m:r>
                              <a:rPr lang="en-US" altLang="zh-CN" sz="3200" i="1">
                                <a:latin typeface="Cambria Math" panose="02040503050406030204" pitchFamily="18" charset="0"/>
                              </a:rPr>
                              <m:t>𝑡</m:t>
                            </m:r>
                          </m:sup>
                        </m:sSup>
                        <m:r>
                          <a:rPr lang="en-US" altLang="zh-CN" sz="3200" i="1">
                            <a:latin typeface="Cambria Math" panose="02040503050406030204" pitchFamily="18" charset="0"/>
                          </a:rPr>
                          <m:t>−1</m:t>
                        </m:r>
                      </m:den>
                    </m:f>
                  </m:oMath>
                </a14:m>
                <a:endParaRPr lang="en-US" altLang="zh-CN" sz="3200" b="1" dirty="0">
                  <a:ln w="9525">
                    <a:solidFill>
                      <a:schemeClr val="bg1"/>
                    </a:solidFill>
                    <a:prstDash val="solid"/>
                  </a:ln>
                  <a:solidFill>
                    <a:srgbClr val="FFC000"/>
                  </a:solidFill>
                  <a:effectLst>
                    <a:outerShdw blurRad="12700" dist="38100" dir="2700000" algn="tl" rotWithShape="0">
                      <a:schemeClr val="accent5">
                        <a:lumMod val="60000"/>
                        <a:lumOff val="40000"/>
                      </a:schemeClr>
                    </a:outerShdw>
                  </a:effectLst>
                </a:endParaRPr>
              </a:p>
              <a:p>
                <a:r>
                  <a:rPr lang="en-US" altLang="zh-CN" sz="3200" b="1" dirty="0">
                    <a:ln w="9525">
                      <a:solidFill>
                        <a:schemeClr val="bg1"/>
                      </a:solidFill>
                      <a:prstDash val="solid"/>
                    </a:ln>
                    <a:solidFill>
                      <a:srgbClr val="FFC000"/>
                    </a:solidFill>
                    <a:effectLst>
                      <a:outerShdw blurRad="12700" dist="38100" dir="2700000" algn="tl" rotWithShape="0">
                        <a:schemeClr val="accent5">
                          <a:lumMod val="60000"/>
                          <a:lumOff val="40000"/>
                        </a:schemeClr>
                      </a:outerShdw>
                    </a:effectLst>
                  </a:rPr>
                  <a:t>=</a:t>
                </a:r>
                <a14:m>
                  <m:oMath xmlns:m="http://schemas.openxmlformats.org/officeDocument/2006/math">
                    <m:f>
                      <m:fPr>
                        <m:ctrlPr>
                          <a:rPr lang="en-US" altLang="zh-CN" sz="3200" i="1">
                            <a:latin typeface="Cambria Math" panose="02040503050406030204" pitchFamily="18" charset="0"/>
                          </a:rPr>
                        </m:ctrlPr>
                      </m:fPr>
                      <m:num>
                        <m:r>
                          <a:rPr lang="en-US" altLang="zh-CN" sz="3200" b="0" i="1" smtClean="0">
                            <a:latin typeface="Cambria Math" panose="02040503050406030204" pitchFamily="18" charset="0"/>
                          </a:rPr>
                          <m:t>𝑖</m:t>
                        </m:r>
                        <m:r>
                          <a:rPr lang="en-US" altLang="zh-CN" sz="3200" i="1">
                            <a:latin typeface="Cambria Math" panose="02040503050406030204" pitchFamily="18" charset="0"/>
                          </a:rPr>
                          <m:t>𝑆</m:t>
                        </m:r>
                        <m:d>
                          <m:dPr>
                            <m:ctrlPr>
                              <a:rPr lang="en-US" altLang="zh-CN" sz="3200" i="1">
                                <a:latin typeface="Cambria Math" panose="02040503050406030204" pitchFamily="18" charset="0"/>
                              </a:rPr>
                            </m:ctrlPr>
                          </m:dPr>
                          <m:e>
                            <m:r>
                              <a:rPr lang="en-US" altLang="zh-CN" sz="3200" i="1">
                                <a:latin typeface="Cambria Math" panose="02040503050406030204" pitchFamily="18" charset="0"/>
                              </a:rPr>
                              <m:t>𝑡</m:t>
                            </m:r>
                          </m:e>
                        </m:d>
                        <m:r>
                          <a:rPr lang="en-US" altLang="zh-CN" sz="3200" b="0" i="1" smtClean="0">
                            <a:latin typeface="Cambria Math" panose="02040503050406030204" pitchFamily="18" charset="0"/>
                          </a:rPr>
                          <m:t>[</m:t>
                        </m:r>
                        <m:r>
                          <a:rPr lang="en-US" altLang="zh-CN" sz="3200" i="1">
                            <a:latin typeface="Cambria Math" panose="02040503050406030204" pitchFamily="18" charset="0"/>
                          </a:rPr>
                          <m:t>(1+</m:t>
                        </m:r>
                        <m:r>
                          <a:rPr lang="en-US" altLang="zh-CN" sz="3200" i="1">
                            <a:latin typeface="Cambria Math" panose="02040503050406030204" pitchFamily="18" charset="0"/>
                          </a:rPr>
                          <m:t>𝑖</m:t>
                        </m:r>
                        <m:sSup>
                          <m:sSupPr>
                            <m:ctrlPr>
                              <a:rPr lang="en-US" altLang="zh-CN" sz="3200" i="1">
                                <a:latin typeface="Cambria Math" panose="02040503050406030204" pitchFamily="18" charset="0"/>
                              </a:rPr>
                            </m:ctrlPr>
                          </m:sSupPr>
                          <m:e>
                            <m:r>
                              <a:rPr lang="en-US" altLang="zh-CN" sz="3200" i="1">
                                <a:latin typeface="Cambria Math" panose="02040503050406030204" pitchFamily="18" charset="0"/>
                              </a:rPr>
                              <m:t>)</m:t>
                            </m:r>
                          </m:e>
                          <m:sup>
                            <m:r>
                              <a:rPr lang="en-US" altLang="zh-CN" sz="3200" i="1">
                                <a:latin typeface="Cambria Math" panose="02040503050406030204" pitchFamily="18" charset="0"/>
                              </a:rPr>
                              <m:t>𝑡</m:t>
                            </m:r>
                          </m:sup>
                        </m:sSup>
                        <m:r>
                          <a:rPr lang="en-US" altLang="zh-CN" sz="3200" i="1">
                            <a:latin typeface="Cambria Math" panose="02040503050406030204" pitchFamily="18" charset="0"/>
                          </a:rPr>
                          <m:t>𝑖</m:t>
                        </m:r>
                        <m:r>
                          <a:rPr lang="en-US" altLang="zh-CN" sz="3200" i="1">
                            <a:ln w="0"/>
                            <a:solidFill>
                              <a:schemeClr val="bg2">
                                <a:lumMod val="50000"/>
                              </a:schemeClr>
                            </a:solidFill>
                            <a:effectLst>
                              <a:outerShdw blurRad="38100" dist="25400" dir="5400000" algn="ctr" rotWithShape="0">
                                <a:srgbClr val="6E747A">
                                  <a:alpha val="43000"/>
                                </a:srgbClr>
                              </a:outerShdw>
                            </a:effectLst>
                            <a:latin typeface="Cambria Math" panose="02040503050406030204" pitchFamily="18" charset="0"/>
                          </a:rPr>
                          <m:t>−</m:t>
                        </m:r>
                        <m:r>
                          <a:rPr lang="en-US" altLang="zh-CN" sz="3200" b="0" i="1" smtClean="0">
                            <a:ln w="0"/>
                            <a:solidFill>
                              <a:schemeClr val="bg2">
                                <a:lumMod val="50000"/>
                              </a:schemeClr>
                            </a:solidFill>
                            <a:effectLst>
                              <a:outerShdw blurRad="38100" dist="25400" dir="5400000" algn="ctr" rotWithShape="0">
                                <a:srgbClr val="6E747A">
                                  <a:alpha val="43000"/>
                                </a:srgbClr>
                              </a:outerShdw>
                            </a:effectLst>
                            <a:latin typeface="Cambria Math" panose="02040503050406030204" pitchFamily="18" charset="0"/>
                          </a:rPr>
                          <m:t>1]</m:t>
                        </m:r>
                        <m:r>
                          <a:rPr lang="en-US" altLang="zh-CN" sz="3200" i="1" smtClean="0">
                            <a:ln w="0"/>
                            <a:solidFill>
                              <a:schemeClr val="bg2">
                                <a:lumMod val="50000"/>
                              </a:schemeClr>
                            </a:solidFill>
                            <a:effectLst>
                              <a:outerShdw blurRad="38100" dist="25400" dir="5400000" algn="ctr" rotWithShape="0">
                                <a:srgbClr val="6E747A">
                                  <a:alpha val="43000"/>
                                </a:srgbClr>
                              </a:outerShdw>
                            </a:effectLst>
                            <a:latin typeface="Cambria Math" panose="02040503050406030204" pitchFamily="18" charset="0"/>
                          </a:rPr>
                          <m:t> </m:t>
                        </m:r>
                        <m:r>
                          <a:rPr lang="en-US" altLang="zh-CN" sz="3200" i="1">
                            <a:ln w="0"/>
                            <a:solidFill>
                              <a:schemeClr val="bg2">
                                <a:lumMod val="50000"/>
                              </a:schemeClr>
                            </a:solidFill>
                            <a:effectLst>
                              <a:outerShdw blurRad="38100" dist="25400" dir="5400000" algn="ctr" rotWithShape="0">
                                <a:srgbClr val="6E747A">
                                  <a:alpha val="43000"/>
                                </a:srgbClr>
                              </a:outerShdw>
                            </a:effectLst>
                            <a:latin typeface="Cambria Math" panose="02040503050406030204" pitchFamily="18" charset="0"/>
                          </a:rPr>
                          <m:t>+</m:t>
                        </m:r>
                        <m:r>
                          <a:rPr lang="en-US" altLang="zh-CN" sz="3200" i="1">
                            <a:ln w="0"/>
                            <a:solidFill>
                              <a:schemeClr val="bg2">
                                <a:lumMod val="50000"/>
                              </a:schemeClr>
                            </a:solidFill>
                            <a:effectLst>
                              <a:outerShdw blurRad="38100" dist="25400" dir="5400000" algn="ctr" rotWithShape="0">
                                <a:srgbClr val="6E747A">
                                  <a:alpha val="43000"/>
                                </a:srgbClr>
                              </a:outerShdw>
                            </a:effectLst>
                            <a:latin typeface="Cambria Math" panose="02040503050406030204" pitchFamily="18" charset="0"/>
                          </a:rPr>
                          <m:t>𝑖𝑆</m:t>
                        </m:r>
                        <m:r>
                          <a:rPr lang="en-US" altLang="zh-CN" sz="3200" i="1">
                            <a:ln w="0"/>
                            <a:solidFill>
                              <a:schemeClr val="bg2">
                                <a:lumMod val="50000"/>
                              </a:schemeClr>
                            </a:solidFill>
                            <a:effectLst>
                              <a:outerShdw blurRad="38100" dist="25400" dir="5400000" algn="ctr" rotWithShape="0">
                                <a:srgbClr val="6E747A">
                                  <a:alpha val="43000"/>
                                </a:srgbClr>
                              </a:outerShdw>
                            </a:effectLst>
                            <a:latin typeface="Cambria Math" panose="02040503050406030204" pitchFamily="18" charset="0"/>
                          </a:rPr>
                          <m:t>(</m:t>
                        </m:r>
                        <m:r>
                          <a:rPr lang="en-US" altLang="zh-CN" sz="3200" i="1">
                            <a:ln w="0"/>
                            <a:solidFill>
                              <a:schemeClr val="bg2">
                                <a:lumMod val="50000"/>
                              </a:schemeClr>
                            </a:solidFill>
                            <a:effectLst>
                              <a:outerShdw blurRad="38100" dist="25400" dir="5400000" algn="ctr" rotWithShape="0">
                                <a:srgbClr val="6E747A">
                                  <a:alpha val="43000"/>
                                </a:srgbClr>
                              </a:outerShdw>
                            </a:effectLst>
                            <a:latin typeface="Cambria Math" panose="02040503050406030204" pitchFamily="18" charset="0"/>
                          </a:rPr>
                          <m:t>𝑡</m:t>
                        </m:r>
                        <m:r>
                          <a:rPr lang="en-US" altLang="zh-CN" sz="3200" i="1">
                            <a:ln w="0"/>
                            <a:solidFill>
                              <a:schemeClr val="bg2">
                                <a:lumMod val="50000"/>
                              </a:schemeClr>
                            </a:solidFill>
                            <a:effectLst>
                              <a:outerShdw blurRad="38100" dist="25400" dir="5400000" algn="ctr" rotWithShape="0">
                                <a:srgbClr val="6E747A">
                                  <a:alpha val="43000"/>
                                </a:srgbClr>
                              </a:outerShdw>
                            </a:effectLst>
                            <a:latin typeface="Cambria Math" panose="02040503050406030204" pitchFamily="18" charset="0"/>
                          </a:rPr>
                          <m:t>)</m:t>
                        </m:r>
                      </m:num>
                      <m:den>
                        <m:r>
                          <a:rPr lang="en-US" altLang="zh-CN" sz="3200" i="1">
                            <a:latin typeface="Cambria Math" panose="02040503050406030204" pitchFamily="18" charset="0"/>
                          </a:rPr>
                          <m:t>(1+</m:t>
                        </m:r>
                        <m:r>
                          <a:rPr lang="en-US" altLang="zh-CN" sz="3200" i="1">
                            <a:latin typeface="Cambria Math" panose="02040503050406030204" pitchFamily="18" charset="0"/>
                          </a:rPr>
                          <m:t>𝑖</m:t>
                        </m:r>
                        <m:sSup>
                          <m:sSupPr>
                            <m:ctrlPr>
                              <a:rPr lang="en-US" altLang="zh-CN" sz="3200" i="1">
                                <a:latin typeface="Cambria Math" panose="02040503050406030204" pitchFamily="18" charset="0"/>
                              </a:rPr>
                            </m:ctrlPr>
                          </m:sSupPr>
                          <m:e>
                            <m:r>
                              <a:rPr lang="en-US" altLang="zh-CN" sz="3200" i="1">
                                <a:latin typeface="Cambria Math" panose="02040503050406030204" pitchFamily="18" charset="0"/>
                              </a:rPr>
                              <m:t>)</m:t>
                            </m:r>
                          </m:e>
                          <m:sup>
                            <m:r>
                              <a:rPr lang="en-US" altLang="zh-CN" sz="3200" i="1">
                                <a:latin typeface="Cambria Math" panose="02040503050406030204" pitchFamily="18" charset="0"/>
                              </a:rPr>
                              <m:t>𝑡</m:t>
                            </m:r>
                          </m:sup>
                        </m:sSup>
                        <m:r>
                          <a:rPr lang="en-US" altLang="zh-CN" sz="3200" i="1">
                            <a:latin typeface="Cambria Math" panose="02040503050406030204" pitchFamily="18" charset="0"/>
                          </a:rPr>
                          <m:t>−1</m:t>
                        </m:r>
                      </m:den>
                    </m:f>
                  </m:oMath>
                </a14:m>
                <a:endParaRPr lang="en-US" altLang="zh-CN" sz="3200" b="1" dirty="0">
                  <a:ln w="9525">
                    <a:solidFill>
                      <a:schemeClr val="bg1"/>
                    </a:solidFill>
                    <a:prstDash val="solid"/>
                  </a:ln>
                  <a:solidFill>
                    <a:srgbClr val="FFC000"/>
                  </a:solidFill>
                  <a:effectLst>
                    <a:outerShdw blurRad="12700" dist="38100" dir="2700000" algn="tl" rotWithShape="0">
                      <a:schemeClr val="accent5">
                        <a:lumMod val="60000"/>
                        <a:lumOff val="40000"/>
                      </a:schemeClr>
                    </a:outerShdw>
                  </a:effectLst>
                </a:endParaRPr>
              </a:p>
              <a:p>
                <a:r>
                  <a:rPr lang="en-US" altLang="zh-CN" sz="3200" b="1" dirty="0">
                    <a:ln w="9525">
                      <a:solidFill>
                        <a:schemeClr val="bg1"/>
                      </a:solidFill>
                      <a:prstDash val="solid"/>
                    </a:ln>
                    <a:solidFill>
                      <a:srgbClr val="FFC000"/>
                    </a:solidFill>
                    <a:effectLst>
                      <a:outerShdw blurRad="12700" dist="38100" dir="2700000" algn="tl" rotWithShape="0">
                        <a:schemeClr val="accent5">
                          <a:lumMod val="60000"/>
                          <a:lumOff val="40000"/>
                        </a:schemeClr>
                      </a:outerShdw>
                    </a:effectLst>
                  </a:rPr>
                  <a:t>=</a:t>
                </a:r>
                <a:r>
                  <a:rPr lang="en-US" altLang="zh-CN" sz="3200" b="1" dirty="0" err="1">
                    <a:ln w="9525">
                      <a:solidFill>
                        <a:schemeClr val="bg1"/>
                      </a:solidFill>
                      <a:prstDash val="solid"/>
                    </a:ln>
                    <a:solidFill>
                      <a:srgbClr val="FFC000"/>
                    </a:solidFill>
                    <a:effectLst>
                      <a:outerShdw blurRad="12700" dist="38100" dir="2700000" algn="tl" rotWithShape="0">
                        <a:schemeClr val="accent5">
                          <a:lumMod val="60000"/>
                          <a:lumOff val="40000"/>
                        </a:schemeClr>
                      </a:outerShdw>
                    </a:effectLst>
                  </a:rPr>
                  <a:t>iS</a:t>
                </a:r>
                <a:r>
                  <a:rPr lang="en-US" altLang="zh-CN" sz="3200" b="1" dirty="0">
                    <a:ln w="9525">
                      <a:solidFill>
                        <a:schemeClr val="bg1"/>
                      </a:solidFill>
                      <a:prstDash val="solid"/>
                    </a:ln>
                    <a:solidFill>
                      <a:srgbClr val="FFC000"/>
                    </a:solidFill>
                    <a:effectLst>
                      <a:outerShdw blurRad="12700" dist="38100" dir="2700000" algn="tl" rotWithShape="0">
                        <a:schemeClr val="accent5">
                          <a:lumMod val="60000"/>
                          <a:lumOff val="40000"/>
                        </a:schemeClr>
                      </a:outerShdw>
                    </a:effectLst>
                  </a:rPr>
                  <a:t>(t)+</a:t>
                </a:r>
                <a14:m>
                  <m:oMath xmlns:m="http://schemas.openxmlformats.org/officeDocument/2006/math">
                    <m:f>
                      <m:fPr>
                        <m:ctrlPr>
                          <a:rPr lang="en-US" altLang="zh-CN" sz="3200" i="1" smtClean="0">
                            <a:solidFill>
                              <a:srgbClr val="C00000"/>
                            </a:solidFill>
                            <a:latin typeface="Cambria Math" panose="02040503050406030204" pitchFamily="18" charset="0"/>
                          </a:rPr>
                        </m:ctrlPr>
                      </m:fPr>
                      <m:num>
                        <m:r>
                          <a:rPr lang="en-US" altLang="zh-CN" sz="3200" i="1">
                            <a:ln w="0"/>
                            <a:solidFill>
                              <a:srgbClr val="C00000"/>
                            </a:solidFill>
                            <a:effectLst>
                              <a:outerShdw blurRad="38100" dist="25400" dir="5400000" algn="ctr" rotWithShape="0">
                                <a:srgbClr val="6E747A">
                                  <a:alpha val="43000"/>
                                </a:srgbClr>
                              </a:outerShdw>
                            </a:effectLst>
                            <a:latin typeface="Cambria Math" panose="02040503050406030204" pitchFamily="18" charset="0"/>
                          </a:rPr>
                          <m:t>𝑖𝑆</m:t>
                        </m:r>
                        <m:r>
                          <a:rPr lang="en-US" altLang="zh-CN" sz="3200" i="1">
                            <a:ln w="0"/>
                            <a:solidFill>
                              <a:srgbClr val="C00000"/>
                            </a:solidFill>
                            <a:effectLst>
                              <a:outerShdw blurRad="38100" dist="25400" dir="5400000" algn="ctr" rotWithShape="0">
                                <a:srgbClr val="6E747A">
                                  <a:alpha val="43000"/>
                                </a:srgbClr>
                              </a:outerShdw>
                            </a:effectLst>
                            <a:latin typeface="Cambria Math" panose="02040503050406030204" pitchFamily="18" charset="0"/>
                          </a:rPr>
                          <m:t>(</m:t>
                        </m:r>
                        <m:r>
                          <a:rPr lang="en-US" altLang="zh-CN" sz="3200" i="1">
                            <a:ln w="0"/>
                            <a:solidFill>
                              <a:srgbClr val="C00000"/>
                            </a:solidFill>
                            <a:effectLst>
                              <a:outerShdw blurRad="38100" dist="25400" dir="5400000" algn="ctr" rotWithShape="0">
                                <a:srgbClr val="6E747A">
                                  <a:alpha val="43000"/>
                                </a:srgbClr>
                              </a:outerShdw>
                            </a:effectLst>
                            <a:latin typeface="Cambria Math" panose="02040503050406030204" pitchFamily="18" charset="0"/>
                          </a:rPr>
                          <m:t>𝑡</m:t>
                        </m:r>
                        <m:r>
                          <a:rPr lang="en-US" altLang="zh-CN" sz="3200" i="1">
                            <a:ln w="0"/>
                            <a:solidFill>
                              <a:srgbClr val="C00000"/>
                            </a:solidFill>
                            <a:effectLst>
                              <a:outerShdw blurRad="38100" dist="25400" dir="5400000" algn="ctr" rotWithShape="0">
                                <a:srgbClr val="6E747A">
                                  <a:alpha val="43000"/>
                                </a:srgbClr>
                              </a:outerShdw>
                            </a:effectLst>
                            <a:latin typeface="Cambria Math" panose="02040503050406030204" pitchFamily="18" charset="0"/>
                          </a:rPr>
                          <m:t>)</m:t>
                        </m:r>
                      </m:num>
                      <m:den>
                        <m:r>
                          <a:rPr lang="en-US" altLang="zh-CN" sz="3200" i="1">
                            <a:solidFill>
                              <a:srgbClr val="C00000"/>
                            </a:solidFill>
                            <a:latin typeface="Cambria Math" panose="02040503050406030204" pitchFamily="18" charset="0"/>
                          </a:rPr>
                          <m:t>(1+</m:t>
                        </m:r>
                        <m:r>
                          <a:rPr lang="en-US" altLang="zh-CN" sz="3200" i="1">
                            <a:solidFill>
                              <a:srgbClr val="C00000"/>
                            </a:solidFill>
                            <a:latin typeface="Cambria Math" panose="02040503050406030204" pitchFamily="18" charset="0"/>
                          </a:rPr>
                          <m:t>𝑖</m:t>
                        </m:r>
                        <m:sSup>
                          <m:sSupPr>
                            <m:ctrlPr>
                              <a:rPr lang="en-US" altLang="zh-CN" sz="3200" i="1">
                                <a:solidFill>
                                  <a:srgbClr val="C00000"/>
                                </a:solidFill>
                                <a:latin typeface="Cambria Math" panose="02040503050406030204" pitchFamily="18" charset="0"/>
                              </a:rPr>
                            </m:ctrlPr>
                          </m:sSupPr>
                          <m:e>
                            <m:r>
                              <a:rPr lang="en-US" altLang="zh-CN" sz="3200" i="1">
                                <a:solidFill>
                                  <a:srgbClr val="C00000"/>
                                </a:solidFill>
                                <a:latin typeface="Cambria Math" panose="02040503050406030204" pitchFamily="18" charset="0"/>
                              </a:rPr>
                              <m:t>)</m:t>
                            </m:r>
                          </m:e>
                          <m:sup>
                            <m:r>
                              <a:rPr lang="en-US" altLang="zh-CN" sz="3200" i="1">
                                <a:solidFill>
                                  <a:srgbClr val="C00000"/>
                                </a:solidFill>
                                <a:latin typeface="Cambria Math" panose="02040503050406030204" pitchFamily="18" charset="0"/>
                              </a:rPr>
                              <m:t>𝑡</m:t>
                            </m:r>
                          </m:sup>
                        </m:sSup>
                        <m:r>
                          <a:rPr lang="en-US" altLang="zh-CN" sz="3200" i="1">
                            <a:solidFill>
                              <a:srgbClr val="C00000"/>
                            </a:solidFill>
                            <a:latin typeface="Cambria Math" panose="02040503050406030204" pitchFamily="18" charset="0"/>
                          </a:rPr>
                          <m:t>−1</m:t>
                        </m:r>
                      </m:den>
                    </m:f>
                  </m:oMath>
                </a14:m>
                <a:endParaRPr lang="en-US" altLang="zh-CN" sz="3200" b="1" dirty="0">
                  <a:ln w="9525">
                    <a:solidFill>
                      <a:schemeClr val="bg1"/>
                    </a:solidFill>
                    <a:prstDash val="solid"/>
                  </a:ln>
                  <a:solidFill>
                    <a:srgbClr val="FFC000"/>
                  </a:solidFill>
                  <a:effectLst>
                    <a:outerShdw blurRad="12700" dist="38100" dir="2700000" algn="tl" rotWithShape="0">
                      <a:schemeClr val="accent5">
                        <a:lumMod val="60000"/>
                        <a:lumOff val="40000"/>
                      </a:schemeClr>
                    </a:outerShdw>
                  </a:effectLst>
                </a:endParaRPr>
              </a:p>
              <a:p>
                <a:r>
                  <a:rPr lang="en-US" altLang="zh-CN" sz="3200" b="1" dirty="0">
                    <a:ln w="9525">
                      <a:solidFill>
                        <a:schemeClr val="bg1"/>
                      </a:solidFill>
                      <a:prstDash val="solid"/>
                    </a:ln>
                    <a:solidFill>
                      <a:srgbClr val="FFC000"/>
                    </a:solidFill>
                    <a:effectLst>
                      <a:outerShdw blurRad="12700" dist="38100" dir="2700000" algn="tl" rotWithShape="0">
                        <a:schemeClr val="accent5">
                          <a:lumMod val="60000"/>
                          <a:lumOff val="40000"/>
                        </a:schemeClr>
                      </a:outerShdw>
                    </a:effectLst>
                  </a:rPr>
                  <a:t>=</a:t>
                </a:r>
                <a:r>
                  <a:rPr lang="en-US" altLang="zh-CN" sz="3200" b="1" dirty="0" err="1">
                    <a:ln w="9525">
                      <a:solidFill>
                        <a:schemeClr val="bg1"/>
                      </a:solidFill>
                      <a:prstDash val="solid"/>
                    </a:ln>
                    <a:solidFill>
                      <a:srgbClr val="FFC000"/>
                    </a:solidFill>
                    <a:effectLst>
                      <a:outerShdw blurRad="12700" dist="38100" dir="2700000" algn="tl" rotWithShape="0">
                        <a:schemeClr val="accent5">
                          <a:lumMod val="60000"/>
                          <a:lumOff val="40000"/>
                        </a:schemeClr>
                      </a:outerShdw>
                    </a:effectLst>
                  </a:rPr>
                  <a:t>iS</a:t>
                </a:r>
                <a:r>
                  <a:rPr lang="en-US" altLang="zh-CN" sz="3200" b="1" dirty="0">
                    <a:ln w="9525">
                      <a:solidFill>
                        <a:schemeClr val="bg1"/>
                      </a:solidFill>
                      <a:prstDash val="solid"/>
                    </a:ln>
                    <a:solidFill>
                      <a:srgbClr val="FFC000"/>
                    </a:solidFill>
                    <a:effectLst>
                      <a:outerShdw blurRad="12700" dist="38100" dir="2700000" algn="tl" rotWithShape="0">
                        <a:schemeClr val="accent5">
                          <a:lumMod val="60000"/>
                          <a:lumOff val="40000"/>
                        </a:schemeClr>
                      </a:outerShdw>
                    </a:effectLst>
                  </a:rPr>
                  <a:t>(t)+</a:t>
                </a:r>
                <a:r>
                  <a:rPr lang="en-US" altLang="zh-CN" sz="3200" b="1" dirty="0" err="1">
                    <a:ln w="9525">
                      <a:solidFill>
                        <a:schemeClr val="bg1"/>
                      </a:solidFill>
                      <a:prstDash val="solid"/>
                    </a:ln>
                    <a:solidFill>
                      <a:srgbClr val="C00000"/>
                    </a:solidFill>
                    <a:effectLst>
                      <a:outerShdw blurRad="12700" dist="38100" dir="2700000" algn="tl" rotWithShape="0">
                        <a:schemeClr val="accent5">
                          <a:lumMod val="60000"/>
                          <a:lumOff val="40000"/>
                        </a:schemeClr>
                      </a:outerShdw>
                    </a:effectLst>
                  </a:rPr>
                  <a:t>iV</a:t>
                </a:r>
                <a:r>
                  <a:rPr lang="en-US" altLang="zh-CN" sz="3200" b="1" baseline="-25000" dirty="0" err="1">
                    <a:ln w="9525">
                      <a:solidFill>
                        <a:schemeClr val="bg1"/>
                      </a:solidFill>
                      <a:prstDash val="solid"/>
                    </a:ln>
                    <a:solidFill>
                      <a:srgbClr val="C00000"/>
                    </a:solidFill>
                    <a:effectLst>
                      <a:outerShdw blurRad="12700" dist="38100" dir="2700000" algn="tl" rotWithShape="0">
                        <a:schemeClr val="accent5">
                          <a:lumMod val="60000"/>
                          <a:lumOff val="40000"/>
                        </a:schemeClr>
                      </a:outerShdw>
                    </a:effectLst>
                  </a:rPr>
                  <a:t>s</a:t>
                </a:r>
                <a:endParaRPr lang="zh-CN" altLang="en-US" sz="3200" b="1" baseline="-25000" dirty="0">
                  <a:ln w="9525">
                    <a:solidFill>
                      <a:schemeClr val="bg1"/>
                    </a:solidFill>
                    <a:prstDash val="solid"/>
                  </a:ln>
                  <a:solidFill>
                    <a:srgbClr val="C00000"/>
                  </a:solidFill>
                  <a:effectLst>
                    <a:outerShdw blurRad="12700" dist="38100" dir="2700000" algn="tl" rotWithShape="0">
                      <a:schemeClr val="accent5">
                        <a:lumMod val="60000"/>
                        <a:lumOff val="40000"/>
                      </a:schemeClr>
                    </a:outerShdw>
                  </a:effectLst>
                </a:endParaRPr>
              </a:p>
            </p:txBody>
          </p:sp>
        </mc:Choice>
        <mc:Fallback xmlns="">
          <p:sp>
            <p:nvSpPr>
              <p:cNvPr id="2" name="矩形 1"/>
              <p:cNvSpPr>
                <a:spLocks noRot="1" noChangeAspect="1" noMove="1" noResize="1" noEditPoints="1" noAdjustHandles="1" noChangeArrowheads="1" noChangeShapeType="1" noTextEdit="1"/>
              </p:cNvSpPr>
              <p:nvPr/>
            </p:nvSpPr>
            <p:spPr>
              <a:xfrm>
                <a:off x="407949" y="1221495"/>
                <a:ext cx="3883884" cy="4088427"/>
              </a:xfrm>
              <a:prstGeom prst="rect">
                <a:avLst/>
              </a:prstGeom>
              <a:blipFill rotWithShape="0">
                <a:blip r:embed="rId2"/>
                <a:stretch>
                  <a:fillRect/>
                </a:stretch>
              </a:blipFill>
            </p:spPr>
            <p:txBody>
              <a:bodyPr/>
              <a:lstStyle/>
              <a:p>
                <a:r>
                  <a:rPr lang="zh-CN" altLang="en-US">
                    <a:noFill/>
                  </a:rPr>
                  <a:t> </a:t>
                </a:r>
              </a:p>
            </p:txBody>
          </p:sp>
        </mc:Fallback>
      </mc:AlternateContent>
      <p:sp>
        <p:nvSpPr>
          <p:cNvPr id="3" name="文本框 2"/>
          <p:cNvSpPr txBox="1"/>
          <p:nvPr/>
        </p:nvSpPr>
        <p:spPr>
          <a:xfrm>
            <a:off x="407949" y="209006"/>
            <a:ext cx="2698175" cy="523220"/>
          </a:xfrm>
          <a:prstGeom prst="rect">
            <a:avLst/>
          </a:prstGeom>
          <a:noFill/>
        </p:spPr>
        <p:txBody>
          <a:bodyPr wrap="none" rtlCol="0">
            <a:spAutoFit/>
          </a:bodyPr>
          <a:lstStyle/>
          <a:p>
            <a:r>
              <a:rPr lang="zh-CN" altLang="en-US" sz="2800" dirty="0"/>
              <a:t>另一种公式变形</a:t>
            </a:r>
          </a:p>
        </p:txBody>
      </p:sp>
      <p:sp>
        <p:nvSpPr>
          <p:cNvPr id="4" name="文本框 3"/>
          <p:cNvSpPr txBox="1"/>
          <p:nvPr/>
        </p:nvSpPr>
        <p:spPr>
          <a:xfrm>
            <a:off x="4781006" y="1521543"/>
            <a:ext cx="3918857" cy="1384995"/>
          </a:xfrm>
          <a:prstGeom prst="rect">
            <a:avLst/>
          </a:prstGeom>
          <a:noFill/>
        </p:spPr>
        <p:txBody>
          <a:bodyPr wrap="square" rtlCol="0">
            <a:spAutoFit/>
          </a:bodyPr>
          <a:lstStyle/>
          <a:p>
            <a:r>
              <a:rPr lang="en-US" altLang="zh-CN" sz="2800" dirty="0"/>
              <a:t>ΔS</a:t>
            </a:r>
            <a:r>
              <a:rPr lang="zh-CN" altLang="en-US" sz="2800" dirty="0"/>
              <a:t>：</a:t>
            </a:r>
            <a:r>
              <a:rPr lang="en-US" altLang="zh-CN" sz="2800" dirty="0"/>
              <a:t>t+1</a:t>
            </a:r>
            <a:r>
              <a:rPr lang="zh-CN" altLang="en-US" sz="2800" dirty="0"/>
              <a:t>期砍伐相对于第</a:t>
            </a:r>
            <a:r>
              <a:rPr lang="en-US" altLang="zh-CN" sz="2800" dirty="0"/>
              <a:t>t</a:t>
            </a:r>
            <a:r>
              <a:rPr lang="zh-CN" altLang="en-US" sz="2800" dirty="0"/>
              <a:t>期砍伐多得的立木价值</a:t>
            </a:r>
          </a:p>
        </p:txBody>
      </p:sp>
      <p:sp>
        <p:nvSpPr>
          <p:cNvPr id="5" name="文本框 4"/>
          <p:cNvSpPr txBox="1"/>
          <p:nvPr/>
        </p:nvSpPr>
        <p:spPr>
          <a:xfrm>
            <a:off x="4781005" y="2944376"/>
            <a:ext cx="3918857" cy="2677656"/>
          </a:xfrm>
          <a:prstGeom prst="rect">
            <a:avLst/>
          </a:prstGeom>
          <a:noFill/>
        </p:spPr>
        <p:txBody>
          <a:bodyPr wrap="square" rtlCol="0">
            <a:spAutoFit/>
          </a:bodyPr>
          <a:lstStyle/>
          <a:p>
            <a:r>
              <a:rPr lang="en-US" altLang="zh-CN" sz="2800" dirty="0" err="1"/>
              <a:t>iS</a:t>
            </a:r>
            <a:r>
              <a:rPr lang="zh-CN" altLang="en-US" sz="2800" dirty="0"/>
              <a:t>（</a:t>
            </a:r>
            <a:r>
              <a:rPr lang="en-US" altLang="zh-CN" sz="2800" dirty="0"/>
              <a:t>t</a:t>
            </a:r>
            <a:r>
              <a:rPr lang="zh-CN" altLang="en-US" sz="2800" dirty="0"/>
              <a:t>）：</a:t>
            </a:r>
            <a:r>
              <a:rPr lang="en-US" altLang="zh-CN" sz="2800" dirty="0"/>
              <a:t>t+1</a:t>
            </a:r>
            <a:r>
              <a:rPr lang="zh-CN" altLang="en-US" sz="2800" dirty="0"/>
              <a:t>期砍伐相对于第</a:t>
            </a:r>
            <a:r>
              <a:rPr lang="en-US" altLang="zh-CN" sz="2800" dirty="0"/>
              <a:t>t</a:t>
            </a:r>
            <a:r>
              <a:rPr lang="zh-CN" altLang="en-US" sz="2800" dirty="0"/>
              <a:t>期砍伐损失的资金成本</a:t>
            </a:r>
            <a:endParaRPr lang="en-US" altLang="zh-CN" sz="2800" dirty="0"/>
          </a:p>
          <a:p>
            <a:r>
              <a:rPr lang="en-US" altLang="zh-CN" sz="2800" dirty="0" err="1"/>
              <a:t>iVs</a:t>
            </a:r>
            <a:r>
              <a:rPr lang="zh-CN" altLang="en-US" sz="2800" dirty="0"/>
              <a:t>：</a:t>
            </a:r>
            <a:r>
              <a:rPr lang="en-US" altLang="zh-CN" sz="2800" dirty="0"/>
              <a:t>t+1</a:t>
            </a:r>
            <a:r>
              <a:rPr lang="zh-CN" altLang="en-US" sz="2800" dirty="0"/>
              <a:t>期砍伐相对于第</a:t>
            </a:r>
            <a:r>
              <a:rPr lang="en-US" altLang="zh-CN" sz="2800" dirty="0"/>
              <a:t>t</a:t>
            </a:r>
            <a:r>
              <a:rPr lang="zh-CN" altLang="en-US" sz="2800" dirty="0"/>
              <a:t>期砍伐损失的地租成本</a:t>
            </a:r>
          </a:p>
        </p:txBody>
      </p:sp>
    </p:spTree>
    <p:extLst>
      <p:ext uri="{BB962C8B-B14F-4D97-AF65-F5344CB8AC3E}">
        <p14:creationId xmlns:p14="http://schemas.microsoft.com/office/powerpoint/2010/main" val="288100144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fade">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fade">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fade">
                                      <p:cBhvr>
                                        <p:cTn id="27" dur="500"/>
                                        <p:tgtEl>
                                          <p:spTgt spid="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fade">
                                      <p:cBhvr>
                                        <p:cTn id="32" dur="500"/>
                                        <p:tgtEl>
                                          <p:spTgt spid="4"/>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fade">
                                      <p:cBhvr>
                                        <p:cTn id="3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5"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95533" y="457200"/>
            <a:ext cx="2031325" cy="646331"/>
          </a:xfrm>
          <a:prstGeom prst="rect">
            <a:avLst/>
          </a:prstGeom>
          <a:noFill/>
        </p:spPr>
        <p:txBody>
          <a:bodyPr wrap="none" rtlCol="0">
            <a:spAutoFit/>
            <a:scene3d>
              <a:camera prst="orthographicFront"/>
              <a:lightRig rig="threePt" dir="t"/>
            </a:scene3d>
            <a:sp3d extrusionH="57150">
              <a:bevelT w="38100" h="38100"/>
            </a:sp3d>
          </a:bodyPr>
          <a:lstStyle/>
          <a:p>
            <a:r>
              <a:rPr lang="zh-CN" altLang="en-US" sz="3600" b="1" dirty="0">
                <a:ln w="9525">
                  <a:solidFill>
                    <a:schemeClr val="bg1"/>
                  </a:solidFill>
                  <a:prstDash val="solid"/>
                </a:ln>
                <a:solidFill>
                  <a:srgbClr val="00B0F0"/>
                </a:solidFill>
                <a:effectLst>
                  <a:outerShdw blurRad="12700" dist="38100" dir="2700000" algn="tl" rotWithShape="0">
                    <a:schemeClr val="bg2">
                      <a:lumMod val="50000"/>
                    </a:schemeClr>
                  </a:outerShdw>
                </a:effectLst>
              </a:rPr>
              <a:t>连续形式</a:t>
            </a:r>
            <a:endParaRPr lang="en-US" altLang="zh-CN" sz="3600" b="1" dirty="0">
              <a:ln w="9525">
                <a:solidFill>
                  <a:schemeClr val="bg1"/>
                </a:solidFill>
                <a:prstDash val="solid"/>
              </a:ln>
              <a:solidFill>
                <a:srgbClr val="00B0F0"/>
              </a:solidFill>
              <a:effectLst>
                <a:outerShdw blurRad="12700" dist="38100" dir="2700000" algn="tl" rotWithShape="0">
                  <a:schemeClr val="bg2">
                    <a:lumMod val="50000"/>
                  </a:schemeClr>
                </a:outerShdw>
              </a:effectLst>
            </a:endParaRPr>
          </a:p>
        </p:txBody>
      </p:sp>
      <p:sp>
        <p:nvSpPr>
          <p:cNvPr id="3" name="文本框 2"/>
          <p:cNvSpPr txBox="1"/>
          <p:nvPr/>
        </p:nvSpPr>
        <p:spPr>
          <a:xfrm>
            <a:off x="2899954" y="457199"/>
            <a:ext cx="2981329" cy="646331"/>
          </a:xfrm>
          <a:prstGeom prst="rect">
            <a:avLst/>
          </a:prstGeom>
          <a:noFill/>
        </p:spPr>
        <p:txBody>
          <a:bodyPr wrap="none" rtlCol="0">
            <a:spAutoFit/>
            <a:scene3d>
              <a:camera prst="orthographicFront"/>
              <a:lightRig rig="harsh" dir="t"/>
            </a:scene3d>
            <a:sp3d extrusionH="57150" prstMaterial="matte">
              <a:bevelT w="63500" h="12700" prst="angle"/>
              <a:contourClr>
                <a:schemeClr val="bg1">
                  <a:lumMod val="65000"/>
                </a:schemeClr>
              </a:contourClr>
            </a:sp3d>
          </a:bodyPr>
          <a:lstStyle/>
          <a:p>
            <a:r>
              <a:rPr lang="zh-CN" altLang="en-US" sz="3600" b="1" dirty="0">
                <a:ln/>
                <a:solidFill>
                  <a:srgbClr val="00B0F0"/>
                </a:solidFill>
              </a:rPr>
              <a:t>（</a:t>
            </a:r>
            <a:r>
              <a:rPr lang="en-US" altLang="zh-CN" sz="3600" b="1" dirty="0">
                <a:ln/>
                <a:solidFill>
                  <a:srgbClr val="00B0F0"/>
                </a:solidFill>
              </a:rPr>
              <a:t>1+i</a:t>
            </a:r>
            <a:r>
              <a:rPr lang="zh-CN" altLang="en-US" sz="3600" b="1" dirty="0">
                <a:ln/>
                <a:solidFill>
                  <a:srgbClr val="00B0F0"/>
                </a:solidFill>
              </a:rPr>
              <a:t>）</a:t>
            </a:r>
            <a:r>
              <a:rPr lang="en-US" altLang="zh-CN" sz="3600" b="1" baseline="30000" dirty="0">
                <a:ln/>
                <a:solidFill>
                  <a:srgbClr val="00B0F0"/>
                </a:solidFill>
              </a:rPr>
              <a:t>-t</a:t>
            </a:r>
            <a:r>
              <a:rPr lang="en-US" altLang="zh-CN" sz="3600" b="1" dirty="0">
                <a:ln/>
                <a:solidFill>
                  <a:srgbClr val="00B0F0"/>
                </a:solidFill>
              </a:rPr>
              <a:t>=e</a:t>
            </a:r>
            <a:r>
              <a:rPr lang="en-US" altLang="zh-CN" sz="3600" b="1" baseline="30000" dirty="0">
                <a:ln/>
                <a:solidFill>
                  <a:srgbClr val="00B0F0"/>
                </a:solidFill>
              </a:rPr>
              <a:t>-</a:t>
            </a:r>
            <a:r>
              <a:rPr lang="en-US" altLang="zh-CN" sz="3600" b="1" baseline="30000" dirty="0" err="1">
                <a:ln/>
                <a:solidFill>
                  <a:srgbClr val="00B0F0"/>
                </a:solidFill>
              </a:rPr>
              <a:t>rt</a:t>
            </a:r>
            <a:endParaRPr lang="zh-CN" altLang="en-US" sz="3600" b="1" baseline="30000" dirty="0">
              <a:ln/>
              <a:solidFill>
                <a:srgbClr val="00B0F0"/>
              </a:solidFill>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4108950430"/>
              </p:ext>
            </p:extLst>
          </p:nvPr>
        </p:nvGraphicFramePr>
        <p:xfrm>
          <a:off x="888274" y="1241126"/>
          <a:ext cx="7791178" cy="5300812"/>
        </p:xfrm>
        <a:graphic>
          <a:graphicData uri="http://schemas.openxmlformats.org/presentationml/2006/ole">
            <mc:AlternateContent xmlns:mc="http://schemas.openxmlformats.org/markup-compatibility/2006">
              <mc:Choice xmlns:v="urn:schemas-microsoft-com:vml" Requires="v">
                <p:oleObj spid="_x0000_s15373" name="公式" r:id="rId3" imgW="2577960" imgH="1752480" progId="Equation.3">
                  <p:embed/>
                </p:oleObj>
              </mc:Choice>
              <mc:Fallback>
                <p:oleObj name="公式" r:id="rId3" imgW="2577960" imgH="1752480" progId="Equation.3">
                  <p:embed/>
                  <p:pic>
                    <p:nvPicPr>
                      <p:cNvPr id="0" name=""/>
                      <p:cNvPicPr/>
                      <p:nvPr/>
                    </p:nvPicPr>
                    <p:blipFill>
                      <a:blip r:embed="rId4"/>
                      <a:stretch>
                        <a:fillRect/>
                      </a:stretch>
                    </p:blipFill>
                    <p:spPr>
                      <a:xfrm>
                        <a:off x="888274" y="1241126"/>
                        <a:ext cx="7791178" cy="5300812"/>
                      </a:xfrm>
                      <a:prstGeom prst="rect">
                        <a:avLst/>
                      </a:prstGeom>
                    </p:spPr>
                  </p:pic>
                </p:oleObj>
              </mc:Fallback>
            </mc:AlternateContent>
          </a:graphicData>
        </a:graphic>
      </p:graphicFrame>
      <p:sp>
        <p:nvSpPr>
          <p:cNvPr id="5" name="文本框 4"/>
          <p:cNvSpPr txBox="1"/>
          <p:nvPr/>
        </p:nvSpPr>
        <p:spPr>
          <a:xfrm>
            <a:off x="739225" y="1304500"/>
            <a:ext cx="689612" cy="369332"/>
          </a:xfrm>
          <a:prstGeom prst="rect">
            <a:avLst/>
          </a:prstGeom>
          <a:noFill/>
        </p:spPr>
        <p:txBody>
          <a:bodyPr wrap="none" rtlCol="0">
            <a:spAutoFit/>
          </a:bodyPr>
          <a:lstStyle/>
          <a:p>
            <a:r>
              <a:rPr lang="en-US" altLang="zh-CN" b="1" dirty="0">
                <a:ln w="9525">
                  <a:solidFill>
                    <a:schemeClr val="bg1"/>
                  </a:solidFill>
                  <a:prstDash val="solid"/>
                </a:ln>
                <a:solidFill>
                  <a:srgbClr val="C00000"/>
                </a:solidFill>
                <a:effectLst>
                  <a:outerShdw blurRad="12700" dist="38100" dir="2700000" algn="tl" rotWithShape="0">
                    <a:schemeClr val="accent5">
                      <a:lumMod val="60000"/>
                      <a:lumOff val="40000"/>
                    </a:schemeClr>
                  </a:outerShdw>
                </a:effectLst>
              </a:rPr>
              <a:t>Max</a:t>
            </a:r>
            <a:endParaRPr lang="zh-CN" altLang="en-US" b="1" dirty="0">
              <a:ln w="9525">
                <a:solidFill>
                  <a:schemeClr val="bg1"/>
                </a:solidFill>
                <a:prstDash val="solid"/>
              </a:ln>
              <a:solidFill>
                <a:srgbClr val="C00000"/>
              </a:solidFill>
              <a:effectLst>
                <a:outerShdw blurRad="12700" dist="38100" dir="2700000" algn="tl" rotWithShape="0">
                  <a:schemeClr val="accent5">
                    <a:lumMod val="60000"/>
                    <a:lumOff val="40000"/>
                  </a:schemeClr>
                </a:outerShdw>
              </a:effectLst>
            </a:endParaRPr>
          </a:p>
        </p:txBody>
      </p:sp>
      <p:sp>
        <p:nvSpPr>
          <p:cNvPr id="6" name="圆角矩形 5"/>
          <p:cNvSpPr/>
          <p:nvPr/>
        </p:nvSpPr>
        <p:spPr>
          <a:xfrm>
            <a:off x="1428837" y="5264331"/>
            <a:ext cx="3574237" cy="1277607"/>
          </a:xfrm>
          <a:prstGeom prst="roundRect">
            <a:avLst/>
          </a:prstGeom>
          <a:noFill/>
          <a:ln>
            <a:solidFill>
              <a:srgbClr val="C0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7" name="文本框 6"/>
              <p:cNvSpPr txBox="1"/>
              <p:nvPr/>
            </p:nvSpPr>
            <p:spPr>
              <a:xfrm>
                <a:off x="5774048" y="5486400"/>
                <a:ext cx="2134430" cy="83260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altLang="zh-CN" i="1" smtClean="0">
                              <a:latin typeface="Cambria Math" panose="02040503050406030204" pitchFamily="18" charset="0"/>
                            </a:rPr>
                          </m:ctrlPr>
                        </m:fPr>
                        <m:num>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𝑄</m:t>
                              </m:r>
                            </m:e>
                            <m:sub>
                              <m:r>
                                <a:rPr lang="en-US" altLang="zh-CN" b="0" i="1" smtClean="0">
                                  <a:latin typeface="Cambria Math" panose="02040503050406030204" pitchFamily="18" charset="0"/>
                                </a:rPr>
                                <m:t>𝑡</m:t>
                              </m:r>
                            </m:sub>
                          </m:sSub>
                        </m:num>
                        <m:den>
                          <m:r>
                            <a:rPr lang="en-US" altLang="zh-CN" b="0" i="1" smtClean="0">
                              <a:latin typeface="Cambria Math" panose="02040503050406030204" pitchFamily="18" charset="0"/>
                            </a:rPr>
                            <m:t>𝑄</m:t>
                          </m:r>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𝑤𝐸</m:t>
                              </m:r>
                            </m:num>
                            <m:den>
                              <m:r>
                                <a:rPr lang="en-US" altLang="zh-CN" b="0" i="1" smtClean="0">
                                  <a:latin typeface="Cambria Math" panose="02040503050406030204" pitchFamily="18" charset="0"/>
                                </a:rPr>
                                <m:t>𝑃</m:t>
                              </m:r>
                            </m:den>
                          </m:f>
                        </m:den>
                      </m:f>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𝑟</m:t>
                          </m:r>
                        </m:num>
                        <m:den>
                          <m:r>
                            <a:rPr lang="en-US" altLang="zh-CN" b="0" i="1" smtClean="0">
                              <a:latin typeface="Cambria Math" panose="02040503050406030204" pitchFamily="18" charset="0"/>
                            </a:rPr>
                            <m:t>1−</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𝑒</m:t>
                              </m:r>
                            </m:e>
                            <m:sup>
                              <m:r>
                                <a:rPr lang="en-US" altLang="zh-CN" b="0" i="1" smtClean="0">
                                  <a:latin typeface="Cambria Math" panose="02040503050406030204" pitchFamily="18" charset="0"/>
                                </a:rPr>
                                <m:t>−</m:t>
                              </m:r>
                              <m:r>
                                <a:rPr lang="en-US" altLang="zh-CN" b="0" i="1" smtClean="0">
                                  <a:latin typeface="Cambria Math" panose="02040503050406030204" pitchFamily="18" charset="0"/>
                                </a:rPr>
                                <m:t>𝑟𝑡</m:t>
                              </m:r>
                            </m:sup>
                          </m:sSup>
                        </m:den>
                      </m:f>
                    </m:oMath>
                  </m:oMathPara>
                </a14:m>
                <a:endParaRPr lang="zh-CN" altLang="en-US" dirty="0"/>
              </a:p>
            </p:txBody>
          </p:sp>
        </mc:Choice>
        <mc:Fallback xmlns="">
          <p:sp>
            <p:nvSpPr>
              <p:cNvPr id="7" name="文本框 6"/>
              <p:cNvSpPr txBox="1">
                <a:spLocks noRot="1" noChangeAspect="1" noMove="1" noResize="1" noEditPoints="1" noAdjustHandles="1" noChangeArrowheads="1" noChangeShapeType="1" noTextEdit="1"/>
              </p:cNvSpPr>
              <p:nvPr/>
            </p:nvSpPr>
            <p:spPr>
              <a:xfrm>
                <a:off x="5774048" y="5486400"/>
                <a:ext cx="2134430" cy="832600"/>
              </a:xfrm>
              <a:prstGeom prst="rect">
                <a:avLst/>
              </a:prstGeom>
              <a:blipFill rotWithShape="0">
                <a:blip r:embed="rId5"/>
                <a:stretch>
                  <a:fillRect/>
                </a:stretch>
              </a:blipFill>
            </p:spPr>
            <p:txBody>
              <a:bodyPr/>
              <a:lstStyle/>
              <a:p>
                <a:r>
                  <a:rPr lang="zh-CN" altLang="en-US">
                    <a:noFill/>
                  </a:rPr>
                  <a:t> </a:t>
                </a:r>
              </a:p>
            </p:txBody>
          </p:sp>
        </mc:Fallback>
      </mc:AlternateContent>
      <p:sp>
        <p:nvSpPr>
          <p:cNvPr id="8" name="文本框 7"/>
          <p:cNvSpPr txBox="1"/>
          <p:nvPr/>
        </p:nvSpPr>
        <p:spPr>
          <a:xfrm>
            <a:off x="5712612" y="5048270"/>
            <a:ext cx="2840842" cy="369332"/>
          </a:xfrm>
          <a:prstGeom prst="rect">
            <a:avLst/>
          </a:prstGeom>
          <a:noFill/>
        </p:spPr>
        <p:txBody>
          <a:bodyPr wrap="none" rtlCol="0">
            <a:spAutoFit/>
          </a:bodyPr>
          <a:lstStyle/>
          <a:p>
            <a:r>
              <a:rPr lang="zh-CN" altLang="en-US" dirty="0"/>
              <a:t>对于时间</a:t>
            </a:r>
            <a:r>
              <a:rPr lang="en-US" altLang="zh-CN" dirty="0"/>
              <a:t>t</a:t>
            </a:r>
            <a:r>
              <a:rPr lang="zh-CN" altLang="en-US" dirty="0"/>
              <a:t>的一阶导</a:t>
            </a:r>
            <a:r>
              <a:rPr lang="en-US" altLang="zh-CN" dirty="0"/>
              <a:t>=0</a:t>
            </a:r>
            <a:r>
              <a:rPr lang="zh-CN" altLang="en-US" dirty="0"/>
              <a:t>，得</a:t>
            </a:r>
          </a:p>
        </p:txBody>
      </p:sp>
    </p:spTree>
    <p:extLst>
      <p:ext uri="{BB962C8B-B14F-4D97-AF65-F5344CB8AC3E}">
        <p14:creationId xmlns:p14="http://schemas.microsoft.com/office/powerpoint/2010/main" val="11091259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P spid="7" grpId="0"/>
      <p:bldP spid="8"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Other Impacts on the Optimal Rotation </a:t>
            </a:r>
            <a:endParaRPr lang="zh-CN" altLang="en-US" dirty="0"/>
          </a:p>
        </p:txBody>
      </p:sp>
      <p:sp>
        <p:nvSpPr>
          <p:cNvPr id="3" name="文本占位符 2"/>
          <p:cNvSpPr>
            <a:spLocks noGrp="1"/>
          </p:cNvSpPr>
          <p:nvPr>
            <p:ph type="body" idx="1"/>
          </p:nvPr>
        </p:nvSpPr>
        <p:spPr/>
        <p:txBody>
          <a:bodyPr/>
          <a:lstStyle/>
          <a:p>
            <a:r>
              <a:rPr lang="zh-CN" altLang="en-US" dirty="0"/>
              <a:t>影响最佳轮伐期的因素</a:t>
            </a:r>
          </a:p>
        </p:txBody>
      </p:sp>
    </p:spTree>
    <p:extLst>
      <p:ext uri="{BB962C8B-B14F-4D97-AF65-F5344CB8AC3E}">
        <p14:creationId xmlns:p14="http://schemas.microsoft.com/office/powerpoint/2010/main" val="5054130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rot="250819">
            <a:off x="1844845" y="132348"/>
            <a:ext cx="7189426" cy="962526"/>
          </a:xfrm>
        </p:spPr>
        <p:txBody>
          <a:bodyPr>
            <a:normAutofit/>
          </a:bodyPr>
          <a:lstStyle/>
          <a:p>
            <a:pPr algn="ctr"/>
            <a:r>
              <a:rPr lang="en-US" altLang="zh-CN" dirty="0"/>
              <a:t>1</a:t>
            </a:r>
            <a:r>
              <a:rPr lang="zh-CN" altLang="en-US" dirty="0"/>
              <a:t>、利率</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rot="228832">
                <a:off x="3555971" y="1308382"/>
                <a:ext cx="3093586" cy="1144005"/>
              </a:xfrm>
            </p:spPr>
            <p:txBody>
              <a:bodyPr>
                <a:normAutofit fontScale="92500"/>
              </a:bodyPr>
              <a:lstStyle/>
              <a:p>
                <a:pPr marL="0" indent="0">
                  <a:buNone/>
                </a:pPr>
                <a14:m>
                  <m:oMathPara xmlns:m="http://schemas.openxmlformats.org/officeDocument/2006/math">
                    <m:oMathParaPr>
                      <m:jc m:val="centerGroup"/>
                    </m:oMathParaPr>
                    <m:oMath xmlns:m="http://schemas.openxmlformats.org/officeDocument/2006/math">
                      <m:f>
                        <m:fPr>
                          <m:ctrlPr>
                            <a:rPr lang="en-US" altLang="zh-CN" i="1" smtClean="0">
                              <a:effectLst/>
                              <a:latin typeface="Cambria Math" panose="02040503050406030204" pitchFamily="18" charset="0"/>
                            </a:rPr>
                          </m:ctrlPr>
                        </m:fPr>
                        <m:num>
                          <m:sSub>
                            <m:sSubPr>
                              <m:ctrlPr>
                                <a:rPr lang="en-US" altLang="zh-CN" i="1">
                                  <a:effectLst/>
                                  <a:latin typeface="Cambria Math" panose="02040503050406030204" pitchFamily="18" charset="0"/>
                                </a:rPr>
                              </m:ctrlPr>
                            </m:sSubPr>
                            <m:e>
                              <m:r>
                                <a:rPr lang="en-US" altLang="zh-CN" i="1">
                                  <a:effectLst/>
                                  <a:latin typeface="Cambria Math" panose="02040503050406030204" pitchFamily="18" charset="0"/>
                                </a:rPr>
                                <m:t>𝑄</m:t>
                              </m:r>
                            </m:e>
                            <m:sub>
                              <m:r>
                                <a:rPr lang="en-US" altLang="zh-CN" i="1">
                                  <a:effectLst/>
                                  <a:latin typeface="Cambria Math" panose="02040503050406030204" pitchFamily="18" charset="0"/>
                                </a:rPr>
                                <m:t>𝑡</m:t>
                              </m:r>
                            </m:sub>
                          </m:sSub>
                        </m:num>
                        <m:den>
                          <m:r>
                            <a:rPr lang="en-US" altLang="zh-CN" i="1">
                              <a:effectLst/>
                              <a:latin typeface="Cambria Math" panose="02040503050406030204" pitchFamily="18" charset="0"/>
                            </a:rPr>
                            <m:t>𝑄</m:t>
                          </m:r>
                          <m:r>
                            <a:rPr lang="en-US" altLang="zh-CN" i="1">
                              <a:effectLst/>
                              <a:latin typeface="Cambria Math" panose="02040503050406030204" pitchFamily="18" charset="0"/>
                            </a:rPr>
                            <m:t>−</m:t>
                          </m:r>
                          <m:f>
                            <m:fPr>
                              <m:ctrlPr>
                                <a:rPr lang="en-US" altLang="zh-CN" i="1">
                                  <a:effectLst/>
                                  <a:latin typeface="Cambria Math" panose="02040503050406030204" pitchFamily="18" charset="0"/>
                                </a:rPr>
                              </m:ctrlPr>
                            </m:fPr>
                            <m:num>
                              <m:r>
                                <a:rPr lang="en-US" altLang="zh-CN" i="1">
                                  <a:effectLst/>
                                  <a:latin typeface="Cambria Math" panose="02040503050406030204" pitchFamily="18" charset="0"/>
                                </a:rPr>
                                <m:t>𝑤𝐸</m:t>
                              </m:r>
                            </m:num>
                            <m:den>
                              <m:r>
                                <a:rPr lang="en-US" altLang="zh-CN" i="1">
                                  <a:effectLst/>
                                  <a:latin typeface="Cambria Math" panose="02040503050406030204" pitchFamily="18" charset="0"/>
                                </a:rPr>
                                <m:t>𝑃</m:t>
                              </m:r>
                            </m:den>
                          </m:f>
                        </m:den>
                      </m:f>
                      <m:r>
                        <a:rPr lang="en-US" altLang="zh-CN" i="1">
                          <a:effectLst/>
                          <a:latin typeface="Cambria Math" panose="02040503050406030204" pitchFamily="18" charset="0"/>
                        </a:rPr>
                        <m:t>=</m:t>
                      </m:r>
                      <m:f>
                        <m:fPr>
                          <m:ctrlPr>
                            <a:rPr lang="en-US" altLang="zh-CN" i="1">
                              <a:effectLst/>
                              <a:latin typeface="Cambria Math" panose="02040503050406030204" pitchFamily="18" charset="0"/>
                            </a:rPr>
                          </m:ctrlPr>
                        </m:fPr>
                        <m:num>
                          <m:r>
                            <a:rPr lang="en-US" altLang="zh-CN" i="1">
                              <a:effectLst/>
                              <a:latin typeface="Cambria Math" panose="02040503050406030204" pitchFamily="18" charset="0"/>
                            </a:rPr>
                            <m:t>𝑟</m:t>
                          </m:r>
                        </m:num>
                        <m:den>
                          <m:r>
                            <a:rPr lang="en-US" altLang="zh-CN" i="1">
                              <a:effectLst/>
                              <a:latin typeface="Cambria Math" panose="02040503050406030204" pitchFamily="18" charset="0"/>
                            </a:rPr>
                            <m:t>1−</m:t>
                          </m:r>
                          <m:sSup>
                            <m:sSupPr>
                              <m:ctrlPr>
                                <a:rPr lang="en-US" altLang="zh-CN" i="1">
                                  <a:effectLst/>
                                  <a:latin typeface="Cambria Math" panose="02040503050406030204" pitchFamily="18" charset="0"/>
                                </a:rPr>
                              </m:ctrlPr>
                            </m:sSupPr>
                            <m:e>
                              <m:r>
                                <a:rPr lang="en-US" altLang="zh-CN" i="1">
                                  <a:effectLst/>
                                  <a:latin typeface="Cambria Math" panose="02040503050406030204" pitchFamily="18" charset="0"/>
                                </a:rPr>
                                <m:t>𝑒</m:t>
                              </m:r>
                            </m:e>
                            <m:sup>
                              <m:r>
                                <a:rPr lang="en-US" altLang="zh-CN" i="1">
                                  <a:effectLst/>
                                  <a:latin typeface="Cambria Math" panose="02040503050406030204" pitchFamily="18" charset="0"/>
                                </a:rPr>
                                <m:t>−</m:t>
                              </m:r>
                              <m:r>
                                <a:rPr lang="en-US" altLang="zh-CN" i="1">
                                  <a:effectLst/>
                                  <a:latin typeface="Cambria Math" panose="02040503050406030204" pitchFamily="18" charset="0"/>
                                </a:rPr>
                                <m:t>𝑟𝑡</m:t>
                              </m:r>
                            </m:sup>
                          </m:sSup>
                        </m:den>
                      </m:f>
                    </m:oMath>
                  </m:oMathPara>
                </a14:m>
                <a:endParaRPr lang="zh-CN" altLang="en-US" dirty="0">
                  <a:effectLst/>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rot="228832">
                <a:off x="3555971" y="1308382"/>
                <a:ext cx="3093586" cy="1144005"/>
              </a:xfrm>
              <a:blipFill>
                <a:blip r:embed="rId3"/>
                <a:stretch>
                  <a:fillRect t="-1869"/>
                </a:stretch>
              </a:blipFill>
            </p:spPr>
            <p:txBody>
              <a:bodyPr/>
              <a:lstStyle/>
              <a:p>
                <a:r>
                  <a:rPr lang="zh-CN" altLang="en-US">
                    <a:noFill/>
                  </a:rPr>
                  <a:t> </a:t>
                </a:r>
              </a:p>
            </p:txBody>
          </p:sp>
        </mc:Fallback>
      </mc:AlternateContent>
      <p:graphicFrame>
        <p:nvGraphicFramePr>
          <p:cNvPr id="4" name="对象 3"/>
          <p:cNvGraphicFramePr>
            <a:graphicFrameLocks noChangeAspect="1"/>
          </p:cNvGraphicFramePr>
          <p:nvPr>
            <p:extLst>
              <p:ext uri="{D42A27DB-BD31-4B8C-83A1-F6EECF244321}">
                <p14:modId xmlns:p14="http://schemas.microsoft.com/office/powerpoint/2010/main" val="1348495000"/>
              </p:ext>
            </p:extLst>
          </p:nvPr>
        </p:nvGraphicFramePr>
        <p:xfrm>
          <a:off x="1003551" y="1355633"/>
          <a:ext cx="2517798" cy="754385"/>
        </p:xfrm>
        <a:graphic>
          <a:graphicData uri="http://schemas.openxmlformats.org/presentationml/2006/ole">
            <mc:AlternateContent xmlns:mc="http://schemas.openxmlformats.org/markup-compatibility/2006">
              <mc:Choice xmlns:v="urn:schemas-microsoft-com:vml" Requires="v">
                <p:oleObj spid="_x0000_s12306" name="公式" r:id="rId4" imgW="1396800" imgH="419040" progId="Equation.3">
                  <p:embed/>
                </p:oleObj>
              </mc:Choice>
              <mc:Fallback>
                <p:oleObj name="公式" r:id="rId4" imgW="1396800" imgH="419040" progId="Equation.3">
                  <p:embed/>
                  <p:pic>
                    <p:nvPicPr>
                      <p:cNvPr id="0" name=""/>
                      <p:cNvPicPr/>
                      <p:nvPr/>
                    </p:nvPicPr>
                    <p:blipFill>
                      <a:blip r:embed="rId5"/>
                      <a:stretch>
                        <a:fillRect/>
                      </a:stretch>
                    </p:blipFill>
                    <p:spPr>
                      <a:xfrm>
                        <a:off x="1003551" y="1355633"/>
                        <a:ext cx="2517798" cy="754385"/>
                      </a:xfrm>
                      <a:prstGeom prst="rect">
                        <a:avLst/>
                      </a:prstGeom>
                    </p:spPr>
                  </p:pic>
                </p:oleObj>
              </mc:Fallback>
            </mc:AlternateContent>
          </a:graphicData>
        </a:graphic>
      </p:graphicFrame>
      <p:sp>
        <p:nvSpPr>
          <p:cNvPr id="5" name="文本框 4"/>
          <p:cNvSpPr txBox="1"/>
          <p:nvPr/>
        </p:nvSpPr>
        <p:spPr>
          <a:xfrm rot="260728">
            <a:off x="2390906" y="2349011"/>
            <a:ext cx="2403365" cy="646331"/>
          </a:xfrm>
          <a:prstGeom prst="rect">
            <a:avLst/>
          </a:prstGeom>
          <a:noFill/>
        </p:spPr>
        <p:txBody>
          <a:bodyPr wrap="square" rtlCol="0">
            <a:spAutoFit/>
          </a:bodyPr>
          <a:lstStyle/>
          <a:p>
            <a:r>
              <a:rPr lang="zh-CN" altLang="en-US" dirty="0"/>
              <a:t>公式右边：边际成本</a:t>
            </a:r>
            <a:endParaRPr lang="en-US" altLang="zh-CN" dirty="0"/>
          </a:p>
          <a:p>
            <a:r>
              <a:rPr lang="zh-CN" altLang="en-US" dirty="0"/>
              <a:t>公式左边：边际收益</a:t>
            </a:r>
          </a:p>
        </p:txBody>
      </p:sp>
      <p:sp>
        <p:nvSpPr>
          <p:cNvPr id="7" name="文本框 6"/>
          <p:cNvSpPr txBox="1"/>
          <p:nvPr/>
        </p:nvSpPr>
        <p:spPr>
          <a:xfrm>
            <a:off x="610764" y="3344779"/>
            <a:ext cx="7007046" cy="523220"/>
          </a:xfrm>
          <a:prstGeom prst="rect">
            <a:avLst/>
          </a:prstGeom>
          <a:noFill/>
        </p:spPr>
        <p:txBody>
          <a:bodyPr wrap="none" rtlCol="0">
            <a:spAutoFit/>
            <a:scene3d>
              <a:camera prst="orthographicFront"/>
              <a:lightRig rig="threePt" dir="t"/>
            </a:scene3d>
            <a:sp3d extrusionH="57150">
              <a:bevelT w="38100" h="38100"/>
            </a:sp3d>
          </a:bodyPr>
          <a:lstStyle/>
          <a:p>
            <a:r>
              <a:rPr lang="zh-CN" altLang="en-US" sz="2800" dirty="0">
                <a:ln w="0"/>
                <a:solidFill>
                  <a:schemeClr val="accent1"/>
                </a:solidFill>
                <a:effectLst>
                  <a:outerShdw blurRad="38100" dist="25400" dir="5400000" algn="ctr" rotWithShape="0">
                    <a:srgbClr val="6E747A">
                      <a:alpha val="43000"/>
                    </a:srgbClr>
                  </a:outerShdw>
                </a:effectLst>
              </a:rPr>
              <a:t>利率增加，边际成本增加，最优轮伐期缩短</a:t>
            </a:r>
          </a:p>
        </p:txBody>
      </p:sp>
      <p:sp>
        <p:nvSpPr>
          <p:cNvPr id="8" name="文本框 7"/>
          <p:cNvSpPr txBox="1"/>
          <p:nvPr/>
        </p:nvSpPr>
        <p:spPr>
          <a:xfrm>
            <a:off x="394196" y="4480782"/>
            <a:ext cx="7703057" cy="923330"/>
          </a:xfrm>
          <a:prstGeom prst="rect">
            <a:avLst/>
          </a:prstGeom>
          <a:noFill/>
        </p:spPr>
        <p:txBody>
          <a:bodyPr wrap="square" rtlCol="0">
            <a:spAutoFit/>
          </a:bodyPr>
          <a:lstStyle/>
          <a:p>
            <a:r>
              <a:rPr lang="zh-CN" altLang="en-US" dirty="0"/>
              <a:t>在没有贴现率的极端情况下</a:t>
            </a:r>
            <a:r>
              <a:rPr lang="en-US" altLang="zh-CN" dirty="0"/>
              <a:t>,</a:t>
            </a:r>
            <a:r>
              <a:rPr lang="zh-CN" altLang="en-US" dirty="0"/>
              <a:t>最佳轮伐期就是“林租”</a:t>
            </a:r>
            <a:r>
              <a:rPr lang="en-US" altLang="zh-CN" dirty="0"/>
              <a:t>S</a:t>
            </a:r>
            <a:r>
              <a:rPr lang="zh-CN" altLang="en-US" dirty="0"/>
              <a:t>（</a:t>
            </a:r>
            <a:r>
              <a:rPr lang="en-US" altLang="zh-CN" dirty="0"/>
              <a:t>t</a:t>
            </a:r>
            <a:r>
              <a:rPr lang="zh-CN" altLang="en-US" dirty="0"/>
              <a:t>）</a:t>
            </a:r>
            <a:r>
              <a:rPr lang="en-US" altLang="zh-CN" dirty="0"/>
              <a:t>/t</a:t>
            </a:r>
            <a:r>
              <a:rPr lang="zh-CN" altLang="en-US" dirty="0"/>
              <a:t>最大的年龄</a:t>
            </a:r>
            <a:endParaRPr lang="en-US" altLang="zh-CN" dirty="0"/>
          </a:p>
          <a:p>
            <a:r>
              <a:rPr lang="zh-CN" altLang="en-US" dirty="0"/>
              <a:t>此时</a:t>
            </a:r>
            <a:r>
              <a:rPr lang="en-US" altLang="zh-CN" dirty="0" err="1"/>
              <a:t>dS</a:t>
            </a:r>
            <a:r>
              <a:rPr lang="zh-CN" altLang="en-US" dirty="0"/>
              <a:t>（</a:t>
            </a:r>
            <a:r>
              <a:rPr lang="en-US" altLang="zh-CN" dirty="0"/>
              <a:t>t</a:t>
            </a:r>
            <a:r>
              <a:rPr lang="zh-CN" altLang="en-US" dirty="0"/>
              <a:t>）</a:t>
            </a:r>
            <a:r>
              <a:rPr lang="en-US" altLang="zh-CN" dirty="0"/>
              <a:t>/d</a:t>
            </a:r>
            <a:r>
              <a:rPr lang="zh-CN" altLang="en-US" dirty="0"/>
              <a:t>（</a:t>
            </a:r>
            <a:r>
              <a:rPr lang="en-US" altLang="zh-CN" dirty="0"/>
              <a:t>t</a:t>
            </a:r>
            <a:r>
              <a:rPr lang="zh-CN" altLang="en-US" dirty="0"/>
              <a:t>）</a:t>
            </a:r>
            <a:r>
              <a:rPr lang="en-US" altLang="zh-CN" dirty="0"/>
              <a:t>= S</a:t>
            </a:r>
            <a:r>
              <a:rPr lang="zh-CN" altLang="en-US" dirty="0"/>
              <a:t>（</a:t>
            </a:r>
            <a:r>
              <a:rPr lang="en-US" altLang="zh-CN" dirty="0"/>
              <a:t>t</a:t>
            </a:r>
            <a:r>
              <a:rPr lang="zh-CN" altLang="en-US" dirty="0"/>
              <a:t>）</a:t>
            </a:r>
            <a:r>
              <a:rPr lang="en-US" altLang="zh-CN" dirty="0"/>
              <a:t>/t</a:t>
            </a:r>
          </a:p>
          <a:p>
            <a:r>
              <a:rPr lang="zh-CN" altLang="en-US" dirty="0"/>
              <a:t>也即立木价值年平均增长量</a:t>
            </a:r>
            <a:r>
              <a:rPr lang="en-US" altLang="zh-CN" dirty="0"/>
              <a:t>=</a:t>
            </a:r>
            <a:r>
              <a:rPr lang="zh-CN" altLang="en-US" dirty="0"/>
              <a:t>立木价值的年增长量（立木价值对时间的导数）</a:t>
            </a:r>
          </a:p>
        </p:txBody>
      </p:sp>
    </p:spTree>
    <p:extLst>
      <p:ext uri="{BB962C8B-B14F-4D97-AF65-F5344CB8AC3E}">
        <p14:creationId xmlns:p14="http://schemas.microsoft.com/office/powerpoint/2010/main" val="31360322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fill="hold"/>
                                        <p:tgtEl>
                                          <p:spTgt spid="7"/>
                                        </p:tgtEl>
                                        <p:attrNameLst>
                                          <p:attrName>ppt_x</p:attrName>
                                        </p:attrNameLst>
                                      </p:cBhvr>
                                      <p:tavLst>
                                        <p:tav tm="0">
                                          <p:val>
                                            <p:strVal val="#ppt_x"/>
                                          </p:val>
                                        </p:tav>
                                        <p:tav tm="100000">
                                          <p:val>
                                            <p:strVal val="#ppt_x"/>
                                          </p:val>
                                        </p:tav>
                                      </p:tavLst>
                                    </p:anim>
                                    <p:anim calcmode="lin" valueType="num">
                                      <p:cBhvr additive="base">
                                        <p:cTn id="13"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2</a:t>
            </a:r>
            <a:r>
              <a:rPr lang="zh-CN" altLang="en-US" dirty="0"/>
              <a:t>、更新成本</a:t>
            </a:r>
          </a:p>
        </p:txBody>
      </p:sp>
      <p:sp>
        <p:nvSpPr>
          <p:cNvPr id="3" name="内容占位符 2"/>
          <p:cNvSpPr>
            <a:spLocks noGrp="1"/>
          </p:cNvSpPr>
          <p:nvPr>
            <p:ph idx="1"/>
          </p:nvPr>
        </p:nvSpPr>
        <p:spPr/>
        <p:txBody>
          <a:bodyPr/>
          <a:lstStyle/>
          <a:p>
            <a:r>
              <a:rPr lang="zh-CN" altLang="en-US" dirty="0"/>
              <a:t>从无更新成本到需要支付一定的更新成本</a:t>
            </a:r>
            <a:r>
              <a:rPr lang="en-US" altLang="zh-CN" dirty="0"/>
              <a:t>C</a:t>
            </a:r>
          </a:p>
          <a:p>
            <a:r>
              <a:rPr lang="zh-CN" altLang="en-US" dirty="0"/>
              <a:t>则立木价值的增长率会发生变化：从</a:t>
            </a:r>
            <a:r>
              <a:rPr lang="en-US" altLang="zh-CN" dirty="0"/>
              <a:t>ΔS/S(t)</a:t>
            </a:r>
            <a:r>
              <a:rPr lang="zh-CN" altLang="en-US" dirty="0"/>
              <a:t>变化为</a:t>
            </a:r>
            <a:r>
              <a:rPr lang="en-US" altLang="zh-CN" dirty="0"/>
              <a:t>ΔS/[S(t)-C]</a:t>
            </a:r>
          </a:p>
          <a:p>
            <a:r>
              <a:rPr lang="zh-CN" altLang="en-US" dirty="0"/>
              <a:t>价值增长曲线会向右移动，延长最佳轮伐期</a:t>
            </a:r>
            <a:endParaRPr lang="en-US" altLang="zh-CN" dirty="0"/>
          </a:p>
          <a:p>
            <a:pPr marL="0" indent="0">
              <a:buNone/>
            </a:pPr>
            <a:endParaRPr lang="zh-CN" altLang="en-US" dirty="0"/>
          </a:p>
        </p:txBody>
      </p:sp>
    </p:spTree>
    <p:extLst>
      <p:ext uri="{BB962C8B-B14F-4D97-AF65-F5344CB8AC3E}">
        <p14:creationId xmlns:p14="http://schemas.microsoft.com/office/powerpoint/2010/main" val="115613156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Freeform 1"/>
          <p:cNvSpPr>
            <a:spLocks/>
          </p:cNvSpPr>
          <p:nvPr/>
        </p:nvSpPr>
        <p:spPr bwMode="auto">
          <a:xfrm>
            <a:off x="3492500" y="2708275"/>
            <a:ext cx="2232025" cy="1581150"/>
          </a:xfrm>
          <a:custGeom>
            <a:avLst/>
            <a:gdLst>
              <a:gd name="T0" fmla="*/ 0 w 2483"/>
              <a:gd name="T1" fmla="*/ 0 h 2539"/>
              <a:gd name="T2" fmla="*/ 138192282 w 2483"/>
              <a:gd name="T3" fmla="*/ 312353411 h 2539"/>
              <a:gd name="T4" fmla="*/ 822689537 w 2483"/>
              <a:gd name="T5" fmla="*/ 705314335 h 2539"/>
              <a:gd name="T6" fmla="*/ 1384349009 w 2483"/>
              <a:gd name="T7" fmla="*/ 899469467 h 2539"/>
              <a:gd name="T8" fmla="*/ 2006619241 w 2483"/>
              <a:gd name="T9" fmla="*/ 983952323 h 2539"/>
              <a:gd name="T10" fmla="*/ 0 60000 65536"/>
              <a:gd name="T11" fmla="*/ 0 60000 65536"/>
              <a:gd name="T12" fmla="*/ 0 60000 65536"/>
              <a:gd name="T13" fmla="*/ 0 60000 65536"/>
              <a:gd name="T14" fmla="*/ 0 60000 65536"/>
              <a:gd name="T15" fmla="*/ 0 w 2483"/>
              <a:gd name="T16" fmla="*/ 0 h 2539"/>
              <a:gd name="T17" fmla="*/ 2483 w 2483"/>
              <a:gd name="T18" fmla="*/ 2539 h 2539"/>
            </a:gdLst>
            <a:ahLst/>
            <a:cxnLst>
              <a:cxn ang="T10">
                <a:pos x="T0" y="T1"/>
              </a:cxn>
              <a:cxn ang="T11">
                <a:pos x="T2" y="T3"/>
              </a:cxn>
              <a:cxn ang="T12">
                <a:pos x="T4" y="T5"/>
              </a:cxn>
              <a:cxn ang="T13">
                <a:pos x="T6" y="T7"/>
              </a:cxn>
              <a:cxn ang="T14">
                <a:pos x="T8" y="T9"/>
              </a:cxn>
            </a:cxnLst>
            <a:rect l="T15" t="T16" r="T17" b="T18"/>
            <a:pathLst>
              <a:path w="2483" h="2539">
                <a:moveTo>
                  <a:pt x="0" y="0"/>
                </a:moveTo>
                <a:cubicBezTo>
                  <a:pt x="0" y="251"/>
                  <a:pt x="1" y="503"/>
                  <a:pt x="171" y="806"/>
                </a:cubicBezTo>
                <a:cubicBezTo>
                  <a:pt x="341" y="1109"/>
                  <a:pt x="761" y="1567"/>
                  <a:pt x="1018" y="1820"/>
                </a:cubicBezTo>
                <a:cubicBezTo>
                  <a:pt x="1275" y="2073"/>
                  <a:pt x="1469" y="2201"/>
                  <a:pt x="1713" y="2321"/>
                </a:cubicBezTo>
                <a:cubicBezTo>
                  <a:pt x="1957" y="2441"/>
                  <a:pt x="2355" y="2503"/>
                  <a:pt x="2483" y="2539"/>
                </a:cubicBezTo>
              </a:path>
            </a:pathLst>
          </a:custGeom>
          <a:noFill/>
          <a:ln w="9525">
            <a:solidFill>
              <a:srgbClr val="000000"/>
            </a:solidFill>
            <a:round/>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a:p>
        </p:txBody>
      </p:sp>
      <p:sp>
        <p:nvSpPr>
          <p:cNvPr id="4" name="Text Box 2233"/>
          <p:cNvSpPr txBox="1">
            <a:spLocks noRot="1" noChangeAspect="1" noMove="1" noResize="1" noEditPoints="1" noAdjustHandles="1" noChangeArrowheads="1" noChangeShapeType="1" noTextEdit="1"/>
          </p:cNvSpPr>
          <p:nvPr/>
        </p:nvSpPr>
        <p:spPr bwMode="auto">
          <a:xfrm>
            <a:off x="4371799" y="2978283"/>
            <a:ext cx="3514901" cy="962853"/>
          </a:xfrm>
          <a:prstGeom prst="rect">
            <a:avLst/>
          </a:prstGeom>
          <a:blipFill rotWithShape="1">
            <a:blip r:embed="rId3" cstate="print">
              <a:extLst>
                <a:ext uri="{28A0092B-C50C-407E-A947-70E740481C1C}">
                  <a14:useLocalDpi xmlns:a14="http://schemas.microsoft.com/office/drawing/2010/main"/>
                </a:ext>
              </a:extLst>
            </a:blip>
            <a:stretch>
              <a:fillRect t="-3311" b="-1987"/>
            </a:stretch>
          </a:blipFill>
          <a:ln w="9525">
            <a:noFill/>
            <a:miter lim="800000"/>
            <a:headEnd/>
            <a:tailEnd/>
          </a:ln>
        </p:spPr>
        <p:txBody>
          <a:bodyPr/>
          <a:lstStyle/>
          <a:p>
            <a:pPr fontAlgn="auto">
              <a:spcBef>
                <a:spcPts val="0"/>
              </a:spcBef>
              <a:spcAft>
                <a:spcPts val="0"/>
              </a:spcAft>
              <a:defRPr/>
            </a:pPr>
            <a:r>
              <a:rPr lang="en-CA">
                <a:noFill/>
                <a:latin typeface="+mn-lt"/>
                <a:ea typeface="+mn-ea"/>
              </a:rPr>
              <a:t> </a:t>
            </a:r>
          </a:p>
        </p:txBody>
      </p:sp>
      <p:sp>
        <p:nvSpPr>
          <p:cNvPr id="32778" name="Text Box 2234"/>
          <p:cNvSpPr txBox="1">
            <a:spLocks noChangeArrowheads="1"/>
          </p:cNvSpPr>
          <p:nvPr/>
        </p:nvSpPr>
        <p:spPr bwMode="auto">
          <a:xfrm>
            <a:off x="5440034" y="5474644"/>
            <a:ext cx="2214989" cy="38816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bIns="0" anchor="b"/>
          <a:lstStyle>
            <a:lvl1pPr eaLnBrk="0" hangingPunct="0">
              <a:defRPr>
                <a:solidFill>
                  <a:schemeClr val="tx1"/>
                </a:solidFill>
                <a:latin typeface="Arial" charset="0"/>
                <a:ea typeface="宋体" charset="0"/>
              </a:defRPr>
            </a:lvl1pPr>
            <a:lvl2pPr marL="742950" indent="-285750" eaLnBrk="0" hangingPunct="0">
              <a:defRPr>
                <a:solidFill>
                  <a:schemeClr val="tx1"/>
                </a:solidFill>
                <a:latin typeface="Arial" charset="0"/>
                <a:ea typeface="宋体" charset="0"/>
              </a:defRPr>
            </a:lvl2pPr>
            <a:lvl3pPr marL="1143000" indent="-228600" eaLnBrk="0" hangingPunct="0">
              <a:defRPr>
                <a:solidFill>
                  <a:schemeClr val="tx1"/>
                </a:solidFill>
                <a:latin typeface="Arial" charset="0"/>
                <a:ea typeface="宋体" charset="0"/>
              </a:defRPr>
            </a:lvl3pPr>
            <a:lvl4pPr marL="1600200" indent="-228600" eaLnBrk="0" hangingPunct="0">
              <a:defRPr>
                <a:solidFill>
                  <a:schemeClr val="tx1"/>
                </a:solidFill>
                <a:latin typeface="Arial" charset="0"/>
                <a:ea typeface="宋体" charset="0"/>
              </a:defRPr>
            </a:lvl4pPr>
            <a:lvl5pPr marL="2057400" indent="-228600" eaLnBrk="0" hangingPunct="0">
              <a:defRPr>
                <a:solidFill>
                  <a:schemeClr val="tx1"/>
                </a:solidFill>
                <a:latin typeface="Arial" charset="0"/>
                <a:ea typeface="宋体" charset="0"/>
              </a:defRPr>
            </a:lvl5pPr>
            <a:lvl6pPr marL="2514600" indent="-228600" eaLnBrk="0" fontAlgn="base" hangingPunct="0">
              <a:spcBef>
                <a:spcPct val="0"/>
              </a:spcBef>
              <a:spcAft>
                <a:spcPct val="0"/>
              </a:spcAft>
              <a:defRPr>
                <a:solidFill>
                  <a:schemeClr val="tx1"/>
                </a:solidFill>
                <a:latin typeface="Arial" charset="0"/>
                <a:ea typeface="宋体" charset="0"/>
              </a:defRPr>
            </a:lvl6pPr>
            <a:lvl7pPr marL="2971800" indent="-228600" eaLnBrk="0" fontAlgn="base" hangingPunct="0">
              <a:spcBef>
                <a:spcPct val="0"/>
              </a:spcBef>
              <a:spcAft>
                <a:spcPct val="0"/>
              </a:spcAft>
              <a:defRPr>
                <a:solidFill>
                  <a:schemeClr val="tx1"/>
                </a:solidFill>
                <a:latin typeface="Arial" charset="0"/>
                <a:ea typeface="宋体" charset="0"/>
              </a:defRPr>
            </a:lvl7pPr>
            <a:lvl8pPr marL="3429000" indent="-228600" eaLnBrk="0" fontAlgn="base" hangingPunct="0">
              <a:spcBef>
                <a:spcPct val="0"/>
              </a:spcBef>
              <a:spcAft>
                <a:spcPct val="0"/>
              </a:spcAft>
              <a:defRPr>
                <a:solidFill>
                  <a:schemeClr val="tx1"/>
                </a:solidFill>
                <a:latin typeface="Arial" charset="0"/>
                <a:ea typeface="宋体" charset="0"/>
              </a:defRPr>
            </a:lvl8pPr>
            <a:lvl9pPr marL="3886200" indent="-228600" eaLnBrk="0" fontAlgn="base" hangingPunct="0">
              <a:spcBef>
                <a:spcPct val="0"/>
              </a:spcBef>
              <a:spcAft>
                <a:spcPct val="0"/>
              </a:spcAft>
              <a:defRPr>
                <a:solidFill>
                  <a:schemeClr val="tx1"/>
                </a:solidFill>
                <a:latin typeface="Arial" charset="0"/>
                <a:ea typeface="宋体" charset="0"/>
              </a:defRPr>
            </a:lvl9pPr>
          </a:lstStyle>
          <a:p>
            <a:pPr algn="ctr" eaLnBrk="1" hangingPunct="1"/>
            <a:r>
              <a:rPr lang="en-US" altLang="zh-CN">
                <a:latin typeface="Times New Roman" charset="0"/>
                <a:cs typeface="Times New Roman" charset="0"/>
              </a:rPr>
              <a:t>Rotation age (years)</a:t>
            </a:r>
            <a:endParaRPr lang="en-CA">
              <a:latin typeface="Times New Roman" charset="0"/>
              <a:cs typeface="Times New Roman" charset="0"/>
            </a:endParaRPr>
          </a:p>
        </p:txBody>
      </p:sp>
      <p:cxnSp>
        <p:nvCxnSpPr>
          <p:cNvPr id="32779" name="AutoShape 2235"/>
          <p:cNvCxnSpPr>
            <a:cxnSpLocks noChangeShapeType="1"/>
          </p:cNvCxnSpPr>
          <p:nvPr/>
        </p:nvCxnSpPr>
        <p:spPr bwMode="auto">
          <a:xfrm>
            <a:off x="2792711" y="4434157"/>
            <a:ext cx="3688416" cy="2016"/>
          </a:xfrm>
          <a:prstGeom prst="straightConnector1">
            <a:avLst/>
          </a:prstGeom>
          <a:noFill/>
          <a:ln w="6350">
            <a:solidFill>
              <a:srgbClr val="000000"/>
            </a:solidFill>
            <a:prstDash val="dash"/>
            <a:round/>
            <a:headEnd/>
            <a:tailEnd/>
          </a:ln>
          <a:extLst>
            <a:ext uri="{909E8E84-426E-40dd-AFC4-6F175D3DCCD1}">
              <a14:hiddenFill xmlns:a14="http://schemas.microsoft.com/office/drawing/2010/main" xmlns="">
                <a:noFill/>
              </a14:hiddenFill>
            </a:ext>
          </a:extLst>
        </p:spPr>
      </p:cxnSp>
      <p:cxnSp>
        <p:nvCxnSpPr>
          <p:cNvPr id="32780" name="AutoShape 2236"/>
          <p:cNvCxnSpPr>
            <a:cxnSpLocks noChangeShapeType="1"/>
          </p:cNvCxnSpPr>
          <p:nvPr/>
        </p:nvCxnSpPr>
        <p:spPr bwMode="auto">
          <a:xfrm>
            <a:off x="4638373" y="4451297"/>
            <a:ext cx="969" cy="987051"/>
          </a:xfrm>
          <a:prstGeom prst="straightConnector1">
            <a:avLst/>
          </a:prstGeom>
          <a:noFill/>
          <a:ln w="6350">
            <a:solidFill>
              <a:srgbClr val="000000"/>
            </a:solidFill>
            <a:prstDash val="dash"/>
            <a:round/>
            <a:headEnd/>
            <a:tailEnd/>
          </a:ln>
          <a:extLst>
            <a:ext uri="{909E8E84-426E-40dd-AFC4-6F175D3DCCD1}">
              <a14:hiddenFill xmlns:a14="http://schemas.microsoft.com/office/drawing/2010/main" xmlns="">
                <a:noFill/>
              </a14:hiddenFill>
            </a:ext>
          </a:extLst>
        </p:spPr>
      </p:cxnSp>
      <p:sp>
        <p:nvSpPr>
          <p:cNvPr id="32781" name="Text Box 2237"/>
          <p:cNvSpPr txBox="1">
            <a:spLocks noChangeArrowheads="1"/>
          </p:cNvSpPr>
          <p:nvPr/>
        </p:nvSpPr>
        <p:spPr bwMode="auto">
          <a:xfrm>
            <a:off x="3855130" y="1447800"/>
            <a:ext cx="2331312" cy="68458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charset="0"/>
                <a:ea typeface="宋体" charset="0"/>
              </a:defRPr>
            </a:lvl1pPr>
            <a:lvl2pPr marL="742950" indent="-285750" eaLnBrk="0" hangingPunct="0">
              <a:defRPr>
                <a:solidFill>
                  <a:schemeClr val="tx1"/>
                </a:solidFill>
                <a:latin typeface="Arial" charset="0"/>
                <a:ea typeface="宋体" charset="0"/>
              </a:defRPr>
            </a:lvl2pPr>
            <a:lvl3pPr marL="1143000" indent="-228600" eaLnBrk="0" hangingPunct="0">
              <a:defRPr>
                <a:solidFill>
                  <a:schemeClr val="tx1"/>
                </a:solidFill>
                <a:latin typeface="Arial" charset="0"/>
                <a:ea typeface="宋体" charset="0"/>
              </a:defRPr>
            </a:lvl3pPr>
            <a:lvl4pPr marL="1600200" indent="-228600" eaLnBrk="0" hangingPunct="0">
              <a:defRPr>
                <a:solidFill>
                  <a:schemeClr val="tx1"/>
                </a:solidFill>
                <a:latin typeface="Arial" charset="0"/>
                <a:ea typeface="宋体" charset="0"/>
              </a:defRPr>
            </a:lvl4pPr>
            <a:lvl5pPr marL="2057400" indent="-228600" eaLnBrk="0" hangingPunct="0">
              <a:defRPr>
                <a:solidFill>
                  <a:schemeClr val="tx1"/>
                </a:solidFill>
                <a:latin typeface="Arial" charset="0"/>
                <a:ea typeface="宋体" charset="0"/>
              </a:defRPr>
            </a:lvl5pPr>
            <a:lvl6pPr marL="2514600" indent="-228600" eaLnBrk="0" fontAlgn="base" hangingPunct="0">
              <a:spcBef>
                <a:spcPct val="0"/>
              </a:spcBef>
              <a:spcAft>
                <a:spcPct val="0"/>
              </a:spcAft>
              <a:defRPr>
                <a:solidFill>
                  <a:schemeClr val="tx1"/>
                </a:solidFill>
                <a:latin typeface="Arial" charset="0"/>
                <a:ea typeface="宋体" charset="0"/>
              </a:defRPr>
            </a:lvl6pPr>
            <a:lvl7pPr marL="2971800" indent="-228600" eaLnBrk="0" fontAlgn="base" hangingPunct="0">
              <a:spcBef>
                <a:spcPct val="0"/>
              </a:spcBef>
              <a:spcAft>
                <a:spcPct val="0"/>
              </a:spcAft>
              <a:defRPr>
                <a:solidFill>
                  <a:schemeClr val="tx1"/>
                </a:solidFill>
                <a:latin typeface="Arial" charset="0"/>
                <a:ea typeface="宋体" charset="0"/>
              </a:defRPr>
            </a:lvl7pPr>
            <a:lvl8pPr marL="3429000" indent="-228600" eaLnBrk="0" fontAlgn="base" hangingPunct="0">
              <a:spcBef>
                <a:spcPct val="0"/>
              </a:spcBef>
              <a:spcAft>
                <a:spcPct val="0"/>
              </a:spcAft>
              <a:defRPr>
                <a:solidFill>
                  <a:schemeClr val="tx1"/>
                </a:solidFill>
                <a:latin typeface="Arial" charset="0"/>
                <a:ea typeface="宋体" charset="0"/>
              </a:defRPr>
            </a:lvl8pPr>
            <a:lvl9pPr marL="3886200" indent="-228600" eaLnBrk="0" fontAlgn="base" hangingPunct="0">
              <a:spcBef>
                <a:spcPct val="0"/>
              </a:spcBef>
              <a:spcAft>
                <a:spcPct val="0"/>
              </a:spcAft>
              <a:defRPr>
                <a:solidFill>
                  <a:schemeClr val="tx1"/>
                </a:solidFill>
                <a:latin typeface="Arial" charset="0"/>
                <a:ea typeface="宋体" charset="0"/>
              </a:defRPr>
            </a:lvl9pPr>
          </a:lstStyle>
          <a:p>
            <a:pPr algn="ctr" eaLnBrk="1" hangingPunct="1"/>
            <a:r>
              <a:rPr lang="en-US" altLang="zh-CN" dirty="0">
                <a:latin typeface="Times New Roman" charset="0"/>
                <a:cs typeface="Times New Roman" charset="0"/>
              </a:rPr>
              <a:t>Incremental growth in value </a:t>
            </a:r>
            <a:r>
              <a:rPr lang="en-US" altLang="zh-CN" dirty="0">
                <a:latin typeface="Times New Roman" charset="0"/>
                <a:cs typeface="Times New Roman" charset="0"/>
                <a:sym typeface="Symbol" charset="0"/>
              </a:rPr>
              <a:t></a:t>
            </a:r>
            <a:r>
              <a:rPr lang="en-US" altLang="zh-CN" i="1" dirty="0">
                <a:latin typeface="Times New Roman" charset="0"/>
                <a:cs typeface="Times New Roman" charset="0"/>
              </a:rPr>
              <a:t>S</a:t>
            </a:r>
            <a:r>
              <a:rPr lang="en-US" altLang="zh-CN" dirty="0">
                <a:latin typeface="Times New Roman" charset="0"/>
                <a:cs typeface="Times New Roman" charset="0"/>
              </a:rPr>
              <a:t>/</a:t>
            </a:r>
            <a:r>
              <a:rPr lang="en-US" altLang="zh-CN" i="1" dirty="0">
                <a:latin typeface="Times New Roman" charset="0"/>
                <a:cs typeface="Times New Roman" charset="0"/>
              </a:rPr>
              <a:t>S</a:t>
            </a:r>
            <a:r>
              <a:rPr lang="en-US" altLang="zh-CN" dirty="0">
                <a:latin typeface="Times New Roman" charset="0"/>
                <a:cs typeface="Times New Roman" charset="0"/>
              </a:rPr>
              <a:t>(</a:t>
            </a:r>
            <a:r>
              <a:rPr lang="en-US" altLang="zh-CN" i="1" dirty="0">
                <a:latin typeface="Times New Roman" charset="0"/>
                <a:cs typeface="Times New Roman" charset="0"/>
              </a:rPr>
              <a:t>t</a:t>
            </a:r>
            <a:r>
              <a:rPr lang="en-US" altLang="zh-CN" dirty="0">
                <a:latin typeface="Times New Roman" charset="0"/>
                <a:cs typeface="Times New Roman" charset="0"/>
              </a:rPr>
              <a:t>)</a:t>
            </a:r>
            <a:endParaRPr lang="en-CA" dirty="0">
              <a:latin typeface="Times New Roman" charset="0"/>
              <a:cs typeface="Times New Roman" charset="0"/>
            </a:endParaRPr>
          </a:p>
        </p:txBody>
      </p:sp>
      <p:sp>
        <p:nvSpPr>
          <p:cNvPr id="32782" name="Text Box 2238"/>
          <p:cNvSpPr txBox="1">
            <a:spLocks noChangeArrowheads="1"/>
          </p:cNvSpPr>
          <p:nvPr/>
        </p:nvSpPr>
        <p:spPr bwMode="auto">
          <a:xfrm>
            <a:off x="1187450" y="1653478"/>
            <a:ext cx="1605261" cy="93059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charset="0"/>
                <a:ea typeface="宋体" charset="0"/>
              </a:defRPr>
            </a:lvl1pPr>
            <a:lvl2pPr marL="742950" indent="-285750" eaLnBrk="0" hangingPunct="0">
              <a:defRPr>
                <a:solidFill>
                  <a:schemeClr val="tx1"/>
                </a:solidFill>
                <a:latin typeface="Arial" charset="0"/>
                <a:ea typeface="宋体" charset="0"/>
              </a:defRPr>
            </a:lvl2pPr>
            <a:lvl3pPr marL="1143000" indent="-228600" eaLnBrk="0" hangingPunct="0">
              <a:defRPr>
                <a:solidFill>
                  <a:schemeClr val="tx1"/>
                </a:solidFill>
                <a:latin typeface="Arial" charset="0"/>
                <a:ea typeface="宋体" charset="0"/>
              </a:defRPr>
            </a:lvl3pPr>
            <a:lvl4pPr marL="1600200" indent="-228600" eaLnBrk="0" hangingPunct="0">
              <a:defRPr>
                <a:solidFill>
                  <a:schemeClr val="tx1"/>
                </a:solidFill>
                <a:latin typeface="Arial" charset="0"/>
                <a:ea typeface="宋体" charset="0"/>
              </a:defRPr>
            </a:lvl4pPr>
            <a:lvl5pPr marL="2057400" indent="-228600" eaLnBrk="0" hangingPunct="0">
              <a:defRPr>
                <a:solidFill>
                  <a:schemeClr val="tx1"/>
                </a:solidFill>
                <a:latin typeface="Arial" charset="0"/>
                <a:ea typeface="宋体" charset="0"/>
              </a:defRPr>
            </a:lvl5pPr>
            <a:lvl6pPr marL="2514600" indent="-228600" eaLnBrk="0" fontAlgn="base" hangingPunct="0">
              <a:spcBef>
                <a:spcPct val="0"/>
              </a:spcBef>
              <a:spcAft>
                <a:spcPct val="0"/>
              </a:spcAft>
              <a:defRPr>
                <a:solidFill>
                  <a:schemeClr val="tx1"/>
                </a:solidFill>
                <a:latin typeface="Arial" charset="0"/>
                <a:ea typeface="宋体" charset="0"/>
              </a:defRPr>
            </a:lvl6pPr>
            <a:lvl7pPr marL="2971800" indent="-228600" eaLnBrk="0" fontAlgn="base" hangingPunct="0">
              <a:spcBef>
                <a:spcPct val="0"/>
              </a:spcBef>
              <a:spcAft>
                <a:spcPct val="0"/>
              </a:spcAft>
              <a:defRPr>
                <a:solidFill>
                  <a:schemeClr val="tx1"/>
                </a:solidFill>
                <a:latin typeface="Arial" charset="0"/>
                <a:ea typeface="宋体" charset="0"/>
              </a:defRPr>
            </a:lvl7pPr>
            <a:lvl8pPr marL="3429000" indent="-228600" eaLnBrk="0" fontAlgn="base" hangingPunct="0">
              <a:spcBef>
                <a:spcPct val="0"/>
              </a:spcBef>
              <a:spcAft>
                <a:spcPct val="0"/>
              </a:spcAft>
              <a:defRPr>
                <a:solidFill>
                  <a:schemeClr val="tx1"/>
                </a:solidFill>
                <a:latin typeface="Arial" charset="0"/>
                <a:ea typeface="宋体" charset="0"/>
              </a:defRPr>
            </a:lvl8pPr>
            <a:lvl9pPr marL="3886200" indent="-228600" eaLnBrk="0" fontAlgn="base" hangingPunct="0">
              <a:spcBef>
                <a:spcPct val="0"/>
              </a:spcBef>
              <a:spcAft>
                <a:spcPct val="0"/>
              </a:spcAft>
              <a:defRPr>
                <a:solidFill>
                  <a:schemeClr val="tx1"/>
                </a:solidFill>
                <a:latin typeface="Arial" charset="0"/>
                <a:ea typeface="宋体" charset="0"/>
              </a:defRPr>
            </a:lvl9pPr>
          </a:lstStyle>
          <a:p>
            <a:pPr algn="ctr" eaLnBrk="1" hangingPunct="1"/>
            <a:r>
              <a:rPr lang="en-US" altLang="zh-CN">
                <a:latin typeface="Times New Roman" charset="0"/>
                <a:cs typeface="Times New Roman" charset="0"/>
              </a:rPr>
              <a:t>Annual costs and returns ($)</a:t>
            </a:r>
            <a:endParaRPr lang="en-CA">
              <a:latin typeface="Times New Roman" charset="0"/>
              <a:cs typeface="Times New Roman" charset="0"/>
            </a:endParaRPr>
          </a:p>
        </p:txBody>
      </p:sp>
      <p:sp>
        <p:nvSpPr>
          <p:cNvPr id="32783" name="Text Box 2239"/>
          <p:cNvSpPr txBox="1">
            <a:spLocks noChangeArrowheads="1"/>
          </p:cNvSpPr>
          <p:nvPr/>
        </p:nvSpPr>
        <p:spPr bwMode="auto">
          <a:xfrm>
            <a:off x="4486184" y="5474644"/>
            <a:ext cx="585494" cy="40228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charset="0"/>
                <a:ea typeface="宋体" charset="0"/>
              </a:defRPr>
            </a:lvl1pPr>
            <a:lvl2pPr marL="742950" indent="-285750" eaLnBrk="0" hangingPunct="0">
              <a:defRPr>
                <a:solidFill>
                  <a:schemeClr val="tx1"/>
                </a:solidFill>
                <a:latin typeface="Arial" charset="0"/>
                <a:ea typeface="宋体" charset="0"/>
              </a:defRPr>
            </a:lvl2pPr>
            <a:lvl3pPr marL="1143000" indent="-228600" eaLnBrk="0" hangingPunct="0">
              <a:defRPr>
                <a:solidFill>
                  <a:schemeClr val="tx1"/>
                </a:solidFill>
                <a:latin typeface="Arial" charset="0"/>
                <a:ea typeface="宋体" charset="0"/>
              </a:defRPr>
            </a:lvl3pPr>
            <a:lvl4pPr marL="1600200" indent="-228600" eaLnBrk="0" hangingPunct="0">
              <a:defRPr>
                <a:solidFill>
                  <a:schemeClr val="tx1"/>
                </a:solidFill>
                <a:latin typeface="Arial" charset="0"/>
                <a:ea typeface="宋体" charset="0"/>
              </a:defRPr>
            </a:lvl4pPr>
            <a:lvl5pPr marL="2057400" indent="-228600" eaLnBrk="0" hangingPunct="0">
              <a:defRPr>
                <a:solidFill>
                  <a:schemeClr val="tx1"/>
                </a:solidFill>
                <a:latin typeface="Arial" charset="0"/>
                <a:ea typeface="宋体" charset="0"/>
              </a:defRPr>
            </a:lvl5pPr>
            <a:lvl6pPr marL="2514600" indent="-228600" eaLnBrk="0" fontAlgn="base" hangingPunct="0">
              <a:spcBef>
                <a:spcPct val="0"/>
              </a:spcBef>
              <a:spcAft>
                <a:spcPct val="0"/>
              </a:spcAft>
              <a:defRPr>
                <a:solidFill>
                  <a:schemeClr val="tx1"/>
                </a:solidFill>
                <a:latin typeface="Arial" charset="0"/>
                <a:ea typeface="宋体" charset="0"/>
              </a:defRPr>
            </a:lvl6pPr>
            <a:lvl7pPr marL="2971800" indent="-228600" eaLnBrk="0" fontAlgn="base" hangingPunct="0">
              <a:spcBef>
                <a:spcPct val="0"/>
              </a:spcBef>
              <a:spcAft>
                <a:spcPct val="0"/>
              </a:spcAft>
              <a:defRPr>
                <a:solidFill>
                  <a:schemeClr val="tx1"/>
                </a:solidFill>
                <a:latin typeface="Arial" charset="0"/>
                <a:ea typeface="宋体" charset="0"/>
              </a:defRPr>
            </a:lvl7pPr>
            <a:lvl8pPr marL="3429000" indent="-228600" eaLnBrk="0" fontAlgn="base" hangingPunct="0">
              <a:spcBef>
                <a:spcPct val="0"/>
              </a:spcBef>
              <a:spcAft>
                <a:spcPct val="0"/>
              </a:spcAft>
              <a:defRPr>
                <a:solidFill>
                  <a:schemeClr val="tx1"/>
                </a:solidFill>
                <a:latin typeface="Arial" charset="0"/>
                <a:ea typeface="宋体" charset="0"/>
              </a:defRPr>
            </a:lvl8pPr>
            <a:lvl9pPr marL="3886200" indent="-228600" eaLnBrk="0" fontAlgn="base" hangingPunct="0">
              <a:spcBef>
                <a:spcPct val="0"/>
              </a:spcBef>
              <a:spcAft>
                <a:spcPct val="0"/>
              </a:spcAft>
              <a:defRPr>
                <a:solidFill>
                  <a:schemeClr val="tx1"/>
                </a:solidFill>
                <a:latin typeface="Arial" charset="0"/>
                <a:ea typeface="宋体" charset="0"/>
              </a:defRPr>
            </a:lvl9pPr>
          </a:lstStyle>
          <a:p>
            <a:pPr eaLnBrk="1" hangingPunct="1"/>
            <a:r>
              <a:rPr lang="en-US" altLang="zh-CN" i="1">
                <a:latin typeface="Times New Roman" charset="0"/>
                <a:cs typeface="Times New Roman" charset="0"/>
              </a:rPr>
              <a:t>t</a:t>
            </a:r>
            <a:r>
              <a:rPr lang="en-US" altLang="zh-CN" baseline="30000">
                <a:latin typeface="Times New Roman" charset="0"/>
                <a:cs typeface="Times New Roman" charset="0"/>
              </a:rPr>
              <a:t>*</a:t>
            </a:r>
            <a:endParaRPr lang="en-CA">
              <a:latin typeface="Times New Roman" charset="0"/>
              <a:cs typeface="Times New Roman" charset="0"/>
            </a:endParaRPr>
          </a:p>
        </p:txBody>
      </p:sp>
      <p:cxnSp>
        <p:nvCxnSpPr>
          <p:cNvPr id="32784" name="AutoShape 2240"/>
          <p:cNvCxnSpPr>
            <a:cxnSpLocks noChangeShapeType="1"/>
          </p:cNvCxnSpPr>
          <p:nvPr/>
        </p:nvCxnSpPr>
        <p:spPr bwMode="auto">
          <a:xfrm>
            <a:off x="2792711" y="1651461"/>
            <a:ext cx="10663" cy="3774788"/>
          </a:xfrm>
          <a:prstGeom prst="straightConnector1">
            <a:avLst/>
          </a:prstGeom>
          <a:noFill/>
          <a:ln w="19050">
            <a:solidFill>
              <a:srgbClr val="000000"/>
            </a:solidFill>
            <a:round/>
            <a:headEnd/>
            <a:tailEnd/>
          </a:ln>
          <a:extLst>
            <a:ext uri="{909E8E84-426E-40dd-AFC4-6F175D3DCCD1}">
              <a14:hiddenFill xmlns:a14="http://schemas.microsoft.com/office/drawing/2010/main" xmlns="">
                <a:noFill/>
              </a14:hiddenFill>
            </a:ext>
          </a:extLst>
        </p:spPr>
      </p:cxnSp>
      <p:cxnSp>
        <p:nvCxnSpPr>
          <p:cNvPr id="32785" name="AutoShape 2241"/>
          <p:cNvCxnSpPr>
            <a:cxnSpLocks noChangeShapeType="1"/>
          </p:cNvCxnSpPr>
          <p:nvPr/>
        </p:nvCxnSpPr>
        <p:spPr bwMode="auto">
          <a:xfrm>
            <a:off x="2810159" y="5425241"/>
            <a:ext cx="4660685" cy="1008"/>
          </a:xfrm>
          <a:prstGeom prst="straightConnector1">
            <a:avLst/>
          </a:prstGeom>
          <a:noFill/>
          <a:ln w="9525">
            <a:solidFill>
              <a:srgbClr val="000000"/>
            </a:solidFill>
            <a:round/>
            <a:headEnd/>
            <a:tailEnd/>
          </a:ln>
          <a:extLst>
            <a:ext uri="{909E8E84-426E-40dd-AFC4-6F175D3DCCD1}">
              <a14:hiddenFill xmlns:a14="http://schemas.microsoft.com/office/drawing/2010/main" xmlns="">
                <a:noFill/>
              </a14:hiddenFill>
            </a:ext>
          </a:extLst>
        </p:spPr>
      </p:cxnSp>
      <p:sp>
        <p:nvSpPr>
          <p:cNvPr id="32786" name="Arc 2242"/>
          <p:cNvSpPr>
            <a:spLocks/>
          </p:cNvSpPr>
          <p:nvPr/>
        </p:nvSpPr>
        <p:spPr bwMode="auto">
          <a:xfrm rot="10069173">
            <a:off x="3990840" y="1650453"/>
            <a:ext cx="2161674" cy="3345285"/>
          </a:xfrm>
          <a:custGeom>
            <a:avLst/>
            <a:gdLst>
              <a:gd name="T0" fmla="*/ 129 w 21600"/>
              <a:gd name="T1" fmla="*/ 0 h 25183"/>
              <a:gd name="T2" fmla="*/ 217 w 21600"/>
              <a:gd name="T3" fmla="*/ 437 h 25183"/>
              <a:gd name="T4" fmla="*/ 0 w 21600"/>
              <a:gd name="T5" fmla="*/ 311 h 25183"/>
              <a:gd name="T6" fmla="*/ 0 60000 65536"/>
              <a:gd name="T7" fmla="*/ 0 60000 65536"/>
              <a:gd name="T8" fmla="*/ 0 60000 65536"/>
              <a:gd name="T9" fmla="*/ 0 w 21600"/>
              <a:gd name="T10" fmla="*/ 0 h 25183"/>
              <a:gd name="T11" fmla="*/ 21600 w 21600"/>
              <a:gd name="T12" fmla="*/ 25183 h 25183"/>
            </a:gdLst>
            <a:ahLst/>
            <a:cxnLst>
              <a:cxn ang="T6">
                <a:pos x="T0" y="T1"/>
              </a:cxn>
              <a:cxn ang="T7">
                <a:pos x="T2" y="T3"/>
              </a:cxn>
              <a:cxn ang="T8">
                <a:pos x="T4" y="T5"/>
              </a:cxn>
            </a:cxnLst>
            <a:rect l="T9" t="T10" r="T11" b="T12"/>
            <a:pathLst>
              <a:path w="21600" h="25183" fill="none" extrusionOk="0">
                <a:moveTo>
                  <a:pt x="12084" y="0"/>
                </a:moveTo>
                <a:cubicBezTo>
                  <a:pt x="18034" y="4016"/>
                  <a:pt x="21600" y="10725"/>
                  <a:pt x="21600" y="17903"/>
                </a:cubicBezTo>
                <a:cubicBezTo>
                  <a:pt x="21600" y="20384"/>
                  <a:pt x="21172" y="22846"/>
                  <a:pt x="20336" y="25183"/>
                </a:cubicBezTo>
              </a:path>
              <a:path w="21600" h="25183" stroke="0" extrusionOk="0">
                <a:moveTo>
                  <a:pt x="12084" y="0"/>
                </a:moveTo>
                <a:cubicBezTo>
                  <a:pt x="18034" y="4016"/>
                  <a:pt x="21600" y="10725"/>
                  <a:pt x="21600" y="17903"/>
                </a:cubicBezTo>
                <a:cubicBezTo>
                  <a:pt x="21600" y="20384"/>
                  <a:pt x="21172" y="22846"/>
                  <a:pt x="20336" y="25183"/>
                </a:cubicBezTo>
                <a:lnTo>
                  <a:pt x="0" y="17903"/>
                </a:lnTo>
                <a:lnTo>
                  <a:pt x="12084" y="0"/>
                </a:lnTo>
                <a:close/>
              </a:path>
            </a:pathLst>
          </a:custGeom>
          <a:noFill/>
          <a:ln w="9525">
            <a:solidFill>
              <a:srgbClr val="000000"/>
            </a:solidFill>
            <a:round/>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a:p>
        </p:txBody>
      </p:sp>
      <p:sp>
        <p:nvSpPr>
          <p:cNvPr id="32787" name="Text Box 2243"/>
          <p:cNvSpPr txBox="1">
            <a:spLocks noChangeArrowheads="1"/>
          </p:cNvSpPr>
          <p:nvPr/>
        </p:nvSpPr>
        <p:spPr bwMode="auto">
          <a:xfrm>
            <a:off x="2373947" y="4257718"/>
            <a:ext cx="279176" cy="47184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charset="0"/>
                <a:ea typeface="宋体" charset="0"/>
              </a:defRPr>
            </a:lvl1pPr>
            <a:lvl2pPr marL="742950" indent="-285750" eaLnBrk="0" hangingPunct="0">
              <a:defRPr>
                <a:solidFill>
                  <a:schemeClr val="tx1"/>
                </a:solidFill>
                <a:latin typeface="Arial" charset="0"/>
                <a:ea typeface="宋体" charset="0"/>
              </a:defRPr>
            </a:lvl2pPr>
            <a:lvl3pPr marL="1143000" indent="-228600" eaLnBrk="0" hangingPunct="0">
              <a:defRPr>
                <a:solidFill>
                  <a:schemeClr val="tx1"/>
                </a:solidFill>
                <a:latin typeface="Arial" charset="0"/>
                <a:ea typeface="宋体" charset="0"/>
              </a:defRPr>
            </a:lvl3pPr>
            <a:lvl4pPr marL="1600200" indent="-228600" eaLnBrk="0" hangingPunct="0">
              <a:defRPr>
                <a:solidFill>
                  <a:schemeClr val="tx1"/>
                </a:solidFill>
                <a:latin typeface="Arial" charset="0"/>
                <a:ea typeface="宋体" charset="0"/>
              </a:defRPr>
            </a:lvl4pPr>
            <a:lvl5pPr marL="2057400" indent="-228600" eaLnBrk="0" hangingPunct="0">
              <a:defRPr>
                <a:solidFill>
                  <a:schemeClr val="tx1"/>
                </a:solidFill>
                <a:latin typeface="Arial" charset="0"/>
                <a:ea typeface="宋体" charset="0"/>
              </a:defRPr>
            </a:lvl5pPr>
            <a:lvl6pPr marL="2514600" indent="-228600" eaLnBrk="0" fontAlgn="base" hangingPunct="0">
              <a:spcBef>
                <a:spcPct val="0"/>
              </a:spcBef>
              <a:spcAft>
                <a:spcPct val="0"/>
              </a:spcAft>
              <a:defRPr>
                <a:solidFill>
                  <a:schemeClr val="tx1"/>
                </a:solidFill>
                <a:latin typeface="Arial" charset="0"/>
                <a:ea typeface="宋体" charset="0"/>
              </a:defRPr>
            </a:lvl6pPr>
            <a:lvl7pPr marL="2971800" indent="-228600" eaLnBrk="0" fontAlgn="base" hangingPunct="0">
              <a:spcBef>
                <a:spcPct val="0"/>
              </a:spcBef>
              <a:spcAft>
                <a:spcPct val="0"/>
              </a:spcAft>
              <a:defRPr>
                <a:solidFill>
                  <a:schemeClr val="tx1"/>
                </a:solidFill>
                <a:latin typeface="Arial" charset="0"/>
                <a:ea typeface="宋体" charset="0"/>
              </a:defRPr>
            </a:lvl7pPr>
            <a:lvl8pPr marL="3429000" indent="-228600" eaLnBrk="0" fontAlgn="base" hangingPunct="0">
              <a:spcBef>
                <a:spcPct val="0"/>
              </a:spcBef>
              <a:spcAft>
                <a:spcPct val="0"/>
              </a:spcAft>
              <a:defRPr>
                <a:solidFill>
                  <a:schemeClr val="tx1"/>
                </a:solidFill>
                <a:latin typeface="Arial" charset="0"/>
                <a:ea typeface="宋体" charset="0"/>
              </a:defRPr>
            </a:lvl8pPr>
            <a:lvl9pPr marL="3886200" indent="-228600" eaLnBrk="0" fontAlgn="base" hangingPunct="0">
              <a:spcBef>
                <a:spcPct val="0"/>
              </a:spcBef>
              <a:spcAft>
                <a:spcPct val="0"/>
              </a:spcAft>
              <a:defRPr>
                <a:solidFill>
                  <a:schemeClr val="tx1"/>
                </a:solidFill>
                <a:latin typeface="Arial" charset="0"/>
                <a:ea typeface="宋体" charset="0"/>
              </a:defRPr>
            </a:lvl9pPr>
          </a:lstStyle>
          <a:p>
            <a:pPr eaLnBrk="1" hangingPunct="1"/>
            <a:r>
              <a:rPr lang="en-US" altLang="zh-CN" i="1">
                <a:latin typeface="Times New Roman" charset="0"/>
                <a:cs typeface="Times New Roman" charset="0"/>
              </a:rPr>
              <a:t>i</a:t>
            </a:r>
            <a:endParaRPr lang="en-CA">
              <a:latin typeface="Times New Roman" charset="0"/>
              <a:cs typeface="Times New Roman" charset="0"/>
            </a:endParaRPr>
          </a:p>
        </p:txBody>
      </p:sp>
      <p:cxnSp>
        <p:nvCxnSpPr>
          <p:cNvPr id="32788" name="AutoShape 2244"/>
          <p:cNvCxnSpPr>
            <a:cxnSpLocks noChangeShapeType="1"/>
          </p:cNvCxnSpPr>
          <p:nvPr/>
        </p:nvCxnSpPr>
        <p:spPr bwMode="auto">
          <a:xfrm>
            <a:off x="4123643" y="3624554"/>
            <a:ext cx="0" cy="1849082"/>
          </a:xfrm>
          <a:prstGeom prst="straightConnector1">
            <a:avLst/>
          </a:prstGeom>
          <a:noFill/>
          <a:ln w="9525">
            <a:solidFill>
              <a:srgbClr val="000000"/>
            </a:solidFill>
            <a:prstDash val="lgDash"/>
            <a:round/>
            <a:headEnd/>
            <a:tailEnd/>
          </a:ln>
          <a:extLst>
            <a:ext uri="{909E8E84-426E-40dd-AFC4-6F175D3DCCD1}">
              <a14:hiddenFill xmlns:a14="http://schemas.microsoft.com/office/drawing/2010/main" xmlns="">
                <a:noFill/>
              </a14:hiddenFill>
            </a:ext>
          </a:extLst>
        </p:spPr>
      </p:cxnSp>
      <p:sp>
        <p:nvSpPr>
          <p:cNvPr id="32789" name="Text Box 2245"/>
          <p:cNvSpPr txBox="1">
            <a:spLocks noChangeArrowheads="1"/>
          </p:cNvSpPr>
          <p:nvPr/>
        </p:nvSpPr>
        <p:spPr bwMode="auto">
          <a:xfrm>
            <a:off x="3916200" y="5425241"/>
            <a:ext cx="569984" cy="43756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charset="0"/>
                <a:ea typeface="宋体" charset="0"/>
              </a:defRPr>
            </a:lvl1pPr>
            <a:lvl2pPr marL="742950" indent="-285750" eaLnBrk="0" hangingPunct="0">
              <a:defRPr>
                <a:solidFill>
                  <a:schemeClr val="tx1"/>
                </a:solidFill>
                <a:latin typeface="Arial" charset="0"/>
                <a:ea typeface="宋体" charset="0"/>
              </a:defRPr>
            </a:lvl2pPr>
            <a:lvl3pPr marL="1143000" indent="-228600" eaLnBrk="0" hangingPunct="0">
              <a:defRPr>
                <a:solidFill>
                  <a:schemeClr val="tx1"/>
                </a:solidFill>
                <a:latin typeface="Arial" charset="0"/>
                <a:ea typeface="宋体" charset="0"/>
              </a:defRPr>
            </a:lvl3pPr>
            <a:lvl4pPr marL="1600200" indent="-228600" eaLnBrk="0" hangingPunct="0">
              <a:defRPr>
                <a:solidFill>
                  <a:schemeClr val="tx1"/>
                </a:solidFill>
                <a:latin typeface="Arial" charset="0"/>
                <a:ea typeface="宋体" charset="0"/>
              </a:defRPr>
            </a:lvl4pPr>
            <a:lvl5pPr marL="2057400" indent="-228600" eaLnBrk="0" hangingPunct="0">
              <a:defRPr>
                <a:solidFill>
                  <a:schemeClr val="tx1"/>
                </a:solidFill>
                <a:latin typeface="Arial" charset="0"/>
                <a:ea typeface="宋体" charset="0"/>
              </a:defRPr>
            </a:lvl5pPr>
            <a:lvl6pPr marL="2514600" indent="-228600" eaLnBrk="0" fontAlgn="base" hangingPunct="0">
              <a:spcBef>
                <a:spcPct val="0"/>
              </a:spcBef>
              <a:spcAft>
                <a:spcPct val="0"/>
              </a:spcAft>
              <a:defRPr>
                <a:solidFill>
                  <a:schemeClr val="tx1"/>
                </a:solidFill>
                <a:latin typeface="Arial" charset="0"/>
                <a:ea typeface="宋体" charset="0"/>
              </a:defRPr>
            </a:lvl6pPr>
            <a:lvl7pPr marL="2971800" indent="-228600" eaLnBrk="0" fontAlgn="base" hangingPunct="0">
              <a:spcBef>
                <a:spcPct val="0"/>
              </a:spcBef>
              <a:spcAft>
                <a:spcPct val="0"/>
              </a:spcAft>
              <a:defRPr>
                <a:solidFill>
                  <a:schemeClr val="tx1"/>
                </a:solidFill>
                <a:latin typeface="Arial" charset="0"/>
                <a:ea typeface="宋体" charset="0"/>
              </a:defRPr>
            </a:lvl7pPr>
            <a:lvl8pPr marL="3429000" indent="-228600" eaLnBrk="0" fontAlgn="base" hangingPunct="0">
              <a:spcBef>
                <a:spcPct val="0"/>
              </a:spcBef>
              <a:spcAft>
                <a:spcPct val="0"/>
              </a:spcAft>
              <a:defRPr>
                <a:solidFill>
                  <a:schemeClr val="tx1"/>
                </a:solidFill>
                <a:latin typeface="Arial" charset="0"/>
                <a:ea typeface="宋体" charset="0"/>
              </a:defRPr>
            </a:lvl8pPr>
            <a:lvl9pPr marL="3886200" indent="-228600" eaLnBrk="0" fontAlgn="base" hangingPunct="0">
              <a:spcBef>
                <a:spcPct val="0"/>
              </a:spcBef>
              <a:spcAft>
                <a:spcPct val="0"/>
              </a:spcAft>
              <a:defRPr>
                <a:solidFill>
                  <a:schemeClr val="tx1"/>
                </a:solidFill>
                <a:latin typeface="Arial" charset="0"/>
                <a:ea typeface="宋体" charset="0"/>
              </a:defRPr>
            </a:lvl9pPr>
          </a:lstStyle>
          <a:p>
            <a:pPr eaLnBrk="1" hangingPunct="1"/>
            <a:r>
              <a:rPr lang="en-US" altLang="zh-CN" i="1" dirty="0" err="1">
                <a:latin typeface="Times New Roman" charset="0"/>
                <a:cs typeface="Times New Roman" charset="0"/>
              </a:rPr>
              <a:t>t</a:t>
            </a:r>
            <a:r>
              <a:rPr lang="en-US" altLang="zh-CN" i="1" baseline="-25000" dirty="0" err="1">
                <a:latin typeface="Times New Roman" charset="0"/>
                <a:cs typeface="Times New Roman" charset="0"/>
              </a:rPr>
              <a:t>F</a:t>
            </a:r>
            <a:endParaRPr lang="en-CA" dirty="0">
              <a:latin typeface="Times New Roman" charset="0"/>
              <a:cs typeface="Times New Roman" charset="0"/>
            </a:endParaRPr>
          </a:p>
        </p:txBody>
      </p:sp>
      <p:sp>
        <p:nvSpPr>
          <p:cNvPr id="32772" name="Rectangle 16"/>
          <p:cNvSpPr>
            <a:spLocks noChangeArrowheads="1"/>
          </p:cNvSpPr>
          <p:nvPr/>
        </p:nvSpPr>
        <p:spPr bwMode="auto">
          <a:xfrm>
            <a:off x="1331913" y="692150"/>
            <a:ext cx="6673850"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p>
            <a:r>
              <a:rPr lang="en-US" altLang="zh-CN" b="1">
                <a:solidFill>
                  <a:srgbClr val="000000"/>
                </a:solidFill>
                <a:latin typeface="Times New Roman" charset="0"/>
                <a:cs typeface="Times New Roman" charset="0"/>
              </a:rPr>
              <a:t>Figure 7.2: Optimal economic rotation for continuous forest crops</a:t>
            </a:r>
            <a:endParaRPr lang="en-CA" b="1">
              <a:latin typeface="Times New Roman" charset="0"/>
              <a:cs typeface="Times New Roman" charset="0"/>
            </a:endParaRPr>
          </a:p>
        </p:txBody>
      </p:sp>
      <p:sp>
        <p:nvSpPr>
          <p:cNvPr id="32773" name="Rectangle 24"/>
          <p:cNvSpPr>
            <a:spLocks noChangeArrowheads="1"/>
          </p:cNvSpPr>
          <p:nvPr/>
        </p:nvSpPr>
        <p:spPr bwMode="auto">
          <a:xfrm>
            <a:off x="0" y="45720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p>
            <a:endParaRPr lang="zh-CN" altLang="en-US"/>
          </a:p>
        </p:txBody>
      </p:sp>
      <p:cxnSp>
        <p:nvCxnSpPr>
          <p:cNvPr id="20" name="Straight Arrow Connector 19"/>
          <p:cNvCxnSpPr/>
          <p:nvPr/>
        </p:nvCxnSpPr>
        <p:spPr>
          <a:xfrm flipH="1">
            <a:off x="4056063" y="2133600"/>
            <a:ext cx="430212" cy="447675"/>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1" name="Straight Arrow Connector 20"/>
          <p:cNvCxnSpPr/>
          <p:nvPr/>
        </p:nvCxnSpPr>
        <p:spPr>
          <a:xfrm flipH="1">
            <a:off x="4867275" y="3498850"/>
            <a:ext cx="315913" cy="442913"/>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2" name="文本框 1"/>
          <p:cNvSpPr txBox="1"/>
          <p:nvPr/>
        </p:nvSpPr>
        <p:spPr>
          <a:xfrm>
            <a:off x="5183188" y="6114983"/>
            <a:ext cx="2066698" cy="646331"/>
          </a:xfrm>
          <a:prstGeom prst="rect">
            <a:avLst/>
          </a:prstGeom>
          <a:noFill/>
        </p:spPr>
        <p:txBody>
          <a:bodyPr wrap="square" rtlCol="0">
            <a:spAutoFit/>
          </a:bodyPr>
          <a:lstStyle/>
          <a:p>
            <a:r>
              <a:rPr lang="zh-CN" altLang="en-US" dirty="0"/>
              <a:t>一次性森林生长的最佳生长周期年龄</a:t>
            </a:r>
          </a:p>
        </p:txBody>
      </p:sp>
      <p:cxnSp>
        <p:nvCxnSpPr>
          <p:cNvPr id="5" name="直接箭头连接符 4"/>
          <p:cNvCxnSpPr>
            <a:stCxn id="2" idx="0"/>
          </p:cNvCxnSpPr>
          <p:nvPr/>
        </p:nvCxnSpPr>
        <p:spPr>
          <a:xfrm flipH="1" flipV="1">
            <a:off x="4668839" y="5685203"/>
            <a:ext cx="1547698" cy="4297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文本框 24"/>
          <p:cNvSpPr txBox="1"/>
          <p:nvPr/>
        </p:nvSpPr>
        <p:spPr>
          <a:xfrm>
            <a:off x="2501835" y="5950420"/>
            <a:ext cx="2333164" cy="646331"/>
          </a:xfrm>
          <a:prstGeom prst="rect">
            <a:avLst/>
          </a:prstGeom>
          <a:noFill/>
        </p:spPr>
        <p:txBody>
          <a:bodyPr wrap="square" rtlCol="0">
            <a:spAutoFit/>
          </a:bodyPr>
          <a:lstStyle/>
          <a:p>
            <a:r>
              <a:rPr lang="zh-CN" altLang="en-US" dirty="0"/>
              <a:t>连续培育森林生长的最佳生长周期年龄</a:t>
            </a:r>
          </a:p>
        </p:txBody>
      </p:sp>
      <p:cxnSp>
        <p:nvCxnSpPr>
          <p:cNvPr id="9" name="直接箭头连接符 8"/>
          <p:cNvCxnSpPr>
            <a:stCxn id="25" idx="0"/>
          </p:cNvCxnSpPr>
          <p:nvPr/>
        </p:nvCxnSpPr>
        <p:spPr>
          <a:xfrm flipV="1">
            <a:off x="3668417" y="5685203"/>
            <a:ext cx="387646" cy="2652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0" name="图片 9">
            <a:hlinkClick r:id="rId4" action="ppaction://hlinksldjump"/>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41065" y="4192414"/>
            <a:ext cx="1625397" cy="1625397"/>
          </a:xfrm>
          <a:prstGeom prst="rect">
            <a:avLst/>
          </a:prstGeom>
        </p:spPr>
      </p:pic>
      <p:sp>
        <p:nvSpPr>
          <p:cNvPr id="26" name="Arc 2242"/>
          <p:cNvSpPr>
            <a:spLocks/>
          </p:cNvSpPr>
          <p:nvPr/>
        </p:nvSpPr>
        <p:spPr bwMode="auto">
          <a:xfrm rot="10069173">
            <a:off x="4140566" y="1576958"/>
            <a:ext cx="2161674" cy="3345285"/>
          </a:xfrm>
          <a:custGeom>
            <a:avLst/>
            <a:gdLst>
              <a:gd name="T0" fmla="*/ 129 w 21600"/>
              <a:gd name="T1" fmla="*/ 0 h 25183"/>
              <a:gd name="T2" fmla="*/ 217 w 21600"/>
              <a:gd name="T3" fmla="*/ 437 h 25183"/>
              <a:gd name="T4" fmla="*/ 0 w 21600"/>
              <a:gd name="T5" fmla="*/ 311 h 25183"/>
              <a:gd name="T6" fmla="*/ 0 60000 65536"/>
              <a:gd name="T7" fmla="*/ 0 60000 65536"/>
              <a:gd name="T8" fmla="*/ 0 60000 65536"/>
              <a:gd name="T9" fmla="*/ 0 w 21600"/>
              <a:gd name="T10" fmla="*/ 0 h 25183"/>
              <a:gd name="T11" fmla="*/ 21600 w 21600"/>
              <a:gd name="T12" fmla="*/ 25183 h 25183"/>
            </a:gdLst>
            <a:ahLst/>
            <a:cxnLst>
              <a:cxn ang="T6">
                <a:pos x="T0" y="T1"/>
              </a:cxn>
              <a:cxn ang="T7">
                <a:pos x="T2" y="T3"/>
              </a:cxn>
              <a:cxn ang="T8">
                <a:pos x="T4" y="T5"/>
              </a:cxn>
            </a:cxnLst>
            <a:rect l="T9" t="T10" r="T11" b="T12"/>
            <a:pathLst>
              <a:path w="21600" h="25183" fill="none" extrusionOk="0">
                <a:moveTo>
                  <a:pt x="12084" y="0"/>
                </a:moveTo>
                <a:cubicBezTo>
                  <a:pt x="18034" y="4016"/>
                  <a:pt x="21600" y="10725"/>
                  <a:pt x="21600" y="17903"/>
                </a:cubicBezTo>
                <a:cubicBezTo>
                  <a:pt x="21600" y="20384"/>
                  <a:pt x="21172" y="22846"/>
                  <a:pt x="20336" y="25183"/>
                </a:cubicBezTo>
              </a:path>
              <a:path w="21600" h="25183" stroke="0" extrusionOk="0">
                <a:moveTo>
                  <a:pt x="12084" y="0"/>
                </a:moveTo>
                <a:cubicBezTo>
                  <a:pt x="18034" y="4016"/>
                  <a:pt x="21600" y="10725"/>
                  <a:pt x="21600" y="17903"/>
                </a:cubicBezTo>
                <a:cubicBezTo>
                  <a:pt x="21600" y="20384"/>
                  <a:pt x="21172" y="22846"/>
                  <a:pt x="20336" y="25183"/>
                </a:cubicBezTo>
                <a:lnTo>
                  <a:pt x="0" y="17903"/>
                </a:lnTo>
                <a:lnTo>
                  <a:pt x="12084" y="0"/>
                </a:lnTo>
                <a:close/>
              </a:path>
            </a:pathLst>
          </a:custGeom>
          <a:noFill/>
          <a:ln w="9525">
            <a:solidFill>
              <a:srgbClr val="C00000"/>
            </a:solidFill>
            <a:round/>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a:p>
        </p:txBody>
      </p:sp>
      <p:sp>
        <p:nvSpPr>
          <p:cNvPr id="27" name="Text Box 2237"/>
          <p:cNvSpPr txBox="1">
            <a:spLocks noChangeArrowheads="1"/>
          </p:cNvSpPr>
          <p:nvPr/>
        </p:nvSpPr>
        <p:spPr bwMode="auto">
          <a:xfrm>
            <a:off x="4263671" y="2008567"/>
            <a:ext cx="2331312" cy="68458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charset="0"/>
                <a:ea typeface="宋体" charset="0"/>
              </a:defRPr>
            </a:lvl1pPr>
            <a:lvl2pPr marL="742950" indent="-285750" eaLnBrk="0" hangingPunct="0">
              <a:defRPr>
                <a:solidFill>
                  <a:schemeClr val="tx1"/>
                </a:solidFill>
                <a:latin typeface="Arial" charset="0"/>
                <a:ea typeface="宋体" charset="0"/>
              </a:defRPr>
            </a:lvl2pPr>
            <a:lvl3pPr marL="1143000" indent="-228600" eaLnBrk="0" hangingPunct="0">
              <a:defRPr>
                <a:solidFill>
                  <a:schemeClr val="tx1"/>
                </a:solidFill>
                <a:latin typeface="Arial" charset="0"/>
                <a:ea typeface="宋体" charset="0"/>
              </a:defRPr>
            </a:lvl3pPr>
            <a:lvl4pPr marL="1600200" indent="-228600" eaLnBrk="0" hangingPunct="0">
              <a:defRPr>
                <a:solidFill>
                  <a:schemeClr val="tx1"/>
                </a:solidFill>
                <a:latin typeface="Arial" charset="0"/>
                <a:ea typeface="宋体" charset="0"/>
              </a:defRPr>
            </a:lvl4pPr>
            <a:lvl5pPr marL="2057400" indent="-228600" eaLnBrk="0" hangingPunct="0">
              <a:defRPr>
                <a:solidFill>
                  <a:schemeClr val="tx1"/>
                </a:solidFill>
                <a:latin typeface="Arial" charset="0"/>
                <a:ea typeface="宋体" charset="0"/>
              </a:defRPr>
            </a:lvl5pPr>
            <a:lvl6pPr marL="2514600" indent="-228600" eaLnBrk="0" fontAlgn="base" hangingPunct="0">
              <a:spcBef>
                <a:spcPct val="0"/>
              </a:spcBef>
              <a:spcAft>
                <a:spcPct val="0"/>
              </a:spcAft>
              <a:defRPr>
                <a:solidFill>
                  <a:schemeClr val="tx1"/>
                </a:solidFill>
                <a:latin typeface="Arial" charset="0"/>
                <a:ea typeface="宋体" charset="0"/>
              </a:defRPr>
            </a:lvl6pPr>
            <a:lvl7pPr marL="2971800" indent="-228600" eaLnBrk="0" fontAlgn="base" hangingPunct="0">
              <a:spcBef>
                <a:spcPct val="0"/>
              </a:spcBef>
              <a:spcAft>
                <a:spcPct val="0"/>
              </a:spcAft>
              <a:defRPr>
                <a:solidFill>
                  <a:schemeClr val="tx1"/>
                </a:solidFill>
                <a:latin typeface="Arial" charset="0"/>
                <a:ea typeface="宋体" charset="0"/>
              </a:defRPr>
            </a:lvl7pPr>
            <a:lvl8pPr marL="3429000" indent="-228600" eaLnBrk="0" fontAlgn="base" hangingPunct="0">
              <a:spcBef>
                <a:spcPct val="0"/>
              </a:spcBef>
              <a:spcAft>
                <a:spcPct val="0"/>
              </a:spcAft>
              <a:defRPr>
                <a:solidFill>
                  <a:schemeClr val="tx1"/>
                </a:solidFill>
                <a:latin typeface="Arial" charset="0"/>
                <a:ea typeface="宋体" charset="0"/>
              </a:defRPr>
            </a:lvl8pPr>
            <a:lvl9pPr marL="3886200" indent="-228600" eaLnBrk="0" fontAlgn="base" hangingPunct="0">
              <a:spcBef>
                <a:spcPct val="0"/>
              </a:spcBef>
              <a:spcAft>
                <a:spcPct val="0"/>
              </a:spcAft>
              <a:defRPr>
                <a:solidFill>
                  <a:schemeClr val="tx1"/>
                </a:solidFill>
                <a:latin typeface="Arial" charset="0"/>
                <a:ea typeface="宋体" charset="0"/>
              </a:defRPr>
            </a:lvl9pPr>
          </a:lstStyle>
          <a:p>
            <a:pPr algn="ctr" eaLnBrk="1" hangingPunct="1"/>
            <a:r>
              <a:rPr lang="en-US" altLang="zh-CN" dirty="0">
                <a:latin typeface="Times New Roman" charset="0"/>
                <a:cs typeface="Times New Roman" charset="0"/>
              </a:rPr>
              <a:t>Incremental growth in value </a:t>
            </a:r>
            <a:r>
              <a:rPr lang="en-US" altLang="zh-CN" dirty="0">
                <a:latin typeface="Times New Roman" charset="0"/>
                <a:cs typeface="Times New Roman" charset="0"/>
                <a:sym typeface="Symbol" charset="0"/>
              </a:rPr>
              <a:t></a:t>
            </a:r>
            <a:r>
              <a:rPr lang="en-US" altLang="zh-CN" i="1" dirty="0">
                <a:latin typeface="Times New Roman" charset="0"/>
                <a:cs typeface="Times New Roman" charset="0"/>
              </a:rPr>
              <a:t>S</a:t>
            </a:r>
            <a:r>
              <a:rPr lang="en-US" altLang="zh-CN" dirty="0">
                <a:latin typeface="Times New Roman" charset="0"/>
                <a:cs typeface="Times New Roman" charset="0"/>
              </a:rPr>
              <a:t>/[</a:t>
            </a:r>
            <a:r>
              <a:rPr lang="en-US" altLang="zh-CN" i="1" dirty="0">
                <a:latin typeface="Times New Roman" charset="0"/>
                <a:cs typeface="Times New Roman" charset="0"/>
              </a:rPr>
              <a:t>S</a:t>
            </a:r>
            <a:r>
              <a:rPr lang="en-US" altLang="zh-CN" dirty="0">
                <a:latin typeface="Times New Roman" charset="0"/>
                <a:cs typeface="Times New Roman" charset="0"/>
              </a:rPr>
              <a:t>(</a:t>
            </a:r>
            <a:r>
              <a:rPr lang="en-US" altLang="zh-CN" i="1" dirty="0">
                <a:latin typeface="Times New Roman" charset="0"/>
                <a:cs typeface="Times New Roman" charset="0"/>
              </a:rPr>
              <a:t>t</a:t>
            </a:r>
            <a:r>
              <a:rPr lang="en-US" altLang="zh-CN" dirty="0">
                <a:latin typeface="Times New Roman" charset="0"/>
                <a:cs typeface="Times New Roman" charset="0"/>
              </a:rPr>
              <a:t>)-C]</a:t>
            </a:r>
            <a:endParaRPr lang="en-CA" dirty="0">
              <a:latin typeface="Times New Roman" charset="0"/>
              <a:cs typeface="Times New Roman" charset="0"/>
            </a:endParaRPr>
          </a:p>
        </p:txBody>
      </p:sp>
      <p:cxnSp>
        <p:nvCxnSpPr>
          <p:cNvPr id="28" name="AutoShape 2244"/>
          <p:cNvCxnSpPr>
            <a:cxnSpLocks noChangeShapeType="1"/>
          </p:cNvCxnSpPr>
          <p:nvPr/>
        </p:nvCxnSpPr>
        <p:spPr bwMode="auto">
          <a:xfrm>
            <a:off x="4400695" y="3836955"/>
            <a:ext cx="0" cy="1601393"/>
          </a:xfrm>
          <a:prstGeom prst="straightConnector1">
            <a:avLst/>
          </a:prstGeom>
          <a:noFill/>
          <a:ln w="9525">
            <a:solidFill>
              <a:srgbClr val="000000"/>
            </a:solidFill>
            <a:prstDash val="lgDash"/>
            <a:round/>
            <a:headEnd/>
            <a:tailEnd/>
          </a:ln>
          <a:extLst>
            <a:ext uri="{909E8E84-426E-40dd-AFC4-6F175D3DCCD1}">
              <a14:hiddenFill xmlns:a14="http://schemas.microsoft.com/office/drawing/2010/main" xmlns="">
                <a:noFill/>
              </a14:hiddenFill>
            </a:ext>
          </a:extLst>
        </p:spPr>
      </p:cxnSp>
    </p:spTree>
    <p:extLst>
      <p:ext uri="{BB962C8B-B14F-4D97-AF65-F5344CB8AC3E}">
        <p14:creationId xmlns:p14="http://schemas.microsoft.com/office/powerpoint/2010/main" val="366832111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32786"/>
                                        </p:tgtEl>
                                        <p:attrNameLst>
                                          <p:attrName>style.visibility</p:attrName>
                                        </p:attrNameLst>
                                      </p:cBhvr>
                                      <p:to>
                                        <p:strVal val="hidden"/>
                                      </p:to>
                                    </p:set>
                                  </p:childTnLst>
                                </p:cTn>
                              </p:par>
                              <p:par>
                                <p:cTn id="7" presetID="10" presetClass="exit" presetSubtype="0" fill="hold" grpId="1" nodeType="withEffect">
                                  <p:stCondLst>
                                    <p:cond delay="0"/>
                                  </p:stCondLst>
                                  <p:childTnLst>
                                    <p:animEffect transition="out" filter="fade">
                                      <p:cBhvr>
                                        <p:cTn id="8" dur="500"/>
                                        <p:tgtEl>
                                          <p:spTgt spid="32781"/>
                                        </p:tgtEl>
                                      </p:cBhvr>
                                    </p:animEffect>
                                    <p:set>
                                      <p:cBhvr>
                                        <p:cTn id="9" dur="1" fill="hold">
                                          <p:stCondLst>
                                            <p:cond delay="499"/>
                                          </p:stCondLst>
                                        </p:cTn>
                                        <p:tgtEl>
                                          <p:spTgt spid="32781"/>
                                        </p:tgtEl>
                                        <p:attrNameLst>
                                          <p:attrName>style.visibility</p:attrName>
                                        </p:attrNameLst>
                                      </p:cBhvr>
                                      <p:to>
                                        <p:strVal val="hidden"/>
                                      </p:to>
                                    </p:set>
                                  </p:childTnLst>
                                </p:cTn>
                              </p:par>
                              <p:par>
                                <p:cTn id="10" presetID="1" presetClass="entr" presetSubtype="0" fill="hold" grpId="0" nodeType="withEffect">
                                  <p:stCondLst>
                                    <p:cond delay="0"/>
                                  </p:stCondLst>
                                  <p:childTnLst>
                                    <p:set>
                                      <p:cBhvr>
                                        <p:cTn id="11" dur="1" fill="hold">
                                          <p:stCondLst>
                                            <p:cond delay="0"/>
                                          </p:stCondLst>
                                        </p:cTn>
                                        <p:tgtEl>
                                          <p:spTgt spid="26"/>
                                        </p:tgtEl>
                                        <p:attrNameLst>
                                          <p:attrName>style.visibility</p:attrName>
                                        </p:attrNameLst>
                                      </p:cBhvr>
                                      <p:to>
                                        <p:strVal val="visible"/>
                                      </p:to>
                                    </p:set>
                                  </p:childTnLst>
                                </p:cTn>
                              </p:par>
                              <p:par>
                                <p:cTn id="12" presetID="10" presetClass="entr" presetSubtype="0" fill="hold" grpId="0" nodeType="withEffect">
                                  <p:stCondLst>
                                    <p:cond delay="0"/>
                                  </p:stCondLst>
                                  <p:childTnLst>
                                    <p:set>
                                      <p:cBhvr>
                                        <p:cTn id="13" dur="1" fill="hold">
                                          <p:stCondLst>
                                            <p:cond delay="0"/>
                                          </p:stCondLst>
                                        </p:cTn>
                                        <p:tgtEl>
                                          <p:spTgt spid="27"/>
                                        </p:tgtEl>
                                        <p:attrNameLst>
                                          <p:attrName>style.visibility</p:attrName>
                                        </p:attrNameLst>
                                      </p:cBhvr>
                                      <p:to>
                                        <p:strVal val="visible"/>
                                      </p:to>
                                    </p:set>
                                    <p:animEffect transition="in" filter="fade">
                                      <p:cBhvr>
                                        <p:cTn id="14" dur="500"/>
                                        <p:tgtEl>
                                          <p:spTgt spid="27"/>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nodeType="clickEffect">
                                  <p:stCondLst>
                                    <p:cond delay="0"/>
                                  </p:stCondLst>
                                  <p:childTnLst>
                                    <p:set>
                                      <p:cBhvr>
                                        <p:cTn id="18" dur="1" fill="hold">
                                          <p:stCondLst>
                                            <p:cond delay="0"/>
                                          </p:stCondLst>
                                        </p:cTn>
                                        <p:tgtEl>
                                          <p:spTgt spid="28"/>
                                        </p:tgtEl>
                                        <p:attrNameLst>
                                          <p:attrName>style.visibility</p:attrName>
                                        </p:attrNameLst>
                                      </p:cBhvr>
                                      <p:to>
                                        <p:strVal val="visible"/>
                                      </p:to>
                                    </p:set>
                                    <p:animEffect transition="in" filter="wipe(down)">
                                      <p:cBhvr>
                                        <p:cTn id="19" dur="500"/>
                                        <p:tgtEl>
                                          <p:spTgt spid="28"/>
                                        </p:tgtEl>
                                      </p:cBhvr>
                                    </p:animEffect>
                                  </p:childTnLst>
                                </p:cTn>
                              </p:par>
                              <p:par>
                                <p:cTn id="20" presetID="42" presetClass="path" presetSubtype="0" accel="50000" decel="50000" fill="hold" grpId="0" nodeType="withEffect">
                                  <p:stCondLst>
                                    <p:cond delay="0"/>
                                  </p:stCondLst>
                                  <p:childTnLst>
                                    <p:animMotion origin="layout" path="M 5E-6 3.33333E-6 L 0.03126 -0.00093 " pathEditMode="relative" rAng="0" ptsTypes="AA">
                                      <p:cBhvr>
                                        <p:cTn id="21" dur="2000" fill="hold"/>
                                        <p:tgtEl>
                                          <p:spTgt spid="32789"/>
                                        </p:tgtEl>
                                        <p:attrNameLst>
                                          <p:attrName>ppt_x</p:attrName>
                                          <p:attrName>ppt_y</p:attrName>
                                        </p:attrNameLst>
                                      </p:cBhvr>
                                      <p:rCtr x="1563" y="-46"/>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81" grpId="1"/>
      <p:bldP spid="32786" grpId="0" animBg="1"/>
      <p:bldP spid="32789" grpId="0"/>
      <p:bldP spid="26" grpId="0" animBg="1"/>
      <p:bldP spid="27"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p:txBody>
          <a:bodyPr>
            <a:normAutofit/>
          </a:bodyPr>
          <a:lstStyle/>
          <a:p>
            <a:r>
              <a:rPr lang="en-US" altLang="zh-CN" dirty="0"/>
              <a:t>2</a:t>
            </a:r>
            <a:r>
              <a:rPr lang="zh-CN" altLang="en-US" dirty="0"/>
              <a:t>、更新成本和立木价格</a:t>
            </a:r>
          </a:p>
        </p:txBody>
      </p:sp>
      <p:sp>
        <p:nvSpPr>
          <p:cNvPr id="9" name="内容占位符 8"/>
          <p:cNvSpPr>
            <a:spLocks noGrp="1"/>
          </p:cNvSpPr>
          <p:nvPr>
            <p:ph idx="1"/>
          </p:nvPr>
        </p:nvSpPr>
        <p:spPr/>
        <p:txBody>
          <a:bodyPr/>
          <a:lstStyle/>
          <a:p>
            <a:r>
              <a:rPr lang="zh-CN" altLang="en-US" dirty="0"/>
              <a:t>更新成本</a:t>
            </a:r>
            <a:r>
              <a:rPr lang="en-US" altLang="zh-CN" dirty="0" err="1"/>
              <a:t>wE</a:t>
            </a:r>
            <a:r>
              <a:rPr lang="zh-CN" altLang="en-US" dirty="0"/>
              <a:t>增加</a:t>
            </a:r>
            <a:endParaRPr lang="en-US" altLang="zh-CN" dirty="0"/>
          </a:p>
          <a:p>
            <a:r>
              <a:rPr lang="zh-CN" altLang="en-US" dirty="0"/>
              <a:t>公式左边的边际效益增加</a:t>
            </a:r>
            <a:endParaRPr lang="en-US" altLang="zh-CN" dirty="0"/>
          </a:p>
          <a:p>
            <a:r>
              <a:rPr lang="zh-CN" altLang="en-US" dirty="0"/>
              <a:t>额外持有森林资本多一年的边际效益增加，可以更长时间持有森林，采伐周期延长</a:t>
            </a:r>
            <a:endParaRPr lang="en-US" altLang="zh-CN" dirty="0"/>
          </a:p>
          <a:p>
            <a:r>
              <a:rPr lang="zh-CN" altLang="en-US" dirty="0"/>
              <a:t>立木价格增加</a:t>
            </a:r>
            <a:endParaRPr lang="en-US" altLang="zh-CN" dirty="0"/>
          </a:p>
          <a:p>
            <a:r>
              <a:rPr lang="zh-CN" altLang="en-US" dirty="0"/>
              <a:t>公式左边的边际效益减少</a:t>
            </a:r>
            <a:endParaRPr lang="en-US" altLang="zh-CN" dirty="0"/>
          </a:p>
          <a:p>
            <a:r>
              <a:rPr lang="zh-CN" altLang="en-US" dirty="0"/>
              <a:t>最佳采伐周期缩短</a:t>
            </a:r>
            <a:endParaRPr lang="en-US" altLang="zh-CN" dirty="0"/>
          </a:p>
          <a:p>
            <a:endParaRPr lang="zh-CN" altLang="en-US" dirty="0"/>
          </a:p>
        </p:txBody>
      </p:sp>
      <mc:AlternateContent xmlns:mc="http://schemas.openxmlformats.org/markup-compatibility/2006" xmlns:a14="http://schemas.microsoft.com/office/drawing/2010/main">
        <mc:Choice Requires="a14">
          <p:sp>
            <p:nvSpPr>
              <p:cNvPr id="10" name="内容占位符 2"/>
              <p:cNvSpPr txBox="1">
                <a:spLocks/>
              </p:cNvSpPr>
              <p:nvPr/>
            </p:nvSpPr>
            <p:spPr>
              <a:xfrm>
                <a:off x="3555971" y="1308382"/>
                <a:ext cx="3093586" cy="1144005"/>
              </a:xfrm>
              <a:prstGeom prst="rect">
                <a:avLst/>
              </a:prstGeom>
            </p:spPr>
            <p:txBody>
              <a:bodyPr vert="horz" lIns="91440" tIns="45720" rIns="91440" bIns="45720" rtlCol="0" anchor="ctr">
                <a:normAutofit fontScale="77500" lnSpcReduction="20000"/>
              </a:bodyPr>
              <a:lstStyle>
                <a:lvl1pPr marL="365760" indent="-365760" algn="l" defTabSz="914400" rtl="0" eaLnBrk="1" latinLnBrk="0" hangingPunct="1">
                  <a:spcBef>
                    <a:spcPct val="20000"/>
                  </a:spcBef>
                  <a:spcAft>
                    <a:spcPts val="600"/>
                  </a:spcAft>
                  <a:buSzPct val="140000"/>
                  <a:buFont typeface="Symbol" charset="2"/>
                  <a:buChar char="-"/>
                  <a:defRPr sz="2800" kern="1200">
                    <a:solidFill>
                      <a:schemeClr val="tx1"/>
                    </a:solidFill>
                    <a:effectLst>
                      <a:outerShdw blurRad="38100" dist="38100" dir="2700000" algn="tl">
                        <a:srgbClr val="000000">
                          <a:alpha val="43137"/>
                        </a:srgbClr>
                      </a:outerShdw>
                    </a:effectLst>
                    <a:latin typeface="+mn-lt"/>
                    <a:ea typeface="+mn-ea"/>
                    <a:cs typeface="+mn-cs"/>
                  </a:defRPr>
                </a:lvl1pPr>
                <a:lvl2pPr marL="731520" indent="-365760" algn="l" defTabSz="914400" rtl="0" eaLnBrk="1" latinLnBrk="0" hangingPunct="1">
                  <a:spcBef>
                    <a:spcPct val="20000"/>
                  </a:spcBef>
                  <a:spcAft>
                    <a:spcPts val="600"/>
                  </a:spcAft>
                  <a:buSzPct val="140000"/>
                  <a:buFont typeface="Symbol" charset="2"/>
                  <a:buChar char="-"/>
                  <a:defRPr sz="2400" kern="1200">
                    <a:solidFill>
                      <a:schemeClr val="tx1"/>
                    </a:solidFill>
                    <a:effectLst>
                      <a:outerShdw blurRad="38100" dist="38100" dir="2700000" algn="tl">
                        <a:srgbClr val="000000">
                          <a:alpha val="43137"/>
                        </a:srgbClr>
                      </a:outerShdw>
                    </a:effectLst>
                    <a:latin typeface="+mn-lt"/>
                    <a:ea typeface="+mn-ea"/>
                    <a:cs typeface="+mn-cs"/>
                  </a:defRPr>
                </a:lvl2pPr>
                <a:lvl3pPr marL="1097280" indent="-320040" algn="l" defTabSz="914400" rtl="0" eaLnBrk="1" latinLnBrk="0" hangingPunct="1">
                  <a:spcBef>
                    <a:spcPct val="20000"/>
                  </a:spcBef>
                  <a:spcAft>
                    <a:spcPts val="600"/>
                  </a:spcAft>
                  <a:buSzPct val="140000"/>
                  <a:buFont typeface="Symbol" charset="2"/>
                  <a:buChar char="-"/>
                  <a:defRPr sz="2000" kern="1200">
                    <a:solidFill>
                      <a:schemeClr val="tx1"/>
                    </a:solidFill>
                    <a:effectLst>
                      <a:outerShdw blurRad="38100" dist="38100" dir="2700000" algn="tl">
                        <a:srgbClr val="000000">
                          <a:alpha val="43137"/>
                        </a:srgbClr>
                      </a:outerShdw>
                    </a:effectLst>
                    <a:latin typeface="+mn-lt"/>
                    <a:ea typeface="+mn-ea"/>
                    <a:cs typeface="+mn-cs"/>
                  </a:defRPr>
                </a:lvl3pPr>
                <a:lvl4pPr marL="1371600" indent="-274320" algn="l" defTabSz="914400" rtl="0" eaLnBrk="1" latinLnBrk="0" hangingPunct="1">
                  <a:spcBef>
                    <a:spcPct val="20000"/>
                  </a:spcBef>
                  <a:spcAft>
                    <a:spcPts val="600"/>
                  </a:spcAft>
                  <a:buSzPct val="140000"/>
                  <a:buFont typeface="Symbol" charset="2"/>
                  <a:buChar char="-"/>
                  <a:defRPr sz="1800" kern="1200">
                    <a:solidFill>
                      <a:schemeClr val="tx1"/>
                    </a:solidFill>
                    <a:effectLst>
                      <a:outerShdw blurRad="38100" dist="38100" dir="2700000" algn="tl">
                        <a:srgbClr val="000000">
                          <a:alpha val="43137"/>
                        </a:srgbClr>
                      </a:outerShdw>
                    </a:effectLst>
                    <a:latin typeface="+mn-lt"/>
                    <a:ea typeface="+mn-ea"/>
                    <a:cs typeface="+mn-cs"/>
                  </a:defRPr>
                </a:lvl4pPr>
                <a:lvl5pPr marL="1645920" indent="-274320" algn="l" defTabSz="914400" rtl="0" eaLnBrk="1" latinLnBrk="0" hangingPunct="1">
                  <a:spcBef>
                    <a:spcPct val="20000"/>
                  </a:spcBef>
                  <a:spcAft>
                    <a:spcPts val="600"/>
                  </a:spcAft>
                  <a:buSzPct val="140000"/>
                  <a:buFont typeface="Symbol" charset="2"/>
                  <a:buChar char="-"/>
                  <a:defRPr sz="1800" kern="1200">
                    <a:solidFill>
                      <a:schemeClr val="tx1"/>
                    </a:solidFill>
                    <a:effectLst>
                      <a:outerShdw blurRad="38100" dist="38100" dir="2700000" algn="tl">
                        <a:srgbClr val="000000">
                          <a:alpha val="43137"/>
                        </a:srgbClr>
                      </a:outerShdw>
                    </a:effectLst>
                    <a:latin typeface="+mn-lt"/>
                    <a:ea typeface="+mn-ea"/>
                    <a:cs typeface="+mn-cs"/>
                  </a:defRPr>
                </a:lvl5pPr>
                <a:lvl6pPr marL="1920240" indent="-228600" algn="l" defTabSz="914400" rtl="0" eaLnBrk="1" latinLnBrk="0" hangingPunct="1">
                  <a:spcBef>
                    <a:spcPts val="24"/>
                  </a:spcBef>
                  <a:spcAft>
                    <a:spcPts val="600"/>
                  </a:spcAft>
                  <a:buClrTx/>
                  <a:buSzPct val="130000"/>
                  <a:buFont typeface="Wingdings" pitchFamily="2" charset="2"/>
                  <a:buChar char=""/>
                  <a:defRPr sz="1600" kern="1200">
                    <a:solidFill>
                      <a:schemeClr val="tx1"/>
                    </a:solidFill>
                    <a:effectLst>
                      <a:outerShdw blurRad="38100" dist="38100" dir="2700000" algn="ctr" rotWithShape="0">
                        <a:srgbClr val="000000">
                          <a:alpha val="43000"/>
                        </a:srgbClr>
                      </a:outerShdw>
                    </a:effectLst>
                    <a:latin typeface="+mn-lt"/>
                    <a:ea typeface="+mn-ea"/>
                    <a:cs typeface="+mn-cs"/>
                  </a:defRPr>
                </a:lvl6pPr>
                <a:lvl7pPr marL="2194560" indent="-228600" algn="l" defTabSz="914400" rtl="0" eaLnBrk="1" latinLnBrk="0" hangingPunct="1">
                  <a:spcBef>
                    <a:spcPts val="24"/>
                  </a:spcBef>
                  <a:spcAft>
                    <a:spcPts val="600"/>
                  </a:spcAft>
                  <a:buClrTx/>
                  <a:buSzPct val="130000"/>
                  <a:buFont typeface="Wingdings" pitchFamily="2" charset="2"/>
                  <a:buChar char=""/>
                  <a:defRPr sz="1600" kern="1200">
                    <a:solidFill>
                      <a:schemeClr val="tx1"/>
                    </a:solidFill>
                    <a:effectLst>
                      <a:outerShdw blurRad="38100" dist="38100" dir="2700000" algn="ctr" rotWithShape="0">
                        <a:srgbClr val="000000">
                          <a:alpha val="43000"/>
                        </a:srgbClr>
                      </a:outerShdw>
                    </a:effectLst>
                    <a:latin typeface="+mn-lt"/>
                    <a:ea typeface="+mn-ea"/>
                    <a:cs typeface="+mn-cs"/>
                  </a:defRPr>
                </a:lvl7pPr>
                <a:lvl8pPr marL="2468880" indent="-228600" algn="l" defTabSz="914400" rtl="0" eaLnBrk="1" latinLnBrk="0" hangingPunct="1">
                  <a:spcBef>
                    <a:spcPts val="24"/>
                  </a:spcBef>
                  <a:spcAft>
                    <a:spcPts val="600"/>
                  </a:spcAft>
                  <a:buClrTx/>
                  <a:buSzPct val="130000"/>
                  <a:buFont typeface="Wingdings" pitchFamily="2" charset="2"/>
                  <a:buChar char=""/>
                  <a:defRPr sz="1600" kern="1200">
                    <a:solidFill>
                      <a:schemeClr val="tx1"/>
                    </a:solidFill>
                    <a:effectLst>
                      <a:outerShdw blurRad="38100" dist="38100" dir="2700000" algn="ctr" rotWithShape="0">
                        <a:srgbClr val="000000">
                          <a:alpha val="43000"/>
                        </a:srgbClr>
                      </a:outerShdw>
                    </a:effectLst>
                    <a:latin typeface="+mn-lt"/>
                    <a:ea typeface="+mn-ea"/>
                    <a:cs typeface="+mn-cs"/>
                  </a:defRPr>
                </a:lvl8pPr>
                <a:lvl9pPr marL="2743200" indent="-228600" algn="l" defTabSz="914400" rtl="0" eaLnBrk="1" latinLnBrk="0" hangingPunct="1">
                  <a:spcBef>
                    <a:spcPts val="24"/>
                  </a:spcBef>
                  <a:spcAft>
                    <a:spcPts val="600"/>
                  </a:spcAft>
                  <a:buClrTx/>
                  <a:buSzPct val="130000"/>
                  <a:buFont typeface="Wingdings" pitchFamily="2" charset="2"/>
                  <a:buChar char=""/>
                  <a:defRPr sz="1600" kern="1200">
                    <a:solidFill>
                      <a:schemeClr val="tx1"/>
                    </a:solidFill>
                    <a:effectLst>
                      <a:outerShdw blurRad="38100" dist="38100" dir="2700000" algn="ctr" rotWithShape="0">
                        <a:srgbClr val="000000">
                          <a:alpha val="43000"/>
                        </a:srgbClr>
                      </a:outerShdw>
                    </a:effectLst>
                    <a:latin typeface="+mn-lt"/>
                    <a:ea typeface="+mn-ea"/>
                    <a:cs typeface="+mn-cs"/>
                  </a:defRPr>
                </a:lvl9pPr>
              </a:lstStyle>
              <a:p>
                <a:pPr marL="0" indent="0">
                  <a:buFont typeface="Symbol" charset="2"/>
                  <a:buNone/>
                </a:pPr>
                <a14:m>
                  <m:oMathPara xmlns:m="http://schemas.openxmlformats.org/officeDocument/2006/math">
                    <m:oMathParaPr>
                      <m:jc m:val="centerGroup"/>
                    </m:oMathParaPr>
                    <m:oMath xmlns:m="http://schemas.openxmlformats.org/officeDocument/2006/math">
                      <m:f>
                        <m:fPr>
                          <m:ctrlPr>
                            <a:rPr lang="en-US" altLang="zh-CN" i="1" smtClean="0">
                              <a:effectLst/>
                              <a:latin typeface="Cambria Math" panose="02040503050406030204" pitchFamily="18" charset="0"/>
                            </a:rPr>
                          </m:ctrlPr>
                        </m:fPr>
                        <m:num>
                          <m:sSub>
                            <m:sSubPr>
                              <m:ctrlPr>
                                <a:rPr lang="en-US" altLang="zh-CN" i="1">
                                  <a:effectLst/>
                                  <a:latin typeface="Cambria Math" panose="02040503050406030204" pitchFamily="18" charset="0"/>
                                </a:rPr>
                              </m:ctrlPr>
                            </m:sSubPr>
                            <m:e>
                              <m:r>
                                <a:rPr lang="en-US" altLang="zh-CN" i="1">
                                  <a:effectLst/>
                                  <a:latin typeface="Cambria Math" panose="02040503050406030204" pitchFamily="18" charset="0"/>
                                </a:rPr>
                                <m:t>𝑄</m:t>
                              </m:r>
                            </m:e>
                            <m:sub>
                              <m:r>
                                <a:rPr lang="en-US" altLang="zh-CN" i="1">
                                  <a:effectLst/>
                                  <a:latin typeface="Cambria Math" panose="02040503050406030204" pitchFamily="18" charset="0"/>
                                </a:rPr>
                                <m:t>𝑡</m:t>
                              </m:r>
                            </m:sub>
                          </m:sSub>
                        </m:num>
                        <m:den>
                          <m:r>
                            <a:rPr lang="en-US" altLang="zh-CN" i="1">
                              <a:effectLst/>
                              <a:latin typeface="Cambria Math" panose="02040503050406030204" pitchFamily="18" charset="0"/>
                            </a:rPr>
                            <m:t>𝑄</m:t>
                          </m:r>
                          <m:r>
                            <a:rPr lang="en-US" altLang="zh-CN" i="1">
                              <a:effectLst/>
                              <a:latin typeface="Cambria Math" panose="02040503050406030204" pitchFamily="18" charset="0"/>
                            </a:rPr>
                            <m:t>−</m:t>
                          </m:r>
                          <m:f>
                            <m:fPr>
                              <m:ctrlPr>
                                <a:rPr lang="en-US" altLang="zh-CN" i="1">
                                  <a:effectLst/>
                                  <a:latin typeface="Cambria Math" panose="02040503050406030204" pitchFamily="18" charset="0"/>
                                </a:rPr>
                              </m:ctrlPr>
                            </m:fPr>
                            <m:num>
                              <m:r>
                                <a:rPr lang="en-US" altLang="zh-CN" i="1">
                                  <a:effectLst/>
                                  <a:latin typeface="Cambria Math" panose="02040503050406030204" pitchFamily="18" charset="0"/>
                                </a:rPr>
                                <m:t>𝑤𝐸</m:t>
                              </m:r>
                            </m:num>
                            <m:den>
                              <m:r>
                                <a:rPr lang="en-US" altLang="zh-CN" i="1">
                                  <a:effectLst/>
                                  <a:latin typeface="Cambria Math" panose="02040503050406030204" pitchFamily="18" charset="0"/>
                                </a:rPr>
                                <m:t>𝑃</m:t>
                              </m:r>
                            </m:den>
                          </m:f>
                        </m:den>
                      </m:f>
                      <m:r>
                        <a:rPr lang="en-US" altLang="zh-CN" i="1">
                          <a:effectLst/>
                          <a:latin typeface="Cambria Math" panose="02040503050406030204" pitchFamily="18" charset="0"/>
                        </a:rPr>
                        <m:t>=</m:t>
                      </m:r>
                      <m:f>
                        <m:fPr>
                          <m:ctrlPr>
                            <a:rPr lang="en-US" altLang="zh-CN" i="1">
                              <a:effectLst/>
                              <a:latin typeface="Cambria Math" panose="02040503050406030204" pitchFamily="18" charset="0"/>
                            </a:rPr>
                          </m:ctrlPr>
                        </m:fPr>
                        <m:num>
                          <m:r>
                            <a:rPr lang="en-US" altLang="zh-CN" i="1">
                              <a:effectLst/>
                              <a:latin typeface="Cambria Math" panose="02040503050406030204" pitchFamily="18" charset="0"/>
                            </a:rPr>
                            <m:t>𝑟</m:t>
                          </m:r>
                        </m:num>
                        <m:den>
                          <m:r>
                            <a:rPr lang="en-US" altLang="zh-CN" i="1">
                              <a:effectLst/>
                              <a:latin typeface="Cambria Math" panose="02040503050406030204" pitchFamily="18" charset="0"/>
                            </a:rPr>
                            <m:t>1−</m:t>
                          </m:r>
                          <m:sSup>
                            <m:sSupPr>
                              <m:ctrlPr>
                                <a:rPr lang="en-US" altLang="zh-CN" i="1">
                                  <a:effectLst/>
                                  <a:latin typeface="Cambria Math" panose="02040503050406030204" pitchFamily="18" charset="0"/>
                                </a:rPr>
                              </m:ctrlPr>
                            </m:sSupPr>
                            <m:e>
                              <m:r>
                                <a:rPr lang="en-US" altLang="zh-CN" i="1">
                                  <a:effectLst/>
                                  <a:latin typeface="Cambria Math" panose="02040503050406030204" pitchFamily="18" charset="0"/>
                                </a:rPr>
                                <m:t>𝑒</m:t>
                              </m:r>
                            </m:e>
                            <m:sup>
                              <m:r>
                                <a:rPr lang="en-US" altLang="zh-CN" i="1">
                                  <a:effectLst/>
                                  <a:latin typeface="Cambria Math" panose="02040503050406030204" pitchFamily="18" charset="0"/>
                                </a:rPr>
                                <m:t>−</m:t>
                              </m:r>
                              <m:r>
                                <a:rPr lang="en-US" altLang="zh-CN" i="1">
                                  <a:effectLst/>
                                  <a:latin typeface="Cambria Math" panose="02040503050406030204" pitchFamily="18" charset="0"/>
                                </a:rPr>
                                <m:t>𝑟𝑡</m:t>
                              </m:r>
                            </m:sup>
                          </m:sSup>
                        </m:den>
                      </m:f>
                    </m:oMath>
                  </m:oMathPara>
                </a14:m>
                <a:endParaRPr lang="zh-CN" altLang="en-US" dirty="0">
                  <a:effectLst/>
                </a:endParaRPr>
              </a:p>
            </p:txBody>
          </p:sp>
        </mc:Choice>
        <mc:Fallback xmlns="">
          <p:sp>
            <p:nvSpPr>
              <p:cNvPr id="10" name="内容占位符 2"/>
              <p:cNvSpPr txBox="1">
                <a:spLocks noRot="1" noChangeAspect="1" noMove="1" noResize="1" noEditPoints="1" noAdjustHandles="1" noChangeArrowheads="1" noChangeShapeType="1" noTextEdit="1"/>
              </p:cNvSpPr>
              <p:nvPr/>
            </p:nvSpPr>
            <p:spPr>
              <a:xfrm>
                <a:off x="3555971" y="1308382"/>
                <a:ext cx="3093586" cy="1144005"/>
              </a:xfrm>
              <a:prstGeom prst="rect">
                <a:avLst/>
              </a:prstGeom>
              <a:blipFill>
                <a:blip r:embed="rId2"/>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72038337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normAutofit/>
          </a:bodyPr>
          <a:lstStyle/>
          <a:p>
            <a:r>
              <a:rPr lang="zh-CN" altLang="en-US" dirty="0"/>
              <a:t>人工造林还是自然生长天然林？</a:t>
            </a:r>
          </a:p>
        </p:txBody>
      </p:sp>
      <p:sp>
        <p:nvSpPr>
          <p:cNvPr id="5" name="内容占位符 4"/>
          <p:cNvSpPr>
            <a:spLocks noGrp="1"/>
          </p:cNvSpPr>
          <p:nvPr>
            <p:ph idx="1"/>
          </p:nvPr>
        </p:nvSpPr>
        <p:spPr/>
        <p:txBody>
          <a:bodyPr/>
          <a:lstStyle/>
          <a:p>
            <a:r>
              <a:rPr lang="zh-CN" altLang="en-US" dirty="0"/>
              <a:t>如果把采伐的价值贴现到造林更新的年份，仍然超过了造林成本，则可以连续地培育人工林</a:t>
            </a:r>
            <a:endParaRPr lang="en-US" altLang="zh-CN" dirty="0"/>
          </a:p>
          <a:p>
            <a:r>
              <a:rPr lang="zh-CN" altLang="en-US" dirty="0"/>
              <a:t>如果重新造林的成本等于采伐收益的现值，即</a:t>
            </a:r>
            <a:r>
              <a:rPr lang="en-US" altLang="zh-CN" dirty="0"/>
              <a:t>C=S</a:t>
            </a:r>
            <a:r>
              <a:rPr lang="zh-CN" altLang="en-US" dirty="0"/>
              <a:t>（</a:t>
            </a:r>
            <a:r>
              <a:rPr lang="en-US" altLang="zh-CN" dirty="0"/>
              <a:t>t</a:t>
            </a:r>
            <a:r>
              <a:rPr lang="zh-CN" altLang="en-US" dirty="0"/>
              <a:t>）</a:t>
            </a:r>
            <a:r>
              <a:rPr lang="en-US" altLang="zh-CN" dirty="0"/>
              <a:t>/</a:t>
            </a:r>
            <a:r>
              <a:rPr lang="zh-CN" altLang="en-US" dirty="0"/>
              <a:t>（</a:t>
            </a:r>
            <a:r>
              <a:rPr lang="en-US" altLang="zh-CN" dirty="0"/>
              <a:t>1+i</a:t>
            </a:r>
            <a:r>
              <a:rPr lang="zh-CN" altLang="en-US" dirty="0"/>
              <a:t>）</a:t>
            </a:r>
            <a:r>
              <a:rPr lang="en-US" altLang="zh-CN" baseline="30000" dirty="0"/>
              <a:t>t</a:t>
            </a:r>
          </a:p>
          <a:p>
            <a:r>
              <a:rPr lang="zh-CN" altLang="en-US" dirty="0"/>
              <a:t>培育新森林的净现值为</a:t>
            </a:r>
            <a:r>
              <a:rPr lang="en-US" altLang="zh-CN" dirty="0"/>
              <a:t>0</a:t>
            </a:r>
          </a:p>
          <a:p>
            <a:r>
              <a:rPr lang="zh-CN" altLang="en-US" dirty="0"/>
              <a:t>由此计算出的最佳轮伐周期等于一次性森林的最佳轮伐期</a:t>
            </a:r>
            <a:endParaRPr lang="en-US" altLang="zh-CN" dirty="0"/>
          </a:p>
          <a:p>
            <a:r>
              <a:rPr lang="zh-CN" altLang="en-US" dirty="0"/>
              <a:t>由此达到人工林的粗放边际</a:t>
            </a:r>
            <a:endParaRPr lang="en-US" altLang="zh-CN" dirty="0"/>
          </a:p>
          <a:p>
            <a:r>
              <a:rPr lang="zh-CN" altLang="en-US" dirty="0"/>
              <a:t>选择自然更新而非人工造林</a:t>
            </a:r>
          </a:p>
        </p:txBody>
      </p:sp>
    </p:spTree>
    <p:extLst>
      <p:ext uri="{BB962C8B-B14F-4D97-AF65-F5344CB8AC3E}">
        <p14:creationId xmlns:p14="http://schemas.microsoft.com/office/powerpoint/2010/main" val="126607016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3</a:t>
            </a:r>
            <a:r>
              <a:rPr lang="zh-CN" altLang="en-US" dirty="0"/>
              <a:t>、土地生产力</a:t>
            </a:r>
          </a:p>
        </p:txBody>
      </p:sp>
      <p:sp>
        <p:nvSpPr>
          <p:cNvPr id="3" name="内容占位符 2"/>
          <p:cNvSpPr>
            <a:spLocks noGrp="1"/>
          </p:cNvSpPr>
          <p:nvPr>
            <p:ph idx="1"/>
          </p:nvPr>
        </p:nvSpPr>
        <p:spPr/>
        <p:txBody>
          <a:bodyPr/>
          <a:lstStyle/>
          <a:p>
            <a:r>
              <a:rPr lang="zh-CN" altLang="en-US" dirty="0"/>
              <a:t>任何使森林生长成本上升的措施，都会延长最佳森林采伐周期</a:t>
            </a:r>
            <a:endParaRPr lang="en-US" altLang="zh-CN" dirty="0"/>
          </a:p>
          <a:p>
            <a:r>
              <a:rPr lang="zh-CN" altLang="en-US" dirty="0"/>
              <a:t>同样，任何使采伐收益价值或土地生产力下降的方法，也会延长最佳森林采伐周期</a:t>
            </a:r>
            <a:endParaRPr lang="en-US" altLang="zh-CN" dirty="0"/>
          </a:p>
          <a:p>
            <a:r>
              <a:rPr lang="zh-CN" altLang="en-US" dirty="0"/>
              <a:t>因此，在其它因素保持不变的情况下</a:t>
            </a:r>
            <a:endParaRPr lang="en-US" altLang="zh-CN" dirty="0"/>
          </a:p>
          <a:p>
            <a:r>
              <a:rPr lang="zh-CN" altLang="en-US" dirty="0">
                <a:solidFill>
                  <a:schemeClr val="accent3">
                    <a:lumMod val="75000"/>
                  </a:schemeClr>
                </a:solidFill>
              </a:rPr>
              <a:t>林地生产力越高，最佳轮伐期越短</a:t>
            </a:r>
          </a:p>
        </p:txBody>
      </p:sp>
    </p:spTree>
    <p:extLst>
      <p:ext uri="{BB962C8B-B14F-4D97-AF65-F5344CB8AC3E}">
        <p14:creationId xmlns:p14="http://schemas.microsoft.com/office/powerpoint/2010/main" val="284042758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4</a:t>
            </a:r>
            <a:r>
              <a:rPr lang="zh-CN" altLang="en-US" dirty="0"/>
              <a:t>、年管理成本</a:t>
            </a:r>
          </a:p>
        </p:txBody>
      </p:sp>
      <p:sp>
        <p:nvSpPr>
          <p:cNvPr id="3" name="内容占位符 2"/>
          <p:cNvSpPr>
            <a:spLocks noGrp="1"/>
          </p:cNvSpPr>
          <p:nvPr>
            <p:ph idx="1"/>
          </p:nvPr>
        </p:nvSpPr>
        <p:spPr/>
        <p:txBody>
          <a:bodyPr>
            <a:normAutofit fontScale="92500"/>
          </a:bodyPr>
          <a:lstStyle/>
          <a:p>
            <a:r>
              <a:rPr lang="zh-CN" altLang="en-US" dirty="0"/>
              <a:t>假定林业管理过程中发生的一些连续的管理、保护、行政和税收支出，每年保持在一个数量水平</a:t>
            </a:r>
            <a:r>
              <a:rPr lang="en-US" altLang="zh-CN" dirty="0"/>
              <a:t>m</a:t>
            </a:r>
            <a:r>
              <a:rPr lang="zh-CN" altLang="en-US" dirty="0"/>
              <a:t>上</a:t>
            </a:r>
            <a:endParaRPr lang="en-US" altLang="zh-CN" dirty="0"/>
          </a:p>
          <a:p>
            <a:r>
              <a:rPr lang="zh-CN" altLang="en-US" dirty="0"/>
              <a:t>其现值为</a:t>
            </a:r>
            <a:r>
              <a:rPr lang="en-US" altLang="zh-CN" dirty="0"/>
              <a:t>m/</a:t>
            </a:r>
            <a:r>
              <a:rPr lang="en-US" altLang="zh-CN" dirty="0" err="1"/>
              <a:t>i</a:t>
            </a:r>
            <a:endParaRPr lang="en-US" altLang="zh-CN" dirty="0"/>
          </a:p>
          <a:p>
            <a:r>
              <a:rPr lang="zh-CN" altLang="en-US" dirty="0"/>
              <a:t>年成本的扣除会减少土地期望价值，但不会影响最佳轮伐年龄</a:t>
            </a:r>
            <a:endParaRPr lang="en-US" altLang="zh-CN" dirty="0"/>
          </a:p>
          <a:p>
            <a:r>
              <a:rPr lang="zh-CN" altLang="en-US" dirty="0">
                <a:ln w="0"/>
                <a:solidFill>
                  <a:srgbClr val="C00000"/>
                </a:solidFill>
                <a:effectLst>
                  <a:outerShdw blurRad="38100" dist="25400" dir="5400000" algn="ctr" rotWithShape="0">
                    <a:srgbClr val="6E747A">
                      <a:alpha val="43000"/>
                    </a:srgbClr>
                  </a:outerShdw>
                </a:effectLst>
              </a:rPr>
              <a:t>任何独立于森林经营方式的成本对最佳轮伐期没有影响</a:t>
            </a:r>
            <a:endParaRPr lang="en-US" altLang="zh-CN" dirty="0">
              <a:ln w="0"/>
              <a:solidFill>
                <a:srgbClr val="C00000"/>
              </a:solidFill>
              <a:effectLst>
                <a:outerShdw blurRad="38100" dist="25400" dir="5400000" algn="ctr" rotWithShape="0">
                  <a:srgbClr val="6E747A">
                    <a:alpha val="43000"/>
                  </a:srgbClr>
                </a:outerShdw>
              </a:effectLst>
            </a:endParaRPr>
          </a:p>
          <a:p>
            <a:r>
              <a:rPr lang="en-US" altLang="zh-CN" dirty="0">
                <a:ln w="0"/>
                <a:solidFill>
                  <a:srgbClr val="C00000"/>
                </a:solidFill>
                <a:effectLst>
                  <a:outerShdw blurRad="38100" dist="25400" dir="5400000" algn="ctr" rotWithShape="0">
                    <a:srgbClr val="6E747A">
                      <a:alpha val="43000"/>
                    </a:srgbClr>
                  </a:outerShdw>
                </a:effectLst>
              </a:rPr>
              <a:t>The optimum rotation is not affected by any cost that is independent of the way the forest is managed</a:t>
            </a:r>
          </a:p>
        </p:txBody>
      </p:sp>
    </p:spTree>
    <p:extLst>
      <p:ext uri="{BB962C8B-B14F-4D97-AF65-F5344CB8AC3E}">
        <p14:creationId xmlns:p14="http://schemas.microsoft.com/office/powerpoint/2010/main" val="199731977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5</a:t>
            </a:r>
            <a:r>
              <a:rPr lang="zh-CN" altLang="en-US" dirty="0"/>
              <a:t>、财产税</a:t>
            </a:r>
          </a:p>
        </p:txBody>
      </p:sp>
      <p:sp>
        <p:nvSpPr>
          <p:cNvPr id="3" name="内容占位符 2"/>
          <p:cNvSpPr>
            <a:spLocks noGrp="1"/>
          </p:cNvSpPr>
          <p:nvPr>
            <p:ph idx="1"/>
          </p:nvPr>
        </p:nvSpPr>
        <p:spPr/>
        <p:txBody>
          <a:bodyPr>
            <a:normAutofit fontScale="70000" lnSpcReduction="20000"/>
          </a:bodyPr>
          <a:lstStyle/>
          <a:p>
            <a:r>
              <a:rPr lang="zh-CN" altLang="en-US" dirty="0"/>
              <a:t>（</a:t>
            </a:r>
            <a:r>
              <a:rPr lang="en-US" altLang="zh-CN" dirty="0"/>
              <a:t>1</a:t>
            </a:r>
            <a:r>
              <a:rPr lang="zh-CN" altLang="en-US" dirty="0"/>
              <a:t>）对土地价值征税 </a:t>
            </a:r>
            <a:r>
              <a:rPr lang="en-US" altLang="zh-CN" dirty="0"/>
              <a:t>Tax on land value</a:t>
            </a:r>
          </a:p>
          <a:p>
            <a:r>
              <a:rPr lang="zh-CN" altLang="en-US" dirty="0"/>
              <a:t>由此产生了一个固定年征收额，虽然降低了土地的价值，但不改变最佳轮伐期</a:t>
            </a:r>
            <a:endParaRPr lang="en-US" altLang="zh-CN" dirty="0"/>
          </a:p>
          <a:p>
            <a:r>
              <a:rPr lang="zh-CN" altLang="en-US" dirty="0"/>
              <a:t>（</a:t>
            </a:r>
            <a:r>
              <a:rPr lang="en-US" altLang="zh-CN" dirty="0"/>
              <a:t>2</a:t>
            </a:r>
            <a:r>
              <a:rPr lang="zh-CN" altLang="en-US" dirty="0"/>
              <a:t>）对立木价值征税 </a:t>
            </a:r>
            <a:r>
              <a:rPr lang="en-US" altLang="zh-CN" dirty="0"/>
              <a:t>tax on timber value</a:t>
            </a:r>
          </a:p>
          <a:p>
            <a:r>
              <a:rPr lang="zh-CN" altLang="en-US" dirty="0"/>
              <a:t>年成本随着立木价值的升高而升高，并一直以复利形式积累到森林被采伐为止</a:t>
            </a:r>
            <a:endParaRPr lang="en-US" altLang="zh-CN" dirty="0"/>
          </a:p>
          <a:p>
            <a:r>
              <a:rPr lang="zh-CN" altLang="en-US" dirty="0"/>
              <a:t>林主培育森林的效益是采伐后的立木价值减去积累的税收之后的余额</a:t>
            </a:r>
            <a:endParaRPr lang="en-US" altLang="zh-CN" dirty="0"/>
          </a:p>
          <a:p>
            <a:r>
              <a:rPr lang="zh-CN" altLang="en-US" dirty="0"/>
              <a:t>由此产生的影响与利息率提高带来的影响一样</a:t>
            </a:r>
            <a:endParaRPr lang="en-US" altLang="zh-CN" dirty="0"/>
          </a:p>
          <a:p>
            <a:r>
              <a:rPr lang="zh-CN" altLang="en-US" dirty="0"/>
              <a:t>对立木价值每年征税将缩短最佳轮伐年龄</a:t>
            </a:r>
            <a:endParaRPr lang="en-US" altLang="zh-CN" dirty="0"/>
          </a:p>
          <a:p>
            <a:r>
              <a:rPr lang="zh-CN" altLang="en-US" dirty="0"/>
              <a:t>（</a:t>
            </a:r>
            <a:r>
              <a:rPr lang="en-US" altLang="zh-CN" dirty="0"/>
              <a:t>3</a:t>
            </a:r>
            <a:r>
              <a:rPr lang="zh-CN" altLang="en-US" dirty="0"/>
              <a:t>）对采伐所得征税 </a:t>
            </a:r>
            <a:r>
              <a:rPr lang="en-US" altLang="zh-CN" dirty="0"/>
              <a:t>tax on harvest value</a:t>
            </a:r>
          </a:p>
          <a:p>
            <a:r>
              <a:rPr lang="zh-CN" altLang="en-US" dirty="0"/>
              <a:t>这种税收降低了采伐收入的价值，类似与采伐后发生了更高的更新成本</a:t>
            </a:r>
            <a:endParaRPr lang="en-US" altLang="zh-CN" dirty="0"/>
          </a:p>
          <a:p>
            <a:r>
              <a:rPr lang="zh-CN" altLang="en-US" dirty="0"/>
              <a:t>会导致轮伐周期的延长</a:t>
            </a:r>
          </a:p>
        </p:txBody>
      </p:sp>
    </p:spTree>
    <p:extLst>
      <p:ext uri="{BB962C8B-B14F-4D97-AF65-F5344CB8AC3E}">
        <p14:creationId xmlns:p14="http://schemas.microsoft.com/office/powerpoint/2010/main" val="125212291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6</a:t>
            </a:r>
            <a:r>
              <a:rPr lang="zh-CN" altLang="en-US" dirty="0"/>
              <a:t>、成本和价格趋势</a:t>
            </a:r>
          </a:p>
        </p:txBody>
      </p:sp>
      <p:sp>
        <p:nvSpPr>
          <p:cNvPr id="3" name="内容占位符 2"/>
          <p:cNvSpPr>
            <a:spLocks noGrp="1"/>
          </p:cNvSpPr>
          <p:nvPr>
            <p:ph idx="1"/>
          </p:nvPr>
        </p:nvSpPr>
        <p:spPr/>
        <p:txBody>
          <a:bodyPr>
            <a:normAutofit fontScale="92500"/>
          </a:bodyPr>
          <a:lstStyle/>
          <a:p>
            <a:r>
              <a:rPr lang="zh-CN" altLang="en-US" dirty="0"/>
              <a:t>出于长期规划森林的目的，不关心短期价格波动，只考虑长期的价格变化趋势</a:t>
            </a:r>
            <a:endParaRPr lang="en-US" altLang="zh-CN" dirty="0"/>
          </a:p>
          <a:p>
            <a:r>
              <a:rPr lang="zh-CN" altLang="en-US" dirty="0"/>
              <a:t>如果立木价值可能以某种速度持续上升，其效果相当于贴现率减去这个速度的百分比</a:t>
            </a:r>
            <a:endParaRPr lang="en-US" altLang="zh-CN" dirty="0"/>
          </a:p>
          <a:p>
            <a:r>
              <a:rPr lang="zh-CN" altLang="en-US" dirty="0"/>
              <a:t>因此，如果立木价格随时间以固定速率增长，轮伐期延长</a:t>
            </a:r>
            <a:endParaRPr lang="en-US" altLang="zh-CN" dirty="0"/>
          </a:p>
          <a:p>
            <a:r>
              <a:rPr lang="zh-CN" altLang="en-US" dirty="0"/>
              <a:t>（注意：一次性增长和以恒定速率连续上涨的区别。一次性增长，轮伐期缩短，以恒定速率上涨，轮伐期延长）</a:t>
            </a:r>
            <a:endParaRPr lang="en-US" altLang="zh-CN" dirty="0"/>
          </a:p>
          <a:p>
            <a:r>
              <a:rPr lang="zh-CN" altLang="en-US" dirty="0"/>
              <a:t>如果以不规则的形式变化，则必须把每项分开处理</a:t>
            </a:r>
          </a:p>
        </p:txBody>
      </p:sp>
    </p:spTree>
    <p:extLst>
      <p:ext uri="{BB962C8B-B14F-4D97-AF65-F5344CB8AC3E}">
        <p14:creationId xmlns:p14="http://schemas.microsoft.com/office/powerpoint/2010/main" val="55262406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effectLst/>
              </a:rPr>
              <a:t>The Hartman Rotation </a:t>
            </a:r>
            <a:endParaRPr lang="zh-CN" altLang="en-US" dirty="0"/>
          </a:p>
        </p:txBody>
      </p:sp>
      <p:sp>
        <p:nvSpPr>
          <p:cNvPr id="3" name="文本占位符 2"/>
          <p:cNvSpPr>
            <a:spLocks noGrp="1"/>
          </p:cNvSpPr>
          <p:nvPr>
            <p:ph type="body" idx="1"/>
          </p:nvPr>
        </p:nvSpPr>
        <p:spPr/>
        <p:txBody>
          <a:bodyPr/>
          <a:lstStyle/>
          <a:p>
            <a:r>
              <a:rPr lang="zh-CN" altLang="en-US" dirty="0"/>
              <a:t>哈特曼采伐年龄</a:t>
            </a:r>
          </a:p>
        </p:txBody>
      </p:sp>
    </p:spTree>
    <p:extLst>
      <p:ext uri="{BB962C8B-B14F-4D97-AF65-F5344CB8AC3E}">
        <p14:creationId xmlns:p14="http://schemas.microsoft.com/office/powerpoint/2010/main" val="249409615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t>考虑森林的非木材价值！</a:t>
            </a:r>
          </a:p>
        </p:txBody>
      </p:sp>
      <p:sp>
        <p:nvSpPr>
          <p:cNvPr id="5" name="内容占位符 4"/>
          <p:cNvSpPr>
            <a:spLocks noGrp="1"/>
          </p:cNvSpPr>
          <p:nvPr>
            <p:ph idx="1"/>
          </p:nvPr>
        </p:nvSpPr>
        <p:spPr/>
        <p:txBody>
          <a:bodyPr/>
          <a:lstStyle/>
          <a:p>
            <a:r>
              <a:rPr lang="en-US" altLang="zh-CN" dirty="0" err="1"/>
              <a:t>F·Hartman</a:t>
            </a:r>
            <a:r>
              <a:rPr lang="en-US" altLang="zh-CN" dirty="0"/>
              <a:t> 1976</a:t>
            </a:r>
            <a:r>
              <a:rPr lang="zh-CN" altLang="en-US" dirty="0"/>
              <a:t>年的公式中，将非木材价值引入到弗斯曼公式中来计算新的最佳轮伐期</a:t>
            </a:r>
            <a:endParaRPr lang="en-US" altLang="zh-CN" dirty="0"/>
          </a:p>
          <a:p>
            <a:r>
              <a:rPr lang="zh-CN" altLang="en-US" dirty="0"/>
              <a:t>计算非木材价值：需要将木材以外的各种价值（生态价值、环境价值、服务价值、林产品价值等等）全部汇总到一起，并将其与森林的年龄联系起来</a:t>
            </a:r>
          </a:p>
        </p:txBody>
      </p:sp>
    </p:spTree>
    <p:extLst>
      <p:ext uri="{BB962C8B-B14F-4D97-AF65-F5344CB8AC3E}">
        <p14:creationId xmlns:p14="http://schemas.microsoft.com/office/powerpoint/2010/main" val="199537793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1</a:t>
            </a:r>
            <a:r>
              <a:rPr lang="zh-CN" altLang="en-US" dirty="0"/>
              <a:t>、哈特曼模型的离散形式</a:t>
            </a:r>
          </a:p>
        </p:txBody>
      </p:sp>
      <p:sp>
        <p:nvSpPr>
          <p:cNvPr id="3" name="内容占位符 2"/>
          <p:cNvSpPr>
            <a:spLocks noGrp="1"/>
          </p:cNvSpPr>
          <p:nvPr>
            <p:ph idx="1"/>
          </p:nvPr>
        </p:nvSpPr>
        <p:spPr/>
        <p:txBody>
          <a:bodyPr/>
          <a:lstStyle/>
          <a:p>
            <a:r>
              <a:rPr lang="zh-CN" altLang="en-US" dirty="0"/>
              <a:t>在一次采伐期，采伐年龄的最优条件为</a:t>
            </a:r>
            <a:endParaRPr lang="en-US" altLang="zh-CN" dirty="0"/>
          </a:p>
          <a:p>
            <a:r>
              <a:rPr lang="en-US" altLang="zh-CN" dirty="0"/>
              <a:t>ΔS=</a:t>
            </a:r>
            <a:r>
              <a:rPr lang="en-US" altLang="zh-CN" dirty="0" err="1"/>
              <a:t>iS</a:t>
            </a:r>
            <a:r>
              <a:rPr lang="zh-CN" altLang="en-US" dirty="0"/>
              <a:t>（</a:t>
            </a:r>
            <a:r>
              <a:rPr lang="en-US" altLang="zh-CN" dirty="0"/>
              <a:t>t</a:t>
            </a:r>
            <a:r>
              <a:rPr lang="zh-CN" altLang="en-US" dirty="0"/>
              <a:t>）</a:t>
            </a:r>
            <a:endParaRPr lang="en-US" altLang="zh-CN" dirty="0"/>
          </a:p>
          <a:p>
            <a:r>
              <a:rPr lang="zh-CN" altLang="en-US" dirty="0"/>
              <a:t>左边是森林生长的边际收益，右边是森林生长一年的边际成本</a:t>
            </a:r>
            <a:endParaRPr lang="en-US" altLang="zh-CN" dirty="0"/>
          </a:p>
          <a:p>
            <a:r>
              <a:rPr lang="zh-CN" altLang="en-US" dirty="0"/>
              <a:t>假定</a:t>
            </a:r>
            <a:r>
              <a:rPr lang="en-US" altLang="zh-CN" dirty="0"/>
              <a:t>n</a:t>
            </a:r>
            <a:r>
              <a:rPr lang="zh-CN" altLang="en-US" dirty="0"/>
              <a:t>（</a:t>
            </a:r>
            <a:r>
              <a:rPr lang="en-US" altLang="zh-CN" dirty="0"/>
              <a:t>t</a:t>
            </a:r>
            <a:r>
              <a:rPr lang="zh-CN" altLang="en-US" dirty="0"/>
              <a:t>）为树龄为</a:t>
            </a:r>
            <a:r>
              <a:rPr lang="en-US" altLang="zh-CN" dirty="0"/>
              <a:t>t</a:t>
            </a:r>
            <a:r>
              <a:rPr lang="zh-CN" altLang="en-US" dirty="0"/>
              <a:t>时非木材的边际收益</a:t>
            </a:r>
            <a:endParaRPr lang="en-US" altLang="zh-CN" dirty="0"/>
          </a:p>
          <a:p>
            <a:r>
              <a:rPr lang="zh-CN" altLang="en-US" dirty="0"/>
              <a:t>则要满足边际收益</a:t>
            </a:r>
            <a:r>
              <a:rPr lang="en-US" altLang="zh-CN" dirty="0"/>
              <a:t>=</a:t>
            </a:r>
            <a:r>
              <a:rPr lang="zh-CN" altLang="en-US" dirty="0"/>
              <a:t>边际成本</a:t>
            </a:r>
            <a:endParaRPr lang="en-US" altLang="zh-CN" dirty="0"/>
          </a:p>
          <a:p>
            <a:r>
              <a:rPr lang="zh-CN" altLang="en-US" dirty="0"/>
              <a:t>有：</a:t>
            </a:r>
            <a:r>
              <a:rPr lang="en-US" altLang="zh-CN" dirty="0" err="1"/>
              <a:t>ΔS+n</a:t>
            </a:r>
            <a:r>
              <a:rPr lang="zh-CN" altLang="en-US" dirty="0"/>
              <a:t>（</a:t>
            </a:r>
            <a:r>
              <a:rPr lang="en-US" altLang="zh-CN" dirty="0"/>
              <a:t>t</a:t>
            </a:r>
            <a:r>
              <a:rPr lang="zh-CN" altLang="en-US" dirty="0"/>
              <a:t>）</a:t>
            </a:r>
            <a:r>
              <a:rPr lang="en-US" altLang="zh-CN" dirty="0"/>
              <a:t>=</a:t>
            </a:r>
            <a:r>
              <a:rPr lang="en-US" altLang="zh-CN" dirty="0" err="1"/>
              <a:t>iS</a:t>
            </a:r>
            <a:r>
              <a:rPr lang="zh-CN" altLang="en-US" dirty="0"/>
              <a:t>（</a:t>
            </a:r>
            <a:r>
              <a:rPr lang="en-US" altLang="zh-CN" dirty="0"/>
              <a:t>t</a:t>
            </a:r>
            <a:r>
              <a:rPr lang="zh-CN" altLang="en-US" dirty="0"/>
              <a:t>）</a:t>
            </a:r>
            <a:endParaRPr lang="en-US" altLang="zh-CN" dirty="0"/>
          </a:p>
          <a:p>
            <a:endParaRPr lang="zh-CN" altLang="en-US" dirty="0"/>
          </a:p>
        </p:txBody>
      </p:sp>
    </p:spTree>
    <p:extLst>
      <p:ext uri="{BB962C8B-B14F-4D97-AF65-F5344CB8AC3E}">
        <p14:creationId xmlns:p14="http://schemas.microsoft.com/office/powerpoint/2010/main" val="258134431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在永续条件下</a:t>
            </a:r>
          </a:p>
        </p:txBody>
      </p:sp>
      <p:sp>
        <p:nvSpPr>
          <p:cNvPr id="3" name="内容占位符 2"/>
          <p:cNvSpPr>
            <a:spLocks noGrp="1"/>
          </p:cNvSpPr>
          <p:nvPr>
            <p:ph idx="1"/>
          </p:nvPr>
        </p:nvSpPr>
        <p:spPr/>
        <p:txBody>
          <a:bodyPr/>
          <a:lstStyle/>
          <a:p>
            <a:r>
              <a:rPr lang="zh-CN" altLang="en-US" dirty="0"/>
              <a:t>最优采伐条件为：</a:t>
            </a:r>
            <a:r>
              <a:rPr lang="en-US" altLang="zh-CN" dirty="0"/>
              <a:t>ΔS=</a:t>
            </a:r>
            <a:r>
              <a:rPr lang="en-US" altLang="zh-CN" dirty="0" err="1"/>
              <a:t>iS</a:t>
            </a:r>
            <a:r>
              <a:rPr lang="zh-CN" altLang="en-US" dirty="0"/>
              <a:t>（</a:t>
            </a:r>
            <a:r>
              <a:rPr lang="en-US" altLang="zh-CN" dirty="0"/>
              <a:t>t</a:t>
            </a:r>
            <a:r>
              <a:rPr lang="zh-CN" altLang="en-US" dirty="0"/>
              <a:t>）</a:t>
            </a:r>
            <a:r>
              <a:rPr lang="en-US" altLang="zh-CN" dirty="0"/>
              <a:t>+A=</a:t>
            </a:r>
            <a:r>
              <a:rPr lang="en-US" altLang="zh-CN" dirty="0" err="1"/>
              <a:t>iS</a:t>
            </a:r>
            <a:r>
              <a:rPr lang="zh-CN" altLang="en-US" dirty="0"/>
              <a:t>（</a:t>
            </a:r>
            <a:r>
              <a:rPr lang="en-US" altLang="zh-CN" dirty="0"/>
              <a:t>t</a:t>
            </a:r>
            <a:r>
              <a:rPr lang="zh-CN" altLang="en-US" dirty="0"/>
              <a:t>）</a:t>
            </a:r>
            <a:r>
              <a:rPr lang="en-US" altLang="zh-CN" dirty="0"/>
              <a:t>+</a:t>
            </a:r>
            <a:r>
              <a:rPr lang="en-US" altLang="zh-CN" dirty="0" err="1"/>
              <a:t>iVs</a:t>
            </a:r>
            <a:endParaRPr lang="en-US" altLang="zh-CN" dirty="0"/>
          </a:p>
          <a:p>
            <a:r>
              <a:rPr lang="en-US" altLang="zh-CN" dirty="0"/>
              <a:t>A</a:t>
            </a:r>
            <a:r>
              <a:rPr lang="zh-CN" altLang="en-US" dirty="0"/>
              <a:t>：每年的地租，</a:t>
            </a:r>
            <a:r>
              <a:rPr lang="en-US" altLang="zh-CN" dirty="0"/>
              <a:t>Vs</a:t>
            </a:r>
            <a:r>
              <a:rPr lang="zh-CN" altLang="en-US" dirty="0"/>
              <a:t>土地价值</a:t>
            </a:r>
            <a:endParaRPr lang="en-US" altLang="zh-CN" dirty="0"/>
          </a:p>
          <a:p>
            <a:r>
              <a:rPr lang="zh-CN" altLang="en-US" dirty="0"/>
              <a:t>考虑非木材价值的边际收益，有</a:t>
            </a:r>
            <a:endParaRPr lang="en-US" altLang="zh-CN" dirty="0"/>
          </a:p>
          <a:p>
            <a:r>
              <a:rPr lang="en-US" altLang="zh-CN" dirty="0" err="1"/>
              <a:t>ΔS+n</a:t>
            </a:r>
            <a:r>
              <a:rPr lang="zh-CN" altLang="en-US" dirty="0"/>
              <a:t>（</a:t>
            </a:r>
            <a:r>
              <a:rPr lang="en-US" altLang="zh-CN" dirty="0"/>
              <a:t>t</a:t>
            </a:r>
            <a:r>
              <a:rPr lang="zh-CN" altLang="en-US" dirty="0"/>
              <a:t>）</a:t>
            </a:r>
            <a:r>
              <a:rPr lang="en-US" altLang="zh-CN" dirty="0"/>
              <a:t>=</a:t>
            </a:r>
            <a:r>
              <a:rPr lang="en-US" altLang="zh-CN" dirty="0" err="1"/>
              <a:t>iS</a:t>
            </a:r>
            <a:r>
              <a:rPr lang="zh-CN" altLang="en-US" dirty="0"/>
              <a:t>（</a:t>
            </a:r>
            <a:r>
              <a:rPr lang="en-US" altLang="zh-CN" dirty="0"/>
              <a:t>t</a:t>
            </a:r>
            <a:r>
              <a:rPr lang="zh-CN" altLang="en-US" dirty="0"/>
              <a:t>）</a:t>
            </a:r>
            <a:r>
              <a:rPr lang="en-US" altLang="zh-CN" dirty="0"/>
              <a:t>+A=</a:t>
            </a:r>
            <a:r>
              <a:rPr lang="en-US" altLang="zh-CN" dirty="0" err="1"/>
              <a:t>iS</a:t>
            </a:r>
            <a:r>
              <a:rPr lang="zh-CN" altLang="en-US" dirty="0"/>
              <a:t>（</a:t>
            </a:r>
            <a:r>
              <a:rPr lang="en-US" altLang="zh-CN" dirty="0"/>
              <a:t>t</a:t>
            </a:r>
            <a:r>
              <a:rPr lang="zh-CN" altLang="en-US" dirty="0"/>
              <a:t>）</a:t>
            </a:r>
            <a:r>
              <a:rPr lang="en-US" altLang="zh-CN" dirty="0"/>
              <a:t>+</a:t>
            </a:r>
            <a:r>
              <a:rPr lang="en-US" altLang="zh-CN" dirty="0" err="1"/>
              <a:t>iVs</a:t>
            </a:r>
            <a:endParaRPr lang="en-US" altLang="zh-CN" dirty="0"/>
          </a:p>
          <a:p>
            <a:r>
              <a:rPr lang="zh-CN" altLang="en-US" dirty="0"/>
              <a:t>只要非木材收益随着林龄增长而增长，哈特曼最佳轮伐期就要比弗斯曼轮伐期长</a:t>
            </a:r>
            <a:endParaRPr lang="en-US" altLang="zh-CN" dirty="0"/>
          </a:p>
          <a:p>
            <a:r>
              <a:rPr lang="zh-CN" altLang="en-US" dirty="0"/>
              <a:t>如果某些森林的非木材边际收益总是超过边际成本，那么这些森林则永远不应该被砍伐</a:t>
            </a:r>
            <a:endParaRPr lang="en-US" altLang="zh-CN" dirty="0"/>
          </a:p>
          <a:p>
            <a:endParaRPr lang="zh-CN" altLang="en-US" dirty="0"/>
          </a:p>
        </p:txBody>
      </p:sp>
    </p:spTree>
    <p:extLst>
      <p:ext uri="{BB962C8B-B14F-4D97-AF65-F5344CB8AC3E}">
        <p14:creationId xmlns:p14="http://schemas.microsoft.com/office/powerpoint/2010/main" val="110572303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2</a:t>
            </a:r>
            <a:r>
              <a:rPr lang="zh-CN" altLang="en-US" dirty="0"/>
              <a:t>、连续形式下的哈特曼采伐期</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normAutofit fontScale="92500" lnSpcReduction="10000"/>
              </a:bodyPr>
              <a:lstStyle/>
              <a:p>
                <a:r>
                  <a:rPr lang="zh-CN" altLang="en-US" dirty="0"/>
                  <a:t>先只考虑非木材价值的最大化</a:t>
                </a:r>
                <a:endParaRPr lang="en-US" altLang="zh-CN" dirty="0"/>
              </a:p>
              <a:p>
                <a:r>
                  <a:rPr lang="zh-CN" altLang="en-US" dirty="0"/>
                  <a:t>木材价值只能在采伐期的最后，当木材被砍伐时才能获得，而非木材价值却能够连续地获得</a:t>
                </a:r>
                <a:endParaRPr lang="en-US" altLang="zh-CN" dirty="0"/>
              </a:p>
              <a:p>
                <a:r>
                  <a:rPr lang="zh-CN" altLang="en-US" dirty="0"/>
                  <a:t>因此一块林地的总非木材价值</a:t>
                </a:r>
                <a:r>
                  <a:rPr lang="en-US" altLang="zh-CN" dirty="0"/>
                  <a:t>N</a:t>
                </a:r>
                <a:r>
                  <a:rPr lang="zh-CN" altLang="en-US" dirty="0"/>
                  <a:t>（</a:t>
                </a:r>
                <a:r>
                  <a:rPr lang="en-US" altLang="zh-CN" dirty="0"/>
                  <a:t>t</a:t>
                </a:r>
                <a:r>
                  <a:rPr lang="zh-CN" altLang="en-US" dirty="0"/>
                  <a:t>）是取决于树龄</a:t>
                </a:r>
                <a:r>
                  <a:rPr lang="en-US" altLang="zh-CN" dirty="0"/>
                  <a:t>t</a:t>
                </a:r>
                <a:r>
                  <a:rPr lang="zh-CN" altLang="en-US" dirty="0"/>
                  <a:t>的每年的非木材价值</a:t>
                </a:r>
                <a:r>
                  <a:rPr lang="en-US" altLang="zh-CN" dirty="0"/>
                  <a:t>n</a:t>
                </a:r>
                <a:r>
                  <a:rPr lang="zh-CN" altLang="en-US" dirty="0"/>
                  <a:t>（</a:t>
                </a:r>
                <a:r>
                  <a:rPr lang="en-US" altLang="zh-CN" dirty="0"/>
                  <a:t>t</a:t>
                </a:r>
                <a:r>
                  <a:rPr lang="zh-CN" altLang="en-US" dirty="0"/>
                  <a:t>）的积分函数</a:t>
                </a:r>
                <a:endParaRPr lang="en-US" altLang="zh-CN" dirty="0"/>
              </a:p>
              <a:p>
                <a14:m>
                  <m:oMath xmlns:m="http://schemas.openxmlformats.org/officeDocument/2006/math">
                    <m:r>
                      <m:rPr>
                        <m:sty m:val="p"/>
                      </m:rPr>
                      <a:rPr lang="en-US" altLang="zh-CN" dirty="0">
                        <a:latin typeface="Cambria Math" panose="02040503050406030204" pitchFamily="18" charset="0"/>
                      </a:rPr>
                      <m:t>N</m:t>
                    </m:r>
                    <m:d>
                      <m:dPr>
                        <m:begChr m:val="（"/>
                        <m:endChr m:val="）"/>
                        <m:ctrlPr>
                          <a:rPr lang="zh-CN" altLang="en-US" i="1" dirty="0" smtClean="0">
                            <a:latin typeface="Cambria Math" panose="02040503050406030204" pitchFamily="18" charset="0"/>
                          </a:rPr>
                        </m:ctrlPr>
                      </m:dPr>
                      <m:e>
                        <m:r>
                          <a:rPr lang="en-US" altLang="zh-CN" b="0" i="1" dirty="0" smtClean="0">
                            <a:latin typeface="Cambria Math" panose="02040503050406030204" pitchFamily="18" charset="0"/>
                          </a:rPr>
                          <m:t>𝑡</m:t>
                        </m:r>
                      </m:e>
                    </m:d>
                    <m:r>
                      <a:rPr lang="en-US" altLang="zh-CN" b="0" i="1" dirty="0" smtClean="0">
                        <a:latin typeface="Cambria Math" panose="02040503050406030204" pitchFamily="18" charset="0"/>
                      </a:rPr>
                      <m:t>=</m:t>
                    </m:r>
                    <m:nary>
                      <m:naryPr>
                        <m:ctrlPr>
                          <a:rPr lang="en-US" altLang="zh-CN" b="0" i="1" dirty="0" smtClean="0">
                            <a:latin typeface="Cambria Math" panose="02040503050406030204" pitchFamily="18" charset="0"/>
                          </a:rPr>
                        </m:ctrlPr>
                      </m:naryPr>
                      <m:sub>
                        <m:r>
                          <m:rPr>
                            <m:brk m:alnAt="23"/>
                          </m:rPr>
                          <a:rPr lang="en-US" altLang="zh-CN" b="0" i="1" dirty="0" smtClean="0">
                            <a:latin typeface="Cambria Math" panose="02040503050406030204" pitchFamily="18" charset="0"/>
                          </a:rPr>
                          <m:t>0</m:t>
                        </m:r>
                      </m:sub>
                      <m:sup>
                        <m:r>
                          <a:rPr lang="en-US" altLang="zh-CN" b="0" i="1" dirty="0" smtClean="0">
                            <a:latin typeface="Cambria Math" panose="02040503050406030204" pitchFamily="18" charset="0"/>
                          </a:rPr>
                          <m:t>𝑡</m:t>
                        </m:r>
                      </m:sup>
                      <m:e>
                        <m:r>
                          <a:rPr lang="en-US" altLang="zh-CN" b="0" i="1" dirty="0" smtClean="0">
                            <a:latin typeface="Cambria Math" panose="02040503050406030204" pitchFamily="18" charset="0"/>
                          </a:rPr>
                          <m:t>𝑛</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𝑡</m:t>
                        </m:r>
                        <m:r>
                          <a:rPr lang="en-US" altLang="zh-CN" b="0" i="1" dirty="0" smtClean="0">
                            <a:latin typeface="Cambria Math" panose="02040503050406030204" pitchFamily="18" charset="0"/>
                          </a:rPr>
                          <m:t>)</m:t>
                        </m:r>
                      </m:e>
                    </m:nary>
                  </m:oMath>
                </a14:m>
                <a:endParaRPr lang="en-US" altLang="zh-CN" b="0" dirty="0"/>
              </a:p>
              <a:p>
                <a:r>
                  <a:rPr lang="en-US" altLang="zh-CN" dirty="0"/>
                  <a:t>n(t)</a:t>
                </a:r>
                <a:r>
                  <a:rPr lang="zh-CN" altLang="en-US" dirty="0"/>
                  <a:t>是未经过贴现的树龄为</a:t>
                </a:r>
                <a:r>
                  <a:rPr lang="en-US" altLang="zh-CN" dirty="0"/>
                  <a:t>t</a:t>
                </a:r>
                <a:r>
                  <a:rPr lang="zh-CN" altLang="en-US" dirty="0"/>
                  <a:t>时的非木材价值</a:t>
                </a:r>
                <a:endParaRPr lang="en-US" altLang="zh-CN" dirty="0"/>
              </a:p>
              <a:p>
                <a:r>
                  <a:rPr lang="en-US" altLang="zh-CN" dirty="0"/>
                  <a:t>N</a:t>
                </a:r>
                <a:r>
                  <a:rPr lang="zh-CN" altLang="en-US" dirty="0"/>
                  <a:t>（</a:t>
                </a:r>
                <a:r>
                  <a:rPr lang="en-US" altLang="zh-CN" dirty="0"/>
                  <a:t>t</a:t>
                </a:r>
                <a:r>
                  <a:rPr lang="zh-CN" altLang="en-US" dirty="0"/>
                  <a:t>）关于</a:t>
                </a:r>
                <a:r>
                  <a:rPr lang="en-US" altLang="zh-CN" dirty="0"/>
                  <a:t>t</a:t>
                </a:r>
                <a:r>
                  <a:rPr lang="zh-CN" altLang="en-US" dirty="0"/>
                  <a:t>的一阶导＞</a:t>
                </a:r>
                <a:r>
                  <a:rPr lang="en-US" altLang="zh-CN" dirty="0"/>
                  <a:t>0</a:t>
                </a:r>
                <a:r>
                  <a:rPr lang="zh-CN" altLang="en-US" dirty="0"/>
                  <a:t>，二阶导＜</a:t>
                </a:r>
                <a:r>
                  <a:rPr lang="en-US" altLang="zh-CN" dirty="0"/>
                  <a:t>0</a:t>
                </a:r>
              </a:p>
              <a:p>
                <a:r>
                  <a:rPr lang="zh-CN" altLang="en-US" dirty="0"/>
                  <a:t>非木材价值的边际收益随时间的增加以逐渐减少的速率而增加</a:t>
                </a:r>
                <a:endParaRPr lang="en-US" altLang="zh-CN"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1286" t="-292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27221480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选取使这种收益的贴现值最大的采伐期</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dirty="0"/>
                  <a:t>当树木被砍伐时，非木材价值下降为</a:t>
                </a:r>
                <a:r>
                  <a:rPr lang="en-US" altLang="zh-CN" dirty="0"/>
                  <a:t>0</a:t>
                </a:r>
              </a:p>
              <a:p>
                <a:r>
                  <a:rPr lang="zh-CN" altLang="en-US" dirty="0"/>
                  <a:t>采用连续贴现的形式，求使收益现值最大的采伐期，即：</a:t>
                </a:r>
                <a:endParaRPr lang="en-US" altLang="zh-CN" dirty="0"/>
              </a:p>
              <a:p>
                <a14:m>
                  <m:oMath xmlns:m="http://schemas.openxmlformats.org/officeDocument/2006/math">
                    <m:sSub>
                      <m:sSubPr>
                        <m:ctrlPr>
                          <a:rPr lang="en-US" altLang="zh-CN" b="0" i="1" smtClean="0">
                            <a:latin typeface="Cambria Math" panose="02040503050406030204" pitchFamily="18" charset="0"/>
                          </a:rPr>
                        </m:ctrlPr>
                      </m:sSubPr>
                      <m:e>
                        <m:r>
                          <a:rPr lang="en-US" altLang="zh-CN" i="1">
                            <a:latin typeface="Cambria Math" panose="02040503050406030204" pitchFamily="18" charset="0"/>
                          </a:rPr>
                          <m:t>𝑉</m:t>
                        </m:r>
                      </m:e>
                      <m:sub>
                        <m:r>
                          <a:rPr lang="en-US" altLang="zh-CN" b="0" i="1" smtClean="0">
                            <a:latin typeface="Cambria Math" panose="02040503050406030204" pitchFamily="18" charset="0"/>
                          </a:rPr>
                          <m:t>𝑛</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𝑀𝑎𝑥</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𝑁</m:t>
                        </m:r>
                        <m:r>
                          <a:rPr lang="en-US" altLang="zh-CN" b="0" i="1" smtClean="0">
                            <a:latin typeface="Cambria Math" panose="02040503050406030204" pitchFamily="18" charset="0"/>
                          </a:rPr>
                          <m:t>(</m:t>
                        </m:r>
                        <m:r>
                          <a:rPr lang="en-US" altLang="zh-CN" b="0" i="1" smtClean="0">
                            <a:latin typeface="Cambria Math" panose="02040503050406030204" pitchFamily="18" charset="0"/>
                          </a:rPr>
                          <m:t>𝑡</m:t>
                        </m:r>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𝑒</m:t>
                            </m:r>
                          </m:e>
                          <m:sup>
                            <m:r>
                              <a:rPr lang="en-US" altLang="zh-CN" b="0" i="1" smtClean="0">
                                <a:latin typeface="Cambria Math" panose="02040503050406030204" pitchFamily="18" charset="0"/>
                              </a:rPr>
                              <m:t>−</m:t>
                            </m:r>
                            <m:r>
                              <a:rPr lang="en-US" altLang="zh-CN" b="0" i="1" smtClean="0">
                                <a:latin typeface="Cambria Math" panose="02040503050406030204" pitchFamily="18" charset="0"/>
                              </a:rPr>
                              <m:t>𝑟𝑡</m:t>
                            </m:r>
                          </m:sup>
                        </m:sSup>
                      </m:num>
                      <m:den>
                        <m:r>
                          <a:rPr lang="en-US" altLang="zh-CN" b="0" i="1" smtClean="0">
                            <a:latin typeface="Cambria Math" panose="02040503050406030204" pitchFamily="18" charset="0"/>
                          </a:rPr>
                          <m:t>1−</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𝑒</m:t>
                            </m:r>
                          </m:e>
                          <m:sup>
                            <m:r>
                              <a:rPr lang="en-US" altLang="zh-CN" b="0" i="1" smtClean="0">
                                <a:latin typeface="Cambria Math" panose="02040503050406030204" pitchFamily="18" charset="0"/>
                              </a:rPr>
                              <m:t>−</m:t>
                            </m:r>
                            <m:r>
                              <a:rPr lang="en-US" altLang="zh-CN" b="0" i="1" smtClean="0">
                                <a:latin typeface="Cambria Math" panose="02040503050406030204" pitchFamily="18" charset="0"/>
                              </a:rPr>
                              <m:t>𝑟𝑡</m:t>
                            </m:r>
                          </m:sup>
                        </m:sSup>
                      </m:den>
                    </m:f>
                  </m:oMath>
                </a14:m>
                <a:endParaRPr lang="en-US" altLang="zh-CN" dirty="0"/>
              </a:p>
              <a:p>
                <a:r>
                  <a:rPr lang="zh-CN" altLang="en-US" dirty="0"/>
                  <a:t>在</a:t>
                </a:r>
                <a:r>
                  <a:rPr lang="en-US" altLang="zh-CN" dirty="0" err="1"/>
                  <a:t>Vn</a:t>
                </a:r>
                <a:r>
                  <a:rPr lang="zh-CN" altLang="en-US" dirty="0"/>
                  <a:t>关于</a:t>
                </a:r>
                <a:r>
                  <a:rPr lang="en-US" altLang="zh-CN" dirty="0"/>
                  <a:t>t</a:t>
                </a:r>
                <a:r>
                  <a:rPr lang="zh-CN" altLang="en-US" dirty="0"/>
                  <a:t>的一阶导等于</a:t>
                </a:r>
                <a:r>
                  <a:rPr lang="en-US" altLang="zh-CN" dirty="0"/>
                  <a:t>0</a:t>
                </a:r>
                <a:r>
                  <a:rPr lang="zh-CN" altLang="en-US" dirty="0"/>
                  <a:t>时，得到最大值，有</a:t>
                </a:r>
                <a:endParaRPr lang="en-US" altLang="zh-CN" dirty="0"/>
              </a:p>
              <a:p>
                <a14:m>
                  <m:oMath xmlns:m="http://schemas.openxmlformats.org/officeDocument/2006/math">
                    <m:f>
                      <m:fPr>
                        <m:ctrlPr>
                          <a:rPr lang="en-US" altLang="zh-CN" i="1" smtClean="0">
                            <a:latin typeface="Cambria Math" panose="02040503050406030204" pitchFamily="18" charset="0"/>
                          </a:rPr>
                        </m:ctrlPr>
                      </m:fPr>
                      <m:num>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𝑁</m:t>
                            </m:r>
                          </m:e>
                          <m:sub>
                            <m:r>
                              <a:rPr lang="en-US" altLang="zh-CN" b="0" i="1" smtClean="0">
                                <a:latin typeface="Cambria Math" panose="02040503050406030204" pitchFamily="18" charset="0"/>
                              </a:rPr>
                              <m:t>𝑡</m:t>
                            </m:r>
                          </m:sub>
                        </m:sSub>
                      </m:num>
                      <m:den>
                        <m:r>
                          <a:rPr lang="en-US" altLang="zh-CN" b="0" i="1" smtClean="0">
                            <a:latin typeface="Cambria Math" panose="02040503050406030204" pitchFamily="18" charset="0"/>
                          </a:rPr>
                          <m:t>𝑁</m:t>
                        </m:r>
                        <m:r>
                          <a:rPr lang="en-US" altLang="zh-CN" b="0" i="1" smtClean="0">
                            <a:latin typeface="Cambria Math" panose="02040503050406030204" pitchFamily="18" charset="0"/>
                          </a:rPr>
                          <m:t>(</m:t>
                        </m:r>
                        <m:r>
                          <a:rPr lang="en-US" altLang="zh-CN" b="0" i="1" smtClean="0">
                            <a:latin typeface="Cambria Math" panose="02040503050406030204" pitchFamily="18" charset="0"/>
                          </a:rPr>
                          <m:t>𝑡</m:t>
                        </m:r>
                        <m:r>
                          <a:rPr lang="en-US" altLang="zh-CN" b="0" i="1" smtClean="0">
                            <a:latin typeface="Cambria Math" panose="02040503050406030204" pitchFamily="18" charset="0"/>
                          </a:rPr>
                          <m:t>)</m:t>
                        </m:r>
                      </m:den>
                    </m:f>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𝑟</m:t>
                        </m:r>
                      </m:num>
                      <m:den>
                        <m:r>
                          <a:rPr lang="en-US" altLang="zh-CN" b="0" i="1" smtClean="0">
                            <a:latin typeface="Cambria Math" panose="02040503050406030204" pitchFamily="18" charset="0"/>
                          </a:rPr>
                          <m:t>1−</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𝑒</m:t>
                            </m:r>
                          </m:e>
                          <m:sup>
                            <m:r>
                              <a:rPr lang="en-US" altLang="zh-CN" b="0" i="1" smtClean="0">
                                <a:latin typeface="Cambria Math" panose="02040503050406030204" pitchFamily="18" charset="0"/>
                              </a:rPr>
                              <m:t>−</m:t>
                            </m:r>
                            <m:r>
                              <a:rPr lang="en-US" altLang="zh-CN" b="0" i="1" smtClean="0">
                                <a:latin typeface="Cambria Math" panose="02040503050406030204" pitchFamily="18" charset="0"/>
                              </a:rPr>
                              <m:t>𝑟𝑡</m:t>
                            </m:r>
                          </m:sup>
                        </m:sSup>
                      </m:den>
                    </m:f>
                  </m:oMath>
                </a14:m>
                <a:endParaRPr lang="en-US" altLang="zh-CN" dirty="0"/>
              </a:p>
              <a:p>
                <a:r>
                  <a:rPr lang="en-US" altLang="zh-CN" dirty="0" err="1"/>
                  <a:t>Nt</a:t>
                </a:r>
                <a:r>
                  <a:rPr lang="zh-CN" altLang="en-US" dirty="0"/>
                  <a:t>是</a:t>
                </a:r>
                <a:r>
                  <a:rPr lang="en-US" altLang="zh-CN" dirty="0"/>
                  <a:t>N</a:t>
                </a:r>
                <a:r>
                  <a:rPr lang="zh-CN" altLang="en-US" dirty="0"/>
                  <a:t>（</a:t>
                </a:r>
                <a:r>
                  <a:rPr lang="en-US" altLang="zh-CN" dirty="0"/>
                  <a:t>t</a:t>
                </a:r>
                <a:r>
                  <a:rPr lang="zh-CN" altLang="en-US" dirty="0"/>
                  <a:t>）关于</a:t>
                </a:r>
                <a:r>
                  <a:rPr lang="en-US" altLang="zh-CN" dirty="0"/>
                  <a:t>t</a:t>
                </a:r>
                <a:r>
                  <a:rPr lang="zh-CN" altLang="en-US" dirty="0"/>
                  <a:t>的导数，等于</a:t>
                </a:r>
                <a:r>
                  <a:rPr lang="en-US" altLang="zh-CN" dirty="0"/>
                  <a:t>n</a:t>
                </a:r>
                <a:r>
                  <a:rPr lang="zh-CN" altLang="en-US" dirty="0"/>
                  <a:t>（</a:t>
                </a:r>
                <a:r>
                  <a:rPr lang="en-US" altLang="zh-CN" dirty="0"/>
                  <a:t>t</a:t>
                </a:r>
                <a:r>
                  <a:rPr lang="zh-CN" altLang="en-US" dirty="0"/>
                  <a:t>）</a:t>
                </a:r>
                <a:endParaRPr lang="en-US" altLang="zh-CN"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0">
                <a:blip r:embed="rId2"/>
                <a:stretch>
                  <a:fillRect l="-256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90255544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可知</a:t>
            </a:r>
          </a:p>
        </p:txBody>
      </p:sp>
      <p:sp>
        <p:nvSpPr>
          <p:cNvPr id="3" name="内容占位符 2"/>
          <p:cNvSpPr>
            <a:spLocks noGrp="1"/>
          </p:cNvSpPr>
          <p:nvPr>
            <p:ph idx="1"/>
          </p:nvPr>
        </p:nvSpPr>
        <p:spPr/>
        <p:txBody>
          <a:bodyPr/>
          <a:lstStyle/>
          <a:p>
            <a:r>
              <a:rPr lang="zh-CN" altLang="en-US" dirty="0"/>
              <a:t>只要非木材价值随着时间增加以降低的速率增加，就可以找到一个最大值和最佳采伐年龄</a:t>
            </a:r>
          </a:p>
        </p:txBody>
      </p:sp>
      <mc:AlternateContent xmlns:mc="http://schemas.openxmlformats.org/markup-compatibility/2006" xmlns:a14="http://schemas.microsoft.com/office/drawing/2010/main">
        <mc:Choice Requires="a14">
          <p:sp>
            <p:nvSpPr>
              <p:cNvPr id="4" name="内容占位符 3"/>
              <p:cNvSpPr>
                <a:spLocks noGrp="1"/>
              </p:cNvSpPr>
              <p:nvPr>
                <p:ph sz="quarter" idx="10"/>
              </p:nvPr>
            </p:nvSpPr>
            <p:spPr/>
            <p:txBody>
              <a:bodyPr/>
              <a:lstStyle/>
              <a:p>
                <a:pPr>
                  <a:buFont typeface="Wingdings" panose="05000000000000000000" pitchFamily="2" charset="2"/>
                  <a:buChar char="Ø"/>
                </a:pPr>
                <a14:m>
                  <m:oMath xmlns:m="http://schemas.openxmlformats.org/officeDocument/2006/math">
                    <m:f>
                      <m:fPr>
                        <m:ctrlPr>
                          <a:rPr lang="en-US" altLang="zh-CN" i="1">
                            <a:latin typeface="Cambria Math" panose="02040503050406030204" pitchFamily="18" charset="0"/>
                          </a:rPr>
                        </m:ctrlPr>
                      </m:fPr>
                      <m:num>
                        <m:sSub>
                          <m:sSubPr>
                            <m:ctrlPr>
                              <a:rPr lang="en-US" altLang="zh-CN" i="1">
                                <a:latin typeface="Cambria Math" panose="02040503050406030204" pitchFamily="18" charset="0"/>
                              </a:rPr>
                            </m:ctrlPr>
                          </m:sSubPr>
                          <m:e>
                            <m:r>
                              <a:rPr lang="en-US" altLang="zh-CN" i="1">
                                <a:latin typeface="Cambria Math" panose="02040503050406030204" pitchFamily="18" charset="0"/>
                              </a:rPr>
                              <m:t>𝑁</m:t>
                            </m:r>
                          </m:e>
                          <m:sub>
                            <m:r>
                              <a:rPr lang="en-US" altLang="zh-CN" i="1">
                                <a:latin typeface="Cambria Math" panose="02040503050406030204" pitchFamily="18" charset="0"/>
                              </a:rPr>
                              <m:t>𝑡</m:t>
                            </m:r>
                          </m:sub>
                        </m:sSub>
                      </m:num>
                      <m:den>
                        <m:r>
                          <a:rPr lang="en-US" altLang="zh-CN" i="1">
                            <a:latin typeface="Cambria Math" panose="02040503050406030204" pitchFamily="18" charset="0"/>
                          </a:rPr>
                          <m:t>𝑁</m:t>
                        </m:r>
                        <m:r>
                          <a:rPr lang="en-US" altLang="zh-CN" i="1">
                            <a:latin typeface="Cambria Math" panose="02040503050406030204" pitchFamily="18" charset="0"/>
                          </a:rPr>
                          <m:t>(</m:t>
                        </m:r>
                        <m:r>
                          <a:rPr lang="en-US" altLang="zh-CN" i="1">
                            <a:latin typeface="Cambria Math" panose="02040503050406030204" pitchFamily="18" charset="0"/>
                          </a:rPr>
                          <m:t>𝑡</m:t>
                        </m:r>
                        <m:r>
                          <a:rPr lang="en-US" altLang="zh-CN" i="1">
                            <a:latin typeface="Cambria Math" panose="02040503050406030204" pitchFamily="18" charset="0"/>
                          </a:rPr>
                          <m:t>)</m:t>
                        </m:r>
                      </m:den>
                    </m:f>
                    <m:r>
                      <a:rPr lang="en-US" altLang="zh-CN" i="1">
                        <a:latin typeface="Cambria Math" panose="02040503050406030204" pitchFamily="18" charset="0"/>
                      </a:rPr>
                      <m:t>=</m:t>
                    </m:r>
                    <m:f>
                      <m:fPr>
                        <m:ctrlPr>
                          <a:rPr lang="en-US" altLang="zh-CN" i="1">
                            <a:latin typeface="Cambria Math" panose="02040503050406030204" pitchFamily="18" charset="0"/>
                          </a:rPr>
                        </m:ctrlPr>
                      </m:fPr>
                      <m:num>
                        <m:r>
                          <a:rPr lang="en-US" altLang="zh-CN" i="1">
                            <a:latin typeface="Cambria Math" panose="02040503050406030204" pitchFamily="18" charset="0"/>
                          </a:rPr>
                          <m:t>𝑟</m:t>
                        </m:r>
                      </m:num>
                      <m:den>
                        <m:r>
                          <a:rPr lang="en-US" altLang="zh-CN" i="1">
                            <a:latin typeface="Cambria Math" panose="02040503050406030204" pitchFamily="18" charset="0"/>
                          </a:rPr>
                          <m:t>1−</m:t>
                        </m:r>
                        <m:sSup>
                          <m:sSupPr>
                            <m:ctrlPr>
                              <a:rPr lang="en-US" altLang="zh-CN" i="1">
                                <a:latin typeface="Cambria Math" panose="02040503050406030204" pitchFamily="18" charset="0"/>
                              </a:rPr>
                            </m:ctrlPr>
                          </m:sSupPr>
                          <m:e>
                            <m:r>
                              <a:rPr lang="en-US" altLang="zh-CN" i="1">
                                <a:latin typeface="Cambria Math" panose="02040503050406030204" pitchFamily="18" charset="0"/>
                              </a:rPr>
                              <m:t>𝑒</m:t>
                            </m:r>
                          </m:e>
                          <m:sup>
                            <m:r>
                              <a:rPr lang="en-US" altLang="zh-CN" i="1">
                                <a:latin typeface="Cambria Math" panose="02040503050406030204" pitchFamily="18" charset="0"/>
                              </a:rPr>
                              <m:t>−</m:t>
                            </m:r>
                            <m:r>
                              <a:rPr lang="en-US" altLang="zh-CN" i="1">
                                <a:latin typeface="Cambria Math" panose="02040503050406030204" pitchFamily="18" charset="0"/>
                              </a:rPr>
                              <m:t>𝑟𝑡</m:t>
                            </m:r>
                          </m:sup>
                        </m:sSup>
                      </m:den>
                    </m:f>
                  </m:oMath>
                </a14:m>
                <a:endParaRPr lang="en-US" altLang="zh-CN" dirty="0"/>
              </a:p>
              <a:p>
                <a:pPr>
                  <a:buFont typeface="Wingdings" panose="05000000000000000000" pitchFamily="2" charset="2"/>
                  <a:buChar char="Ø"/>
                </a:pPr>
                <a:r>
                  <a:rPr lang="zh-CN" altLang="en-US" dirty="0"/>
                  <a:t>只要非木材价值的增长速率（边际收益）高于用连续贴现率的永久形式    </a:t>
                </a:r>
                <a:r>
                  <a:rPr lang="en-US" altLang="zh-CN" dirty="0"/>
                  <a:t>1/</a:t>
                </a:r>
                <a:r>
                  <a:rPr lang="zh-CN" altLang="en-US" dirty="0"/>
                  <a:t>（</a:t>
                </a:r>
                <a:r>
                  <a:rPr lang="en-US" altLang="zh-CN" dirty="0"/>
                  <a:t>1-e</a:t>
                </a:r>
                <a:r>
                  <a:rPr lang="en-US" altLang="zh-CN" baseline="30000" dirty="0"/>
                  <a:t>-rt</a:t>
                </a:r>
                <a:r>
                  <a:rPr lang="zh-CN" altLang="en-US" dirty="0"/>
                  <a:t>）调整后的成本的增长速率（边际成本），则应该推迟采伐</a:t>
                </a:r>
                <a:endParaRPr lang="en-US" altLang="zh-CN" dirty="0"/>
              </a:p>
              <a:p>
                <a:pPr>
                  <a:buFont typeface="Wingdings" panose="05000000000000000000" pitchFamily="2" charset="2"/>
                  <a:buChar char="Ø"/>
                </a:pPr>
                <a:r>
                  <a:rPr lang="zh-CN" altLang="en-US" dirty="0"/>
                  <a:t>反之，则应该采伐</a:t>
                </a:r>
              </a:p>
            </p:txBody>
          </p:sp>
        </mc:Choice>
        <mc:Fallback xmlns="">
          <p:sp>
            <p:nvSpPr>
              <p:cNvPr id="4" name="内容占位符 3"/>
              <p:cNvSpPr>
                <a:spLocks noGrp="1" noRot="1" noChangeAspect="1" noMove="1" noResize="1" noEditPoints="1" noAdjustHandles="1" noChangeArrowheads="1" noChangeShapeType="1" noTextEdit="1"/>
              </p:cNvSpPr>
              <p:nvPr>
                <p:ph sz="quarter" idx="10"/>
              </p:nvPr>
            </p:nvSpPr>
            <p:spPr>
              <a:blipFill rotWithShape="0">
                <a:blip r:embed="rId2"/>
                <a:stretch>
                  <a:fillRect l="-4450" b="-93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189829464"/>
      </p:ext>
    </p:extLst>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同时考虑一个无限规划期的木材和非木材价值</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dirty="0"/>
                  <a:t>目标公式就是最大化这一组合的收益</a:t>
                </a:r>
                <a:endParaRPr lang="en-US" altLang="zh-CN" dirty="0"/>
              </a:p>
              <a:p>
                <a:r>
                  <a:rPr lang="zh-CN" altLang="en-US" dirty="0"/>
                  <a:t>有</a:t>
                </a:r>
                <a:endParaRPr lang="en-US" altLang="zh-CN" dirty="0"/>
              </a:p>
              <a:p>
                <a14:m>
                  <m:oMath xmlns:m="http://schemas.openxmlformats.org/officeDocument/2006/math">
                    <m:r>
                      <a:rPr lang="en-US" altLang="zh-CN" b="0" i="1" smtClean="0">
                        <a:latin typeface="Cambria Math" panose="02040503050406030204" pitchFamily="18" charset="0"/>
                      </a:rPr>
                      <m:t>𝑀𝑎𝑥</m:t>
                    </m:r>
                    <m:sSub>
                      <m:sSubPr>
                        <m:ctrlPr>
                          <a:rPr lang="en-US" altLang="zh-CN" b="0" i="1" smtClean="0">
                            <a:latin typeface="Cambria Math" panose="02040503050406030204" pitchFamily="18" charset="0"/>
                          </a:rPr>
                        </m:ctrlPr>
                      </m:sSubPr>
                      <m:e>
                        <m:r>
                          <a:rPr lang="en-US" altLang="zh-CN" i="1">
                            <a:latin typeface="Cambria Math" panose="02040503050406030204" pitchFamily="18" charset="0"/>
                          </a:rPr>
                          <m:t>𝑉</m:t>
                        </m:r>
                      </m:e>
                      <m:sub>
                        <m:r>
                          <a:rPr lang="en-US" altLang="zh-CN" b="0" i="1" smtClean="0">
                            <a:latin typeface="Cambria Math" panose="02040503050406030204" pitchFamily="18" charset="0"/>
                          </a:rPr>
                          <m:t>𝑠</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𝑉</m:t>
                        </m:r>
                      </m:e>
                      <m:sub>
                        <m:r>
                          <a:rPr lang="en-US" altLang="zh-CN" b="0" i="1" smtClean="0">
                            <a:latin typeface="Cambria Math" panose="02040503050406030204" pitchFamily="18" charset="0"/>
                          </a:rPr>
                          <m:t>𝑛</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𝑀𝑎𝑥</m:t>
                    </m:r>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𝑃𝑄</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𝑡</m:t>
                            </m:r>
                            <m:r>
                              <a:rPr lang="en-US" altLang="zh-CN" b="0" i="1" smtClean="0">
                                <a:latin typeface="Cambria Math" panose="02040503050406030204" pitchFamily="18" charset="0"/>
                              </a:rPr>
                              <m:t>,</m:t>
                            </m:r>
                            <m:r>
                              <a:rPr lang="en-US" altLang="zh-CN" b="0" i="1" smtClean="0">
                                <a:latin typeface="Cambria Math" panose="02040503050406030204" pitchFamily="18" charset="0"/>
                              </a:rPr>
                              <m:t>𝐸</m:t>
                            </m:r>
                          </m:e>
                        </m:d>
                        <m:sSup>
                          <m:sSupPr>
                            <m:ctrlPr>
                              <a:rPr lang="en-US" altLang="zh-CN" i="1">
                                <a:latin typeface="Cambria Math" panose="02040503050406030204" pitchFamily="18" charset="0"/>
                              </a:rPr>
                            </m:ctrlPr>
                          </m:sSupPr>
                          <m:e>
                            <m:r>
                              <a:rPr lang="en-US" altLang="zh-CN" i="1">
                                <a:latin typeface="Cambria Math" panose="02040503050406030204" pitchFamily="18" charset="0"/>
                              </a:rPr>
                              <m:t>𝑒</m:t>
                            </m:r>
                          </m:e>
                          <m:sup>
                            <m:r>
                              <a:rPr lang="en-US" altLang="zh-CN" i="1">
                                <a:latin typeface="Cambria Math" panose="02040503050406030204" pitchFamily="18" charset="0"/>
                              </a:rPr>
                              <m:t>−</m:t>
                            </m:r>
                            <m:r>
                              <a:rPr lang="en-US" altLang="zh-CN" i="1">
                                <a:latin typeface="Cambria Math" panose="02040503050406030204" pitchFamily="18" charset="0"/>
                              </a:rPr>
                              <m:t>𝑟𝑡</m:t>
                            </m:r>
                          </m:sup>
                        </m:sSup>
                        <m:r>
                          <a:rPr lang="en-US" altLang="zh-CN" b="0" i="1" smtClean="0">
                            <a:latin typeface="Cambria Math" panose="02040503050406030204" pitchFamily="18" charset="0"/>
                          </a:rPr>
                          <m:t>−</m:t>
                        </m:r>
                        <m:r>
                          <a:rPr lang="en-US" altLang="zh-CN" b="0" i="1" smtClean="0">
                            <a:latin typeface="Cambria Math" panose="02040503050406030204" pitchFamily="18" charset="0"/>
                          </a:rPr>
                          <m:t>𝑤𝐸</m:t>
                        </m:r>
                      </m:num>
                      <m:den>
                        <m:r>
                          <a:rPr lang="en-US" altLang="zh-CN" b="0" i="1" smtClean="0">
                            <a:latin typeface="Cambria Math" panose="02040503050406030204" pitchFamily="18" charset="0"/>
                          </a:rPr>
                          <m:t>1−</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𝑒</m:t>
                            </m:r>
                          </m:e>
                          <m:sup>
                            <m:r>
                              <a:rPr lang="en-US" altLang="zh-CN" b="0" i="1" smtClean="0">
                                <a:latin typeface="Cambria Math" panose="02040503050406030204" pitchFamily="18" charset="0"/>
                              </a:rPr>
                              <m:t>−</m:t>
                            </m:r>
                            <m:r>
                              <a:rPr lang="en-US" altLang="zh-CN" b="0" i="1" smtClean="0">
                                <a:latin typeface="Cambria Math" panose="02040503050406030204" pitchFamily="18" charset="0"/>
                              </a:rPr>
                              <m:t>𝑟𝑡</m:t>
                            </m:r>
                          </m:sup>
                        </m:sSup>
                      </m:den>
                    </m:f>
                    <m:r>
                      <a:rPr lang="en-US" altLang="zh-CN" b="0" i="1" smtClean="0">
                        <a:latin typeface="Cambria Math" panose="02040503050406030204" pitchFamily="18" charset="0"/>
                      </a:rPr>
                      <m:t>+</m:t>
                    </m:r>
                    <m:f>
                      <m:fPr>
                        <m:ctrlPr>
                          <a:rPr lang="en-US" altLang="zh-CN" i="1">
                            <a:latin typeface="Cambria Math" panose="02040503050406030204" pitchFamily="18" charset="0"/>
                          </a:rPr>
                        </m:ctrlPr>
                      </m:fPr>
                      <m:num>
                        <m:r>
                          <a:rPr lang="en-US" altLang="zh-CN" i="1">
                            <a:latin typeface="Cambria Math" panose="02040503050406030204" pitchFamily="18" charset="0"/>
                          </a:rPr>
                          <m:t>𝑁</m:t>
                        </m:r>
                        <m:r>
                          <a:rPr lang="en-US" altLang="zh-CN" i="1">
                            <a:latin typeface="Cambria Math" panose="02040503050406030204" pitchFamily="18" charset="0"/>
                          </a:rPr>
                          <m:t>(</m:t>
                        </m:r>
                        <m:r>
                          <a:rPr lang="en-US" altLang="zh-CN" i="1">
                            <a:latin typeface="Cambria Math" panose="02040503050406030204" pitchFamily="18" charset="0"/>
                          </a:rPr>
                          <m:t>𝑡</m:t>
                        </m:r>
                        <m:r>
                          <a:rPr lang="en-US" altLang="zh-CN" i="1">
                            <a:latin typeface="Cambria Math" panose="02040503050406030204" pitchFamily="18" charset="0"/>
                          </a:rPr>
                          <m:t>)</m:t>
                        </m:r>
                        <m:sSup>
                          <m:sSupPr>
                            <m:ctrlPr>
                              <a:rPr lang="en-US" altLang="zh-CN" i="1">
                                <a:latin typeface="Cambria Math" panose="02040503050406030204" pitchFamily="18" charset="0"/>
                              </a:rPr>
                            </m:ctrlPr>
                          </m:sSupPr>
                          <m:e>
                            <m:r>
                              <a:rPr lang="en-US" altLang="zh-CN" i="1">
                                <a:latin typeface="Cambria Math" panose="02040503050406030204" pitchFamily="18" charset="0"/>
                              </a:rPr>
                              <m:t>𝑒</m:t>
                            </m:r>
                          </m:e>
                          <m:sup>
                            <m:r>
                              <a:rPr lang="en-US" altLang="zh-CN" i="1">
                                <a:latin typeface="Cambria Math" panose="02040503050406030204" pitchFamily="18" charset="0"/>
                              </a:rPr>
                              <m:t>−</m:t>
                            </m:r>
                            <m:r>
                              <a:rPr lang="en-US" altLang="zh-CN" i="1">
                                <a:latin typeface="Cambria Math" panose="02040503050406030204" pitchFamily="18" charset="0"/>
                              </a:rPr>
                              <m:t>𝑟𝑡</m:t>
                            </m:r>
                          </m:sup>
                        </m:sSup>
                      </m:num>
                      <m:den>
                        <m:r>
                          <a:rPr lang="en-US" altLang="zh-CN" i="1">
                            <a:latin typeface="Cambria Math" panose="02040503050406030204" pitchFamily="18" charset="0"/>
                          </a:rPr>
                          <m:t>1−</m:t>
                        </m:r>
                        <m:sSup>
                          <m:sSupPr>
                            <m:ctrlPr>
                              <a:rPr lang="en-US" altLang="zh-CN" i="1">
                                <a:latin typeface="Cambria Math" panose="02040503050406030204" pitchFamily="18" charset="0"/>
                              </a:rPr>
                            </m:ctrlPr>
                          </m:sSupPr>
                          <m:e>
                            <m:r>
                              <a:rPr lang="en-US" altLang="zh-CN" i="1">
                                <a:latin typeface="Cambria Math" panose="02040503050406030204" pitchFamily="18" charset="0"/>
                              </a:rPr>
                              <m:t>𝑒</m:t>
                            </m:r>
                          </m:e>
                          <m:sup>
                            <m:r>
                              <a:rPr lang="en-US" altLang="zh-CN" i="1">
                                <a:latin typeface="Cambria Math" panose="02040503050406030204" pitchFamily="18" charset="0"/>
                              </a:rPr>
                              <m:t>−</m:t>
                            </m:r>
                            <m:r>
                              <a:rPr lang="en-US" altLang="zh-CN" i="1">
                                <a:latin typeface="Cambria Math" panose="02040503050406030204" pitchFamily="18" charset="0"/>
                              </a:rPr>
                              <m:t>𝑟𝑡</m:t>
                            </m:r>
                          </m:sup>
                        </m:sSup>
                      </m:den>
                    </m:f>
                  </m:oMath>
                </a14:m>
                <a:r>
                  <a:rPr lang="en-US" altLang="zh-CN" dirty="0"/>
                  <a:t>]</a:t>
                </a:r>
              </a:p>
              <a:p>
                <a:r>
                  <a:rPr lang="en-US" altLang="zh-CN" dirty="0"/>
                  <a:t>=</a:t>
                </a:r>
                <a14:m>
                  <m:oMath xmlns:m="http://schemas.openxmlformats.org/officeDocument/2006/math">
                    <m:r>
                      <a:rPr lang="en-US" altLang="zh-CN" i="1">
                        <a:latin typeface="Cambria Math" panose="02040503050406030204" pitchFamily="18" charset="0"/>
                      </a:rPr>
                      <m:t>𝑀𝑎𝑥</m:t>
                    </m:r>
                    <m:f>
                      <m:fPr>
                        <m:ctrlPr>
                          <a:rPr lang="en-US" altLang="zh-CN" i="1">
                            <a:latin typeface="Cambria Math" panose="02040503050406030204" pitchFamily="18" charset="0"/>
                          </a:rPr>
                        </m:ctrlPr>
                      </m:fPr>
                      <m:num>
                        <m:r>
                          <a:rPr lang="en-US" altLang="zh-CN" i="1">
                            <a:latin typeface="Cambria Math" panose="02040503050406030204" pitchFamily="18" charset="0"/>
                          </a:rPr>
                          <m:t>𝑃𝑄</m:t>
                        </m:r>
                        <m:d>
                          <m:dPr>
                            <m:ctrlPr>
                              <a:rPr lang="en-US" altLang="zh-CN" i="1">
                                <a:latin typeface="Cambria Math" panose="02040503050406030204" pitchFamily="18" charset="0"/>
                              </a:rPr>
                            </m:ctrlPr>
                          </m:dPr>
                          <m:e>
                            <m:r>
                              <a:rPr lang="en-US" altLang="zh-CN" i="1">
                                <a:latin typeface="Cambria Math" panose="02040503050406030204" pitchFamily="18" charset="0"/>
                              </a:rPr>
                              <m:t>𝑡</m:t>
                            </m:r>
                            <m:r>
                              <a:rPr lang="en-US" altLang="zh-CN" i="1">
                                <a:latin typeface="Cambria Math" panose="02040503050406030204" pitchFamily="18" charset="0"/>
                              </a:rPr>
                              <m:t>,</m:t>
                            </m:r>
                            <m:r>
                              <a:rPr lang="en-US" altLang="zh-CN" i="1">
                                <a:latin typeface="Cambria Math" panose="02040503050406030204" pitchFamily="18" charset="0"/>
                              </a:rPr>
                              <m:t>𝐸</m:t>
                            </m:r>
                          </m:e>
                        </m:d>
                        <m:sSup>
                          <m:sSupPr>
                            <m:ctrlPr>
                              <a:rPr lang="en-US" altLang="zh-CN" i="1">
                                <a:latin typeface="Cambria Math" panose="02040503050406030204" pitchFamily="18" charset="0"/>
                              </a:rPr>
                            </m:ctrlPr>
                          </m:sSupPr>
                          <m:e>
                            <m:r>
                              <a:rPr lang="en-US" altLang="zh-CN" i="1">
                                <a:latin typeface="Cambria Math" panose="02040503050406030204" pitchFamily="18" charset="0"/>
                              </a:rPr>
                              <m:t>𝑒</m:t>
                            </m:r>
                          </m:e>
                          <m:sup>
                            <m:r>
                              <a:rPr lang="en-US" altLang="zh-CN" i="1">
                                <a:latin typeface="Cambria Math" panose="02040503050406030204" pitchFamily="18" charset="0"/>
                              </a:rPr>
                              <m:t>−</m:t>
                            </m:r>
                            <m:r>
                              <a:rPr lang="en-US" altLang="zh-CN" i="1">
                                <a:latin typeface="Cambria Math" panose="02040503050406030204" pitchFamily="18" charset="0"/>
                              </a:rPr>
                              <m:t>𝑟𝑡</m:t>
                            </m:r>
                          </m:sup>
                        </m:sSup>
                        <m:r>
                          <a:rPr lang="en-US" altLang="zh-CN" i="1">
                            <a:latin typeface="Cambria Math" panose="02040503050406030204" pitchFamily="18" charset="0"/>
                          </a:rPr>
                          <m:t>−</m:t>
                        </m:r>
                        <m:r>
                          <a:rPr lang="en-US" altLang="zh-CN" i="1">
                            <a:latin typeface="Cambria Math" panose="02040503050406030204" pitchFamily="18" charset="0"/>
                          </a:rPr>
                          <m:t>𝑤𝐸</m:t>
                        </m:r>
                        <m:r>
                          <a:rPr lang="en-US" altLang="zh-CN" b="0" i="1" smtClean="0">
                            <a:latin typeface="Cambria Math" panose="02040503050406030204" pitchFamily="18" charset="0"/>
                          </a:rPr>
                          <m:t>+</m:t>
                        </m:r>
                        <m:r>
                          <a:rPr lang="en-US" altLang="zh-CN" i="1">
                            <a:latin typeface="Cambria Math" panose="02040503050406030204" pitchFamily="18" charset="0"/>
                          </a:rPr>
                          <m:t>𝑁</m:t>
                        </m:r>
                        <m:r>
                          <a:rPr lang="en-US" altLang="zh-CN" i="1">
                            <a:latin typeface="Cambria Math" panose="02040503050406030204" pitchFamily="18" charset="0"/>
                          </a:rPr>
                          <m:t>(</m:t>
                        </m:r>
                        <m:r>
                          <a:rPr lang="en-US" altLang="zh-CN" i="1">
                            <a:latin typeface="Cambria Math" panose="02040503050406030204" pitchFamily="18" charset="0"/>
                          </a:rPr>
                          <m:t>𝑡</m:t>
                        </m:r>
                        <m:r>
                          <a:rPr lang="en-US" altLang="zh-CN" i="1">
                            <a:latin typeface="Cambria Math" panose="02040503050406030204" pitchFamily="18" charset="0"/>
                          </a:rPr>
                          <m:t>)</m:t>
                        </m:r>
                        <m:sSup>
                          <m:sSupPr>
                            <m:ctrlPr>
                              <a:rPr lang="en-US" altLang="zh-CN" i="1">
                                <a:latin typeface="Cambria Math" panose="02040503050406030204" pitchFamily="18" charset="0"/>
                              </a:rPr>
                            </m:ctrlPr>
                          </m:sSupPr>
                          <m:e>
                            <m:r>
                              <a:rPr lang="en-US" altLang="zh-CN" i="1">
                                <a:latin typeface="Cambria Math" panose="02040503050406030204" pitchFamily="18" charset="0"/>
                              </a:rPr>
                              <m:t>𝑒</m:t>
                            </m:r>
                          </m:e>
                          <m:sup>
                            <m:r>
                              <a:rPr lang="en-US" altLang="zh-CN" i="1">
                                <a:latin typeface="Cambria Math" panose="02040503050406030204" pitchFamily="18" charset="0"/>
                              </a:rPr>
                              <m:t>−</m:t>
                            </m:r>
                            <m:r>
                              <a:rPr lang="en-US" altLang="zh-CN" i="1">
                                <a:latin typeface="Cambria Math" panose="02040503050406030204" pitchFamily="18" charset="0"/>
                              </a:rPr>
                              <m:t>𝑟𝑡</m:t>
                            </m:r>
                          </m:sup>
                        </m:sSup>
                      </m:num>
                      <m:den>
                        <m:r>
                          <a:rPr lang="en-US" altLang="zh-CN" i="1">
                            <a:latin typeface="Cambria Math" panose="02040503050406030204" pitchFamily="18" charset="0"/>
                          </a:rPr>
                          <m:t>1−</m:t>
                        </m:r>
                        <m:sSup>
                          <m:sSupPr>
                            <m:ctrlPr>
                              <a:rPr lang="en-US" altLang="zh-CN" i="1">
                                <a:latin typeface="Cambria Math" panose="02040503050406030204" pitchFamily="18" charset="0"/>
                              </a:rPr>
                            </m:ctrlPr>
                          </m:sSupPr>
                          <m:e>
                            <m:r>
                              <a:rPr lang="en-US" altLang="zh-CN" i="1">
                                <a:latin typeface="Cambria Math" panose="02040503050406030204" pitchFamily="18" charset="0"/>
                              </a:rPr>
                              <m:t>𝑒</m:t>
                            </m:r>
                          </m:e>
                          <m:sup>
                            <m:r>
                              <a:rPr lang="en-US" altLang="zh-CN" i="1">
                                <a:latin typeface="Cambria Math" panose="02040503050406030204" pitchFamily="18" charset="0"/>
                              </a:rPr>
                              <m:t>−</m:t>
                            </m:r>
                            <m:r>
                              <a:rPr lang="en-US" altLang="zh-CN" i="1">
                                <a:latin typeface="Cambria Math" panose="02040503050406030204" pitchFamily="18" charset="0"/>
                              </a:rPr>
                              <m:t>𝑟𝑡</m:t>
                            </m:r>
                          </m:sup>
                        </m:sSup>
                      </m:den>
                    </m:f>
                  </m:oMath>
                </a14:m>
                <a:endParaRPr lang="en-US" altLang="zh-CN" dirty="0"/>
              </a:p>
              <a:p>
                <a14:m>
                  <m:oMath xmlns:m="http://schemas.openxmlformats.org/officeDocument/2006/math">
                    <m:r>
                      <a:rPr lang="en-US" altLang="zh-CN" i="1">
                        <a:latin typeface="Cambria Math" panose="02040503050406030204" pitchFamily="18" charset="0"/>
                      </a:rPr>
                      <m:t>𝑃𝑄</m:t>
                    </m:r>
                    <m:d>
                      <m:dPr>
                        <m:ctrlPr>
                          <a:rPr lang="en-US" altLang="zh-CN" i="1">
                            <a:latin typeface="Cambria Math" panose="02040503050406030204" pitchFamily="18" charset="0"/>
                          </a:rPr>
                        </m:ctrlPr>
                      </m:dPr>
                      <m:e>
                        <m:r>
                          <a:rPr lang="en-US" altLang="zh-CN" i="1">
                            <a:latin typeface="Cambria Math" panose="02040503050406030204" pitchFamily="18" charset="0"/>
                          </a:rPr>
                          <m:t>𝑡</m:t>
                        </m:r>
                        <m:r>
                          <a:rPr lang="en-US" altLang="zh-CN" i="1">
                            <a:latin typeface="Cambria Math" panose="02040503050406030204" pitchFamily="18" charset="0"/>
                          </a:rPr>
                          <m:t>,</m:t>
                        </m:r>
                        <m:r>
                          <a:rPr lang="en-US" altLang="zh-CN" i="1">
                            <a:latin typeface="Cambria Math" panose="02040503050406030204" pitchFamily="18" charset="0"/>
                          </a:rPr>
                          <m:t>𝐸</m:t>
                        </m:r>
                      </m:e>
                    </m:d>
                    <m:r>
                      <a:rPr lang="zh-CN" altLang="en-US" b="0" i="1" smtClean="0">
                        <a:latin typeface="Cambria Math" panose="02040503050406030204" pitchFamily="18" charset="0"/>
                      </a:rPr>
                      <m:t>是</m:t>
                    </m:r>
                    <m:r>
                      <a:rPr lang="zh-CN" altLang="en-US" i="1">
                        <a:latin typeface="Cambria Math" panose="02040503050406030204" pitchFamily="18" charset="0"/>
                      </a:rPr>
                      <m:t>林木</m:t>
                    </m:r>
                    <m:r>
                      <a:rPr lang="zh-CN" altLang="en-US" b="0" i="1" smtClean="0">
                        <a:latin typeface="Cambria Math" panose="02040503050406030204" pitchFamily="18" charset="0"/>
                      </a:rPr>
                      <m:t>的</m:t>
                    </m:r>
                    <m:r>
                      <a:rPr lang="zh-CN" altLang="en-US" i="1">
                        <a:latin typeface="Cambria Math" panose="02040503050406030204" pitchFamily="18" charset="0"/>
                      </a:rPr>
                      <m:t>木材</m:t>
                    </m:r>
                    <m:r>
                      <a:rPr lang="zh-CN" altLang="en-US" i="1" smtClean="0">
                        <a:latin typeface="Cambria Math" panose="02040503050406030204" pitchFamily="18" charset="0"/>
                      </a:rPr>
                      <m:t>价值</m:t>
                    </m:r>
                    <m:r>
                      <a:rPr lang="zh-CN" altLang="en-US" b="0" i="1" smtClean="0">
                        <a:latin typeface="Cambria Math" panose="02040503050406030204" pitchFamily="18" charset="0"/>
                      </a:rPr>
                      <m:t>，</m:t>
                    </m:r>
                    <m:r>
                      <a:rPr lang="en-US" altLang="zh-CN" b="0" i="1" smtClean="0">
                        <a:latin typeface="Cambria Math" panose="02040503050406030204" pitchFamily="18" charset="0"/>
                      </a:rPr>
                      <m:t>𝑁</m:t>
                    </m:r>
                    <m:d>
                      <m:dPr>
                        <m:begChr m:val="（"/>
                        <m:endChr m:val="）"/>
                        <m:ctrlPr>
                          <a:rPr lang="zh-CN" altLang="en-US" b="0" i="1" smtClean="0">
                            <a:latin typeface="Cambria Math" panose="02040503050406030204" pitchFamily="18" charset="0"/>
                          </a:rPr>
                        </m:ctrlPr>
                      </m:dPr>
                      <m:e>
                        <m:r>
                          <a:rPr lang="en-US" altLang="zh-CN" b="0" i="1" smtClean="0">
                            <a:latin typeface="Cambria Math" panose="02040503050406030204" pitchFamily="18" charset="0"/>
                          </a:rPr>
                          <m:t>𝑡</m:t>
                        </m:r>
                      </m:e>
                    </m:d>
                    <m:r>
                      <a:rPr lang="zh-CN" altLang="en-US" b="0" i="1" smtClean="0">
                        <a:latin typeface="Cambria Math" panose="02040503050406030204" pitchFamily="18" charset="0"/>
                      </a:rPr>
                      <m:t>是</m:t>
                    </m:r>
                    <m:r>
                      <a:rPr lang="zh-CN" altLang="en-US" i="1">
                        <a:latin typeface="Cambria Math" panose="02040503050406030204" pitchFamily="18" charset="0"/>
                      </a:rPr>
                      <m:t>这个</m:t>
                    </m:r>
                    <m:r>
                      <a:rPr lang="zh-CN" altLang="en-US" i="1" smtClean="0">
                        <a:latin typeface="Cambria Math" panose="02040503050406030204" pitchFamily="18" charset="0"/>
                      </a:rPr>
                      <m:t>采伐期</m:t>
                    </m:r>
                    <m:r>
                      <a:rPr lang="en-US" altLang="zh-CN" b="0" i="1" smtClean="0">
                        <a:latin typeface="Cambria Math" panose="02040503050406030204" pitchFamily="18" charset="0"/>
                      </a:rPr>
                      <m:t>𝑡</m:t>
                    </m:r>
                    <m:r>
                      <a:rPr lang="zh-CN" altLang="en-US" i="1">
                        <a:latin typeface="Cambria Math" panose="02040503050406030204" pitchFamily="18" charset="0"/>
                      </a:rPr>
                      <m:t>期间</m:t>
                    </m:r>
                    <m:r>
                      <a:rPr lang="zh-CN" altLang="en-US" b="0" i="1" smtClean="0">
                        <a:latin typeface="Cambria Math" panose="02040503050406030204" pitchFamily="18" charset="0"/>
                      </a:rPr>
                      <m:t>的</m:t>
                    </m:r>
                    <m:r>
                      <a:rPr lang="zh-CN" altLang="en-US" i="1">
                        <a:latin typeface="Cambria Math" panose="02040503050406030204" pitchFamily="18" charset="0"/>
                      </a:rPr>
                      <m:t>非木材</m:t>
                    </m:r>
                    <m:r>
                      <a:rPr lang="zh-CN" altLang="en-US" i="1" smtClean="0">
                        <a:latin typeface="Cambria Math" panose="02040503050406030204" pitchFamily="18" charset="0"/>
                      </a:rPr>
                      <m:t>价值</m:t>
                    </m:r>
                    <m:r>
                      <a:rPr lang="zh-CN" altLang="en-US" b="0" i="1" smtClean="0">
                        <a:latin typeface="Cambria Math" panose="02040503050406030204" pitchFamily="18" charset="0"/>
                      </a:rPr>
                      <m:t>，</m:t>
                    </m:r>
                    <m:r>
                      <m:rPr>
                        <m:sty m:val="p"/>
                      </m:rPr>
                      <a:rPr lang="en-US" altLang="zh-CN" i="1">
                        <a:latin typeface="Cambria Math" panose="02040503050406030204" pitchFamily="18" charset="0"/>
                      </a:rPr>
                      <m:t>w</m:t>
                    </m:r>
                    <m:r>
                      <a:rPr lang="en-US" altLang="zh-CN" b="0" i="1" smtClean="0">
                        <a:latin typeface="Cambria Math" panose="02040503050406030204" pitchFamily="18" charset="0"/>
                      </a:rPr>
                      <m:t>𝐸</m:t>
                    </m:r>
                    <m:r>
                      <a:rPr lang="zh-CN" altLang="en-US" b="0" i="1" smtClean="0">
                        <a:latin typeface="Cambria Math" panose="02040503050406030204" pitchFamily="18" charset="0"/>
                      </a:rPr>
                      <m:t>是</m:t>
                    </m:r>
                    <m:r>
                      <a:rPr lang="zh-CN" altLang="en-US" i="1">
                        <a:latin typeface="Cambria Math" panose="02040503050406030204" pitchFamily="18" charset="0"/>
                      </a:rPr>
                      <m:t>营林</m:t>
                    </m:r>
                    <m:r>
                      <a:rPr lang="zh-CN" altLang="en-US" i="1" smtClean="0">
                        <a:latin typeface="Cambria Math" panose="02040503050406030204" pitchFamily="18" charset="0"/>
                      </a:rPr>
                      <m:t>成本</m:t>
                    </m:r>
                  </m:oMath>
                </a14:m>
                <a:endParaRPr lang="en-US" altLang="zh-CN" dirty="0"/>
              </a:p>
              <a:p>
                <a:r>
                  <a:rPr lang="zh-CN" altLang="en-US" dirty="0"/>
                  <a:t>求导得</a:t>
                </a: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0">
                <a:blip r:embed="rId2"/>
                <a:stretch>
                  <a:fillRect l="-256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67269056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A41C20A4-E14F-0447-9444-9CD6058018CB}"/>
              </a:ext>
            </a:extLst>
          </p:cNvPr>
          <p:cNvSpPr>
            <a:spLocks noGrp="1"/>
          </p:cNvSpPr>
          <p:nvPr>
            <p:ph type="title"/>
          </p:nvPr>
        </p:nvSpPr>
        <p:spPr/>
        <p:txBody>
          <a:bodyPr/>
          <a:lstStyle/>
          <a:p>
            <a:endParaRPr kumimoji="1" lang="zh-CN" altLang="en-US"/>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pPr marL="0" indent="0">
                  <a:buNone/>
                </a:pPr>
                <a14:m>
                  <m:oMathPara xmlns:m="http://schemas.openxmlformats.org/officeDocument/2006/math">
                    <m:oMathParaPr>
                      <m:jc m:val="centerGroup"/>
                    </m:oMathParaPr>
                    <m:oMath xmlns:m="http://schemas.openxmlformats.org/officeDocument/2006/math">
                      <m:f>
                        <m:fPr>
                          <m:ctrlPr>
                            <a:rPr lang="en-US" altLang="zh-CN" i="1" smtClean="0">
                              <a:latin typeface="Cambria Math" panose="02040503050406030204" pitchFamily="18" charset="0"/>
                            </a:rPr>
                          </m:ctrlPr>
                        </m:fPr>
                        <m:num>
                          <m:r>
                            <a:rPr lang="en-US" altLang="zh-CN" b="0" i="1" smtClean="0">
                              <a:latin typeface="Cambria Math" panose="02040503050406030204" pitchFamily="18" charset="0"/>
                            </a:rPr>
                            <m:t>𝑃</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𝑄</m:t>
                              </m:r>
                            </m:e>
                            <m:sub>
                              <m:r>
                                <a:rPr lang="en-US" altLang="zh-CN" b="0" i="1" smtClean="0">
                                  <a:latin typeface="Cambria Math" panose="02040503050406030204" pitchFamily="18" charset="0"/>
                                </a:rPr>
                                <m:t>𝑡</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𝑁</m:t>
                              </m:r>
                            </m:e>
                            <m:sub>
                              <m:r>
                                <a:rPr lang="en-US" altLang="zh-CN" b="0" i="1" smtClean="0">
                                  <a:latin typeface="Cambria Math" panose="02040503050406030204" pitchFamily="18" charset="0"/>
                                </a:rPr>
                                <m:t>𝑡</m:t>
                              </m:r>
                            </m:sub>
                          </m:sSub>
                        </m:num>
                        <m:den>
                          <m:r>
                            <a:rPr lang="en-US" altLang="zh-CN" b="0" i="1" smtClean="0">
                              <a:latin typeface="Cambria Math" panose="02040503050406030204" pitchFamily="18" charset="0"/>
                            </a:rPr>
                            <m:t>𝑃𝑄</m:t>
                          </m:r>
                          <m:r>
                            <a:rPr lang="en-US" altLang="zh-CN" b="0" i="1" smtClean="0">
                              <a:latin typeface="Cambria Math" panose="02040503050406030204" pitchFamily="18" charset="0"/>
                            </a:rPr>
                            <m:t>+</m:t>
                          </m:r>
                          <m:r>
                            <a:rPr lang="en-US" altLang="zh-CN" b="0" i="1" smtClean="0">
                              <a:latin typeface="Cambria Math" panose="02040503050406030204" pitchFamily="18" charset="0"/>
                            </a:rPr>
                            <m:t>𝑁</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𝑡</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𝑤𝐸</m:t>
                          </m:r>
                        </m:den>
                      </m:f>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𝑟</m:t>
                          </m:r>
                        </m:num>
                        <m:den>
                          <m:r>
                            <a:rPr lang="en-US" altLang="zh-CN" b="0" i="1" smtClean="0">
                              <a:latin typeface="Cambria Math" panose="02040503050406030204" pitchFamily="18" charset="0"/>
                            </a:rPr>
                            <m:t>1−</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𝑒</m:t>
                              </m:r>
                            </m:e>
                            <m:sup>
                              <m:r>
                                <a:rPr lang="en-US" altLang="zh-CN" b="0" i="1" smtClean="0">
                                  <a:latin typeface="Cambria Math" panose="02040503050406030204" pitchFamily="18" charset="0"/>
                                </a:rPr>
                                <m:t>−</m:t>
                              </m:r>
                              <m:r>
                                <a:rPr lang="en-US" altLang="zh-CN" b="0" i="1" smtClean="0">
                                  <a:latin typeface="Cambria Math" panose="02040503050406030204" pitchFamily="18" charset="0"/>
                                </a:rPr>
                                <m:t>𝑟𝑡</m:t>
                              </m:r>
                            </m:sup>
                          </m:sSup>
                        </m:den>
                      </m:f>
                    </m:oMath>
                  </m:oMathPara>
                </a14:m>
                <a:endParaRPr lang="en-US" altLang="zh-CN" dirty="0"/>
              </a:p>
              <a:p>
                <a:pPr marL="0" indent="0">
                  <a:buNone/>
                </a:pPr>
                <a:r>
                  <a:rPr lang="zh-CN" altLang="en-US" dirty="0"/>
                  <a:t>最佳轮伐期发生在林木继续生长一年所产生的木材和非木材价值刚好抵消推迟林木采伐一年所产生的成本时。</a:t>
                </a:r>
                <a:endParaRPr lang="en-US" altLang="zh-CN" dirty="0"/>
              </a:p>
              <a:p>
                <a:pPr marL="0" indent="0">
                  <a:buNone/>
                </a:pPr>
                <a:r>
                  <a:rPr lang="zh-CN" altLang="en-US" dirty="0"/>
                  <a:t>这就是哈特曼采伐期</a:t>
                </a:r>
                <a:endParaRPr lang="en-US" altLang="zh-CN" dirty="0"/>
              </a:p>
              <a:p>
                <a:pPr marL="0" indent="0">
                  <a:buNone/>
                </a:pPr>
                <a14:m>
                  <m:oMathPara xmlns:m="http://schemas.openxmlformats.org/officeDocument/2006/math">
                    <m:oMathParaPr>
                      <m:jc m:val="centerGroup"/>
                    </m:oMathParaPr>
                    <m:oMath xmlns:m="http://schemas.openxmlformats.org/officeDocument/2006/math">
                      <m:d>
                        <m:dPr>
                          <m:ctrlPr>
                            <a:rPr lang="en-US" altLang="zh-CN" b="0" i="1" smtClean="0">
                              <a:latin typeface="Cambria Math" panose="02040503050406030204" pitchFamily="18" charset="0"/>
                            </a:rPr>
                          </m:ctrlPr>
                        </m:dPr>
                        <m:e>
                          <m:r>
                            <a:rPr lang="en-US" altLang="zh-CN" i="1">
                              <a:latin typeface="Cambria Math" panose="02040503050406030204" pitchFamily="18" charset="0"/>
                            </a:rPr>
                            <m:t>𝑃</m:t>
                          </m:r>
                          <m:sSub>
                            <m:sSubPr>
                              <m:ctrlPr>
                                <a:rPr lang="en-US" altLang="zh-CN" i="1">
                                  <a:latin typeface="Cambria Math" panose="02040503050406030204" pitchFamily="18" charset="0"/>
                                </a:rPr>
                              </m:ctrlPr>
                            </m:sSubPr>
                            <m:e>
                              <m:r>
                                <a:rPr lang="en-US" altLang="zh-CN" i="1">
                                  <a:latin typeface="Cambria Math" panose="02040503050406030204" pitchFamily="18" charset="0"/>
                                </a:rPr>
                                <m:t>𝑄</m:t>
                              </m:r>
                            </m:e>
                            <m:sub>
                              <m:r>
                                <a:rPr lang="en-US" altLang="zh-CN" i="1">
                                  <a:latin typeface="Cambria Math" panose="02040503050406030204" pitchFamily="18" charset="0"/>
                                </a:rPr>
                                <m:t>𝑡</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𝑁</m:t>
                              </m:r>
                            </m:e>
                            <m:sub>
                              <m:r>
                                <a:rPr lang="en-US" altLang="zh-CN" i="1">
                                  <a:latin typeface="Cambria Math" panose="02040503050406030204" pitchFamily="18" charset="0"/>
                                </a:rPr>
                                <m:t>𝑡</m:t>
                              </m:r>
                            </m:sub>
                          </m:sSub>
                        </m:e>
                      </m:d>
                      <m:d>
                        <m:dPr>
                          <m:ctrlPr>
                            <a:rPr lang="en-US" altLang="zh-CN" b="0" i="1" smtClean="0">
                              <a:latin typeface="Cambria Math" panose="02040503050406030204" pitchFamily="18" charset="0"/>
                            </a:rPr>
                          </m:ctrlPr>
                        </m:dPr>
                        <m:e>
                          <m:r>
                            <a:rPr lang="en-US" altLang="zh-CN" i="1">
                              <a:latin typeface="Cambria Math" panose="02040503050406030204" pitchFamily="18" charset="0"/>
                            </a:rPr>
                            <m:t>1−</m:t>
                          </m:r>
                          <m:sSup>
                            <m:sSupPr>
                              <m:ctrlPr>
                                <a:rPr lang="en-US" altLang="zh-CN" i="1">
                                  <a:latin typeface="Cambria Math" panose="02040503050406030204" pitchFamily="18" charset="0"/>
                                </a:rPr>
                              </m:ctrlPr>
                            </m:sSupPr>
                            <m:e>
                              <m:r>
                                <a:rPr lang="en-US" altLang="zh-CN" i="1">
                                  <a:latin typeface="Cambria Math" panose="02040503050406030204" pitchFamily="18" charset="0"/>
                                </a:rPr>
                                <m:t>𝑒</m:t>
                              </m:r>
                            </m:e>
                            <m:sup>
                              <m:r>
                                <a:rPr lang="en-US" altLang="zh-CN" i="1">
                                  <a:latin typeface="Cambria Math" panose="02040503050406030204" pitchFamily="18" charset="0"/>
                                </a:rPr>
                                <m:t>−</m:t>
                              </m:r>
                              <m:r>
                                <a:rPr lang="en-US" altLang="zh-CN" i="1">
                                  <a:latin typeface="Cambria Math" panose="02040503050406030204" pitchFamily="18" charset="0"/>
                                </a:rPr>
                                <m:t>𝑟𝑡</m:t>
                              </m:r>
                            </m:sup>
                          </m:sSup>
                        </m:e>
                      </m:d>
                      <m:r>
                        <a:rPr lang="en-US" altLang="zh-CN" b="0" i="1" smtClean="0">
                          <a:latin typeface="Cambria Math" panose="02040503050406030204" pitchFamily="18" charset="0"/>
                        </a:rPr>
                        <m:t>=</m:t>
                      </m:r>
                      <m:r>
                        <a:rPr lang="en-US" altLang="zh-CN" b="0" i="1" smtClean="0">
                          <a:latin typeface="Cambria Math" panose="02040503050406030204" pitchFamily="18" charset="0"/>
                        </a:rPr>
                        <m:t>𝑟𝑃𝑄</m:t>
                      </m:r>
                      <m:r>
                        <a:rPr lang="en-US" altLang="zh-CN" i="1">
                          <a:latin typeface="Cambria Math" panose="02040503050406030204" pitchFamily="18" charset="0"/>
                        </a:rPr>
                        <m:t>+</m:t>
                      </m:r>
                      <m:r>
                        <a:rPr lang="en-US" altLang="zh-CN" b="0" i="1" smtClean="0">
                          <a:latin typeface="Cambria Math" panose="02040503050406030204" pitchFamily="18" charset="0"/>
                        </a:rPr>
                        <m:t>𝑟</m:t>
                      </m:r>
                      <m:r>
                        <a:rPr lang="en-US" altLang="zh-CN" i="1">
                          <a:latin typeface="Cambria Math" panose="02040503050406030204" pitchFamily="18" charset="0"/>
                        </a:rPr>
                        <m:t>𝑁</m:t>
                      </m:r>
                      <m:d>
                        <m:dPr>
                          <m:ctrlPr>
                            <a:rPr lang="en-US" altLang="zh-CN" i="1">
                              <a:latin typeface="Cambria Math" panose="02040503050406030204" pitchFamily="18" charset="0"/>
                            </a:rPr>
                          </m:ctrlPr>
                        </m:dPr>
                        <m:e>
                          <m:r>
                            <a:rPr lang="en-US" altLang="zh-CN" i="1">
                              <a:latin typeface="Cambria Math" panose="02040503050406030204" pitchFamily="18" charset="0"/>
                            </a:rPr>
                            <m:t>𝑡</m:t>
                          </m:r>
                        </m:e>
                      </m:d>
                      <m:r>
                        <a:rPr lang="en-US" altLang="zh-CN" i="1">
                          <a:latin typeface="Cambria Math" panose="02040503050406030204" pitchFamily="18" charset="0"/>
                        </a:rPr>
                        <m:t>−</m:t>
                      </m:r>
                      <m:r>
                        <a:rPr lang="en-US" altLang="zh-CN" b="0" i="1" smtClean="0">
                          <a:latin typeface="Cambria Math" panose="02040503050406030204" pitchFamily="18" charset="0"/>
                        </a:rPr>
                        <m:t>𝑟</m:t>
                      </m:r>
                      <m:r>
                        <a:rPr lang="en-US" altLang="zh-CN" i="1">
                          <a:latin typeface="Cambria Math" panose="02040503050406030204" pitchFamily="18" charset="0"/>
                        </a:rPr>
                        <m:t>𝑤𝐸</m:t>
                      </m:r>
                    </m:oMath>
                  </m:oMathPara>
                </a14:m>
                <a:endParaRPr lang="en-US" altLang="zh-CN"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rot="228832">
                <a:off x="224914" y="1360279"/>
                <a:ext cx="8003018" cy="4291209"/>
              </a:xfrm>
              <a:blipFill rotWithShape="0">
                <a:blip r:embed="rId2"/>
                <a:stretch>
                  <a:fillRect l="-884"/>
                </a:stretch>
              </a:blipFill>
            </p:spPr>
            <p:txBody>
              <a:bodyPr/>
              <a:lstStyle/>
              <a:p>
                <a:r>
                  <a:rPr lang="zh-CN" altLang="en-US">
                    <a:noFill/>
                  </a:rPr>
                  <a:t> </a:t>
                </a:r>
              </a:p>
            </p:txBody>
          </p:sp>
        </mc:Fallback>
      </mc:AlternateContent>
      <p:sp>
        <p:nvSpPr>
          <p:cNvPr id="4" name="文本框 3"/>
          <p:cNvSpPr txBox="1"/>
          <p:nvPr/>
        </p:nvSpPr>
        <p:spPr>
          <a:xfrm>
            <a:off x="405603" y="5019491"/>
            <a:ext cx="1596788" cy="923330"/>
          </a:xfrm>
          <a:prstGeom prst="rect">
            <a:avLst/>
          </a:prstGeom>
          <a:noFill/>
        </p:spPr>
        <p:txBody>
          <a:bodyPr wrap="square" rtlCol="0">
            <a:spAutoFit/>
          </a:bodyPr>
          <a:lstStyle/>
          <a:p>
            <a:r>
              <a:rPr lang="zh-CN" altLang="en-US" dirty="0"/>
              <a:t>边际蓄积量增长带来的木材边际收益</a:t>
            </a:r>
          </a:p>
        </p:txBody>
      </p:sp>
      <p:cxnSp>
        <p:nvCxnSpPr>
          <p:cNvPr id="6" name="直接箭头连接符 5"/>
          <p:cNvCxnSpPr>
            <a:stCxn id="4" idx="0"/>
          </p:cNvCxnSpPr>
          <p:nvPr/>
        </p:nvCxnSpPr>
        <p:spPr>
          <a:xfrm flipV="1">
            <a:off x="1203997" y="4753272"/>
            <a:ext cx="319678" cy="2662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文本框 6"/>
          <p:cNvSpPr txBox="1"/>
          <p:nvPr/>
        </p:nvSpPr>
        <p:spPr>
          <a:xfrm>
            <a:off x="2039188" y="5105476"/>
            <a:ext cx="1309140" cy="646331"/>
          </a:xfrm>
          <a:prstGeom prst="rect">
            <a:avLst/>
          </a:prstGeom>
          <a:noFill/>
        </p:spPr>
        <p:txBody>
          <a:bodyPr wrap="square" rtlCol="0">
            <a:spAutoFit/>
          </a:bodyPr>
          <a:lstStyle/>
          <a:p>
            <a:r>
              <a:rPr lang="zh-CN" altLang="en-US" dirty="0"/>
              <a:t>边际非木材收益</a:t>
            </a:r>
          </a:p>
        </p:txBody>
      </p:sp>
      <p:cxnSp>
        <p:nvCxnSpPr>
          <p:cNvPr id="9" name="直接箭头连接符 8"/>
          <p:cNvCxnSpPr>
            <a:cxnSpLocks/>
            <a:stCxn id="7" idx="0"/>
          </p:cNvCxnSpPr>
          <p:nvPr/>
        </p:nvCxnSpPr>
        <p:spPr>
          <a:xfrm flipH="1" flipV="1">
            <a:off x="2518066" y="4788508"/>
            <a:ext cx="175692" cy="3169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文本框 10"/>
          <p:cNvSpPr txBox="1"/>
          <p:nvPr/>
        </p:nvSpPr>
        <p:spPr>
          <a:xfrm>
            <a:off x="1120634" y="4401668"/>
            <a:ext cx="3316406" cy="455534"/>
          </a:xfrm>
          <a:prstGeom prst="rect">
            <a:avLst/>
          </a:prstGeom>
          <a:noFill/>
          <a:ln w="28575">
            <a:solidFill>
              <a:srgbClr val="C00000"/>
            </a:solidFill>
          </a:ln>
        </p:spPr>
        <p:txBody>
          <a:bodyPr wrap="square" rtlCol="0">
            <a:spAutoFit/>
          </a:bodyPr>
          <a:lstStyle/>
          <a:p>
            <a:endParaRPr lang="zh-CN" altLang="en-US" dirty="0"/>
          </a:p>
        </p:txBody>
      </p:sp>
      <p:sp>
        <p:nvSpPr>
          <p:cNvPr id="12" name="文本框 11"/>
          <p:cNvSpPr txBox="1"/>
          <p:nvPr/>
        </p:nvSpPr>
        <p:spPr>
          <a:xfrm>
            <a:off x="3070539" y="4940156"/>
            <a:ext cx="1436707" cy="646331"/>
          </a:xfrm>
          <a:prstGeom prst="rect">
            <a:avLst/>
          </a:prstGeom>
          <a:noFill/>
        </p:spPr>
        <p:txBody>
          <a:bodyPr wrap="square" rtlCol="0">
            <a:spAutoFit/>
          </a:bodyPr>
          <a:lstStyle/>
          <a:p>
            <a:r>
              <a:rPr lang="zh-CN" altLang="en-US" dirty="0">
                <a:solidFill>
                  <a:schemeClr val="accent3">
                    <a:lumMod val="75000"/>
                  </a:schemeClr>
                </a:solidFill>
              </a:rPr>
              <a:t>永续系列的边际效益</a:t>
            </a:r>
          </a:p>
        </p:txBody>
      </p:sp>
      <p:sp>
        <p:nvSpPr>
          <p:cNvPr id="13" name="文本框 12"/>
          <p:cNvSpPr txBox="1"/>
          <p:nvPr/>
        </p:nvSpPr>
        <p:spPr>
          <a:xfrm>
            <a:off x="4353719" y="3802301"/>
            <a:ext cx="1651378" cy="646331"/>
          </a:xfrm>
          <a:prstGeom prst="rect">
            <a:avLst/>
          </a:prstGeom>
          <a:noFill/>
        </p:spPr>
        <p:txBody>
          <a:bodyPr wrap="square" rtlCol="0">
            <a:spAutoFit/>
          </a:bodyPr>
          <a:lstStyle/>
          <a:p>
            <a:r>
              <a:rPr lang="zh-CN" altLang="en-US" dirty="0"/>
              <a:t>森林采伐得到的木材收益</a:t>
            </a:r>
          </a:p>
        </p:txBody>
      </p:sp>
      <p:sp>
        <p:nvSpPr>
          <p:cNvPr id="14" name="文本框 13"/>
          <p:cNvSpPr txBox="1"/>
          <p:nvPr/>
        </p:nvSpPr>
        <p:spPr>
          <a:xfrm>
            <a:off x="5650506" y="4851132"/>
            <a:ext cx="1651378" cy="923330"/>
          </a:xfrm>
          <a:prstGeom prst="rect">
            <a:avLst/>
          </a:prstGeom>
          <a:noFill/>
        </p:spPr>
        <p:txBody>
          <a:bodyPr wrap="square" rtlCol="0">
            <a:spAutoFit/>
          </a:bodyPr>
          <a:lstStyle/>
          <a:p>
            <a:r>
              <a:rPr lang="zh-CN" altLang="en-US" dirty="0"/>
              <a:t>森林再多生长一期产生的非木材价值</a:t>
            </a:r>
          </a:p>
        </p:txBody>
      </p:sp>
      <p:sp>
        <p:nvSpPr>
          <p:cNvPr id="15" name="文本框 14"/>
          <p:cNvSpPr txBox="1"/>
          <p:nvPr/>
        </p:nvSpPr>
        <p:spPr>
          <a:xfrm>
            <a:off x="6892785" y="3539629"/>
            <a:ext cx="1651378" cy="923330"/>
          </a:xfrm>
          <a:prstGeom prst="rect">
            <a:avLst/>
          </a:prstGeom>
          <a:noFill/>
        </p:spPr>
        <p:txBody>
          <a:bodyPr wrap="square" rtlCol="0">
            <a:spAutoFit/>
          </a:bodyPr>
          <a:lstStyle/>
          <a:p>
            <a:r>
              <a:rPr lang="zh-CN" altLang="en-US" dirty="0"/>
              <a:t>推迟了一个额外生长期的营林投入成本</a:t>
            </a:r>
          </a:p>
        </p:txBody>
      </p:sp>
    </p:spTree>
    <p:extLst>
      <p:ext uri="{BB962C8B-B14F-4D97-AF65-F5344CB8AC3E}">
        <p14:creationId xmlns:p14="http://schemas.microsoft.com/office/powerpoint/2010/main" val="260469251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其它考虑</a:t>
            </a:r>
          </a:p>
        </p:txBody>
      </p:sp>
      <p:sp>
        <p:nvSpPr>
          <p:cNvPr id="3" name="内容占位符 2"/>
          <p:cNvSpPr>
            <a:spLocks noGrp="1"/>
          </p:cNvSpPr>
          <p:nvPr>
            <p:ph idx="1"/>
          </p:nvPr>
        </p:nvSpPr>
        <p:spPr/>
        <p:txBody>
          <a:bodyPr/>
          <a:lstStyle/>
          <a:p>
            <a:r>
              <a:rPr lang="zh-CN" altLang="en-US" dirty="0"/>
              <a:t>林木的非木材价值随着年龄以不同的方式发生变化</a:t>
            </a:r>
            <a:endParaRPr lang="en-US" altLang="zh-CN" dirty="0"/>
          </a:p>
          <a:p>
            <a:r>
              <a:rPr lang="zh-CN" altLang="en-US" dirty="0"/>
              <a:t>当森林较年轻、不连片、或者有较大比重是在刚刚采伐后的区域时，森林的某些非木材价值比较高，比如一些野生动物或者放牧的价值</a:t>
            </a:r>
          </a:p>
        </p:txBody>
      </p:sp>
    </p:spTree>
    <p:extLst>
      <p:ext uri="{BB962C8B-B14F-4D97-AF65-F5344CB8AC3E}">
        <p14:creationId xmlns:p14="http://schemas.microsoft.com/office/powerpoint/2010/main" val="197630107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16"/>
          <p:cNvSpPr>
            <a:spLocks noChangeArrowheads="1"/>
          </p:cNvSpPr>
          <p:nvPr/>
        </p:nvSpPr>
        <p:spPr bwMode="auto">
          <a:xfrm>
            <a:off x="971550" y="692150"/>
            <a:ext cx="7272338"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spAutoFit/>
          </a:bodyPr>
          <a:lstStyle/>
          <a:p>
            <a:r>
              <a:rPr lang="en-US" altLang="zh-CN" b="1">
                <a:solidFill>
                  <a:srgbClr val="000000"/>
                </a:solidFill>
                <a:latin typeface="Times New Roman" charset="0"/>
                <a:cs typeface="Times New Roman" charset="0"/>
              </a:rPr>
              <a:t>Figure 7.4: Relationship between stand age and various amenity values</a:t>
            </a:r>
            <a:endParaRPr lang="en-CA" b="1">
              <a:latin typeface="Times New Roman" charset="0"/>
              <a:cs typeface="Times New Roman" charset="0"/>
            </a:endParaRPr>
          </a:p>
        </p:txBody>
      </p:sp>
      <p:sp>
        <p:nvSpPr>
          <p:cNvPr id="34822" name="Text Box 2166"/>
          <p:cNvSpPr txBox="1">
            <a:spLocks noChangeArrowheads="1"/>
          </p:cNvSpPr>
          <p:nvPr/>
        </p:nvSpPr>
        <p:spPr bwMode="auto">
          <a:xfrm>
            <a:off x="1555487" y="5130964"/>
            <a:ext cx="497616" cy="3143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charset="0"/>
                <a:ea typeface="宋体" charset="0"/>
              </a:defRPr>
            </a:lvl1pPr>
            <a:lvl2pPr marL="742950" indent="-285750" eaLnBrk="0" hangingPunct="0">
              <a:defRPr>
                <a:solidFill>
                  <a:schemeClr val="tx1"/>
                </a:solidFill>
                <a:latin typeface="Arial" charset="0"/>
                <a:ea typeface="宋体" charset="0"/>
              </a:defRPr>
            </a:lvl2pPr>
            <a:lvl3pPr marL="1143000" indent="-228600" eaLnBrk="0" hangingPunct="0">
              <a:defRPr>
                <a:solidFill>
                  <a:schemeClr val="tx1"/>
                </a:solidFill>
                <a:latin typeface="Arial" charset="0"/>
                <a:ea typeface="宋体" charset="0"/>
              </a:defRPr>
            </a:lvl3pPr>
            <a:lvl4pPr marL="1600200" indent="-228600" eaLnBrk="0" hangingPunct="0">
              <a:defRPr>
                <a:solidFill>
                  <a:schemeClr val="tx1"/>
                </a:solidFill>
                <a:latin typeface="Arial" charset="0"/>
                <a:ea typeface="宋体" charset="0"/>
              </a:defRPr>
            </a:lvl4pPr>
            <a:lvl5pPr marL="2057400" indent="-228600" eaLnBrk="0" hangingPunct="0">
              <a:defRPr>
                <a:solidFill>
                  <a:schemeClr val="tx1"/>
                </a:solidFill>
                <a:latin typeface="Arial" charset="0"/>
                <a:ea typeface="宋体" charset="0"/>
              </a:defRPr>
            </a:lvl5pPr>
            <a:lvl6pPr marL="2514600" indent="-228600" eaLnBrk="0" fontAlgn="base" hangingPunct="0">
              <a:spcBef>
                <a:spcPct val="0"/>
              </a:spcBef>
              <a:spcAft>
                <a:spcPct val="0"/>
              </a:spcAft>
              <a:defRPr>
                <a:solidFill>
                  <a:schemeClr val="tx1"/>
                </a:solidFill>
                <a:latin typeface="Arial" charset="0"/>
                <a:ea typeface="宋体" charset="0"/>
              </a:defRPr>
            </a:lvl6pPr>
            <a:lvl7pPr marL="2971800" indent="-228600" eaLnBrk="0" fontAlgn="base" hangingPunct="0">
              <a:spcBef>
                <a:spcPct val="0"/>
              </a:spcBef>
              <a:spcAft>
                <a:spcPct val="0"/>
              </a:spcAft>
              <a:defRPr>
                <a:solidFill>
                  <a:schemeClr val="tx1"/>
                </a:solidFill>
                <a:latin typeface="Arial" charset="0"/>
                <a:ea typeface="宋体" charset="0"/>
              </a:defRPr>
            </a:lvl7pPr>
            <a:lvl8pPr marL="3429000" indent="-228600" eaLnBrk="0" fontAlgn="base" hangingPunct="0">
              <a:spcBef>
                <a:spcPct val="0"/>
              </a:spcBef>
              <a:spcAft>
                <a:spcPct val="0"/>
              </a:spcAft>
              <a:defRPr>
                <a:solidFill>
                  <a:schemeClr val="tx1"/>
                </a:solidFill>
                <a:latin typeface="Arial" charset="0"/>
                <a:ea typeface="宋体" charset="0"/>
              </a:defRPr>
            </a:lvl8pPr>
            <a:lvl9pPr marL="3886200" indent="-228600" eaLnBrk="0" fontAlgn="base" hangingPunct="0">
              <a:spcBef>
                <a:spcPct val="0"/>
              </a:spcBef>
              <a:spcAft>
                <a:spcPct val="0"/>
              </a:spcAft>
              <a:defRPr>
                <a:solidFill>
                  <a:schemeClr val="tx1"/>
                </a:solidFill>
                <a:latin typeface="Arial" charset="0"/>
                <a:ea typeface="宋体" charset="0"/>
              </a:defRPr>
            </a:lvl9pPr>
          </a:lstStyle>
          <a:p>
            <a:pPr eaLnBrk="1" hangingPunct="1"/>
            <a:r>
              <a:rPr lang="en-US" altLang="zh-CN">
                <a:latin typeface="Times New Roman" charset="0"/>
                <a:cs typeface="Times New Roman" charset="0"/>
              </a:rPr>
              <a:t>0</a:t>
            </a:r>
            <a:endParaRPr lang="en-CA">
              <a:latin typeface="Times New Roman" charset="0"/>
              <a:cs typeface="Times New Roman" charset="0"/>
            </a:endParaRPr>
          </a:p>
        </p:txBody>
      </p:sp>
      <p:sp>
        <p:nvSpPr>
          <p:cNvPr id="34823" name="Text Box 2167"/>
          <p:cNvSpPr txBox="1">
            <a:spLocks noChangeArrowheads="1"/>
          </p:cNvSpPr>
          <p:nvPr/>
        </p:nvSpPr>
        <p:spPr bwMode="auto">
          <a:xfrm>
            <a:off x="1403350" y="1628775"/>
            <a:ext cx="727935" cy="3143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indent="-57150" eaLnBrk="0" hangingPunct="0">
              <a:defRPr>
                <a:solidFill>
                  <a:schemeClr val="tx1"/>
                </a:solidFill>
                <a:latin typeface="Arial" charset="0"/>
                <a:ea typeface="宋体" charset="0"/>
              </a:defRPr>
            </a:lvl1pPr>
            <a:lvl2pPr marL="742950" indent="-285750" eaLnBrk="0" hangingPunct="0">
              <a:defRPr>
                <a:solidFill>
                  <a:schemeClr val="tx1"/>
                </a:solidFill>
                <a:latin typeface="Arial" charset="0"/>
                <a:ea typeface="宋体" charset="0"/>
              </a:defRPr>
            </a:lvl2pPr>
            <a:lvl3pPr marL="1143000" indent="-228600" eaLnBrk="0" hangingPunct="0">
              <a:defRPr>
                <a:solidFill>
                  <a:schemeClr val="tx1"/>
                </a:solidFill>
                <a:latin typeface="Arial" charset="0"/>
                <a:ea typeface="宋体" charset="0"/>
              </a:defRPr>
            </a:lvl3pPr>
            <a:lvl4pPr marL="1600200" indent="-228600" eaLnBrk="0" hangingPunct="0">
              <a:defRPr>
                <a:solidFill>
                  <a:schemeClr val="tx1"/>
                </a:solidFill>
                <a:latin typeface="Arial" charset="0"/>
                <a:ea typeface="宋体" charset="0"/>
              </a:defRPr>
            </a:lvl4pPr>
            <a:lvl5pPr marL="2057400" indent="-228600" eaLnBrk="0" hangingPunct="0">
              <a:defRPr>
                <a:solidFill>
                  <a:schemeClr val="tx1"/>
                </a:solidFill>
                <a:latin typeface="Arial" charset="0"/>
                <a:ea typeface="宋体" charset="0"/>
              </a:defRPr>
            </a:lvl5pPr>
            <a:lvl6pPr marL="2514600" indent="-228600" eaLnBrk="0" fontAlgn="base" hangingPunct="0">
              <a:spcBef>
                <a:spcPct val="0"/>
              </a:spcBef>
              <a:spcAft>
                <a:spcPct val="0"/>
              </a:spcAft>
              <a:defRPr>
                <a:solidFill>
                  <a:schemeClr val="tx1"/>
                </a:solidFill>
                <a:latin typeface="Arial" charset="0"/>
                <a:ea typeface="宋体" charset="0"/>
              </a:defRPr>
            </a:lvl6pPr>
            <a:lvl7pPr marL="2971800" indent="-228600" eaLnBrk="0" fontAlgn="base" hangingPunct="0">
              <a:spcBef>
                <a:spcPct val="0"/>
              </a:spcBef>
              <a:spcAft>
                <a:spcPct val="0"/>
              </a:spcAft>
              <a:defRPr>
                <a:solidFill>
                  <a:schemeClr val="tx1"/>
                </a:solidFill>
                <a:latin typeface="Arial" charset="0"/>
                <a:ea typeface="宋体" charset="0"/>
              </a:defRPr>
            </a:lvl7pPr>
            <a:lvl8pPr marL="3429000" indent="-228600" eaLnBrk="0" fontAlgn="base" hangingPunct="0">
              <a:spcBef>
                <a:spcPct val="0"/>
              </a:spcBef>
              <a:spcAft>
                <a:spcPct val="0"/>
              </a:spcAft>
              <a:defRPr>
                <a:solidFill>
                  <a:schemeClr val="tx1"/>
                </a:solidFill>
                <a:latin typeface="Arial" charset="0"/>
                <a:ea typeface="宋体" charset="0"/>
              </a:defRPr>
            </a:lvl8pPr>
            <a:lvl9pPr marL="3886200" indent="-228600" eaLnBrk="0" fontAlgn="base" hangingPunct="0">
              <a:spcBef>
                <a:spcPct val="0"/>
              </a:spcBef>
              <a:spcAft>
                <a:spcPct val="0"/>
              </a:spcAft>
              <a:defRPr>
                <a:solidFill>
                  <a:schemeClr val="tx1"/>
                </a:solidFill>
                <a:latin typeface="Arial" charset="0"/>
                <a:ea typeface="宋体" charset="0"/>
              </a:defRPr>
            </a:lvl9pPr>
          </a:lstStyle>
          <a:p>
            <a:pPr eaLnBrk="1" hangingPunct="1"/>
            <a:r>
              <a:rPr lang="en-US" altLang="zh-CN" i="1">
                <a:latin typeface="Times New Roman" charset="0"/>
                <a:cs typeface="Times New Roman" charset="0"/>
              </a:rPr>
              <a:t>N</a:t>
            </a:r>
            <a:r>
              <a:rPr lang="en-US" altLang="zh-CN">
                <a:latin typeface="Times New Roman" charset="0"/>
                <a:cs typeface="Times New Roman" charset="0"/>
              </a:rPr>
              <a:t>(</a:t>
            </a:r>
            <a:r>
              <a:rPr lang="en-US" altLang="zh-CN" i="1">
                <a:latin typeface="Times New Roman" charset="0"/>
                <a:cs typeface="Times New Roman" charset="0"/>
              </a:rPr>
              <a:t>t</a:t>
            </a:r>
            <a:r>
              <a:rPr lang="en-US" altLang="zh-CN">
                <a:latin typeface="Times New Roman" charset="0"/>
                <a:cs typeface="Times New Roman" charset="0"/>
              </a:rPr>
              <a:t>)</a:t>
            </a:r>
            <a:endParaRPr lang="en-CA">
              <a:latin typeface="Times New Roman" charset="0"/>
              <a:cs typeface="Times New Roman" charset="0"/>
            </a:endParaRPr>
          </a:p>
        </p:txBody>
      </p:sp>
      <p:sp>
        <p:nvSpPr>
          <p:cNvPr id="34824" name="Text Box 2168"/>
          <p:cNvSpPr txBox="1">
            <a:spLocks noChangeArrowheads="1"/>
          </p:cNvSpPr>
          <p:nvPr/>
        </p:nvSpPr>
        <p:spPr bwMode="auto">
          <a:xfrm>
            <a:off x="6950025" y="1670851"/>
            <a:ext cx="608550" cy="3143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charset="0"/>
                <a:ea typeface="宋体" charset="0"/>
              </a:defRPr>
            </a:lvl1pPr>
            <a:lvl2pPr marL="742950" indent="-285750" eaLnBrk="0" hangingPunct="0">
              <a:defRPr>
                <a:solidFill>
                  <a:schemeClr val="tx1"/>
                </a:solidFill>
                <a:latin typeface="Arial" charset="0"/>
                <a:ea typeface="宋体" charset="0"/>
              </a:defRPr>
            </a:lvl2pPr>
            <a:lvl3pPr marL="1143000" indent="-228600" eaLnBrk="0" hangingPunct="0">
              <a:defRPr>
                <a:solidFill>
                  <a:schemeClr val="tx1"/>
                </a:solidFill>
                <a:latin typeface="Arial" charset="0"/>
                <a:ea typeface="宋体" charset="0"/>
              </a:defRPr>
            </a:lvl3pPr>
            <a:lvl4pPr marL="1600200" indent="-228600" eaLnBrk="0" hangingPunct="0">
              <a:defRPr>
                <a:solidFill>
                  <a:schemeClr val="tx1"/>
                </a:solidFill>
                <a:latin typeface="Arial" charset="0"/>
                <a:ea typeface="宋体" charset="0"/>
              </a:defRPr>
            </a:lvl4pPr>
            <a:lvl5pPr marL="2057400" indent="-228600" eaLnBrk="0" hangingPunct="0">
              <a:defRPr>
                <a:solidFill>
                  <a:schemeClr val="tx1"/>
                </a:solidFill>
                <a:latin typeface="Arial" charset="0"/>
                <a:ea typeface="宋体" charset="0"/>
              </a:defRPr>
            </a:lvl5pPr>
            <a:lvl6pPr marL="2514600" indent="-228600" eaLnBrk="0" fontAlgn="base" hangingPunct="0">
              <a:spcBef>
                <a:spcPct val="0"/>
              </a:spcBef>
              <a:spcAft>
                <a:spcPct val="0"/>
              </a:spcAft>
              <a:defRPr>
                <a:solidFill>
                  <a:schemeClr val="tx1"/>
                </a:solidFill>
                <a:latin typeface="Arial" charset="0"/>
                <a:ea typeface="宋体" charset="0"/>
              </a:defRPr>
            </a:lvl6pPr>
            <a:lvl7pPr marL="2971800" indent="-228600" eaLnBrk="0" fontAlgn="base" hangingPunct="0">
              <a:spcBef>
                <a:spcPct val="0"/>
              </a:spcBef>
              <a:spcAft>
                <a:spcPct val="0"/>
              </a:spcAft>
              <a:defRPr>
                <a:solidFill>
                  <a:schemeClr val="tx1"/>
                </a:solidFill>
                <a:latin typeface="Arial" charset="0"/>
                <a:ea typeface="宋体" charset="0"/>
              </a:defRPr>
            </a:lvl7pPr>
            <a:lvl8pPr marL="3429000" indent="-228600" eaLnBrk="0" fontAlgn="base" hangingPunct="0">
              <a:spcBef>
                <a:spcPct val="0"/>
              </a:spcBef>
              <a:spcAft>
                <a:spcPct val="0"/>
              </a:spcAft>
              <a:defRPr>
                <a:solidFill>
                  <a:schemeClr val="tx1"/>
                </a:solidFill>
                <a:latin typeface="Arial" charset="0"/>
                <a:ea typeface="宋体" charset="0"/>
              </a:defRPr>
            </a:lvl8pPr>
            <a:lvl9pPr marL="3886200" indent="-228600" eaLnBrk="0" fontAlgn="base" hangingPunct="0">
              <a:spcBef>
                <a:spcPct val="0"/>
              </a:spcBef>
              <a:spcAft>
                <a:spcPct val="0"/>
              </a:spcAft>
              <a:defRPr>
                <a:solidFill>
                  <a:schemeClr val="tx1"/>
                </a:solidFill>
                <a:latin typeface="Arial" charset="0"/>
                <a:ea typeface="宋体" charset="0"/>
              </a:defRPr>
            </a:lvl9pPr>
          </a:lstStyle>
          <a:p>
            <a:pPr eaLnBrk="1" hangingPunct="1"/>
            <a:r>
              <a:rPr lang="en-US" altLang="zh-CN">
                <a:latin typeface="Times New Roman" charset="0"/>
                <a:cs typeface="Times New Roman" charset="0"/>
              </a:rPr>
              <a:t>IV</a:t>
            </a:r>
            <a:endParaRPr lang="en-CA">
              <a:latin typeface="Times New Roman" charset="0"/>
              <a:cs typeface="Times New Roman" charset="0"/>
            </a:endParaRPr>
          </a:p>
        </p:txBody>
      </p:sp>
      <p:sp>
        <p:nvSpPr>
          <p:cNvPr id="34825" name="Text Box 2169"/>
          <p:cNvSpPr txBox="1">
            <a:spLocks noChangeArrowheads="1"/>
          </p:cNvSpPr>
          <p:nvPr/>
        </p:nvSpPr>
        <p:spPr bwMode="auto">
          <a:xfrm>
            <a:off x="6955308" y="2306112"/>
            <a:ext cx="608550" cy="3143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charset="0"/>
                <a:ea typeface="宋体" charset="0"/>
              </a:defRPr>
            </a:lvl1pPr>
            <a:lvl2pPr marL="742950" indent="-285750" eaLnBrk="0" hangingPunct="0">
              <a:defRPr>
                <a:solidFill>
                  <a:schemeClr val="tx1"/>
                </a:solidFill>
                <a:latin typeface="Arial" charset="0"/>
                <a:ea typeface="宋体" charset="0"/>
              </a:defRPr>
            </a:lvl2pPr>
            <a:lvl3pPr marL="1143000" indent="-228600" eaLnBrk="0" hangingPunct="0">
              <a:defRPr>
                <a:solidFill>
                  <a:schemeClr val="tx1"/>
                </a:solidFill>
                <a:latin typeface="Arial" charset="0"/>
                <a:ea typeface="宋体" charset="0"/>
              </a:defRPr>
            </a:lvl3pPr>
            <a:lvl4pPr marL="1600200" indent="-228600" eaLnBrk="0" hangingPunct="0">
              <a:defRPr>
                <a:solidFill>
                  <a:schemeClr val="tx1"/>
                </a:solidFill>
                <a:latin typeface="Arial" charset="0"/>
                <a:ea typeface="宋体" charset="0"/>
              </a:defRPr>
            </a:lvl4pPr>
            <a:lvl5pPr marL="2057400" indent="-228600" eaLnBrk="0" hangingPunct="0">
              <a:defRPr>
                <a:solidFill>
                  <a:schemeClr val="tx1"/>
                </a:solidFill>
                <a:latin typeface="Arial" charset="0"/>
                <a:ea typeface="宋体" charset="0"/>
              </a:defRPr>
            </a:lvl5pPr>
            <a:lvl6pPr marL="2514600" indent="-228600" eaLnBrk="0" fontAlgn="base" hangingPunct="0">
              <a:spcBef>
                <a:spcPct val="0"/>
              </a:spcBef>
              <a:spcAft>
                <a:spcPct val="0"/>
              </a:spcAft>
              <a:defRPr>
                <a:solidFill>
                  <a:schemeClr val="tx1"/>
                </a:solidFill>
                <a:latin typeface="Arial" charset="0"/>
                <a:ea typeface="宋体" charset="0"/>
              </a:defRPr>
            </a:lvl6pPr>
            <a:lvl7pPr marL="2971800" indent="-228600" eaLnBrk="0" fontAlgn="base" hangingPunct="0">
              <a:spcBef>
                <a:spcPct val="0"/>
              </a:spcBef>
              <a:spcAft>
                <a:spcPct val="0"/>
              </a:spcAft>
              <a:defRPr>
                <a:solidFill>
                  <a:schemeClr val="tx1"/>
                </a:solidFill>
                <a:latin typeface="Arial" charset="0"/>
                <a:ea typeface="宋体" charset="0"/>
              </a:defRPr>
            </a:lvl7pPr>
            <a:lvl8pPr marL="3429000" indent="-228600" eaLnBrk="0" fontAlgn="base" hangingPunct="0">
              <a:spcBef>
                <a:spcPct val="0"/>
              </a:spcBef>
              <a:spcAft>
                <a:spcPct val="0"/>
              </a:spcAft>
              <a:defRPr>
                <a:solidFill>
                  <a:schemeClr val="tx1"/>
                </a:solidFill>
                <a:latin typeface="Arial" charset="0"/>
                <a:ea typeface="宋体" charset="0"/>
              </a:defRPr>
            </a:lvl8pPr>
            <a:lvl9pPr marL="3886200" indent="-228600" eaLnBrk="0" fontAlgn="base" hangingPunct="0">
              <a:spcBef>
                <a:spcPct val="0"/>
              </a:spcBef>
              <a:spcAft>
                <a:spcPct val="0"/>
              </a:spcAft>
              <a:defRPr>
                <a:solidFill>
                  <a:schemeClr val="tx1"/>
                </a:solidFill>
                <a:latin typeface="Arial" charset="0"/>
                <a:ea typeface="宋体" charset="0"/>
              </a:defRPr>
            </a:lvl9pPr>
          </a:lstStyle>
          <a:p>
            <a:pPr eaLnBrk="1" hangingPunct="1"/>
            <a:r>
              <a:rPr lang="en-US" altLang="zh-CN">
                <a:latin typeface="Times New Roman" charset="0"/>
                <a:cs typeface="Times New Roman" charset="0"/>
              </a:rPr>
              <a:t>III</a:t>
            </a:r>
            <a:endParaRPr lang="en-CA">
              <a:latin typeface="Times New Roman" charset="0"/>
              <a:cs typeface="Times New Roman" charset="0"/>
            </a:endParaRPr>
          </a:p>
        </p:txBody>
      </p:sp>
      <p:sp>
        <p:nvSpPr>
          <p:cNvPr id="34826" name="Text Box 2170"/>
          <p:cNvSpPr txBox="1">
            <a:spLocks noChangeArrowheads="1"/>
          </p:cNvSpPr>
          <p:nvPr/>
        </p:nvSpPr>
        <p:spPr bwMode="auto">
          <a:xfrm>
            <a:off x="7343047" y="4791883"/>
            <a:ext cx="497616" cy="45458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charset="0"/>
                <a:ea typeface="宋体" charset="0"/>
              </a:defRPr>
            </a:lvl1pPr>
            <a:lvl2pPr marL="742950" indent="-285750" eaLnBrk="0" hangingPunct="0">
              <a:defRPr>
                <a:solidFill>
                  <a:schemeClr val="tx1"/>
                </a:solidFill>
                <a:latin typeface="Arial" charset="0"/>
                <a:ea typeface="宋体" charset="0"/>
              </a:defRPr>
            </a:lvl2pPr>
            <a:lvl3pPr marL="1143000" indent="-228600" eaLnBrk="0" hangingPunct="0">
              <a:defRPr>
                <a:solidFill>
                  <a:schemeClr val="tx1"/>
                </a:solidFill>
                <a:latin typeface="Arial" charset="0"/>
                <a:ea typeface="宋体" charset="0"/>
              </a:defRPr>
            </a:lvl3pPr>
            <a:lvl4pPr marL="1600200" indent="-228600" eaLnBrk="0" hangingPunct="0">
              <a:defRPr>
                <a:solidFill>
                  <a:schemeClr val="tx1"/>
                </a:solidFill>
                <a:latin typeface="Arial" charset="0"/>
                <a:ea typeface="宋体" charset="0"/>
              </a:defRPr>
            </a:lvl4pPr>
            <a:lvl5pPr marL="2057400" indent="-228600" eaLnBrk="0" hangingPunct="0">
              <a:defRPr>
                <a:solidFill>
                  <a:schemeClr val="tx1"/>
                </a:solidFill>
                <a:latin typeface="Arial" charset="0"/>
                <a:ea typeface="宋体" charset="0"/>
              </a:defRPr>
            </a:lvl5pPr>
            <a:lvl6pPr marL="2514600" indent="-228600" eaLnBrk="0" fontAlgn="base" hangingPunct="0">
              <a:spcBef>
                <a:spcPct val="0"/>
              </a:spcBef>
              <a:spcAft>
                <a:spcPct val="0"/>
              </a:spcAft>
              <a:defRPr>
                <a:solidFill>
                  <a:schemeClr val="tx1"/>
                </a:solidFill>
                <a:latin typeface="Arial" charset="0"/>
                <a:ea typeface="宋体" charset="0"/>
              </a:defRPr>
            </a:lvl6pPr>
            <a:lvl7pPr marL="2971800" indent="-228600" eaLnBrk="0" fontAlgn="base" hangingPunct="0">
              <a:spcBef>
                <a:spcPct val="0"/>
              </a:spcBef>
              <a:spcAft>
                <a:spcPct val="0"/>
              </a:spcAft>
              <a:defRPr>
                <a:solidFill>
                  <a:schemeClr val="tx1"/>
                </a:solidFill>
                <a:latin typeface="Arial" charset="0"/>
                <a:ea typeface="宋体" charset="0"/>
              </a:defRPr>
            </a:lvl7pPr>
            <a:lvl8pPr marL="3429000" indent="-228600" eaLnBrk="0" fontAlgn="base" hangingPunct="0">
              <a:spcBef>
                <a:spcPct val="0"/>
              </a:spcBef>
              <a:spcAft>
                <a:spcPct val="0"/>
              </a:spcAft>
              <a:defRPr>
                <a:solidFill>
                  <a:schemeClr val="tx1"/>
                </a:solidFill>
                <a:latin typeface="Arial" charset="0"/>
                <a:ea typeface="宋体" charset="0"/>
              </a:defRPr>
            </a:lvl8pPr>
            <a:lvl9pPr marL="3886200" indent="-228600" eaLnBrk="0" fontAlgn="base" hangingPunct="0">
              <a:spcBef>
                <a:spcPct val="0"/>
              </a:spcBef>
              <a:spcAft>
                <a:spcPct val="0"/>
              </a:spcAft>
              <a:defRPr>
                <a:solidFill>
                  <a:schemeClr val="tx1"/>
                </a:solidFill>
                <a:latin typeface="Arial" charset="0"/>
                <a:ea typeface="宋体" charset="0"/>
              </a:defRPr>
            </a:lvl9pPr>
          </a:lstStyle>
          <a:p>
            <a:pPr eaLnBrk="1" hangingPunct="1"/>
            <a:r>
              <a:rPr lang="en-US" altLang="zh-CN">
                <a:latin typeface="Times New Roman" charset="0"/>
                <a:cs typeface="Times New Roman" charset="0"/>
              </a:rPr>
              <a:t>I</a:t>
            </a:r>
            <a:endParaRPr lang="en-CA">
              <a:latin typeface="Times New Roman" charset="0"/>
              <a:cs typeface="Times New Roman" charset="0"/>
            </a:endParaRPr>
          </a:p>
        </p:txBody>
      </p:sp>
      <p:sp>
        <p:nvSpPr>
          <p:cNvPr id="34827" name="Text Box 2171"/>
          <p:cNvSpPr txBox="1">
            <a:spLocks noChangeArrowheads="1"/>
          </p:cNvSpPr>
          <p:nvPr/>
        </p:nvSpPr>
        <p:spPr bwMode="auto">
          <a:xfrm>
            <a:off x="7156045" y="4098045"/>
            <a:ext cx="497616" cy="3374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charset="0"/>
                <a:ea typeface="宋体" charset="0"/>
              </a:defRPr>
            </a:lvl1pPr>
            <a:lvl2pPr marL="742950" indent="-285750" eaLnBrk="0" hangingPunct="0">
              <a:defRPr>
                <a:solidFill>
                  <a:schemeClr val="tx1"/>
                </a:solidFill>
                <a:latin typeface="Arial" charset="0"/>
                <a:ea typeface="宋体" charset="0"/>
              </a:defRPr>
            </a:lvl2pPr>
            <a:lvl3pPr marL="1143000" indent="-228600" eaLnBrk="0" hangingPunct="0">
              <a:defRPr>
                <a:solidFill>
                  <a:schemeClr val="tx1"/>
                </a:solidFill>
                <a:latin typeface="Arial" charset="0"/>
                <a:ea typeface="宋体" charset="0"/>
              </a:defRPr>
            </a:lvl3pPr>
            <a:lvl4pPr marL="1600200" indent="-228600" eaLnBrk="0" hangingPunct="0">
              <a:defRPr>
                <a:solidFill>
                  <a:schemeClr val="tx1"/>
                </a:solidFill>
                <a:latin typeface="Arial" charset="0"/>
                <a:ea typeface="宋体" charset="0"/>
              </a:defRPr>
            </a:lvl4pPr>
            <a:lvl5pPr marL="2057400" indent="-228600" eaLnBrk="0" hangingPunct="0">
              <a:defRPr>
                <a:solidFill>
                  <a:schemeClr val="tx1"/>
                </a:solidFill>
                <a:latin typeface="Arial" charset="0"/>
                <a:ea typeface="宋体" charset="0"/>
              </a:defRPr>
            </a:lvl5pPr>
            <a:lvl6pPr marL="2514600" indent="-228600" eaLnBrk="0" fontAlgn="base" hangingPunct="0">
              <a:spcBef>
                <a:spcPct val="0"/>
              </a:spcBef>
              <a:spcAft>
                <a:spcPct val="0"/>
              </a:spcAft>
              <a:defRPr>
                <a:solidFill>
                  <a:schemeClr val="tx1"/>
                </a:solidFill>
                <a:latin typeface="Arial" charset="0"/>
                <a:ea typeface="宋体" charset="0"/>
              </a:defRPr>
            </a:lvl6pPr>
            <a:lvl7pPr marL="2971800" indent="-228600" eaLnBrk="0" fontAlgn="base" hangingPunct="0">
              <a:spcBef>
                <a:spcPct val="0"/>
              </a:spcBef>
              <a:spcAft>
                <a:spcPct val="0"/>
              </a:spcAft>
              <a:defRPr>
                <a:solidFill>
                  <a:schemeClr val="tx1"/>
                </a:solidFill>
                <a:latin typeface="Arial" charset="0"/>
                <a:ea typeface="宋体" charset="0"/>
              </a:defRPr>
            </a:lvl7pPr>
            <a:lvl8pPr marL="3429000" indent="-228600" eaLnBrk="0" fontAlgn="base" hangingPunct="0">
              <a:spcBef>
                <a:spcPct val="0"/>
              </a:spcBef>
              <a:spcAft>
                <a:spcPct val="0"/>
              </a:spcAft>
              <a:defRPr>
                <a:solidFill>
                  <a:schemeClr val="tx1"/>
                </a:solidFill>
                <a:latin typeface="Arial" charset="0"/>
                <a:ea typeface="宋体" charset="0"/>
              </a:defRPr>
            </a:lvl8pPr>
            <a:lvl9pPr marL="3886200" indent="-228600" eaLnBrk="0" fontAlgn="base" hangingPunct="0">
              <a:spcBef>
                <a:spcPct val="0"/>
              </a:spcBef>
              <a:spcAft>
                <a:spcPct val="0"/>
              </a:spcAft>
              <a:defRPr>
                <a:solidFill>
                  <a:schemeClr val="tx1"/>
                </a:solidFill>
                <a:latin typeface="Arial" charset="0"/>
                <a:ea typeface="宋体" charset="0"/>
              </a:defRPr>
            </a:lvl9pPr>
          </a:lstStyle>
          <a:p>
            <a:pPr eaLnBrk="1" hangingPunct="1"/>
            <a:r>
              <a:rPr lang="en-US" altLang="zh-CN">
                <a:latin typeface="Times New Roman" charset="0"/>
                <a:cs typeface="Times New Roman" charset="0"/>
              </a:rPr>
              <a:t>II</a:t>
            </a:r>
            <a:endParaRPr lang="en-CA">
              <a:latin typeface="Times New Roman" charset="0"/>
              <a:cs typeface="Times New Roman" charset="0"/>
            </a:endParaRPr>
          </a:p>
        </p:txBody>
      </p:sp>
      <p:sp>
        <p:nvSpPr>
          <p:cNvPr id="34828" name="Text Box 2172"/>
          <p:cNvSpPr txBox="1">
            <a:spLocks noChangeArrowheads="1"/>
          </p:cNvSpPr>
          <p:nvPr/>
        </p:nvSpPr>
        <p:spPr bwMode="auto">
          <a:xfrm>
            <a:off x="7314521" y="5246466"/>
            <a:ext cx="497616" cy="3143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charset="0"/>
                <a:ea typeface="宋体" charset="0"/>
              </a:defRPr>
            </a:lvl1pPr>
            <a:lvl2pPr marL="742950" indent="-285750" eaLnBrk="0" hangingPunct="0">
              <a:defRPr>
                <a:solidFill>
                  <a:schemeClr val="tx1"/>
                </a:solidFill>
                <a:latin typeface="Arial" charset="0"/>
                <a:ea typeface="宋体" charset="0"/>
              </a:defRPr>
            </a:lvl2pPr>
            <a:lvl3pPr marL="1143000" indent="-228600" eaLnBrk="0" hangingPunct="0">
              <a:defRPr>
                <a:solidFill>
                  <a:schemeClr val="tx1"/>
                </a:solidFill>
                <a:latin typeface="Arial" charset="0"/>
                <a:ea typeface="宋体" charset="0"/>
              </a:defRPr>
            </a:lvl3pPr>
            <a:lvl4pPr marL="1600200" indent="-228600" eaLnBrk="0" hangingPunct="0">
              <a:defRPr>
                <a:solidFill>
                  <a:schemeClr val="tx1"/>
                </a:solidFill>
                <a:latin typeface="Arial" charset="0"/>
                <a:ea typeface="宋体" charset="0"/>
              </a:defRPr>
            </a:lvl4pPr>
            <a:lvl5pPr marL="2057400" indent="-228600" eaLnBrk="0" hangingPunct="0">
              <a:defRPr>
                <a:solidFill>
                  <a:schemeClr val="tx1"/>
                </a:solidFill>
                <a:latin typeface="Arial" charset="0"/>
                <a:ea typeface="宋体" charset="0"/>
              </a:defRPr>
            </a:lvl5pPr>
            <a:lvl6pPr marL="2514600" indent="-228600" eaLnBrk="0" fontAlgn="base" hangingPunct="0">
              <a:spcBef>
                <a:spcPct val="0"/>
              </a:spcBef>
              <a:spcAft>
                <a:spcPct val="0"/>
              </a:spcAft>
              <a:defRPr>
                <a:solidFill>
                  <a:schemeClr val="tx1"/>
                </a:solidFill>
                <a:latin typeface="Arial" charset="0"/>
                <a:ea typeface="宋体" charset="0"/>
              </a:defRPr>
            </a:lvl6pPr>
            <a:lvl7pPr marL="2971800" indent="-228600" eaLnBrk="0" fontAlgn="base" hangingPunct="0">
              <a:spcBef>
                <a:spcPct val="0"/>
              </a:spcBef>
              <a:spcAft>
                <a:spcPct val="0"/>
              </a:spcAft>
              <a:defRPr>
                <a:solidFill>
                  <a:schemeClr val="tx1"/>
                </a:solidFill>
                <a:latin typeface="Arial" charset="0"/>
                <a:ea typeface="宋体" charset="0"/>
              </a:defRPr>
            </a:lvl7pPr>
            <a:lvl8pPr marL="3429000" indent="-228600" eaLnBrk="0" fontAlgn="base" hangingPunct="0">
              <a:spcBef>
                <a:spcPct val="0"/>
              </a:spcBef>
              <a:spcAft>
                <a:spcPct val="0"/>
              </a:spcAft>
              <a:defRPr>
                <a:solidFill>
                  <a:schemeClr val="tx1"/>
                </a:solidFill>
                <a:latin typeface="Arial" charset="0"/>
                <a:ea typeface="宋体" charset="0"/>
              </a:defRPr>
            </a:lvl8pPr>
            <a:lvl9pPr marL="3886200" indent="-228600" eaLnBrk="0" fontAlgn="base" hangingPunct="0">
              <a:spcBef>
                <a:spcPct val="0"/>
              </a:spcBef>
              <a:spcAft>
                <a:spcPct val="0"/>
              </a:spcAft>
              <a:defRPr>
                <a:solidFill>
                  <a:schemeClr val="tx1"/>
                </a:solidFill>
                <a:latin typeface="Arial" charset="0"/>
                <a:ea typeface="宋体" charset="0"/>
              </a:defRPr>
            </a:lvl9pPr>
          </a:lstStyle>
          <a:p>
            <a:pPr eaLnBrk="1" hangingPunct="1"/>
            <a:r>
              <a:rPr lang="en-US" altLang="zh-CN" i="1">
                <a:latin typeface="Times New Roman" charset="0"/>
                <a:cs typeface="Times New Roman" charset="0"/>
              </a:rPr>
              <a:t>t</a:t>
            </a:r>
            <a:endParaRPr lang="en-CA">
              <a:latin typeface="Times New Roman" charset="0"/>
              <a:cs typeface="Times New Roman" charset="0"/>
            </a:endParaRPr>
          </a:p>
        </p:txBody>
      </p:sp>
      <p:sp>
        <p:nvSpPr>
          <p:cNvPr id="34829" name="Freeform 10"/>
          <p:cNvSpPr>
            <a:spLocks/>
          </p:cNvSpPr>
          <p:nvPr/>
        </p:nvSpPr>
        <p:spPr bwMode="auto">
          <a:xfrm>
            <a:off x="2671162" y="2423265"/>
            <a:ext cx="4278864" cy="2861152"/>
          </a:xfrm>
          <a:custGeom>
            <a:avLst/>
            <a:gdLst>
              <a:gd name="T0" fmla="*/ 0 w 3945"/>
              <a:gd name="T1" fmla="*/ 3610 h 3274"/>
              <a:gd name="T2" fmla="*/ 538 w 3945"/>
              <a:gd name="T3" fmla="*/ 3408 h 3274"/>
              <a:gd name="T4" fmla="*/ 1645 w 3945"/>
              <a:gd name="T5" fmla="*/ 2010 h 3274"/>
              <a:gd name="T6" fmla="*/ 2631 w 3945"/>
              <a:gd name="T7" fmla="*/ 704 h 3274"/>
              <a:gd name="T8" fmla="*/ 3098 w 3945"/>
              <a:gd name="T9" fmla="*/ 261 h 3274"/>
              <a:gd name="T10" fmla="*/ 3604 w 3945"/>
              <a:gd name="T11" fmla="*/ 37 h 3274"/>
              <a:gd name="T12" fmla="*/ 4158 w 3945"/>
              <a:gd name="T13" fmla="*/ 37 h 3274"/>
              <a:gd name="T14" fmla="*/ 0 60000 65536"/>
              <a:gd name="T15" fmla="*/ 0 60000 65536"/>
              <a:gd name="T16" fmla="*/ 0 60000 65536"/>
              <a:gd name="T17" fmla="*/ 0 60000 65536"/>
              <a:gd name="T18" fmla="*/ 0 60000 65536"/>
              <a:gd name="T19" fmla="*/ 0 60000 65536"/>
              <a:gd name="T20" fmla="*/ 0 60000 65536"/>
              <a:gd name="T21" fmla="*/ 0 w 3945"/>
              <a:gd name="T22" fmla="*/ 0 h 3274"/>
              <a:gd name="T23" fmla="*/ 3945 w 3945"/>
              <a:gd name="T24" fmla="*/ 3274 h 327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945" h="3274">
                <a:moveTo>
                  <a:pt x="0" y="3217"/>
                </a:moveTo>
                <a:cubicBezTo>
                  <a:pt x="125" y="3245"/>
                  <a:pt x="250" y="3274"/>
                  <a:pt x="510" y="3037"/>
                </a:cubicBezTo>
                <a:cubicBezTo>
                  <a:pt x="770" y="2800"/>
                  <a:pt x="1229" y="2193"/>
                  <a:pt x="1560" y="1792"/>
                </a:cubicBezTo>
                <a:cubicBezTo>
                  <a:pt x="1891" y="1391"/>
                  <a:pt x="2267" y="888"/>
                  <a:pt x="2497" y="628"/>
                </a:cubicBezTo>
                <a:cubicBezTo>
                  <a:pt x="2727" y="368"/>
                  <a:pt x="2786" y="331"/>
                  <a:pt x="2940" y="232"/>
                </a:cubicBezTo>
                <a:cubicBezTo>
                  <a:pt x="3094" y="133"/>
                  <a:pt x="3253" y="66"/>
                  <a:pt x="3420" y="33"/>
                </a:cubicBezTo>
                <a:cubicBezTo>
                  <a:pt x="3587" y="0"/>
                  <a:pt x="3766" y="16"/>
                  <a:pt x="3945" y="33"/>
                </a:cubicBezTo>
              </a:path>
            </a:pathLst>
          </a:custGeom>
          <a:noFill/>
          <a:ln w="9525">
            <a:solidFill>
              <a:srgbClr val="000000"/>
            </a:solidFill>
            <a:round/>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a:p>
        </p:txBody>
      </p:sp>
      <p:cxnSp>
        <p:nvCxnSpPr>
          <p:cNvPr id="34830" name="AutoShape 2174"/>
          <p:cNvCxnSpPr>
            <a:cxnSpLocks noChangeShapeType="1"/>
          </p:cNvCxnSpPr>
          <p:nvPr/>
        </p:nvCxnSpPr>
        <p:spPr bwMode="auto">
          <a:xfrm>
            <a:off x="1959074" y="5246466"/>
            <a:ext cx="5577314" cy="825"/>
          </a:xfrm>
          <a:prstGeom prst="straightConnector1">
            <a:avLst/>
          </a:prstGeom>
          <a:noFill/>
          <a:ln w="12700">
            <a:solidFill>
              <a:srgbClr val="000000"/>
            </a:solidFill>
            <a:round/>
            <a:headEnd/>
            <a:tailEnd/>
          </a:ln>
          <a:extLst>
            <a:ext uri="{909E8E84-426E-40dd-AFC4-6F175D3DCCD1}">
              <a14:hiddenFill xmlns:a14="http://schemas.microsoft.com/office/drawing/2010/main" xmlns="">
                <a:noFill/>
              </a14:hiddenFill>
            </a:ext>
          </a:extLst>
        </p:spPr>
      </p:cxnSp>
      <p:sp>
        <p:nvSpPr>
          <p:cNvPr id="34831" name="Text Box 2175"/>
          <p:cNvSpPr txBox="1">
            <a:spLocks noChangeArrowheads="1"/>
          </p:cNvSpPr>
          <p:nvPr/>
        </p:nvSpPr>
        <p:spPr bwMode="auto">
          <a:xfrm>
            <a:off x="4049907" y="5403219"/>
            <a:ext cx="1214986" cy="3308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b"/>
          <a:lstStyle>
            <a:lvl1pPr eaLnBrk="0" hangingPunct="0">
              <a:defRPr>
                <a:solidFill>
                  <a:schemeClr val="tx1"/>
                </a:solidFill>
                <a:latin typeface="Arial" charset="0"/>
                <a:ea typeface="宋体" charset="0"/>
              </a:defRPr>
            </a:lvl1pPr>
            <a:lvl2pPr marL="742950" indent="-285750" eaLnBrk="0" hangingPunct="0">
              <a:defRPr>
                <a:solidFill>
                  <a:schemeClr val="tx1"/>
                </a:solidFill>
                <a:latin typeface="Arial" charset="0"/>
                <a:ea typeface="宋体" charset="0"/>
              </a:defRPr>
            </a:lvl2pPr>
            <a:lvl3pPr marL="1143000" indent="-228600" eaLnBrk="0" hangingPunct="0">
              <a:defRPr>
                <a:solidFill>
                  <a:schemeClr val="tx1"/>
                </a:solidFill>
                <a:latin typeface="Arial" charset="0"/>
                <a:ea typeface="宋体" charset="0"/>
              </a:defRPr>
            </a:lvl3pPr>
            <a:lvl4pPr marL="1600200" indent="-228600" eaLnBrk="0" hangingPunct="0">
              <a:defRPr>
                <a:solidFill>
                  <a:schemeClr val="tx1"/>
                </a:solidFill>
                <a:latin typeface="Arial" charset="0"/>
                <a:ea typeface="宋体" charset="0"/>
              </a:defRPr>
            </a:lvl4pPr>
            <a:lvl5pPr marL="2057400" indent="-228600" eaLnBrk="0" hangingPunct="0">
              <a:defRPr>
                <a:solidFill>
                  <a:schemeClr val="tx1"/>
                </a:solidFill>
                <a:latin typeface="Arial" charset="0"/>
                <a:ea typeface="宋体" charset="0"/>
              </a:defRPr>
            </a:lvl5pPr>
            <a:lvl6pPr marL="2514600" indent="-228600" eaLnBrk="0" fontAlgn="base" hangingPunct="0">
              <a:spcBef>
                <a:spcPct val="0"/>
              </a:spcBef>
              <a:spcAft>
                <a:spcPct val="0"/>
              </a:spcAft>
              <a:defRPr>
                <a:solidFill>
                  <a:schemeClr val="tx1"/>
                </a:solidFill>
                <a:latin typeface="Arial" charset="0"/>
                <a:ea typeface="宋体" charset="0"/>
              </a:defRPr>
            </a:lvl6pPr>
            <a:lvl7pPr marL="2971800" indent="-228600" eaLnBrk="0" fontAlgn="base" hangingPunct="0">
              <a:spcBef>
                <a:spcPct val="0"/>
              </a:spcBef>
              <a:spcAft>
                <a:spcPct val="0"/>
              </a:spcAft>
              <a:defRPr>
                <a:solidFill>
                  <a:schemeClr val="tx1"/>
                </a:solidFill>
                <a:latin typeface="Arial" charset="0"/>
                <a:ea typeface="宋体" charset="0"/>
              </a:defRPr>
            </a:lvl7pPr>
            <a:lvl8pPr marL="3429000" indent="-228600" eaLnBrk="0" fontAlgn="base" hangingPunct="0">
              <a:spcBef>
                <a:spcPct val="0"/>
              </a:spcBef>
              <a:spcAft>
                <a:spcPct val="0"/>
              </a:spcAft>
              <a:defRPr>
                <a:solidFill>
                  <a:schemeClr val="tx1"/>
                </a:solidFill>
                <a:latin typeface="Arial" charset="0"/>
                <a:ea typeface="宋体" charset="0"/>
              </a:defRPr>
            </a:lvl8pPr>
            <a:lvl9pPr marL="3886200" indent="-228600" eaLnBrk="0" fontAlgn="base" hangingPunct="0">
              <a:spcBef>
                <a:spcPct val="0"/>
              </a:spcBef>
              <a:spcAft>
                <a:spcPct val="0"/>
              </a:spcAft>
              <a:defRPr>
                <a:solidFill>
                  <a:schemeClr val="tx1"/>
                </a:solidFill>
                <a:latin typeface="Arial" charset="0"/>
                <a:ea typeface="宋体" charset="0"/>
              </a:defRPr>
            </a:lvl9pPr>
          </a:lstStyle>
          <a:p>
            <a:pPr algn="ctr" eaLnBrk="1" hangingPunct="1"/>
            <a:r>
              <a:rPr lang="en-US" altLang="zh-CN">
                <a:latin typeface="Times New Roman" charset="0"/>
                <a:cs typeface="Times New Roman" charset="0"/>
              </a:rPr>
              <a:t>Stand age</a:t>
            </a:r>
            <a:endParaRPr lang="en-CA">
              <a:latin typeface="Times New Roman" charset="0"/>
              <a:cs typeface="Times New Roman" charset="0"/>
            </a:endParaRPr>
          </a:p>
        </p:txBody>
      </p:sp>
      <p:cxnSp>
        <p:nvCxnSpPr>
          <p:cNvPr id="34832" name="AutoShape 2176"/>
          <p:cNvCxnSpPr>
            <a:cxnSpLocks noChangeShapeType="1"/>
          </p:cNvCxnSpPr>
          <p:nvPr/>
        </p:nvCxnSpPr>
        <p:spPr bwMode="auto">
          <a:xfrm flipV="1">
            <a:off x="1958018" y="1695601"/>
            <a:ext cx="1057" cy="3550865"/>
          </a:xfrm>
          <a:prstGeom prst="straightConnector1">
            <a:avLst/>
          </a:prstGeom>
          <a:noFill/>
          <a:ln w="9525">
            <a:solidFill>
              <a:srgbClr val="000000"/>
            </a:solidFill>
            <a:round/>
            <a:headEnd/>
            <a:tailEnd/>
          </a:ln>
          <a:extLst>
            <a:ext uri="{909E8E84-426E-40dd-AFC4-6F175D3DCCD1}">
              <a14:hiddenFill xmlns:a14="http://schemas.microsoft.com/office/drawing/2010/main" xmlns="">
                <a:noFill/>
              </a14:hiddenFill>
            </a:ext>
          </a:extLst>
        </p:spPr>
      </p:cxnSp>
      <p:sp>
        <p:nvSpPr>
          <p:cNvPr id="34833" name="Freeform 14"/>
          <p:cNvSpPr>
            <a:spLocks/>
          </p:cNvSpPr>
          <p:nvPr/>
        </p:nvSpPr>
        <p:spPr bwMode="auto">
          <a:xfrm>
            <a:off x="1973865" y="2620443"/>
            <a:ext cx="5340656" cy="2638398"/>
          </a:xfrm>
          <a:custGeom>
            <a:avLst/>
            <a:gdLst>
              <a:gd name="T0" fmla="*/ 0 w 2655"/>
              <a:gd name="T1" fmla="*/ 3198 h 3198"/>
              <a:gd name="T2" fmla="*/ 1359 w 2655"/>
              <a:gd name="T3" fmla="*/ 610 h 3198"/>
              <a:gd name="T4" fmla="*/ 2827 w 2655"/>
              <a:gd name="T5" fmla="*/ 334 h 3198"/>
              <a:gd name="T6" fmla="*/ 5818 w 2655"/>
              <a:gd name="T7" fmla="*/ 2613 h 3198"/>
              <a:gd name="T8" fmla="*/ 9624 w 2655"/>
              <a:gd name="T9" fmla="*/ 3094 h 3198"/>
              <a:gd name="T10" fmla="*/ 0 60000 65536"/>
              <a:gd name="T11" fmla="*/ 0 60000 65536"/>
              <a:gd name="T12" fmla="*/ 0 60000 65536"/>
              <a:gd name="T13" fmla="*/ 0 60000 65536"/>
              <a:gd name="T14" fmla="*/ 0 60000 65536"/>
              <a:gd name="T15" fmla="*/ 0 w 2655"/>
              <a:gd name="T16" fmla="*/ 0 h 3198"/>
              <a:gd name="T17" fmla="*/ 2655 w 2655"/>
              <a:gd name="T18" fmla="*/ 3198 h 3198"/>
            </a:gdLst>
            <a:ahLst/>
            <a:cxnLst>
              <a:cxn ang="T10">
                <a:pos x="T0" y="T1"/>
              </a:cxn>
              <a:cxn ang="T11">
                <a:pos x="T2" y="T3"/>
              </a:cxn>
              <a:cxn ang="T12">
                <a:pos x="T4" y="T5"/>
              </a:cxn>
              <a:cxn ang="T13">
                <a:pos x="T6" y="T7"/>
              </a:cxn>
              <a:cxn ang="T14">
                <a:pos x="T8" y="T9"/>
              </a:cxn>
            </a:cxnLst>
            <a:rect l="T15" t="T16" r="T17" b="T18"/>
            <a:pathLst>
              <a:path w="2655" h="3198">
                <a:moveTo>
                  <a:pt x="0" y="3198"/>
                </a:moveTo>
                <a:cubicBezTo>
                  <a:pt x="122" y="2142"/>
                  <a:pt x="245" y="1087"/>
                  <a:pt x="375" y="610"/>
                </a:cubicBezTo>
                <a:cubicBezTo>
                  <a:pt x="505" y="133"/>
                  <a:pt x="575" y="0"/>
                  <a:pt x="780" y="334"/>
                </a:cubicBezTo>
                <a:cubicBezTo>
                  <a:pt x="985" y="668"/>
                  <a:pt x="1293" y="2153"/>
                  <a:pt x="1605" y="2613"/>
                </a:cubicBezTo>
                <a:cubicBezTo>
                  <a:pt x="1917" y="3073"/>
                  <a:pt x="2286" y="3083"/>
                  <a:pt x="2655" y="3094"/>
                </a:cubicBezTo>
              </a:path>
            </a:pathLst>
          </a:custGeom>
          <a:ln>
            <a:headEnd/>
            <a:tailEnd/>
          </a:ln>
          <a:extLst>
            <a:ext uri="{909E8E84-426E-40dd-AFC4-6F175D3DCCD1}">
              <a14:hiddenFill xmlns:a14="http://schemas.microsoft.com/office/drawing/2010/main" xmlns="">
                <a:solidFill>
                  <a:srgbClr val="FFFFFF"/>
                </a:solidFill>
              </a14:hiddenFill>
            </a:ext>
          </a:extLst>
        </p:spPr>
        <p:style>
          <a:lnRef idx="3">
            <a:schemeClr val="accent2"/>
          </a:lnRef>
          <a:fillRef idx="0">
            <a:schemeClr val="accent2"/>
          </a:fillRef>
          <a:effectRef idx="2">
            <a:schemeClr val="accent2"/>
          </a:effectRef>
          <a:fontRef idx="minor">
            <a:schemeClr val="tx1"/>
          </a:fontRef>
        </p:style>
        <p:txBody>
          <a:bodyPr/>
          <a:lstStyle/>
          <a:p>
            <a:endParaRPr lang="zh-CN" altLang="en-US"/>
          </a:p>
        </p:txBody>
      </p:sp>
      <p:cxnSp>
        <p:nvCxnSpPr>
          <p:cNvPr id="34834" name="AutoShape 2178"/>
          <p:cNvCxnSpPr>
            <a:cxnSpLocks noChangeShapeType="1"/>
          </p:cNvCxnSpPr>
          <p:nvPr/>
        </p:nvCxnSpPr>
        <p:spPr bwMode="auto">
          <a:xfrm>
            <a:off x="1943226" y="4268823"/>
            <a:ext cx="5212818" cy="825"/>
          </a:xfrm>
          <a:prstGeom prst="straightConnector1">
            <a:avLst/>
          </a:prstGeom>
          <a:noFill/>
          <a:ln w="9525">
            <a:solidFill>
              <a:srgbClr val="000000"/>
            </a:solidFill>
            <a:round/>
            <a:headEnd/>
            <a:tailEnd/>
          </a:ln>
          <a:extLst>
            <a:ext uri="{909E8E84-426E-40dd-AFC4-6F175D3DCCD1}">
              <a14:hiddenFill xmlns:a14="http://schemas.microsoft.com/office/drawing/2010/main" xmlns="">
                <a:noFill/>
              </a14:hiddenFill>
            </a:ext>
          </a:extLst>
        </p:spPr>
      </p:cxnSp>
      <p:sp>
        <p:nvSpPr>
          <p:cNvPr id="34835" name="Freeform 16"/>
          <p:cNvSpPr>
            <a:spLocks/>
          </p:cNvSpPr>
          <p:nvPr/>
        </p:nvSpPr>
        <p:spPr bwMode="auto">
          <a:xfrm>
            <a:off x="1943226" y="1819353"/>
            <a:ext cx="5006799" cy="2450295"/>
          </a:xfrm>
          <a:custGeom>
            <a:avLst/>
            <a:gdLst>
              <a:gd name="T0" fmla="*/ 0 w 4110"/>
              <a:gd name="T1" fmla="*/ 2761 h 3195"/>
              <a:gd name="T2" fmla="*/ 477 w 4110"/>
              <a:gd name="T3" fmla="*/ 1128 h 3195"/>
              <a:gd name="T4" fmla="*/ 1115 w 4110"/>
              <a:gd name="T5" fmla="*/ 350 h 3195"/>
              <a:gd name="T6" fmla="*/ 2751 w 4110"/>
              <a:gd name="T7" fmla="*/ 1258 h 3195"/>
              <a:gd name="T8" fmla="*/ 4466 w 4110"/>
              <a:gd name="T9" fmla="*/ 311 h 3195"/>
              <a:gd name="T10" fmla="*/ 5464 w 4110"/>
              <a:gd name="T11" fmla="*/ 0 h 3195"/>
              <a:gd name="T12" fmla="*/ 0 60000 65536"/>
              <a:gd name="T13" fmla="*/ 0 60000 65536"/>
              <a:gd name="T14" fmla="*/ 0 60000 65536"/>
              <a:gd name="T15" fmla="*/ 0 60000 65536"/>
              <a:gd name="T16" fmla="*/ 0 60000 65536"/>
              <a:gd name="T17" fmla="*/ 0 60000 65536"/>
              <a:gd name="T18" fmla="*/ 0 w 4110"/>
              <a:gd name="T19" fmla="*/ 0 h 3195"/>
              <a:gd name="T20" fmla="*/ 4110 w 4110"/>
              <a:gd name="T21" fmla="*/ 3195 h 3195"/>
            </a:gdLst>
            <a:ahLst/>
            <a:cxnLst>
              <a:cxn ang="T12">
                <a:pos x="T0" y="T1"/>
              </a:cxn>
              <a:cxn ang="T13">
                <a:pos x="T2" y="T3"/>
              </a:cxn>
              <a:cxn ang="T14">
                <a:pos x="T4" y="T5"/>
              </a:cxn>
              <a:cxn ang="T15">
                <a:pos x="T6" y="T7"/>
              </a:cxn>
              <a:cxn ang="T16">
                <a:pos x="T8" y="T9"/>
              </a:cxn>
              <a:cxn ang="T17">
                <a:pos x="T10" y="T11"/>
              </a:cxn>
            </a:cxnLst>
            <a:rect l="T18" t="T19" r="T20" b="T21"/>
            <a:pathLst>
              <a:path w="4110" h="3195">
                <a:moveTo>
                  <a:pt x="0" y="3195"/>
                </a:moveTo>
                <a:cubicBezTo>
                  <a:pt x="109" y="2482"/>
                  <a:pt x="219" y="1770"/>
                  <a:pt x="359" y="1305"/>
                </a:cubicBezTo>
                <a:cubicBezTo>
                  <a:pt x="499" y="840"/>
                  <a:pt x="554" y="380"/>
                  <a:pt x="839" y="405"/>
                </a:cubicBezTo>
                <a:cubicBezTo>
                  <a:pt x="1124" y="430"/>
                  <a:pt x="1649" y="1463"/>
                  <a:pt x="2069" y="1455"/>
                </a:cubicBezTo>
                <a:cubicBezTo>
                  <a:pt x="2489" y="1447"/>
                  <a:pt x="3019" y="603"/>
                  <a:pt x="3359" y="360"/>
                </a:cubicBezTo>
                <a:cubicBezTo>
                  <a:pt x="3699" y="117"/>
                  <a:pt x="3904" y="58"/>
                  <a:pt x="4110" y="0"/>
                </a:cubicBezTo>
              </a:path>
            </a:pathLst>
          </a:custGeom>
          <a:noFill/>
          <a:ln w="9525">
            <a:solidFill>
              <a:srgbClr val="000000"/>
            </a:solidFill>
            <a:round/>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a:p>
        </p:txBody>
      </p:sp>
      <p:sp>
        <p:nvSpPr>
          <p:cNvPr id="34820" name="Rectangle 25"/>
          <p:cNvSpPr>
            <a:spLocks noChangeArrowheads="1"/>
          </p:cNvSpPr>
          <p:nvPr/>
        </p:nvSpPr>
        <p:spPr bwMode="auto">
          <a:xfrm>
            <a:off x="0" y="350520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p>
            <a:endParaRPr lang="zh-CN" altLang="en-US"/>
          </a:p>
        </p:txBody>
      </p:sp>
      <p:sp>
        <p:nvSpPr>
          <p:cNvPr id="20" name="Footer Placeholder 1"/>
          <p:cNvSpPr>
            <a:spLocks noGrp="1"/>
          </p:cNvSpPr>
          <p:nvPr>
            <p:ph type="ftr" sz="quarter" idx="4294967295"/>
          </p:nvPr>
        </p:nvSpPr>
        <p:spPr>
          <a:xfrm>
            <a:off x="0" y="6519863"/>
            <a:ext cx="2392363" cy="365125"/>
          </a:xfrm>
        </p:spPr>
        <p:txBody>
          <a:bodyPr/>
          <a:lstStyle/>
          <a:p>
            <a:pPr>
              <a:defRPr/>
            </a:pPr>
            <a:r>
              <a:rPr lang="en-US" dirty="0"/>
              <a:t>Adapted from </a:t>
            </a:r>
            <a:r>
              <a:rPr lang="en-US" i="1" dirty="0"/>
              <a:t>Forest Economics </a:t>
            </a:r>
            <a:r>
              <a:rPr lang="en-US" dirty="0"/>
              <a:t>by </a:t>
            </a:r>
            <a:r>
              <a:rPr lang="en-US" dirty="0" err="1"/>
              <a:t>Daowei</a:t>
            </a:r>
            <a:r>
              <a:rPr lang="en-US" dirty="0"/>
              <a:t> Zhang and Peter H. </a:t>
            </a:r>
            <a:r>
              <a:rPr lang="en-US" dirty="0" err="1"/>
              <a:t>Pearse</a:t>
            </a:r>
            <a:r>
              <a:rPr lang="en-US" dirty="0"/>
              <a:t>, published by UBC Press, 2011. </a:t>
            </a:r>
            <a:endParaRPr lang="en-CA" dirty="0"/>
          </a:p>
        </p:txBody>
      </p:sp>
    </p:spTree>
    <p:extLst>
      <p:ext uri="{BB962C8B-B14F-4D97-AF65-F5344CB8AC3E}">
        <p14:creationId xmlns:p14="http://schemas.microsoft.com/office/powerpoint/2010/main" val="147451481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1" nodeType="withEffect">
                                  <p:stCondLst>
                                    <p:cond delay="0"/>
                                  </p:stCondLst>
                                  <p:childTnLst>
                                    <p:set>
                                      <p:cBhvr>
                                        <p:cTn id="6" dur="1" fill="hold">
                                          <p:stCondLst>
                                            <p:cond delay="0"/>
                                          </p:stCondLst>
                                        </p:cTn>
                                        <p:tgtEl>
                                          <p:spTgt spid="34833"/>
                                        </p:tgtEl>
                                        <p:attrNameLst>
                                          <p:attrName>style.visibility</p:attrName>
                                        </p:attrNameLst>
                                      </p:cBhvr>
                                      <p:to>
                                        <p:strVal val="visible"/>
                                      </p:to>
                                    </p:set>
                                    <p:animEffect transition="in" filter="wipe(left)">
                                      <p:cBhvr>
                                        <p:cTn id="7" dur="500"/>
                                        <p:tgtEl>
                                          <p:spTgt spid="348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33" grpId="1"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其它考虑</a:t>
            </a:r>
          </a:p>
        </p:txBody>
      </p:sp>
      <p:sp>
        <p:nvSpPr>
          <p:cNvPr id="3" name="内容占位符 2"/>
          <p:cNvSpPr>
            <a:spLocks noGrp="1"/>
          </p:cNvSpPr>
          <p:nvPr>
            <p:ph idx="1"/>
          </p:nvPr>
        </p:nvSpPr>
        <p:spPr/>
        <p:txBody>
          <a:bodyPr/>
          <a:lstStyle/>
          <a:p>
            <a:r>
              <a:rPr lang="zh-CN" altLang="en-US" dirty="0"/>
              <a:t>当森林的林分树龄比较大时，森林的游憩、美化环境、或者生物多样性等方面的非木材价值比较高</a:t>
            </a:r>
          </a:p>
        </p:txBody>
      </p:sp>
    </p:spTree>
    <p:extLst>
      <p:ext uri="{BB962C8B-B14F-4D97-AF65-F5344CB8AC3E}">
        <p14:creationId xmlns:p14="http://schemas.microsoft.com/office/powerpoint/2010/main" val="85235433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16"/>
          <p:cNvSpPr>
            <a:spLocks noChangeArrowheads="1"/>
          </p:cNvSpPr>
          <p:nvPr/>
        </p:nvSpPr>
        <p:spPr bwMode="auto">
          <a:xfrm>
            <a:off x="971550" y="692150"/>
            <a:ext cx="7272338"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spAutoFit/>
          </a:bodyPr>
          <a:lstStyle/>
          <a:p>
            <a:r>
              <a:rPr lang="en-US" altLang="zh-CN" b="1">
                <a:solidFill>
                  <a:srgbClr val="000000"/>
                </a:solidFill>
                <a:latin typeface="Times New Roman" charset="0"/>
                <a:cs typeface="Times New Roman" charset="0"/>
              </a:rPr>
              <a:t>Figure 7.4: Relationship between stand age and various amenity values</a:t>
            </a:r>
            <a:endParaRPr lang="en-CA" b="1">
              <a:latin typeface="Times New Roman" charset="0"/>
              <a:cs typeface="Times New Roman" charset="0"/>
            </a:endParaRPr>
          </a:p>
        </p:txBody>
      </p:sp>
      <p:sp>
        <p:nvSpPr>
          <p:cNvPr id="34822" name="Text Box 2166"/>
          <p:cNvSpPr txBox="1">
            <a:spLocks noChangeArrowheads="1"/>
          </p:cNvSpPr>
          <p:nvPr/>
        </p:nvSpPr>
        <p:spPr bwMode="auto">
          <a:xfrm>
            <a:off x="1555487" y="5130964"/>
            <a:ext cx="497616" cy="3143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charset="0"/>
                <a:ea typeface="宋体" charset="0"/>
              </a:defRPr>
            </a:lvl1pPr>
            <a:lvl2pPr marL="742950" indent="-285750" eaLnBrk="0" hangingPunct="0">
              <a:defRPr>
                <a:solidFill>
                  <a:schemeClr val="tx1"/>
                </a:solidFill>
                <a:latin typeface="Arial" charset="0"/>
                <a:ea typeface="宋体" charset="0"/>
              </a:defRPr>
            </a:lvl2pPr>
            <a:lvl3pPr marL="1143000" indent="-228600" eaLnBrk="0" hangingPunct="0">
              <a:defRPr>
                <a:solidFill>
                  <a:schemeClr val="tx1"/>
                </a:solidFill>
                <a:latin typeface="Arial" charset="0"/>
                <a:ea typeface="宋体" charset="0"/>
              </a:defRPr>
            </a:lvl3pPr>
            <a:lvl4pPr marL="1600200" indent="-228600" eaLnBrk="0" hangingPunct="0">
              <a:defRPr>
                <a:solidFill>
                  <a:schemeClr val="tx1"/>
                </a:solidFill>
                <a:latin typeface="Arial" charset="0"/>
                <a:ea typeface="宋体" charset="0"/>
              </a:defRPr>
            </a:lvl4pPr>
            <a:lvl5pPr marL="2057400" indent="-228600" eaLnBrk="0" hangingPunct="0">
              <a:defRPr>
                <a:solidFill>
                  <a:schemeClr val="tx1"/>
                </a:solidFill>
                <a:latin typeface="Arial" charset="0"/>
                <a:ea typeface="宋体" charset="0"/>
              </a:defRPr>
            </a:lvl5pPr>
            <a:lvl6pPr marL="2514600" indent="-228600" eaLnBrk="0" fontAlgn="base" hangingPunct="0">
              <a:spcBef>
                <a:spcPct val="0"/>
              </a:spcBef>
              <a:spcAft>
                <a:spcPct val="0"/>
              </a:spcAft>
              <a:defRPr>
                <a:solidFill>
                  <a:schemeClr val="tx1"/>
                </a:solidFill>
                <a:latin typeface="Arial" charset="0"/>
                <a:ea typeface="宋体" charset="0"/>
              </a:defRPr>
            </a:lvl6pPr>
            <a:lvl7pPr marL="2971800" indent="-228600" eaLnBrk="0" fontAlgn="base" hangingPunct="0">
              <a:spcBef>
                <a:spcPct val="0"/>
              </a:spcBef>
              <a:spcAft>
                <a:spcPct val="0"/>
              </a:spcAft>
              <a:defRPr>
                <a:solidFill>
                  <a:schemeClr val="tx1"/>
                </a:solidFill>
                <a:latin typeface="Arial" charset="0"/>
                <a:ea typeface="宋体" charset="0"/>
              </a:defRPr>
            </a:lvl7pPr>
            <a:lvl8pPr marL="3429000" indent="-228600" eaLnBrk="0" fontAlgn="base" hangingPunct="0">
              <a:spcBef>
                <a:spcPct val="0"/>
              </a:spcBef>
              <a:spcAft>
                <a:spcPct val="0"/>
              </a:spcAft>
              <a:defRPr>
                <a:solidFill>
                  <a:schemeClr val="tx1"/>
                </a:solidFill>
                <a:latin typeface="Arial" charset="0"/>
                <a:ea typeface="宋体" charset="0"/>
              </a:defRPr>
            </a:lvl8pPr>
            <a:lvl9pPr marL="3886200" indent="-228600" eaLnBrk="0" fontAlgn="base" hangingPunct="0">
              <a:spcBef>
                <a:spcPct val="0"/>
              </a:spcBef>
              <a:spcAft>
                <a:spcPct val="0"/>
              </a:spcAft>
              <a:defRPr>
                <a:solidFill>
                  <a:schemeClr val="tx1"/>
                </a:solidFill>
                <a:latin typeface="Arial" charset="0"/>
                <a:ea typeface="宋体" charset="0"/>
              </a:defRPr>
            </a:lvl9pPr>
          </a:lstStyle>
          <a:p>
            <a:pPr eaLnBrk="1" hangingPunct="1"/>
            <a:r>
              <a:rPr lang="en-US" altLang="zh-CN">
                <a:latin typeface="Times New Roman" charset="0"/>
                <a:cs typeface="Times New Roman" charset="0"/>
              </a:rPr>
              <a:t>0</a:t>
            </a:r>
            <a:endParaRPr lang="en-CA">
              <a:latin typeface="Times New Roman" charset="0"/>
              <a:cs typeface="Times New Roman" charset="0"/>
            </a:endParaRPr>
          </a:p>
        </p:txBody>
      </p:sp>
      <p:sp>
        <p:nvSpPr>
          <p:cNvPr id="34823" name="Text Box 2167"/>
          <p:cNvSpPr txBox="1">
            <a:spLocks noChangeArrowheads="1"/>
          </p:cNvSpPr>
          <p:nvPr/>
        </p:nvSpPr>
        <p:spPr bwMode="auto">
          <a:xfrm>
            <a:off x="1403350" y="1628775"/>
            <a:ext cx="727935" cy="3143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indent="-57150" eaLnBrk="0" hangingPunct="0">
              <a:defRPr>
                <a:solidFill>
                  <a:schemeClr val="tx1"/>
                </a:solidFill>
                <a:latin typeface="Arial" charset="0"/>
                <a:ea typeface="宋体" charset="0"/>
              </a:defRPr>
            </a:lvl1pPr>
            <a:lvl2pPr marL="742950" indent="-285750" eaLnBrk="0" hangingPunct="0">
              <a:defRPr>
                <a:solidFill>
                  <a:schemeClr val="tx1"/>
                </a:solidFill>
                <a:latin typeface="Arial" charset="0"/>
                <a:ea typeface="宋体" charset="0"/>
              </a:defRPr>
            </a:lvl2pPr>
            <a:lvl3pPr marL="1143000" indent="-228600" eaLnBrk="0" hangingPunct="0">
              <a:defRPr>
                <a:solidFill>
                  <a:schemeClr val="tx1"/>
                </a:solidFill>
                <a:latin typeface="Arial" charset="0"/>
                <a:ea typeface="宋体" charset="0"/>
              </a:defRPr>
            </a:lvl3pPr>
            <a:lvl4pPr marL="1600200" indent="-228600" eaLnBrk="0" hangingPunct="0">
              <a:defRPr>
                <a:solidFill>
                  <a:schemeClr val="tx1"/>
                </a:solidFill>
                <a:latin typeface="Arial" charset="0"/>
                <a:ea typeface="宋体" charset="0"/>
              </a:defRPr>
            </a:lvl4pPr>
            <a:lvl5pPr marL="2057400" indent="-228600" eaLnBrk="0" hangingPunct="0">
              <a:defRPr>
                <a:solidFill>
                  <a:schemeClr val="tx1"/>
                </a:solidFill>
                <a:latin typeface="Arial" charset="0"/>
                <a:ea typeface="宋体" charset="0"/>
              </a:defRPr>
            </a:lvl5pPr>
            <a:lvl6pPr marL="2514600" indent="-228600" eaLnBrk="0" fontAlgn="base" hangingPunct="0">
              <a:spcBef>
                <a:spcPct val="0"/>
              </a:spcBef>
              <a:spcAft>
                <a:spcPct val="0"/>
              </a:spcAft>
              <a:defRPr>
                <a:solidFill>
                  <a:schemeClr val="tx1"/>
                </a:solidFill>
                <a:latin typeface="Arial" charset="0"/>
                <a:ea typeface="宋体" charset="0"/>
              </a:defRPr>
            </a:lvl6pPr>
            <a:lvl7pPr marL="2971800" indent="-228600" eaLnBrk="0" fontAlgn="base" hangingPunct="0">
              <a:spcBef>
                <a:spcPct val="0"/>
              </a:spcBef>
              <a:spcAft>
                <a:spcPct val="0"/>
              </a:spcAft>
              <a:defRPr>
                <a:solidFill>
                  <a:schemeClr val="tx1"/>
                </a:solidFill>
                <a:latin typeface="Arial" charset="0"/>
                <a:ea typeface="宋体" charset="0"/>
              </a:defRPr>
            </a:lvl7pPr>
            <a:lvl8pPr marL="3429000" indent="-228600" eaLnBrk="0" fontAlgn="base" hangingPunct="0">
              <a:spcBef>
                <a:spcPct val="0"/>
              </a:spcBef>
              <a:spcAft>
                <a:spcPct val="0"/>
              </a:spcAft>
              <a:defRPr>
                <a:solidFill>
                  <a:schemeClr val="tx1"/>
                </a:solidFill>
                <a:latin typeface="Arial" charset="0"/>
                <a:ea typeface="宋体" charset="0"/>
              </a:defRPr>
            </a:lvl8pPr>
            <a:lvl9pPr marL="3886200" indent="-228600" eaLnBrk="0" fontAlgn="base" hangingPunct="0">
              <a:spcBef>
                <a:spcPct val="0"/>
              </a:spcBef>
              <a:spcAft>
                <a:spcPct val="0"/>
              </a:spcAft>
              <a:defRPr>
                <a:solidFill>
                  <a:schemeClr val="tx1"/>
                </a:solidFill>
                <a:latin typeface="Arial" charset="0"/>
                <a:ea typeface="宋体" charset="0"/>
              </a:defRPr>
            </a:lvl9pPr>
          </a:lstStyle>
          <a:p>
            <a:pPr eaLnBrk="1" hangingPunct="1"/>
            <a:r>
              <a:rPr lang="en-US" altLang="zh-CN" i="1">
                <a:latin typeface="Times New Roman" charset="0"/>
                <a:cs typeface="Times New Roman" charset="0"/>
              </a:rPr>
              <a:t>N</a:t>
            </a:r>
            <a:r>
              <a:rPr lang="en-US" altLang="zh-CN">
                <a:latin typeface="Times New Roman" charset="0"/>
                <a:cs typeface="Times New Roman" charset="0"/>
              </a:rPr>
              <a:t>(</a:t>
            </a:r>
            <a:r>
              <a:rPr lang="en-US" altLang="zh-CN" i="1">
                <a:latin typeface="Times New Roman" charset="0"/>
                <a:cs typeface="Times New Roman" charset="0"/>
              </a:rPr>
              <a:t>t</a:t>
            </a:r>
            <a:r>
              <a:rPr lang="en-US" altLang="zh-CN">
                <a:latin typeface="Times New Roman" charset="0"/>
                <a:cs typeface="Times New Roman" charset="0"/>
              </a:rPr>
              <a:t>)</a:t>
            </a:r>
            <a:endParaRPr lang="en-CA">
              <a:latin typeface="Times New Roman" charset="0"/>
              <a:cs typeface="Times New Roman" charset="0"/>
            </a:endParaRPr>
          </a:p>
        </p:txBody>
      </p:sp>
      <p:sp>
        <p:nvSpPr>
          <p:cNvPr id="34824" name="Text Box 2168"/>
          <p:cNvSpPr txBox="1">
            <a:spLocks noChangeArrowheads="1"/>
          </p:cNvSpPr>
          <p:nvPr/>
        </p:nvSpPr>
        <p:spPr bwMode="auto">
          <a:xfrm>
            <a:off x="6950025" y="1670851"/>
            <a:ext cx="608550" cy="3143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charset="0"/>
                <a:ea typeface="宋体" charset="0"/>
              </a:defRPr>
            </a:lvl1pPr>
            <a:lvl2pPr marL="742950" indent="-285750" eaLnBrk="0" hangingPunct="0">
              <a:defRPr>
                <a:solidFill>
                  <a:schemeClr val="tx1"/>
                </a:solidFill>
                <a:latin typeface="Arial" charset="0"/>
                <a:ea typeface="宋体" charset="0"/>
              </a:defRPr>
            </a:lvl2pPr>
            <a:lvl3pPr marL="1143000" indent="-228600" eaLnBrk="0" hangingPunct="0">
              <a:defRPr>
                <a:solidFill>
                  <a:schemeClr val="tx1"/>
                </a:solidFill>
                <a:latin typeface="Arial" charset="0"/>
                <a:ea typeface="宋体" charset="0"/>
              </a:defRPr>
            </a:lvl3pPr>
            <a:lvl4pPr marL="1600200" indent="-228600" eaLnBrk="0" hangingPunct="0">
              <a:defRPr>
                <a:solidFill>
                  <a:schemeClr val="tx1"/>
                </a:solidFill>
                <a:latin typeface="Arial" charset="0"/>
                <a:ea typeface="宋体" charset="0"/>
              </a:defRPr>
            </a:lvl4pPr>
            <a:lvl5pPr marL="2057400" indent="-228600" eaLnBrk="0" hangingPunct="0">
              <a:defRPr>
                <a:solidFill>
                  <a:schemeClr val="tx1"/>
                </a:solidFill>
                <a:latin typeface="Arial" charset="0"/>
                <a:ea typeface="宋体" charset="0"/>
              </a:defRPr>
            </a:lvl5pPr>
            <a:lvl6pPr marL="2514600" indent="-228600" eaLnBrk="0" fontAlgn="base" hangingPunct="0">
              <a:spcBef>
                <a:spcPct val="0"/>
              </a:spcBef>
              <a:spcAft>
                <a:spcPct val="0"/>
              </a:spcAft>
              <a:defRPr>
                <a:solidFill>
                  <a:schemeClr val="tx1"/>
                </a:solidFill>
                <a:latin typeface="Arial" charset="0"/>
                <a:ea typeface="宋体" charset="0"/>
              </a:defRPr>
            </a:lvl6pPr>
            <a:lvl7pPr marL="2971800" indent="-228600" eaLnBrk="0" fontAlgn="base" hangingPunct="0">
              <a:spcBef>
                <a:spcPct val="0"/>
              </a:spcBef>
              <a:spcAft>
                <a:spcPct val="0"/>
              </a:spcAft>
              <a:defRPr>
                <a:solidFill>
                  <a:schemeClr val="tx1"/>
                </a:solidFill>
                <a:latin typeface="Arial" charset="0"/>
                <a:ea typeface="宋体" charset="0"/>
              </a:defRPr>
            </a:lvl7pPr>
            <a:lvl8pPr marL="3429000" indent="-228600" eaLnBrk="0" fontAlgn="base" hangingPunct="0">
              <a:spcBef>
                <a:spcPct val="0"/>
              </a:spcBef>
              <a:spcAft>
                <a:spcPct val="0"/>
              </a:spcAft>
              <a:defRPr>
                <a:solidFill>
                  <a:schemeClr val="tx1"/>
                </a:solidFill>
                <a:latin typeface="Arial" charset="0"/>
                <a:ea typeface="宋体" charset="0"/>
              </a:defRPr>
            </a:lvl8pPr>
            <a:lvl9pPr marL="3886200" indent="-228600" eaLnBrk="0" fontAlgn="base" hangingPunct="0">
              <a:spcBef>
                <a:spcPct val="0"/>
              </a:spcBef>
              <a:spcAft>
                <a:spcPct val="0"/>
              </a:spcAft>
              <a:defRPr>
                <a:solidFill>
                  <a:schemeClr val="tx1"/>
                </a:solidFill>
                <a:latin typeface="Arial" charset="0"/>
                <a:ea typeface="宋体" charset="0"/>
              </a:defRPr>
            </a:lvl9pPr>
          </a:lstStyle>
          <a:p>
            <a:pPr eaLnBrk="1" hangingPunct="1"/>
            <a:r>
              <a:rPr lang="en-US" altLang="zh-CN">
                <a:latin typeface="Times New Roman" charset="0"/>
                <a:cs typeface="Times New Roman" charset="0"/>
              </a:rPr>
              <a:t>IV</a:t>
            </a:r>
            <a:endParaRPr lang="en-CA">
              <a:latin typeface="Times New Roman" charset="0"/>
              <a:cs typeface="Times New Roman" charset="0"/>
            </a:endParaRPr>
          </a:p>
        </p:txBody>
      </p:sp>
      <p:sp>
        <p:nvSpPr>
          <p:cNvPr id="34825" name="Text Box 2169"/>
          <p:cNvSpPr txBox="1">
            <a:spLocks noChangeArrowheads="1"/>
          </p:cNvSpPr>
          <p:nvPr/>
        </p:nvSpPr>
        <p:spPr bwMode="auto">
          <a:xfrm>
            <a:off x="6955308" y="2306112"/>
            <a:ext cx="608550" cy="3143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charset="0"/>
                <a:ea typeface="宋体" charset="0"/>
              </a:defRPr>
            </a:lvl1pPr>
            <a:lvl2pPr marL="742950" indent="-285750" eaLnBrk="0" hangingPunct="0">
              <a:defRPr>
                <a:solidFill>
                  <a:schemeClr val="tx1"/>
                </a:solidFill>
                <a:latin typeface="Arial" charset="0"/>
                <a:ea typeface="宋体" charset="0"/>
              </a:defRPr>
            </a:lvl2pPr>
            <a:lvl3pPr marL="1143000" indent="-228600" eaLnBrk="0" hangingPunct="0">
              <a:defRPr>
                <a:solidFill>
                  <a:schemeClr val="tx1"/>
                </a:solidFill>
                <a:latin typeface="Arial" charset="0"/>
                <a:ea typeface="宋体" charset="0"/>
              </a:defRPr>
            </a:lvl3pPr>
            <a:lvl4pPr marL="1600200" indent="-228600" eaLnBrk="0" hangingPunct="0">
              <a:defRPr>
                <a:solidFill>
                  <a:schemeClr val="tx1"/>
                </a:solidFill>
                <a:latin typeface="Arial" charset="0"/>
                <a:ea typeface="宋体" charset="0"/>
              </a:defRPr>
            </a:lvl4pPr>
            <a:lvl5pPr marL="2057400" indent="-228600" eaLnBrk="0" hangingPunct="0">
              <a:defRPr>
                <a:solidFill>
                  <a:schemeClr val="tx1"/>
                </a:solidFill>
                <a:latin typeface="Arial" charset="0"/>
                <a:ea typeface="宋体" charset="0"/>
              </a:defRPr>
            </a:lvl5pPr>
            <a:lvl6pPr marL="2514600" indent="-228600" eaLnBrk="0" fontAlgn="base" hangingPunct="0">
              <a:spcBef>
                <a:spcPct val="0"/>
              </a:spcBef>
              <a:spcAft>
                <a:spcPct val="0"/>
              </a:spcAft>
              <a:defRPr>
                <a:solidFill>
                  <a:schemeClr val="tx1"/>
                </a:solidFill>
                <a:latin typeface="Arial" charset="0"/>
                <a:ea typeface="宋体" charset="0"/>
              </a:defRPr>
            </a:lvl6pPr>
            <a:lvl7pPr marL="2971800" indent="-228600" eaLnBrk="0" fontAlgn="base" hangingPunct="0">
              <a:spcBef>
                <a:spcPct val="0"/>
              </a:spcBef>
              <a:spcAft>
                <a:spcPct val="0"/>
              </a:spcAft>
              <a:defRPr>
                <a:solidFill>
                  <a:schemeClr val="tx1"/>
                </a:solidFill>
                <a:latin typeface="Arial" charset="0"/>
                <a:ea typeface="宋体" charset="0"/>
              </a:defRPr>
            </a:lvl7pPr>
            <a:lvl8pPr marL="3429000" indent="-228600" eaLnBrk="0" fontAlgn="base" hangingPunct="0">
              <a:spcBef>
                <a:spcPct val="0"/>
              </a:spcBef>
              <a:spcAft>
                <a:spcPct val="0"/>
              </a:spcAft>
              <a:defRPr>
                <a:solidFill>
                  <a:schemeClr val="tx1"/>
                </a:solidFill>
                <a:latin typeface="Arial" charset="0"/>
                <a:ea typeface="宋体" charset="0"/>
              </a:defRPr>
            </a:lvl8pPr>
            <a:lvl9pPr marL="3886200" indent="-228600" eaLnBrk="0" fontAlgn="base" hangingPunct="0">
              <a:spcBef>
                <a:spcPct val="0"/>
              </a:spcBef>
              <a:spcAft>
                <a:spcPct val="0"/>
              </a:spcAft>
              <a:defRPr>
                <a:solidFill>
                  <a:schemeClr val="tx1"/>
                </a:solidFill>
                <a:latin typeface="Arial" charset="0"/>
                <a:ea typeface="宋体" charset="0"/>
              </a:defRPr>
            </a:lvl9pPr>
          </a:lstStyle>
          <a:p>
            <a:pPr eaLnBrk="1" hangingPunct="1"/>
            <a:r>
              <a:rPr lang="en-US" altLang="zh-CN">
                <a:latin typeface="Times New Roman" charset="0"/>
                <a:cs typeface="Times New Roman" charset="0"/>
              </a:rPr>
              <a:t>III</a:t>
            </a:r>
            <a:endParaRPr lang="en-CA">
              <a:latin typeface="Times New Roman" charset="0"/>
              <a:cs typeface="Times New Roman" charset="0"/>
            </a:endParaRPr>
          </a:p>
        </p:txBody>
      </p:sp>
      <p:sp>
        <p:nvSpPr>
          <p:cNvPr id="34826" name="Text Box 2170"/>
          <p:cNvSpPr txBox="1">
            <a:spLocks noChangeArrowheads="1"/>
          </p:cNvSpPr>
          <p:nvPr/>
        </p:nvSpPr>
        <p:spPr bwMode="auto">
          <a:xfrm>
            <a:off x="7343047" y="4791883"/>
            <a:ext cx="497616" cy="45458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charset="0"/>
                <a:ea typeface="宋体" charset="0"/>
              </a:defRPr>
            </a:lvl1pPr>
            <a:lvl2pPr marL="742950" indent="-285750" eaLnBrk="0" hangingPunct="0">
              <a:defRPr>
                <a:solidFill>
                  <a:schemeClr val="tx1"/>
                </a:solidFill>
                <a:latin typeface="Arial" charset="0"/>
                <a:ea typeface="宋体" charset="0"/>
              </a:defRPr>
            </a:lvl2pPr>
            <a:lvl3pPr marL="1143000" indent="-228600" eaLnBrk="0" hangingPunct="0">
              <a:defRPr>
                <a:solidFill>
                  <a:schemeClr val="tx1"/>
                </a:solidFill>
                <a:latin typeface="Arial" charset="0"/>
                <a:ea typeface="宋体" charset="0"/>
              </a:defRPr>
            </a:lvl3pPr>
            <a:lvl4pPr marL="1600200" indent="-228600" eaLnBrk="0" hangingPunct="0">
              <a:defRPr>
                <a:solidFill>
                  <a:schemeClr val="tx1"/>
                </a:solidFill>
                <a:latin typeface="Arial" charset="0"/>
                <a:ea typeface="宋体" charset="0"/>
              </a:defRPr>
            </a:lvl4pPr>
            <a:lvl5pPr marL="2057400" indent="-228600" eaLnBrk="0" hangingPunct="0">
              <a:defRPr>
                <a:solidFill>
                  <a:schemeClr val="tx1"/>
                </a:solidFill>
                <a:latin typeface="Arial" charset="0"/>
                <a:ea typeface="宋体" charset="0"/>
              </a:defRPr>
            </a:lvl5pPr>
            <a:lvl6pPr marL="2514600" indent="-228600" eaLnBrk="0" fontAlgn="base" hangingPunct="0">
              <a:spcBef>
                <a:spcPct val="0"/>
              </a:spcBef>
              <a:spcAft>
                <a:spcPct val="0"/>
              </a:spcAft>
              <a:defRPr>
                <a:solidFill>
                  <a:schemeClr val="tx1"/>
                </a:solidFill>
                <a:latin typeface="Arial" charset="0"/>
                <a:ea typeface="宋体" charset="0"/>
              </a:defRPr>
            </a:lvl6pPr>
            <a:lvl7pPr marL="2971800" indent="-228600" eaLnBrk="0" fontAlgn="base" hangingPunct="0">
              <a:spcBef>
                <a:spcPct val="0"/>
              </a:spcBef>
              <a:spcAft>
                <a:spcPct val="0"/>
              </a:spcAft>
              <a:defRPr>
                <a:solidFill>
                  <a:schemeClr val="tx1"/>
                </a:solidFill>
                <a:latin typeface="Arial" charset="0"/>
                <a:ea typeface="宋体" charset="0"/>
              </a:defRPr>
            </a:lvl7pPr>
            <a:lvl8pPr marL="3429000" indent="-228600" eaLnBrk="0" fontAlgn="base" hangingPunct="0">
              <a:spcBef>
                <a:spcPct val="0"/>
              </a:spcBef>
              <a:spcAft>
                <a:spcPct val="0"/>
              </a:spcAft>
              <a:defRPr>
                <a:solidFill>
                  <a:schemeClr val="tx1"/>
                </a:solidFill>
                <a:latin typeface="Arial" charset="0"/>
                <a:ea typeface="宋体" charset="0"/>
              </a:defRPr>
            </a:lvl8pPr>
            <a:lvl9pPr marL="3886200" indent="-228600" eaLnBrk="0" fontAlgn="base" hangingPunct="0">
              <a:spcBef>
                <a:spcPct val="0"/>
              </a:spcBef>
              <a:spcAft>
                <a:spcPct val="0"/>
              </a:spcAft>
              <a:defRPr>
                <a:solidFill>
                  <a:schemeClr val="tx1"/>
                </a:solidFill>
                <a:latin typeface="Arial" charset="0"/>
                <a:ea typeface="宋体" charset="0"/>
              </a:defRPr>
            </a:lvl9pPr>
          </a:lstStyle>
          <a:p>
            <a:pPr eaLnBrk="1" hangingPunct="1"/>
            <a:r>
              <a:rPr lang="en-US" altLang="zh-CN">
                <a:latin typeface="Times New Roman" charset="0"/>
                <a:cs typeface="Times New Roman" charset="0"/>
              </a:rPr>
              <a:t>I</a:t>
            </a:r>
            <a:endParaRPr lang="en-CA">
              <a:latin typeface="Times New Roman" charset="0"/>
              <a:cs typeface="Times New Roman" charset="0"/>
            </a:endParaRPr>
          </a:p>
        </p:txBody>
      </p:sp>
      <p:sp>
        <p:nvSpPr>
          <p:cNvPr id="34827" name="Text Box 2171"/>
          <p:cNvSpPr txBox="1">
            <a:spLocks noChangeArrowheads="1"/>
          </p:cNvSpPr>
          <p:nvPr/>
        </p:nvSpPr>
        <p:spPr bwMode="auto">
          <a:xfrm>
            <a:off x="7156045" y="4098045"/>
            <a:ext cx="497616" cy="3374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charset="0"/>
                <a:ea typeface="宋体" charset="0"/>
              </a:defRPr>
            </a:lvl1pPr>
            <a:lvl2pPr marL="742950" indent="-285750" eaLnBrk="0" hangingPunct="0">
              <a:defRPr>
                <a:solidFill>
                  <a:schemeClr val="tx1"/>
                </a:solidFill>
                <a:latin typeface="Arial" charset="0"/>
                <a:ea typeface="宋体" charset="0"/>
              </a:defRPr>
            </a:lvl2pPr>
            <a:lvl3pPr marL="1143000" indent="-228600" eaLnBrk="0" hangingPunct="0">
              <a:defRPr>
                <a:solidFill>
                  <a:schemeClr val="tx1"/>
                </a:solidFill>
                <a:latin typeface="Arial" charset="0"/>
                <a:ea typeface="宋体" charset="0"/>
              </a:defRPr>
            </a:lvl3pPr>
            <a:lvl4pPr marL="1600200" indent="-228600" eaLnBrk="0" hangingPunct="0">
              <a:defRPr>
                <a:solidFill>
                  <a:schemeClr val="tx1"/>
                </a:solidFill>
                <a:latin typeface="Arial" charset="0"/>
                <a:ea typeface="宋体" charset="0"/>
              </a:defRPr>
            </a:lvl4pPr>
            <a:lvl5pPr marL="2057400" indent="-228600" eaLnBrk="0" hangingPunct="0">
              <a:defRPr>
                <a:solidFill>
                  <a:schemeClr val="tx1"/>
                </a:solidFill>
                <a:latin typeface="Arial" charset="0"/>
                <a:ea typeface="宋体" charset="0"/>
              </a:defRPr>
            </a:lvl5pPr>
            <a:lvl6pPr marL="2514600" indent="-228600" eaLnBrk="0" fontAlgn="base" hangingPunct="0">
              <a:spcBef>
                <a:spcPct val="0"/>
              </a:spcBef>
              <a:spcAft>
                <a:spcPct val="0"/>
              </a:spcAft>
              <a:defRPr>
                <a:solidFill>
                  <a:schemeClr val="tx1"/>
                </a:solidFill>
                <a:latin typeface="Arial" charset="0"/>
                <a:ea typeface="宋体" charset="0"/>
              </a:defRPr>
            </a:lvl6pPr>
            <a:lvl7pPr marL="2971800" indent="-228600" eaLnBrk="0" fontAlgn="base" hangingPunct="0">
              <a:spcBef>
                <a:spcPct val="0"/>
              </a:spcBef>
              <a:spcAft>
                <a:spcPct val="0"/>
              </a:spcAft>
              <a:defRPr>
                <a:solidFill>
                  <a:schemeClr val="tx1"/>
                </a:solidFill>
                <a:latin typeface="Arial" charset="0"/>
                <a:ea typeface="宋体" charset="0"/>
              </a:defRPr>
            </a:lvl7pPr>
            <a:lvl8pPr marL="3429000" indent="-228600" eaLnBrk="0" fontAlgn="base" hangingPunct="0">
              <a:spcBef>
                <a:spcPct val="0"/>
              </a:spcBef>
              <a:spcAft>
                <a:spcPct val="0"/>
              </a:spcAft>
              <a:defRPr>
                <a:solidFill>
                  <a:schemeClr val="tx1"/>
                </a:solidFill>
                <a:latin typeface="Arial" charset="0"/>
                <a:ea typeface="宋体" charset="0"/>
              </a:defRPr>
            </a:lvl8pPr>
            <a:lvl9pPr marL="3886200" indent="-228600" eaLnBrk="0" fontAlgn="base" hangingPunct="0">
              <a:spcBef>
                <a:spcPct val="0"/>
              </a:spcBef>
              <a:spcAft>
                <a:spcPct val="0"/>
              </a:spcAft>
              <a:defRPr>
                <a:solidFill>
                  <a:schemeClr val="tx1"/>
                </a:solidFill>
                <a:latin typeface="Arial" charset="0"/>
                <a:ea typeface="宋体" charset="0"/>
              </a:defRPr>
            </a:lvl9pPr>
          </a:lstStyle>
          <a:p>
            <a:pPr eaLnBrk="1" hangingPunct="1"/>
            <a:r>
              <a:rPr lang="en-US" altLang="zh-CN">
                <a:latin typeface="Times New Roman" charset="0"/>
                <a:cs typeface="Times New Roman" charset="0"/>
              </a:rPr>
              <a:t>II</a:t>
            </a:r>
            <a:endParaRPr lang="en-CA">
              <a:latin typeface="Times New Roman" charset="0"/>
              <a:cs typeface="Times New Roman" charset="0"/>
            </a:endParaRPr>
          </a:p>
        </p:txBody>
      </p:sp>
      <p:sp>
        <p:nvSpPr>
          <p:cNvPr id="34828" name="Text Box 2172"/>
          <p:cNvSpPr txBox="1">
            <a:spLocks noChangeArrowheads="1"/>
          </p:cNvSpPr>
          <p:nvPr/>
        </p:nvSpPr>
        <p:spPr bwMode="auto">
          <a:xfrm>
            <a:off x="7314521" y="5246466"/>
            <a:ext cx="497616" cy="3143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charset="0"/>
                <a:ea typeface="宋体" charset="0"/>
              </a:defRPr>
            </a:lvl1pPr>
            <a:lvl2pPr marL="742950" indent="-285750" eaLnBrk="0" hangingPunct="0">
              <a:defRPr>
                <a:solidFill>
                  <a:schemeClr val="tx1"/>
                </a:solidFill>
                <a:latin typeface="Arial" charset="0"/>
                <a:ea typeface="宋体" charset="0"/>
              </a:defRPr>
            </a:lvl2pPr>
            <a:lvl3pPr marL="1143000" indent="-228600" eaLnBrk="0" hangingPunct="0">
              <a:defRPr>
                <a:solidFill>
                  <a:schemeClr val="tx1"/>
                </a:solidFill>
                <a:latin typeface="Arial" charset="0"/>
                <a:ea typeface="宋体" charset="0"/>
              </a:defRPr>
            </a:lvl3pPr>
            <a:lvl4pPr marL="1600200" indent="-228600" eaLnBrk="0" hangingPunct="0">
              <a:defRPr>
                <a:solidFill>
                  <a:schemeClr val="tx1"/>
                </a:solidFill>
                <a:latin typeface="Arial" charset="0"/>
                <a:ea typeface="宋体" charset="0"/>
              </a:defRPr>
            </a:lvl4pPr>
            <a:lvl5pPr marL="2057400" indent="-228600" eaLnBrk="0" hangingPunct="0">
              <a:defRPr>
                <a:solidFill>
                  <a:schemeClr val="tx1"/>
                </a:solidFill>
                <a:latin typeface="Arial" charset="0"/>
                <a:ea typeface="宋体" charset="0"/>
              </a:defRPr>
            </a:lvl5pPr>
            <a:lvl6pPr marL="2514600" indent="-228600" eaLnBrk="0" fontAlgn="base" hangingPunct="0">
              <a:spcBef>
                <a:spcPct val="0"/>
              </a:spcBef>
              <a:spcAft>
                <a:spcPct val="0"/>
              </a:spcAft>
              <a:defRPr>
                <a:solidFill>
                  <a:schemeClr val="tx1"/>
                </a:solidFill>
                <a:latin typeface="Arial" charset="0"/>
                <a:ea typeface="宋体" charset="0"/>
              </a:defRPr>
            </a:lvl6pPr>
            <a:lvl7pPr marL="2971800" indent="-228600" eaLnBrk="0" fontAlgn="base" hangingPunct="0">
              <a:spcBef>
                <a:spcPct val="0"/>
              </a:spcBef>
              <a:spcAft>
                <a:spcPct val="0"/>
              </a:spcAft>
              <a:defRPr>
                <a:solidFill>
                  <a:schemeClr val="tx1"/>
                </a:solidFill>
                <a:latin typeface="Arial" charset="0"/>
                <a:ea typeface="宋体" charset="0"/>
              </a:defRPr>
            </a:lvl7pPr>
            <a:lvl8pPr marL="3429000" indent="-228600" eaLnBrk="0" fontAlgn="base" hangingPunct="0">
              <a:spcBef>
                <a:spcPct val="0"/>
              </a:spcBef>
              <a:spcAft>
                <a:spcPct val="0"/>
              </a:spcAft>
              <a:defRPr>
                <a:solidFill>
                  <a:schemeClr val="tx1"/>
                </a:solidFill>
                <a:latin typeface="Arial" charset="0"/>
                <a:ea typeface="宋体" charset="0"/>
              </a:defRPr>
            </a:lvl8pPr>
            <a:lvl9pPr marL="3886200" indent="-228600" eaLnBrk="0" fontAlgn="base" hangingPunct="0">
              <a:spcBef>
                <a:spcPct val="0"/>
              </a:spcBef>
              <a:spcAft>
                <a:spcPct val="0"/>
              </a:spcAft>
              <a:defRPr>
                <a:solidFill>
                  <a:schemeClr val="tx1"/>
                </a:solidFill>
                <a:latin typeface="Arial" charset="0"/>
                <a:ea typeface="宋体" charset="0"/>
              </a:defRPr>
            </a:lvl9pPr>
          </a:lstStyle>
          <a:p>
            <a:pPr eaLnBrk="1" hangingPunct="1"/>
            <a:r>
              <a:rPr lang="en-US" altLang="zh-CN" i="1">
                <a:latin typeface="Times New Roman" charset="0"/>
                <a:cs typeface="Times New Roman" charset="0"/>
              </a:rPr>
              <a:t>t</a:t>
            </a:r>
            <a:endParaRPr lang="en-CA">
              <a:latin typeface="Times New Roman" charset="0"/>
              <a:cs typeface="Times New Roman" charset="0"/>
            </a:endParaRPr>
          </a:p>
        </p:txBody>
      </p:sp>
      <p:cxnSp>
        <p:nvCxnSpPr>
          <p:cNvPr id="34830" name="AutoShape 2174"/>
          <p:cNvCxnSpPr>
            <a:cxnSpLocks noChangeShapeType="1"/>
          </p:cNvCxnSpPr>
          <p:nvPr/>
        </p:nvCxnSpPr>
        <p:spPr bwMode="auto">
          <a:xfrm>
            <a:off x="1959074" y="5246466"/>
            <a:ext cx="5577314" cy="825"/>
          </a:xfrm>
          <a:prstGeom prst="straightConnector1">
            <a:avLst/>
          </a:prstGeom>
          <a:noFill/>
          <a:ln w="12700">
            <a:solidFill>
              <a:srgbClr val="000000"/>
            </a:solidFill>
            <a:round/>
            <a:headEnd/>
            <a:tailEnd/>
          </a:ln>
          <a:extLst>
            <a:ext uri="{909E8E84-426E-40dd-AFC4-6F175D3DCCD1}">
              <a14:hiddenFill xmlns:a14="http://schemas.microsoft.com/office/drawing/2010/main" xmlns="">
                <a:noFill/>
              </a14:hiddenFill>
            </a:ext>
          </a:extLst>
        </p:spPr>
      </p:cxnSp>
      <p:sp>
        <p:nvSpPr>
          <p:cNvPr id="34831" name="Text Box 2175"/>
          <p:cNvSpPr txBox="1">
            <a:spLocks noChangeArrowheads="1"/>
          </p:cNvSpPr>
          <p:nvPr/>
        </p:nvSpPr>
        <p:spPr bwMode="auto">
          <a:xfrm>
            <a:off x="4049907" y="5403219"/>
            <a:ext cx="1214986" cy="3308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b"/>
          <a:lstStyle>
            <a:lvl1pPr eaLnBrk="0" hangingPunct="0">
              <a:defRPr>
                <a:solidFill>
                  <a:schemeClr val="tx1"/>
                </a:solidFill>
                <a:latin typeface="Arial" charset="0"/>
                <a:ea typeface="宋体" charset="0"/>
              </a:defRPr>
            </a:lvl1pPr>
            <a:lvl2pPr marL="742950" indent="-285750" eaLnBrk="0" hangingPunct="0">
              <a:defRPr>
                <a:solidFill>
                  <a:schemeClr val="tx1"/>
                </a:solidFill>
                <a:latin typeface="Arial" charset="0"/>
                <a:ea typeface="宋体" charset="0"/>
              </a:defRPr>
            </a:lvl2pPr>
            <a:lvl3pPr marL="1143000" indent="-228600" eaLnBrk="0" hangingPunct="0">
              <a:defRPr>
                <a:solidFill>
                  <a:schemeClr val="tx1"/>
                </a:solidFill>
                <a:latin typeface="Arial" charset="0"/>
                <a:ea typeface="宋体" charset="0"/>
              </a:defRPr>
            </a:lvl3pPr>
            <a:lvl4pPr marL="1600200" indent="-228600" eaLnBrk="0" hangingPunct="0">
              <a:defRPr>
                <a:solidFill>
                  <a:schemeClr val="tx1"/>
                </a:solidFill>
                <a:latin typeface="Arial" charset="0"/>
                <a:ea typeface="宋体" charset="0"/>
              </a:defRPr>
            </a:lvl4pPr>
            <a:lvl5pPr marL="2057400" indent="-228600" eaLnBrk="0" hangingPunct="0">
              <a:defRPr>
                <a:solidFill>
                  <a:schemeClr val="tx1"/>
                </a:solidFill>
                <a:latin typeface="Arial" charset="0"/>
                <a:ea typeface="宋体" charset="0"/>
              </a:defRPr>
            </a:lvl5pPr>
            <a:lvl6pPr marL="2514600" indent="-228600" eaLnBrk="0" fontAlgn="base" hangingPunct="0">
              <a:spcBef>
                <a:spcPct val="0"/>
              </a:spcBef>
              <a:spcAft>
                <a:spcPct val="0"/>
              </a:spcAft>
              <a:defRPr>
                <a:solidFill>
                  <a:schemeClr val="tx1"/>
                </a:solidFill>
                <a:latin typeface="Arial" charset="0"/>
                <a:ea typeface="宋体" charset="0"/>
              </a:defRPr>
            </a:lvl6pPr>
            <a:lvl7pPr marL="2971800" indent="-228600" eaLnBrk="0" fontAlgn="base" hangingPunct="0">
              <a:spcBef>
                <a:spcPct val="0"/>
              </a:spcBef>
              <a:spcAft>
                <a:spcPct val="0"/>
              </a:spcAft>
              <a:defRPr>
                <a:solidFill>
                  <a:schemeClr val="tx1"/>
                </a:solidFill>
                <a:latin typeface="Arial" charset="0"/>
                <a:ea typeface="宋体" charset="0"/>
              </a:defRPr>
            </a:lvl7pPr>
            <a:lvl8pPr marL="3429000" indent="-228600" eaLnBrk="0" fontAlgn="base" hangingPunct="0">
              <a:spcBef>
                <a:spcPct val="0"/>
              </a:spcBef>
              <a:spcAft>
                <a:spcPct val="0"/>
              </a:spcAft>
              <a:defRPr>
                <a:solidFill>
                  <a:schemeClr val="tx1"/>
                </a:solidFill>
                <a:latin typeface="Arial" charset="0"/>
                <a:ea typeface="宋体" charset="0"/>
              </a:defRPr>
            </a:lvl8pPr>
            <a:lvl9pPr marL="3886200" indent="-228600" eaLnBrk="0" fontAlgn="base" hangingPunct="0">
              <a:spcBef>
                <a:spcPct val="0"/>
              </a:spcBef>
              <a:spcAft>
                <a:spcPct val="0"/>
              </a:spcAft>
              <a:defRPr>
                <a:solidFill>
                  <a:schemeClr val="tx1"/>
                </a:solidFill>
                <a:latin typeface="Arial" charset="0"/>
                <a:ea typeface="宋体" charset="0"/>
              </a:defRPr>
            </a:lvl9pPr>
          </a:lstStyle>
          <a:p>
            <a:pPr algn="ctr" eaLnBrk="1" hangingPunct="1"/>
            <a:r>
              <a:rPr lang="en-US" altLang="zh-CN">
                <a:latin typeface="Times New Roman" charset="0"/>
                <a:cs typeface="Times New Roman" charset="0"/>
              </a:rPr>
              <a:t>Stand age</a:t>
            </a:r>
            <a:endParaRPr lang="en-CA">
              <a:latin typeface="Times New Roman" charset="0"/>
              <a:cs typeface="Times New Roman" charset="0"/>
            </a:endParaRPr>
          </a:p>
        </p:txBody>
      </p:sp>
      <p:cxnSp>
        <p:nvCxnSpPr>
          <p:cNvPr id="34832" name="AutoShape 2176"/>
          <p:cNvCxnSpPr>
            <a:cxnSpLocks noChangeShapeType="1"/>
          </p:cNvCxnSpPr>
          <p:nvPr/>
        </p:nvCxnSpPr>
        <p:spPr bwMode="auto">
          <a:xfrm flipV="1">
            <a:off x="1958018" y="1695601"/>
            <a:ext cx="1057" cy="3550865"/>
          </a:xfrm>
          <a:prstGeom prst="straightConnector1">
            <a:avLst/>
          </a:prstGeom>
          <a:noFill/>
          <a:ln w="9525">
            <a:solidFill>
              <a:srgbClr val="000000"/>
            </a:solidFill>
            <a:round/>
            <a:headEnd/>
            <a:tailEnd/>
          </a:ln>
          <a:extLst>
            <a:ext uri="{909E8E84-426E-40dd-AFC4-6F175D3DCCD1}">
              <a14:hiddenFill xmlns:a14="http://schemas.microsoft.com/office/drawing/2010/main" xmlns="">
                <a:noFill/>
              </a14:hiddenFill>
            </a:ext>
          </a:extLst>
        </p:spPr>
      </p:cxnSp>
      <p:sp>
        <p:nvSpPr>
          <p:cNvPr id="34833" name="Freeform 14"/>
          <p:cNvSpPr>
            <a:spLocks/>
          </p:cNvSpPr>
          <p:nvPr/>
        </p:nvSpPr>
        <p:spPr bwMode="auto">
          <a:xfrm>
            <a:off x="1973865" y="2620443"/>
            <a:ext cx="5340656" cy="2638398"/>
          </a:xfrm>
          <a:custGeom>
            <a:avLst/>
            <a:gdLst>
              <a:gd name="T0" fmla="*/ 0 w 2655"/>
              <a:gd name="T1" fmla="*/ 3198 h 3198"/>
              <a:gd name="T2" fmla="*/ 1359 w 2655"/>
              <a:gd name="T3" fmla="*/ 610 h 3198"/>
              <a:gd name="T4" fmla="*/ 2827 w 2655"/>
              <a:gd name="T5" fmla="*/ 334 h 3198"/>
              <a:gd name="T6" fmla="*/ 5818 w 2655"/>
              <a:gd name="T7" fmla="*/ 2613 h 3198"/>
              <a:gd name="T8" fmla="*/ 9624 w 2655"/>
              <a:gd name="T9" fmla="*/ 3094 h 3198"/>
              <a:gd name="T10" fmla="*/ 0 60000 65536"/>
              <a:gd name="T11" fmla="*/ 0 60000 65536"/>
              <a:gd name="T12" fmla="*/ 0 60000 65536"/>
              <a:gd name="T13" fmla="*/ 0 60000 65536"/>
              <a:gd name="T14" fmla="*/ 0 60000 65536"/>
              <a:gd name="T15" fmla="*/ 0 w 2655"/>
              <a:gd name="T16" fmla="*/ 0 h 3198"/>
              <a:gd name="T17" fmla="*/ 2655 w 2655"/>
              <a:gd name="T18" fmla="*/ 3198 h 3198"/>
            </a:gdLst>
            <a:ahLst/>
            <a:cxnLst>
              <a:cxn ang="T10">
                <a:pos x="T0" y="T1"/>
              </a:cxn>
              <a:cxn ang="T11">
                <a:pos x="T2" y="T3"/>
              </a:cxn>
              <a:cxn ang="T12">
                <a:pos x="T4" y="T5"/>
              </a:cxn>
              <a:cxn ang="T13">
                <a:pos x="T6" y="T7"/>
              </a:cxn>
              <a:cxn ang="T14">
                <a:pos x="T8" y="T9"/>
              </a:cxn>
            </a:cxnLst>
            <a:rect l="T15" t="T16" r="T17" b="T18"/>
            <a:pathLst>
              <a:path w="2655" h="3198">
                <a:moveTo>
                  <a:pt x="0" y="3198"/>
                </a:moveTo>
                <a:cubicBezTo>
                  <a:pt x="122" y="2142"/>
                  <a:pt x="245" y="1087"/>
                  <a:pt x="375" y="610"/>
                </a:cubicBezTo>
                <a:cubicBezTo>
                  <a:pt x="505" y="133"/>
                  <a:pt x="575" y="0"/>
                  <a:pt x="780" y="334"/>
                </a:cubicBezTo>
                <a:cubicBezTo>
                  <a:pt x="985" y="668"/>
                  <a:pt x="1293" y="2153"/>
                  <a:pt x="1605" y="2613"/>
                </a:cubicBezTo>
                <a:cubicBezTo>
                  <a:pt x="1917" y="3073"/>
                  <a:pt x="2286" y="3083"/>
                  <a:pt x="2655" y="3094"/>
                </a:cubicBezTo>
              </a:path>
            </a:pathLst>
          </a:custGeom>
          <a:ln>
            <a:headEnd/>
            <a:tailEnd/>
          </a:ln>
          <a:extLst>
            <a:ext uri="{909E8E84-426E-40dd-AFC4-6F175D3DCCD1}">
              <a14:hiddenFill xmlns:a14="http://schemas.microsoft.com/office/drawing/2010/main" xmlns="">
                <a:solidFill>
                  <a:srgbClr val="FFFFFF"/>
                </a:solidFill>
              </a14:hiddenFill>
            </a:ext>
          </a:extLst>
        </p:spPr>
        <p:style>
          <a:lnRef idx="1">
            <a:schemeClr val="dk1"/>
          </a:lnRef>
          <a:fillRef idx="0">
            <a:schemeClr val="dk1"/>
          </a:fillRef>
          <a:effectRef idx="0">
            <a:schemeClr val="dk1"/>
          </a:effectRef>
          <a:fontRef idx="minor">
            <a:schemeClr val="tx1"/>
          </a:fontRef>
        </p:style>
        <p:txBody>
          <a:bodyPr/>
          <a:lstStyle/>
          <a:p>
            <a:endParaRPr lang="zh-CN" altLang="en-US"/>
          </a:p>
        </p:txBody>
      </p:sp>
      <p:cxnSp>
        <p:nvCxnSpPr>
          <p:cNvPr id="34834" name="AutoShape 2178"/>
          <p:cNvCxnSpPr>
            <a:cxnSpLocks noChangeShapeType="1"/>
          </p:cNvCxnSpPr>
          <p:nvPr/>
        </p:nvCxnSpPr>
        <p:spPr bwMode="auto">
          <a:xfrm>
            <a:off x="1943226" y="4268823"/>
            <a:ext cx="5212818" cy="825"/>
          </a:xfrm>
          <a:prstGeom prst="straightConnector1">
            <a:avLst/>
          </a:prstGeom>
          <a:noFill/>
          <a:ln w="9525">
            <a:solidFill>
              <a:srgbClr val="000000"/>
            </a:solidFill>
            <a:round/>
            <a:headEnd/>
            <a:tailEnd/>
          </a:ln>
          <a:extLst>
            <a:ext uri="{909E8E84-426E-40dd-AFC4-6F175D3DCCD1}">
              <a14:hiddenFill xmlns:a14="http://schemas.microsoft.com/office/drawing/2010/main" xmlns="">
                <a:noFill/>
              </a14:hiddenFill>
            </a:ext>
          </a:extLst>
        </p:spPr>
      </p:cxnSp>
      <p:sp>
        <p:nvSpPr>
          <p:cNvPr id="34835" name="Freeform 16"/>
          <p:cNvSpPr>
            <a:spLocks/>
          </p:cNvSpPr>
          <p:nvPr/>
        </p:nvSpPr>
        <p:spPr bwMode="auto">
          <a:xfrm>
            <a:off x="1943226" y="1819353"/>
            <a:ext cx="5006799" cy="2450295"/>
          </a:xfrm>
          <a:custGeom>
            <a:avLst/>
            <a:gdLst>
              <a:gd name="T0" fmla="*/ 0 w 4110"/>
              <a:gd name="T1" fmla="*/ 2761 h 3195"/>
              <a:gd name="T2" fmla="*/ 477 w 4110"/>
              <a:gd name="T3" fmla="*/ 1128 h 3195"/>
              <a:gd name="T4" fmla="*/ 1115 w 4110"/>
              <a:gd name="T5" fmla="*/ 350 h 3195"/>
              <a:gd name="T6" fmla="*/ 2751 w 4110"/>
              <a:gd name="T7" fmla="*/ 1258 h 3195"/>
              <a:gd name="T8" fmla="*/ 4466 w 4110"/>
              <a:gd name="T9" fmla="*/ 311 h 3195"/>
              <a:gd name="T10" fmla="*/ 5464 w 4110"/>
              <a:gd name="T11" fmla="*/ 0 h 3195"/>
              <a:gd name="T12" fmla="*/ 0 60000 65536"/>
              <a:gd name="T13" fmla="*/ 0 60000 65536"/>
              <a:gd name="T14" fmla="*/ 0 60000 65536"/>
              <a:gd name="T15" fmla="*/ 0 60000 65536"/>
              <a:gd name="T16" fmla="*/ 0 60000 65536"/>
              <a:gd name="T17" fmla="*/ 0 60000 65536"/>
              <a:gd name="T18" fmla="*/ 0 w 4110"/>
              <a:gd name="T19" fmla="*/ 0 h 3195"/>
              <a:gd name="T20" fmla="*/ 4110 w 4110"/>
              <a:gd name="T21" fmla="*/ 3195 h 3195"/>
            </a:gdLst>
            <a:ahLst/>
            <a:cxnLst>
              <a:cxn ang="T12">
                <a:pos x="T0" y="T1"/>
              </a:cxn>
              <a:cxn ang="T13">
                <a:pos x="T2" y="T3"/>
              </a:cxn>
              <a:cxn ang="T14">
                <a:pos x="T4" y="T5"/>
              </a:cxn>
              <a:cxn ang="T15">
                <a:pos x="T6" y="T7"/>
              </a:cxn>
              <a:cxn ang="T16">
                <a:pos x="T8" y="T9"/>
              </a:cxn>
              <a:cxn ang="T17">
                <a:pos x="T10" y="T11"/>
              </a:cxn>
            </a:cxnLst>
            <a:rect l="T18" t="T19" r="T20" b="T21"/>
            <a:pathLst>
              <a:path w="4110" h="3195">
                <a:moveTo>
                  <a:pt x="0" y="3195"/>
                </a:moveTo>
                <a:cubicBezTo>
                  <a:pt x="109" y="2482"/>
                  <a:pt x="219" y="1770"/>
                  <a:pt x="359" y="1305"/>
                </a:cubicBezTo>
                <a:cubicBezTo>
                  <a:pt x="499" y="840"/>
                  <a:pt x="554" y="380"/>
                  <a:pt x="839" y="405"/>
                </a:cubicBezTo>
                <a:cubicBezTo>
                  <a:pt x="1124" y="430"/>
                  <a:pt x="1649" y="1463"/>
                  <a:pt x="2069" y="1455"/>
                </a:cubicBezTo>
                <a:cubicBezTo>
                  <a:pt x="2489" y="1447"/>
                  <a:pt x="3019" y="603"/>
                  <a:pt x="3359" y="360"/>
                </a:cubicBezTo>
                <a:cubicBezTo>
                  <a:pt x="3699" y="117"/>
                  <a:pt x="3904" y="58"/>
                  <a:pt x="4110" y="0"/>
                </a:cubicBezTo>
              </a:path>
            </a:pathLst>
          </a:custGeom>
          <a:noFill/>
          <a:ln w="9525">
            <a:solidFill>
              <a:srgbClr val="000000"/>
            </a:solidFill>
            <a:round/>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a:p>
        </p:txBody>
      </p:sp>
      <p:sp>
        <p:nvSpPr>
          <p:cNvPr id="34820" name="Rectangle 25"/>
          <p:cNvSpPr>
            <a:spLocks noChangeArrowheads="1"/>
          </p:cNvSpPr>
          <p:nvPr/>
        </p:nvSpPr>
        <p:spPr bwMode="auto">
          <a:xfrm>
            <a:off x="0" y="350520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p>
            <a:endParaRPr lang="zh-CN" altLang="en-US"/>
          </a:p>
        </p:txBody>
      </p:sp>
      <p:sp>
        <p:nvSpPr>
          <p:cNvPr id="20" name="Footer Placeholder 1"/>
          <p:cNvSpPr>
            <a:spLocks noGrp="1"/>
          </p:cNvSpPr>
          <p:nvPr>
            <p:ph type="ftr" sz="quarter" idx="4294967295"/>
          </p:nvPr>
        </p:nvSpPr>
        <p:spPr>
          <a:xfrm>
            <a:off x="0" y="6519863"/>
            <a:ext cx="2392363" cy="365125"/>
          </a:xfrm>
        </p:spPr>
        <p:txBody>
          <a:bodyPr/>
          <a:lstStyle/>
          <a:p>
            <a:pPr>
              <a:defRPr/>
            </a:pPr>
            <a:r>
              <a:rPr lang="en-US" dirty="0"/>
              <a:t>Adapted from </a:t>
            </a:r>
            <a:r>
              <a:rPr lang="en-US" i="1" dirty="0"/>
              <a:t>Forest Economics </a:t>
            </a:r>
            <a:r>
              <a:rPr lang="en-US" dirty="0"/>
              <a:t>by </a:t>
            </a:r>
            <a:r>
              <a:rPr lang="en-US" dirty="0" err="1"/>
              <a:t>Daowei</a:t>
            </a:r>
            <a:r>
              <a:rPr lang="en-US" dirty="0"/>
              <a:t> Zhang and Peter H. </a:t>
            </a:r>
            <a:r>
              <a:rPr lang="en-US" dirty="0" err="1"/>
              <a:t>Pearse</a:t>
            </a:r>
            <a:r>
              <a:rPr lang="en-US" dirty="0"/>
              <a:t>, published by UBC Press, 2011. </a:t>
            </a:r>
            <a:endParaRPr lang="en-CA" dirty="0"/>
          </a:p>
        </p:txBody>
      </p:sp>
      <p:sp>
        <p:nvSpPr>
          <p:cNvPr id="34829" name="Freeform 10"/>
          <p:cNvSpPr>
            <a:spLocks/>
          </p:cNvSpPr>
          <p:nvPr/>
        </p:nvSpPr>
        <p:spPr bwMode="auto">
          <a:xfrm>
            <a:off x="2671162" y="2423265"/>
            <a:ext cx="4278864" cy="2861152"/>
          </a:xfrm>
          <a:custGeom>
            <a:avLst/>
            <a:gdLst>
              <a:gd name="T0" fmla="*/ 0 w 3945"/>
              <a:gd name="T1" fmla="*/ 3610 h 3274"/>
              <a:gd name="T2" fmla="*/ 538 w 3945"/>
              <a:gd name="T3" fmla="*/ 3408 h 3274"/>
              <a:gd name="T4" fmla="*/ 1645 w 3945"/>
              <a:gd name="T5" fmla="*/ 2010 h 3274"/>
              <a:gd name="T6" fmla="*/ 2631 w 3945"/>
              <a:gd name="T7" fmla="*/ 704 h 3274"/>
              <a:gd name="T8" fmla="*/ 3098 w 3945"/>
              <a:gd name="T9" fmla="*/ 261 h 3274"/>
              <a:gd name="T10" fmla="*/ 3604 w 3945"/>
              <a:gd name="T11" fmla="*/ 37 h 3274"/>
              <a:gd name="T12" fmla="*/ 4158 w 3945"/>
              <a:gd name="T13" fmla="*/ 37 h 3274"/>
              <a:gd name="T14" fmla="*/ 0 60000 65536"/>
              <a:gd name="T15" fmla="*/ 0 60000 65536"/>
              <a:gd name="T16" fmla="*/ 0 60000 65536"/>
              <a:gd name="T17" fmla="*/ 0 60000 65536"/>
              <a:gd name="T18" fmla="*/ 0 60000 65536"/>
              <a:gd name="T19" fmla="*/ 0 60000 65536"/>
              <a:gd name="T20" fmla="*/ 0 60000 65536"/>
              <a:gd name="T21" fmla="*/ 0 w 3945"/>
              <a:gd name="T22" fmla="*/ 0 h 3274"/>
              <a:gd name="T23" fmla="*/ 3945 w 3945"/>
              <a:gd name="T24" fmla="*/ 3274 h 327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945" h="3274">
                <a:moveTo>
                  <a:pt x="0" y="3217"/>
                </a:moveTo>
                <a:cubicBezTo>
                  <a:pt x="125" y="3245"/>
                  <a:pt x="250" y="3274"/>
                  <a:pt x="510" y="3037"/>
                </a:cubicBezTo>
                <a:cubicBezTo>
                  <a:pt x="770" y="2800"/>
                  <a:pt x="1229" y="2193"/>
                  <a:pt x="1560" y="1792"/>
                </a:cubicBezTo>
                <a:cubicBezTo>
                  <a:pt x="1891" y="1391"/>
                  <a:pt x="2267" y="888"/>
                  <a:pt x="2497" y="628"/>
                </a:cubicBezTo>
                <a:cubicBezTo>
                  <a:pt x="2727" y="368"/>
                  <a:pt x="2786" y="331"/>
                  <a:pt x="2940" y="232"/>
                </a:cubicBezTo>
                <a:cubicBezTo>
                  <a:pt x="3094" y="133"/>
                  <a:pt x="3253" y="66"/>
                  <a:pt x="3420" y="33"/>
                </a:cubicBezTo>
                <a:cubicBezTo>
                  <a:pt x="3587" y="0"/>
                  <a:pt x="3766" y="16"/>
                  <a:pt x="3945" y="33"/>
                </a:cubicBezTo>
              </a:path>
            </a:pathLst>
          </a:custGeom>
          <a:ln>
            <a:headEnd/>
            <a:tailEnd/>
          </a:ln>
          <a:extLst>
            <a:ext uri="{909E8E84-426E-40dd-AFC4-6F175D3DCCD1}">
              <a14:hiddenFill xmlns:a14="http://schemas.microsoft.com/office/drawing/2010/main" xmlns="">
                <a:solidFill>
                  <a:srgbClr val="FFFFFF"/>
                </a:solidFill>
              </a14:hiddenFill>
            </a:ext>
          </a:extLst>
        </p:spPr>
        <p:style>
          <a:lnRef idx="3">
            <a:schemeClr val="accent5"/>
          </a:lnRef>
          <a:fillRef idx="0">
            <a:schemeClr val="accent5"/>
          </a:fillRef>
          <a:effectRef idx="2">
            <a:schemeClr val="accent5"/>
          </a:effectRef>
          <a:fontRef idx="minor">
            <a:schemeClr val="tx1"/>
          </a:fontRef>
        </p:style>
        <p:txBody>
          <a:bodyPr/>
          <a:lstStyle/>
          <a:p>
            <a:endParaRPr lang="zh-CN" altLang="en-US"/>
          </a:p>
        </p:txBody>
      </p:sp>
    </p:spTree>
    <p:extLst>
      <p:ext uri="{BB962C8B-B14F-4D97-AF65-F5344CB8AC3E}">
        <p14:creationId xmlns:p14="http://schemas.microsoft.com/office/powerpoint/2010/main" val="26155110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34829"/>
                                        </p:tgtEl>
                                        <p:attrNameLst>
                                          <p:attrName>style.visibility</p:attrName>
                                        </p:attrNameLst>
                                      </p:cBhvr>
                                      <p:to>
                                        <p:strVal val="visible"/>
                                      </p:to>
                                    </p:set>
                                    <p:animEffect transition="in" filter="wipe(left)">
                                      <p:cBhvr>
                                        <p:cTn id="7" dur="500"/>
                                        <p:tgtEl>
                                          <p:spTgt spid="348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29" grpId="0"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其它考虑</a:t>
            </a:r>
          </a:p>
        </p:txBody>
      </p:sp>
      <p:sp>
        <p:nvSpPr>
          <p:cNvPr id="3" name="内容占位符 2"/>
          <p:cNvSpPr>
            <a:spLocks noGrp="1"/>
          </p:cNvSpPr>
          <p:nvPr>
            <p:ph idx="1"/>
          </p:nvPr>
        </p:nvSpPr>
        <p:spPr/>
        <p:txBody>
          <a:bodyPr/>
          <a:lstStyle/>
          <a:p>
            <a:r>
              <a:rPr lang="zh-CN" altLang="en-US" dirty="0"/>
              <a:t>还有一些和树龄没有关系的非木材价值（森林里生活的某些鸟类品种）</a:t>
            </a:r>
          </a:p>
        </p:txBody>
      </p:sp>
    </p:spTree>
    <p:extLst>
      <p:ext uri="{BB962C8B-B14F-4D97-AF65-F5344CB8AC3E}">
        <p14:creationId xmlns:p14="http://schemas.microsoft.com/office/powerpoint/2010/main" val="249842917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16"/>
          <p:cNvSpPr>
            <a:spLocks noChangeArrowheads="1"/>
          </p:cNvSpPr>
          <p:nvPr/>
        </p:nvSpPr>
        <p:spPr bwMode="auto">
          <a:xfrm>
            <a:off x="971550" y="692150"/>
            <a:ext cx="7272338"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spAutoFit/>
          </a:bodyPr>
          <a:lstStyle/>
          <a:p>
            <a:r>
              <a:rPr lang="en-US" altLang="zh-CN" b="1">
                <a:solidFill>
                  <a:srgbClr val="000000"/>
                </a:solidFill>
                <a:latin typeface="Times New Roman" charset="0"/>
                <a:cs typeface="Times New Roman" charset="0"/>
              </a:rPr>
              <a:t>Figure 7.4: Relationship between stand age and various amenity values</a:t>
            </a:r>
            <a:endParaRPr lang="en-CA" b="1">
              <a:latin typeface="Times New Roman" charset="0"/>
              <a:cs typeface="Times New Roman" charset="0"/>
            </a:endParaRPr>
          </a:p>
        </p:txBody>
      </p:sp>
      <p:sp>
        <p:nvSpPr>
          <p:cNvPr id="34822" name="Text Box 2166"/>
          <p:cNvSpPr txBox="1">
            <a:spLocks noChangeArrowheads="1"/>
          </p:cNvSpPr>
          <p:nvPr/>
        </p:nvSpPr>
        <p:spPr bwMode="auto">
          <a:xfrm>
            <a:off x="1555487" y="5130964"/>
            <a:ext cx="497616" cy="3143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charset="0"/>
                <a:ea typeface="宋体" charset="0"/>
              </a:defRPr>
            </a:lvl1pPr>
            <a:lvl2pPr marL="742950" indent="-285750" eaLnBrk="0" hangingPunct="0">
              <a:defRPr>
                <a:solidFill>
                  <a:schemeClr val="tx1"/>
                </a:solidFill>
                <a:latin typeface="Arial" charset="0"/>
                <a:ea typeface="宋体" charset="0"/>
              </a:defRPr>
            </a:lvl2pPr>
            <a:lvl3pPr marL="1143000" indent="-228600" eaLnBrk="0" hangingPunct="0">
              <a:defRPr>
                <a:solidFill>
                  <a:schemeClr val="tx1"/>
                </a:solidFill>
                <a:latin typeface="Arial" charset="0"/>
                <a:ea typeface="宋体" charset="0"/>
              </a:defRPr>
            </a:lvl3pPr>
            <a:lvl4pPr marL="1600200" indent="-228600" eaLnBrk="0" hangingPunct="0">
              <a:defRPr>
                <a:solidFill>
                  <a:schemeClr val="tx1"/>
                </a:solidFill>
                <a:latin typeface="Arial" charset="0"/>
                <a:ea typeface="宋体" charset="0"/>
              </a:defRPr>
            </a:lvl4pPr>
            <a:lvl5pPr marL="2057400" indent="-228600" eaLnBrk="0" hangingPunct="0">
              <a:defRPr>
                <a:solidFill>
                  <a:schemeClr val="tx1"/>
                </a:solidFill>
                <a:latin typeface="Arial" charset="0"/>
                <a:ea typeface="宋体" charset="0"/>
              </a:defRPr>
            </a:lvl5pPr>
            <a:lvl6pPr marL="2514600" indent="-228600" eaLnBrk="0" fontAlgn="base" hangingPunct="0">
              <a:spcBef>
                <a:spcPct val="0"/>
              </a:spcBef>
              <a:spcAft>
                <a:spcPct val="0"/>
              </a:spcAft>
              <a:defRPr>
                <a:solidFill>
                  <a:schemeClr val="tx1"/>
                </a:solidFill>
                <a:latin typeface="Arial" charset="0"/>
                <a:ea typeface="宋体" charset="0"/>
              </a:defRPr>
            </a:lvl6pPr>
            <a:lvl7pPr marL="2971800" indent="-228600" eaLnBrk="0" fontAlgn="base" hangingPunct="0">
              <a:spcBef>
                <a:spcPct val="0"/>
              </a:spcBef>
              <a:spcAft>
                <a:spcPct val="0"/>
              </a:spcAft>
              <a:defRPr>
                <a:solidFill>
                  <a:schemeClr val="tx1"/>
                </a:solidFill>
                <a:latin typeface="Arial" charset="0"/>
                <a:ea typeface="宋体" charset="0"/>
              </a:defRPr>
            </a:lvl7pPr>
            <a:lvl8pPr marL="3429000" indent="-228600" eaLnBrk="0" fontAlgn="base" hangingPunct="0">
              <a:spcBef>
                <a:spcPct val="0"/>
              </a:spcBef>
              <a:spcAft>
                <a:spcPct val="0"/>
              </a:spcAft>
              <a:defRPr>
                <a:solidFill>
                  <a:schemeClr val="tx1"/>
                </a:solidFill>
                <a:latin typeface="Arial" charset="0"/>
                <a:ea typeface="宋体" charset="0"/>
              </a:defRPr>
            </a:lvl8pPr>
            <a:lvl9pPr marL="3886200" indent="-228600" eaLnBrk="0" fontAlgn="base" hangingPunct="0">
              <a:spcBef>
                <a:spcPct val="0"/>
              </a:spcBef>
              <a:spcAft>
                <a:spcPct val="0"/>
              </a:spcAft>
              <a:defRPr>
                <a:solidFill>
                  <a:schemeClr val="tx1"/>
                </a:solidFill>
                <a:latin typeface="Arial" charset="0"/>
                <a:ea typeface="宋体" charset="0"/>
              </a:defRPr>
            </a:lvl9pPr>
          </a:lstStyle>
          <a:p>
            <a:pPr eaLnBrk="1" hangingPunct="1"/>
            <a:r>
              <a:rPr lang="en-US" altLang="zh-CN">
                <a:latin typeface="Times New Roman" charset="0"/>
                <a:cs typeface="Times New Roman" charset="0"/>
              </a:rPr>
              <a:t>0</a:t>
            </a:r>
            <a:endParaRPr lang="en-CA">
              <a:latin typeface="Times New Roman" charset="0"/>
              <a:cs typeface="Times New Roman" charset="0"/>
            </a:endParaRPr>
          </a:p>
        </p:txBody>
      </p:sp>
      <p:sp>
        <p:nvSpPr>
          <p:cNvPr id="34823" name="Text Box 2167"/>
          <p:cNvSpPr txBox="1">
            <a:spLocks noChangeArrowheads="1"/>
          </p:cNvSpPr>
          <p:nvPr/>
        </p:nvSpPr>
        <p:spPr bwMode="auto">
          <a:xfrm>
            <a:off x="1403350" y="1628775"/>
            <a:ext cx="727935" cy="3143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indent="-57150" eaLnBrk="0" hangingPunct="0">
              <a:defRPr>
                <a:solidFill>
                  <a:schemeClr val="tx1"/>
                </a:solidFill>
                <a:latin typeface="Arial" charset="0"/>
                <a:ea typeface="宋体" charset="0"/>
              </a:defRPr>
            </a:lvl1pPr>
            <a:lvl2pPr marL="742950" indent="-285750" eaLnBrk="0" hangingPunct="0">
              <a:defRPr>
                <a:solidFill>
                  <a:schemeClr val="tx1"/>
                </a:solidFill>
                <a:latin typeface="Arial" charset="0"/>
                <a:ea typeface="宋体" charset="0"/>
              </a:defRPr>
            </a:lvl2pPr>
            <a:lvl3pPr marL="1143000" indent="-228600" eaLnBrk="0" hangingPunct="0">
              <a:defRPr>
                <a:solidFill>
                  <a:schemeClr val="tx1"/>
                </a:solidFill>
                <a:latin typeface="Arial" charset="0"/>
                <a:ea typeface="宋体" charset="0"/>
              </a:defRPr>
            </a:lvl3pPr>
            <a:lvl4pPr marL="1600200" indent="-228600" eaLnBrk="0" hangingPunct="0">
              <a:defRPr>
                <a:solidFill>
                  <a:schemeClr val="tx1"/>
                </a:solidFill>
                <a:latin typeface="Arial" charset="0"/>
                <a:ea typeface="宋体" charset="0"/>
              </a:defRPr>
            </a:lvl4pPr>
            <a:lvl5pPr marL="2057400" indent="-228600" eaLnBrk="0" hangingPunct="0">
              <a:defRPr>
                <a:solidFill>
                  <a:schemeClr val="tx1"/>
                </a:solidFill>
                <a:latin typeface="Arial" charset="0"/>
                <a:ea typeface="宋体" charset="0"/>
              </a:defRPr>
            </a:lvl5pPr>
            <a:lvl6pPr marL="2514600" indent="-228600" eaLnBrk="0" fontAlgn="base" hangingPunct="0">
              <a:spcBef>
                <a:spcPct val="0"/>
              </a:spcBef>
              <a:spcAft>
                <a:spcPct val="0"/>
              </a:spcAft>
              <a:defRPr>
                <a:solidFill>
                  <a:schemeClr val="tx1"/>
                </a:solidFill>
                <a:latin typeface="Arial" charset="0"/>
                <a:ea typeface="宋体" charset="0"/>
              </a:defRPr>
            </a:lvl6pPr>
            <a:lvl7pPr marL="2971800" indent="-228600" eaLnBrk="0" fontAlgn="base" hangingPunct="0">
              <a:spcBef>
                <a:spcPct val="0"/>
              </a:spcBef>
              <a:spcAft>
                <a:spcPct val="0"/>
              </a:spcAft>
              <a:defRPr>
                <a:solidFill>
                  <a:schemeClr val="tx1"/>
                </a:solidFill>
                <a:latin typeface="Arial" charset="0"/>
                <a:ea typeface="宋体" charset="0"/>
              </a:defRPr>
            </a:lvl7pPr>
            <a:lvl8pPr marL="3429000" indent="-228600" eaLnBrk="0" fontAlgn="base" hangingPunct="0">
              <a:spcBef>
                <a:spcPct val="0"/>
              </a:spcBef>
              <a:spcAft>
                <a:spcPct val="0"/>
              </a:spcAft>
              <a:defRPr>
                <a:solidFill>
                  <a:schemeClr val="tx1"/>
                </a:solidFill>
                <a:latin typeface="Arial" charset="0"/>
                <a:ea typeface="宋体" charset="0"/>
              </a:defRPr>
            </a:lvl8pPr>
            <a:lvl9pPr marL="3886200" indent="-228600" eaLnBrk="0" fontAlgn="base" hangingPunct="0">
              <a:spcBef>
                <a:spcPct val="0"/>
              </a:spcBef>
              <a:spcAft>
                <a:spcPct val="0"/>
              </a:spcAft>
              <a:defRPr>
                <a:solidFill>
                  <a:schemeClr val="tx1"/>
                </a:solidFill>
                <a:latin typeface="Arial" charset="0"/>
                <a:ea typeface="宋体" charset="0"/>
              </a:defRPr>
            </a:lvl9pPr>
          </a:lstStyle>
          <a:p>
            <a:pPr eaLnBrk="1" hangingPunct="1"/>
            <a:r>
              <a:rPr lang="en-US" altLang="zh-CN" i="1">
                <a:latin typeface="Times New Roman" charset="0"/>
                <a:cs typeface="Times New Roman" charset="0"/>
              </a:rPr>
              <a:t>N</a:t>
            </a:r>
            <a:r>
              <a:rPr lang="en-US" altLang="zh-CN">
                <a:latin typeface="Times New Roman" charset="0"/>
                <a:cs typeface="Times New Roman" charset="0"/>
              </a:rPr>
              <a:t>(</a:t>
            </a:r>
            <a:r>
              <a:rPr lang="en-US" altLang="zh-CN" i="1">
                <a:latin typeface="Times New Roman" charset="0"/>
                <a:cs typeface="Times New Roman" charset="0"/>
              </a:rPr>
              <a:t>t</a:t>
            </a:r>
            <a:r>
              <a:rPr lang="en-US" altLang="zh-CN">
                <a:latin typeface="Times New Roman" charset="0"/>
                <a:cs typeface="Times New Roman" charset="0"/>
              </a:rPr>
              <a:t>)</a:t>
            </a:r>
            <a:endParaRPr lang="en-CA">
              <a:latin typeface="Times New Roman" charset="0"/>
              <a:cs typeface="Times New Roman" charset="0"/>
            </a:endParaRPr>
          </a:p>
        </p:txBody>
      </p:sp>
      <p:sp>
        <p:nvSpPr>
          <p:cNvPr id="34824" name="Text Box 2168"/>
          <p:cNvSpPr txBox="1">
            <a:spLocks noChangeArrowheads="1"/>
          </p:cNvSpPr>
          <p:nvPr/>
        </p:nvSpPr>
        <p:spPr bwMode="auto">
          <a:xfrm>
            <a:off x="6950025" y="1670851"/>
            <a:ext cx="608550" cy="3143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charset="0"/>
                <a:ea typeface="宋体" charset="0"/>
              </a:defRPr>
            </a:lvl1pPr>
            <a:lvl2pPr marL="742950" indent="-285750" eaLnBrk="0" hangingPunct="0">
              <a:defRPr>
                <a:solidFill>
                  <a:schemeClr val="tx1"/>
                </a:solidFill>
                <a:latin typeface="Arial" charset="0"/>
                <a:ea typeface="宋体" charset="0"/>
              </a:defRPr>
            </a:lvl2pPr>
            <a:lvl3pPr marL="1143000" indent="-228600" eaLnBrk="0" hangingPunct="0">
              <a:defRPr>
                <a:solidFill>
                  <a:schemeClr val="tx1"/>
                </a:solidFill>
                <a:latin typeface="Arial" charset="0"/>
                <a:ea typeface="宋体" charset="0"/>
              </a:defRPr>
            </a:lvl3pPr>
            <a:lvl4pPr marL="1600200" indent="-228600" eaLnBrk="0" hangingPunct="0">
              <a:defRPr>
                <a:solidFill>
                  <a:schemeClr val="tx1"/>
                </a:solidFill>
                <a:latin typeface="Arial" charset="0"/>
                <a:ea typeface="宋体" charset="0"/>
              </a:defRPr>
            </a:lvl4pPr>
            <a:lvl5pPr marL="2057400" indent="-228600" eaLnBrk="0" hangingPunct="0">
              <a:defRPr>
                <a:solidFill>
                  <a:schemeClr val="tx1"/>
                </a:solidFill>
                <a:latin typeface="Arial" charset="0"/>
                <a:ea typeface="宋体" charset="0"/>
              </a:defRPr>
            </a:lvl5pPr>
            <a:lvl6pPr marL="2514600" indent="-228600" eaLnBrk="0" fontAlgn="base" hangingPunct="0">
              <a:spcBef>
                <a:spcPct val="0"/>
              </a:spcBef>
              <a:spcAft>
                <a:spcPct val="0"/>
              </a:spcAft>
              <a:defRPr>
                <a:solidFill>
                  <a:schemeClr val="tx1"/>
                </a:solidFill>
                <a:latin typeface="Arial" charset="0"/>
                <a:ea typeface="宋体" charset="0"/>
              </a:defRPr>
            </a:lvl6pPr>
            <a:lvl7pPr marL="2971800" indent="-228600" eaLnBrk="0" fontAlgn="base" hangingPunct="0">
              <a:spcBef>
                <a:spcPct val="0"/>
              </a:spcBef>
              <a:spcAft>
                <a:spcPct val="0"/>
              </a:spcAft>
              <a:defRPr>
                <a:solidFill>
                  <a:schemeClr val="tx1"/>
                </a:solidFill>
                <a:latin typeface="Arial" charset="0"/>
                <a:ea typeface="宋体" charset="0"/>
              </a:defRPr>
            </a:lvl7pPr>
            <a:lvl8pPr marL="3429000" indent="-228600" eaLnBrk="0" fontAlgn="base" hangingPunct="0">
              <a:spcBef>
                <a:spcPct val="0"/>
              </a:spcBef>
              <a:spcAft>
                <a:spcPct val="0"/>
              </a:spcAft>
              <a:defRPr>
                <a:solidFill>
                  <a:schemeClr val="tx1"/>
                </a:solidFill>
                <a:latin typeface="Arial" charset="0"/>
                <a:ea typeface="宋体" charset="0"/>
              </a:defRPr>
            </a:lvl8pPr>
            <a:lvl9pPr marL="3886200" indent="-228600" eaLnBrk="0" fontAlgn="base" hangingPunct="0">
              <a:spcBef>
                <a:spcPct val="0"/>
              </a:spcBef>
              <a:spcAft>
                <a:spcPct val="0"/>
              </a:spcAft>
              <a:defRPr>
                <a:solidFill>
                  <a:schemeClr val="tx1"/>
                </a:solidFill>
                <a:latin typeface="Arial" charset="0"/>
                <a:ea typeface="宋体" charset="0"/>
              </a:defRPr>
            </a:lvl9pPr>
          </a:lstStyle>
          <a:p>
            <a:pPr eaLnBrk="1" hangingPunct="1"/>
            <a:r>
              <a:rPr lang="en-US" altLang="zh-CN">
                <a:latin typeface="Times New Roman" charset="0"/>
                <a:cs typeface="Times New Roman" charset="0"/>
              </a:rPr>
              <a:t>IV</a:t>
            </a:r>
            <a:endParaRPr lang="en-CA">
              <a:latin typeface="Times New Roman" charset="0"/>
              <a:cs typeface="Times New Roman" charset="0"/>
            </a:endParaRPr>
          </a:p>
        </p:txBody>
      </p:sp>
      <p:sp>
        <p:nvSpPr>
          <p:cNvPr id="34825" name="Text Box 2169"/>
          <p:cNvSpPr txBox="1">
            <a:spLocks noChangeArrowheads="1"/>
          </p:cNvSpPr>
          <p:nvPr/>
        </p:nvSpPr>
        <p:spPr bwMode="auto">
          <a:xfrm>
            <a:off x="6955308" y="2306112"/>
            <a:ext cx="608550" cy="3143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charset="0"/>
                <a:ea typeface="宋体" charset="0"/>
              </a:defRPr>
            </a:lvl1pPr>
            <a:lvl2pPr marL="742950" indent="-285750" eaLnBrk="0" hangingPunct="0">
              <a:defRPr>
                <a:solidFill>
                  <a:schemeClr val="tx1"/>
                </a:solidFill>
                <a:latin typeface="Arial" charset="0"/>
                <a:ea typeface="宋体" charset="0"/>
              </a:defRPr>
            </a:lvl2pPr>
            <a:lvl3pPr marL="1143000" indent="-228600" eaLnBrk="0" hangingPunct="0">
              <a:defRPr>
                <a:solidFill>
                  <a:schemeClr val="tx1"/>
                </a:solidFill>
                <a:latin typeface="Arial" charset="0"/>
                <a:ea typeface="宋体" charset="0"/>
              </a:defRPr>
            </a:lvl3pPr>
            <a:lvl4pPr marL="1600200" indent="-228600" eaLnBrk="0" hangingPunct="0">
              <a:defRPr>
                <a:solidFill>
                  <a:schemeClr val="tx1"/>
                </a:solidFill>
                <a:latin typeface="Arial" charset="0"/>
                <a:ea typeface="宋体" charset="0"/>
              </a:defRPr>
            </a:lvl4pPr>
            <a:lvl5pPr marL="2057400" indent="-228600" eaLnBrk="0" hangingPunct="0">
              <a:defRPr>
                <a:solidFill>
                  <a:schemeClr val="tx1"/>
                </a:solidFill>
                <a:latin typeface="Arial" charset="0"/>
                <a:ea typeface="宋体" charset="0"/>
              </a:defRPr>
            </a:lvl5pPr>
            <a:lvl6pPr marL="2514600" indent="-228600" eaLnBrk="0" fontAlgn="base" hangingPunct="0">
              <a:spcBef>
                <a:spcPct val="0"/>
              </a:spcBef>
              <a:spcAft>
                <a:spcPct val="0"/>
              </a:spcAft>
              <a:defRPr>
                <a:solidFill>
                  <a:schemeClr val="tx1"/>
                </a:solidFill>
                <a:latin typeface="Arial" charset="0"/>
                <a:ea typeface="宋体" charset="0"/>
              </a:defRPr>
            </a:lvl6pPr>
            <a:lvl7pPr marL="2971800" indent="-228600" eaLnBrk="0" fontAlgn="base" hangingPunct="0">
              <a:spcBef>
                <a:spcPct val="0"/>
              </a:spcBef>
              <a:spcAft>
                <a:spcPct val="0"/>
              </a:spcAft>
              <a:defRPr>
                <a:solidFill>
                  <a:schemeClr val="tx1"/>
                </a:solidFill>
                <a:latin typeface="Arial" charset="0"/>
                <a:ea typeface="宋体" charset="0"/>
              </a:defRPr>
            </a:lvl7pPr>
            <a:lvl8pPr marL="3429000" indent="-228600" eaLnBrk="0" fontAlgn="base" hangingPunct="0">
              <a:spcBef>
                <a:spcPct val="0"/>
              </a:spcBef>
              <a:spcAft>
                <a:spcPct val="0"/>
              </a:spcAft>
              <a:defRPr>
                <a:solidFill>
                  <a:schemeClr val="tx1"/>
                </a:solidFill>
                <a:latin typeface="Arial" charset="0"/>
                <a:ea typeface="宋体" charset="0"/>
              </a:defRPr>
            </a:lvl8pPr>
            <a:lvl9pPr marL="3886200" indent="-228600" eaLnBrk="0" fontAlgn="base" hangingPunct="0">
              <a:spcBef>
                <a:spcPct val="0"/>
              </a:spcBef>
              <a:spcAft>
                <a:spcPct val="0"/>
              </a:spcAft>
              <a:defRPr>
                <a:solidFill>
                  <a:schemeClr val="tx1"/>
                </a:solidFill>
                <a:latin typeface="Arial" charset="0"/>
                <a:ea typeface="宋体" charset="0"/>
              </a:defRPr>
            </a:lvl9pPr>
          </a:lstStyle>
          <a:p>
            <a:pPr eaLnBrk="1" hangingPunct="1"/>
            <a:r>
              <a:rPr lang="en-US" altLang="zh-CN">
                <a:latin typeface="Times New Roman" charset="0"/>
                <a:cs typeface="Times New Roman" charset="0"/>
              </a:rPr>
              <a:t>III</a:t>
            </a:r>
            <a:endParaRPr lang="en-CA">
              <a:latin typeface="Times New Roman" charset="0"/>
              <a:cs typeface="Times New Roman" charset="0"/>
            </a:endParaRPr>
          </a:p>
        </p:txBody>
      </p:sp>
      <p:sp>
        <p:nvSpPr>
          <p:cNvPr id="34826" name="Text Box 2170"/>
          <p:cNvSpPr txBox="1">
            <a:spLocks noChangeArrowheads="1"/>
          </p:cNvSpPr>
          <p:nvPr/>
        </p:nvSpPr>
        <p:spPr bwMode="auto">
          <a:xfrm>
            <a:off x="7343047" y="4791883"/>
            <a:ext cx="497616" cy="45458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charset="0"/>
                <a:ea typeface="宋体" charset="0"/>
              </a:defRPr>
            </a:lvl1pPr>
            <a:lvl2pPr marL="742950" indent="-285750" eaLnBrk="0" hangingPunct="0">
              <a:defRPr>
                <a:solidFill>
                  <a:schemeClr val="tx1"/>
                </a:solidFill>
                <a:latin typeface="Arial" charset="0"/>
                <a:ea typeface="宋体" charset="0"/>
              </a:defRPr>
            </a:lvl2pPr>
            <a:lvl3pPr marL="1143000" indent="-228600" eaLnBrk="0" hangingPunct="0">
              <a:defRPr>
                <a:solidFill>
                  <a:schemeClr val="tx1"/>
                </a:solidFill>
                <a:latin typeface="Arial" charset="0"/>
                <a:ea typeface="宋体" charset="0"/>
              </a:defRPr>
            </a:lvl3pPr>
            <a:lvl4pPr marL="1600200" indent="-228600" eaLnBrk="0" hangingPunct="0">
              <a:defRPr>
                <a:solidFill>
                  <a:schemeClr val="tx1"/>
                </a:solidFill>
                <a:latin typeface="Arial" charset="0"/>
                <a:ea typeface="宋体" charset="0"/>
              </a:defRPr>
            </a:lvl4pPr>
            <a:lvl5pPr marL="2057400" indent="-228600" eaLnBrk="0" hangingPunct="0">
              <a:defRPr>
                <a:solidFill>
                  <a:schemeClr val="tx1"/>
                </a:solidFill>
                <a:latin typeface="Arial" charset="0"/>
                <a:ea typeface="宋体" charset="0"/>
              </a:defRPr>
            </a:lvl5pPr>
            <a:lvl6pPr marL="2514600" indent="-228600" eaLnBrk="0" fontAlgn="base" hangingPunct="0">
              <a:spcBef>
                <a:spcPct val="0"/>
              </a:spcBef>
              <a:spcAft>
                <a:spcPct val="0"/>
              </a:spcAft>
              <a:defRPr>
                <a:solidFill>
                  <a:schemeClr val="tx1"/>
                </a:solidFill>
                <a:latin typeface="Arial" charset="0"/>
                <a:ea typeface="宋体" charset="0"/>
              </a:defRPr>
            </a:lvl6pPr>
            <a:lvl7pPr marL="2971800" indent="-228600" eaLnBrk="0" fontAlgn="base" hangingPunct="0">
              <a:spcBef>
                <a:spcPct val="0"/>
              </a:spcBef>
              <a:spcAft>
                <a:spcPct val="0"/>
              </a:spcAft>
              <a:defRPr>
                <a:solidFill>
                  <a:schemeClr val="tx1"/>
                </a:solidFill>
                <a:latin typeface="Arial" charset="0"/>
                <a:ea typeface="宋体" charset="0"/>
              </a:defRPr>
            </a:lvl7pPr>
            <a:lvl8pPr marL="3429000" indent="-228600" eaLnBrk="0" fontAlgn="base" hangingPunct="0">
              <a:spcBef>
                <a:spcPct val="0"/>
              </a:spcBef>
              <a:spcAft>
                <a:spcPct val="0"/>
              </a:spcAft>
              <a:defRPr>
                <a:solidFill>
                  <a:schemeClr val="tx1"/>
                </a:solidFill>
                <a:latin typeface="Arial" charset="0"/>
                <a:ea typeface="宋体" charset="0"/>
              </a:defRPr>
            </a:lvl8pPr>
            <a:lvl9pPr marL="3886200" indent="-228600" eaLnBrk="0" fontAlgn="base" hangingPunct="0">
              <a:spcBef>
                <a:spcPct val="0"/>
              </a:spcBef>
              <a:spcAft>
                <a:spcPct val="0"/>
              </a:spcAft>
              <a:defRPr>
                <a:solidFill>
                  <a:schemeClr val="tx1"/>
                </a:solidFill>
                <a:latin typeface="Arial" charset="0"/>
                <a:ea typeface="宋体" charset="0"/>
              </a:defRPr>
            </a:lvl9pPr>
          </a:lstStyle>
          <a:p>
            <a:pPr eaLnBrk="1" hangingPunct="1"/>
            <a:r>
              <a:rPr lang="en-US" altLang="zh-CN">
                <a:latin typeface="Times New Roman" charset="0"/>
                <a:cs typeface="Times New Roman" charset="0"/>
              </a:rPr>
              <a:t>I</a:t>
            </a:r>
            <a:endParaRPr lang="en-CA">
              <a:latin typeface="Times New Roman" charset="0"/>
              <a:cs typeface="Times New Roman" charset="0"/>
            </a:endParaRPr>
          </a:p>
        </p:txBody>
      </p:sp>
      <p:sp>
        <p:nvSpPr>
          <p:cNvPr id="34827" name="Text Box 2171"/>
          <p:cNvSpPr txBox="1">
            <a:spLocks noChangeArrowheads="1"/>
          </p:cNvSpPr>
          <p:nvPr/>
        </p:nvSpPr>
        <p:spPr bwMode="auto">
          <a:xfrm>
            <a:off x="7156045" y="4098045"/>
            <a:ext cx="497616" cy="3374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charset="0"/>
                <a:ea typeface="宋体" charset="0"/>
              </a:defRPr>
            </a:lvl1pPr>
            <a:lvl2pPr marL="742950" indent="-285750" eaLnBrk="0" hangingPunct="0">
              <a:defRPr>
                <a:solidFill>
                  <a:schemeClr val="tx1"/>
                </a:solidFill>
                <a:latin typeface="Arial" charset="0"/>
                <a:ea typeface="宋体" charset="0"/>
              </a:defRPr>
            </a:lvl2pPr>
            <a:lvl3pPr marL="1143000" indent="-228600" eaLnBrk="0" hangingPunct="0">
              <a:defRPr>
                <a:solidFill>
                  <a:schemeClr val="tx1"/>
                </a:solidFill>
                <a:latin typeface="Arial" charset="0"/>
                <a:ea typeface="宋体" charset="0"/>
              </a:defRPr>
            </a:lvl3pPr>
            <a:lvl4pPr marL="1600200" indent="-228600" eaLnBrk="0" hangingPunct="0">
              <a:defRPr>
                <a:solidFill>
                  <a:schemeClr val="tx1"/>
                </a:solidFill>
                <a:latin typeface="Arial" charset="0"/>
                <a:ea typeface="宋体" charset="0"/>
              </a:defRPr>
            </a:lvl4pPr>
            <a:lvl5pPr marL="2057400" indent="-228600" eaLnBrk="0" hangingPunct="0">
              <a:defRPr>
                <a:solidFill>
                  <a:schemeClr val="tx1"/>
                </a:solidFill>
                <a:latin typeface="Arial" charset="0"/>
                <a:ea typeface="宋体" charset="0"/>
              </a:defRPr>
            </a:lvl5pPr>
            <a:lvl6pPr marL="2514600" indent="-228600" eaLnBrk="0" fontAlgn="base" hangingPunct="0">
              <a:spcBef>
                <a:spcPct val="0"/>
              </a:spcBef>
              <a:spcAft>
                <a:spcPct val="0"/>
              </a:spcAft>
              <a:defRPr>
                <a:solidFill>
                  <a:schemeClr val="tx1"/>
                </a:solidFill>
                <a:latin typeface="Arial" charset="0"/>
                <a:ea typeface="宋体" charset="0"/>
              </a:defRPr>
            </a:lvl6pPr>
            <a:lvl7pPr marL="2971800" indent="-228600" eaLnBrk="0" fontAlgn="base" hangingPunct="0">
              <a:spcBef>
                <a:spcPct val="0"/>
              </a:spcBef>
              <a:spcAft>
                <a:spcPct val="0"/>
              </a:spcAft>
              <a:defRPr>
                <a:solidFill>
                  <a:schemeClr val="tx1"/>
                </a:solidFill>
                <a:latin typeface="Arial" charset="0"/>
                <a:ea typeface="宋体" charset="0"/>
              </a:defRPr>
            </a:lvl7pPr>
            <a:lvl8pPr marL="3429000" indent="-228600" eaLnBrk="0" fontAlgn="base" hangingPunct="0">
              <a:spcBef>
                <a:spcPct val="0"/>
              </a:spcBef>
              <a:spcAft>
                <a:spcPct val="0"/>
              </a:spcAft>
              <a:defRPr>
                <a:solidFill>
                  <a:schemeClr val="tx1"/>
                </a:solidFill>
                <a:latin typeface="Arial" charset="0"/>
                <a:ea typeface="宋体" charset="0"/>
              </a:defRPr>
            </a:lvl8pPr>
            <a:lvl9pPr marL="3886200" indent="-228600" eaLnBrk="0" fontAlgn="base" hangingPunct="0">
              <a:spcBef>
                <a:spcPct val="0"/>
              </a:spcBef>
              <a:spcAft>
                <a:spcPct val="0"/>
              </a:spcAft>
              <a:defRPr>
                <a:solidFill>
                  <a:schemeClr val="tx1"/>
                </a:solidFill>
                <a:latin typeface="Arial" charset="0"/>
                <a:ea typeface="宋体" charset="0"/>
              </a:defRPr>
            </a:lvl9pPr>
          </a:lstStyle>
          <a:p>
            <a:pPr eaLnBrk="1" hangingPunct="1"/>
            <a:r>
              <a:rPr lang="en-US" altLang="zh-CN">
                <a:latin typeface="Times New Roman" charset="0"/>
                <a:cs typeface="Times New Roman" charset="0"/>
              </a:rPr>
              <a:t>II</a:t>
            </a:r>
            <a:endParaRPr lang="en-CA">
              <a:latin typeface="Times New Roman" charset="0"/>
              <a:cs typeface="Times New Roman" charset="0"/>
            </a:endParaRPr>
          </a:p>
        </p:txBody>
      </p:sp>
      <p:sp>
        <p:nvSpPr>
          <p:cNvPr id="34828" name="Text Box 2172"/>
          <p:cNvSpPr txBox="1">
            <a:spLocks noChangeArrowheads="1"/>
          </p:cNvSpPr>
          <p:nvPr/>
        </p:nvSpPr>
        <p:spPr bwMode="auto">
          <a:xfrm>
            <a:off x="7314521" y="5246466"/>
            <a:ext cx="497616" cy="3143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charset="0"/>
                <a:ea typeface="宋体" charset="0"/>
              </a:defRPr>
            </a:lvl1pPr>
            <a:lvl2pPr marL="742950" indent="-285750" eaLnBrk="0" hangingPunct="0">
              <a:defRPr>
                <a:solidFill>
                  <a:schemeClr val="tx1"/>
                </a:solidFill>
                <a:latin typeface="Arial" charset="0"/>
                <a:ea typeface="宋体" charset="0"/>
              </a:defRPr>
            </a:lvl2pPr>
            <a:lvl3pPr marL="1143000" indent="-228600" eaLnBrk="0" hangingPunct="0">
              <a:defRPr>
                <a:solidFill>
                  <a:schemeClr val="tx1"/>
                </a:solidFill>
                <a:latin typeface="Arial" charset="0"/>
                <a:ea typeface="宋体" charset="0"/>
              </a:defRPr>
            </a:lvl3pPr>
            <a:lvl4pPr marL="1600200" indent="-228600" eaLnBrk="0" hangingPunct="0">
              <a:defRPr>
                <a:solidFill>
                  <a:schemeClr val="tx1"/>
                </a:solidFill>
                <a:latin typeface="Arial" charset="0"/>
                <a:ea typeface="宋体" charset="0"/>
              </a:defRPr>
            </a:lvl4pPr>
            <a:lvl5pPr marL="2057400" indent="-228600" eaLnBrk="0" hangingPunct="0">
              <a:defRPr>
                <a:solidFill>
                  <a:schemeClr val="tx1"/>
                </a:solidFill>
                <a:latin typeface="Arial" charset="0"/>
                <a:ea typeface="宋体" charset="0"/>
              </a:defRPr>
            </a:lvl5pPr>
            <a:lvl6pPr marL="2514600" indent="-228600" eaLnBrk="0" fontAlgn="base" hangingPunct="0">
              <a:spcBef>
                <a:spcPct val="0"/>
              </a:spcBef>
              <a:spcAft>
                <a:spcPct val="0"/>
              </a:spcAft>
              <a:defRPr>
                <a:solidFill>
                  <a:schemeClr val="tx1"/>
                </a:solidFill>
                <a:latin typeface="Arial" charset="0"/>
                <a:ea typeface="宋体" charset="0"/>
              </a:defRPr>
            </a:lvl6pPr>
            <a:lvl7pPr marL="2971800" indent="-228600" eaLnBrk="0" fontAlgn="base" hangingPunct="0">
              <a:spcBef>
                <a:spcPct val="0"/>
              </a:spcBef>
              <a:spcAft>
                <a:spcPct val="0"/>
              </a:spcAft>
              <a:defRPr>
                <a:solidFill>
                  <a:schemeClr val="tx1"/>
                </a:solidFill>
                <a:latin typeface="Arial" charset="0"/>
                <a:ea typeface="宋体" charset="0"/>
              </a:defRPr>
            </a:lvl7pPr>
            <a:lvl8pPr marL="3429000" indent="-228600" eaLnBrk="0" fontAlgn="base" hangingPunct="0">
              <a:spcBef>
                <a:spcPct val="0"/>
              </a:spcBef>
              <a:spcAft>
                <a:spcPct val="0"/>
              </a:spcAft>
              <a:defRPr>
                <a:solidFill>
                  <a:schemeClr val="tx1"/>
                </a:solidFill>
                <a:latin typeface="Arial" charset="0"/>
                <a:ea typeface="宋体" charset="0"/>
              </a:defRPr>
            </a:lvl8pPr>
            <a:lvl9pPr marL="3886200" indent="-228600" eaLnBrk="0" fontAlgn="base" hangingPunct="0">
              <a:spcBef>
                <a:spcPct val="0"/>
              </a:spcBef>
              <a:spcAft>
                <a:spcPct val="0"/>
              </a:spcAft>
              <a:defRPr>
                <a:solidFill>
                  <a:schemeClr val="tx1"/>
                </a:solidFill>
                <a:latin typeface="Arial" charset="0"/>
                <a:ea typeface="宋体" charset="0"/>
              </a:defRPr>
            </a:lvl9pPr>
          </a:lstStyle>
          <a:p>
            <a:pPr eaLnBrk="1" hangingPunct="1"/>
            <a:r>
              <a:rPr lang="en-US" altLang="zh-CN" i="1">
                <a:latin typeface="Times New Roman" charset="0"/>
                <a:cs typeface="Times New Roman" charset="0"/>
              </a:rPr>
              <a:t>t</a:t>
            </a:r>
            <a:endParaRPr lang="en-CA">
              <a:latin typeface="Times New Roman" charset="0"/>
              <a:cs typeface="Times New Roman" charset="0"/>
            </a:endParaRPr>
          </a:p>
        </p:txBody>
      </p:sp>
      <p:cxnSp>
        <p:nvCxnSpPr>
          <p:cNvPr id="34830" name="AutoShape 2174"/>
          <p:cNvCxnSpPr>
            <a:cxnSpLocks noChangeShapeType="1"/>
          </p:cNvCxnSpPr>
          <p:nvPr/>
        </p:nvCxnSpPr>
        <p:spPr bwMode="auto">
          <a:xfrm>
            <a:off x="1959074" y="5246466"/>
            <a:ext cx="5577314" cy="825"/>
          </a:xfrm>
          <a:prstGeom prst="straightConnector1">
            <a:avLst/>
          </a:prstGeom>
          <a:noFill/>
          <a:ln w="12700">
            <a:solidFill>
              <a:srgbClr val="000000"/>
            </a:solidFill>
            <a:round/>
            <a:headEnd/>
            <a:tailEnd/>
          </a:ln>
          <a:extLst>
            <a:ext uri="{909E8E84-426E-40dd-AFC4-6F175D3DCCD1}">
              <a14:hiddenFill xmlns:a14="http://schemas.microsoft.com/office/drawing/2010/main" xmlns="">
                <a:noFill/>
              </a14:hiddenFill>
            </a:ext>
          </a:extLst>
        </p:spPr>
      </p:cxnSp>
      <p:sp>
        <p:nvSpPr>
          <p:cNvPr id="34831" name="Text Box 2175"/>
          <p:cNvSpPr txBox="1">
            <a:spLocks noChangeArrowheads="1"/>
          </p:cNvSpPr>
          <p:nvPr/>
        </p:nvSpPr>
        <p:spPr bwMode="auto">
          <a:xfrm>
            <a:off x="4049907" y="5403219"/>
            <a:ext cx="1214986" cy="3308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b"/>
          <a:lstStyle>
            <a:lvl1pPr eaLnBrk="0" hangingPunct="0">
              <a:defRPr>
                <a:solidFill>
                  <a:schemeClr val="tx1"/>
                </a:solidFill>
                <a:latin typeface="Arial" charset="0"/>
                <a:ea typeface="宋体" charset="0"/>
              </a:defRPr>
            </a:lvl1pPr>
            <a:lvl2pPr marL="742950" indent="-285750" eaLnBrk="0" hangingPunct="0">
              <a:defRPr>
                <a:solidFill>
                  <a:schemeClr val="tx1"/>
                </a:solidFill>
                <a:latin typeface="Arial" charset="0"/>
                <a:ea typeface="宋体" charset="0"/>
              </a:defRPr>
            </a:lvl2pPr>
            <a:lvl3pPr marL="1143000" indent="-228600" eaLnBrk="0" hangingPunct="0">
              <a:defRPr>
                <a:solidFill>
                  <a:schemeClr val="tx1"/>
                </a:solidFill>
                <a:latin typeface="Arial" charset="0"/>
                <a:ea typeface="宋体" charset="0"/>
              </a:defRPr>
            </a:lvl3pPr>
            <a:lvl4pPr marL="1600200" indent="-228600" eaLnBrk="0" hangingPunct="0">
              <a:defRPr>
                <a:solidFill>
                  <a:schemeClr val="tx1"/>
                </a:solidFill>
                <a:latin typeface="Arial" charset="0"/>
                <a:ea typeface="宋体" charset="0"/>
              </a:defRPr>
            </a:lvl4pPr>
            <a:lvl5pPr marL="2057400" indent="-228600" eaLnBrk="0" hangingPunct="0">
              <a:defRPr>
                <a:solidFill>
                  <a:schemeClr val="tx1"/>
                </a:solidFill>
                <a:latin typeface="Arial" charset="0"/>
                <a:ea typeface="宋体" charset="0"/>
              </a:defRPr>
            </a:lvl5pPr>
            <a:lvl6pPr marL="2514600" indent="-228600" eaLnBrk="0" fontAlgn="base" hangingPunct="0">
              <a:spcBef>
                <a:spcPct val="0"/>
              </a:spcBef>
              <a:spcAft>
                <a:spcPct val="0"/>
              </a:spcAft>
              <a:defRPr>
                <a:solidFill>
                  <a:schemeClr val="tx1"/>
                </a:solidFill>
                <a:latin typeface="Arial" charset="0"/>
                <a:ea typeface="宋体" charset="0"/>
              </a:defRPr>
            </a:lvl6pPr>
            <a:lvl7pPr marL="2971800" indent="-228600" eaLnBrk="0" fontAlgn="base" hangingPunct="0">
              <a:spcBef>
                <a:spcPct val="0"/>
              </a:spcBef>
              <a:spcAft>
                <a:spcPct val="0"/>
              </a:spcAft>
              <a:defRPr>
                <a:solidFill>
                  <a:schemeClr val="tx1"/>
                </a:solidFill>
                <a:latin typeface="Arial" charset="0"/>
                <a:ea typeface="宋体" charset="0"/>
              </a:defRPr>
            </a:lvl7pPr>
            <a:lvl8pPr marL="3429000" indent="-228600" eaLnBrk="0" fontAlgn="base" hangingPunct="0">
              <a:spcBef>
                <a:spcPct val="0"/>
              </a:spcBef>
              <a:spcAft>
                <a:spcPct val="0"/>
              </a:spcAft>
              <a:defRPr>
                <a:solidFill>
                  <a:schemeClr val="tx1"/>
                </a:solidFill>
                <a:latin typeface="Arial" charset="0"/>
                <a:ea typeface="宋体" charset="0"/>
              </a:defRPr>
            </a:lvl8pPr>
            <a:lvl9pPr marL="3886200" indent="-228600" eaLnBrk="0" fontAlgn="base" hangingPunct="0">
              <a:spcBef>
                <a:spcPct val="0"/>
              </a:spcBef>
              <a:spcAft>
                <a:spcPct val="0"/>
              </a:spcAft>
              <a:defRPr>
                <a:solidFill>
                  <a:schemeClr val="tx1"/>
                </a:solidFill>
                <a:latin typeface="Arial" charset="0"/>
                <a:ea typeface="宋体" charset="0"/>
              </a:defRPr>
            </a:lvl9pPr>
          </a:lstStyle>
          <a:p>
            <a:pPr algn="ctr" eaLnBrk="1" hangingPunct="1"/>
            <a:r>
              <a:rPr lang="en-US" altLang="zh-CN">
                <a:latin typeface="Times New Roman" charset="0"/>
                <a:cs typeface="Times New Roman" charset="0"/>
              </a:rPr>
              <a:t>Stand age</a:t>
            </a:r>
            <a:endParaRPr lang="en-CA">
              <a:latin typeface="Times New Roman" charset="0"/>
              <a:cs typeface="Times New Roman" charset="0"/>
            </a:endParaRPr>
          </a:p>
        </p:txBody>
      </p:sp>
      <p:cxnSp>
        <p:nvCxnSpPr>
          <p:cNvPr id="34832" name="AutoShape 2176"/>
          <p:cNvCxnSpPr>
            <a:cxnSpLocks noChangeShapeType="1"/>
          </p:cNvCxnSpPr>
          <p:nvPr/>
        </p:nvCxnSpPr>
        <p:spPr bwMode="auto">
          <a:xfrm flipV="1">
            <a:off x="1958018" y="1695601"/>
            <a:ext cx="1057" cy="3550865"/>
          </a:xfrm>
          <a:prstGeom prst="straightConnector1">
            <a:avLst/>
          </a:prstGeom>
          <a:noFill/>
          <a:ln w="9525">
            <a:solidFill>
              <a:srgbClr val="000000"/>
            </a:solidFill>
            <a:round/>
            <a:headEnd/>
            <a:tailEnd/>
          </a:ln>
          <a:extLst>
            <a:ext uri="{909E8E84-426E-40dd-AFC4-6F175D3DCCD1}">
              <a14:hiddenFill xmlns:a14="http://schemas.microsoft.com/office/drawing/2010/main" xmlns="">
                <a:noFill/>
              </a14:hiddenFill>
            </a:ext>
          </a:extLst>
        </p:spPr>
      </p:cxnSp>
      <p:sp>
        <p:nvSpPr>
          <p:cNvPr id="34833" name="Freeform 14"/>
          <p:cNvSpPr>
            <a:spLocks/>
          </p:cNvSpPr>
          <p:nvPr/>
        </p:nvSpPr>
        <p:spPr bwMode="auto">
          <a:xfrm>
            <a:off x="1973865" y="2620443"/>
            <a:ext cx="5340656" cy="2638398"/>
          </a:xfrm>
          <a:custGeom>
            <a:avLst/>
            <a:gdLst>
              <a:gd name="T0" fmla="*/ 0 w 2655"/>
              <a:gd name="T1" fmla="*/ 3198 h 3198"/>
              <a:gd name="T2" fmla="*/ 1359 w 2655"/>
              <a:gd name="T3" fmla="*/ 610 h 3198"/>
              <a:gd name="T4" fmla="*/ 2827 w 2655"/>
              <a:gd name="T5" fmla="*/ 334 h 3198"/>
              <a:gd name="T6" fmla="*/ 5818 w 2655"/>
              <a:gd name="T7" fmla="*/ 2613 h 3198"/>
              <a:gd name="T8" fmla="*/ 9624 w 2655"/>
              <a:gd name="T9" fmla="*/ 3094 h 3198"/>
              <a:gd name="T10" fmla="*/ 0 60000 65536"/>
              <a:gd name="T11" fmla="*/ 0 60000 65536"/>
              <a:gd name="T12" fmla="*/ 0 60000 65536"/>
              <a:gd name="T13" fmla="*/ 0 60000 65536"/>
              <a:gd name="T14" fmla="*/ 0 60000 65536"/>
              <a:gd name="T15" fmla="*/ 0 w 2655"/>
              <a:gd name="T16" fmla="*/ 0 h 3198"/>
              <a:gd name="T17" fmla="*/ 2655 w 2655"/>
              <a:gd name="T18" fmla="*/ 3198 h 3198"/>
            </a:gdLst>
            <a:ahLst/>
            <a:cxnLst>
              <a:cxn ang="T10">
                <a:pos x="T0" y="T1"/>
              </a:cxn>
              <a:cxn ang="T11">
                <a:pos x="T2" y="T3"/>
              </a:cxn>
              <a:cxn ang="T12">
                <a:pos x="T4" y="T5"/>
              </a:cxn>
              <a:cxn ang="T13">
                <a:pos x="T6" y="T7"/>
              </a:cxn>
              <a:cxn ang="T14">
                <a:pos x="T8" y="T9"/>
              </a:cxn>
            </a:cxnLst>
            <a:rect l="T15" t="T16" r="T17" b="T18"/>
            <a:pathLst>
              <a:path w="2655" h="3198">
                <a:moveTo>
                  <a:pt x="0" y="3198"/>
                </a:moveTo>
                <a:cubicBezTo>
                  <a:pt x="122" y="2142"/>
                  <a:pt x="245" y="1087"/>
                  <a:pt x="375" y="610"/>
                </a:cubicBezTo>
                <a:cubicBezTo>
                  <a:pt x="505" y="133"/>
                  <a:pt x="575" y="0"/>
                  <a:pt x="780" y="334"/>
                </a:cubicBezTo>
                <a:cubicBezTo>
                  <a:pt x="985" y="668"/>
                  <a:pt x="1293" y="2153"/>
                  <a:pt x="1605" y="2613"/>
                </a:cubicBezTo>
                <a:cubicBezTo>
                  <a:pt x="1917" y="3073"/>
                  <a:pt x="2286" y="3083"/>
                  <a:pt x="2655" y="3094"/>
                </a:cubicBezTo>
              </a:path>
            </a:pathLst>
          </a:custGeom>
          <a:ln>
            <a:headEnd/>
            <a:tailEnd/>
          </a:ln>
          <a:extLst>
            <a:ext uri="{909E8E84-426E-40dd-AFC4-6F175D3DCCD1}">
              <a14:hiddenFill xmlns:a14="http://schemas.microsoft.com/office/drawing/2010/main" xmlns="">
                <a:solidFill>
                  <a:srgbClr val="FFFFFF"/>
                </a:solidFill>
              </a14:hiddenFill>
            </a:ext>
          </a:extLst>
        </p:spPr>
        <p:style>
          <a:lnRef idx="1">
            <a:schemeClr val="dk1"/>
          </a:lnRef>
          <a:fillRef idx="0">
            <a:schemeClr val="dk1"/>
          </a:fillRef>
          <a:effectRef idx="0">
            <a:schemeClr val="dk1"/>
          </a:effectRef>
          <a:fontRef idx="minor">
            <a:schemeClr val="tx1"/>
          </a:fontRef>
        </p:style>
        <p:txBody>
          <a:bodyPr/>
          <a:lstStyle/>
          <a:p>
            <a:endParaRPr lang="zh-CN" altLang="en-US"/>
          </a:p>
        </p:txBody>
      </p:sp>
      <p:cxnSp>
        <p:nvCxnSpPr>
          <p:cNvPr id="34834" name="AutoShape 2178"/>
          <p:cNvCxnSpPr>
            <a:cxnSpLocks noChangeShapeType="1"/>
          </p:cNvCxnSpPr>
          <p:nvPr/>
        </p:nvCxnSpPr>
        <p:spPr bwMode="auto">
          <a:xfrm>
            <a:off x="1943226" y="4268823"/>
            <a:ext cx="5212818" cy="825"/>
          </a:xfrm>
          <a:prstGeom prst="straightConnector1">
            <a:avLst/>
          </a:prstGeom>
          <a:ln>
            <a:solidFill>
              <a:srgbClr val="C00000"/>
            </a:solidFill>
            <a:headEnd/>
            <a:tailEnd/>
          </a:ln>
          <a:extLst>
            <a:ext uri="{909E8E84-426E-40dd-AFC4-6F175D3DCCD1}">
              <a14:hiddenFill xmlns:a14="http://schemas.microsoft.com/office/drawing/2010/main" xmlns="">
                <a:noFill/>
              </a14:hiddenFill>
            </a:ext>
          </a:extLst>
        </p:spPr>
        <p:style>
          <a:lnRef idx="3">
            <a:schemeClr val="accent2"/>
          </a:lnRef>
          <a:fillRef idx="0">
            <a:schemeClr val="accent2"/>
          </a:fillRef>
          <a:effectRef idx="2">
            <a:schemeClr val="accent2"/>
          </a:effectRef>
          <a:fontRef idx="minor">
            <a:schemeClr val="tx1"/>
          </a:fontRef>
        </p:style>
      </p:cxnSp>
      <p:sp>
        <p:nvSpPr>
          <p:cNvPr id="34835" name="Freeform 16"/>
          <p:cNvSpPr>
            <a:spLocks/>
          </p:cNvSpPr>
          <p:nvPr/>
        </p:nvSpPr>
        <p:spPr bwMode="auto">
          <a:xfrm>
            <a:off x="1943226" y="1819353"/>
            <a:ext cx="5006799" cy="2450295"/>
          </a:xfrm>
          <a:custGeom>
            <a:avLst/>
            <a:gdLst>
              <a:gd name="T0" fmla="*/ 0 w 4110"/>
              <a:gd name="T1" fmla="*/ 2761 h 3195"/>
              <a:gd name="T2" fmla="*/ 477 w 4110"/>
              <a:gd name="T3" fmla="*/ 1128 h 3195"/>
              <a:gd name="T4" fmla="*/ 1115 w 4110"/>
              <a:gd name="T5" fmla="*/ 350 h 3195"/>
              <a:gd name="T6" fmla="*/ 2751 w 4110"/>
              <a:gd name="T7" fmla="*/ 1258 h 3195"/>
              <a:gd name="T8" fmla="*/ 4466 w 4110"/>
              <a:gd name="T9" fmla="*/ 311 h 3195"/>
              <a:gd name="T10" fmla="*/ 5464 w 4110"/>
              <a:gd name="T11" fmla="*/ 0 h 3195"/>
              <a:gd name="T12" fmla="*/ 0 60000 65536"/>
              <a:gd name="T13" fmla="*/ 0 60000 65536"/>
              <a:gd name="T14" fmla="*/ 0 60000 65536"/>
              <a:gd name="T15" fmla="*/ 0 60000 65536"/>
              <a:gd name="T16" fmla="*/ 0 60000 65536"/>
              <a:gd name="T17" fmla="*/ 0 60000 65536"/>
              <a:gd name="T18" fmla="*/ 0 w 4110"/>
              <a:gd name="T19" fmla="*/ 0 h 3195"/>
              <a:gd name="T20" fmla="*/ 4110 w 4110"/>
              <a:gd name="T21" fmla="*/ 3195 h 3195"/>
            </a:gdLst>
            <a:ahLst/>
            <a:cxnLst>
              <a:cxn ang="T12">
                <a:pos x="T0" y="T1"/>
              </a:cxn>
              <a:cxn ang="T13">
                <a:pos x="T2" y="T3"/>
              </a:cxn>
              <a:cxn ang="T14">
                <a:pos x="T4" y="T5"/>
              </a:cxn>
              <a:cxn ang="T15">
                <a:pos x="T6" y="T7"/>
              </a:cxn>
              <a:cxn ang="T16">
                <a:pos x="T8" y="T9"/>
              </a:cxn>
              <a:cxn ang="T17">
                <a:pos x="T10" y="T11"/>
              </a:cxn>
            </a:cxnLst>
            <a:rect l="T18" t="T19" r="T20" b="T21"/>
            <a:pathLst>
              <a:path w="4110" h="3195">
                <a:moveTo>
                  <a:pt x="0" y="3195"/>
                </a:moveTo>
                <a:cubicBezTo>
                  <a:pt x="109" y="2482"/>
                  <a:pt x="219" y="1770"/>
                  <a:pt x="359" y="1305"/>
                </a:cubicBezTo>
                <a:cubicBezTo>
                  <a:pt x="499" y="840"/>
                  <a:pt x="554" y="380"/>
                  <a:pt x="839" y="405"/>
                </a:cubicBezTo>
                <a:cubicBezTo>
                  <a:pt x="1124" y="430"/>
                  <a:pt x="1649" y="1463"/>
                  <a:pt x="2069" y="1455"/>
                </a:cubicBezTo>
                <a:cubicBezTo>
                  <a:pt x="2489" y="1447"/>
                  <a:pt x="3019" y="603"/>
                  <a:pt x="3359" y="360"/>
                </a:cubicBezTo>
                <a:cubicBezTo>
                  <a:pt x="3699" y="117"/>
                  <a:pt x="3904" y="58"/>
                  <a:pt x="4110" y="0"/>
                </a:cubicBezTo>
              </a:path>
            </a:pathLst>
          </a:custGeom>
          <a:noFill/>
          <a:ln w="9525">
            <a:solidFill>
              <a:srgbClr val="000000"/>
            </a:solidFill>
            <a:round/>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a:p>
        </p:txBody>
      </p:sp>
      <p:sp>
        <p:nvSpPr>
          <p:cNvPr id="34820" name="Rectangle 25"/>
          <p:cNvSpPr>
            <a:spLocks noChangeArrowheads="1"/>
          </p:cNvSpPr>
          <p:nvPr/>
        </p:nvSpPr>
        <p:spPr bwMode="auto">
          <a:xfrm>
            <a:off x="0" y="350520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p>
            <a:endParaRPr lang="zh-CN" altLang="en-US"/>
          </a:p>
        </p:txBody>
      </p:sp>
      <p:sp>
        <p:nvSpPr>
          <p:cNvPr id="20" name="Footer Placeholder 1"/>
          <p:cNvSpPr>
            <a:spLocks noGrp="1"/>
          </p:cNvSpPr>
          <p:nvPr>
            <p:ph type="ftr" sz="quarter" idx="4294967295"/>
          </p:nvPr>
        </p:nvSpPr>
        <p:spPr>
          <a:xfrm>
            <a:off x="0" y="6519863"/>
            <a:ext cx="2392363" cy="365125"/>
          </a:xfrm>
        </p:spPr>
        <p:txBody>
          <a:bodyPr/>
          <a:lstStyle/>
          <a:p>
            <a:pPr>
              <a:defRPr/>
            </a:pPr>
            <a:r>
              <a:rPr lang="en-US" dirty="0"/>
              <a:t>Adapted from </a:t>
            </a:r>
            <a:r>
              <a:rPr lang="en-US" i="1" dirty="0"/>
              <a:t>Forest Economics </a:t>
            </a:r>
            <a:r>
              <a:rPr lang="en-US" dirty="0"/>
              <a:t>by </a:t>
            </a:r>
            <a:r>
              <a:rPr lang="en-US" dirty="0" err="1"/>
              <a:t>Daowei</a:t>
            </a:r>
            <a:r>
              <a:rPr lang="en-US" dirty="0"/>
              <a:t> Zhang and Peter H. </a:t>
            </a:r>
            <a:r>
              <a:rPr lang="en-US" dirty="0" err="1"/>
              <a:t>Pearse</a:t>
            </a:r>
            <a:r>
              <a:rPr lang="en-US" dirty="0"/>
              <a:t>, published by UBC Press, 2011. </a:t>
            </a:r>
            <a:endParaRPr lang="en-CA" dirty="0"/>
          </a:p>
        </p:txBody>
      </p:sp>
      <p:sp>
        <p:nvSpPr>
          <p:cNvPr id="34829" name="Freeform 10"/>
          <p:cNvSpPr>
            <a:spLocks/>
          </p:cNvSpPr>
          <p:nvPr/>
        </p:nvSpPr>
        <p:spPr bwMode="auto">
          <a:xfrm>
            <a:off x="2671162" y="2423265"/>
            <a:ext cx="4278864" cy="2861152"/>
          </a:xfrm>
          <a:custGeom>
            <a:avLst/>
            <a:gdLst>
              <a:gd name="T0" fmla="*/ 0 w 3945"/>
              <a:gd name="T1" fmla="*/ 3610 h 3274"/>
              <a:gd name="T2" fmla="*/ 538 w 3945"/>
              <a:gd name="T3" fmla="*/ 3408 h 3274"/>
              <a:gd name="T4" fmla="*/ 1645 w 3945"/>
              <a:gd name="T5" fmla="*/ 2010 h 3274"/>
              <a:gd name="T6" fmla="*/ 2631 w 3945"/>
              <a:gd name="T7" fmla="*/ 704 h 3274"/>
              <a:gd name="T8" fmla="*/ 3098 w 3945"/>
              <a:gd name="T9" fmla="*/ 261 h 3274"/>
              <a:gd name="T10" fmla="*/ 3604 w 3945"/>
              <a:gd name="T11" fmla="*/ 37 h 3274"/>
              <a:gd name="T12" fmla="*/ 4158 w 3945"/>
              <a:gd name="T13" fmla="*/ 37 h 3274"/>
              <a:gd name="T14" fmla="*/ 0 60000 65536"/>
              <a:gd name="T15" fmla="*/ 0 60000 65536"/>
              <a:gd name="T16" fmla="*/ 0 60000 65536"/>
              <a:gd name="T17" fmla="*/ 0 60000 65536"/>
              <a:gd name="T18" fmla="*/ 0 60000 65536"/>
              <a:gd name="T19" fmla="*/ 0 60000 65536"/>
              <a:gd name="T20" fmla="*/ 0 60000 65536"/>
              <a:gd name="T21" fmla="*/ 0 w 3945"/>
              <a:gd name="T22" fmla="*/ 0 h 3274"/>
              <a:gd name="T23" fmla="*/ 3945 w 3945"/>
              <a:gd name="T24" fmla="*/ 3274 h 327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945" h="3274">
                <a:moveTo>
                  <a:pt x="0" y="3217"/>
                </a:moveTo>
                <a:cubicBezTo>
                  <a:pt x="125" y="3245"/>
                  <a:pt x="250" y="3274"/>
                  <a:pt x="510" y="3037"/>
                </a:cubicBezTo>
                <a:cubicBezTo>
                  <a:pt x="770" y="2800"/>
                  <a:pt x="1229" y="2193"/>
                  <a:pt x="1560" y="1792"/>
                </a:cubicBezTo>
                <a:cubicBezTo>
                  <a:pt x="1891" y="1391"/>
                  <a:pt x="2267" y="888"/>
                  <a:pt x="2497" y="628"/>
                </a:cubicBezTo>
                <a:cubicBezTo>
                  <a:pt x="2727" y="368"/>
                  <a:pt x="2786" y="331"/>
                  <a:pt x="2940" y="232"/>
                </a:cubicBezTo>
                <a:cubicBezTo>
                  <a:pt x="3094" y="133"/>
                  <a:pt x="3253" y="66"/>
                  <a:pt x="3420" y="33"/>
                </a:cubicBezTo>
                <a:cubicBezTo>
                  <a:pt x="3587" y="0"/>
                  <a:pt x="3766" y="16"/>
                  <a:pt x="3945" y="33"/>
                </a:cubicBezTo>
              </a:path>
            </a:pathLst>
          </a:custGeom>
          <a:ln>
            <a:headEnd/>
            <a:tailEnd/>
          </a:ln>
          <a:extLst>
            <a:ext uri="{909E8E84-426E-40dd-AFC4-6F175D3DCCD1}">
              <a14:hiddenFill xmlns:a14="http://schemas.microsoft.com/office/drawing/2010/main" xmlns="">
                <a:solidFill>
                  <a:srgbClr val="FFFFFF"/>
                </a:solidFill>
              </a14:hiddenFill>
            </a:ext>
          </a:extLst>
        </p:spPr>
        <p:style>
          <a:lnRef idx="1">
            <a:schemeClr val="dk1"/>
          </a:lnRef>
          <a:fillRef idx="0">
            <a:schemeClr val="dk1"/>
          </a:fillRef>
          <a:effectRef idx="0">
            <a:schemeClr val="dk1"/>
          </a:effectRef>
          <a:fontRef idx="minor">
            <a:schemeClr val="tx1"/>
          </a:fontRef>
        </p:style>
        <p:txBody>
          <a:bodyPr/>
          <a:lstStyle/>
          <a:p>
            <a:endParaRPr lang="zh-CN" altLang="en-US"/>
          </a:p>
        </p:txBody>
      </p:sp>
    </p:spTree>
    <p:extLst>
      <p:ext uri="{BB962C8B-B14F-4D97-AF65-F5344CB8AC3E}">
        <p14:creationId xmlns:p14="http://schemas.microsoft.com/office/powerpoint/2010/main" val="340459546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4834"/>
                                        </p:tgtEl>
                                        <p:attrNameLst>
                                          <p:attrName>style.visibility</p:attrName>
                                        </p:attrNameLst>
                                      </p:cBhvr>
                                      <p:to>
                                        <p:strVal val="visible"/>
                                      </p:to>
                                    </p:set>
                                    <p:animEffect transition="in" filter="wipe(left)">
                                      <p:cBhvr>
                                        <p:cTn id="7" dur="500"/>
                                        <p:tgtEl>
                                          <p:spTgt spid="348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其它考虑</a:t>
            </a:r>
          </a:p>
        </p:txBody>
      </p:sp>
      <p:sp>
        <p:nvSpPr>
          <p:cNvPr id="3" name="内容占位符 2"/>
          <p:cNvSpPr>
            <a:spLocks noGrp="1"/>
          </p:cNvSpPr>
          <p:nvPr>
            <p:ph idx="1"/>
          </p:nvPr>
        </p:nvSpPr>
        <p:spPr/>
        <p:txBody>
          <a:bodyPr/>
          <a:lstStyle/>
          <a:p>
            <a:r>
              <a:rPr lang="zh-CN" altLang="en-US" dirty="0"/>
              <a:t>将不同的非木材价值累加到一起，就产生了随树龄变化而不断波动的非木材价值</a:t>
            </a:r>
          </a:p>
        </p:txBody>
      </p:sp>
    </p:spTree>
    <p:extLst>
      <p:ext uri="{BB962C8B-B14F-4D97-AF65-F5344CB8AC3E}">
        <p14:creationId xmlns:p14="http://schemas.microsoft.com/office/powerpoint/2010/main" val="39262715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16"/>
          <p:cNvSpPr>
            <a:spLocks noChangeArrowheads="1"/>
          </p:cNvSpPr>
          <p:nvPr/>
        </p:nvSpPr>
        <p:spPr bwMode="auto">
          <a:xfrm>
            <a:off x="971550" y="692150"/>
            <a:ext cx="7272338"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spAutoFit/>
          </a:bodyPr>
          <a:lstStyle/>
          <a:p>
            <a:r>
              <a:rPr lang="en-US" altLang="zh-CN" b="1">
                <a:solidFill>
                  <a:srgbClr val="000000"/>
                </a:solidFill>
                <a:latin typeface="Times New Roman" charset="0"/>
                <a:cs typeface="Times New Roman" charset="0"/>
              </a:rPr>
              <a:t>Figure 7.4: Relationship between stand age and various amenity values</a:t>
            </a:r>
            <a:endParaRPr lang="en-CA" b="1">
              <a:latin typeface="Times New Roman" charset="0"/>
              <a:cs typeface="Times New Roman" charset="0"/>
            </a:endParaRPr>
          </a:p>
        </p:txBody>
      </p:sp>
      <p:sp>
        <p:nvSpPr>
          <p:cNvPr id="34822" name="Text Box 2166"/>
          <p:cNvSpPr txBox="1">
            <a:spLocks noChangeArrowheads="1"/>
          </p:cNvSpPr>
          <p:nvPr/>
        </p:nvSpPr>
        <p:spPr bwMode="auto">
          <a:xfrm>
            <a:off x="1555487" y="5130964"/>
            <a:ext cx="497616" cy="3143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charset="0"/>
                <a:ea typeface="宋体" charset="0"/>
              </a:defRPr>
            </a:lvl1pPr>
            <a:lvl2pPr marL="742950" indent="-285750" eaLnBrk="0" hangingPunct="0">
              <a:defRPr>
                <a:solidFill>
                  <a:schemeClr val="tx1"/>
                </a:solidFill>
                <a:latin typeface="Arial" charset="0"/>
                <a:ea typeface="宋体" charset="0"/>
              </a:defRPr>
            </a:lvl2pPr>
            <a:lvl3pPr marL="1143000" indent="-228600" eaLnBrk="0" hangingPunct="0">
              <a:defRPr>
                <a:solidFill>
                  <a:schemeClr val="tx1"/>
                </a:solidFill>
                <a:latin typeface="Arial" charset="0"/>
                <a:ea typeface="宋体" charset="0"/>
              </a:defRPr>
            </a:lvl3pPr>
            <a:lvl4pPr marL="1600200" indent="-228600" eaLnBrk="0" hangingPunct="0">
              <a:defRPr>
                <a:solidFill>
                  <a:schemeClr val="tx1"/>
                </a:solidFill>
                <a:latin typeface="Arial" charset="0"/>
                <a:ea typeface="宋体" charset="0"/>
              </a:defRPr>
            </a:lvl4pPr>
            <a:lvl5pPr marL="2057400" indent="-228600" eaLnBrk="0" hangingPunct="0">
              <a:defRPr>
                <a:solidFill>
                  <a:schemeClr val="tx1"/>
                </a:solidFill>
                <a:latin typeface="Arial" charset="0"/>
                <a:ea typeface="宋体" charset="0"/>
              </a:defRPr>
            </a:lvl5pPr>
            <a:lvl6pPr marL="2514600" indent="-228600" eaLnBrk="0" fontAlgn="base" hangingPunct="0">
              <a:spcBef>
                <a:spcPct val="0"/>
              </a:spcBef>
              <a:spcAft>
                <a:spcPct val="0"/>
              </a:spcAft>
              <a:defRPr>
                <a:solidFill>
                  <a:schemeClr val="tx1"/>
                </a:solidFill>
                <a:latin typeface="Arial" charset="0"/>
                <a:ea typeface="宋体" charset="0"/>
              </a:defRPr>
            </a:lvl6pPr>
            <a:lvl7pPr marL="2971800" indent="-228600" eaLnBrk="0" fontAlgn="base" hangingPunct="0">
              <a:spcBef>
                <a:spcPct val="0"/>
              </a:spcBef>
              <a:spcAft>
                <a:spcPct val="0"/>
              </a:spcAft>
              <a:defRPr>
                <a:solidFill>
                  <a:schemeClr val="tx1"/>
                </a:solidFill>
                <a:latin typeface="Arial" charset="0"/>
                <a:ea typeface="宋体" charset="0"/>
              </a:defRPr>
            </a:lvl7pPr>
            <a:lvl8pPr marL="3429000" indent="-228600" eaLnBrk="0" fontAlgn="base" hangingPunct="0">
              <a:spcBef>
                <a:spcPct val="0"/>
              </a:spcBef>
              <a:spcAft>
                <a:spcPct val="0"/>
              </a:spcAft>
              <a:defRPr>
                <a:solidFill>
                  <a:schemeClr val="tx1"/>
                </a:solidFill>
                <a:latin typeface="Arial" charset="0"/>
                <a:ea typeface="宋体" charset="0"/>
              </a:defRPr>
            </a:lvl8pPr>
            <a:lvl9pPr marL="3886200" indent="-228600" eaLnBrk="0" fontAlgn="base" hangingPunct="0">
              <a:spcBef>
                <a:spcPct val="0"/>
              </a:spcBef>
              <a:spcAft>
                <a:spcPct val="0"/>
              </a:spcAft>
              <a:defRPr>
                <a:solidFill>
                  <a:schemeClr val="tx1"/>
                </a:solidFill>
                <a:latin typeface="Arial" charset="0"/>
                <a:ea typeface="宋体" charset="0"/>
              </a:defRPr>
            </a:lvl9pPr>
          </a:lstStyle>
          <a:p>
            <a:pPr eaLnBrk="1" hangingPunct="1"/>
            <a:r>
              <a:rPr lang="en-US" altLang="zh-CN">
                <a:latin typeface="Times New Roman" charset="0"/>
                <a:cs typeface="Times New Roman" charset="0"/>
              </a:rPr>
              <a:t>0</a:t>
            </a:r>
            <a:endParaRPr lang="en-CA">
              <a:latin typeface="Times New Roman" charset="0"/>
              <a:cs typeface="Times New Roman" charset="0"/>
            </a:endParaRPr>
          </a:p>
        </p:txBody>
      </p:sp>
      <p:sp>
        <p:nvSpPr>
          <p:cNvPr id="34823" name="Text Box 2167"/>
          <p:cNvSpPr txBox="1">
            <a:spLocks noChangeArrowheads="1"/>
          </p:cNvSpPr>
          <p:nvPr/>
        </p:nvSpPr>
        <p:spPr bwMode="auto">
          <a:xfrm>
            <a:off x="1403350" y="1628775"/>
            <a:ext cx="727935" cy="3143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indent="-57150" eaLnBrk="0" hangingPunct="0">
              <a:defRPr>
                <a:solidFill>
                  <a:schemeClr val="tx1"/>
                </a:solidFill>
                <a:latin typeface="Arial" charset="0"/>
                <a:ea typeface="宋体" charset="0"/>
              </a:defRPr>
            </a:lvl1pPr>
            <a:lvl2pPr marL="742950" indent="-285750" eaLnBrk="0" hangingPunct="0">
              <a:defRPr>
                <a:solidFill>
                  <a:schemeClr val="tx1"/>
                </a:solidFill>
                <a:latin typeface="Arial" charset="0"/>
                <a:ea typeface="宋体" charset="0"/>
              </a:defRPr>
            </a:lvl2pPr>
            <a:lvl3pPr marL="1143000" indent="-228600" eaLnBrk="0" hangingPunct="0">
              <a:defRPr>
                <a:solidFill>
                  <a:schemeClr val="tx1"/>
                </a:solidFill>
                <a:latin typeface="Arial" charset="0"/>
                <a:ea typeface="宋体" charset="0"/>
              </a:defRPr>
            </a:lvl3pPr>
            <a:lvl4pPr marL="1600200" indent="-228600" eaLnBrk="0" hangingPunct="0">
              <a:defRPr>
                <a:solidFill>
                  <a:schemeClr val="tx1"/>
                </a:solidFill>
                <a:latin typeface="Arial" charset="0"/>
                <a:ea typeface="宋体" charset="0"/>
              </a:defRPr>
            </a:lvl4pPr>
            <a:lvl5pPr marL="2057400" indent="-228600" eaLnBrk="0" hangingPunct="0">
              <a:defRPr>
                <a:solidFill>
                  <a:schemeClr val="tx1"/>
                </a:solidFill>
                <a:latin typeface="Arial" charset="0"/>
                <a:ea typeface="宋体" charset="0"/>
              </a:defRPr>
            </a:lvl5pPr>
            <a:lvl6pPr marL="2514600" indent="-228600" eaLnBrk="0" fontAlgn="base" hangingPunct="0">
              <a:spcBef>
                <a:spcPct val="0"/>
              </a:spcBef>
              <a:spcAft>
                <a:spcPct val="0"/>
              </a:spcAft>
              <a:defRPr>
                <a:solidFill>
                  <a:schemeClr val="tx1"/>
                </a:solidFill>
                <a:latin typeface="Arial" charset="0"/>
                <a:ea typeface="宋体" charset="0"/>
              </a:defRPr>
            </a:lvl6pPr>
            <a:lvl7pPr marL="2971800" indent="-228600" eaLnBrk="0" fontAlgn="base" hangingPunct="0">
              <a:spcBef>
                <a:spcPct val="0"/>
              </a:spcBef>
              <a:spcAft>
                <a:spcPct val="0"/>
              </a:spcAft>
              <a:defRPr>
                <a:solidFill>
                  <a:schemeClr val="tx1"/>
                </a:solidFill>
                <a:latin typeface="Arial" charset="0"/>
                <a:ea typeface="宋体" charset="0"/>
              </a:defRPr>
            </a:lvl7pPr>
            <a:lvl8pPr marL="3429000" indent="-228600" eaLnBrk="0" fontAlgn="base" hangingPunct="0">
              <a:spcBef>
                <a:spcPct val="0"/>
              </a:spcBef>
              <a:spcAft>
                <a:spcPct val="0"/>
              </a:spcAft>
              <a:defRPr>
                <a:solidFill>
                  <a:schemeClr val="tx1"/>
                </a:solidFill>
                <a:latin typeface="Arial" charset="0"/>
                <a:ea typeface="宋体" charset="0"/>
              </a:defRPr>
            </a:lvl8pPr>
            <a:lvl9pPr marL="3886200" indent="-228600" eaLnBrk="0" fontAlgn="base" hangingPunct="0">
              <a:spcBef>
                <a:spcPct val="0"/>
              </a:spcBef>
              <a:spcAft>
                <a:spcPct val="0"/>
              </a:spcAft>
              <a:defRPr>
                <a:solidFill>
                  <a:schemeClr val="tx1"/>
                </a:solidFill>
                <a:latin typeface="Arial" charset="0"/>
                <a:ea typeface="宋体" charset="0"/>
              </a:defRPr>
            </a:lvl9pPr>
          </a:lstStyle>
          <a:p>
            <a:pPr eaLnBrk="1" hangingPunct="1"/>
            <a:r>
              <a:rPr lang="en-US" altLang="zh-CN" i="1">
                <a:latin typeface="Times New Roman" charset="0"/>
                <a:cs typeface="Times New Roman" charset="0"/>
              </a:rPr>
              <a:t>N</a:t>
            </a:r>
            <a:r>
              <a:rPr lang="en-US" altLang="zh-CN">
                <a:latin typeface="Times New Roman" charset="0"/>
                <a:cs typeface="Times New Roman" charset="0"/>
              </a:rPr>
              <a:t>(</a:t>
            </a:r>
            <a:r>
              <a:rPr lang="en-US" altLang="zh-CN" i="1">
                <a:latin typeface="Times New Roman" charset="0"/>
                <a:cs typeface="Times New Roman" charset="0"/>
              </a:rPr>
              <a:t>t</a:t>
            </a:r>
            <a:r>
              <a:rPr lang="en-US" altLang="zh-CN">
                <a:latin typeface="Times New Roman" charset="0"/>
                <a:cs typeface="Times New Roman" charset="0"/>
              </a:rPr>
              <a:t>)</a:t>
            </a:r>
            <a:endParaRPr lang="en-CA">
              <a:latin typeface="Times New Roman" charset="0"/>
              <a:cs typeface="Times New Roman" charset="0"/>
            </a:endParaRPr>
          </a:p>
        </p:txBody>
      </p:sp>
      <p:sp>
        <p:nvSpPr>
          <p:cNvPr id="34824" name="Text Box 2168"/>
          <p:cNvSpPr txBox="1">
            <a:spLocks noChangeArrowheads="1"/>
          </p:cNvSpPr>
          <p:nvPr/>
        </p:nvSpPr>
        <p:spPr bwMode="auto">
          <a:xfrm>
            <a:off x="6950025" y="1670851"/>
            <a:ext cx="608550" cy="3143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charset="0"/>
                <a:ea typeface="宋体" charset="0"/>
              </a:defRPr>
            </a:lvl1pPr>
            <a:lvl2pPr marL="742950" indent="-285750" eaLnBrk="0" hangingPunct="0">
              <a:defRPr>
                <a:solidFill>
                  <a:schemeClr val="tx1"/>
                </a:solidFill>
                <a:latin typeface="Arial" charset="0"/>
                <a:ea typeface="宋体" charset="0"/>
              </a:defRPr>
            </a:lvl2pPr>
            <a:lvl3pPr marL="1143000" indent="-228600" eaLnBrk="0" hangingPunct="0">
              <a:defRPr>
                <a:solidFill>
                  <a:schemeClr val="tx1"/>
                </a:solidFill>
                <a:latin typeface="Arial" charset="0"/>
                <a:ea typeface="宋体" charset="0"/>
              </a:defRPr>
            </a:lvl3pPr>
            <a:lvl4pPr marL="1600200" indent="-228600" eaLnBrk="0" hangingPunct="0">
              <a:defRPr>
                <a:solidFill>
                  <a:schemeClr val="tx1"/>
                </a:solidFill>
                <a:latin typeface="Arial" charset="0"/>
                <a:ea typeface="宋体" charset="0"/>
              </a:defRPr>
            </a:lvl4pPr>
            <a:lvl5pPr marL="2057400" indent="-228600" eaLnBrk="0" hangingPunct="0">
              <a:defRPr>
                <a:solidFill>
                  <a:schemeClr val="tx1"/>
                </a:solidFill>
                <a:latin typeface="Arial" charset="0"/>
                <a:ea typeface="宋体" charset="0"/>
              </a:defRPr>
            </a:lvl5pPr>
            <a:lvl6pPr marL="2514600" indent="-228600" eaLnBrk="0" fontAlgn="base" hangingPunct="0">
              <a:spcBef>
                <a:spcPct val="0"/>
              </a:spcBef>
              <a:spcAft>
                <a:spcPct val="0"/>
              </a:spcAft>
              <a:defRPr>
                <a:solidFill>
                  <a:schemeClr val="tx1"/>
                </a:solidFill>
                <a:latin typeface="Arial" charset="0"/>
                <a:ea typeface="宋体" charset="0"/>
              </a:defRPr>
            </a:lvl6pPr>
            <a:lvl7pPr marL="2971800" indent="-228600" eaLnBrk="0" fontAlgn="base" hangingPunct="0">
              <a:spcBef>
                <a:spcPct val="0"/>
              </a:spcBef>
              <a:spcAft>
                <a:spcPct val="0"/>
              </a:spcAft>
              <a:defRPr>
                <a:solidFill>
                  <a:schemeClr val="tx1"/>
                </a:solidFill>
                <a:latin typeface="Arial" charset="0"/>
                <a:ea typeface="宋体" charset="0"/>
              </a:defRPr>
            </a:lvl7pPr>
            <a:lvl8pPr marL="3429000" indent="-228600" eaLnBrk="0" fontAlgn="base" hangingPunct="0">
              <a:spcBef>
                <a:spcPct val="0"/>
              </a:spcBef>
              <a:spcAft>
                <a:spcPct val="0"/>
              </a:spcAft>
              <a:defRPr>
                <a:solidFill>
                  <a:schemeClr val="tx1"/>
                </a:solidFill>
                <a:latin typeface="Arial" charset="0"/>
                <a:ea typeface="宋体" charset="0"/>
              </a:defRPr>
            </a:lvl8pPr>
            <a:lvl9pPr marL="3886200" indent="-228600" eaLnBrk="0" fontAlgn="base" hangingPunct="0">
              <a:spcBef>
                <a:spcPct val="0"/>
              </a:spcBef>
              <a:spcAft>
                <a:spcPct val="0"/>
              </a:spcAft>
              <a:defRPr>
                <a:solidFill>
                  <a:schemeClr val="tx1"/>
                </a:solidFill>
                <a:latin typeface="Arial" charset="0"/>
                <a:ea typeface="宋体" charset="0"/>
              </a:defRPr>
            </a:lvl9pPr>
          </a:lstStyle>
          <a:p>
            <a:pPr eaLnBrk="1" hangingPunct="1"/>
            <a:r>
              <a:rPr lang="en-US" altLang="zh-CN">
                <a:latin typeface="Times New Roman" charset="0"/>
                <a:cs typeface="Times New Roman" charset="0"/>
              </a:rPr>
              <a:t>IV</a:t>
            </a:r>
            <a:endParaRPr lang="en-CA">
              <a:latin typeface="Times New Roman" charset="0"/>
              <a:cs typeface="Times New Roman" charset="0"/>
            </a:endParaRPr>
          </a:p>
        </p:txBody>
      </p:sp>
      <p:sp>
        <p:nvSpPr>
          <p:cNvPr id="34825" name="Text Box 2169"/>
          <p:cNvSpPr txBox="1">
            <a:spLocks noChangeArrowheads="1"/>
          </p:cNvSpPr>
          <p:nvPr/>
        </p:nvSpPr>
        <p:spPr bwMode="auto">
          <a:xfrm>
            <a:off x="6955308" y="2306112"/>
            <a:ext cx="608550" cy="3143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charset="0"/>
                <a:ea typeface="宋体" charset="0"/>
              </a:defRPr>
            </a:lvl1pPr>
            <a:lvl2pPr marL="742950" indent="-285750" eaLnBrk="0" hangingPunct="0">
              <a:defRPr>
                <a:solidFill>
                  <a:schemeClr val="tx1"/>
                </a:solidFill>
                <a:latin typeface="Arial" charset="0"/>
                <a:ea typeface="宋体" charset="0"/>
              </a:defRPr>
            </a:lvl2pPr>
            <a:lvl3pPr marL="1143000" indent="-228600" eaLnBrk="0" hangingPunct="0">
              <a:defRPr>
                <a:solidFill>
                  <a:schemeClr val="tx1"/>
                </a:solidFill>
                <a:latin typeface="Arial" charset="0"/>
                <a:ea typeface="宋体" charset="0"/>
              </a:defRPr>
            </a:lvl3pPr>
            <a:lvl4pPr marL="1600200" indent="-228600" eaLnBrk="0" hangingPunct="0">
              <a:defRPr>
                <a:solidFill>
                  <a:schemeClr val="tx1"/>
                </a:solidFill>
                <a:latin typeface="Arial" charset="0"/>
                <a:ea typeface="宋体" charset="0"/>
              </a:defRPr>
            </a:lvl4pPr>
            <a:lvl5pPr marL="2057400" indent="-228600" eaLnBrk="0" hangingPunct="0">
              <a:defRPr>
                <a:solidFill>
                  <a:schemeClr val="tx1"/>
                </a:solidFill>
                <a:latin typeface="Arial" charset="0"/>
                <a:ea typeface="宋体" charset="0"/>
              </a:defRPr>
            </a:lvl5pPr>
            <a:lvl6pPr marL="2514600" indent="-228600" eaLnBrk="0" fontAlgn="base" hangingPunct="0">
              <a:spcBef>
                <a:spcPct val="0"/>
              </a:spcBef>
              <a:spcAft>
                <a:spcPct val="0"/>
              </a:spcAft>
              <a:defRPr>
                <a:solidFill>
                  <a:schemeClr val="tx1"/>
                </a:solidFill>
                <a:latin typeface="Arial" charset="0"/>
                <a:ea typeface="宋体" charset="0"/>
              </a:defRPr>
            </a:lvl6pPr>
            <a:lvl7pPr marL="2971800" indent="-228600" eaLnBrk="0" fontAlgn="base" hangingPunct="0">
              <a:spcBef>
                <a:spcPct val="0"/>
              </a:spcBef>
              <a:spcAft>
                <a:spcPct val="0"/>
              </a:spcAft>
              <a:defRPr>
                <a:solidFill>
                  <a:schemeClr val="tx1"/>
                </a:solidFill>
                <a:latin typeface="Arial" charset="0"/>
                <a:ea typeface="宋体" charset="0"/>
              </a:defRPr>
            </a:lvl7pPr>
            <a:lvl8pPr marL="3429000" indent="-228600" eaLnBrk="0" fontAlgn="base" hangingPunct="0">
              <a:spcBef>
                <a:spcPct val="0"/>
              </a:spcBef>
              <a:spcAft>
                <a:spcPct val="0"/>
              </a:spcAft>
              <a:defRPr>
                <a:solidFill>
                  <a:schemeClr val="tx1"/>
                </a:solidFill>
                <a:latin typeface="Arial" charset="0"/>
                <a:ea typeface="宋体" charset="0"/>
              </a:defRPr>
            </a:lvl8pPr>
            <a:lvl9pPr marL="3886200" indent="-228600" eaLnBrk="0" fontAlgn="base" hangingPunct="0">
              <a:spcBef>
                <a:spcPct val="0"/>
              </a:spcBef>
              <a:spcAft>
                <a:spcPct val="0"/>
              </a:spcAft>
              <a:defRPr>
                <a:solidFill>
                  <a:schemeClr val="tx1"/>
                </a:solidFill>
                <a:latin typeface="Arial" charset="0"/>
                <a:ea typeface="宋体" charset="0"/>
              </a:defRPr>
            </a:lvl9pPr>
          </a:lstStyle>
          <a:p>
            <a:pPr eaLnBrk="1" hangingPunct="1"/>
            <a:r>
              <a:rPr lang="en-US" altLang="zh-CN">
                <a:latin typeface="Times New Roman" charset="0"/>
                <a:cs typeface="Times New Roman" charset="0"/>
              </a:rPr>
              <a:t>III</a:t>
            </a:r>
            <a:endParaRPr lang="en-CA">
              <a:latin typeface="Times New Roman" charset="0"/>
              <a:cs typeface="Times New Roman" charset="0"/>
            </a:endParaRPr>
          </a:p>
        </p:txBody>
      </p:sp>
      <p:sp>
        <p:nvSpPr>
          <p:cNvPr id="34826" name="Text Box 2170"/>
          <p:cNvSpPr txBox="1">
            <a:spLocks noChangeArrowheads="1"/>
          </p:cNvSpPr>
          <p:nvPr/>
        </p:nvSpPr>
        <p:spPr bwMode="auto">
          <a:xfrm>
            <a:off x="7343047" y="4791883"/>
            <a:ext cx="497616" cy="45458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charset="0"/>
                <a:ea typeface="宋体" charset="0"/>
              </a:defRPr>
            </a:lvl1pPr>
            <a:lvl2pPr marL="742950" indent="-285750" eaLnBrk="0" hangingPunct="0">
              <a:defRPr>
                <a:solidFill>
                  <a:schemeClr val="tx1"/>
                </a:solidFill>
                <a:latin typeface="Arial" charset="0"/>
                <a:ea typeface="宋体" charset="0"/>
              </a:defRPr>
            </a:lvl2pPr>
            <a:lvl3pPr marL="1143000" indent="-228600" eaLnBrk="0" hangingPunct="0">
              <a:defRPr>
                <a:solidFill>
                  <a:schemeClr val="tx1"/>
                </a:solidFill>
                <a:latin typeface="Arial" charset="0"/>
                <a:ea typeface="宋体" charset="0"/>
              </a:defRPr>
            </a:lvl3pPr>
            <a:lvl4pPr marL="1600200" indent="-228600" eaLnBrk="0" hangingPunct="0">
              <a:defRPr>
                <a:solidFill>
                  <a:schemeClr val="tx1"/>
                </a:solidFill>
                <a:latin typeface="Arial" charset="0"/>
                <a:ea typeface="宋体" charset="0"/>
              </a:defRPr>
            </a:lvl4pPr>
            <a:lvl5pPr marL="2057400" indent="-228600" eaLnBrk="0" hangingPunct="0">
              <a:defRPr>
                <a:solidFill>
                  <a:schemeClr val="tx1"/>
                </a:solidFill>
                <a:latin typeface="Arial" charset="0"/>
                <a:ea typeface="宋体" charset="0"/>
              </a:defRPr>
            </a:lvl5pPr>
            <a:lvl6pPr marL="2514600" indent="-228600" eaLnBrk="0" fontAlgn="base" hangingPunct="0">
              <a:spcBef>
                <a:spcPct val="0"/>
              </a:spcBef>
              <a:spcAft>
                <a:spcPct val="0"/>
              </a:spcAft>
              <a:defRPr>
                <a:solidFill>
                  <a:schemeClr val="tx1"/>
                </a:solidFill>
                <a:latin typeface="Arial" charset="0"/>
                <a:ea typeface="宋体" charset="0"/>
              </a:defRPr>
            </a:lvl6pPr>
            <a:lvl7pPr marL="2971800" indent="-228600" eaLnBrk="0" fontAlgn="base" hangingPunct="0">
              <a:spcBef>
                <a:spcPct val="0"/>
              </a:spcBef>
              <a:spcAft>
                <a:spcPct val="0"/>
              </a:spcAft>
              <a:defRPr>
                <a:solidFill>
                  <a:schemeClr val="tx1"/>
                </a:solidFill>
                <a:latin typeface="Arial" charset="0"/>
                <a:ea typeface="宋体" charset="0"/>
              </a:defRPr>
            </a:lvl7pPr>
            <a:lvl8pPr marL="3429000" indent="-228600" eaLnBrk="0" fontAlgn="base" hangingPunct="0">
              <a:spcBef>
                <a:spcPct val="0"/>
              </a:spcBef>
              <a:spcAft>
                <a:spcPct val="0"/>
              </a:spcAft>
              <a:defRPr>
                <a:solidFill>
                  <a:schemeClr val="tx1"/>
                </a:solidFill>
                <a:latin typeface="Arial" charset="0"/>
                <a:ea typeface="宋体" charset="0"/>
              </a:defRPr>
            </a:lvl8pPr>
            <a:lvl9pPr marL="3886200" indent="-228600" eaLnBrk="0" fontAlgn="base" hangingPunct="0">
              <a:spcBef>
                <a:spcPct val="0"/>
              </a:spcBef>
              <a:spcAft>
                <a:spcPct val="0"/>
              </a:spcAft>
              <a:defRPr>
                <a:solidFill>
                  <a:schemeClr val="tx1"/>
                </a:solidFill>
                <a:latin typeface="Arial" charset="0"/>
                <a:ea typeface="宋体" charset="0"/>
              </a:defRPr>
            </a:lvl9pPr>
          </a:lstStyle>
          <a:p>
            <a:pPr eaLnBrk="1" hangingPunct="1"/>
            <a:r>
              <a:rPr lang="en-US" altLang="zh-CN">
                <a:latin typeface="Times New Roman" charset="0"/>
                <a:cs typeface="Times New Roman" charset="0"/>
              </a:rPr>
              <a:t>I</a:t>
            </a:r>
            <a:endParaRPr lang="en-CA">
              <a:latin typeface="Times New Roman" charset="0"/>
              <a:cs typeface="Times New Roman" charset="0"/>
            </a:endParaRPr>
          </a:p>
        </p:txBody>
      </p:sp>
      <p:sp>
        <p:nvSpPr>
          <p:cNvPr id="34827" name="Text Box 2171"/>
          <p:cNvSpPr txBox="1">
            <a:spLocks noChangeArrowheads="1"/>
          </p:cNvSpPr>
          <p:nvPr/>
        </p:nvSpPr>
        <p:spPr bwMode="auto">
          <a:xfrm>
            <a:off x="7156045" y="4098045"/>
            <a:ext cx="497616" cy="3374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charset="0"/>
                <a:ea typeface="宋体" charset="0"/>
              </a:defRPr>
            </a:lvl1pPr>
            <a:lvl2pPr marL="742950" indent="-285750" eaLnBrk="0" hangingPunct="0">
              <a:defRPr>
                <a:solidFill>
                  <a:schemeClr val="tx1"/>
                </a:solidFill>
                <a:latin typeface="Arial" charset="0"/>
                <a:ea typeface="宋体" charset="0"/>
              </a:defRPr>
            </a:lvl2pPr>
            <a:lvl3pPr marL="1143000" indent="-228600" eaLnBrk="0" hangingPunct="0">
              <a:defRPr>
                <a:solidFill>
                  <a:schemeClr val="tx1"/>
                </a:solidFill>
                <a:latin typeface="Arial" charset="0"/>
                <a:ea typeface="宋体" charset="0"/>
              </a:defRPr>
            </a:lvl3pPr>
            <a:lvl4pPr marL="1600200" indent="-228600" eaLnBrk="0" hangingPunct="0">
              <a:defRPr>
                <a:solidFill>
                  <a:schemeClr val="tx1"/>
                </a:solidFill>
                <a:latin typeface="Arial" charset="0"/>
                <a:ea typeface="宋体" charset="0"/>
              </a:defRPr>
            </a:lvl4pPr>
            <a:lvl5pPr marL="2057400" indent="-228600" eaLnBrk="0" hangingPunct="0">
              <a:defRPr>
                <a:solidFill>
                  <a:schemeClr val="tx1"/>
                </a:solidFill>
                <a:latin typeface="Arial" charset="0"/>
                <a:ea typeface="宋体" charset="0"/>
              </a:defRPr>
            </a:lvl5pPr>
            <a:lvl6pPr marL="2514600" indent="-228600" eaLnBrk="0" fontAlgn="base" hangingPunct="0">
              <a:spcBef>
                <a:spcPct val="0"/>
              </a:spcBef>
              <a:spcAft>
                <a:spcPct val="0"/>
              </a:spcAft>
              <a:defRPr>
                <a:solidFill>
                  <a:schemeClr val="tx1"/>
                </a:solidFill>
                <a:latin typeface="Arial" charset="0"/>
                <a:ea typeface="宋体" charset="0"/>
              </a:defRPr>
            </a:lvl6pPr>
            <a:lvl7pPr marL="2971800" indent="-228600" eaLnBrk="0" fontAlgn="base" hangingPunct="0">
              <a:spcBef>
                <a:spcPct val="0"/>
              </a:spcBef>
              <a:spcAft>
                <a:spcPct val="0"/>
              </a:spcAft>
              <a:defRPr>
                <a:solidFill>
                  <a:schemeClr val="tx1"/>
                </a:solidFill>
                <a:latin typeface="Arial" charset="0"/>
                <a:ea typeface="宋体" charset="0"/>
              </a:defRPr>
            </a:lvl7pPr>
            <a:lvl8pPr marL="3429000" indent="-228600" eaLnBrk="0" fontAlgn="base" hangingPunct="0">
              <a:spcBef>
                <a:spcPct val="0"/>
              </a:spcBef>
              <a:spcAft>
                <a:spcPct val="0"/>
              </a:spcAft>
              <a:defRPr>
                <a:solidFill>
                  <a:schemeClr val="tx1"/>
                </a:solidFill>
                <a:latin typeface="Arial" charset="0"/>
                <a:ea typeface="宋体" charset="0"/>
              </a:defRPr>
            </a:lvl8pPr>
            <a:lvl9pPr marL="3886200" indent="-228600" eaLnBrk="0" fontAlgn="base" hangingPunct="0">
              <a:spcBef>
                <a:spcPct val="0"/>
              </a:spcBef>
              <a:spcAft>
                <a:spcPct val="0"/>
              </a:spcAft>
              <a:defRPr>
                <a:solidFill>
                  <a:schemeClr val="tx1"/>
                </a:solidFill>
                <a:latin typeface="Arial" charset="0"/>
                <a:ea typeface="宋体" charset="0"/>
              </a:defRPr>
            </a:lvl9pPr>
          </a:lstStyle>
          <a:p>
            <a:pPr eaLnBrk="1" hangingPunct="1"/>
            <a:r>
              <a:rPr lang="en-US" altLang="zh-CN">
                <a:latin typeface="Times New Roman" charset="0"/>
                <a:cs typeface="Times New Roman" charset="0"/>
              </a:rPr>
              <a:t>II</a:t>
            </a:r>
            <a:endParaRPr lang="en-CA">
              <a:latin typeface="Times New Roman" charset="0"/>
              <a:cs typeface="Times New Roman" charset="0"/>
            </a:endParaRPr>
          </a:p>
        </p:txBody>
      </p:sp>
      <p:sp>
        <p:nvSpPr>
          <p:cNvPr id="34828" name="Text Box 2172"/>
          <p:cNvSpPr txBox="1">
            <a:spLocks noChangeArrowheads="1"/>
          </p:cNvSpPr>
          <p:nvPr/>
        </p:nvSpPr>
        <p:spPr bwMode="auto">
          <a:xfrm>
            <a:off x="7314521" y="5246466"/>
            <a:ext cx="497616" cy="3143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charset="0"/>
                <a:ea typeface="宋体" charset="0"/>
              </a:defRPr>
            </a:lvl1pPr>
            <a:lvl2pPr marL="742950" indent="-285750" eaLnBrk="0" hangingPunct="0">
              <a:defRPr>
                <a:solidFill>
                  <a:schemeClr val="tx1"/>
                </a:solidFill>
                <a:latin typeface="Arial" charset="0"/>
                <a:ea typeface="宋体" charset="0"/>
              </a:defRPr>
            </a:lvl2pPr>
            <a:lvl3pPr marL="1143000" indent="-228600" eaLnBrk="0" hangingPunct="0">
              <a:defRPr>
                <a:solidFill>
                  <a:schemeClr val="tx1"/>
                </a:solidFill>
                <a:latin typeface="Arial" charset="0"/>
                <a:ea typeface="宋体" charset="0"/>
              </a:defRPr>
            </a:lvl3pPr>
            <a:lvl4pPr marL="1600200" indent="-228600" eaLnBrk="0" hangingPunct="0">
              <a:defRPr>
                <a:solidFill>
                  <a:schemeClr val="tx1"/>
                </a:solidFill>
                <a:latin typeface="Arial" charset="0"/>
                <a:ea typeface="宋体" charset="0"/>
              </a:defRPr>
            </a:lvl4pPr>
            <a:lvl5pPr marL="2057400" indent="-228600" eaLnBrk="0" hangingPunct="0">
              <a:defRPr>
                <a:solidFill>
                  <a:schemeClr val="tx1"/>
                </a:solidFill>
                <a:latin typeface="Arial" charset="0"/>
                <a:ea typeface="宋体" charset="0"/>
              </a:defRPr>
            </a:lvl5pPr>
            <a:lvl6pPr marL="2514600" indent="-228600" eaLnBrk="0" fontAlgn="base" hangingPunct="0">
              <a:spcBef>
                <a:spcPct val="0"/>
              </a:spcBef>
              <a:spcAft>
                <a:spcPct val="0"/>
              </a:spcAft>
              <a:defRPr>
                <a:solidFill>
                  <a:schemeClr val="tx1"/>
                </a:solidFill>
                <a:latin typeface="Arial" charset="0"/>
                <a:ea typeface="宋体" charset="0"/>
              </a:defRPr>
            </a:lvl6pPr>
            <a:lvl7pPr marL="2971800" indent="-228600" eaLnBrk="0" fontAlgn="base" hangingPunct="0">
              <a:spcBef>
                <a:spcPct val="0"/>
              </a:spcBef>
              <a:spcAft>
                <a:spcPct val="0"/>
              </a:spcAft>
              <a:defRPr>
                <a:solidFill>
                  <a:schemeClr val="tx1"/>
                </a:solidFill>
                <a:latin typeface="Arial" charset="0"/>
                <a:ea typeface="宋体" charset="0"/>
              </a:defRPr>
            </a:lvl7pPr>
            <a:lvl8pPr marL="3429000" indent="-228600" eaLnBrk="0" fontAlgn="base" hangingPunct="0">
              <a:spcBef>
                <a:spcPct val="0"/>
              </a:spcBef>
              <a:spcAft>
                <a:spcPct val="0"/>
              </a:spcAft>
              <a:defRPr>
                <a:solidFill>
                  <a:schemeClr val="tx1"/>
                </a:solidFill>
                <a:latin typeface="Arial" charset="0"/>
                <a:ea typeface="宋体" charset="0"/>
              </a:defRPr>
            </a:lvl8pPr>
            <a:lvl9pPr marL="3886200" indent="-228600" eaLnBrk="0" fontAlgn="base" hangingPunct="0">
              <a:spcBef>
                <a:spcPct val="0"/>
              </a:spcBef>
              <a:spcAft>
                <a:spcPct val="0"/>
              </a:spcAft>
              <a:defRPr>
                <a:solidFill>
                  <a:schemeClr val="tx1"/>
                </a:solidFill>
                <a:latin typeface="Arial" charset="0"/>
                <a:ea typeface="宋体" charset="0"/>
              </a:defRPr>
            </a:lvl9pPr>
          </a:lstStyle>
          <a:p>
            <a:pPr eaLnBrk="1" hangingPunct="1"/>
            <a:r>
              <a:rPr lang="en-US" altLang="zh-CN" i="1">
                <a:latin typeface="Times New Roman" charset="0"/>
                <a:cs typeface="Times New Roman" charset="0"/>
              </a:rPr>
              <a:t>t</a:t>
            </a:r>
            <a:endParaRPr lang="en-CA">
              <a:latin typeface="Times New Roman" charset="0"/>
              <a:cs typeface="Times New Roman" charset="0"/>
            </a:endParaRPr>
          </a:p>
        </p:txBody>
      </p:sp>
      <p:cxnSp>
        <p:nvCxnSpPr>
          <p:cNvPr id="34830" name="AutoShape 2174"/>
          <p:cNvCxnSpPr>
            <a:cxnSpLocks noChangeShapeType="1"/>
          </p:cNvCxnSpPr>
          <p:nvPr/>
        </p:nvCxnSpPr>
        <p:spPr bwMode="auto">
          <a:xfrm>
            <a:off x="1959074" y="5246466"/>
            <a:ext cx="5577314" cy="825"/>
          </a:xfrm>
          <a:prstGeom prst="straightConnector1">
            <a:avLst/>
          </a:prstGeom>
          <a:noFill/>
          <a:ln w="12700">
            <a:solidFill>
              <a:srgbClr val="000000"/>
            </a:solidFill>
            <a:round/>
            <a:headEnd/>
            <a:tailEnd/>
          </a:ln>
          <a:extLst>
            <a:ext uri="{909E8E84-426E-40dd-AFC4-6F175D3DCCD1}">
              <a14:hiddenFill xmlns:a14="http://schemas.microsoft.com/office/drawing/2010/main" xmlns="">
                <a:noFill/>
              </a14:hiddenFill>
            </a:ext>
          </a:extLst>
        </p:spPr>
      </p:cxnSp>
      <p:sp>
        <p:nvSpPr>
          <p:cNvPr id="34831" name="Text Box 2175"/>
          <p:cNvSpPr txBox="1">
            <a:spLocks noChangeArrowheads="1"/>
          </p:cNvSpPr>
          <p:nvPr/>
        </p:nvSpPr>
        <p:spPr bwMode="auto">
          <a:xfrm>
            <a:off x="4049907" y="5403219"/>
            <a:ext cx="1214986" cy="3308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b"/>
          <a:lstStyle>
            <a:lvl1pPr eaLnBrk="0" hangingPunct="0">
              <a:defRPr>
                <a:solidFill>
                  <a:schemeClr val="tx1"/>
                </a:solidFill>
                <a:latin typeface="Arial" charset="0"/>
                <a:ea typeface="宋体" charset="0"/>
              </a:defRPr>
            </a:lvl1pPr>
            <a:lvl2pPr marL="742950" indent="-285750" eaLnBrk="0" hangingPunct="0">
              <a:defRPr>
                <a:solidFill>
                  <a:schemeClr val="tx1"/>
                </a:solidFill>
                <a:latin typeface="Arial" charset="0"/>
                <a:ea typeface="宋体" charset="0"/>
              </a:defRPr>
            </a:lvl2pPr>
            <a:lvl3pPr marL="1143000" indent="-228600" eaLnBrk="0" hangingPunct="0">
              <a:defRPr>
                <a:solidFill>
                  <a:schemeClr val="tx1"/>
                </a:solidFill>
                <a:latin typeface="Arial" charset="0"/>
                <a:ea typeface="宋体" charset="0"/>
              </a:defRPr>
            </a:lvl3pPr>
            <a:lvl4pPr marL="1600200" indent="-228600" eaLnBrk="0" hangingPunct="0">
              <a:defRPr>
                <a:solidFill>
                  <a:schemeClr val="tx1"/>
                </a:solidFill>
                <a:latin typeface="Arial" charset="0"/>
                <a:ea typeface="宋体" charset="0"/>
              </a:defRPr>
            </a:lvl4pPr>
            <a:lvl5pPr marL="2057400" indent="-228600" eaLnBrk="0" hangingPunct="0">
              <a:defRPr>
                <a:solidFill>
                  <a:schemeClr val="tx1"/>
                </a:solidFill>
                <a:latin typeface="Arial" charset="0"/>
                <a:ea typeface="宋体" charset="0"/>
              </a:defRPr>
            </a:lvl5pPr>
            <a:lvl6pPr marL="2514600" indent="-228600" eaLnBrk="0" fontAlgn="base" hangingPunct="0">
              <a:spcBef>
                <a:spcPct val="0"/>
              </a:spcBef>
              <a:spcAft>
                <a:spcPct val="0"/>
              </a:spcAft>
              <a:defRPr>
                <a:solidFill>
                  <a:schemeClr val="tx1"/>
                </a:solidFill>
                <a:latin typeface="Arial" charset="0"/>
                <a:ea typeface="宋体" charset="0"/>
              </a:defRPr>
            </a:lvl6pPr>
            <a:lvl7pPr marL="2971800" indent="-228600" eaLnBrk="0" fontAlgn="base" hangingPunct="0">
              <a:spcBef>
                <a:spcPct val="0"/>
              </a:spcBef>
              <a:spcAft>
                <a:spcPct val="0"/>
              </a:spcAft>
              <a:defRPr>
                <a:solidFill>
                  <a:schemeClr val="tx1"/>
                </a:solidFill>
                <a:latin typeface="Arial" charset="0"/>
                <a:ea typeface="宋体" charset="0"/>
              </a:defRPr>
            </a:lvl7pPr>
            <a:lvl8pPr marL="3429000" indent="-228600" eaLnBrk="0" fontAlgn="base" hangingPunct="0">
              <a:spcBef>
                <a:spcPct val="0"/>
              </a:spcBef>
              <a:spcAft>
                <a:spcPct val="0"/>
              </a:spcAft>
              <a:defRPr>
                <a:solidFill>
                  <a:schemeClr val="tx1"/>
                </a:solidFill>
                <a:latin typeface="Arial" charset="0"/>
                <a:ea typeface="宋体" charset="0"/>
              </a:defRPr>
            </a:lvl8pPr>
            <a:lvl9pPr marL="3886200" indent="-228600" eaLnBrk="0" fontAlgn="base" hangingPunct="0">
              <a:spcBef>
                <a:spcPct val="0"/>
              </a:spcBef>
              <a:spcAft>
                <a:spcPct val="0"/>
              </a:spcAft>
              <a:defRPr>
                <a:solidFill>
                  <a:schemeClr val="tx1"/>
                </a:solidFill>
                <a:latin typeface="Arial" charset="0"/>
                <a:ea typeface="宋体" charset="0"/>
              </a:defRPr>
            </a:lvl9pPr>
          </a:lstStyle>
          <a:p>
            <a:pPr algn="ctr" eaLnBrk="1" hangingPunct="1"/>
            <a:r>
              <a:rPr lang="en-US" altLang="zh-CN">
                <a:latin typeface="Times New Roman" charset="0"/>
                <a:cs typeface="Times New Roman" charset="0"/>
              </a:rPr>
              <a:t>Stand age</a:t>
            </a:r>
            <a:endParaRPr lang="en-CA">
              <a:latin typeface="Times New Roman" charset="0"/>
              <a:cs typeface="Times New Roman" charset="0"/>
            </a:endParaRPr>
          </a:p>
        </p:txBody>
      </p:sp>
      <p:cxnSp>
        <p:nvCxnSpPr>
          <p:cNvPr id="34832" name="AutoShape 2176"/>
          <p:cNvCxnSpPr>
            <a:cxnSpLocks noChangeShapeType="1"/>
          </p:cNvCxnSpPr>
          <p:nvPr/>
        </p:nvCxnSpPr>
        <p:spPr bwMode="auto">
          <a:xfrm flipV="1">
            <a:off x="1958018" y="1695601"/>
            <a:ext cx="1057" cy="3550865"/>
          </a:xfrm>
          <a:prstGeom prst="straightConnector1">
            <a:avLst/>
          </a:prstGeom>
          <a:noFill/>
          <a:ln w="9525">
            <a:solidFill>
              <a:srgbClr val="000000"/>
            </a:solidFill>
            <a:round/>
            <a:headEnd/>
            <a:tailEnd/>
          </a:ln>
          <a:extLst>
            <a:ext uri="{909E8E84-426E-40dd-AFC4-6F175D3DCCD1}">
              <a14:hiddenFill xmlns:a14="http://schemas.microsoft.com/office/drawing/2010/main" xmlns="">
                <a:noFill/>
              </a14:hiddenFill>
            </a:ext>
          </a:extLst>
        </p:spPr>
      </p:cxnSp>
      <p:sp>
        <p:nvSpPr>
          <p:cNvPr id="34833" name="Freeform 14"/>
          <p:cNvSpPr>
            <a:spLocks/>
          </p:cNvSpPr>
          <p:nvPr/>
        </p:nvSpPr>
        <p:spPr bwMode="auto">
          <a:xfrm>
            <a:off x="1973865" y="2620443"/>
            <a:ext cx="5340656" cy="2638398"/>
          </a:xfrm>
          <a:custGeom>
            <a:avLst/>
            <a:gdLst>
              <a:gd name="T0" fmla="*/ 0 w 2655"/>
              <a:gd name="T1" fmla="*/ 3198 h 3198"/>
              <a:gd name="T2" fmla="*/ 1359 w 2655"/>
              <a:gd name="T3" fmla="*/ 610 h 3198"/>
              <a:gd name="T4" fmla="*/ 2827 w 2655"/>
              <a:gd name="T5" fmla="*/ 334 h 3198"/>
              <a:gd name="T6" fmla="*/ 5818 w 2655"/>
              <a:gd name="T7" fmla="*/ 2613 h 3198"/>
              <a:gd name="T8" fmla="*/ 9624 w 2655"/>
              <a:gd name="T9" fmla="*/ 3094 h 3198"/>
              <a:gd name="T10" fmla="*/ 0 60000 65536"/>
              <a:gd name="T11" fmla="*/ 0 60000 65536"/>
              <a:gd name="T12" fmla="*/ 0 60000 65536"/>
              <a:gd name="T13" fmla="*/ 0 60000 65536"/>
              <a:gd name="T14" fmla="*/ 0 60000 65536"/>
              <a:gd name="T15" fmla="*/ 0 w 2655"/>
              <a:gd name="T16" fmla="*/ 0 h 3198"/>
              <a:gd name="T17" fmla="*/ 2655 w 2655"/>
              <a:gd name="T18" fmla="*/ 3198 h 3198"/>
            </a:gdLst>
            <a:ahLst/>
            <a:cxnLst>
              <a:cxn ang="T10">
                <a:pos x="T0" y="T1"/>
              </a:cxn>
              <a:cxn ang="T11">
                <a:pos x="T2" y="T3"/>
              </a:cxn>
              <a:cxn ang="T12">
                <a:pos x="T4" y="T5"/>
              </a:cxn>
              <a:cxn ang="T13">
                <a:pos x="T6" y="T7"/>
              </a:cxn>
              <a:cxn ang="T14">
                <a:pos x="T8" y="T9"/>
              </a:cxn>
            </a:cxnLst>
            <a:rect l="T15" t="T16" r="T17" b="T18"/>
            <a:pathLst>
              <a:path w="2655" h="3198">
                <a:moveTo>
                  <a:pt x="0" y="3198"/>
                </a:moveTo>
                <a:cubicBezTo>
                  <a:pt x="122" y="2142"/>
                  <a:pt x="245" y="1087"/>
                  <a:pt x="375" y="610"/>
                </a:cubicBezTo>
                <a:cubicBezTo>
                  <a:pt x="505" y="133"/>
                  <a:pt x="575" y="0"/>
                  <a:pt x="780" y="334"/>
                </a:cubicBezTo>
                <a:cubicBezTo>
                  <a:pt x="985" y="668"/>
                  <a:pt x="1293" y="2153"/>
                  <a:pt x="1605" y="2613"/>
                </a:cubicBezTo>
                <a:cubicBezTo>
                  <a:pt x="1917" y="3073"/>
                  <a:pt x="2286" y="3083"/>
                  <a:pt x="2655" y="3094"/>
                </a:cubicBezTo>
              </a:path>
            </a:pathLst>
          </a:custGeom>
          <a:ln>
            <a:headEnd/>
            <a:tailEnd/>
          </a:ln>
          <a:extLst>
            <a:ext uri="{909E8E84-426E-40dd-AFC4-6F175D3DCCD1}">
              <a14:hiddenFill xmlns:a14="http://schemas.microsoft.com/office/drawing/2010/main" xmlns="">
                <a:solidFill>
                  <a:srgbClr val="FFFFFF"/>
                </a:solidFill>
              </a14:hiddenFill>
            </a:ext>
          </a:extLst>
        </p:spPr>
        <p:style>
          <a:lnRef idx="1">
            <a:schemeClr val="dk1"/>
          </a:lnRef>
          <a:fillRef idx="0">
            <a:schemeClr val="dk1"/>
          </a:fillRef>
          <a:effectRef idx="0">
            <a:schemeClr val="dk1"/>
          </a:effectRef>
          <a:fontRef idx="minor">
            <a:schemeClr val="tx1"/>
          </a:fontRef>
        </p:style>
        <p:txBody>
          <a:bodyPr/>
          <a:lstStyle/>
          <a:p>
            <a:endParaRPr lang="zh-CN" altLang="en-US"/>
          </a:p>
        </p:txBody>
      </p:sp>
      <p:cxnSp>
        <p:nvCxnSpPr>
          <p:cNvPr id="34834" name="AutoShape 2178"/>
          <p:cNvCxnSpPr>
            <a:cxnSpLocks noChangeShapeType="1"/>
          </p:cNvCxnSpPr>
          <p:nvPr/>
        </p:nvCxnSpPr>
        <p:spPr bwMode="auto">
          <a:xfrm>
            <a:off x="1943226" y="4268823"/>
            <a:ext cx="5212818" cy="825"/>
          </a:xfrm>
          <a:prstGeom prst="straightConnector1">
            <a:avLst/>
          </a:prstGeom>
          <a:ln>
            <a:headEnd/>
            <a:tailEnd/>
          </a:ln>
          <a:extLst>
            <a:ext uri="{909E8E84-426E-40dd-AFC4-6F175D3DCCD1}">
              <a14:hiddenFill xmlns:a14="http://schemas.microsoft.com/office/drawing/2010/main" xmlns="">
                <a:noFill/>
              </a14:hiddenFill>
            </a:ext>
          </a:extLst>
        </p:spPr>
        <p:style>
          <a:lnRef idx="1">
            <a:schemeClr val="dk1"/>
          </a:lnRef>
          <a:fillRef idx="0">
            <a:schemeClr val="dk1"/>
          </a:fillRef>
          <a:effectRef idx="0">
            <a:schemeClr val="dk1"/>
          </a:effectRef>
          <a:fontRef idx="minor">
            <a:schemeClr val="tx1"/>
          </a:fontRef>
        </p:style>
      </p:cxnSp>
      <p:sp>
        <p:nvSpPr>
          <p:cNvPr id="34835" name="Freeform 16"/>
          <p:cNvSpPr>
            <a:spLocks/>
          </p:cNvSpPr>
          <p:nvPr/>
        </p:nvSpPr>
        <p:spPr bwMode="auto">
          <a:xfrm>
            <a:off x="1943226" y="1819353"/>
            <a:ext cx="5006799" cy="2450295"/>
          </a:xfrm>
          <a:custGeom>
            <a:avLst/>
            <a:gdLst>
              <a:gd name="T0" fmla="*/ 0 w 4110"/>
              <a:gd name="T1" fmla="*/ 2761 h 3195"/>
              <a:gd name="T2" fmla="*/ 477 w 4110"/>
              <a:gd name="T3" fmla="*/ 1128 h 3195"/>
              <a:gd name="T4" fmla="*/ 1115 w 4110"/>
              <a:gd name="T5" fmla="*/ 350 h 3195"/>
              <a:gd name="T6" fmla="*/ 2751 w 4110"/>
              <a:gd name="T7" fmla="*/ 1258 h 3195"/>
              <a:gd name="T8" fmla="*/ 4466 w 4110"/>
              <a:gd name="T9" fmla="*/ 311 h 3195"/>
              <a:gd name="T10" fmla="*/ 5464 w 4110"/>
              <a:gd name="T11" fmla="*/ 0 h 3195"/>
              <a:gd name="T12" fmla="*/ 0 60000 65536"/>
              <a:gd name="T13" fmla="*/ 0 60000 65536"/>
              <a:gd name="T14" fmla="*/ 0 60000 65536"/>
              <a:gd name="T15" fmla="*/ 0 60000 65536"/>
              <a:gd name="T16" fmla="*/ 0 60000 65536"/>
              <a:gd name="T17" fmla="*/ 0 60000 65536"/>
              <a:gd name="T18" fmla="*/ 0 w 4110"/>
              <a:gd name="T19" fmla="*/ 0 h 3195"/>
              <a:gd name="T20" fmla="*/ 4110 w 4110"/>
              <a:gd name="T21" fmla="*/ 3195 h 3195"/>
            </a:gdLst>
            <a:ahLst/>
            <a:cxnLst>
              <a:cxn ang="T12">
                <a:pos x="T0" y="T1"/>
              </a:cxn>
              <a:cxn ang="T13">
                <a:pos x="T2" y="T3"/>
              </a:cxn>
              <a:cxn ang="T14">
                <a:pos x="T4" y="T5"/>
              </a:cxn>
              <a:cxn ang="T15">
                <a:pos x="T6" y="T7"/>
              </a:cxn>
              <a:cxn ang="T16">
                <a:pos x="T8" y="T9"/>
              </a:cxn>
              <a:cxn ang="T17">
                <a:pos x="T10" y="T11"/>
              </a:cxn>
            </a:cxnLst>
            <a:rect l="T18" t="T19" r="T20" b="T21"/>
            <a:pathLst>
              <a:path w="4110" h="3195">
                <a:moveTo>
                  <a:pt x="0" y="3195"/>
                </a:moveTo>
                <a:cubicBezTo>
                  <a:pt x="109" y="2482"/>
                  <a:pt x="219" y="1770"/>
                  <a:pt x="359" y="1305"/>
                </a:cubicBezTo>
                <a:cubicBezTo>
                  <a:pt x="499" y="840"/>
                  <a:pt x="554" y="380"/>
                  <a:pt x="839" y="405"/>
                </a:cubicBezTo>
                <a:cubicBezTo>
                  <a:pt x="1124" y="430"/>
                  <a:pt x="1649" y="1463"/>
                  <a:pt x="2069" y="1455"/>
                </a:cubicBezTo>
                <a:cubicBezTo>
                  <a:pt x="2489" y="1447"/>
                  <a:pt x="3019" y="603"/>
                  <a:pt x="3359" y="360"/>
                </a:cubicBezTo>
                <a:cubicBezTo>
                  <a:pt x="3699" y="117"/>
                  <a:pt x="3904" y="58"/>
                  <a:pt x="4110" y="0"/>
                </a:cubicBezTo>
              </a:path>
            </a:pathLst>
          </a:custGeom>
          <a:ln>
            <a:headEnd/>
            <a:tailEnd/>
          </a:ln>
          <a:extLst>
            <a:ext uri="{909E8E84-426E-40dd-AFC4-6F175D3DCCD1}">
              <a14:hiddenFill xmlns:a14="http://schemas.microsoft.com/office/drawing/2010/main" xmlns="">
                <a:solidFill>
                  <a:srgbClr val="FFFFFF"/>
                </a:solidFill>
              </a14:hiddenFill>
            </a:ext>
          </a:extLst>
        </p:spPr>
        <p:style>
          <a:lnRef idx="3">
            <a:schemeClr val="accent1"/>
          </a:lnRef>
          <a:fillRef idx="0">
            <a:schemeClr val="accent1"/>
          </a:fillRef>
          <a:effectRef idx="2">
            <a:schemeClr val="accent1"/>
          </a:effectRef>
          <a:fontRef idx="minor">
            <a:schemeClr val="tx1"/>
          </a:fontRef>
        </p:style>
        <p:txBody>
          <a:bodyPr/>
          <a:lstStyle/>
          <a:p>
            <a:endParaRPr lang="zh-CN" altLang="en-US"/>
          </a:p>
        </p:txBody>
      </p:sp>
      <p:sp>
        <p:nvSpPr>
          <p:cNvPr id="34820" name="Rectangle 25"/>
          <p:cNvSpPr>
            <a:spLocks noChangeArrowheads="1"/>
          </p:cNvSpPr>
          <p:nvPr/>
        </p:nvSpPr>
        <p:spPr bwMode="auto">
          <a:xfrm>
            <a:off x="0" y="350520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p>
            <a:endParaRPr lang="zh-CN" altLang="en-US"/>
          </a:p>
        </p:txBody>
      </p:sp>
      <p:sp>
        <p:nvSpPr>
          <p:cNvPr id="20" name="Footer Placeholder 1"/>
          <p:cNvSpPr>
            <a:spLocks noGrp="1"/>
          </p:cNvSpPr>
          <p:nvPr>
            <p:ph type="ftr" sz="quarter" idx="4294967295"/>
          </p:nvPr>
        </p:nvSpPr>
        <p:spPr>
          <a:xfrm>
            <a:off x="0" y="6519863"/>
            <a:ext cx="2392363" cy="365125"/>
          </a:xfrm>
        </p:spPr>
        <p:txBody>
          <a:bodyPr/>
          <a:lstStyle/>
          <a:p>
            <a:pPr>
              <a:defRPr/>
            </a:pPr>
            <a:r>
              <a:rPr lang="en-US" dirty="0"/>
              <a:t>Adapted from </a:t>
            </a:r>
            <a:r>
              <a:rPr lang="en-US" i="1" dirty="0"/>
              <a:t>Forest Economics </a:t>
            </a:r>
            <a:r>
              <a:rPr lang="en-US" dirty="0"/>
              <a:t>by </a:t>
            </a:r>
            <a:r>
              <a:rPr lang="en-US" dirty="0" err="1"/>
              <a:t>Daowei</a:t>
            </a:r>
            <a:r>
              <a:rPr lang="en-US" dirty="0"/>
              <a:t> Zhang and Peter H. </a:t>
            </a:r>
            <a:r>
              <a:rPr lang="en-US" dirty="0" err="1"/>
              <a:t>Pearse</a:t>
            </a:r>
            <a:r>
              <a:rPr lang="en-US" dirty="0"/>
              <a:t>, published by UBC Press, 2011. </a:t>
            </a:r>
            <a:endParaRPr lang="en-CA" dirty="0"/>
          </a:p>
        </p:txBody>
      </p:sp>
      <p:sp>
        <p:nvSpPr>
          <p:cNvPr id="34829" name="Freeform 10"/>
          <p:cNvSpPr>
            <a:spLocks/>
          </p:cNvSpPr>
          <p:nvPr/>
        </p:nvSpPr>
        <p:spPr bwMode="auto">
          <a:xfrm>
            <a:off x="2671162" y="2423265"/>
            <a:ext cx="4278864" cy="2861152"/>
          </a:xfrm>
          <a:custGeom>
            <a:avLst/>
            <a:gdLst>
              <a:gd name="T0" fmla="*/ 0 w 3945"/>
              <a:gd name="T1" fmla="*/ 3610 h 3274"/>
              <a:gd name="T2" fmla="*/ 538 w 3945"/>
              <a:gd name="T3" fmla="*/ 3408 h 3274"/>
              <a:gd name="T4" fmla="*/ 1645 w 3945"/>
              <a:gd name="T5" fmla="*/ 2010 h 3274"/>
              <a:gd name="T6" fmla="*/ 2631 w 3945"/>
              <a:gd name="T7" fmla="*/ 704 h 3274"/>
              <a:gd name="T8" fmla="*/ 3098 w 3945"/>
              <a:gd name="T9" fmla="*/ 261 h 3274"/>
              <a:gd name="T10" fmla="*/ 3604 w 3945"/>
              <a:gd name="T11" fmla="*/ 37 h 3274"/>
              <a:gd name="T12" fmla="*/ 4158 w 3945"/>
              <a:gd name="T13" fmla="*/ 37 h 3274"/>
              <a:gd name="T14" fmla="*/ 0 60000 65536"/>
              <a:gd name="T15" fmla="*/ 0 60000 65536"/>
              <a:gd name="T16" fmla="*/ 0 60000 65536"/>
              <a:gd name="T17" fmla="*/ 0 60000 65536"/>
              <a:gd name="T18" fmla="*/ 0 60000 65536"/>
              <a:gd name="T19" fmla="*/ 0 60000 65536"/>
              <a:gd name="T20" fmla="*/ 0 60000 65536"/>
              <a:gd name="T21" fmla="*/ 0 w 3945"/>
              <a:gd name="T22" fmla="*/ 0 h 3274"/>
              <a:gd name="T23" fmla="*/ 3945 w 3945"/>
              <a:gd name="T24" fmla="*/ 3274 h 327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945" h="3274">
                <a:moveTo>
                  <a:pt x="0" y="3217"/>
                </a:moveTo>
                <a:cubicBezTo>
                  <a:pt x="125" y="3245"/>
                  <a:pt x="250" y="3274"/>
                  <a:pt x="510" y="3037"/>
                </a:cubicBezTo>
                <a:cubicBezTo>
                  <a:pt x="770" y="2800"/>
                  <a:pt x="1229" y="2193"/>
                  <a:pt x="1560" y="1792"/>
                </a:cubicBezTo>
                <a:cubicBezTo>
                  <a:pt x="1891" y="1391"/>
                  <a:pt x="2267" y="888"/>
                  <a:pt x="2497" y="628"/>
                </a:cubicBezTo>
                <a:cubicBezTo>
                  <a:pt x="2727" y="368"/>
                  <a:pt x="2786" y="331"/>
                  <a:pt x="2940" y="232"/>
                </a:cubicBezTo>
                <a:cubicBezTo>
                  <a:pt x="3094" y="133"/>
                  <a:pt x="3253" y="66"/>
                  <a:pt x="3420" y="33"/>
                </a:cubicBezTo>
                <a:cubicBezTo>
                  <a:pt x="3587" y="0"/>
                  <a:pt x="3766" y="16"/>
                  <a:pt x="3945" y="33"/>
                </a:cubicBezTo>
              </a:path>
            </a:pathLst>
          </a:custGeom>
          <a:ln>
            <a:headEnd/>
            <a:tailEnd/>
          </a:ln>
          <a:extLst>
            <a:ext uri="{909E8E84-426E-40dd-AFC4-6F175D3DCCD1}">
              <a14:hiddenFill xmlns:a14="http://schemas.microsoft.com/office/drawing/2010/main" xmlns="">
                <a:solidFill>
                  <a:srgbClr val="FFFFFF"/>
                </a:solidFill>
              </a14:hiddenFill>
            </a:ext>
          </a:extLst>
        </p:spPr>
        <p:style>
          <a:lnRef idx="1">
            <a:schemeClr val="dk1"/>
          </a:lnRef>
          <a:fillRef idx="0">
            <a:schemeClr val="dk1"/>
          </a:fillRef>
          <a:effectRef idx="0">
            <a:schemeClr val="dk1"/>
          </a:effectRef>
          <a:fontRef idx="minor">
            <a:schemeClr val="tx1"/>
          </a:fontRef>
        </p:style>
        <p:txBody>
          <a:bodyPr/>
          <a:lstStyle/>
          <a:p>
            <a:endParaRPr lang="zh-CN" altLang="en-US"/>
          </a:p>
        </p:txBody>
      </p:sp>
    </p:spTree>
    <p:extLst>
      <p:ext uri="{BB962C8B-B14F-4D97-AF65-F5344CB8AC3E}">
        <p14:creationId xmlns:p14="http://schemas.microsoft.com/office/powerpoint/2010/main" val="300313888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34835"/>
                                        </p:tgtEl>
                                        <p:attrNameLst>
                                          <p:attrName>style.visibility</p:attrName>
                                        </p:attrNameLst>
                                      </p:cBhvr>
                                      <p:to>
                                        <p:strVal val="visible"/>
                                      </p:to>
                                    </p:set>
                                    <p:animEffect transition="in" filter="wipe(left)">
                                      <p:cBhvr>
                                        <p:cTn id="7" dur="500"/>
                                        <p:tgtEl>
                                          <p:spTgt spid="348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35" grpId="0"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可知</a:t>
            </a:r>
          </a:p>
        </p:txBody>
      </p:sp>
      <p:sp>
        <p:nvSpPr>
          <p:cNvPr id="3" name="内容占位符 2"/>
          <p:cNvSpPr>
            <a:spLocks noGrp="1"/>
          </p:cNvSpPr>
          <p:nvPr>
            <p:ph idx="1"/>
          </p:nvPr>
        </p:nvSpPr>
        <p:spPr>
          <a:xfrm>
            <a:off x="4690395" y="1258564"/>
            <a:ext cx="3617729" cy="3256516"/>
          </a:xfrm>
        </p:spPr>
        <p:txBody>
          <a:bodyPr/>
          <a:lstStyle/>
          <a:p>
            <a:r>
              <a:rPr lang="zh-CN" altLang="en-US" dirty="0"/>
              <a:t>同时考虑木材和非木材价值时，寻找净产出价值的最大化会因为没办法找到一个唯一的最大值而更加复杂</a:t>
            </a:r>
          </a:p>
        </p:txBody>
      </p:sp>
      <p:sp>
        <p:nvSpPr>
          <p:cNvPr id="4" name="内容占位符 3"/>
          <p:cNvSpPr>
            <a:spLocks noGrp="1"/>
          </p:cNvSpPr>
          <p:nvPr>
            <p:ph sz="quarter" idx="10"/>
          </p:nvPr>
        </p:nvSpPr>
        <p:spPr/>
        <p:txBody>
          <a:bodyPr>
            <a:normAutofit/>
          </a:bodyPr>
          <a:lstStyle/>
          <a:p>
            <a:r>
              <a:rPr lang="zh-CN" altLang="en-US" dirty="0"/>
              <a:t>找到所有的非木材价值和年龄的确权关系十分困难</a:t>
            </a:r>
            <a:endParaRPr lang="en-US" altLang="zh-CN" dirty="0"/>
          </a:p>
          <a:p>
            <a:r>
              <a:rPr lang="zh-CN" altLang="en-US" dirty="0"/>
              <a:t>还需要把所有的非木材价值和木材价值合并到一起来计算</a:t>
            </a:r>
            <a:endParaRPr lang="en-US" altLang="zh-CN" dirty="0"/>
          </a:p>
          <a:p>
            <a:r>
              <a:rPr lang="zh-CN" altLang="en-US" dirty="0">
                <a:solidFill>
                  <a:schemeClr val="accent3">
                    <a:lumMod val="75000"/>
                  </a:schemeClr>
                </a:solidFill>
              </a:rPr>
              <a:t>而如果森林的非木材价值在树龄较小时比较大，则缩短森林的最佳采伐期</a:t>
            </a:r>
          </a:p>
          <a:p>
            <a:endParaRPr lang="zh-CN" altLang="en-US" dirty="0"/>
          </a:p>
        </p:txBody>
      </p:sp>
      <p:sp>
        <p:nvSpPr>
          <p:cNvPr id="5" name="内容占位符 4"/>
          <p:cNvSpPr>
            <a:spLocks noGrp="1"/>
          </p:cNvSpPr>
          <p:nvPr>
            <p:ph idx="11"/>
          </p:nvPr>
        </p:nvSpPr>
        <p:spPr/>
        <p:txBody>
          <a:bodyPr>
            <a:normAutofit/>
          </a:bodyPr>
          <a:lstStyle/>
          <a:p>
            <a:r>
              <a:rPr lang="zh-CN" altLang="en-US" dirty="0">
                <a:solidFill>
                  <a:schemeClr val="accent3">
                    <a:lumMod val="75000"/>
                  </a:schemeClr>
                </a:solidFill>
              </a:rPr>
              <a:t>但是，很明显，如果非木材价值随着树龄增加，则哈特曼采伐期长于弗斯曼采伐期</a:t>
            </a:r>
            <a:endParaRPr lang="en-US" altLang="zh-CN" dirty="0">
              <a:solidFill>
                <a:schemeClr val="accent3">
                  <a:lumMod val="75000"/>
                </a:schemeClr>
              </a:solidFill>
            </a:endParaRPr>
          </a:p>
        </p:txBody>
      </p:sp>
    </p:spTree>
    <p:extLst>
      <p:ext uri="{BB962C8B-B14F-4D97-AF65-F5344CB8AC3E}">
        <p14:creationId xmlns:p14="http://schemas.microsoft.com/office/powerpoint/2010/main" val="490900823"/>
      </p:ext>
    </p:extLst>
  </p:cSld>
  <p:clrMapOvr>
    <a:masterClrMapping/>
  </p:clrMapOvr>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由此可以发现</a:t>
            </a:r>
          </a:p>
        </p:txBody>
      </p:sp>
      <p:sp>
        <p:nvSpPr>
          <p:cNvPr id="3" name="文本占位符 2">
            <a:extLst>
              <a:ext uri="{FF2B5EF4-FFF2-40B4-BE49-F238E27FC236}">
                <a16:creationId xmlns:a16="http://schemas.microsoft.com/office/drawing/2014/main" id="{75016645-8D66-8B4A-BF56-86BE1788244F}"/>
              </a:ext>
            </a:extLst>
          </p:cNvPr>
          <p:cNvSpPr>
            <a:spLocks noGrp="1"/>
          </p:cNvSpPr>
          <p:nvPr>
            <p:ph type="body" idx="1"/>
          </p:nvPr>
        </p:nvSpPr>
        <p:spPr/>
        <p:txBody>
          <a:bodyPr/>
          <a:lstStyle/>
          <a:p>
            <a:endParaRPr kumimoji="1" lang="zh-CN" altLang="en-US"/>
          </a:p>
        </p:txBody>
      </p:sp>
      <p:sp>
        <p:nvSpPr>
          <p:cNvPr id="4" name="内容占位符 3"/>
          <p:cNvSpPr>
            <a:spLocks noGrp="1"/>
          </p:cNvSpPr>
          <p:nvPr>
            <p:ph sz="half" idx="2"/>
          </p:nvPr>
        </p:nvSpPr>
        <p:spPr/>
        <p:txBody>
          <a:bodyPr/>
          <a:lstStyle/>
          <a:p>
            <a:r>
              <a:rPr lang="zh-CN" altLang="en-US" dirty="0"/>
              <a:t>一些森林的非木材价值极大时，可能在未来的任何时候采伐森林在经济上都是不可行的</a:t>
            </a:r>
          </a:p>
        </p:txBody>
      </p:sp>
      <p:sp>
        <p:nvSpPr>
          <p:cNvPr id="5" name="文本占位符 4">
            <a:extLst>
              <a:ext uri="{FF2B5EF4-FFF2-40B4-BE49-F238E27FC236}">
                <a16:creationId xmlns:a16="http://schemas.microsoft.com/office/drawing/2014/main" id="{36E514DA-2CB7-FF42-80BF-141198B6BE2A}"/>
              </a:ext>
            </a:extLst>
          </p:cNvPr>
          <p:cNvSpPr>
            <a:spLocks noGrp="1"/>
          </p:cNvSpPr>
          <p:nvPr>
            <p:ph type="body" sz="quarter" idx="3"/>
          </p:nvPr>
        </p:nvSpPr>
        <p:spPr/>
        <p:txBody>
          <a:bodyPr/>
          <a:lstStyle/>
          <a:p>
            <a:endParaRPr kumimoji="1" lang="zh-CN" altLang="en-US"/>
          </a:p>
        </p:txBody>
      </p:sp>
      <p:sp>
        <p:nvSpPr>
          <p:cNvPr id="6" name="内容占位符 5"/>
          <p:cNvSpPr>
            <a:spLocks noGrp="1"/>
          </p:cNvSpPr>
          <p:nvPr>
            <p:ph sz="quarter" idx="4"/>
          </p:nvPr>
        </p:nvSpPr>
        <p:spPr/>
        <p:txBody>
          <a:bodyPr/>
          <a:lstStyle/>
          <a:p>
            <a:r>
              <a:rPr lang="zh-CN" altLang="en-US" dirty="0"/>
              <a:t>这种情况下，环境收益称为了森林的主要收益，而木材的收益次之</a:t>
            </a:r>
            <a:endParaRPr lang="en-US" altLang="zh-CN" dirty="0"/>
          </a:p>
          <a:p>
            <a:r>
              <a:rPr lang="zh-CN" altLang="en-US" dirty="0"/>
              <a:t>这种情况应该推迟采伐，或者永不采伐</a:t>
            </a:r>
          </a:p>
        </p:txBody>
      </p:sp>
    </p:spTree>
    <p:extLst>
      <p:ext uri="{BB962C8B-B14F-4D97-AF65-F5344CB8AC3E}">
        <p14:creationId xmlns:p14="http://schemas.microsoft.com/office/powerpoint/2010/main" val="37771518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要点和讨论</a:t>
            </a:r>
          </a:p>
        </p:txBody>
      </p:sp>
      <p:sp>
        <p:nvSpPr>
          <p:cNvPr id="3" name="内容占位符 2"/>
          <p:cNvSpPr>
            <a:spLocks noGrp="1"/>
          </p:cNvSpPr>
          <p:nvPr>
            <p:ph idx="1"/>
          </p:nvPr>
        </p:nvSpPr>
        <p:spPr/>
        <p:txBody>
          <a:bodyPr/>
          <a:lstStyle/>
          <a:p>
            <a:r>
              <a:rPr lang="zh-CN" altLang="en-US" dirty="0"/>
              <a:t>最佳轮伐期的确定</a:t>
            </a:r>
            <a:endParaRPr lang="en-US" altLang="zh-CN" dirty="0"/>
          </a:p>
          <a:p>
            <a:r>
              <a:rPr lang="zh-CN" altLang="en-US" dirty="0"/>
              <a:t>原则：现值的最大化</a:t>
            </a:r>
            <a:endParaRPr lang="en-US" altLang="zh-CN" dirty="0"/>
          </a:p>
          <a:p>
            <a:r>
              <a:rPr lang="zh-CN" altLang="en-US" dirty="0"/>
              <a:t>方法：边际收益</a:t>
            </a:r>
            <a:r>
              <a:rPr lang="en-US" altLang="zh-CN" dirty="0"/>
              <a:t>=</a:t>
            </a:r>
            <a:r>
              <a:rPr lang="zh-CN" altLang="en-US" dirty="0"/>
              <a:t>边际成本</a:t>
            </a:r>
            <a:endParaRPr lang="en-US" altLang="zh-CN" dirty="0"/>
          </a:p>
          <a:p>
            <a:r>
              <a:rPr lang="zh-CN" altLang="en-US" dirty="0"/>
              <a:t>经济成熟（土地期望值最大化）</a:t>
            </a:r>
            <a:r>
              <a:rPr lang="en-US" altLang="zh-CN" dirty="0"/>
              <a:t>——</a:t>
            </a:r>
            <a:r>
              <a:rPr lang="zh-CN" altLang="en-US" dirty="0"/>
              <a:t>弗斯曼轮伐期，</a:t>
            </a:r>
            <a:r>
              <a:rPr lang="zh-CN" altLang="en-US"/>
              <a:t>哈特曼轮伐期</a:t>
            </a:r>
            <a:endParaRPr lang="en-US" altLang="zh-CN"/>
          </a:p>
        </p:txBody>
      </p:sp>
    </p:spTree>
    <p:extLst>
      <p:ext uri="{BB962C8B-B14F-4D97-AF65-F5344CB8AC3E}">
        <p14:creationId xmlns:p14="http://schemas.microsoft.com/office/powerpoint/2010/main" val="3641723930"/>
      </p:ext>
    </p:extLst>
  </p:cSld>
  <p:clrMapOvr>
    <a:masterClrMapping/>
  </p:clrMapOvr>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AE6F2518-B084-4896-AF52-66CC2144AA26}"/>
    </a:ext>
  </a:extLst>
</a:theme>
</file>

<file path=ppt/theme/theme2.xml><?xml version="1.0" encoding="utf-8"?>
<a:theme xmlns:a="http://schemas.openxmlformats.org/drawingml/2006/main" name="Office 主题">
  <a:themeElements>
    <a:clrScheme name="办公室">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办公室">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办公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Office Theme</Template>
  <TotalTime>1514</TotalTime>
  <Words>5169</Words>
  <Application>Microsoft Macintosh PowerPoint</Application>
  <PresentationFormat>全屏显示(4:3)</PresentationFormat>
  <Paragraphs>578</Paragraphs>
  <Slides>80</Slides>
  <Notes>6</Notes>
  <HiddenSlides>0</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2</vt:i4>
      </vt:variant>
      <vt:variant>
        <vt:lpstr>幻灯片标题</vt:lpstr>
      </vt:variant>
      <vt:variant>
        <vt:i4>80</vt:i4>
      </vt:variant>
    </vt:vector>
  </HeadingPairs>
  <TitlesOfParts>
    <vt:vector size="91" baseType="lpstr">
      <vt:lpstr>Arial</vt:lpstr>
      <vt:lpstr>Berlin Sans FB Demi</vt:lpstr>
      <vt:lpstr>Calibri</vt:lpstr>
      <vt:lpstr>Calibri Light</vt:lpstr>
      <vt:lpstr>Cambria Math</vt:lpstr>
      <vt:lpstr>Symbol</vt:lpstr>
      <vt:lpstr>Times New Roman</vt:lpstr>
      <vt:lpstr>Wingdings</vt:lpstr>
      <vt:lpstr>Office 主题​​</vt:lpstr>
      <vt:lpstr>公式</vt:lpstr>
      <vt:lpstr>图表</vt:lpstr>
      <vt:lpstr>最佳森林采伐期</vt:lpstr>
      <vt:lpstr>What should we know about the optimal forest rotation？</vt:lpstr>
      <vt:lpstr>PowerPoint 演示文稿</vt:lpstr>
      <vt:lpstr>Optimal Rotation Age in Discrete Form</vt:lpstr>
      <vt:lpstr>离散型和连续型</vt:lpstr>
      <vt:lpstr>1、一些基本的简化 some initial simplifications</vt:lpstr>
      <vt:lpstr>2、立木价值和林分年龄</vt:lpstr>
      <vt:lpstr>假定：价格恒定  P(t)=P</vt:lpstr>
      <vt:lpstr>PowerPoint 演示文稿</vt:lpstr>
      <vt:lpstr>PowerPoint 演示文稿</vt:lpstr>
      <vt:lpstr>两个重要术语： MAI：平均生长量  CAI：年生长量</vt:lpstr>
      <vt:lpstr>Optimum economic rotation 最佳经济采伐周期</vt:lpstr>
      <vt:lpstr>另一种证明方法</vt:lpstr>
      <vt:lpstr>以上，只考虑森林资本的占用成本，不考虑土地成本</vt:lpstr>
      <vt:lpstr>PowerPoint 演示文稿</vt:lpstr>
      <vt:lpstr>Land Expectation Value  土地期望值 （“地租”、无林地价值）</vt:lpstr>
      <vt:lpstr>在地价最大时进行森林采伐</vt:lpstr>
      <vt:lpstr>PowerPoint 演示文稿</vt:lpstr>
      <vt:lpstr>PowerPoint 演示文稿</vt:lpstr>
      <vt:lpstr>the Faustmann Model (land rent theory) Faustmann模型</vt:lpstr>
      <vt:lpstr>the Faustmann Model</vt:lpstr>
      <vt:lpstr>连续生长森林的短周期</vt:lpstr>
      <vt:lpstr>在生长周期较长的情况下，贴现的力量降低了将来成本的价值  所以考虑下一次和所有未来的森林价值而使最佳生长周期缩短的程度很有限</vt:lpstr>
      <vt:lpstr>当利率降低，生长周期缩短时，这种效果将变大</vt:lpstr>
      <vt:lpstr>对Faustmann模型的变形</vt:lpstr>
      <vt:lpstr>PowerPoint 演示文稿</vt:lpstr>
      <vt:lpstr>案例</vt:lpstr>
      <vt:lpstr>PowerPoint 演示文稿</vt:lpstr>
      <vt:lpstr>进一步考虑：造林成本</vt:lpstr>
      <vt:lpstr>Optimal Rotation Age in Continuous Format </vt:lpstr>
      <vt:lpstr>1、概念模型</vt:lpstr>
      <vt:lpstr>造林投入</vt:lpstr>
      <vt:lpstr>案例：</vt:lpstr>
      <vt:lpstr>立木价格P</vt:lpstr>
      <vt:lpstr>最大化净现值Vs</vt:lpstr>
      <vt:lpstr>其它变形</vt:lpstr>
      <vt:lpstr>PowerPoint 演示文稿</vt:lpstr>
      <vt:lpstr>弗斯曼轮伐期</vt:lpstr>
      <vt:lpstr>Cutting Cycles for an Uneven-Aged Stand </vt:lpstr>
      <vt:lpstr>uneven-aged stand </vt:lpstr>
      <vt:lpstr>如何计算异龄林的最佳采伐周期？</vt:lpstr>
      <vt:lpstr>Comparisons with Other Rotation Criteria </vt:lpstr>
      <vt:lpstr>三种其它轮伐周期</vt:lpstr>
      <vt:lpstr>永续利用采伐期： (Q(t,E))/Q_t =1/t</vt:lpstr>
      <vt:lpstr>三种不同轮伐周期的比较</vt:lpstr>
      <vt:lpstr>PowerPoint 演示文稿</vt:lpstr>
      <vt:lpstr>PowerPoint 演示文稿</vt:lpstr>
      <vt:lpstr>PowerPoint 演示文稿</vt:lpstr>
      <vt:lpstr>PowerPoint 演示文稿</vt:lpstr>
      <vt:lpstr>PowerPoint 演示文稿</vt:lpstr>
      <vt:lpstr>Other Impacts on the Optimal Rotation </vt:lpstr>
      <vt:lpstr>1、利率</vt:lpstr>
      <vt:lpstr>2、更新成本</vt:lpstr>
      <vt:lpstr>PowerPoint 演示文稿</vt:lpstr>
      <vt:lpstr>2、更新成本和立木价格</vt:lpstr>
      <vt:lpstr>人工造林还是自然生长天然林？</vt:lpstr>
      <vt:lpstr>3、土地生产力</vt:lpstr>
      <vt:lpstr>4、年管理成本</vt:lpstr>
      <vt:lpstr>5、财产税</vt:lpstr>
      <vt:lpstr>6、成本和价格趋势</vt:lpstr>
      <vt:lpstr>The Hartman Rotation </vt:lpstr>
      <vt:lpstr>考虑森林的非木材价值！</vt:lpstr>
      <vt:lpstr>1、哈特曼模型的离散形式</vt:lpstr>
      <vt:lpstr>在永续条件下</vt:lpstr>
      <vt:lpstr>2、连续形式下的哈特曼采伐期</vt:lpstr>
      <vt:lpstr>选取使这种收益的贴现值最大的采伐期</vt:lpstr>
      <vt:lpstr>可知</vt:lpstr>
      <vt:lpstr>同时考虑一个无限规划期的木材和非木材价值</vt:lpstr>
      <vt:lpstr>PowerPoint 演示文稿</vt:lpstr>
      <vt:lpstr>其它考虑</vt:lpstr>
      <vt:lpstr>PowerPoint 演示文稿</vt:lpstr>
      <vt:lpstr>其它考虑</vt:lpstr>
      <vt:lpstr>PowerPoint 演示文稿</vt:lpstr>
      <vt:lpstr>其它考虑</vt:lpstr>
      <vt:lpstr>PowerPoint 演示文稿</vt:lpstr>
      <vt:lpstr>其它考虑</vt:lpstr>
      <vt:lpstr>PowerPoint 演示文稿</vt:lpstr>
      <vt:lpstr>可知</vt:lpstr>
      <vt:lpstr>由此可以发现</vt:lpstr>
      <vt:lpstr>要点和讨论</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xj lang</dc:creator>
  <cp:lastModifiedBy>l xj</cp:lastModifiedBy>
  <cp:revision>340</cp:revision>
  <dcterms:created xsi:type="dcterms:W3CDTF">2014-05-05T02:31:00Z</dcterms:created>
  <dcterms:modified xsi:type="dcterms:W3CDTF">2019-06-02T09:25:41Z</dcterms:modified>
</cp:coreProperties>
</file>