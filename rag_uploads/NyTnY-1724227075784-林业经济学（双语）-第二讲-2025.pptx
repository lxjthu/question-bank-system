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74" r:id="rId3"/>
    <p:sldMasterId id="2147483700" r:id="rId4"/>
  </p:sldMasterIdLst>
  <p:notesMasterIdLst>
    <p:notesMasterId r:id="rId22"/>
  </p:notesMasterIdLst>
  <p:sldIdLst>
    <p:sldId id="649" r:id="rId5"/>
    <p:sldId id="659" r:id="rId6"/>
    <p:sldId id="658" r:id="rId7"/>
    <p:sldId id="656" r:id="rId8"/>
    <p:sldId id="650" r:id="rId9"/>
    <p:sldId id="657" r:id="rId10"/>
    <p:sldId id="660" r:id="rId11"/>
    <p:sldId id="652" r:id="rId12"/>
    <p:sldId id="651" r:id="rId13"/>
    <p:sldId id="653" r:id="rId14"/>
    <p:sldId id="654" r:id="rId15"/>
    <p:sldId id="655" r:id="rId16"/>
    <p:sldId id="661" r:id="rId17"/>
    <p:sldId id="662" r:id="rId18"/>
    <p:sldId id="665" r:id="rId19"/>
    <p:sldId id="663" r:id="rId20"/>
    <p:sldId id="664" r:id="rId21"/>
    <p:sldId id="666" r:id="rId23"/>
    <p:sldId id="667" r:id="rId24"/>
    <p:sldId id="668" r:id="rId25"/>
    <p:sldId id="669" r:id="rId26"/>
    <p:sldId id="670" r:id="rId27"/>
    <p:sldId id="671" r:id="rId28"/>
    <p:sldId id="672" r:id="rId29"/>
    <p:sldId id="673" r:id="rId30"/>
    <p:sldId id="648" r:id="rId31"/>
    <p:sldId id="422" r:id="rId32"/>
    <p:sldId id="423" r:id="rId33"/>
    <p:sldId id="424" r:id="rId34"/>
    <p:sldId id="425" r:id="rId35"/>
    <p:sldId id="426" r:id="rId36"/>
    <p:sldId id="427" r:id="rId37"/>
    <p:sldId id="428" r:id="rId38"/>
    <p:sldId id="429" r:id="rId39"/>
    <p:sldId id="430" r:id="rId40"/>
    <p:sldId id="431" r:id="rId41"/>
    <p:sldId id="432" r:id="rId42"/>
    <p:sldId id="433" r:id="rId43"/>
    <p:sldId id="434" r:id="rId44"/>
    <p:sldId id="435" r:id="rId45"/>
    <p:sldId id="436" r:id="rId46"/>
    <p:sldId id="437" r:id="rId47"/>
    <p:sldId id="438" r:id="rId48"/>
    <p:sldId id="439" r:id="rId49"/>
    <p:sldId id="440" r:id="rId50"/>
    <p:sldId id="441" r:id="rId51"/>
    <p:sldId id="442" r:id="rId52"/>
    <p:sldId id="443" r:id="rId53"/>
    <p:sldId id="444" r:id="rId54"/>
    <p:sldId id="445" r:id="rId55"/>
    <p:sldId id="446" r:id="rId56"/>
    <p:sldId id="447" r:id="rId57"/>
    <p:sldId id="448" r:id="rId58"/>
    <p:sldId id="449" r:id="rId59"/>
    <p:sldId id="450" r:id="rId60"/>
    <p:sldId id="451" r:id="rId61"/>
    <p:sldId id="452" r:id="rId62"/>
    <p:sldId id="453" r:id="rId63"/>
    <p:sldId id="454" r:id="rId64"/>
    <p:sldId id="455" r:id="rId65"/>
    <p:sldId id="456" r:id="rId66"/>
    <p:sldId id="457" r:id="rId67"/>
    <p:sldId id="458" r:id="rId68"/>
    <p:sldId id="459" r:id="rId69"/>
    <p:sldId id="460" r:id="rId70"/>
    <p:sldId id="461" r:id="rId71"/>
    <p:sldId id="462" r:id="rId72"/>
    <p:sldId id="463" r:id="rId73"/>
    <p:sldId id="464" r:id="rId74"/>
    <p:sldId id="465" r:id="rId75"/>
    <p:sldId id="522" r:id="rId76"/>
    <p:sldId id="466" r:id="rId77"/>
    <p:sldId id="467" r:id="rId78"/>
    <p:sldId id="468" r:id="rId79"/>
    <p:sldId id="469" r:id="rId80"/>
    <p:sldId id="470" r:id="rId81"/>
    <p:sldId id="471" r:id="rId82"/>
    <p:sldId id="472" r:id="rId83"/>
    <p:sldId id="473" r:id="rId84"/>
    <p:sldId id="514" r:id="rId85"/>
    <p:sldId id="515" r:id="rId86"/>
    <p:sldId id="474" r:id="rId87"/>
    <p:sldId id="475" r:id="rId88"/>
    <p:sldId id="476" r:id="rId89"/>
    <p:sldId id="477" r:id="rId90"/>
    <p:sldId id="478" r:id="rId91"/>
    <p:sldId id="517" r:id="rId92"/>
    <p:sldId id="516" r:id="rId93"/>
    <p:sldId id="479" r:id="rId94"/>
    <p:sldId id="480" r:id="rId95"/>
    <p:sldId id="481" r:id="rId96"/>
    <p:sldId id="482" r:id="rId97"/>
    <p:sldId id="483" r:id="rId98"/>
    <p:sldId id="484" r:id="rId99"/>
    <p:sldId id="485" r:id="rId100"/>
    <p:sldId id="518" r:id="rId101"/>
    <p:sldId id="519" r:id="rId102"/>
    <p:sldId id="377" r:id="rId103"/>
    <p:sldId id="486" r:id="rId104"/>
    <p:sldId id="487" r:id="rId105"/>
    <p:sldId id="380" r:id="rId106"/>
    <p:sldId id="381" r:id="rId107"/>
    <p:sldId id="382" r:id="rId108"/>
    <p:sldId id="384" r:id="rId109"/>
    <p:sldId id="520" r:id="rId110"/>
    <p:sldId id="376" r:id="rId111"/>
    <p:sldId id="521" r:id="rId112"/>
    <p:sldId id="488" r:id="rId113"/>
    <p:sldId id="406" r:id="rId114"/>
    <p:sldId id="407" r:id="rId115"/>
    <p:sldId id="408" r:id="rId116"/>
    <p:sldId id="412" r:id="rId117"/>
    <p:sldId id="413" r:id="rId118"/>
    <p:sldId id="414" r:id="rId119"/>
    <p:sldId id="415" r:id="rId120"/>
    <p:sldId id="416" r:id="rId121"/>
    <p:sldId id="417" r:id="rId122"/>
    <p:sldId id="418" r:id="rId123"/>
    <p:sldId id="549" r:id="rId124"/>
    <p:sldId id="420" r:id="rId125"/>
    <p:sldId id="550" r:id="rId126"/>
    <p:sldId id="551" r:id="rId127"/>
    <p:sldId id="552" r:id="rId128"/>
    <p:sldId id="553" r:id="rId129"/>
    <p:sldId id="554" r:id="rId130"/>
    <p:sldId id="555" r:id="rId131"/>
    <p:sldId id="556" r:id="rId132"/>
    <p:sldId id="566" r:id="rId133"/>
    <p:sldId id="567" r:id="rId134"/>
    <p:sldId id="568" r:id="rId135"/>
    <p:sldId id="569" r:id="rId136"/>
    <p:sldId id="570" r:id="rId137"/>
    <p:sldId id="571" r:id="rId138"/>
    <p:sldId id="572" r:id="rId139"/>
    <p:sldId id="573" r:id="rId140"/>
    <p:sldId id="574" r:id="rId141"/>
    <p:sldId id="575" r:id="rId142"/>
    <p:sldId id="576" r:id="rId143"/>
    <p:sldId id="577" r:id="rId144"/>
    <p:sldId id="578" r:id="rId145"/>
    <p:sldId id="579" r:id="rId146"/>
    <p:sldId id="580" r:id="rId147"/>
    <p:sldId id="581" r:id="rId148"/>
    <p:sldId id="582" r:id="rId149"/>
    <p:sldId id="583" r:id="rId150"/>
    <p:sldId id="584" r:id="rId151"/>
    <p:sldId id="585" r:id="rId152"/>
    <p:sldId id="586" r:id="rId153"/>
    <p:sldId id="489" r:id="rId154"/>
    <p:sldId id="523" r:id="rId155"/>
    <p:sldId id="524" r:id="rId156"/>
    <p:sldId id="591" r:id="rId157"/>
    <p:sldId id="398" r:id="rId158"/>
    <p:sldId id="525" r:id="rId159"/>
    <p:sldId id="526" r:id="rId160"/>
    <p:sldId id="527" r:id="rId161"/>
    <p:sldId id="528" r:id="rId162"/>
    <p:sldId id="529" r:id="rId163"/>
    <p:sldId id="530" r:id="rId164"/>
    <p:sldId id="531" r:id="rId165"/>
    <p:sldId id="532" r:id="rId166"/>
    <p:sldId id="533" r:id="rId167"/>
    <p:sldId id="534" r:id="rId168"/>
    <p:sldId id="535" r:id="rId169"/>
    <p:sldId id="536" r:id="rId170"/>
    <p:sldId id="537" r:id="rId171"/>
    <p:sldId id="538" r:id="rId172"/>
    <p:sldId id="539" r:id="rId173"/>
    <p:sldId id="540" r:id="rId174"/>
    <p:sldId id="541" r:id="rId175"/>
    <p:sldId id="542" r:id="rId176"/>
    <p:sldId id="544" r:id="rId177"/>
    <p:sldId id="545" r:id="rId178"/>
    <p:sldId id="546" r:id="rId179"/>
    <p:sldId id="547" r:id="rId180"/>
    <p:sldId id="548" r:id="rId181"/>
    <p:sldId id="399" r:id="rId182"/>
    <p:sldId id="400" r:id="rId183"/>
    <p:sldId id="401" r:id="rId184"/>
    <p:sldId id="402" r:id="rId185"/>
    <p:sldId id="587" r:id="rId186"/>
    <p:sldId id="588" r:id="rId187"/>
    <p:sldId id="589" r:id="rId188"/>
    <p:sldId id="590" r:id="rId189"/>
  </p:sldIdLst>
  <p:sldSz cx="9144000" cy="6858000" type="screen4x3"/>
  <p:notesSz cx="6858000" cy="9144000"/>
  <p:custDataLst>
    <p:tags r:id="rId19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672"/>
    <p:restoredTop sz="94579"/>
  </p:normalViewPr>
  <p:slideViewPr>
    <p:cSldViewPr snapToGrid="0" snapToObjects="1" showGuides="1">
      <p:cViewPr varScale="1">
        <p:scale>
          <a:sx n="115" d="100"/>
          <a:sy n="115" d="100"/>
        </p:scale>
        <p:origin x="752"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notesMaster" Target="notesMasters/notesMaster1.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3" Type="http://schemas.openxmlformats.org/officeDocument/2006/relationships/tags" Target="tags/tag1.xml"/><Relationship Id="rId192" Type="http://schemas.openxmlformats.org/officeDocument/2006/relationships/tableStyles" Target="tableStyles.xml"/><Relationship Id="rId191" Type="http://schemas.openxmlformats.org/officeDocument/2006/relationships/viewProps" Target="viewProps.xml"/><Relationship Id="rId190" Type="http://schemas.openxmlformats.org/officeDocument/2006/relationships/presProps" Target="presProps.xml"/><Relationship Id="rId19" Type="http://schemas.openxmlformats.org/officeDocument/2006/relationships/slide" Target="slides/slide15.xml"/><Relationship Id="rId189" Type="http://schemas.openxmlformats.org/officeDocument/2006/relationships/slide" Target="slides/slide184.xml"/><Relationship Id="rId188" Type="http://schemas.openxmlformats.org/officeDocument/2006/relationships/slide" Target="slides/slide183.xml"/><Relationship Id="rId187" Type="http://schemas.openxmlformats.org/officeDocument/2006/relationships/slide" Target="slides/slide182.xml"/><Relationship Id="rId186" Type="http://schemas.openxmlformats.org/officeDocument/2006/relationships/slide" Target="slides/slide181.xml"/><Relationship Id="rId185" Type="http://schemas.openxmlformats.org/officeDocument/2006/relationships/slide" Target="slides/slide180.xml"/><Relationship Id="rId184" Type="http://schemas.openxmlformats.org/officeDocument/2006/relationships/slide" Target="slides/slide179.xml"/><Relationship Id="rId183" Type="http://schemas.openxmlformats.org/officeDocument/2006/relationships/slide" Target="slides/slide178.xml"/><Relationship Id="rId182" Type="http://schemas.openxmlformats.org/officeDocument/2006/relationships/slide" Target="slides/slide177.xml"/><Relationship Id="rId181" Type="http://schemas.openxmlformats.org/officeDocument/2006/relationships/slide" Target="slides/slide176.xml"/><Relationship Id="rId180" Type="http://schemas.openxmlformats.org/officeDocument/2006/relationships/slide" Target="slides/slide175.xml"/><Relationship Id="rId18" Type="http://schemas.openxmlformats.org/officeDocument/2006/relationships/slide" Target="slides/slide14.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176" Type="http://schemas.openxmlformats.org/officeDocument/2006/relationships/slide" Target="slides/slide171.xml"/><Relationship Id="rId175" Type="http://schemas.openxmlformats.org/officeDocument/2006/relationships/slide" Target="slides/slide170.xml"/><Relationship Id="rId174" Type="http://schemas.openxmlformats.org/officeDocument/2006/relationships/slide" Target="slides/slide169.xml"/><Relationship Id="rId173" Type="http://schemas.openxmlformats.org/officeDocument/2006/relationships/slide" Target="slides/slide168.xml"/><Relationship Id="rId172" Type="http://schemas.openxmlformats.org/officeDocument/2006/relationships/slide" Target="slides/slide167.xml"/><Relationship Id="rId171" Type="http://schemas.openxmlformats.org/officeDocument/2006/relationships/slide" Target="slides/slide166.xml"/><Relationship Id="rId170" Type="http://schemas.openxmlformats.org/officeDocument/2006/relationships/slide" Target="slides/slide165.xml"/><Relationship Id="rId17" Type="http://schemas.openxmlformats.org/officeDocument/2006/relationships/slide" Target="slides/slide13.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165" Type="http://schemas.openxmlformats.org/officeDocument/2006/relationships/slide" Target="slides/slide160.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1" Type="http://schemas.openxmlformats.org/officeDocument/2006/relationships/slide" Target="slides/slide156.xml"/><Relationship Id="rId160" Type="http://schemas.openxmlformats.org/officeDocument/2006/relationships/slide" Target="slides/slide155.xml"/><Relationship Id="rId16" Type="http://schemas.openxmlformats.org/officeDocument/2006/relationships/slide" Target="slides/slide12.xml"/><Relationship Id="rId159" Type="http://schemas.openxmlformats.org/officeDocument/2006/relationships/slide" Target="slides/slide154.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54" Type="http://schemas.openxmlformats.org/officeDocument/2006/relationships/slide" Target="slides/slide149.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0" Type="http://schemas.openxmlformats.org/officeDocument/2006/relationships/slide" Target="slides/slide145.xml"/><Relationship Id="rId15" Type="http://schemas.openxmlformats.org/officeDocument/2006/relationships/slide" Target="slides/slide11.xml"/><Relationship Id="rId149" Type="http://schemas.openxmlformats.org/officeDocument/2006/relationships/slide" Target="slides/slide144.xml"/><Relationship Id="rId148" Type="http://schemas.openxmlformats.org/officeDocument/2006/relationships/slide" Target="slides/slide143.xml"/><Relationship Id="rId147" Type="http://schemas.openxmlformats.org/officeDocument/2006/relationships/slide" Target="slides/slide142.xml"/><Relationship Id="rId146" Type="http://schemas.openxmlformats.org/officeDocument/2006/relationships/slide" Target="slides/slide141.xml"/><Relationship Id="rId145" Type="http://schemas.openxmlformats.org/officeDocument/2006/relationships/slide" Target="slides/slide140.xml"/><Relationship Id="rId144" Type="http://schemas.openxmlformats.org/officeDocument/2006/relationships/slide" Target="slides/slide139.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14" Type="http://schemas.openxmlformats.org/officeDocument/2006/relationships/slide" Target="slides/slide10.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9.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8.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3.wmf"/><Relationship Id="rId1" Type="http://schemas.openxmlformats.org/officeDocument/2006/relationships/image" Target="../media/image19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7.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99.wmf"/><Relationship Id="rId1" Type="http://schemas.openxmlformats.org/officeDocument/2006/relationships/image" Target="../media/image19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28.wmf"/><Relationship Id="rId1" Type="http://schemas.openxmlformats.org/officeDocument/2006/relationships/image" Target="../media/image22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3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6D4B6E-17C4-4D3F-A841-F995D71D4C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A38E3D-20B3-49A4-BD03-EA9D36B45B0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A84437F-96D9-41CB-B33B-E8E413AD97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A84437F-96D9-41CB-B33B-E8E413AD97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离散利率与连续利率之间的相互转化</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A84437F-96D9-41CB-B33B-E8E413AD97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EB49E15-E89D-45B3-98E4-B90F0AC05F73}"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p:txBody>
          <a:bodyPr/>
          <a:lstStyle/>
          <a:p>
            <a:pPr algn="just"/>
            <a:r>
              <a:rPr lang="en-US" altLang="zh-CN"/>
              <a:t>Investment is worth undertaking if it creates value for its owners, I.e. it is worth more than it costs.</a:t>
            </a:r>
            <a:endParaRPr lang="en-US" altLang="zh-CN"/>
          </a:p>
          <a:p>
            <a:pPr algn="just"/>
            <a:endParaRPr lang="en-US" altLang="zh-CN" b="1"/>
          </a:p>
          <a:p>
            <a:pPr algn="just"/>
            <a:r>
              <a:rPr lang="en-US" altLang="zh-CN" b="1"/>
              <a:t>Finding the market value of the investment</a:t>
            </a:r>
            <a:endParaRPr lang="en-US" altLang="zh-CN"/>
          </a:p>
          <a:p>
            <a:pPr lvl="1" algn="just">
              <a:buFontTx/>
              <a:buChar char="•"/>
            </a:pPr>
            <a:r>
              <a:rPr lang="en-US" altLang="zh-CN"/>
              <a:t>Use discounted cash flow valuation (calculate present values).</a:t>
            </a:r>
            <a:endParaRPr lang="en-US" altLang="zh-CN"/>
          </a:p>
          <a:p>
            <a:pPr lvl="1" algn="just">
              <a:buFontTx/>
              <a:buChar char="•"/>
            </a:pPr>
            <a:r>
              <a:rPr lang="en-US" altLang="zh-CN"/>
              <a:t>Compute the present values of future cash flows</a:t>
            </a:r>
            <a:endParaRPr lang="en-US" altLang="zh-CN"/>
          </a:p>
          <a:p>
            <a:pPr algn="just"/>
            <a:endParaRPr lang="en-US" altLang="zh-CN"/>
          </a:p>
          <a:p>
            <a:pPr algn="just"/>
            <a:r>
              <a:rPr lang="en-US" altLang="zh-CN" b="1"/>
              <a:t>Net Present Value Rule (NPV): An investment should be accepted if the net present value is positive and rejected if the net present value is negative.</a:t>
            </a:r>
            <a:endParaRPr lang="en-US" altLang="zh-CN" b="1"/>
          </a:p>
          <a:p>
            <a:pPr algn="just"/>
            <a:r>
              <a:rPr lang="en-US" altLang="zh-CN" b="1"/>
              <a:t>Positive NPV projects create shareholder value.</a:t>
            </a:r>
            <a:endParaRPr lang="en-US" altLang="zh-CN" b="1"/>
          </a:p>
          <a:p>
            <a:endParaRPr lang="en-US" altLang="zh-CN"/>
          </a:p>
          <a:p>
            <a:r>
              <a:rPr lang="en-US" altLang="zh-CN"/>
              <a:t>NPV Rule is the </a:t>
            </a:r>
            <a:r>
              <a:rPr lang="en-US" altLang="zh-CN" b="1" i="1">
                <a:solidFill>
                  <a:schemeClr val="tx2"/>
                </a:solidFill>
              </a:rPr>
              <a:t>best</a:t>
            </a:r>
            <a:r>
              <a:rPr lang="en-US" altLang="zh-CN"/>
              <a:t> decision rule because it leads to decisions that max. current value of investors’ claims on the firm’s cash flows and investor welfare.</a:t>
            </a:r>
            <a:endParaRPr lang="en-US" altLang="zh-CN"/>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C0BDDC-E8BB-4A68-90DA-DB59BE3B6925}"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7586" name="Rectangle 2"/>
          <p:cNvSpPr>
            <a:spLocks noGrp="1" noRot="1" noChangeAspect="1" noChangeArrowheads="1" noTextEdit="1"/>
          </p:cNvSpPr>
          <p:nvPr>
            <p:ph type="sldImg"/>
          </p:nvPr>
        </p:nvSpPr>
        <p:spPr/>
      </p:sp>
      <p:sp>
        <p:nvSpPr>
          <p:cNvPr id="67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358A1D2-D544-42BC-B4E5-A36C698A2C1D}"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8F4B22-122B-4042-8F9D-A60B3DCD473E}"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1138" name="Rectangle 2"/>
          <p:cNvSpPr>
            <a:spLocks noGrp="1" noRot="1" noChangeAspect="1" noChangeArrowheads="1" noTextEdit="1"/>
          </p:cNvSpPr>
          <p:nvPr>
            <p:ph type="sldImg"/>
          </p:nvPr>
        </p:nvSpPr>
        <p:spPr/>
      </p:sp>
      <p:sp>
        <p:nvSpPr>
          <p:cNvPr id="91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84437F-96D9-41CB-B33B-E8E413AD970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C5D7CE-A8B8-41DA-924D-8DCFAF2033CB}" type="slidenum">
              <a:rPr lang="en-CA">
                <a:latin typeface="Calibri" panose="020F0502020204030204" charset="0"/>
              </a:rPr>
            </a:fld>
            <a:endParaRPr lang="en-CA">
              <a:latin typeface="Calibri" panose="020F050202020403020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中国在林业项目备选方案的判定中，引入基准贴现率</a:t>
            </a:r>
            <a:r>
              <a:rPr lang="en-US" altLang="zh-CN" dirty="0"/>
              <a:t>12%</a:t>
            </a:r>
            <a:r>
              <a:rPr lang="zh-CN" altLang="en-US" dirty="0"/>
              <a:t>这个指标已有</a:t>
            </a:r>
            <a:r>
              <a:rPr lang="en-US" altLang="zh-CN" dirty="0"/>
              <a:t>20</a:t>
            </a:r>
            <a:r>
              <a:rPr lang="zh-CN" altLang="en-US" dirty="0"/>
              <a:t>多年历史。但被许多专家认为过高。</a:t>
            </a:r>
            <a:endParaRPr lang="zh-CN" altLang="en-US" dirty="0"/>
          </a:p>
        </p:txBody>
      </p:sp>
      <p:sp>
        <p:nvSpPr>
          <p:cNvPr id="4" name="灯片编号占位符 3"/>
          <p:cNvSpPr>
            <a:spLocks noGrp="1"/>
          </p:cNvSpPr>
          <p:nvPr>
            <p:ph type="sldNum" sz="quarter" idx="10"/>
          </p:nvPr>
        </p:nvSpPr>
        <p:spPr/>
        <p:txBody>
          <a:bodyPr/>
          <a:lstStyle/>
          <a:p>
            <a:fld id="{5A84437F-96D9-41CB-B33B-E8E413AD970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4086E25-90FC-480B-890D-C81DA81E85D4}" type="slidenum">
              <a:rPr lang="en-CA">
                <a:latin typeface="Calibri" panose="020F0502020204030204" charset="0"/>
              </a:rPr>
            </a:fld>
            <a:endParaRPr lang="en-CA">
              <a:latin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648000" y="1242000"/>
            <a:ext cx="7848000" cy="1512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683568" y="1268760"/>
            <a:ext cx="7772400" cy="1470025"/>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251520" y="2708920"/>
            <a:ext cx="7704856" cy="17526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outerShdw blurRad="215900" dist="88900" dir="2700000" sx="101000" sy="101000" algn="tl" rotWithShape="0">
              <a:prstClr val="black">
                <a:alpha val="40000"/>
              </a:prstClr>
            </a:out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8" name="五边形 7"/>
          <p:cNvSpPr/>
          <p:nvPr userDrawn="1"/>
        </p:nvSpPr>
        <p:spPr>
          <a:xfrm>
            <a:off x="-5777" y="0"/>
            <a:ext cx="8538217"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5777" y="0"/>
            <a:ext cx="7890145"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101600" dist="152400" algn="l" rotWithShape="0">
              <a:prstClr val="black">
                <a:alpha val="21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24000">
                <a:schemeClr val="accent3">
                  <a:lumMod val="20000"/>
                  <a:lumOff val="80000"/>
                </a:schemeClr>
              </a:gs>
              <a:gs pos="100000">
                <a:schemeClr val="accent3">
                  <a:lumMod val="60000"/>
                  <a:lumOff val="40000"/>
                </a:schemeClr>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8" name="五边形 7"/>
          <p:cNvSpPr/>
          <p:nvPr userDrawn="1"/>
        </p:nvSpPr>
        <p:spPr>
          <a:xfrm flipH="1">
            <a:off x="0" y="0"/>
            <a:ext cx="9144000"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flipH="1">
            <a:off x="395536" y="0"/>
            <a:ext cx="8748464"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76200" dist="63500" dir="10800000" algn="r" rotWithShape="0">
              <a:prstClr val="black">
                <a:alpha val="40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67000">
                <a:srgbClr val="D8E4BF"/>
              </a:gs>
              <a:gs pos="32000">
                <a:schemeClr val="accent3">
                  <a:lumMod val="60000"/>
                  <a:lumOff val="40000"/>
                </a:schemeClr>
              </a:gs>
              <a:gs pos="100000">
                <a:schemeClr val="bg1"/>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7" name="内容占位符 6"/>
          <p:cNvSpPr>
            <a:spLocks noGrp="1"/>
          </p:cNvSpPr>
          <p:nvPr>
            <p:ph sz="quarter" idx="13"/>
          </p:nvPr>
        </p:nvSpPr>
        <p:spPr>
          <a:xfrm>
            <a:off x="539750" y="1700213"/>
            <a:ext cx="8135938" cy="45370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8" name="标题 1"/>
          <p:cNvSpPr txBox="1"/>
          <p:nvPr userDrawn="1"/>
        </p:nvSpPr>
        <p:spPr>
          <a:xfrm>
            <a:off x="504456" y="296776"/>
            <a:ext cx="8172000" cy="1116000"/>
          </a:xfrm>
          <a:prstGeom prst="snip2DiagRect">
            <a:avLst>
              <a:gd name="adj1" fmla="val 0"/>
              <a:gd name="adj2" fmla="val 38485"/>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8100000" scaled="1"/>
            <a:tileRect/>
          </a:gradFill>
          <a:effectLst>
            <a:softEdge rad="63500"/>
          </a:effectLst>
        </p:spPr>
        <p:txBody>
          <a:bodyPr vert="horz" lIns="91440" tIns="45720" rIns="91440" bIns="45720" rtlCol="0" anchor="ctr">
            <a:normAutofit fontScale="92500" lnSpcReduction="10000"/>
          </a:bodyPr>
          <a:lstStyle>
            <a:lvl1pPr algn="ctr" defTabSz="914400" rtl="0" eaLnBrk="1" latinLnBrk="0" hangingPunct="1">
              <a:spcBef>
                <a:spcPct val="0"/>
              </a:spcBef>
              <a:buNone/>
              <a:defRPr sz="4500" kern="1200" baseline="0">
                <a:solidFill>
                  <a:schemeClr val="accent3">
                    <a:lumMod val="75000"/>
                  </a:schemeClr>
                </a:solidFill>
                <a:effectLst>
                  <a:innerShdw blurRad="63500" dist="50800" dir="18900000">
                    <a:prstClr val="black">
                      <a:alpha val="50000"/>
                    </a:prstClr>
                  </a:innerShdw>
                </a:effectLst>
                <a:latin typeface="Arial Rounded MT Bold" panose="020F0704030504030204" pitchFamily="34" charset="0"/>
                <a:ea typeface="隶书" panose="02010509060101010101" pitchFamily="49" charset="-122"/>
                <a:cs typeface="+mj-cs"/>
              </a:defRPr>
            </a:lvl1pPr>
          </a:lstStyle>
          <a:p>
            <a:r>
              <a:rPr lang="zh-CN" altLang="en-US"/>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539552" y="2132856"/>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421200" y="140530"/>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64400" y="18103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772816"/>
            <a:ext cx="8496944" cy="460851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421200" y="116632"/>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57200" y="15727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0" scaled="1"/>
            <a:tileRect/>
          </a:gradFill>
          <a:effectLst>
            <a:innerShdw blurRad="63500" dist="50800" dir="13500000">
              <a:prstClr val="black">
                <a:alpha val="50000"/>
              </a:prstClr>
            </a:inn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499992" y="1567333"/>
            <a:ext cx="4038600" cy="4525963"/>
          </a:xfrm>
          <a:gradFill>
            <a:gsLst>
              <a:gs pos="0">
                <a:schemeClr val="accent3">
                  <a:lumMod val="60000"/>
                  <a:lumOff val="40000"/>
                </a:schemeClr>
              </a:gs>
              <a:gs pos="100000">
                <a:schemeClr val="accent3">
                  <a:lumMod val="20000"/>
                  <a:lumOff val="80000"/>
                </a:schemeClr>
              </a:gs>
              <a:gs pos="100000">
                <a:schemeClr val="accent3">
                  <a:lumMod val="40000"/>
                  <a:lumOff val="60000"/>
                </a:schemeClr>
              </a:gs>
            </a:gsLst>
            <a:lin ang="10800000" scaled="0"/>
          </a:gradFill>
          <a:effectLst>
            <a:outerShdw blurRad="127000" dist="88900" dir="2700000" sx="101000" sy="101000" algn="tl" rotWithShape="0">
              <a:prstClr val="black">
                <a:alpha val="40000"/>
              </a:prstClr>
            </a:out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1196752"/>
            <a:ext cx="8316416" cy="5661248"/>
          </a:xfrm>
          <a:gradFill flip="none" rotWithShape="1">
            <a:gsLst>
              <a:gs pos="0">
                <a:schemeClr val="accent3">
                  <a:lumMod val="40000"/>
                  <a:lumOff val="60000"/>
                </a:schemeClr>
              </a:gs>
              <a:gs pos="50000">
                <a:schemeClr val="accent3">
                  <a:lumMod val="60000"/>
                  <a:lumOff val="4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
        <p:nvSpPr>
          <p:cNvPr id="8" name="直角三角形 7"/>
          <p:cNvSpPr/>
          <p:nvPr userDrawn="1"/>
        </p:nvSpPr>
        <p:spPr>
          <a:xfrm rot="5400000">
            <a:off x="8262000" y="278656"/>
            <a:ext cx="828000" cy="936000"/>
          </a:xfrm>
          <a:prstGeom prst="rtTriangle">
            <a:avLst/>
          </a:prstGeom>
          <a:solidFill>
            <a:schemeClr val="bg2">
              <a:lumMod val="50000"/>
            </a:schemeClr>
          </a:solidFill>
          <a:ln w="3175">
            <a:solidFill>
              <a:schemeClr val="tx1"/>
            </a:solidFill>
            <a:prstDash val="sysDot"/>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0" y="-1"/>
            <a:ext cx="8208000" cy="1196751"/>
          </a:xfrm>
          <a:gradFill flip="none" rotWithShape="1">
            <a:gsLst>
              <a:gs pos="0">
                <a:srgbClr val="C6D89F"/>
              </a:gs>
              <a:gs pos="50000">
                <a:schemeClr val="accent3">
                  <a:lumMod val="60000"/>
                  <a:lumOff val="40000"/>
                </a:schemeClr>
              </a:gs>
              <a:gs pos="100000">
                <a:schemeClr val="accent3">
                  <a:lumMod val="20000"/>
                  <a:lumOff val="80000"/>
                </a:schemeClr>
              </a:gs>
            </a:gsLst>
            <a:lin ang="5400000" scaled="0"/>
            <a:tileRect/>
          </a:gradFill>
          <a:effectLst>
            <a:outerShdw blurRad="50800" dist="38100" algn="l" rotWithShape="0">
              <a:prstClr val="black">
                <a:alpha val="40000"/>
              </a:prstClr>
            </a:outerShdw>
          </a:effectLst>
        </p:spPr>
        <p:txBody>
          <a:bodyPr anchor="b"/>
          <a:lstStyle>
            <a:lvl1pPr>
              <a:defRPr sz="4800"/>
            </a:lvl1pPr>
          </a:lstStyle>
          <a:p>
            <a:r>
              <a:rPr lang="zh-CN" altLang="en-US"/>
              <a:t>单击此处编辑母版标题样式</a:t>
            </a:r>
            <a:endParaRPr lang="en-US" dirty="0"/>
          </a:p>
        </p:txBody>
      </p:sp>
      <p:sp>
        <p:nvSpPr>
          <p:cNvPr id="9" name="直角三角形 8"/>
          <p:cNvSpPr/>
          <p:nvPr userDrawn="1"/>
        </p:nvSpPr>
        <p:spPr>
          <a:xfrm rot="16200000">
            <a:off x="8243955" y="296703"/>
            <a:ext cx="864096" cy="935999"/>
          </a:xfrm>
          <a:prstGeom prst="rtTriangle">
            <a:avLst/>
          </a:prstGeom>
          <a:solidFill>
            <a:schemeClr val="bg2">
              <a:lumMod val="40000"/>
              <a:lumOff val="60000"/>
              <a:alpha val="81000"/>
            </a:schemeClr>
          </a:soli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8" name="直角三角形 7"/>
          <p:cNvSpPr/>
          <p:nvPr userDrawn="1"/>
        </p:nvSpPr>
        <p:spPr>
          <a:xfrm rot="10800000" flipV="1">
            <a:off x="611559" y="3284984"/>
            <a:ext cx="386455" cy="1368152"/>
          </a:xfrm>
          <a:prstGeom prst="rtTriangle">
            <a:avLst/>
          </a:prstGeom>
          <a:solidFill>
            <a:schemeClr val="bg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1009442" y="3307355"/>
            <a:ext cx="7117180" cy="1470025"/>
          </a:xfrm>
          <a:gradFill>
            <a:gsLst>
              <a:gs pos="0">
                <a:schemeClr val="accent1">
                  <a:lumMod val="5000"/>
                  <a:lumOff val="95000"/>
                </a:schemeClr>
              </a:gs>
              <a:gs pos="74000">
                <a:schemeClr val="accent3">
                  <a:lumMod val="60000"/>
                  <a:lumOff val="40000"/>
                </a:schemeClr>
              </a:gs>
              <a:gs pos="83000">
                <a:schemeClr val="accent3">
                  <a:lumMod val="60000"/>
                  <a:lumOff val="40000"/>
                </a:schemeClr>
              </a:gs>
              <a:gs pos="100000">
                <a:schemeClr val="accent3">
                  <a:lumMod val="40000"/>
                  <a:lumOff val="60000"/>
                </a:schemeClr>
              </a:gs>
            </a:gsLst>
            <a:lin ang="5400000" scaled="1"/>
          </a:gradFill>
          <a:ln>
            <a:noFill/>
          </a:ln>
          <a:effectLst>
            <a:outerShdw blurRad="50800" dist="38100" dir="13500000" algn="br" rotWithShape="0">
              <a:prstClr val="black">
                <a:alpha val="40000"/>
              </a:prstClr>
            </a:outerShdw>
          </a:effectLst>
        </p:spPr>
        <p:txBody>
          <a:bodyPr anchor="b"/>
          <a:lstStyle>
            <a:lvl1pPr>
              <a:defRPr sz="4800"/>
            </a:lvl1pPr>
          </a:lstStyle>
          <a:p>
            <a:r>
              <a:rPr lang="zh-CN" altLang="en-US"/>
              <a:t>单击此处编辑母版标题样式</a:t>
            </a:r>
            <a:endParaRPr lang="en-US"/>
          </a:p>
        </p:txBody>
      </p:sp>
      <p:sp>
        <p:nvSpPr>
          <p:cNvPr id="4" name="Date Placeholder 3"/>
          <p:cNvSpPr>
            <a:spLocks noGrp="1"/>
          </p:cNvSpPr>
          <p:nvPr>
            <p:ph type="dt" sz="half" idx="10"/>
          </p:nvPr>
        </p:nvSpPr>
        <p:spPr/>
        <p:txBody>
          <a:bodyPr/>
          <a:lstStyle/>
          <a:p>
            <a:fld id="{5B036AE0-00FE-4C40-AFBE-87ED2397250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0549BDF-C376-4D55-90B5-443E1E5AAC83}"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0"/>
            <a:ext cx="8316416" cy="6858000"/>
          </a:xfrm>
          <a:gradFill flip="none" rotWithShape="1">
            <a:gsLst>
              <a:gs pos="0">
                <a:schemeClr val="accent3">
                  <a:lumMod val="40000"/>
                  <a:lumOff val="60000"/>
                </a:schemeClr>
              </a:gs>
              <a:gs pos="50000">
                <a:schemeClr val="accent3">
                  <a:lumMod val="40000"/>
                  <a:lumOff val="6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13" name="矩形 12"/>
          <p:cNvSpPr/>
          <p:nvPr userDrawn="1"/>
        </p:nvSpPr>
        <p:spPr>
          <a:xfrm>
            <a:off x="2810014" y="1268783"/>
            <a:ext cx="3634194"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ntent Placeholder 2"/>
          <p:cNvSpPr>
            <a:spLocks noGrp="1"/>
          </p:cNvSpPr>
          <p:nvPr>
            <p:ph idx="13"/>
          </p:nvPr>
        </p:nvSpPr>
        <p:spPr>
          <a:xfrm>
            <a:off x="-168" y="1485384"/>
            <a:ext cx="3060000" cy="5400000"/>
          </a:xfrm>
          <a:solidFill>
            <a:schemeClr val="accent3">
              <a:lumMod val="75000"/>
              <a:alpha val="48000"/>
            </a:schemeClr>
          </a:solidFill>
          <a:effectLst>
            <a:outerShdw blurRad="50800" dist="38100" dir="2700000" algn="tl" rotWithShape="0">
              <a:prstClr val="black">
                <a:alpha val="40000"/>
              </a:prstClr>
            </a:outerShdw>
          </a:effectLst>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0" y="-30651"/>
            <a:ext cx="9144000" cy="1155396"/>
          </a:xfrm>
          <a:solidFill>
            <a:schemeClr val="accent3">
              <a:lumMod val="60000"/>
              <a:lumOff val="4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3" name="Content Placeholder 2"/>
          <p:cNvSpPr>
            <a:spLocks noGrp="1"/>
          </p:cNvSpPr>
          <p:nvPr>
            <p:ph idx="1"/>
          </p:nvPr>
        </p:nvSpPr>
        <p:spPr>
          <a:xfrm>
            <a:off x="3059832" y="1484784"/>
            <a:ext cx="3060000" cy="5400600"/>
          </a:xfrm>
          <a:solidFill>
            <a:schemeClr val="accent3">
              <a:lumMod val="75000"/>
              <a:alpha val="48000"/>
            </a:schemeClr>
          </a:solidFill>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6156176" y="1484784"/>
            <a:ext cx="2988000"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4"/>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6156208" y="1268784"/>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userDrawn="1"/>
        </p:nvSpPr>
        <p:spPr>
          <a:xfrm rot="10800000" flipH="1" flipV="1">
            <a:off x="2810014" y="1268783"/>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dirty="0"/>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3" name="Content Placeholder 2"/>
          <p:cNvSpPr>
            <a:spLocks noGrp="1"/>
          </p:cNvSpPr>
          <p:nvPr>
            <p:ph idx="1"/>
          </p:nvPr>
        </p:nvSpPr>
        <p:spPr>
          <a:xfrm>
            <a:off x="0" y="1484784"/>
            <a:ext cx="9144000" cy="5393102"/>
          </a:xfrm>
          <a:solidFill>
            <a:schemeClr val="accent3">
              <a:lumMod val="75000"/>
              <a:alpha val="48000"/>
            </a:schemeClr>
          </a:solidFill>
          <a:effectLst>
            <a:outerShdw blurRad="50800" dist="38100" dir="16200000" rotWithShape="0">
              <a:prstClr val="black">
                <a:alpha val="40000"/>
              </a:prstClr>
            </a:outerShdw>
          </a:effectLst>
        </p:spPr>
        <p:txBody>
          <a:bodyPr>
            <a:noAutofit/>
          </a:bodyPr>
          <a:lstStyle>
            <a:lvl1pPr marL="342900" indent="-342900">
              <a:buFontTx/>
              <a:buBlip>
                <a:blip r:embed="rId2"/>
              </a:buBlip>
              <a:defRPr sz="3600"/>
            </a:lvl1pPr>
            <a:lvl2pPr marL="971550" indent="-514350">
              <a:buFontTx/>
              <a:buBlip>
                <a:blip r:embed="rId3"/>
              </a:buBlip>
              <a:defRPr sz="3200"/>
            </a:lvl2pPr>
            <a:lvl3pPr marL="1143000" indent="-228600">
              <a:buFontTx/>
              <a:buBlip>
                <a:blip r:embed="rId4"/>
              </a:buBlip>
              <a:defRPr sz="2800"/>
            </a:lvl3pPr>
            <a:lvl4pPr marL="1600200" indent="-228600">
              <a:buFontTx/>
              <a:buBlip>
                <a:blip r:embed="rId5"/>
              </a:buBlip>
              <a:defRPr sz="2400"/>
            </a:lvl4pPr>
            <a:lvl5pPr marL="2057400" indent="-228600">
              <a:buFontTx/>
              <a:buBlip>
                <a:blip r:embed="rId4"/>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13" name="矩形 12"/>
          <p:cNvSpPr/>
          <p:nvPr userDrawn="1"/>
        </p:nvSpPr>
        <p:spPr>
          <a:xfrm>
            <a:off x="0" y="1268783"/>
            <a:ext cx="4890159"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a:xfrm>
            <a:off x="0" y="-30651"/>
            <a:ext cx="9144000" cy="1155396"/>
          </a:xfrm>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a:t>单击此处编辑母版标题样式</a:t>
            </a:r>
            <a:endParaRPr lang="en-US" dirty="0"/>
          </a:p>
        </p:txBody>
      </p:sp>
      <p:sp>
        <p:nvSpPr>
          <p:cNvPr id="3" name="Content Placeholder 2"/>
          <p:cNvSpPr>
            <a:spLocks noGrp="1"/>
          </p:cNvSpPr>
          <p:nvPr>
            <p:ph idx="1"/>
          </p:nvPr>
        </p:nvSpPr>
        <p:spPr>
          <a:xfrm>
            <a:off x="0" y="1484784"/>
            <a:ext cx="4644008" cy="5400600"/>
          </a:xfrm>
          <a:solidFill>
            <a:schemeClr val="accent3">
              <a:lumMod val="75000"/>
              <a:alpha val="48000"/>
            </a:schemeClr>
          </a:solidFill>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671611" y="1484784"/>
            <a:ext cx="4472565"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4671611" y="1268783"/>
            <a:ext cx="218548"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10" y="6492875"/>
            <a:ext cx="3988796" cy="365125"/>
          </a:xfrm>
        </p:spPr>
        <p:txBody>
          <a:bodyPr/>
          <a:lstStyle/>
          <a:p>
            <a:endParaRPr lang="zh-CN" altLang="en-US"/>
          </a:p>
        </p:txBody>
      </p:sp>
      <p:sp>
        <p:nvSpPr>
          <p:cNvPr id="16" name="Slide Number Placeholder 5"/>
          <p:cNvSpPr txBox="1"/>
          <p:nvPr userDrawn="1"/>
        </p:nvSpPr>
        <p:spPr>
          <a:xfrm>
            <a:off x="0" y="6512761"/>
            <a:ext cx="611559"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788024" y="1269384"/>
            <a:ext cx="4356152" cy="5616000"/>
          </a:xfrm>
          <a:solidFill>
            <a:schemeClr val="accent3">
              <a:lumMod val="60000"/>
              <a:lumOff val="40000"/>
              <a:alpha val="48000"/>
            </a:schemeClr>
          </a:solidFill>
          <a:effectLst/>
        </p:spPr>
        <p:txBody>
          <a:bodyPr>
            <a:normAutofit/>
          </a:bodyPr>
          <a:lstStyle>
            <a:lvl1pPr marL="342900" indent="-342900">
              <a:buFontTx/>
              <a:buBlip>
                <a:blip r:embed="rId2"/>
              </a:buBlip>
              <a:defRPr sz="3600"/>
            </a:lvl1pPr>
            <a:lvl2pPr marL="742950" indent="-285750">
              <a:buFontTx/>
              <a:buBlip>
                <a:blip r:embed="rId2"/>
              </a:buBlip>
              <a:defRPr sz="3200"/>
            </a:lvl2pPr>
            <a:lvl3pPr marL="1143000" indent="-228600">
              <a:buFontTx/>
              <a:buBlip>
                <a:blip r:embed="rId2"/>
              </a:buBlip>
              <a:defRPr sz="2800"/>
            </a:lvl3pPr>
            <a:lvl4pPr marL="1600200" indent="-228600">
              <a:buFontTx/>
              <a:buBlip>
                <a:blip r:embed="rId2"/>
              </a:buBlip>
              <a:defRPr sz="2400"/>
            </a:lvl4pPr>
            <a:lvl5pPr marL="2057400" indent="-228600">
              <a:buFontTx/>
              <a:buBlip>
                <a:blip r:embed="rId2"/>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H="1" flipV="1">
            <a:off x="4590935" y="1268783"/>
            <a:ext cx="197089"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12" y="6512760"/>
            <a:ext cx="755564"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18" name="直角三角形 17"/>
          <p:cNvSpPr/>
          <p:nvPr userDrawn="1"/>
        </p:nvSpPr>
        <p:spPr>
          <a:xfrm rot="10800000">
            <a:off x="4590935" y="1268781"/>
            <a:ext cx="197045" cy="216002"/>
          </a:xfrm>
          <a:prstGeom prst="rtTriangle">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12" y="1492282"/>
            <a:ext cx="4788012" cy="5393102"/>
          </a:xfrm>
          <a:gradFill>
            <a:gsLst>
              <a:gs pos="0">
                <a:schemeClr val="accent3">
                  <a:lumMod val="60000"/>
                  <a:lumOff val="40000"/>
                </a:schemeClr>
              </a:gs>
              <a:gs pos="44000">
                <a:schemeClr val="accent3">
                  <a:lumMod val="40000"/>
                  <a:lumOff val="60000"/>
                </a:schemeClr>
              </a:gs>
              <a:gs pos="100000">
                <a:schemeClr val="bg1"/>
              </a:gs>
            </a:gsLst>
            <a:lin ang="18900000" scaled="1"/>
          </a:gradFill>
          <a:effectLst>
            <a:outerShdw blurRad="50800" dist="38100" dir="16200000" rotWithShape="0">
              <a:prstClr val="black">
                <a:alpha val="40000"/>
              </a:prstClr>
            </a:outerShdw>
          </a:effectLst>
        </p:spPr>
        <p:txBody>
          <a:bodyPr>
            <a:noAutofit/>
          </a:bodyPr>
          <a:lstStyle>
            <a:lvl1pPr marL="342900" indent="-342900">
              <a:buFontTx/>
              <a:buBlip>
                <a:blip r:embed="rId3"/>
              </a:buBlip>
              <a:defRPr sz="3600"/>
            </a:lvl1pPr>
            <a:lvl2pPr marL="742950" indent="-285750">
              <a:buFontTx/>
              <a:buBlip>
                <a:blip r:embed="rId3"/>
              </a:buBlip>
              <a:defRPr sz="3200"/>
            </a:lvl2pPr>
            <a:lvl3pPr marL="1143000" indent="-228600">
              <a:buFontTx/>
              <a:buBlip>
                <a:blip r:embed="rId3"/>
              </a:buBlip>
              <a:defRPr sz="2800"/>
            </a:lvl3pPr>
            <a:lvl4pPr marL="1600200" indent="-228600">
              <a:buFontTx/>
              <a:buBlip>
                <a:blip r:embed="rId3"/>
              </a:buBlip>
              <a:defRPr sz="2400"/>
            </a:lvl4pPr>
            <a:lvl5pPr marL="2057400" indent="-228600">
              <a:buFontTx/>
              <a:buBlip>
                <a:blip r:embed="rId3"/>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内容与标题">
    <p:spTree>
      <p:nvGrpSpPr>
        <p:cNvPr id="1" name=""/>
        <p:cNvGrpSpPr/>
        <p:nvPr/>
      </p:nvGrpSpPr>
      <p:grpSpPr>
        <a:xfrm>
          <a:off x="0" y="0"/>
          <a:ext cx="0" cy="0"/>
          <a:chOff x="0" y="0"/>
          <a:chExt cx="0" cy="0"/>
        </a:xfrm>
      </p:grpSpPr>
      <p:sp>
        <p:nvSpPr>
          <p:cNvPr id="13" name="矩形 12"/>
          <p:cNvSpPr/>
          <p:nvPr userDrawn="1"/>
        </p:nvSpPr>
        <p:spPr>
          <a:xfrm>
            <a:off x="0" y="1268783"/>
            <a:ext cx="9144000" cy="216000"/>
          </a:xfrm>
          <a:prstGeom prst="rect">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 name="Title 1"/>
          <p:cNvSpPr>
            <a:spLocks noGrp="1"/>
          </p:cNvSpPr>
          <p:nvPr>
            <p:ph type="title"/>
          </p:nvPr>
        </p:nvSpPr>
        <p:spPr>
          <a:xfrm>
            <a:off x="0" y="-30651"/>
            <a:ext cx="9144000" cy="1155396"/>
          </a:xfrm>
          <a:solidFill>
            <a:schemeClr val="accent3">
              <a:lumMod val="20000"/>
              <a:lumOff val="8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dirty="0"/>
              <a:t>单击此处编辑母版标题样式</a:t>
            </a:r>
            <a:endParaRPr lang="en-US" dirty="0"/>
          </a:p>
        </p:txBody>
      </p:sp>
      <p:sp>
        <p:nvSpPr>
          <p:cNvPr id="3" name="Content Placeholder 2"/>
          <p:cNvSpPr>
            <a:spLocks noGrp="1"/>
          </p:cNvSpPr>
          <p:nvPr>
            <p:ph idx="1"/>
          </p:nvPr>
        </p:nvSpPr>
        <p:spPr>
          <a:xfrm>
            <a:off x="0" y="1484784"/>
            <a:ext cx="9144000" cy="5400600"/>
          </a:xfrm>
          <a:gradFill>
            <a:gsLst>
              <a:gs pos="0">
                <a:schemeClr val="accent3">
                  <a:lumMod val="20000"/>
                  <a:lumOff val="80000"/>
                </a:schemeClr>
              </a:gs>
              <a:gs pos="80000">
                <a:schemeClr val="accent3">
                  <a:lumMod val="40000"/>
                  <a:lumOff val="60000"/>
                </a:schemeClr>
              </a:gs>
              <a:gs pos="100000">
                <a:schemeClr val="accent3">
                  <a:lumMod val="60000"/>
                  <a:lumOff val="40000"/>
                </a:schemeClr>
              </a:gs>
            </a:gsLst>
            <a:lin ang="16200000" scaled="0"/>
          </a:gradFill>
        </p:spPr>
        <p:txBody>
          <a:bodyPr>
            <a:normAutofit/>
          </a:bodyPr>
          <a:lstStyle>
            <a:lvl1pPr marL="342900" indent="-342900">
              <a:buFontTx/>
              <a:buBlip>
                <a:blip r:embed="rId2"/>
              </a:buBlip>
              <a:defRPr sz="4800"/>
            </a:lvl1pPr>
            <a:lvl2pPr marL="742950" indent="-285750">
              <a:buFontTx/>
              <a:buBlip>
                <a:blip r:embed="rId2"/>
              </a:buBlip>
              <a:defRPr sz="4400"/>
            </a:lvl2pPr>
            <a:lvl3pPr marL="1143000" indent="-228600">
              <a:buFontTx/>
              <a:buBlip>
                <a:blip r:embed="rId2"/>
              </a:buBlip>
              <a:defRPr sz="4000"/>
            </a:lvl3pPr>
            <a:lvl4pPr marL="1600200" indent="-228600">
              <a:buFontTx/>
              <a:buBlip>
                <a:blip r:embed="rId2"/>
              </a:buBlip>
              <a:defRPr sz="3600"/>
            </a:lvl4pPr>
            <a:lvl5pPr marL="2057400" indent="-228600">
              <a:buFontTx/>
              <a:buBlip>
                <a:blip r:embed="rId2"/>
              </a:buBlip>
              <a:defRPr sz="36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mp; Listing - 2 columns">
    <p:spTree>
      <p:nvGrpSpPr>
        <p:cNvPr id="1" name=""/>
        <p:cNvGrpSpPr/>
        <p:nvPr/>
      </p:nvGrpSpPr>
      <p:grpSpPr>
        <a:xfrm>
          <a:off x="0" y="0"/>
          <a:ext cx="0" cy="0"/>
          <a:chOff x="0" y="0"/>
          <a:chExt cx="0" cy="0"/>
        </a:xfrm>
      </p:grpSpPr>
      <p:sp>
        <p:nvSpPr>
          <p:cNvPr id="68" name="Shape 68"/>
          <p:cNvSpPr>
            <a:spLocks noGrp="1"/>
          </p:cNvSpPr>
          <p:nvPr>
            <p:ph type="title" hasCustomPrompt="1"/>
          </p:nvPr>
        </p:nvSpPr>
        <p:spPr>
          <a:xfrm>
            <a:off x="892969" y="178594"/>
            <a:ext cx="7358063" cy="1714500"/>
          </a:xfrm>
          <a:prstGeom prst="rect">
            <a:avLst/>
          </a:prstGeom>
        </p:spPr>
        <p:txBody>
          <a:bodyPr/>
          <a:lstStyle>
            <a:lvl1pPr>
              <a:defRPr>
                <a:latin typeface="黑体" panose="02010609060101010101" charset="-122"/>
                <a:ea typeface="黑体" panose="02010609060101010101" charset="-122"/>
                <a:cs typeface="+mn-cs"/>
                <a:sym typeface="Euphemia UCAS" panose="020B0503040102020104"/>
              </a:defRPr>
            </a:lvl1pPr>
          </a:lstStyle>
          <a:p>
            <a:pPr>
              <a:defRPr>
                <a:effectLst/>
              </a:defRPr>
            </a:pPr>
            <a:r>
              <a:rPr dirty="0" err="1"/>
              <a:t>标题文本</a:t>
            </a:r>
            <a:endParaRPr dirty="0"/>
          </a:p>
        </p:txBody>
      </p:sp>
      <p:sp>
        <p:nvSpPr>
          <p:cNvPr id="69" name="Shape 69"/>
          <p:cNvSpPr>
            <a:spLocks noGrp="1"/>
          </p:cNvSpPr>
          <p:nvPr>
            <p:ph type="body" idx="1" hasCustomPrompt="1"/>
          </p:nvPr>
        </p:nvSpPr>
        <p:spPr>
          <a:xfrm>
            <a:off x="892969" y="1946672"/>
            <a:ext cx="7358063" cy="4018359"/>
          </a:xfrm>
          <a:prstGeom prst="rect">
            <a:avLst/>
          </a:prstGeom>
        </p:spPr>
        <p:txBody>
          <a:bodyPr numCol="2" spcCol="523240"/>
          <a:lstStyle>
            <a:lvl1pPr>
              <a:defRPr>
                <a:latin typeface="黑体" panose="02010609060101010101" charset="-122"/>
                <a:ea typeface="黑体" panose="02010609060101010101" charset="-122"/>
                <a:cs typeface="黑体" panose="02010609060101010101" charset="-122"/>
                <a:sym typeface="Arial Rounded MT Bold" panose="020F0704030504030204"/>
              </a:defRPr>
            </a:lvl1pPr>
            <a:lvl2pPr>
              <a:defRPr>
                <a:latin typeface="黑体" panose="02010609060101010101" charset="-122"/>
                <a:ea typeface="黑体" panose="02010609060101010101" charset="-122"/>
                <a:cs typeface="黑体" panose="02010609060101010101" charset="-122"/>
                <a:sym typeface="Arial Rounded MT Bold" panose="020F0704030504030204"/>
              </a:defRPr>
            </a:lvl2pPr>
            <a:lvl3pPr>
              <a:defRPr>
                <a:latin typeface="黑体" panose="02010609060101010101" charset="-122"/>
                <a:ea typeface="黑体" panose="02010609060101010101" charset="-122"/>
                <a:cs typeface="黑体" panose="02010609060101010101" charset="-122"/>
                <a:sym typeface="Arial Rounded MT Bold" panose="020F0704030504030204"/>
              </a:defRPr>
            </a:lvl3pPr>
            <a:lvl4pPr>
              <a:defRPr>
                <a:latin typeface="黑体" panose="02010609060101010101" charset="-122"/>
                <a:ea typeface="黑体" panose="02010609060101010101" charset="-122"/>
                <a:cs typeface="黑体" panose="02010609060101010101" charset="-122"/>
                <a:sym typeface="Arial Rounded MT Bold" panose="020F0704030504030204"/>
              </a:defRPr>
            </a:lvl4pPr>
            <a:lvl5pPr>
              <a:defRPr>
                <a:latin typeface="黑体" panose="02010609060101010101" charset="-122"/>
                <a:ea typeface="黑体" panose="02010609060101010101" charset="-122"/>
                <a:cs typeface="黑体" panose="02010609060101010101" charset="-122"/>
                <a:sym typeface="Arial Rounded MT Bold" panose="020F0704030504030204"/>
              </a:defRPr>
            </a:lvl5p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70" name="Shape 70"/>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052736"/>
          </a:xfrm>
          <a:prstGeom prst="rect">
            <a:avLst/>
          </a:prstGeom>
          <a:noFill/>
          <a:effectLst>
            <a:innerShdw blurRad="63500" dist="50800" dir="2700000">
              <a:prstClr val="black">
                <a:alpha val="50000"/>
              </a:prstClr>
            </a:innerShdw>
          </a:effectLst>
        </p:spPr>
        <p:txBody>
          <a:bodyPr>
            <a:normAutofit/>
          </a:bodyPr>
          <a:lstStyle>
            <a:lvl1pPr>
              <a:defRPr sz="4600" b="1" i="0" baseline="0">
                <a:latin typeface="Arial Rounded MT Bold" panose="020F0704030504030204" pitchFamily="34" charset="0"/>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6329F4CD-EE59-4CB0-8B95-42E99BB03578}"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DE5A08C-0608-464C-98AE-A00301976AD9}" type="slidenum">
              <a:rPr lang="zh-CN" altLang="en-US" smtClean="0">
                <a:solidFill>
                  <a:prstClr val="black">
                    <a:tint val="75000"/>
                  </a:prstClr>
                </a:solidFill>
              </a:rPr>
            </a:fld>
            <a:endParaRPr lang="zh-CN" altLang="en-US">
              <a:solidFill>
                <a:prstClr val="black">
                  <a:tint val="75000"/>
                </a:prstClr>
              </a:solidFill>
            </a:endParaRPr>
          </a:p>
        </p:txBody>
      </p:sp>
      <p:sp>
        <p:nvSpPr>
          <p:cNvPr id="10" name="圆角矩形 9"/>
          <p:cNvSpPr/>
          <p:nvPr userDrawn="1"/>
        </p:nvSpPr>
        <p:spPr>
          <a:xfrm>
            <a:off x="323528" y="1700808"/>
            <a:ext cx="8640960" cy="4608512"/>
          </a:xfrm>
          <a:prstGeom prst="roundRect">
            <a:avLst/>
          </a:prstGeom>
          <a:gradFill>
            <a:gsLst>
              <a:gs pos="0">
                <a:schemeClr val="bg1">
                  <a:lumMod val="65000"/>
                </a:schemeClr>
              </a:gs>
              <a:gs pos="50000">
                <a:schemeClr val="bg1">
                  <a:lumMod val="95000"/>
                </a:schemeClr>
              </a:gs>
              <a:gs pos="100000">
                <a:schemeClr val="bg1"/>
              </a:gs>
            </a:gsLst>
            <a:lin ang="17400000" scaled="0"/>
          </a:gradFill>
          <a:ln>
            <a:noFill/>
          </a:ln>
          <a:effectLst>
            <a:outerShdw blurRad="292100" dist="317500" dir="7800000" sx="97000" sy="97000" algn="ctr" rotWithShape="0">
              <a:srgbClr val="00000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1" name="圆角矩形 10"/>
          <p:cNvSpPr/>
          <p:nvPr userDrawn="1"/>
        </p:nvSpPr>
        <p:spPr>
          <a:xfrm>
            <a:off x="342000" y="1717200"/>
            <a:ext cx="8604000" cy="4572000"/>
          </a:xfrm>
          <a:prstGeom prst="roundRect">
            <a:avLst/>
          </a:prstGeom>
          <a:gradFill flip="none" rotWithShape="1">
            <a:gsLst>
              <a:gs pos="0">
                <a:schemeClr val="bg1">
                  <a:lumMod val="65000"/>
                </a:schemeClr>
              </a:gs>
              <a:gs pos="50000">
                <a:schemeClr val="bg1">
                  <a:lumMod val="95000"/>
                </a:schemeClr>
              </a:gs>
              <a:gs pos="100000">
                <a:schemeClr val="bg1"/>
              </a:gs>
            </a:gsLst>
            <a:lin ang="81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3" name="内容占位符 12"/>
          <p:cNvSpPr>
            <a:spLocks noGrp="1"/>
          </p:cNvSpPr>
          <p:nvPr>
            <p:ph sz="quarter" idx="13"/>
          </p:nvPr>
        </p:nvSpPr>
        <p:spPr>
          <a:xfrm>
            <a:off x="611560" y="1916832"/>
            <a:ext cx="8064896" cy="4104456"/>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b="100000"/>
            </a:path>
            <a:tileRect t="-100000" r="-100000"/>
          </a:gradFill>
          <a:effectLst>
            <a:innerShdw blurRad="63500" dist="50800" dir="18900000">
              <a:prstClr val="black">
                <a:alpha val="50000"/>
              </a:prstClr>
            </a:innerShdw>
          </a:effectLst>
        </p:spPr>
        <p:txBody>
          <a:bodyPr/>
          <a:lstStyle>
            <a:lvl1pPr marL="342900" indent="-342900">
              <a:buFontTx/>
              <a:buBlip>
                <a:blip r:embed="rId2"/>
              </a:buBlip>
              <a:defRPr/>
            </a:lvl1pPr>
            <a:lvl2pPr marL="742950" indent="-285750">
              <a:buFontTx/>
              <a:buBlip>
                <a:blip r:embed="rId3"/>
              </a:buBlip>
              <a:defRPr/>
            </a:lvl2pPr>
            <a:lvl3pPr marL="1143000" indent="-228600">
              <a:buFontTx/>
              <a:buBlip>
                <a:blip r:embed="rId4"/>
              </a:buBlip>
              <a:defRPr/>
            </a:lvl3pPr>
            <a:lvl4pPr marL="1600200" indent="-228600">
              <a:buFontTx/>
              <a:buBlip>
                <a:blip r:embed="rId5"/>
              </a:buBlip>
              <a:defRPr/>
            </a:lvl4pPr>
            <a:lvl5pPr marL="2057400" indent="-228600">
              <a:buFontTx/>
              <a:buBlip>
                <a:blip r:embed="rId6"/>
              </a:buBlip>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9" name="组合 8"/>
          <p:cNvGrpSpPr/>
          <p:nvPr userDrawn="1"/>
        </p:nvGrpSpPr>
        <p:grpSpPr>
          <a:xfrm>
            <a:off x="7884368" y="-7628"/>
            <a:ext cx="1224000" cy="1060364"/>
            <a:chOff x="7524328" y="260696"/>
            <a:chExt cx="1224000" cy="1060364"/>
          </a:xfrm>
        </p:grpSpPr>
        <p:sp>
          <p:nvSpPr>
            <p:cNvPr id="12" name="椭圆形标注 11"/>
            <p:cNvSpPr/>
            <p:nvPr userDrawn="1"/>
          </p:nvSpPr>
          <p:spPr>
            <a:xfrm>
              <a:off x="7524328" y="260696"/>
              <a:ext cx="1224000" cy="1060364"/>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path path="circle">
                <a:fillToRect t="100000" r="100000"/>
              </a:path>
              <a:tileRect l="-100000" b="-100000"/>
            </a:gradFill>
            <a:ln>
              <a:noFill/>
            </a:ln>
            <a:effectLst>
              <a:outerShdw blurRad="101600" dist="88900" dir="7200000" algn="t"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4" name="椭圆形标注 13"/>
            <p:cNvSpPr/>
            <p:nvPr userDrawn="1"/>
          </p:nvSpPr>
          <p:spPr>
            <a:xfrm>
              <a:off x="7560264" y="296652"/>
              <a:ext cx="1152128" cy="972108"/>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grpSp>
      <p:sp>
        <p:nvSpPr>
          <p:cNvPr id="15" name="文本占位符 11"/>
          <p:cNvSpPr>
            <a:spLocks noGrp="1"/>
          </p:cNvSpPr>
          <p:nvPr>
            <p:ph type="body" sz="quarter" idx="14" hasCustomPrompt="1"/>
          </p:nvPr>
        </p:nvSpPr>
        <p:spPr>
          <a:xfrm>
            <a:off x="8028248" y="108556"/>
            <a:ext cx="914400" cy="914400"/>
          </a:xfrm>
        </p:spPr>
        <p:txBody>
          <a:bodyPr>
            <a:noAutofit/>
          </a:bodyPr>
          <a:lstStyle>
            <a:lvl1pPr marL="0" indent="0">
              <a:buNone/>
              <a:defRPr sz="4800">
                <a:solidFill>
                  <a:srgbClr val="3399FF"/>
                </a:solidFill>
                <a:effectLst>
                  <a:innerShdw blurRad="63500" dist="50800" dir="16200000">
                    <a:prstClr val="black">
                      <a:alpha val="50000"/>
                    </a:prstClr>
                  </a:innerShdw>
                </a:effectLst>
                <a:latin typeface="Cooper Black" panose="0208090404030B020404" pitchFamily="18" charset="0"/>
              </a:defRPr>
            </a:lvl1pPr>
          </a:lstStyle>
          <a:p>
            <a:pPr lvl="0"/>
            <a:r>
              <a:rPr lang="en-US" altLang="zh-CN" dirty="0"/>
              <a:t>01</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648000" y="1242000"/>
            <a:ext cx="7848000" cy="1512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683568" y="1268760"/>
            <a:ext cx="7772400" cy="1470025"/>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251520" y="2708920"/>
            <a:ext cx="7704856" cy="17526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outerShdw blurRad="215900" dist="88900" dir="2700000" sx="101000" sy="101000" algn="tl" rotWithShape="0">
              <a:prstClr val="black">
                <a:alpha val="40000"/>
              </a:prstClr>
            </a:out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8" name="五边形 7"/>
          <p:cNvSpPr/>
          <p:nvPr userDrawn="1"/>
        </p:nvSpPr>
        <p:spPr>
          <a:xfrm>
            <a:off x="-5777" y="0"/>
            <a:ext cx="8538217"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5777" y="0"/>
            <a:ext cx="7890145"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101600" dist="152400" algn="l" rotWithShape="0">
              <a:prstClr val="black">
                <a:alpha val="21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24000">
                <a:schemeClr val="accent3">
                  <a:lumMod val="20000"/>
                  <a:lumOff val="80000"/>
                </a:schemeClr>
              </a:gs>
              <a:gs pos="100000">
                <a:schemeClr val="accent3">
                  <a:lumMod val="60000"/>
                  <a:lumOff val="40000"/>
                </a:schemeClr>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8" name="五边形 7"/>
          <p:cNvSpPr/>
          <p:nvPr userDrawn="1"/>
        </p:nvSpPr>
        <p:spPr>
          <a:xfrm flipH="1">
            <a:off x="0" y="0"/>
            <a:ext cx="9144000"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flipH="1">
            <a:off x="395536" y="0"/>
            <a:ext cx="8748464"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76200" dist="63500" dir="10800000" algn="r" rotWithShape="0">
              <a:prstClr val="black">
                <a:alpha val="40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67000">
                <a:srgbClr val="D8E4BF"/>
              </a:gs>
              <a:gs pos="32000">
                <a:schemeClr val="accent3">
                  <a:lumMod val="60000"/>
                  <a:lumOff val="40000"/>
                </a:schemeClr>
              </a:gs>
              <a:gs pos="100000">
                <a:schemeClr val="bg1"/>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7" name="内容占位符 6"/>
          <p:cNvSpPr>
            <a:spLocks noGrp="1"/>
          </p:cNvSpPr>
          <p:nvPr>
            <p:ph sz="quarter" idx="13"/>
          </p:nvPr>
        </p:nvSpPr>
        <p:spPr>
          <a:xfrm>
            <a:off x="539750" y="1700213"/>
            <a:ext cx="8135938" cy="45370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8" name="标题 1"/>
          <p:cNvSpPr txBox="1"/>
          <p:nvPr userDrawn="1"/>
        </p:nvSpPr>
        <p:spPr>
          <a:xfrm>
            <a:off x="504456" y="296776"/>
            <a:ext cx="8172000" cy="1116000"/>
          </a:xfrm>
          <a:prstGeom prst="snip2DiagRect">
            <a:avLst>
              <a:gd name="adj1" fmla="val 0"/>
              <a:gd name="adj2" fmla="val 38485"/>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8100000" scaled="1"/>
            <a:tileRect/>
          </a:gradFill>
          <a:effectLst>
            <a:softEdge rad="63500"/>
          </a:effectLst>
        </p:spPr>
        <p:txBody>
          <a:bodyPr vert="horz" lIns="91440" tIns="45720" rIns="91440" bIns="45720" rtlCol="0" anchor="ctr">
            <a:normAutofit fontScale="92500" lnSpcReduction="10000"/>
          </a:bodyPr>
          <a:lstStyle>
            <a:lvl1pPr algn="ctr" defTabSz="914400" rtl="0" eaLnBrk="1" latinLnBrk="0" hangingPunct="1">
              <a:spcBef>
                <a:spcPct val="0"/>
              </a:spcBef>
              <a:buNone/>
              <a:defRPr sz="4500" kern="1200" baseline="0">
                <a:solidFill>
                  <a:schemeClr val="accent3">
                    <a:lumMod val="75000"/>
                  </a:schemeClr>
                </a:solidFill>
                <a:effectLst>
                  <a:innerShdw blurRad="63500" dist="50800" dir="18900000">
                    <a:prstClr val="black">
                      <a:alpha val="50000"/>
                    </a:prstClr>
                  </a:innerShdw>
                </a:effectLst>
                <a:latin typeface="Arial Rounded MT Bold" panose="020F0704030504030204" pitchFamily="34" charset="0"/>
                <a:ea typeface="隶书" panose="02010509060101010101" pitchFamily="49" charset="-122"/>
                <a:cs typeface="+mj-cs"/>
              </a:defRPr>
            </a:lvl1p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539552" y="2132856"/>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421200" y="140530"/>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64400" y="18103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772816"/>
            <a:ext cx="8496944" cy="460851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421200" y="116632"/>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57200" y="15727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0" scaled="1"/>
            <a:tileRect/>
          </a:gradFill>
          <a:effectLst>
            <a:innerShdw blurRad="63500" dist="50800" dir="13500000">
              <a:prstClr val="black">
                <a:alpha val="50000"/>
              </a:prstClr>
            </a:inn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499992" y="1567333"/>
            <a:ext cx="4038600" cy="4525963"/>
          </a:xfrm>
          <a:gradFill>
            <a:gsLst>
              <a:gs pos="0">
                <a:schemeClr val="accent3">
                  <a:lumMod val="60000"/>
                  <a:lumOff val="40000"/>
                </a:schemeClr>
              </a:gs>
              <a:gs pos="100000">
                <a:schemeClr val="accent3">
                  <a:lumMod val="20000"/>
                  <a:lumOff val="80000"/>
                </a:schemeClr>
              </a:gs>
              <a:gs pos="100000">
                <a:schemeClr val="accent3">
                  <a:lumMod val="40000"/>
                  <a:lumOff val="60000"/>
                </a:schemeClr>
              </a:gs>
            </a:gsLst>
            <a:lin ang="10800000" scaled="0"/>
          </a:gradFill>
          <a:effectLst>
            <a:outerShdw blurRad="127000" dist="88900" dir="2700000" sx="101000" sy="101000" algn="tl" rotWithShape="0">
              <a:prstClr val="black">
                <a:alpha val="40000"/>
              </a:prstClr>
            </a:out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1196752"/>
            <a:ext cx="8316416" cy="5661248"/>
          </a:xfrm>
          <a:gradFill flip="none" rotWithShape="1">
            <a:gsLst>
              <a:gs pos="0">
                <a:schemeClr val="accent3">
                  <a:lumMod val="40000"/>
                  <a:lumOff val="60000"/>
                </a:schemeClr>
              </a:gs>
              <a:gs pos="50000">
                <a:schemeClr val="accent3">
                  <a:lumMod val="60000"/>
                  <a:lumOff val="4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
        <p:nvSpPr>
          <p:cNvPr id="8" name="直角三角形 7"/>
          <p:cNvSpPr/>
          <p:nvPr userDrawn="1"/>
        </p:nvSpPr>
        <p:spPr>
          <a:xfrm rot="5400000">
            <a:off x="8262000" y="278656"/>
            <a:ext cx="828000" cy="936000"/>
          </a:xfrm>
          <a:prstGeom prst="rtTriangle">
            <a:avLst/>
          </a:prstGeom>
          <a:solidFill>
            <a:schemeClr val="bg2">
              <a:lumMod val="50000"/>
            </a:schemeClr>
          </a:solidFill>
          <a:ln w="3175">
            <a:solidFill>
              <a:schemeClr val="tx1"/>
            </a:solidFill>
            <a:prstDash val="sysDot"/>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0" y="-1"/>
            <a:ext cx="8208000" cy="1196751"/>
          </a:xfrm>
          <a:gradFill flip="none" rotWithShape="1">
            <a:gsLst>
              <a:gs pos="0">
                <a:srgbClr val="C6D89F"/>
              </a:gs>
              <a:gs pos="50000">
                <a:schemeClr val="accent3">
                  <a:lumMod val="60000"/>
                  <a:lumOff val="40000"/>
                </a:schemeClr>
              </a:gs>
              <a:gs pos="100000">
                <a:schemeClr val="accent3">
                  <a:lumMod val="20000"/>
                  <a:lumOff val="80000"/>
                </a:schemeClr>
              </a:gs>
            </a:gsLst>
            <a:lin ang="5400000" scaled="0"/>
            <a:tileRect/>
          </a:gradFill>
          <a:effectLst>
            <a:outerShdw blurRad="50800" dist="38100" algn="l" rotWithShape="0">
              <a:prstClr val="black">
                <a:alpha val="40000"/>
              </a:prstClr>
            </a:outerShdw>
          </a:effectLst>
        </p:spPr>
        <p:txBody>
          <a:bodyPr anchor="b"/>
          <a:lstStyle>
            <a:lvl1pPr>
              <a:defRPr sz="4800"/>
            </a:lvl1pPr>
          </a:lstStyle>
          <a:p>
            <a:r>
              <a:rPr lang="zh-CN" altLang="en-US"/>
              <a:t>单击此处编辑母版标题样式</a:t>
            </a:r>
            <a:endParaRPr lang="en-US" dirty="0"/>
          </a:p>
        </p:txBody>
      </p:sp>
      <p:sp>
        <p:nvSpPr>
          <p:cNvPr id="9" name="直角三角形 8"/>
          <p:cNvSpPr/>
          <p:nvPr userDrawn="1"/>
        </p:nvSpPr>
        <p:spPr>
          <a:xfrm rot="16200000">
            <a:off x="8243955" y="296703"/>
            <a:ext cx="864096" cy="935999"/>
          </a:xfrm>
          <a:prstGeom prst="rtTriangle">
            <a:avLst/>
          </a:prstGeom>
          <a:solidFill>
            <a:schemeClr val="bg2">
              <a:lumMod val="40000"/>
              <a:lumOff val="60000"/>
              <a:alpha val="81000"/>
            </a:schemeClr>
          </a:soli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8" name="直角三角形 7"/>
          <p:cNvSpPr/>
          <p:nvPr userDrawn="1"/>
        </p:nvSpPr>
        <p:spPr>
          <a:xfrm rot="10800000" flipV="1">
            <a:off x="611559" y="3284984"/>
            <a:ext cx="386455" cy="1368152"/>
          </a:xfrm>
          <a:prstGeom prst="rtTriangle">
            <a:avLst/>
          </a:prstGeom>
          <a:solidFill>
            <a:schemeClr val="bg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1009442" y="3307355"/>
            <a:ext cx="7117180" cy="1470025"/>
          </a:xfrm>
          <a:gradFill>
            <a:gsLst>
              <a:gs pos="0">
                <a:schemeClr val="accent1">
                  <a:lumMod val="5000"/>
                  <a:lumOff val="95000"/>
                </a:schemeClr>
              </a:gs>
              <a:gs pos="74000">
                <a:schemeClr val="accent3">
                  <a:lumMod val="60000"/>
                  <a:lumOff val="40000"/>
                </a:schemeClr>
              </a:gs>
              <a:gs pos="83000">
                <a:schemeClr val="accent3">
                  <a:lumMod val="60000"/>
                  <a:lumOff val="40000"/>
                </a:schemeClr>
              </a:gs>
              <a:gs pos="100000">
                <a:schemeClr val="accent3">
                  <a:lumMod val="40000"/>
                  <a:lumOff val="60000"/>
                </a:schemeClr>
              </a:gs>
            </a:gsLst>
            <a:lin ang="5400000" scaled="1"/>
          </a:gradFill>
          <a:ln>
            <a:noFill/>
          </a:ln>
          <a:effectLst>
            <a:outerShdw blurRad="50800" dist="38100" dir="13500000" algn="br" rotWithShape="0">
              <a:prstClr val="black">
                <a:alpha val="40000"/>
              </a:prstClr>
            </a:outerShdw>
          </a:effectLst>
        </p:spPr>
        <p:txBody>
          <a:bodyPr anchor="b"/>
          <a:lstStyle>
            <a:lvl1pPr>
              <a:defRPr sz="4800"/>
            </a:lvl1pPr>
          </a:lstStyle>
          <a:p>
            <a:r>
              <a:rPr lang="zh-CN" altLang="en-US"/>
              <a:t>单击此处编辑母版标题样式</a:t>
            </a:r>
            <a:endParaRPr lang="en-US"/>
          </a:p>
        </p:txBody>
      </p:sp>
      <p:sp>
        <p:nvSpPr>
          <p:cNvPr id="4" name="Date Placeholder 3"/>
          <p:cNvSpPr>
            <a:spLocks noGrp="1"/>
          </p:cNvSpPr>
          <p:nvPr>
            <p:ph type="dt" sz="half" idx="10"/>
          </p:nvPr>
        </p:nvSpPr>
        <p:spPr/>
        <p:txBody>
          <a:bodyPr/>
          <a:lstStyle/>
          <a:p>
            <a:fld id="{5B036AE0-00FE-4C40-AFBE-87ED2397250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0549BDF-C376-4D55-90B5-443E1E5AAC83}"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0"/>
            <a:ext cx="8316416" cy="6858000"/>
          </a:xfrm>
          <a:gradFill flip="none" rotWithShape="1">
            <a:gsLst>
              <a:gs pos="0">
                <a:schemeClr val="accent3">
                  <a:lumMod val="40000"/>
                  <a:lumOff val="60000"/>
                </a:schemeClr>
              </a:gs>
              <a:gs pos="50000">
                <a:schemeClr val="accent3">
                  <a:lumMod val="40000"/>
                  <a:lumOff val="6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13" name="矩形 12"/>
          <p:cNvSpPr/>
          <p:nvPr userDrawn="1"/>
        </p:nvSpPr>
        <p:spPr>
          <a:xfrm>
            <a:off x="2810014" y="1268783"/>
            <a:ext cx="3634194"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ntent Placeholder 2"/>
          <p:cNvSpPr>
            <a:spLocks noGrp="1"/>
          </p:cNvSpPr>
          <p:nvPr>
            <p:ph idx="13"/>
          </p:nvPr>
        </p:nvSpPr>
        <p:spPr>
          <a:xfrm>
            <a:off x="-168" y="1485384"/>
            <a:ext cx="3060000" cy="5400000"/>
          </a:xfrm>
          <a:solidFill>
            <a:schemeClr val="accent3">
              <a:lumMod val="75000"/>
              <a:alpha val="48000"/>
            </a:schemeClr>
          </a:solidFill>
          <a:effectLst>
            <a:outerShdw blurRad="50800" dist="38100" dir="2700000" algn="tl" rotWithShape="0">
              <a:prstClr val="black">
                <a:alpha val="40000"/>
              </a:prstClr>
            </a:outerShdw>
          </a:effectLst>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0" y="-30651"/>
            <a:ext cx="9144000" cy="1155396"/>
          </a:xfrm>
          <a:solidFill>
            <a:schemeClr val="accent3">
              <a:lumMod val="60000"/>
              <a:lumOff val="4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3" name="Content Placeholder 2"/>
          <p:cNvSpPr>
            <a:spLocks noGrp="1"/>
          </p:cNvSpPr>
          <p:nvPr>
            <p:ph idx="1"/>
          </p:nvPr>
        </p:nvSpPr>
        <p:spPr>
          <a:xfrm>
            <a:off x="3059832" y="1484784"/>
            <a:ext cx="3060000" cy="5400600"/>
          </a:xfrm>
          <a:solidFill>
            <a:schemeClr val="accent3">
              <a:lumMod val="75000"/>
              <a:alpha val="48000"/>
            </a:schemeClr>
          </a:solidFill>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6156176" y="1484784"/>
            <a:ext cx="2988000"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4"/>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6156208" y="1268784"/>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userDrawn="1"/>
        </p:nvSpPr>
        <p:spPr>
          <a:xfrm rot="10800000" flipH="1" flipV="1">
            <a:off x="2810014" y="1268783"/>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7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dirty="0"/>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3" name="Content Placeholder 2"/>
          <p:cNvSpPr>
            <a:spLocks noGrp="1"/>
          </p:cNvSpPr>
          <p:nvPr>
            <p:ph idx="1"/>
          </p:nvPr>
        </p:nvSpPr>
        <p:spPr>
          <a:xfrm>
            <a:off x="0" y="1484784"/>
            <a:ext cx="9144000" cy="5393102"/>
          </a:xfrm>
          <a:solidFill>
            <a:schemeClr val="accent3">
              <a:lumMod val="75000"/>
              <a:alpha val="48000"/>
            </a:schemeClr>
          </a:solidFill>
          <a:effectLst>
            <a:outerShdw blurRad="50800" dist="38100" dir="16200000" rotWithShape="0">
              <a:prstClr val="black">
                <a:alpha val="40000"/>
              </a:prstClr>
            </a:outerShdw>
          </a:effectLst>
        </p:spPr>
        <p:txBody>
          <a:bodyPr>
            <a:noAutofit/>
          </a:bodyPr>
          <a:lstStyle>
            <a:lvl1pPr marL="342900" indent="-342900">
              <a:buFontTx/>
              <a:buBlip>
                <a:blip r:embed="rId2"/>
              </a:buBlip>
              <a:defRPr sz="3600"/>
            </a:lvl1pPr>
            <a:lvl2pPr marL="971550" indent="-514350">
              <a:buFontTx/>
              <a:buBlip>
                <a:blip r:embed="rId3"/>
              </a:buBlip>
              <a:defRPr sz="3200"/>
            </a:lvl2pPr>
            <a:lvl3pPr marL="1143000" indent="-228600">
              <a:buFontTx/>
              <a:buBlip>
                <a:blip r:embed="rId4"/>
              </a:buBlip>
              <a:defRPr sz="2800"/>
            </a:lvl3pPr>
            <a:lvl4pPr marL="1600200" indent="-228600">
              <a:buFontTx/>
              <a:buBlip>
                <a:blip r:embed="rId5"/>
              </a:buBlip>
              <a:defRPr sz="2400"/>
            </a:lvl4pPr>
            <a:lvl5pPr marL="2057400" indent="-228600">
              <a:buFontTx/>
              <a:buBlip>
                <a:blip r:embed="rId4"/>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13" name="矩形 12"/>
          <p:cNvSpPr/>
          <p:nvPr userDrawn="1"/>
        </p:nvSpPr>
        <p:spPr>
          <a:xfrm>
            <a:off x="0" y="1268783"/>
            <a:ext cx="4890159"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a:xfrm>
            <a:off x="0" y="-30651"/>
            <a:ext cx="9144000" cy="1155396"/>
          </a:xfrm>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a:t>单击此处编辑母版标题样式</a:t>
            </a:r>
            <a:endParaRPr lang="en-US" dirty="0"/>
          </a:p>
        </p:txBody>
      </p:sp>
      <p:sp>
        <p:nvSpPr>
          <p:cNvPr id="3" name="Content Placeholder 2"/>
          <p:cNvSpPr>
            <a:spLocks noGrp="1"/>
          </p:cNvSpPr>
          <p:nvPr>
            <p:ph idx="1"/>
          </p:nvPr>
        </p:nvSpPr>
        <p:spPr>
          <a:xfrm>
            <a:off x="0" y="1484784"/>
            <a:ext cx="4644008" cy="5400600"/>
          </a:xfrm>
          <a:solidFill>
            <a:schemeClr val="accent3">
              <a:lumMod val="75000"/>
              <a:alpha val="48000"/>
            </a:schemeClr>
          </a:solidFill>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671611" y="1484784"/>
            <a:ext cx="4472565"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4671611" y="1268783"/>
            <a:ext cx="218548"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10" y="6492875"/>
            <a:ext cx="3988796" cy="365125"/>
          </a:xfrm>
        </p:spPr>
        <p:txBody>
          <a:bodyPr/>
          <a:lstStyle/>
          <a:p>
            <a:endParaRPr lang="zh-CN" altLang="en-US"/>
          </a:p>
        </p:txBody>
      </p:sp>
      <p:sp>
        <p:nvSpPr>
          <p:cNvPr id="16" name="Slide Number Placeholder 5"/>
          <p:cNvSpPr txBox="1"/>
          <p:nvPr userDrawn="1"/>
        </p:nvSpPr>
        <p:spPr>
          <a:xfrm>
            <a:off x="0" y="6512761"/>
            <a:ext cx="611559"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788024" y="1269384"/>
            <a:ext cx="4356152" cy="5616000"/>
          </a:xfrm>
          <a:solidFill>
            <a:schemeClr val="accent3">
              <a:lumMod val="60000"/>
              <a:lumOff val="40000"/>
              <a:alpha val="48000"/>
            </a:schemeClr>
          </a:solidFill>
          <a:effectLst/>
        </p:spPr>
        <p:txBody>
          <a:bodyPr>
            <a:normAutofit/>
          </a:bodyPr>
          <a:lstStyle>
            <a:lvl1pPr marL="342900" indent="-342900">
              <a:buFontTx/>
              <a:buBlip>
                <a:blip r:embed="rId2"/>
              </a:buBlip>
              <a:defRPr sz="3600"/>
            </a:lvl1pPr>
            <a:lvl2pPr marL="742950" indent="-285750">
              <a:buFontTx/>
              <a:buBlip>
                <a:blip r:embed="rId2"/>
              </a:buBlip>
              <a:defRPr sz="3200"/>
            </a:lvl2pPr>
            <a:lvl3pPr marL="1143000" indent="-228600">
              <a:buFontTx/>
              <a:buBlip>
                <a:blip r:embed="rId2"/>
              </a:buBlip>
              <a:defRPr sz="2800"/>
            </a:lvl3pPr>
            <a:lvl4pPr marL="1600200" indent="-228600">
              <a:buFontTx/>
              <a:buBlip>
                <a:blip r:embed="rId2"/>
              </a:buBlip>
              <a:defRPr sz="2400"/>
            </a:lvl4pPr>
            <a:lvl5pPr marL="2057400" indent="-228600">
              <a:buFontTx/>
              <a:buBlip>
                <a:blip r:embed="rId2"/>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H="1" flipV="1">
            <a:off x="4590935" y="1268783"/>
            <a:ext cx="197089"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12" y="6512760"/>
            <a:ext cx="755564"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18" name="直角三角形 17"/>
          <p:cNvSpPr/>
          <p:nvPr userDrawn="1"/>
        </p:nvSpPr>
        <p:spPr>
          <a:xfrm rot="10800000">
            <a:off x="4590935" y="1268781"/>
            <a:ext cx="197045" cy="216002"/>
          </a:xfrm>
          <a:prstGeom prst="rtTriangle">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12" y="1492282"/>
            <a:ext cx="4788012" cy="5393102"/>
          </a:xfrm>
          <a:gradFill>
            <a:gsLst>
              <a:gs pos="0">
                <a:schemeClr val="accent3">
                  <a:lumMod val="60000"/>
                  <a:lumOff val="40000"/>
                </a:schemeClr>
              </a:gs>
              <a:gs pos="44000">
                <a:schemeClr val="accent3">
                  <a:lumMod val="40000"/>
                  <a:lumOff val="60000"/>
                </a:schemeClr>
              </a:gs>
              <a:gs pos="100000">
                <a:schemeClr val="bg1"/>
              </a:gs>
            </a:gsLst>
            <a:lin ang="18900000" scaled="1"/>
          </a:gradFill>
          <a:effectLst>
            <a:outerShdw blurRad="50800" dist="38100" dir="16200000" rotWithShape="0">
              <a:prstClr val="black">
                <a:alpha val="40000"/>
              </a:prstClr>
            </a:outerShdw>
          </a:effectLst>
        </p:spPr>
        <p:txBody>
          <a:bodyPr>
            <a:noAutofit/>
          </a:bodyPr>
          <a:lstStyle>
            <a:lvl1pPr marL="342900" indent="-342900">
              <a:buFontTx/>
              <a:buBlip>
                <a:blip r:embed="rId3"/>
              </a:buBlip>
              <a:defRPr sz="3600"/>
            </a:lvl1pPr>
            <a:lvl2pPr marL="742950" indent="-285750">
              <a:buFontTx/>
              <a:buBlip>
                <a:blip r:embed="rId3"/>
              </a:buBlip>
              <a:defRPr sz="3200"/>
            </a:lvl2pPr>
            <a:lvl3pPr marL="1143000" indent="-228600">
              <a:buFontTx/>
              <a:buBlip>
                <a:blip r:embed="rId3"/>
              </a:buBlip>
              <a:defRPr sz="2800"/>
            </a:lvl3pPr>
            <a:lvl4pPr marL="1600200" indent="-228600">
              <a:buFontTx/>
              <a:buBlip>
                <a:blip r:embed="rId3"/>
              </a:buBlip>
              <a:defRPr sz="2400"/>
            </a:lvl4pPr>
            <a:lvl5pPr marL="2057400" indent="-228600">
              <a:buFontTx/>
              <a:buBlip>
                <a:blip r:embed="rId3"/>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_内容与标题">
    <p:spTree>
      <p:nvGrpSpPr>
        <p:cNvPr id="1" name=""/>
        <p:cNvGrpSpPr/>
        <p:nvPr/>
      </p:nvGrpSpPr>
      <p:grpSpPr>
        <a:xfrm>
          <a:off x="0" y="0"/>
          <a:ext cx="0" cy="0"/>
          <a:chOff x="0" y="0"/>
          <a:chExt cx="0" cy="0"/>
        </a:xfrm>
      </p:grpSpPr>
      <p:sp>
        <p:nvSpPr>
          <p:cNvPr id="13" name="矩形 12"/>
          <p:cNvSpPr/>
          <p:nvPr userDrawn="1"/>
        </p:nvSpPr>
        <p:spPr>
          <a:xfrm>
            <a:off x="0" y="1268783"/>
            <a:ext cx="9144000" cy="216000"/>
          </a:xfrm>
          <a:prstGeom prst="rect">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 name="Title 1"/>
          <p:cNvSpPr>
            <a:spLocks noGrp="1"/>
          </p:cNvSpPr>
          <p:nvPr>
            <p:ph type="title"/>
          </p:nvPr>
        </p:nvSpPr>
        <p:spPr>
          <a:xfrm>
            <a:off x="0" y="-30651"/>
            <a:ext cx="9144000" cy="1155396"/>
          </a:xfrm>
          <a:solidFill>
            <a:schemeClr val="accent3">
              <a:lumMod val="20000"/>
              <a:lumOff val="8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dirty="0"/>
              <a:t>单击此处编辑母版标题样式</a:t>
            </a:r>
            <a:endParaRPr lang="en-US" dirty="0"/>
          </a:p>
        </p:txBody>
      </p:sp>
      <p:sp>
        <p:nvSpPr>
          <p:cNvPr id="3" name="Content Placeholder 2"/>
          <p:cNvSpPr>
            <a:spLocks noGrp="1"/>
          </p:cNvSpPr>
          <p:nvPr>
            <p:ph idx="1"/>
          </p:nvPr>
        </p:nvSpPr>
        <p:spPr>
          <a:xfrm>
            <a:off x="0" y="1484784"/>
            <a:ext cx="9144000" cy="5400600"/>
          </a:xfrm>
          <a:gradFill>
            <a:gsLst>
              <a:gs pos="0">
                <a:schemeClr val="accent3">
                  <a:lumMod val="20000"/>
                  <a:lumOff val="80000"/>
                </a:schemeClr>
              </a:gs>
              <a:gs pos="80000">
                <a:schemeClr val="accent3">
                  <a:lumMod val="40000"/>
                  <a:lumOff val="60000"/>
                </a:schemeClr>
              </a:gs>
              <a:gs pos="100000">
                <a:schemeClr val="accent3">
                  <a:lumMod val="60000"/>
                  <a:lumOff val="40000"/>
                </a:schemeClr>
              </a:gs>
            </a:gsLst>
            <a:lin ang="16200000" scaled="0"/>
          </a:gradFill>
        </p:spPr>
        <p:txBody>
          <a:bodyPr>
            <a:normAutofit/>
          </a:bodyPr>
          <a:lstStyle>
            <a:lvl1pPr marL="342900" indent="-342900">
              <a:buFontTx/>
              <a:buBlip>
                <a:blip r:embed="rId2"/>
              </a:buBlip>
              <a:defRPr sz="4800"/>
            </a:lvl1pPr>
            <a:lvl2pPr marL="742950" indent="-285750">
              <a:buFontTx/>
              <a:buBlip>
                <a:blip r:embed="rId2"/>
              </a:buBlip>
              <a:defRPr sz="4400"/>
            </a:lvl2pPr>
            <a:lvl3pPr marL="1143000" indent="-228600">
              <a:buFontTx/>
              <a:buBlip>
                <a:blip r:embed="rId2"/>
              </a:buBlip>
              <a:defRPr sz="4000"/>
            </a:lvl3pPr>
            <a:lvl4pPr marL="1600200" indent="-228600">
              <a:buFontTx/>
              <a:buBlip>
                <a:blip r:embed="rId2"/>
              </a:buBlip>
              <a:defRPr sz="3600"/>
            </a:lvl4pPr>
            <a:lvl5pPr marL="2057400" indent="-228600">
              <a:buFontTx/>
              <a:buBlip>
                <a:blip r:embed="rId2"/>
              </a:buBlip>
              <a:defRPr sz="36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le &amp; Listing - 2 columns">
    <p:spTree>
      <p:nvGrpSpPr>
        <p:cNvPr id="1" name=""/>
        <p:cNvGrpSpPr/>
        <p:nvPr/>
      </p:nvGrpSpPr>
      <p:grpSpPr>
        <a:xfrm>
          <a:off x="0" y="0"/>
          <a:ext cx="0" cy="0"/>
          <a:chOff x="0" y="0"/>
          <a:chExt cx="0" cy="0"/>
        </a:xfrm>
      </p:grpSpPr>
      <p:sp>
        <p:nvSpPr>
          <p:cNvPr id="68" name="Shape 68"/>
          <p:cNvSpPr>
            <a:spLocks noGrp="1"/>
          </p:cNvSpPr>
          <p:nvPr>
            <p:ph type="title" hasCustomPrompt="1"/>
          </p:nvPr>
        </p:nvSpPr>
        <p:spPr>
          <a:xfrm>
            <a:off x="892969" y="178594"/>
            <a:ext cx="7358063" cy="1714500"/>
          </a:xfrm>
          <a:prstGeom prst="rect">
            <a:avLst/>
          </a:prstGeom>
        </p:spPr>
        <p:txBody>
          <a:bodyPr/>
          <a:lstStyle>
            <a:lvl1pPr>
              <a:defRPr>
                <a:latin typeface="黑体" panose="02010609060101010101" charset="-122"/>
                <a:ea typeface="黑体" panose="02010609060101010101" charset="-122"/>
                <a:cs typeface="+mn-cs"/>
                <a:sym typeface="Euphemia UCAS" panose="020B0503040102020104"/>
              </a:defRPr>
            </a:lvl1pPr>
          </a:lstStyle>
          <a:p>
            <a:pPr>
              <a:defRPr>
                <a:effectLst/>
              </a:defRPr>
            </a:pPr>
            <a:r>
              <a:rPr dirty="0" err="1"/>
              <a:t>标题文本</a:t>
            </a:r>
            <a:endParaRPr dirty="0"/>
          </a:p>
        </p:txBody>
      </p:sp>
      <p:sp>
        <p:nvSpPr>
          <p:cNvPr id="69" name="Shape 69"/>
          <p:cNvSpPr>
            <a:spLocks noGrp="1"/>
          </p:cNvSpPr>
          <p:nvPr>
            <p:ph type="body" idx="1" hasCustomPrompt="1"/>
          </p:nvPr>
        </p:nvSpPr>
        <p:spPr>
          <a:xfrm>
            <a:off x="892969" y="1946672"/>
            <a:ext cx="7358063" cy="4018359"/>
          </a:xfrm>
          <a:prstGeom prst="rect">
            <a:avLst/>
          </a:prstGeom>
        </p:spPr>
        <p:txBody>
          <a:bodyPr numCol="2" spcCol="523240"/>
          <a:lstStyle>
            <a:lvl1pPr>
              <a:defRPr>
                <a:latin typeface="黑体" panose="02010609060101010101" charset="-122"/>
                <a:ea typeface="黑体" panose="02010609060101010101" charset="-122"/>
                <a:cs typeface="黑体" panose="02010609060101010101" charset="-122"/>
                <a:sym typeface="Arial Rounded MT Bold" panose="020F0704030504030204"/>
              </a:defRPr>
            </a:lvl1pPr>
            <a:lvl2pPr>
              <a:defRPr>
                <a:latin typeface="黑体" panose="02010609060101010101" charset="-122"/>
                <a:ea typeface="黑体" panose="02010609060101010101" charset="-122"/>
                <a:cs typeface="黑体" panose="02010609060101010101" charset="-122"/>
                <a:sym typeface="Arial Rounded MT Bold" panose="020F0704030504030204"/>
              </a:defRPr>
            </a:lvl2pPr>
            <a:lvl3pPr>
              <a:defRPr>
                <a:latin typeface="黑体" panose="02010609060101010101" charset="-122"/>
                <a:ea typeface="黑体" panose="02010609060101010101" charset="-122"/>
                <a:cs typeface="黑体" panose="02010609060101010101" charset="-122"/>
                <a:sym typeface="Arial Rounded MT Bold" panose="020F0704030504030204"/>
              </a:defRPr>
            </a:lvl3pPr>
            <a:lvl4pPr>
              <a:defRPr>
                <a:latin typeface="黑体" panose="02010609060101010101" charset="-122"/>
                <a:ea typeface="黑体" panose="02010609060101010101" charset="-122"/>
                <a:cs typeface="黑体" panose="02010609060101010101" charset="-122"/>
                <a:sym typeface="Arial Rounded MT Bold" panose="020F0704030504030204"/>
              </a:defRPr>
            </a:lvl4pPr>
            <a:lvl5pPr>
              <a:defRPr>
                <a:latin typeface="黑体" panose="02010609060101010101" charset="-122"/>
                <a:ea typeface="黑体" panose="02010609060101010101" charset="-122"/>
                <a:cs typeface="黑体" panose="02010609060101010101" charset="-122"/>
                <a:sym typeface="Arial Rounded MT Bold" panose="020F0704030504030204"/>
              </a:defRPr>
            </a:lvl5p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70" name="Shape 70"/>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052736"/>
          </a:xfrm>
          <a:prstGeom prst="rect">
            <a:avLst/>
          </a:prstGeom>
          <a:noFill/>
          <a:effectLst>
            <a:innerShdw blurRad="63500" dist="50800" dir="2700000">
              <a:prstClr val="black">
                <a:alpha val="50000"/>
              </a:prstClr>
            </a:innerShdw>
          </a:effectLst>
        </p:spPr>
        <p:txBody>
          <a:bodyPr>
            <a:normAutofit/>
          </a:bodyPr>
          <a:lstStyle>
            <a:lvl1pPr>
              <a:defRPr sz="4600" b="1" i="0" baseline="0">
                <a:latin typeface="Arial Rounded MT Bold" panose="020F0704030504030204" pitchFamily="34" charset="0"/>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6329F4CD-EE59-4CB0-8B95-42E99BB03578}"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DE5A08C-0608-464C-98AE-A00301976AD9}" type="slidenum">
              <a:rPr lang="zh-CN" altLang="en-US" smtClean="0">
                <a:solidFill>
                  <a:prstClr val="black">
                    <a:tint val="75000"/>
                  </a:prstClr>
                </a:solidFill>
              </a:rPr>
            </a:fld>
            <a:endParaRPr lang="zh-CN" altLang="en-US">
              <a:solidFill>
                <a:prstClr val="black">
                  <a:tint val="75000"/>
                </a:prstClr>
              </a:solidFill>
            </a:endParaRPr>
          </a:p>
        </p:txBody>
      </p:sp>
      <p:sp>
        <p:nvSpPr>
          <p:cNvPr id="10" name="圆角矩形 9"/>
          <p:cNvSpPr/>
          <p:nvPr userDrawn="1"/>
        </p:nvSpPr>
        <p:spPr>
          <a:xfrm>
            <a:off x="323528" y="1700808"/>
            <a:ext cx="8640960" cy="4608512"/>
          </a:xfrm>
          <a:prstGeom prst="roundRect">
            <a:avLst/>
          </a:prstGeom>
          <a:gradFill>
            <a:gsLst>
              <a:gs pos="0">
                <a:schemeClr val="bg1">
                  <a:lumMod val="65000"/>
                </a:schemeClr>
              </a:gs>
              <a:gs pos="50000">
                <a:schemeClr val="bg1">
                  <a:lumMod val="95000"/>
                </a:schemeClr>
              </a:gs>
              <a:gs pos="100000">
                <a:schemeClr val="bg1"/>
              </a:gs>
            </a:gsLst>
            <a:lin ang="17400000" scaled="0"/>
          </a:gradFill>
          <a:ln>
            <a:noFill/>
          </a:ln>
          <a:effectLst>
            <a:outerShdw blurRad="292100" dist="317500" dir="7800000" sx="97000" sy="97000" algn="ctr" rotWithShape="0">
              <a:srgbClr val="00000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1" name="圆角矩形 10"/>
          <p:cNvSpPr/>
          <p:nvPr userDrawn="1"/>
        </p:nvSpPr>
        <p:spPr>
          <a:xfrm>
            <a:off x="342000" y="1717200"/>
            <a:ext cx="8604000" cy="4572000"/>
          </a:xfrm>
          <a:prstGeom prst="roundRect">
            <a:avLst/>
          </a:prstGeom>
          <a:gradFill flip="none" rotWithShape="1">
            <a:gsLst>
              <a:gs pos="0">
                <a:schemeClr val="bg1">
                  <a:lumMod val="65000"/>
                </a:schemeClr>
              </a:gs>
              <a:gs pos="50000">
                <a:schemeClr val="bg1">
                  <a:lumMod val="95000"/>
                </a:schemeClr>
              </a:gs>
              <a:gs pos="100000">
                <a:schemeClr val="bg1"/>
              </a:gs>
            </a:gsLst>
            <a:lin ang="81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3" name="内容占位符 12"/>
          <p:cNvSpPr>
            <a:spLocks noGrp="1"/>
          </p:cNvSpPr>
          <p:nvPr>
            <p:ph sz="quarter" idx="13"/>
          </p:nvPr>
        </p:nvSpPr>
        <p:spPr>
          <a:xfrm>
            <a:off x="611560" y="1916832"/>
            <a:ext cx="8064896" cy="4104456"/>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b="100000"/>
            </a:path>
            <a:tileRect t="-100000" r="-100000"/>
          </a:gradFill>
          <a:effectLst>
            <a:innerShdw blurRad="63500" dist="50800" dir="18900000">
              <a:prstClr val="black">
                <a:alpha val="50000"/>
              </a:prstClr>
            </a:innerShdw>
          </a:effectLst>
        </p:spPr>
        <p:txBody>
          <a:bodyPr/>
          <a:lstStyle>
            <a:lvl1pPr marL="342900" indent="-342900">
              <a:buFontTx/>
              <a:buBlip>
                <a:blip r:embed="rId2"/>
              </a:buBlip>
              <a:defRPr/>
            </a:lvl1pPr>
            <a:lvl2pPr marL="742950" indent="-285750">
              <a:buFontTx/>
              <a:buBlip>
                <a:blip r:embed="rId3"/>
              </a:buBlip>
              <a:defRPr/>
            </a:lvl2pPr>
            <a:lvl3pPr marL="1143000" indent="-228600">
              <a:buFontTx/>
              <a:buBlip>
                <a:blip r:embed="rId4"/>
              </a:buBlip>
              <a:defRPr/>
            </a:lvl3pPr>
            <a:lvl4pPr marL="1600200" indent="-228600">
              <a:buFontTx/>
              <a:buBlip>
                <a:blip r:embed="rId5"/>
              </a:buBlip>
              <a:defRPr/>
            </a:lvl4pPr>
            <a:lvl5pPr marL="2057400" indent="-228600">
              <a:buFontTx/>
              <a:buBlip>
                <a:blip r:embed="rId6"/>
              </a:buBlip>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9" name="组合 8"/>
          <p:cNvGrpSpPr/>
          <p:nvPr userDrawn="1"/>
        </p:nvGrpSpPr>
        <p:grpSpPr>
          <a:xfrm>
            <a:off x="7884368" y="-7628"/>
            <a:ext cx="1224000" cy="1060364"/>
            <a:chOff x="7524328" y="260696"/>
            <a:chExt cx="1224000" cy="1060364"/>
          </a:xfrm>
        </p:grpSpPr>
        <p:sp>
          <p:nvSpPr>
            <p:cNvPr id="12" name="椭圆形标注 11"/>
            <p:cNvSpPr/>
            <p:nvPr userDrawn="1"/>
          </p:nvSpPr>
          <p:spPr>
            <a:xfrm>
              <a:off x="7524328" y="260696"/>
              <a:ext cx="1224000" cy="1060364"/>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path path="circle">
                <a:fillToRect t="100000" r="100000"/>
              </a:path>
              <a:tileRect l="-100000" b="-100000"/>
            </a:gradFill>
            <a:ln>
              <a:noFill/>
            </a:ln>
            <a:effectLst>
              <a:outerShdw blurRad="101600" dist="88900" dir="7200000" algn="t"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4" name="椭圆形标注 13"/>
            <p:cNvSpPr/>
            <p:nvPr userDrawn="1"/>
          </p:nvSpPr>
          <p:spPr>
            <a:xfrm>
              <a:off x="7560264" y="296652"/>
              <a:ext cx="1152128" cy="972108"/>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grpSp>
      <p:sp>
        <p:nvSpPr>
          <p:cNvPr id="15" name="文本占位符 11"/>
          <p:cNvSpPr>
            <a:spLocks noGrp="1"/>
          </p:cNvSpPr>
          <p:nvPr>
            <p:ph type="body" sz="quarter" idx="14" hasCustomPrompt="1"/>
          </p:nvPr>
        </p:nvSpPr>
        <p:spPr>
          <a:xfrm>
            <a:off x="8028248" y="108556"/>
            <a:ext cx="914400" cy="914400"/>
          </a:xfrm>
        </p:spPr>
        <p:txBody>
          <a:bodyPr>
            <a:noAutofit/>
          </a:bodyPr>
          <a:lstStyle>
            <a:lvl1pPr marL="0" indent="0">
              <a:buNone/>
              <a:defRPr sz="4800">
                <a:solidFill>
                  <a:srgbClr val="3399FF"/>
                </a:solidFill>
                <a:effectLst>
                  <a:innerShdw blurRad="63500" dist="50800" dir="16200000">
                    <a:prstClr val="black">
                      <a:alpha val="50000"/>
                    </a:prstClr>
                  </a:innerShdw>
                </a:effectLst>
                <a:latin typeface="Cooper Black" panose="0208090404030B020404" pitchFamily="18" charset="0"/>
              </a:defRPr>
            </a:lvl1pPr>
          </a:lstStyle>
          <a:p>
            <a:pPr lvl="0"/>
            <a:r>
              <a:rPr lang="en-US" altLang="zh-CN" dirty="0"/>
              <a:t>01</a:t>
            </a:r>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648000" y="1242000"/>
            <a:ext cx="7848000" cy="1512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683568" y="1268760"/>
            <a:ext cx="7772400" cy="1470025"/>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251520" y="2708920"/>
            <a:ext cx="7704856" cy="17526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outerShdw blurRad="215900" dist="88900" dir="2700000" sx="101000" sy="101000" algn="tl" rotWithShape="0">
              <a:prstClr val="black">
                <a:alpha val="40000"/>
              </a:prstClr>
            </a:out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8" name="五边形 7"/>
          <p:cNvSpPr/>
          <p:nvPr userDrawn="1"/>
        </p:nvSpPr>
        <p:spPr>
          <a:xfrm>
            <a:off x="-5777" y="0"/>
            <a:ext cx="8538217"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5777" y="0"/>
            <a:ext cx="7890145"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101600" dist="152400" algn="l" rotWithShape="0">
              <a:prstClr val="black">
                <a:alpha val="21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24000">
                <a:schemeClr val="accent3">
                  <a:lumMod val="20000"/>
                  <a:lumOff val="80000"/>
                </a:schemeClr>
              </a:gs>
              <a:gs pos="100000">
                <a:schemeClr val="accent3">
                  <a:lumMod val="60000"/>
                  <a:lumOff val="40000"/>
                </a:schemeClr>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8" name="五边形 7"/>
          <p:cNvSpPr/>
          <p:nvPr userDrawn="1"/>
        </p:nvSpPr>
        <p:spPr>
          <a:xfrm flipH="1">
            <a:off x="0" y="0"/>
            <a:ext cx="9144000"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flipH="1">
            <a:off x="395536" y="0"/>
            <a:ext cx="8748464"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76200" dist="63500" dir="10800000" algn="r" rotWithShape="0">
              <a:prstClr val="black">
                <a:alpha val="40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67000">
                <a:srgbClr val="D8E4BF"/>
              </a:gs>
              <a:gs pos="32000">
                <a:schemeClr val="accent3">
                  <a:lumMod val="60000"/>
                  <a:lumOff val="40000"/>
                </a:schemeClr>
              </a:gs>
              <a:gs pos="100000">
                <a:schemeClr val="bg1"/>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7" name="内容占位符 6"/>
          <p:cNvSpPr>
            <a:spLocks noGrp="1"/>
          </p:cNvSpPr>
          <p:nvPr>
            <p:ph sz="quarter" idx="13"/>
          </p:nvPr>
        </p:nvSpPr>
        <p:spPr>
          <a:xfrm>
            <a:off x="539750" y="1700213"/>
            <a:ext cx="8135938" cy="45370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8" name="标题 1"/>
          <p:cNvSpPr txBox="1"/>
          <p:nvPr userDrawn="1"/>
        </p:nvSpPr>
        <p:spPr>
          <a:xfrm>
            <a:off x="504456" y="296776"/>
            <a:ext cx="8172000" cy="1116000"/>
          </a:xfrm>
          <a:prstGeom prst="snip2DiagRect">
            <a:avLst>
              <a:gd name="adj1" fmla="val 0"/>
              <a:gd name="adj2" fmla="val 38485"/>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8100000" scaled="1"/>
            <a:tileRect/>
          </a:gradFill>
          <a:effectLst>
            <a:softEdge rad="63500"/>
          </a:effectLst>
        </p:spPr>
        <p:txBody>
          <a:bodyPr vert="horz" lIns="91440" tIns="45720" rIns="91440" bIns="45720" rtlCol="0" anchor="ctr">
            <a:normAutofit fontScale="92500" lnSpcReduction="10000"/>
          </a:bodyPr>
          <a:lstStyle>
            <a:lvl1pPr algn="ctr" defTabSz="914400" rtl="0" eaLnBrk="1" latinLnBrk="0" hangingPunct="1">
              <a:spcBef>
                <a:spcPct val="0"/>
              </a:spcBef>
              <a:buNone/>
              <a:defRPr sz="4500" kern="1200" baseline="0">
                <a:solidFill>
                  <a:schemeClr val="accent3">
                    <a:lumMod val="75000"/>
                  </a:schemeClr>
                </a:solidFill>
                <a:effectLst>
                  <a:innerShdw blurRad="63500" dist="50800" dir="18900000">
                    <a:prstClr val="black">
                      <a:alpha val="50000"/>
                    </a:prstClr>
                  </a:innerShdw>
                </a:effectLst>
                <a:latin typeface="Arial Rounded MT Bold" panose="020F0704030504030204" pitchFamily="34" charset="0"/>
                <a:ea typeface="隶书" panose="02010509060101010101" pitchFamily="49" charset="-122"/>
                <a:cs typeface="+mj-cs"/>
              </a:defRPr>
            </a:lvl1pPr>
          </a:lstStyle>
          <a:p>
            <a:r>
              <a:rPr lang="zh-CN" altLang="en-US"/>
              <a:t>单击此处编辑母版标题样式</a:t>
            </a:r>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539552" y="2132856"/>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421200" y="140530"/>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64400" y="18103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772816"/>
            <a:ext cx="8496944" cy="460851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421200" y="116632"/>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57200" y="15727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0" scaled="1"/>
            <a:tileRect/>
          </a:gradFill>
          <a:effectLst>
            <a:innerShdw blurRad="63500" dist="50800" dir="13500000">
              <a:prstClr val="black">
                <a:alpha val="50000"/>
              </a:prstClr>
            </a:inn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499992" y="1567333"/>
            <a:ext cx="4038600" cy="4525963"/>
          </a:xfrm>
          <a:gradFill>
            <a:gsLst>
              <a:gs pos="0">
                <a:schemeClr val="accent3">
                  <a:lumMod val="60000"/>
                  <a:lumOff val="40000"/>
                </a:schemeClr>
              </a:gs>
              <a:gs pos="100000">
                <a:schemeClr val="accent3">
                  <a:lumMod val="20000"/>
                  <a:lumOff val="80000"/>
                </a:schemeClr>
              </a:gs>
              <a:gs pos="100000">
                <a:schemeClr val="accent3">
                  <a:lumMod val="40000"/>
                  <a:lumOff val="60000"/>
                </a:schemeClr>
              </a:gs>
            </a:gsLst>
            <a:lin ang="10800000" scaled="0"/>
          </a:gradFill>
          <a:effectLst>
            <a:outerShdw blurRad="127000" dist="88900" dir="2700000" sx="101000" sy="101000" algn="tl" rotWithShape="0">
              <a:prstClr val="black">
                <a:alpha val="40000"/>
              </a:prstClr>
            </a:out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1196752"/>
            <a:ext cx="8316416" cy="5661248"/>
          </a:xfrm>
          <a:gradFill flip="none" rotWithShape="1">
            <a:gsLst>
              <a:gs pos="0">
                <a:schemeClr val="accent3">
                  <a:lumMod val="40000"/>
                  <a:lumOff val="60000"/>
                </a:schemeClr>
              </a:gs>
              <a:gs pos="50000">
                <a:schemeClr val="accent3">
                  <a:lumMod val="60000"/>
                  <a:lumOff val="4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
        <p:nvSpPr>
          <p:cNvPr id="8" name="直角三角形 7"/>
          <p:cNvSpPr/>
          <p:nvPr userDrawn="1"/>
        </p:nvSpPr>
        <p:spPr>
          <a:xfrm rot="5400000">
            <a:off x="8262000" y="278656"/>
            <a:ext cx="828000" cy="936000"/>
          </a:xfrm>
          <a:prstGeom prst="rtTriangle">
            <a:avLst/>
          </a:prstGeom>
          <a:solidFill>
            <a:schemeClr val="bg2">
              <a:lumMod val="50000"/>
            </a:schemeClr>
          </a:solidFill>
          <a:ln w="3175">
            <a:solidFill>
              <a:schemeClr val="tx1"/>
            </a:solidFill>
            <a:prstDash val="sysDot"/>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0" y="-1"/>
            <a:ext cx="8208000" cy="1196751"/>
          </a:xfrm>
          <a:gradFill flip="none" rotWithShape="1">
            <a:gsLst>
              <a:gs pos="0">
                <a:srgbClr val="C6D89F"/>
              </a:gs>
              <a:gs pos="50000">
                <a:schemeClr val="accent3">
                  <a:lumMod val="60000"/>
                  <a:lumOff val="40000"/>
                </a:schemeClr>
              </a:gs>
              <a:gs pos="100000">
                <a:schemeClr val="accent3">
                  <a:lumMod val="20000"/>
                  <a:lumOff val="80000"/>
                </a:schemeClr>
              </a:gs>
            </a:gsLst>
            <a:lin ang="5400000" scaled="0"/>
            <a:tileRect/>
          </a:gradFill>
          <a:effectLst>
            <a:outerShdw blurRad="50800" dist="38100" algn="l" rotWithShape="0">
              <a:prstClr val="black">
                <a:alpha val="40000"/>
              </a:prstClr>
            </a:outerShdw>
          </a:effectLst>
        </p:spPr>
        <p:txBody>
          <a:bodyPr anchor="b"/>
          <a:lstStyle>
            <a:lvl1pPr>
              <a:defRPr sz="4800"/>
            </a:lvl1pPr>
          </a:lstStyle>
          <a:p>
            <a:r>
              <a:rPr lang="zh-CN" altLang="en-US"/>
              <a:t>单击此处编辑母版标题样式</a:t>
            </a:r>
            <a:endParaRPr lang="en-US" dirty="0"/>
          </a:p>
        </p:txBody>
      </p:sp>
      <p:sp>
        <p:nvSpPr>
          <p:cNvPr id="9" name="直角三角形 8"/>
          <p:cNvSpPr/>
          <p:nvPr userDrawn="1"/>
        </p:nvSpPr>
        <p:spPr>
          <a:xfrm rot="16200000">
            <a:off x="8243955" y="296703"/>
            <a:ext cx="864096" cy="935999"/>
          </a:xfrm>
          <a:prstGeom prst="rtTriangle">
            <a:avLst/>
          </a:prstGeom>
          <a:solidFill>
            <a:schemeClr val="bg2">
              <a:lumMod val="40000"/>
              <a:lumOff val="60000"/>
              <a:alpha val="81000"/>
            </a:schemeClr>
          </a:soli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8" name="直角三角形 7"/>
          <p:cNvSpPr/>
          <p:nvPr userDrawn="1"/>
        </p:nvSpPr>
        <p:spPr>
          <a:xfrm rot="10800000" flipV="1">
            <a:off x="611559" y="3284984"/>
            <a:ext cx="386455" cy="1368152"/>
          </a:xfrm>
          <a:prstGeom prst="rtTriangle">
            <a:avLst/>
          </a:prstGeom>
          <a:solidFill>
            <a:schemeClr val="bg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1009442" y="3307355"/>
            <a:ext cx="7117180" cy="1470025"/>
          </a:xfrm>
          <a:gradFill>
            <a:gsLst>
              <a:gs pos="0">
                <a:schemeClr val="accent1">
                  <a:lumMod val="5000"/>
                  <a:lumOff val="95000"/>
                </a:schemeClr>
              </a:gs>
              <a:gs pos="74000">
                <a:schemeClr val="accent3">
                  <a:lumMod val="60000"/>
                  <a:lumOff val="40000"/>
                </a:schemeClr>
              </a:gs>
              <a:gs pos="83000">
                <a:schemeClr val="accent3">
                  <a:lumMod val="60000"/>
                  <a:lumOff val="40000"/>
                </a:schemeClr>
              </a:gs>
              <a:gs pos="100000">
                <a:schemeClr val="accent3">
                  <a:lumMod val="40000"/>
                  <a:lumOff val="60000"/>
                </a:schemeClr>
              </a:gs>
            </a:gsLst>
            <a:lin ang="5400000" scaled="1"/>
          </a:gradFill>
          <a:ln>
            <a:noFill/>
          </a:ln>
          <a:effectLst>
            <a:outerShdw blurRad="50800" dist="38100" dir="13500000" algn="br" rotWithShape="0">
              <a:prstClr val="black">
                <a:alpha val="40000"/>
              </a:prstClr>
            </a:outerShdw>
          </a:effectLst>
        </p:spPr>
        <p:txBody>
          <a:bodyPr anchor="b"/>
          <a:lstStyle>
            <a:lvl1pPr>
              <a:defRPr sz="4800"/>
            </a:lvl1pPr>
          </a:lstStyle>
          <a:p>
            <a:r>
              <a:rPr lang="zh-CN" altLang="en-US"/>
              <a:t>单击此处编辑母版标题样式</a:t>
            </a:r>
            <a:endParaRPr lang="en-US"/>
          </a:p>
        </p:txBody>
      </p:sp>
      <p:sp>
        <p:nvSpPr>
          <p:cNvPr id="4" name="Date Placeholder 3"/>
          <p:cNvSpPr>
            <a:spLocks noGrp="1"/>
          </p:cNvSpPr>
          <p:nvPr>
            <p:ph type="dt" sz="half" idx="10"/>
          </p:nvPr>
        </p:nvSpPr>
        <p:spPr/>
        <p:txBody>
          <a:bodyPr/>
          <a:lstStyle/>
          <a:p>
            <a:fld id="{5B036AE0-00FE-4C40-AFBE-87ED2397250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0549BDF-C376-4D55-90B5-443E1E5AAC83}" type="slidenum">
              <a:rPr lang="zh-CN" altLang="en-US" smtClean="0"/>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0"/>
            <a:ext cx="8316416" cy="6858000"/>
          </a:xfrm>
          <a:gradFill flip="none" rotWithShape="1">
            <a:gsLst>
              <a:gs pos="0">
                <a:schemeClr val="accent3">
                  <a:lumMod val="40000"/>
                  <a:lumOff val="60000"/>
                </a:schemeClr>
              </a:gs>
              <a:gs pos="50000">
                <a:schemeClr val="accent3">
                  <a:lumMod val="40000"/>
                  <a:lumOff val="6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13" name="矩形 12"/>
          <p:cNvSpPr/>
          <p:nvPr userDrawn="1"/>
        </p:nvSpPr>
        <p:spPr>
          <a:xfrm>
            <a:off x="2810014" y="1268783"/>
            <a:ext cx="3634194"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ntent Placeholder 2"/>
          <p:cNvSpPr>
            <a:spLocks noGrp="1"/>
          </p:cNvSpPr>
          <p:nvPr>
            <p:ph idx="13"/>
          </p:nvPr>
        </p:nvSpPr>
        <p:spPr>
          <a:xfrm>
            <a:off x="-168" y="1485384"/>
            <a:ext cx="3060000" cy="5400000"/>
          </a:xfrm>
          <a:solidFill>
            <a:schemeClr val="accent3">
              <a:lumMod val="75000"/>
              <a:alpha val="48000"/>
            </a:schemeClr>
          </a:solidFill>
          <a:effectLst>
            <a:outerShdw blurRad="50800" dist="38100" dir="2700000" algn="tl" rotWithShape="0">
              <a:prstClr val="black">
                <a:alpha val="40000"/>
              </a:prstClr>
            </a:outerShdw>
          </a:effectLst>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0" y="-30651"/>
            <a:ext cx="9144000" cy="1155396"/>
          </a:xfrm>
          <a:solidFill>
            <a:schemeClr val="accent3">
              <a:lumMod val="60000"/>
              <a:lumOff val="4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3" name="Content Placeholder 2"/>
          <p:cNvSpPr>
            <a:spLocks noGrp="1"/>
          </p:cNvSpPr>
          <p:nvPr>
            <p:ph idx="1"/>
          </p:nvPr>
        </p:nvSpPr>
        <p:spPr>
          <a:xfrm>
            <a:off x="3059832" y="1484784"/>
            <a:ext cx="3060000" cy="5400600"/>
          </a:xfrm>
          <a:solidFill>
            <a:schemeClr val="accent3">
              <a:lumMod val="75000"/>
              <a:alpha val="48000"/>
            </a:schemeClr>
          </a:solidFill>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6156176" y="1484784"/>
            <a:ext cx="2988000"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4"/>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6156208" y="1268784"/>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userDrawn="1"/>
        </p:nvSpPr>
        <p:spPr>
          <a:xfrm rot="10800000" flipH="1" flipV="1">
            <a:off x="2810014" y="1268783"/>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7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dirty="0"/>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3" name="Content Placeholder 2"/>
          <p:cNvSpPr>
            <a:spLocks noGrp="1"/>
          </p:cNvSpPr>
          <p:nvPr>
            <p:ph idx="1"/>
          </p:nvPr>
        </p:nvSpPr>
        <p:spPr>
          <a:xfrm>
            <a:off x="0" y="1484784"/>
            <a:ext cx="9144000" cy="5393102"/>
          </a:xfrm>
          <a:solidFill>
            <a:schemeClr val="accent3">
              <a:lumMod val="75000"/>
              <a:alpha val="48000"/>
            </a:schemeClr>
          </a:solidFill>
          <a:effectLst>
            <a:outerShdw blurRad="50800" dist="38100" dir="16200000" rotWithShape="0">
              <a:prstClr val="black">
                <a:alpha val="40000"/>
              </a:prstClr>
            </a:outerShdw>
          </a:effectLst>
        </p:spPr>
        <p:txBody>
          <a:bodyPr>
            <a:noAutofit/>
          </a:bodyPr>
          <a:lstStyle>
            <a:lvl1pPr marL="342900" indent="-342900">
              <a:buFontTx/>
              <a:buBlip>
                <a:blip r:embed="rId2"/>
              </a:buBlip>
              <a:defRPr sz="3600"/>
            </a:lvl1pPr>
            <a:lvl2pPr marL="971550" indent="-514350">
              <a:buFontTx/>
              <a:buBlip>
                <a:blip r:embed="rId3"/>
              </a:buBlip>
              <a:defRPr sz="3200"/>
            </a:lvl2pPr>
            <a:lvl3pPr marL="1143000" indent="-228600">
              <a:buFontTx/>
              <a:buBlip>
                <a:blip r:embed="rId4"/>
              </a:buBlip>
              <a:defRPr sz="2800"/>
            </a:lvl3pPr>
            <a:lvl4pPr marL="1600200" indent="-228600">
              <a:buFontTx/>
              <a:buBlip>
                <a:blip r:embed="rId5"/>
              </a:buBlip>
              <a:defRPr sz="2400"/>
            </a:lvl4pPr>
            <a:lvl5pPr marL="2057400" indent="-228600">
              <a:buFontTx/>
              <a:buBlip>
                <a:blip r:embed="rId4"/>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13" name="矩形 12"/>
          <p:cNvSpPr/>
          <p:nvPr userDrawn="1"/>
        </p:nvSpPr>
        <p:spPr>
          <a:xfrm>
            <a:off x="0" y="1268783"/>
            <a:ext cx="4890159"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a:xfrm>
            <a:off x="0" y="-30651"/>
            <a:ext cx="9144000" cy="1155396"/>
          </a:xfrm>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a:t>单击此处编辑母版标题样式</a:t>
            </a:r>
            <a:endParaRPr lang="en-US" dirty="0"/>
          </a:p>
        </p:txBody>
      </p:sp>
      <p:sp>
        <p:nvSpPr>
          <p:cNvPr id="3" name="Content Placeholder 2"/>
          <p:cNvSpPr>
            <a:spLocks noGrp="1"/>
          </p:cNvSpPr>
          <p:nvPr>
            <p:ph idx="1"/>
          </p:nvPr>
        </p:nvSpPr>
        <p:spPr>
          <a:xfrm>
            <a:off x="0" y="1484784"/>
            <a:ext cx="4644008" cy="5400600"/>
          </a:xfrm>
          <a:solidFill>
            <a:schemeClr val="accent3">
              <a:lumMod val="75000"/>
              <a:alpha val="48000"/>
            </a:schemeClr>
          </a:solidFill>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671611" y="1484784"/>
            <a:ext cx="4472565"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4671611" y="1268783"/>
            <a:ext cx="218548"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10" y="6492875"/>
            <a:ext cx="3988796" cy="365125"/>
          </a:xfrm>
        </p:spPr>
        <p:txBody>
          <a:bodyPr/>
          <a:lstStyle/>
          <a:p>
            <a:endParaRPr lang="zh-CN" altLang="en-US"/>
          </a:p>
        </p:txBody>
      </p:sp>
      <p:sp>
        <p:nvSpPr>
          <p:cNvPr id="16" name="Slide Number Placeholder 5"/>
          <p:cNvSpPr txBox="1"/>
          <p:nvPr userDrawn="1"/>
        </p:nvSpPr>
        <p:spPr>
          <a:xfrm>
            <a:off x="0" y="6512761"/>
            <a:ext cx="611559"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788024" y="1269384"/>
            <a:ext cx="4356152" cy="5616000"/>
          </a:xfrm>
          <a:solidFill>
            <a:schemeClr val="accent3">
              <a:lumMod val="60000"/>
              <a:lumOff val="40000"/>
              <a:alpha val="48000"/>
            </a:schemeClr>
          </a:solidFill>
          <a:effectLst/>
        </p:spPr>
        <p:txBody>
          <a:bodyPr>
            <a:normAutofit/>
          </a:bodyPr>
          <a:lstStyle>
            <a:lvl1pPr marL="342900" indent="-342900">
              <a:buFontTx/>
              <a:buBlip>
                <a:blip r:embed="rId2"/>
              </a:buBlip>
              <a:defRPr sz="3600"/>
            </a:lvl1pPr>
            <a:lvl2pPr marL="742950" indent="-285750">
              <a:buFontTx/>
              <a:buBlip>
                <a:blip r:embed="rId2"/>
              </a:buBlip>
              <a:defRPr sz="3200"/>
            </a:lvl2pPr>
            <a:lvl3pPr marL="1143000" indent="-228600">
              <a:buFontTx/>
              <a:buBlip>
                <a:blip r:embed="rId2"/>
              </a:buBlip>
              <a:defRPr sz="2800"/>
            </a:lvl3pPr>
            <a:lvl4pPr marL="1600200" indent="-228600">
              <a:buFontTx/>
              <a:buBlip>
                <a:blip r:embed="rId2"/>
              </a:buBlip>
              <a:defRPr sz="2400"/>
            </a:lvl4pPr>
            <a:lvl5pPr marL="2057400" indent="-228600">
              <a:buFontTx/>
              <a:buBlip>
                <a:blip r:embed="rId2"/>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H="1" flipV="1">
            <a:off x="4590935" y="1268783"/>
            <a:ext cx="197089"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12" y="6512760"/>
            <a:ext cx="755564"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18" name="直角三角形 17"/>
          <p:cNvSpPr/>
          <p:nvPr userDrawn="1"/>
        </p:nvSpPr>
        <p:spPr>
          <a:xfrm rot="10800000">
            <a:off x="4590935" y="1268781"/>
            <a:ext cx="197045" cy="216002"/>
          </a:xfrm>
          <a:prstGeom prst="rtTriangle">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12" y="1492282"/>
            <a:ext cx="4788012" cy="5393102"/>
          </a:xfrm>
          <a:gradFill>
            <a:gsLst>
              <a:gs pos="0">
                <a:schemeClr val="accent3">
                  <a:lumMod val="60000"/>
                  <a:lumOff val="40000"/>
                </a:schemeClr>
              </a:gs>
              <a:gs pos="44000">
                <a:schemeClr val="accent3">
                  <a:lumMod val="40000"/>
                  <a:lumOff val="60000"/>
                </a:schemeClr>
              </a:gs>
              <a:gs pos="100000">
                <a:schemeClr val="bg1"/>
              </a:gs>
            </a:gsLst>
            <a:lin ang="18900000" scaled="1"/>
          </a:gradFill>
          <a:effectLst>
            <a:outerShdw blurRad="50800" dist="38100" dir="16200000" rotWithShape="0">
              <a:prstClr val="black">
                <a:alpha val="40000"/>
              </a:prstClr>
            </a:outerShdw>
          </a:effectLst>
        </p:spPr>
        <p:txBody>
          <a:bodyPr>
            <a:noAutofit/>
          </a:bodyPr>
          <a:lstStyle>
            <a:lvl1pPr marL="342900" indent="-342900">
              <a:buFontTx/>
              <a:buBlip>
                <a:blip r:embed="rId3"/>
              </a:buBlip>
              <a:defRPr sz="3600"/>
            </a:lvl1pPr>
            <a:lvl2pPr marL="742950" indent="-285750">
              <a:buFontTx/>
              <a:buBlip>
                <a:blip r:embed="rId3"/>
              </a:buBlip>
              <a:defRPr sz="3200"/>
            </a:lvl2pPr>
            <a:lvl3pPr marL="1143000" indent="-228600">
              <a:buFontTx/>
              <a:buBlip>
                <a:blip r:embed="rId3"/>
              </a:buBlip>
              <a:defRPr sz="2800"/>
            </a:lvl3pPr>
            <a:lvl4pPr marL="1600200" indent="-228600">
              <a:buFontTx/>
              <a:buBlip>
                <a:blip r:embed="rId3"/>
              </a:buBlip>
              <a:defRPr sz="2400"/>
            </a:lvl4pPr>
            <a:lvl5pPr marL="2057400" indent="-228600">
              <a:buFontTx/>
              <a:buBlip>
                <a:blip r:embed="rId3"/>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6_内容与标题">
    <p:spTree>
      <p:nvGrpSpPr>
        <p:cNvPr id="1" name=""/>
        <p:cNvGrpSpPr/>
        <p:nvPr/>
      </p:nvGrpSpPr>
      <p:grpSpPr>
        <a:xfrm>
          <a:off x="0" y="0"/>
          <a:ext cx="0" cy="0"/>
          <a:chOff x="0" y="0"/>
          <a:chExt cx="0" cy="0"/>
        </a:xfrm>
      </p:grpSpPr>
      <p:sp>
        <p:nvSpPr>
          <p:cNvPr id="13" name="矩形 12"/>
          <p:cNvSpPr/>
          <p:nvPr userDrawn="1"/>
        </p:nvSpPr>
        <p:spPr>
          <a:xfrm>
            <a:off x="0" y="1268783"/>
            <a:ext cx="9144000" cy="216000"/>
          </a:xfrm>
          <a:prstGeom prst="rect">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 name="Title 1"/>
          <p:cNvSpPr>
            <a:spLocks noGrp="1"/>
          </p:cNvSpPr>
          <p:nvPr>
            <p:ph type="title"/>
          </p:nvPr>
        </p:nvSpPr>
        <p:spPr>
          <a:xfrm>
            <a:off x="0" y="-30651"/>
            <a:ext cx="9144000" cy="1155396"/>
          </a:xfrm>
          <a:solidFill>
            <a:schemeClr val="accent3">
              <a:lumMod val="20000"/>
              <a:lumOff val="8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dirty="0"/>
              <a:t>单击此处编辑母版标题样式</a:t>
            </a:r>
            <a:endParaRPr lang="en-US" dirty="0"/>
          </a:p>
        </p:txBody>
      </p:sp>
      <p:sp>
        <p:nvSpPr>
          <p:cNvPr id="3" name="Content Placeholder 2"/>
          <p:cNvSpPr>
            <a:spLocks noGrp="1"/>
          </p:cNvSpPr>
          <p:nvPr>
            <p:ph idx="1"/>
          </p:nvPr>
        </p:nvSpPr>
        <p:spPr>
          <a:xfrm>
            <a:off x="0" y="1484784"/>
            <a:ext cx="9144000" cy="5400600"/>
          </a:xfrm>
          <a:gradFill>
            <a:gsLst>
              <a:gs pos="0">
                <a:schemeClr val="accent3">
                  <a:lumMod val="20000"/>
                  <a:lumOff val="80000"/>
                </a:schemeClr>
              </a:gs>
              <a:gs pos="80000">
                <a:schemeClr val="accent3">
                  <a:lumMod val="40000"/>
                  <a:lumOff val="60000"/>
                </a:schemeClr>
              </a:gs>
              <a:gs pos="100000">
                <a:schemeClr val="accent3">
                  <a:lumMod val="60000"/>
                  <a:lumOff val="40000"/>
                </a:schemeClr>
              </a:gs>
            </a:gsLst>
            <a:lin ang="16200000" scaled="0"/>
          </a:gradFill>
        </p:spPr>
        <p:txBody>
          <a:bodyPr>
            <a:normAutofit/>
          </a:bodyPr>
          <a:lstStyle>
            <a:lvl1pPr marL="342900" indent="-342900">
              <a:buFontTx/>
              <a:buBlip>
                <a:blip r:embed="rId2"/>
              </a:buBlip>
              <a:defRPr sz="4800"/>
            </a:lvl1pPr>
            <a:lvl2pPr marL="742950" indent="-285750">
              <a:buFontTx/>
              <a:buBlip>
                <a:blip r:embed="rId2"/>
              </a:buBlip>
              <a:defRPr sz="4400"/>
            </a:lvl2pPr>
            <a:lvl3pPr marL="1143000" indent="-228600">
              <a:buFontTx/>
              <a:buBlip>
                <a:blip r:embed="rId2"/>
              </a:buBlip>
              <a:defRPr sz="4000"/>
            </a:lvl3pPr>
            <a:lvl4pPr marL="1600200" indent="-228600">
              <a:buFontTx/>
              <a:buBlip>
                <a:blip r:embed="rId2"/>
              </a:buBlip>
              <a:defRPr sz="3600"/>
            </a:lvl4pPr>
            <a:lvl5pPr marL="2057400" indent="-228600">
              <a:buFontTx/>
              <a:buBlip>
                <a:blip r:embed="rId2"/>
              </a:buBlip>
              <a:defRPr sz="36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Title &amp; Listing - 2 columns">
    <p:spTree>
      <p:nvGrpSpPr>
        <p:cNvPr id="1" name=""/>
        <p:cNvGrpSpPr/>
        <p:nvPr/>
      </p:nvGrpSpPr>
      <p:grpSpPr>
        <a:xfrm>
          <a:off x="0" y="0"/>
          <a:ext cx="0" cy="0"/>
          <a:chOff x="0" y="0"/>
          <a:chExt cx="0" cy="0"/>
        </a:xfrm>
      </p:grpSpPr>
      <p:sp>
        <p:nvSpPr>
          <p:cNvPr id="68" name="Shape 68"/>
          <p:cNvSpPr>
            <a:spLocks noGrp="1"/>
          </p:cNvSpPr>
          <p:nvPr>
            <p:ph type="title" hasCustomPrompt="1"/>
          </p:nvPr>
        </p:nvSpPr>
        <p:spPr>
          <a:xfrm>
            <a:off x="892969" y="178594"/>
            <a:ext cx="7358063" cy="1714500"/>
          </a:xfrm>
          <a:prstGeom prst="rect">
            <a:avLst/>
          </a:prstGeom>
        </p:spPr>
        <p:txBody>
          <a:bodyPr/>
          <a:lstStyle>
            <a:lvl1pPr>
              <a:defRPr>
                <a:latin typeface="黑体" panose="02010609060101010101" charset="-122"/>
                <a:ea typeface="黑体" panose="02010609060101010101" charset="-122"/>
                <a:cs typeface="+mn-cs"/>
                <a:sym typeface="Euphemia UCAS" panose="020B0503040102020104"/>
              </a:defRPr>
            </a:lvl1pPr>
          </a:lstStyle>
          <a:p>
            <a:pPr>
              <a:defRPr>
                <a:effectLst/>
              </a:defRPr>
            </a:pPr>
            <a:r>
              <a:rPr dirty="0" err="1"/>
              <a:t>标题文本</a:t>
            </a:r>
            <a:endParaRPr dirty="0"/>
          </a:p>
        </p:txBody>
      </p:sp>
      <p:sp>
        <p:nvSpPr>
          <p:cNvPr id="69" name="Shape 69"/>
          <p:cNvSpPr>
            <a:spLocks noGrp="1"/>
          </p:cNvSpPr>
          <p:nvPr>
            <p:ph type="body" idx="1" hasCustomPrompt="1"/>
          </p:nvPr>
        </p:nvSpPr>
        <p:spPr>
          <a:xfrm>
            <a:off x="892969" y="1946672"/>
            <a:ext cx="7358063" cy="4018359"/>
          </a:xfrm>
          <a:prstGeom prst="rect">
            <a:avLst/>
          </a:prstGeom>
        </p:spPr>
        <p:txBody>
          <a:bodyPr numCol="2" spcCol="523240"/>
          <a:lstStyle>
            <a:lvl1pPr>
              <a:defRPr>
                <a:latin typeface="黑体" panose="02010609060101010101" charset="-122"/>
                <a:ea typeface="黑体" panose="02010609060101010101" charset="-122"/>
                <a:cs typeface="黑体" panose="02010609060101010101" charset="-122"/>
                <a:sym typeface="Arial Rounded MT Bold" panose="020F0704030504030204"/>
              </a:defRPr>
            </a:lvl1pPr>
            <a:lvl2pPr>
              <a:defRPr>
                <a:latin typeface="黑体" panose="02010609060101010101" charset="-122"/>
                <a:ea typeface="黑体" panose="02010609060101010101" charset="-122"/>
                <a:cs typeface="黑体" panose="02010609060101010101" charset="-122"/>
                <a:sym typeface="Arial Rounded MT Bold" panose="020F0704030504030204"/>
              </a:defRPr>
            </a:lvl2pPr>
            <a:lvl3pPr>
              <a:defRPr>
                <a:latin typeface="黑体" panose="02010609060101010101" charset="-122"/>
                <a:ea typeface="黑体" panose="02010609060101010101" charset="-122"/>
                <a:cs typeface="黑体" panose="02010609060101010101" charset="-122"/>
                <a:sym typeface="Arial Rounded MT Bold" panose="020F0704030504030204"/>
              </a:defRPr>
            </a:lvl3pPr>
            <a:lvl4pPr>
              <a:defRPr>
                <a:latin typeface="黑体" panose="02010609060101010101" charset="-122"/>
                <a:ea typeface="黑体" panose="02010609060101010101" charset="-122"/>
                <a:cs typeface="黑体" panose="02010609060101010101" charset="-122"/>
                <a:sym typeface="Arial Rounded MT Bold" panose="020F0704030504030204"/>
              </a:defRPr>
            </a:lvl4pPr>
            <a:lvl5pPr>
              <a:defRPr>
                <a:latin typeface="黑体" panose="02010609060101010101" charset="-122"/>
                <a:ea typeface="黑体" panose="02010609060101010101" charset="-122"/>
                <a:cs typeface="黑体" panose="02010609060101010101" charset="-122"/>
                <a:sym typeface="Arial Rounded MT Bold" panose="020F0704030504030204"/>
              </a:defRPr>
            </a:lvl5p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70" name="Shape 70"/>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052736"/>
          </a:xfrm>
          <a:prstGeom prst="rect">
            <a:avLst/>
          </a:prstGeom>
          <a:noFill/>
          <a:effectLst>
            <a:innerShdw blurRad="63500" dist="50800" dir="2700000">
              <a:prstClr val="black">
                <a:alpha val="50000"/>
              </a:prstClr>
            </a:innerShdw>
          </a:effectLst>
        </p:spPr>
        <p:txBody>
          <a:bodyPr>
            <a:normAutofit/>
          </a:bodyPr>
          <a:lstStyle>
            <a:lvl1pPr>
              <a:defRPr sz="4600" b="1" i="0" baseline="0">
                <a:latin typeface="Arial Rounded MT Bold" panose="020F0704030504030204" pitchFamily="34" charset="0"/>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6329F4CD-EE59-4CB0-8B95-42E99BB03578}"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DE5A08C-0608-464C-98AE-A00301976AD9}" type="slidenum">
              <a:rPr lang="zh-CN" altLang="en-US" smtClean="0">
                <a:solidFill>
                  <a:prstClr val="black">
                    <a:tint val="75000"/>
                  </a:prstClr>
                </a:solidFill>
              </a:rPr>
            </a:fld>
            <a:endParaRPr lang="zh-CN" altLang="en-US">
              <a:solidFill>
                <a:prstClr val="black">
                  <a:tint val="75000"/>
                </a:prstClr>
              </a:solidFill>
            </a:endParaRPr>
          </a:p>
        </p:txBody>
      </p:sp>
      <p:sp>
        <p:nvSpPr>
          <p:cNvPr id="10" name="圆角矩形 9"/>
          <p:cNvSpPr/>
          <p:nvPr userDrawn="1"/>
        </p:nvSpPr>
        <p:spPr>
          <a:xfrm>
            <a:off x="323528" y="1700808"/>
            <a:ext cx="8640960" cy="4608512"/>
          </a:xfrm>
          <a:prstGeom prst="roundRect">
            <a:avLst/>
          </a:prstGeom>
          <a:gradFill>
            <a:gsLst>
              <a:gs pos="0">
                <a:schemeClr val="bg1">
                  <a:lumMod val="65000"/>
                </a:schemeClr>
              </a:gs>
              <a:gs pos="50000">
                <a:schemeClr val="bg1">
                  <a:lumMod val="95000"/>
                </a:schemeClr>
              </a:gs>
              <a:gs pos="100000">
                <a:schemeClr val="bg1"/>
              </a:gs>
            </a:gsLst>
            <a:lin ang="17400000" scaled="0"/>
          </a:gradFill>
          <a:ln>
            <a:noFill/>
          </a:ln>
          <a:effectLst>
            <a:outerShdw blurRad="292100" dist="317500" dir="7800000" sx="97000" sy="97000" algn="ctr" rotWithShape="0">
              <a:srgbClr val="00000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1" name="圆角矩形 10"/>
          <p:cNvSpPr/>
          <p:nvPr userDrawn="1"/>
        </p:nvSpPr>
        <p:spPr>
          <a:xfrm>
            <a:off x="342000" y="1717200"/>
            <a:ext cx="8604000" cy="4572000"/>
          </a:xfrm>
          <a:prstGeom prst="roundRect">
            <a:avLst/>
          </a:prstGeom>
          <a:gradFill flip="none" rotWithShape="1">
            <a:gsLst>
              <a:gs pos="0">
                <a:schemeClr val="bg1">
                  <a:lumMod val="65000"/>
                </a:schemeClr>
              </a:gs>
              <a:gs pos="50000">
                <a:schemeClr val="bg1">
                  <a:lumMod val="95000"/>
                </a:schemeClr>
              </a:gs>
              <a:gs pos="100000">
                <a:schemeClr val="bg1"/>
              </a:gs>
            </a:gsLst>
            <a:lin ang="81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3" name="内容占位符 12"/>
          <p:cNvSpPr>
            <a:spLocks noGrp="1"/>
          </p:cNvSpPr>
          <p:nvPr>
            <p:ph sz="quarter" idx="13"/>
          </p:nvPr>
        </p:nvSpPr>
        <p:spPr>
          <a:xfrm>
            <a:off x="611560" y="1916832"/>
            <a:ext cx="8064896" cy="4104456"/>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b="100000"/>
            </a:path>
            <a:tileRect t="-100000" r="-100000"/>
          </a:gradFill>
          <a:effectLst>
            <a:innerShdw blurRad="63500" dist="50800" dir="18900000">
              <a:prstClr val="black">
                <a:alpha val="50000"/>
              </a:prstClr>
            </a:innerShdw>
          </a:effectLst>
        </p:spPr>
        <p:txBody>
          <a:bodyPr/>
          <a:lstStyle>
            <a:lvl1pPr marL="342900" indent="-342900">
              <a:buFontTx/>
              <a:buBlip>
                <a:blip r:embed="rId2"/>
              </a:buBlip>
              <a:defRPr/>
            </a:lvl1pPr>
            <a:lvl2pPr marL="742950" indent="-285750">
              <a:buFontTx/>
              <a:buBlip>
                <a:blip r:embed="rId3"/>
              </a:buBlip>
              <a:defRPr/>
            </a:lvl2pPr>
            <a:lvl3pPr marL="1143000" indent="-228600">
              <a:buFontTx/>
              <a:buBlip>
                <a:blip r:embed="rId4"/>
              </a:buBlip>
              <a:defRPr/>
            </a:lvl3pPr>
            <a:lvl4pPr marL="1600200" indent="-228600">
              <a:buFontTx/>
              <a:buBlip>
                <a:blip r:embed="rId5"/>
              </a:buBlip>
              <a:defRPr/>
            </a:lvl4pPr>
            <a:lvl5pPr marL="2057400" indent="-228600">
              <a:buFontTx/>
              <a:buBlip>
                <a:blip r:embed="rId6"/>
              </a:buBlip>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9" name="组合 8"/>
          <p:cNvGrpSpPr/>
          <p:nvPr userDrawn="1"/>
        </p:nvGrpSpPr>
        <p:grpSpPr>
          <a:xfrm>
            <a:off x="7884368" y="-7628"/>
            <a:ext cx="1224000" cy="1060364"/>
            <a:chOff x="7524328" y="260696"/>
            <a:chExt cx="1224000" cy="1060364"/>
          </a:xfrm>
        </p:grpSpPr>
        <p:sp>
          <p:nvSpPr>
            <p:cNvPr id="12" name="椭圆形标注 11"/>
            <p:cNvSpPr/>
            <p:nvPr userDrawn="1"/>
          </p:nvSpPr>
          <p:spPr>
            <a:xfrm>
              <a:off x="7524328" y="260696"/>
              <a:ext cx="1224000" cy="1060364"/>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path path="circle">
                <a:fillToRect t="100000" r="100000"/>
              </a:path>
              <a:tileRect l="-100000" b="-100000"/>
            </a:gradFill>
            <a:ln>
              <a:noFill/>
            </a:ln>
            <a:effectLst>
              <a:outerShdw blurRad="101600" dist="88900" dir="7200000" algn="t"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4" name="椭圆形标注 13"/>
            <p:cNvSpPr/>
            <p:nvPr userDrawn="1"/>
          </p:nvSpPr>
          <p:spPr>
            <a:xfrm>
              <a:off x="7560264" y="296652"/>
              <a:ext cx="1152128" cy="972108"/>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grpSp>
      <p:sp>
        <p:nvSpPr>
          <p:cNvPr id="15" name="文本占位符 11"/>
          <p:cNvSpPr>
            <a:spLocks noGrp="1"/>
          </p:cNvSpPr>
          <p:nvPr>
            <p:ph type="body" sz="quarter" idx="14" hasCustomPrompt="1"/>
          </p:nvPr>
        </p:nvSpPr>
        <p:spPr>
          <a:xfrm>
            <a:off x="8028248" y="108556"/>
            <a:ext cx="914400" cy="914400"/>
          </a:xfrm>
        </p:spPr>
        <p:txBody>
          <a:bodyPr>
            <a:noAutofit/>
          </a:bodyPr>
          <a:lstStyle>
            <a:lvl1pPr marL="0" indent="0">
              <a:buNone/>
              <a:defRPr sz="4800">
                <a:solidFill>
                  <a:srgbClr val="3399FF"/>
                </a:solidFill>
                <a:effectLst>
                  <a:innerShdw blurRad="63500" dist="50800" dir="16200000">
                    <a:prstClr val="black">
                      <a:alpha val="50000"/>
                    </a:prstClr>
                  </a:innerShdw>
                </a:effectLst>
                <a:latin typeface="Cooper Black" panose="0208090404030B020404" pitchFamily="18" charset="0"/>
              </a:defRPr>
            </a:lvl1pPr>
          </a:lstStyle>
          <a:p>
            <a:pPr lvl="0"/>
            <a:r>
              <a:rPr lang="en-US" altLang="zh-CN" dirty="0"/>
              <a:t>01</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image" Target="../media/image1.png"/><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7" Type="http://schemas.openxmlformats.org/officeDocument/2006/relationships/theme" Target="../theme/theme2.xml"/><Relationship Id="rId26" Type="http://schemas.openxmlformats.org/officeDocument/2006/relationships/image" Target="../media/image1.png"/><Relationship Id="rId25" Type="http://schemas.openxmlformats.org/officeDocument/2006/relationships/slideLayout" Target="../slideLayouts/slideLayout50.xml"/><Relationship Id="rId24" Type="http://schemas.openxmlformats.org/officeDocument/2006/relationships/slideLayout" Target="../slideLayouts/slideLayout49.xml"/><Relationship Id="rId23" Type="http://schemas.openxmlformats.org/officeDocument/2006/relationships/slideLayout" Target="../slideLayouts/slideLayout48.xml"/><Relationship Id="rId22" Type="http://schemas.openxmlformats.org/officeDocument/2006/relationships/slideLayout" Target="../slideLayouts/slideLayout47.xml"/><Relationship Id="rId21" Type="http://schemas.openxmlformats.org/officeDocument/2006/relationships/slideLayout" Target="../slideLayouts/slideLayout46.xml"/><Relationship Id="rId20" Type="http://schemas.openxmlformats.org/officeDocument/2006/relationships/slideLayout" Target="../slideLayouts/slideLayout45.xml"/><Relationship Id="rId2" Type="http://schemas.openxmlformats.org/officeDocument/2006/relationships/slideLayout" Target="../slideLayouts/slideLayout27.xml"/><Relationship Id="rId19" Type="http://schemas.openxmlformats.org/officeDocument/2006/relationships/slideLayout" Target="../slideLayouts/slideLayout44.xml"/><Relationship Id="rId18" Type="http://schemas.openxmlformats.org/officeDocument/2006/relationships/slideLayout" Target="../slideLayouts/slideLayout43.xml"/><Relationship Id="rId17" Type="http://schemas.openxmlformats.org/officeDocument/2006/relationships/slideLayout" Target="../slideLayouts/slideLayout42.xml"/><Relationship Id="rId16" Type="http://schemas.openxmlformats.org/officeDocument/2006/relationships/slideLayout" Target="../slideLayouts/slideLayout41.xml"/><Relationship Id="rId15" Type="http://schemas.openxmlformats.org/officeDocument/2006/relationships/slideLayout" Target="../slideLayouts/slideLayout40.xml"/><Relationship Id="rId14" Type="http://schemas.openxmlformats.org/officeDocument/2006/relationships/slideLayout" Target="../slideLayouts/slideLayout39.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59.xml"/><Relationship Id="rId8" Type="http://schemas.openxmlformats.org/officeDocument/2006/relationships/slideLayout" Target="../slideLayouts/slideLayout58.xml"/><Relationship Id="rId7" Type="http://schemas.openxmlformats.org/officeDocument/2006/relationships/slideLayout" Target="../slideLayouts/slideLayout57.xml"/><Relationship Id="rId6" Type="http://schemas.openxmlformats.org/officeDocument/2006/relationships/slideLayout" Target="../slideLayouts/slideLayout56.xml"/><Relationship Id="rId5" Type="http://schemas.openxmlformats.org/officeDocument/2006/relationships/slideLayout" Target="../slideLayouts/slideLayout55.xml"/><Relationship Id="rId4" Type="http://schemas.openxmlformats.org/officeDocument/2006/relationships/slideLayout" Target="../slideLayouts/slideLayout54.xml"/><Relationship Id="rId3" Type="http://schemas.openxmlformats.org/officeDocument/2006/relationships/slideLayout" Target="../slideLayouts/slideLayout53.xml"/><Relationship Id="rId27" Type="http://schemas.openxmlformats.org/officeDocument/2006/relationships/theme" Target="../theme/theme3.xml"/><Relationship Id="rId26" Type="http://schemas.openxmlformats.org/officeDocument/2006/relationships/image" Target="../media/image1.png"/><Relationship Id="rId25" Type="http://schemas.openxmlformats.org/officeDocument/2006/relationships/slideLayout" Target="../slideLayouts/slideLayout75.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0" Type="http://schemas.openxmlformats.org/officeDocument/2006/relationships/slideLayout" Target="../slideLayouts/slideLayout70.xml"/><Relationship Id="rId2" Type="http://schemas.openxmlformats.org/officeDocument/2006/relationships/slideLayout" Target="../slideLayouts/slideLayout52.xml"/><Relationship Id="rId19" Type="http://schemas.openxmlformats.org/officeDocument/2006/relationships/slideLayout" Target="../slideLayouts/slideLayout69.xml"/><Relationship Id="rId18" Type="http://schemas.openxmlformats.org/officeDocument/2006/relationships/slideLayout" Target="../slideLayouts/slideLayout68.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60000"/>
                <a:lumOff val="40000"/>
              </a:schemeClr>
            </a:gs>
            <a:gs pos="44000">
              <a:schemeClr val="accent3">
                <a:lumMod val="40000"/>
                <a:lumOff val="60000"/>
              </a:schemeClr>
            </a:gs>
            <a:gs pos="100000">
              <a:schemeClr val="bg1"/>
            </a:gs>
          </a:gsLst>
          <a:lin ang="189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AB600-F903-4CC4-898A-BB52B74FA83C}"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A5497D-C9CA-4EB9-ACA1-F5FC865773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p:titleStyle>
    <p:bodyStyle>
      <a:lvl1pPr marL="342900" indent="-342900" algn="l" defTabSz="914400" rtl="0" eaLnBrk="1" latinLnBrk="0" hangingPunct="1">
        <a:lnSpc>
          <a:spcPct val="150000"/>
        </a:lnSpc>
        <a:spcBef>
          <a:spcPct val="20000"/>
        </a:spcBef>
        <a:buFontTx/>
        <a:buBlip>
          <a:blip r:embed="rId26"/>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26"/>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60000"/>
                <a:lumOff val="40000"/>
              </a:schemeClr>
            </a:gs>
            <a:gs pos="44000">
              <a:schemeClr val="accent3">
                <a:lumMod val="40000"/>
                <a:lumOff val="60000"/>
              </a:schemeClr>
            </a:gs>
            <a:gs pos="100000">
              <a:schemeClr val="bg1"/>
            </a:gs>
          </a:gsLst>
          <a:lin ang="189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AB600-F903-4CC4-898A-BB52B74FA83C}"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A5497D-C9CA-4EB9-ACA1-F5FC865773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Lst>
  <p:txStyles>
    <p:title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p:titleStyle>
    <p:bodyStyle>
      <a:lvl1pPr marL="342900" indent="-342900" algn="l" defTabSz="914400" rtl="0" eaLnBrk="1" latinLnBrk="0" hangingPunct="1">
        <a:lnSpc>
          <a:spcPct val="150000"/>
        </a:lnSpc>
        <a:spcBef>
          <a:spcPct val="20000"/>
        </a:spcBef>
        <a:buFontTx/>
        <a:buBlip>
          <a:blip r:embed="rId26"/>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26"/>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60000"/>
                <a:lumOff val="40000"/>
              </a:schemeClr>
            </a:gs>
            <a:gs pos="44000">
              <a:schemeClr val="accent3">
                <a:lumMod val="40000"/>
                <a:lumOff val="60000"/>
              </a:schemeClr>
            </a:gs>
            <a:gs pos="100000">
              <a:schemeClr val="bg1"/>
            </a:gs>
          </a:gsLst>
          <a:lin ang="189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AB600-F903-4CC4-898A-BB52B74FA83C}"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A5497D-C9CA-4EB9-ACA1-F5FC865773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Lst>
  <p:txStyles>
    <p:title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p:titleStyle>
    <p:bodyStyle>
      <a:lvl1pPr marL="342900" indent="-342900" algn="l" defTabSz="914400" rtl="0" eaLnBrk="1" latinLnBrk="0" hangingPunct="1">
        <a:lnSpc>
          <a:spcPct val="150000"/>
        </a:lnSpc>
        <a:spcBef>
          <a:spcPct val="20000"/>
        </a:spcBef>
        <a:buFontTx/>
        <a:buBlip>
          <a:blip r:embed="rId26"/>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26"/>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7" Type="http://schemas.openxmlformats.org/officeDocument/2006/relationships/slideLayout" Target="../slideLayouts/slideLayout55.xml"/><Relationship Id="rId16" Type="http://schemas.openxmlformats.org/officeDocument/2006/relationships/image" Target="../media/image27.png"/><Relationship Id="rId15" Type="http://schemas.openxmlformats.org/officeDocument/2006/relationships/image" Target="../media/image26.png"/><Relationship Id="rId14" Type="http://schemas.openxmlformats.org/officeDocument/2006/relationships/image" Target="../media/image25.png"/><Relationship Id="rId13" Type="http://schemas.openxmlformats.org/officeDocument/2006/relationships/image" Target="../media/image24.png"/><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9" Type="http://schemas.openxmlformats.org/officeDocument/2006/relationships/slideLayout" Target="../slideLayouts/slideLayout55.xml"/><Relationship Id="rId18" Type="http://schemas.openxmlformats.org/officeDocument/2006/relationships/image" Target="../media/image45.png"/><Relationship Id="rId17" Type="http://schemas.openxmlformats.org/officeDocument/2006/relationships/image" Target="../media/image44.png"/><Relationship Id="rId16" Type="http://schemas.openxmlformats.org/officeDocument/2006/relationships/image" Target="../media/image43.png"/><Relationship Id="rId15" Type="http://schemas.openxmlformats.org/officeDocument/2006/relationships/image" Target="../media/image42.png"/><Relationship Id="rId14" Type="http://schemas.openxmlformats.org/officeDocument/2006/relationships/image" Target="../media/image41.png"/><Relationship Id="rId13" Type="http://schemas.openxmlformats.org/officeDocument/2006/relationships/image" Target="../media/image40.png"/><Relationship Id="rId12" Type="http://schemas.openxmlformats.org/officeDocument/2006/relationships/image" Target="../media/image39.png"/><Relationship Id="rId11" Type="http://schemas.openxmlformats.org/officeDocument/2006/relationships/image" Target="../media/image38.png"/><Relationship Id="rId10" Type="http://schemas.openxmlformats.org/officeDocument/2006/relationships/image" Target="../media/image37.png"/><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9" Type="http://schemas.openxmlformats.org/officeDocument/2006/relationships/image" Target="../media/image54.png"/><Relationship Id="rId8" Type="http://schemas.openxmlformats.org/officeDocument/2006/relationships/image" Target="../media/image53.png"/><Relationship Id="rId7" Type="http://schemas.openxmlformats.org/officeDocument/2006/relationships/image" Target="../media/image52.pn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8" Type="http://schemas.openxmlformats.org/officeDocument/2006/relationships/slideLayout" Target="../slideLayouts/slideLayout55.xml"/><Relationship Id="rId17" Type="http://schemas.openxmlformats.org/officeDocument/2006/relationships/image" Target="../media/image62.png"/><Relationship Id="rId16" Type="http://schemas.openxmlformats.org/officeDocument/2006/relationships/image" Target="../media/image61.png"/><Relationship Id="rId15" Type="http://schemas.openxmlformats.org/officeDocument/2006/relationships/image" Target="../media/image60.png"/><Relationship Id="rId14" Type="http://schemas.openxmlformats.org/officeDocument/2006/relationships/image" Target="../media/image59.png"/><Relationship Id="rId13" Type="http://schemas.openxmlformats.org/officeDocument/2006/relationships/image" Target="../media/image58.png"/><Relationship Id="rId12" Type="http://schemas.openxmlformats.org/officeDocument/2006/relationships/image" Target="../media/image57.png"/><Relationship Id="rId11" Type="http://schemas.openxmlformats.org/officeDocument/2006/relationships/image" Target="../media/image56.png"/><Relationship Id="rId10" Type="http://schemas.openxmlformats.org/officeDocument/2006/relationships/image" Target="../media/image55.png"/><Relationship Id="rId1" Type="http://schemas.openxmlformats.org/officeDocument/2006/relationships/image" Target="../media/image46.png"/></Relationships>
</file>

<file path=ppt/slides/_rels/slide16.xml.rels><?xml version="1.0" encoding="UTF-8" standalone="yes"?>
<Relationships xmlns="http://schemas.openxmlformats.org/package/2006/relationships"><Relationship Id="rId9" Type="http://schemas.openxmlformats.org/officeDocument/2006/relationships/image" Target="../media/image71.png"/><Relationship Id="rId8" Type="http://schemas.openxmlformats.org/officeDocument/2006/relationships/image" Target="../media/image70.png"/><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5" Type="http://schemas.openxmlformats.org/officeDocument/2006/relationships/slideLayout" Target="../slideLayouts/slideLayout55.xml"/><Relationship Id="rId14" Type="http://schemas.openxmlformats.org/officeDocument/2006/relationships/image" Target="../media/image76.png"/><Relationship Id="rId13" Type="http://schemas.openxmlformats.org/officeDocument/2006/relationships/image" Target="../media/image75.png"/><Relationship Id="rId12" Type="http://schemas.openxmlformats.org/officeDocument/2006/relationships/image" Target="../media/image74.png"/><Relationship Id="rId11" Type="http://schemas.openxmlformats.org/officeDocument/2006/relationships/image" Target="../media/image73.png"/><Relationship Id="rId10" Type="http://schemas.openxmlformats.org/officeDocument/2006/relationships/image" Target="../media/image72.png"/><Relationship Id="rId1" Type="http://schemas.openxmlformats.org/officeDocument/2006/relationships/image" Target="../media/image63.png"/></Relationships>
</file>

<file path=ppt/slides/_rels/slide17.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2" Type="http://schemas.openxmlformats.org/officeDocument/2006/relationships/notesSlide" Target="../notesSlides/notesSlide1.xml"/><Relationship Id="rId11" Type="http://schemas.openxmlformats.org/officeDocument/2006/relationships/slideLayout" Target="../slideLayouts/slideLayout55.xml"/><Relationship Id="rId10" Type="http://schemas.openxmlformats.org/officeDocument/2006/relationships/image" Target="../media/image86.png"/><Relationship Id="rId1" Type="http://schemas.openxmlformats.org/officeDocument/2006/relationships/image" Target="../media/image77.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image" Target="../media/image94.png"/><Relationship Id="rId7" Type="http://schemas.openxmlformats.org/officeDocument/2006/relationships/image" Target="../media/image93.png"/><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image" Target="../media/image87.png"/></Relationships>
</file>

<file path=ppt/slides/_rels/slide19.xml.rels><?xml version="1.0" encoding="UTF-8" standalone="yes"?>
<Relationships xmlns="http://schemas.openxmlformats.org/package/2006/relationships"><Relationship Id="rId9" Type="http://schemas.openxmlformats.org/officeDocument/2006/relationships/image" Target="../media/image103.png"/><Relationship Id="rId8" Type="http://schemas.openxmlformats.org/officeDocument/2006/relationships/image" Target="../media/image102.png"/><Relationship Id="rId7" Type="http://schemas.openxmlformats.org/officeDocument/2006/relationships/image" Target="../media/image101.png"/><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png"/><Relationship Id="rId10" Type="http://schemas.openxmlformats.org/officeDocument/2006/relationships/slideLayout" Target="../slideLayouts/slideLayout55.xml"/><Relationship Id="rId1" Type="http://schemas.openxmlformats.org/officeDocument/2006/relationships/image" Target="../media/image95.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image" Target="../media/image111.png"/><Relationship Id="rId7" Type="http://schemas.openxmlformats.org/officeDocument/2006/relationships/image" Target="../media/image110.png"/><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21.xml.rels><?xml version="1.0" encoding="UTF-8" standalone="yes"?>
<Relationships xmlns="http://schemas.openxmlformats.org/package/2006/relationships"><Relationship Id="rId9" Type="http://schemas.openxmlformats.org/officeDocument/2006/relationships/image" Target="../media/image120.png"/><Relationship Id="rId8" Type="http://schemas.openxmlformats.org/officeDocument/2006/relationships/image" Target="../media/image119.png"/><Relationship Id="rId7" Type="http://schemas.openxmlformats.org/officeDocument/2006/relationships/image" Target="../media/image118.png"/><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 Id="rId3" Type="http://schemas.openxmlformats.org/officeDocument/2006/relationships/image" Target="../media/image114.png"/><Relationship Id="rId2" Type="http://schemas.openxmlformats.org/officeDocument/2006/relationships/image" Target="../media/image113.png"/><Relationship Id="rId10" Type="http://schemas.openxmlformats.org/officeDocument/2006/relationships/slideLayout" Target="../slideLayouts/slideLayout55.xml"/><Relationship Id="rId1" Type="http://schemas.openxmlformats.org/officeDocument/2006/relationships/image" Target="../media/image112.png"/></Relationships>
</file>

<file path=ppt/slides/_rels/slide22.xml.rels><?xml version="1.0" encoding="UTF-8" standalone="yes"?>
<Relationships xmlns="http://schemas.openxmlformats.org/package/2006/relationships"><Relationship Id="rId9" Type="http://schemas.openxmlformats.org/officeDocument/2006/relationships/image" Target="../media/image129.png"/><Relationship Id="rId8" Type="http://schemas.openxmlformats.org/officeDocument/2006/relationships/image" Target="../media/image128.png"/><Relationship Id="rId7" Type="http://schemas.openxmlformats.org/officeDocument/2006/relationships/image" Target="../media/image127.png"/><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 Id="rId3" Type="http://schemas.openxmlformats.org/officeDocument/2006/relationships/image" Target="../media/image123.png"/><Relationship Id="rId2" Type="http://schemas.openxmlformats.org/officeDocument/2006/relationships/image" Target="../media/image122.png"/><Relationship Id="rId11" Type="http://schemas.openxmlformats.org/officeDocument/2006/relationships/slideLayout" Target="../slideLayouts/slideLayout55.xml"/><Relationship Id="rId10" Type="http://schemas.openxmlformats.org/officeDocument/2006/relationships/image" Target="../media/image130.png"/><Relationship Id="rId1" Type="http://schemas.openxmlformats.org/officeDocument/2006/relationships/image" Target="../media/image121.png"/></Relationships>
</file>

<file path=ppt/slides/_rels/slide23.xml.rels><?xml version="1.0" encoding="UTF-8" standalone="yes"?>
<Relationships xmlns="http://schemas.openxmlformats.org/package/2006/relationships"><Relationship Id="rId9" Type="http://schemas.openxmlformats.org/officeDocument/2006/relationships/image" Target="../media/image139.png"/><Relationship Id="rId8" Type="http://schemas.openxmlformats.org/officeDocument/2006/relationships/image" Target="../media/image138.png"/><Relationship Id="rId7" Type="http://schemas.openxmlformats.org/officeDocument/2006/relationships/image" Target="../media/image137.png"/><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 Id="rId3" Type="http://schemas.openxmlformats.org/officeDocument/2006/relationships/image" Target="../media/image133.png"/><Relationship Id="rId2" Type="http://schemas.openxmlformats.org/officeDocument/2006/relationships/image" Target="../media/image132.png"/><Relationship Id="rId16" Type="http://schemas.openxmlformats.org/officeDocument/2006/relationships/slideLayout" Target="../slideLayouts/slideLayout55.xml"/><Relationship Id="rId15" Type="http://schemas.openxmlformats.org/officeDocument/2006/relationships/image" Target="../media/image145.png"/><Relationship Id="rId14" Type="http://schemas.openxmlformats.org/officeDocument/2006/relationships/image" Target="../media/image144.png"/><Relationship Id="rId13" Type="http://schemas.openxmlformats.org/officeDocument/2006/relationships/image" Target="../media/image143.png"/><Relationship Id="rId12" Type="http://schemas.openxmlformats.org/officeDocument/2006/relationships/image" Target="../media/image142.png"/><Relationship Id="rId11" Type="http://schemas.openxmlformats.org/officeDocument/2006/relationships/image" Target="../media/image141.png"/><Relationship Id="rId10" Type="http://schemas.openxmlformats.org/officeDocument/2006/relationships/image" Target="../media/image140.png"/><Relationship Id="rId1" Type="http://schemas.openxmlformats.org/officeDocument/2006/relationships/image" Target="../media/image131.png"/></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55.xml"/><Relationship Id="rId7" Type="http://schemas.openxmlformats.org/officeDocument/2006/relationships/image" Target="../media/image152.png"/><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image" Target="../media/image146.png"/></Relationships>
</file>

<file path=ppt/slides/_rels/slide25.xml.rels><?xml version="1.0" encoding="UTF-8" standalone="yes"?>
<Relationships xmlns="http://schemas.openxmlformats.org/package/2006/relationships"><Relationship Id="rId9" Type="http://schemas.openxmlformats.org/officeDocument/2006/relationships/image" Target="../media/image161.png"/><Relationship Id="rId8" Type="http://schemas.openxmlformats.org/officeDocument/2006/relationships/image" Target="../media/image160.png"/><Relationship Id="rId7" Type="http://schemas.openxmlformats.org/officeDocument/2006/relationships/image" Target="../media/image159.png"/><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 Id="rId30" Type="http://schemas.openxmlformats.org/officeDocument/2006/relationships/slideLayout" Target="../slideLayouts/slideLayout61.xml"/><Relationship Id="rId3" Type="http://schemas.openxmlformats.org/officeDocument/2006/relationships/image" Target="../media/image155.png"/><Relationship Id="rId29" Type="http://schemas.openxmlformats.org/officeDocument/2006/relationships/image" Target="../media/image181.png"/><Relationship Id="rId28" Type="http://schemas.openxmlformats.org/officeDocument/2006/relationships/image" Target="../media/image180.png"/><Relationship Id="rId27" Type="http://schemas.openxmlformats.org/officeDocument/2006/relationships/image" Target="../media/image179.png"/><Relationship Id="rId26" Type="http://schemas.openxmlformats.org/officeDocument/2006/relationships/image" Target="../media/image178.png"/><Relationship Id="rId25" Type="http://schemas.openxmlformats.org/officeDocument/2006/relationships/image" Target="../media/image177.png"/><Relationship Id="rId24" Type="http://schemas.openxmlformats.org/officeDocument/2006/relationships/image" Target="../media/image176.png"/><Relationship Id="rId23" Type="http://schemas.openxmlformats.org/officeDocument/2006/relationships/image" Target="../media/image175.png"/><Relationship Id="rId22" Type="http://schemas.openxmlformats.org/officeDocument/2006/relationships/image" Target="../media/image174.png"/><Relationship Id="rId21" Type="http://schemas.openxmlformats.org/officeDocument/2006/relationships/image" Target="../media/image173.png"/><Relationship Id="rId20" Type="http://schemas.openxmlformats.org/officeDocument/2006/relationships/image" Target="../media/image172.png"/><Relationship Id="rId2" Type="http://schemas.openxmlformats.org/officeDocument/2006/relationships/image" Target="../media/image154.png"/><Relationship Id="rId19" Type="http://schemas.openxmlformats.org/officeDocument/2006/relationships/image" Target="../media/image171.png"/><Relationship Id="rId18" Type="http://schemas.openxmlformats.org/officeDocument/2006/relationships/image" Target="../media/image170.png"/><Relationship Id="rId17" Type="http://schemas.openxmlformats.org/officeDocument/2006/relationships/image" Target="../media/image169.png"/><Relationship Id="rId16" Type="http://schemas.openxmlformats.org/officeDocument/2006/relationships/image" Target="../media/image168.png"/><Relationship Id="rId15" Type="http://schemas.openxmlformats.org/officeDocument/2006/relationships/image" Target="../media/image167.png"/><Relationship Id="rId14" Type="http://schemas.openxmlformats.org/officeDocument/2006/relationships/image" Target="../media/image166.png"/><Relationship Id="rId13" Type="http://schemas.openxmlformats.org/officeDocument/2006/relationships/image" Target="../media/image165.png"/><Relationship Id="rId12" Type="http://schemas.openxmlformats.org/officeDocument/2006/relationships/image" Target="../media/image164.png"/><Relationship Id="rId11" Type="http://schemas.openxmlformats.org/officeDocument/2006/relationships/image" Target="../media/image163.png"/><Relationship Id="rId10" Type="http://schemas.openxmlformats.org/officeDocument/2006/relationships/image" Target="../media/image162.png"/><Relationship Id="rId1" Type="http://schemas.openxmlformats.org/officeDocument/2006/relationships/image" Target="../media/image1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83.jpeg"/><Relationship Id="rId1" Type="http://schemas.openxmlformats.org/officeDocument/2006/relationships/image" Target="../media/image18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83.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1.xml"/><Relationship Id="rId2" Type="http://schemas.openxmlformats.org/officeDocument/2006/relationships/image" Target="../media/image185.emf"/><Relationship Id="rId1"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90.png"/><Relationship Id="rId2" Type="http://schemas.openxmlformats.org/officeDocument/2006/relationships/slide" Target="slide61.xml"/><Relationship Id="rId1" Type="http://schemas.openxmlformats.org/officeDocument/2006/relationships/image" Target="../media/image189.png"/></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91.wmf"/><Relationship Id="rId1"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5.xml"/><Relationship Id="rId4" Type="http://schemas.openxmlformats.org/officeDocument/2006/relationships/image" Target="../media/image193.wmf"/><Relationship Id="rId3" Type="http://schemas.openxmlformats.org/officeDocument/2006/relationships/oleObject" Target="../embeddings/oleObject4.bin"/><Relationship Id="rId2" Type="http://schemas.openxmlformats.org/officeDocument/2006/relationships/image" Target="../media/image192.wmf"/><Relationship Id="rId1"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5.xml"/><Relationship Id="rId6" Type="http://schemas.openxmlformats.org/officeDocument/2006/relationships/image" Target="../media/image196.wmf"/><Relationship Id="rId5" Type="http://schemas.openxmlformats.org/officeDocument/2006/relationships/oleObject" Target="../embeddings/oleObject7.bin"/><Relationship Id="rId4" Type="http://schemas.openxmlformats.org/officeDocument/2006/relationships/image" Target="../media/image195.wmf"/><Relationship Id="rId3" Type="http://schemas.openxmlformats.org/officeDocument/2006/relationships/oleObject" Target="../embeddings/oleObject6.bin"/><Relationship Id="rId2" Type="http://schemas.openxmlformats.org/officeDocument/2006/relationships/image" Target="../media/image194.wmf"/><Relationship Id="rId1" Type="http://schemas.openxmlformats.org/officeDocument/2006/relationships/oleObject" Target="../embeddings/oleObject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95.wmf"/><Relationship Id="rId1" Type="http://schemas.openxmlformats.org/officeDocument/2006/relationships/oleObject" Target="../embeddings/oleObject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1.xml"/><Relationship Id="rId2" Type="http://schemas.openxmlformats.org/officeDocument/2006/relationships/image" Target="../media/image197.emf"/><Relationship Id="rId1" Type="http://schemas.openxmlformats.org/officeDocument/2006/relationships/oleObject" Target="../embeddings/oleObject9.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7.vml"/><Relationship Id="rId7" Type="http://schemas.openxmlformats.org/officeDocument/2006/relationships/slideLayout" Target="../slideLayouts/slideLayout5.xml"/><Relationship Id="rId6" Type="http://schemas.openxmlformats.org/officeDocument/2006/relationships/image" Target="../media/image190.png"/><Relationship Id="rId5" Type="http://schemas.openxmlformats.org/officeDocument/2006/relationships/slide" Target="slide61.xml"/><Relationship Id="rId4" Type="http://schemas.openxmlformats.org/officeDocument/2006/relationships/image" Target="../media/image199.wmf"/><Relationship Id="rId3" Type="http://schemas.openxmlformats.org/officeDocument/2006/relationships/oleObject" Target="../embeddings/oleObject11.bin"/><Relationship Id="rId2" Type="http://schemas.openxmlformats.org/officeDocument/2006/relationships/image" Target="../media/image198.wmf"/><Relationship Id="rId1" Type="http://schemas.openxmlformats.org/officeDocument/2006/relationships/oleObject" Target="../embeddings/oleObject10.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5.xml"/><Relationship Id="rId7" Type="http://schemas.openxmlformats.org/officeDocument/2006/relationships/image" Target="../media/image203.png"/><Relationship Id="rId6" Type="http://schemas.openxmlformats.org/officeDocument/2006/relationships/image" Target="../media/image202.png"/><Relationship Id="rId5" Type="http://schemas.openxmlformats.org/officeDocument/2006/relationships/slide" Target="slide46.xml"/><Relationship Id="rId4" Type="http://schemas.openxmlformats.org/officeDocument/2006/relationships/image" Target="../media/image201.png"/><Relationship Id="rId3" Type="http://schemas.openxmlformats.org/officeDocument/2006/relationships/slide" Target="slide59.xml"/><Relationship Id="rId2" Type="http://schemas.openxmlformats.org/officeDocument/2006/relationships/image" Target="../media/image200.wmf"/><Relationship Id="rId1" Type="http://schemas.openxmlformats.org/officeDocument/2006/relationships/oleObject" Target="../embeddings/oleObject12.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5.xml"/><Relationship Id="rId2" Type="http://schemas.openxmlformats.org/officeDocument/2006/relationships/image" Target="../media/image204.wmf"/><Relationship Id="rId1" Type="http://schemas.openxmlformats.org/officeDocument/2006/relationships/oleObject" Target="../embeddings/oleObject13.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06.png"/><Relationship Id="rId1" Type="http://schemas.openxmlformats.org/officeDocument/2006/relationships/image" Target="../media/image205.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07.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8.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0.png"/><Relationship Id="rId1" Type="http://schemas.openxmlformats.org/officeDocument/2006/relationships/image" Target="../media/image20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12.wmf"/><Relationship Id="rId1" Type="http://schemas.openxmlformats.org/officeDocument/2006/relationships/oleObject" Target="../embeddings/oleObject14.bin"/></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213.png"/><Relationship Id="rId1" Type="http://schemas.openxmlformats.org/officeDocument/2006/relationships/slide" Target="slide8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3.png"/><Relationship Id="rId1" Type="http://schemas.openxmlformats.org/officeDocument/2006/relationships/slide" Target="slide84.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 Target="slide82.xml"/><Relationship Id="rId1" Type="http://schemas.openxmlformats.org/officeDocument/2006/relationships/slide" Target="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11.vml"/><Relationship Id="rId3" Type="http://schemas.openxmlformats.org/officeDocument/2006/relationships/slideLayout" Target="../slideLayouts/slideLayout1.xml"/><Relationship Id="rId2" Type="http://schemas.openxmlformats.org/officeDocument/2006/relationships/image" Target="../media/image214.wmf"/><Relationship Id="rId1" Type="http://schemas.openxmlformats.org/officeDocument/2006/relationships/oleObject" Target="../embeddings/oleObject15.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slide" Target="slide8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7.png"/><Relationship Id="rId1" Type="http://schemas.openxmlformats.org/officeDocument/2006/relationships/slide" Target="slide11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217.png"/><Relationship Id="rId1" Type="http://schemas.openxmlformats.org/officeDocument/2006/relationships/slide" Target="slide114.xml"/></Relationships>
</file>

<file path=ppt/slides/_rels/slide133.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0.xml"/><Relationship Id="rId2" Type="http://schemas.openxmlformats.org/officeDocument/2006/relationships/image" Target="../media/image218.wmf"/><Relationship Id="rId1" Type="http://schemas.openxmlformats.org/officeDocument/2006/relationships/oleObject" Target="../embeddings/oleObject16.bin"/></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16.xml"/><Relationship Id="rId2" Type="http://schemas.openxmlformats.org/officeDocument/2006/relationships/image" Target="../media/image219.wmf"/><Relationship Id="rId1" Type="http://schemas.openxmlformats.org/officeDocument/2006/relationships/oleObject" Target="../embeddings/oleObject17.bin"/></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9.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4.vml"/><Relationship Id="rId3" Type="http://schemas.openxmlformats.org/officeDocument/2006/relationships/slideLayout" Target="../slideLayouts/slideLayout11.xml"/><Relationship Id="rId2" Type="http://schemas.openxmlformats.org/officeDocument/2006/relationships/image" Target="../media/image220.emf"/><Relationship Id="rId1" Type="http://schemas.openxmlformats.org/officeDocument/2006/relationships/oleObject" Target="../embeddings/oleObject18.bin"/></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image" Target="../media/image216.png"/><Relationship Id="rId3" Type="http://schemas.openxmlformats.org/officeDocument/2006/relationships/slide" Target="slide165.xml"/><Relationship Id="rId2" Type="http://schemas.openxmlformats.org/officeDocument/2006/relationships/image" Target="../media/image221.png"/><Relationship Id="rId1" Type="http://schemas.openxmlformats.org/officeDocument/2006/relationships/slide" Target="slide15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221.png"/><Relationship Id="rId1" Type="http://schemas.openxmlformats.org/officeDocument/2006/relationships/slide" Target="slide155.xml"/></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216.png"/><Relationship Id="rId1" Type="http://schemas.openxmlformats.org/officeDocument/2006/relationships/slide" Target="slide16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6.xml"/><Relationship Id="rId2" Type="http://schemas.openxmlformats.org/officeDocument/2006/relationships/image" Target="../media/image222.wmf"/><Relationship Id="rId1" Type="http://schemas.openxmlformats.org/officeDocument/2006/relationships/oleObject" Target="../embeddings/oleObject19.bin"/></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3.pn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4.png"/></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5.png"/></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6.png"/></Relationships>
</file>

<file path=ppt/slides/_rels/slide159.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228.wmf"/><Relationship Id="rId3" Type="http://schemas.openxmlformats.org/officeDocument/2006/relationships/oleObject" Target="../embeddings/oleObject21.bin"/><Relationship Id="rId2" Type="http://schemas.openxmlformats.org/officeDocument/2006/relationships/image" Target="../media/image227.wmf"/><Relationship Id="rId1" Type="http://schemas.openxmlformats.org/officeDocument/2006/relationships/oleObject" Target="../embeddings/oleObject20.bin"/></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image" Target="../media/image229.png"/></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64.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232.wmf"/><Relationship Id="rId1" Type="http://schemas.openxmlformats.org/officeDocument/2006/relationships/oleObject" Target="../embeddings/oleObject22.bin"/></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6.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9.xml"/><Relationship Id="rId3" Type="http://schemas.openxmlformats.org/officeDocument/2006/relationships/image" Target="../media/image234.wmf"/><Relationship Id="rId2" Type="http://schemas.openxmlformats.org/officeDocument/2006/relationships/oleObject" Target="../embeddings/oleObject23.bin"/><Relationship Id="rId1" Type="http://schemas.openxmlformats.org/officeDocument/2006/relationships/image" Target="../media/image233.GIF"/></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9.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235.wmf"/><Relationship Id="rId1" Type="http://schemas.openxmlformats.org/officeDocument/2006/relationships/oleObject" Target="../embeddings/oleObject24.bin"/></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奥斯特罗姆的经济</a:t>
            </a:r>
            <a:r>
              <a:rPr lang="zh-CN" altLang="en-US"/>
              <a:t>理论</a:t>
            </a:r>
            <a:endParaRPr lang="zh-CN" altLang="en-US"/>
          </a:p>
        </p:txBody>
      </p:sp>
      <p:sp>
        <p:nvSpPr>
          <p:cNvPr id="3" name="内容占位符 2"/>
          <p:cNvSpPr>
            <a:spLocks noGrp="1"/>
          </p:cNvSpPr>
          <p:nvPr>
            <p:ph idx="1"/>
          </p:nvPr>
        </p:nvSpPr>
        <p:spPr>
          <a:xfrm>
            <a:off x="3641725" y="1772920"/>
            <a:ext cx="5178425" cy="4608195"/>
          </a:xfrm>
        </p:spPr>
        <p:txBody>
          <a:bodyPr/>
          <a:p>
            <a:r>
              <a:rPr lang="zh-CN" altLang="en-US"/>
              <a:t>公地悲剧</a:t>
            </a:r>
            <a:endParaRPr lang="zh-CN" altLang="en-US"/>
          </a:p>
          <a:p>
            <a:r>
              <a:rPr lang="zh-CN" altLang="en-US"/>
              <a:t>囚徒困境</a:t>
            </a:r>
            <a:endParaRPr lang="zh-CN" altLang="en-US"/>
          </a:p>
          <a:p>
            <a:r>
              <a:rPr lang="zh-CN" altLang="en-US"/>
              <a:t>集体行动的逻辑（搭便车</a:t>
            </a:r>
            <a:r>
              <a:rPr lang="zh-CN" altLang="en-US"/>
              <a:t>现象）</a:t>
            </a:r>
            <a:endParaRPr lang="zh-CN" altLang="en-US"/>
          </a:p>
        </p:txBody>
      </p:sp>
      <p:pic>
        <p:nvPicPr>
          <p:cNvPr id="4" name="图片 3" descr="截屏2023-09-10 10.46.31"/>
          <p:cNvPicPr>
            <a:picLocks noChangeAspect="1"/>
          </p:cNvPicPr>
          <p:nvPr/>
        </p:nvPicPr>
        <p:blipFill>
          <a:blip r:embed="rId1"/>
          <a:stretch>
            <a:fillRect/>
          </a:stretch>
        </p:blipFill>
        <p:spPr>
          <a:xfrm>
            <a:off x="239395" y="2000250"/>
            <a:ext cx="3181350" cy="4152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集体行动</a:t>
            </a:r>
            <a:r>
              <a:rPr lang="zh-CN" altLang="en-US"/>
              <a:t>的逻辑</a:t>
            </a:r>
            <a:endParaRPr lang="zh-CN" altLang="en-US"/>
          </a:p>
        </p:txBody>
      </p:sp>
      <p:pic>
        <p:nvPicPr>
          <p:cNvPr id="4" name="内容占位符 3"/>
          <p:cNvPicPr>
            <a:picLocks noChangeAspect="1"/>
          </p:cNvPicPr>
          <p:nvPr>
            <p:ph idx="1"/>
          </p:nvPr>
        </p:nvPicPr>
        <p:blipFill>
          <a:blip r:embed="rId1"/>
          <a:stretch>
            <a:fillRect/>
          </a:stretch>
        </p:blipFill>
        <p:spPr>
          <a:xfrm>
            <a:off x="464185" y="2160270"/>
            <a:ext cx="3589655" cy="3449955"/>
          </a:xfrm>
          <a:prstGeom prst="rect">
            <a:avLst/>
          </a:prstGeom>
        </p:spPr>
      </p:pic>
      <p:sp>
        <p:nvSpPr>
          <p:cNvPr id="5" name="文本框 4"/>
          <p:cNvSpPr txBox="1"/>
          <p:nvPr/>
        </p:nvSpPr>
        <p:spPr>
          <a:xfrm>
            <a:off x="4444365" y="2160270"/>
            <a:ext cx="4250055" cy="3046095"/>
          </a:xfrm>
          <a:prstGeom prst="rect">
            <a:avLst/>
          </a:prstGeom>
          <a:noFill/>
        </p:spPr>
        <p:txBody>
          <a:bodyPr wrap="square" rtlCol="0">
            <a:spAutoFit/>
          </a:bodyPr>
          <a:p>
            <a:pPr marL="571500" indent="-571500">
              <a:buFont typeface="Arial" panose="020B0604020202020204" pitchFamily="34" charset="0"/>
              <a:buChar char="•"/>
            </a:pPr>
            <a:r>
              <a:rPr lang="zh-CN" altLang="en-US" sz="3200">
                <a:latin typeface="微软雅黑" panose="020B0503020204020204" charset="-122"/>
                <a:ea typeface="微软雅黑" panose="020B0503020204020204" charset="-122"/>
              </a:rPr>
              <a:t>组织成本随着集团规模的扩张而剧增</a:t>
            </a:r>
            <a:endParaRPr lang="zh-CN" altLang="en-US" sz="3200">
              <a:latin typeface="微软雅黑" panose="020B0503020204020204" charset="-122"/>
              <a:ea typeface="微软雅黑" panose="020B0503020204020204" charset="-122"/>
            </a:endParaRPr>
          </a:p>
          <a:p>
            <a:pPr marL="571500" indent="-571500">
              <a:buFont typeface="Arial" panose="020B0604020202020204" pitchFamily="34" charset="0"/>
              <a:buChar char="•"/>
            </a:pPr>
            <a:endParaRPr lang="zh-CN" altLang="en-US" sz="3200">
              <a:latin typeface="微软雅黑" panose="020B0503020204020204" charset="-122"/>
              <a:ea typeface="微软雅黑" panose="020B0503020204020204" charset="-122"/>
            </a:endParaRPr>
          </a:p>
          <a:p>
            <a:pPr marL="571500" indent="-571500">
              <a:buFont typeface="Arial" panose="020B0604020202020204" pitchFamily="34" charset="0"/>
              <a:buChar char="•"/>
            </a:pPr>
            <a:r>
              <a:rPr lang="zh-CN" altLang="en-US" sz="3200">
                <a:latin typeface="微软雅黑" panose="020B0503020204020204" charset="-122"/>
                <a:ea typeface="微软雅黑" panose="020B0503020204020204" charset="-122"/>
              </a:rPr>
              <a:t>需要构建起选择性激励机制来避免</a:t>
            </a:r>
            <a:r>
              <a:rPr lang="en-US" altLang="zh-CN" sz="3200">
                <a:latin typeface="微软雅黑" panose="020B0503020204020204" charset="-122"/>
                <a:ea typeface="微软雅黑" panose="020B0503020204020204" charset="-122"/>
              </a:rPr>
              <a:t>“</a:t>
            </a:r>
            <a:r>
              <a:rPr lang="zh-CN" altLang="en-US" sz="3200">
                <a:latin typeface="微软雅黑" panose="020B0503020204020204" charset="-122"/>
                <a:ea typeface="微软雅黑" panose="020B0503020204020204" charset="-122"/>
              </a:rPr>
              <a:t>搭便车</a:t>
            </a:r>
            <a:r>
              <a:rPr lang="en-US" altLang="zh-CN" sz="3200">
                <a:latin typeface="微软雅黑" panose="020B0503020204020204" charset="-122"/>
                <a:ea typeface="微软雅黑" panose="020B0503020204020204" charset="-122"/>
              </a:rPr>
              <a:t>”</a:t>
            </a:r>
            <a:r>
              <a:rPr lang="zh-CN" altLang="en-US" sz="3200">
                <a:latin typeface="微软雅黑" panose="020B0503020204020204" charset="-122"/>
                <a:ea typeface="微软雅黑" panose="020B0503020204020204" charset="-122"/>
              </a:rPr>
              <a:t>现象</a:t>
            </a:r>
            <a:endParaRPr lang="zh-CN" altLang="en-US" sz="3200">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奥斯勒罗姆与诺贝尔经济学</a:t>
            </a:r>
            <a:r>
              <a:rPr lang="zh-CN" altLang="en-US"/>
              <a:t>奖</a:t>
            </a:r>
            <a:endParaRPr lang="zh-CN" altLang="en-US"/>
          </a:p>
        </p:txBody>
      </p:sp>
      <p:pic>
        <p:nvPicPr>
          <p:cNvPr id="4" name="内容占位符 3"/>
          <p:cNvPicPr>
            <a:picLocks noChangeAspect="1"/>
          </p:cNvPicPr>
          <p:nvPr>
            <p:ph idx="1"/>
          </p:nvPr>
        </p:nvPicPr>
        <p:blipFill>
          <a:blip r:embed="rId1"/>
          <a:stretch>
            <a:fillRect/>
          </a:stretch>
        </p:blipFill>
        <p:spPr>
          <a:xfrm>
            <a:off x="323215" y="1887855"/>
            <a:ext cx="8497570" cy="43770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四种类型的</a:t>
            </a:r>
            <a:r>
              <a:rPr lang="zh-CN" altLang="en-US"/>
              <a:t>商品</a:t>
            </a:r>
            <a:endParaRPr lang="zh-CN" altLang="en-US"/>
          </a:p>
        </p:txBody>
      </p:sp>
      <p:pic>
        <p:nvPicPr>
          <p:cNvPr id="4" name="内容占位符 3"/>
          <p:cNvPicPr>
            <a:picLocks noChangeAspect="1"/>
          </p:cNvPicPr>
          <p:nvPr>
            <p:ph idx="1"/>
          </p:nvPr>
        </p:nvPicPr>
        <p:blipFill>
          <a:blip r:embed="rId1"/>
          <a:stretch>
            <a:fillRect/>
          </a:stretch>
        </p:blipFill>
        <p:spPr>
          <a:xfrm>
            <a:off x="490220" y="2828925"/>
            <a:ext cx="8162925" cy="2495550"/>
          </a:xfrm>
          <a:prstGeom prst="rect">
            <a:avLst/>
          </a:prstGeom>
        </p:spPr>
      </p:pic>
      <p:sp>
        <p:nvSpPr>
          <p:cNvPr id="5" name="文本框 4"/>
          <p:cNvSpPr txBox="1"/>
          <p:nvPr/>
        </p:nvSpPr>
        <p:spPr>
          <a:xfrm>
            <a:off x="4157345" y="2115820"/>
            <a:ext cx="4493260" cy="368300"/>
          </a:xfrm>
          <a:prstGeom prst="rect">
            <a:avLst/>
          </a:prstGeom>
          <a:noFill/>
        </p:spPr>
        <p:txBody>
          <a:bodyPr wrap="square" rtlCol="0">
            <a:spAutoFit/>
          </a:bodyPr>
          <a:p>
            <a:r>
              <a:rPr lang="en-US" altLang="zh-CN"/>
              <a:t>Subtractability of Use</a:t>
            </a:r>
            <a:r>
              <a:rPr lang="zh-CN" altLang="en-US"/>
              <a:t>：使用</a:t>
            </a:r>
            <a:r>
              <a:rPr lang="zh-CN" altLang="en-US"/>
              <a:t>可减性</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IAD（Institutional Analysis and Development）框架</a:t>
            </a:r>
            <a:endParaRPr lang="zh-CN" altLang="en-US"/>
          </a:p>
        </p:txBody>
      </p:sp>
      <p:pic>
        <p:nvPicPr>
          <p:cNvPr id="4" name="内容占位符 3" descr="iad-framework-edit"/>
          <p:cNvPicPr>
            <a:picLocks noChangeAspect="1"/>
          </p:cNvPicPr>
          <p:nvPr>
            <p:ph idx="1"/>
          </p:nvPr>
        </p:nvPicPr>
        <p:blipFill>
          <a:blip r:embed="rId1"/>
          <a:stretch>
            <a:fillRect/>
          </a:stretch>
        </p:blipFill>
        <p:spPr>
          <a:xfrm>
            <a:off x="1115695" y="1772920"/>
            <a:ext cx="6911975" cy="46081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外生变量</a:t>
            </a:r>
            <a:r>
              <a:rPr lang="en-US" altLang="zh-CN"/>
              <a:t> (Exogenous Variables)</a:t>
            </a:r>
            <a:endParaRPr lang="en-US" altLang="zh-CN"/>
          </a:p>
        </p:txBody>
      </p:sp>
      <p:sp>
        <p:nvSpPr>
          <p:cNvPr id="3" name="内容占位符 2"/>
          <p:cNvSpPr>
            <a:spLocks noGrp="1"/>
          </p:cNvSpPr>
          <p:nvPr>
            <p:ph idx="1"/>
          </p:nvPr>
        </p:nvSpPr>
        <p:spPr/>
        <p:txBody>
          <a:bodyPr/>
          <a:p>
            <a:r>
              <a:rPr 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影响行动情境和参与者选择的外部因素，</a:t>
            </a:r>
            <a:endParaRPr 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lvl="1"/>
            <a:r>
              <a:rPr 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包括：</a:t>
            </a:r>
            <a:endParaRPr 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lvl="1"/>
            <a:r>
              <a:rPr 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生物物理条件 (Biophysical Conditions)</a:t>
            </a:r>
            <a:endParaRPr lang="en-US" dirty="0"/>
          </a:p>
          <a:p>
            <a:pPr lvl="1"/>
            <a:r>
              <a:rPr 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共同体属性 (Attributes of Community)</a:t>
            </a:r>
            <a:endParaRPr 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lvl="1"/>
            <a:r>
              <a:rPr lang="zh-CN" alt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规则（</a:t>
            </a:r>
            <a:r>
              <a:rPr lang="en-US" altLang="zh-CN"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Rules</a:t>
            </a:r>
            <a:r>
              <a:rPr lang="zh-CN" altLang="en-US"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a:t>
            </a:r>
            <a:endParaRPr lang="en-US" dirty="0"/>
          </a:p>
          <a:p>
            <a:pPr lvl="1"/>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行动舞台</a:t>
            </a:r>
            <a:r>
              <a:rPr lang="en-US" altLang="zh-CN"/>
              <a:t> (Action Arena)</a:t>
            </a:r>
            <a:endParaRPr lang="en-US" altLang="zh-CN"/>
          </a:p>
        </p:txBody>
      </p:sp>
      <p:sp>
        <p:nvSpPr>
          <p:cNvPr id="3" name="内容占位符 2"/>
          <p:cNvSpPr>
            <a:spLocks noGrp="1"/>
          </p:cNvSpPr>
          <p:nvPr>
            <p:ph idx="1"/>
          </p:nvPr>
        </p:nvSpPr>
        <p:spPr/>
        <p:txBody>
          <a:bodyPr/>
          <a:p>
            <a:r>
              <a:rPr lang="en-US" altLang="zh-CN"/>
              <a:t>IAD</a:t>
            </a:r>
            <a:r>
              <a:rPr lang="zh-CN" altLang="en-US"/>
              <a:t>框架的核心分析单位，</a:t>
            </a:r>
            <a:r>
              <a:rPr lang="zh-CN" altLang="en-US"/>
              <a:t>包括</a:t>
            </a:r>
            <a:endParaRPr lang="zh-CN" altLang="en-US"/>
          </a:p>
          <a:p>
            <a:pPr lvl="1"/>
            <a:r>
              <a:rPr lang="zh-CN" altLang="en-US"/>
              <a:t>行动情境</a:t>
            </a:r>
            <a:r>
              <a:rPr lang="en-US" altLang="zh-CN"/>
              <a:t> (Action Situations)</a:t>
            </a:r>
            <a:endParaRPr lang="en-US" altLang="zh-CN"/>
          </a:p>
          <a:p>
            <a:pPr lvl="1"/>
            <a:r>
              <a:rPr lang="zh-CN" altLang="en-US"/>
              <a:t>参与者（</a:t>
            </a:r>
            <a:r>
              <a:rPr lang="en-US" altLang="zh-CN"/>
              <a:t>Paticipants</a:t>
            </a:r>
            <a:r>
              <a:rPr lang="zh-CN" altLang="en-US"/>
              <a:t>）</a:t>
            </a:r>
            <a:endParaRPr lang="en-US" altLang="zh-CN"/>
          </a:p>
          <a:p>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normAutofit fontScale="90000"/>
          </a:bodyPr>
          <a:p>
            <a:r>
              <a:rPr lang="zh-CN" altLang="en-US"/>
              <a:t>第一步：确定行动</a:t>
            </a:r>
            <a:r>
              <a:rPr lang="zh-CN" altLang="en-US"/>
              <a:t>情景</a:t>
            </a:r>
            <a:endParaRPr lang="zh-CN" altLang="en-US"/>
          </a:p>
        </p:txBody>
      </p:sp>
      <p:sp>
        <p:nvSpPr>
          <p:cNvPr id="5" name="文本框 4"/>
          <p:cNvSpPr txBox="1"/>
          <p:nvPr/>
        </p:nvSpPr>
        <p:spPr>
          <a:xfrm>
            <a:off x="738505" y="1948180"/>
            <a:ext cx="7356475" cy="932180"/>
          </a:xfrm>
          <a:prstGeom prst="rect">
            <a:avLst/>
          </a:prstGeom>
          <a:noFill/>
        </p:spPr>
        <p:txBody>
          <a:bodyPr wrap="square" rtlCol="0">
            <a:noAutofit/>
          </a:bodyPr>
          <a:p>
            <a:pPr marL="285750" indent="-285750">
              <a:buFont typeface="Arial" panose="020B0604020202020204" pitchFamily="34" charset="0"/>
              <a:buChar char="•"/>
            </a:pPr>
            <a:r>
              <a:rPr lang="zh-CN" altLang="en-US" sz="2800">
                <a:latin typeface="黑体" panose="02010609060101010101" charset="-122"/>
                <a:ea typeface="黑体" panose="02010609060101010101" charset="-122"/>
              </a:rPr>
              <a:t>行动情景是个体间互动、交换商品和服务、解决问题、互相支配或争斗的社会空间。</a:t>
            </a:r>
            <a:endParaRPr lang="zh-CN" altLang="en-US" sz="2800">
              <a:latin typeface="黑体" panose="02010609060101010101" charset="-122"/>
              <a:ea typeface="黑体" panose="02010609060101010101" charset="-122"/>
            </a:endParaRPr>
          </a:p>
          <a:p>
            <a:pPr marL="285750" indent="-285750">
              <a:buFont typeface="Arial" panose="020B0604020202020204" pitchFamily="34" charset="0"/>
              <a:buChar char="•"/>
            </a:pPr>
            <a:r>
              <a:rPr lang="zh-CN" altLang="en-US" sz="2800">
                <a:latin typeface="黑体" panose="02010609060101010101" charset="-122"/>
                <a:ea typeface="黑体" panose="02010609060101010101" charset="-122"/>
              </a:rPr>
              <a:t>用于描述行动情景结构的一组普遍变量包括：</a:t>
            </a:r>
            <a:endParaRPr lang="zh-CN" altLang="en-US" sz="28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en-US" altLang="zh-CN" sz="2000">
                <a:latin typeface="黑体" panose="02010609060101010101" charset="-122"/>
                <a:ea typeface="黑体" panose="02010609060101010101" charset="-122"/>
              </a:rPr>
              <a:t>(1)</a:t>
            </a:r>
            <a:r>
              <a:rPr lang="zh-CN" altLang="en-US" sz="2000">
                <a:latin typeface="黑体" panose="02010609060101010101" charset="-122"/>
                <a:ea typeface="黑体" panose="02010609060101010101" charset="-122"/>
              </a:rPr>
              <a:t>一群行为者；</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(2)拟由参与者填补的具体职位；</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(3)一套允许的行动与相应的后果；</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(4)与个体一系列行动相联系的潜在结果；</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(5)每个参与者的选择受到的控制程度；</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(6)参与者可获取的关于行动情景结构的信息；</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(7）分配给行动和结果的成本和收益，作为激励和威慑。</a:t>
            </a:r>
            <a:endParaRPr lang="zh-CN" altLang="en-US" sz="2000">
              <a:latin typeface="黑体" panose="02010609060101010101" charset="-122"/>
              <a:ea typeface="黑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影响行动情景</a:t>
            </a:r>
            <a:r>
              <a:rPr lang="zh-CN" altLang="en-US"/>
              <a:t>的七种</a:t>
            </a:r>
            <a:r>
              <a:rPr lang="zh-CN" altLang="en-US"/>
              <a:t>规则</a:t>
            </a:r>
            <a:endParaRPr lang="zh-CN" altLang="en-US"/>
          </a:p>
        </p:txBody>
      </p:sp>
      <p:sp>
        <p:nvSpPr>
          <p:cNvPr id="3" name="内容占位符 2"/>
          <p:cNvSpPr>
            <a:spLocks noGrp="1"/>
          </p:cNvSpPr>
          <p:nvPr>
            <p:ph idx="1"/>
          </p:nvPr>
        </p:nvSpPr>
        <p:spPr>
          <a:xfrm>
            <a:off x="323215" y="1604645"/>
            <a:ext cx="8528050" cy="5049520"/>
          </a:xfrm>
        </p:spPr>
        <p:txBody>
          <a:bodyPr>
            <a:normAutofit fontScale="40000"/>
          </a:bodyPr>
          <a:p>
            <a:r>
              <a:rPr lang="zh-CN" altLang="en-US"/>
              <a:t>角色规则(Position rules)定义了“有”哪些参与者, 构建了参与者在行动情境中承担的角色集合以及每个角色的数量和类型</a:t>
            </a:r>
            <a:endParaRPr lang="zh-CN" altLang="en-US"/>
          </a:p>
          <a:p>
            <a:r>
              <a:rPr lang="zh-CN" altLang="en-US"/>
              <a:t>边界规则(Boundary rules)规定了参与者如何“进入”或“离开”那些角色, 以及他们能否可以自由地“进入”和“离开”时面临的条件</a:t>
            </a:r>
            <a:endParaRPr lang="zh-CN" altLang="en-US"/>
          </a:p>
          <a:p>
            <a:r>
              <a:rPr lang="zh-CN" altLang="en-US"/>
              <a:t>选择规则(Choice rules)指定了参与者有义务、允许、禁止“做”的行动, 行动集合取决于参与者的角色。选择规则确定了将行动与结果联系起来的决策树的形状</a:t>
            </a:r>
            <a:endParaRPr lang="zh-CN" altLang="en-US"/>
          </a:p>
          <a:p>
            <a:r>
              <a:rPr lang="zh-CN" altLang="en-US"/>
              <a:t>聚合规则(Aggregation rules)界定了参与者在行动情境中“共同影响”结果的控制水平。这条规则体现了每个参与者的决策能够对从行动到结果的转换产生多大的功能</a:t>
            </a:r>
            <a:endParaRPr lang="zh-CN" altLang="en-US"/>
          </a:p>
          <a:p>
            <a:r>
              <a:rPr lang="zh-CN" altLang="en-US"/>
              <a:t>范围规则(Scope rules)规定了可能“发生”的潜在结果, 它定义了一个结果的集合, 集合内的一个结果会因为必须、禁止或可能的行动而受到影响</a:t>
            </a:r>
            <a:endParaRPr lang="zh-CN" altLang="en-US"/>
          </a:p>
          <a:p>
            <a:r>
              <a:rPr lang="zh-CN" altLang="en-US"/>
              <a:t>信息规则(Information rules)指定了每个角色能够“发送”和“接受”的信息, 它授权参与者之间的信息交流通渠道、交流频率以及交流形式</a:t>
            </a:r>
            <a:endParaRPr lang="zh-CN" altLang="en-US"/>
          </a:p>
          <a:p>
            <a:r>
              <a:rPr lang="zh-CN" altLang="en-US"/>
              <a:t>收益规则(Pay-off rules)确定了“支付”的成本和“得到”的收益, 它基于采取的一系列行动和达成的结果, 并且能够建立行动的激励与阻碍</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第二步：分析</a:t>
            </a:r>
            <a:r>
              <a:rPr lang="zh-CN" altLang="en-US"/>
              <a:t>行动者</a:t>
            </a:r>
            <a:endParaRPr lang="zh-CN" altLang="en-US"/>
          </a:p>
        </p:txBody>
      </p:sp>
      <p:sp>
        <p:nvSpPr>
          <p:cNvPr id="5" name="内容占位符 4"/>
          <p:cNvSpPr>
            <a:spLocks noGrp="1"/>
          </p:cNvSpPr>
          <p:nvPr>
            <p:ph idx="1"/>
          </p:nvPr>
        </p:nvSpPr>
        <p:spPr/>
        <p:txBody>
          <a:bodyPr>
            <a:normAutofit fontScale="70000"/>
          </a:bodyPr>
          <a:p>
            <a:r>
              <a:rPr lang="zh-CN" altLang="en-US"/>
              <a:t>分析者必须对参与者的价值观、其拥有的资源、信息和信念、信息处理能力以及决策时运用的内在机制做出假设。</a:t>
            </a:r>
            <a:endParaRPr lang="zh-CN" altLang="en-US"/>
          </a:p>
          <a:p>
            <a:r>
              <a:rPr lang="zh-CN" altLang="en-US"/>
              <a:t>奥斯特罗姆综合古典政治经济学和西蒙的有限理性对行动者的一些假设，认为由于信息不完全和处理信息的能力有限，个体在选择实现目标的策略时可能犯错误。然而，随着时间的推移，人们可以更好地了解自己的处境，并采取导致更高回报的策略。互惠可以培养起来，而不是严格的狭隘，追求自身利益短期目标。</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第三</a:t>
            </a:r>
            <a:r>
              <a:rPr lang="zh-CN" altLang="en-US"/>
              <a:t>步：在行动情景中预测结果</a:t>
            </a:r>
            <a:endParaRPr lang="zh-CN" altLang="en-US"/>
          </a:p>
        </p:txBody>
      </p:sp>
      <p:sp>
        <p:nvSpPr>
          <p:cNvPr id="3" name="内容占位符 2"/>
          <p:cNvSpPr>
            <a:spLocks noGrp="1"/>
          </p:cNvSpPr>
          <p:nvPr>
            <p:ph idx="1"/>
          </p:nvPr>
        </p:nvSpPr>
        <p:spPr/>
        <p:txBody>
          <a:bodyPr>
            <a:normAutofit fontScale="60000"/>
          </a:bodyPr>
          <a:p>
            <a:r>
              <a:rPr lang="zh-CN" altLang="en-US"/>
              <a:t>在严格约束的、一次性的、在信息完全条件下的行动情景中，参与者受到激励选择特定的策略或一系列行动，这些策略或一系列行动共同导致稳定的平衡，分析者通常可以做出强有力的推论，并预测可能的行为和结果模式。</a:t>
            </a:r>
            <a:endParaRPr lang="zh-CN" altLang="en-US"/>
          </a:p>
          <a:p>
            <a:r>
              <a:rPr lang="zh-CN" altLang="en-US"/>
              <a:t>然而，个体可能嵌入到共同体(communities)，共同体中初始的公平和保护规则可能会极大地改变情景的结构，因而个体此不会作出完全独立或自主的决策。在这些情景中，参与者可能采取更多的策略。此外，行动者知道了过去行动的结果，可能会不断改变他们的策略。研究这些更开放、更少约束情景的制度分析者会做出更弱的推断，预测在某一特定类型情景中很可能或不太可能出现的结果模式。</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normAutofit fontScale="90000"/>
          </a:bodyPr>
          <a:p>
            <a:r>
              <a:rPr lang="zh-CN" altLang="en-US"/>
              <a:t>第四步：评估</a:t>
            </a:r>
            <a:r>
              <a:rPr lang="zh-CN" altLang="en-US"/>
              <a:t>结果</a:t>
            </a:r>
            <a:endParaRPr lang="zh-CN" altLang="en-US"/>
          </a:p>
        </p:txBody>
      </p:sp>
      <p:sp>
        <p:nvSpPr>
          <p:cNvPr id="5" name="文本框 4"/>
          <p:cNvSpPr txBox="1"/>
          <p:nvPr/>
        </p:nvSpPr>
        <p:spPr>
          <a:xfrm>
            <a:off x="738505" y="1948180"/>
            <a:ext cx="7356475" cy="932180"/>
          </a:xfrm>
          <a:prstGeom prst="rect">
            <a:avLst/>
          </a:prstGeom>
          <a:noFill/>
        </p:spPr>
        <p:txBody>
          <a:bodyPr wrap="square" rtlCol="0">
            <a:noAutofit/>
          </a:bodyPr>
          <a:p>
            <a:pPr marL="285750" indent="-285750">
              <a:buFont typeface="Arial" panose="020B0604020202020204" pitchFamily="34" charset="0"/>
              <a:buChar char="•"/>
            </a:pPr>
            <a:r>
              <a:rPr lang="zh-CN" altLang="en-US" sz="2800">
                <a:latin typeface="黑体" panose="02010609060101010101" charset="-122"/>
                <a:ea typeface="黑体" panose="02010609060101010101" charset="-122"/>
              </a:rPr>
              <a:t>一般聚焦</a:t>
            </a:r>
            <a:r>
              <a:rPr lang="en-US" altLang="zh-CN" sz="2800">
                <a:latin typeface="黑体" panose="02010609060101010101" charset="-122"/>
                <a:ea typeface="黑体" panose="02010609060101010101" charset="-122"/>
              </a:rPr>
              <a:t> 6 </a:t>
            </a:r>
            <a:r>
              <a:rPr lang="zh-CN" altLang="en-US" sz="2800">
                <a:latin typeface="黑体" panose="02010609060101010101" charset="-122"/>
                <a:ea typeface="黑体" panose="02010609060101010101" charset="-122"/>
              </a:rPr>
              <a:t>个评估</a:t>
            </a:r>
            <a:r>
              <a:rPr lang="zh-CN" altLang="en-US" sz="2800">
                <a:latin typeface="黑体" panose="02010609060101010101" charset="-122"/>
                <a:ea typeface="黑体" panose="02010609060101010101" charset="-122"/>
              </a:rPr>
              <a:t>标准：</a:t>
            </a:r>
            <a:endParaRPr lang="zh-CN" altLang="en-US" sz="28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（1）经济效率</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（2）财政平衡式公平（equity through fiscal equivalence）</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（3）再分配公平</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（4）问责（accountability）</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（5）对</a:t>
            </a:r>
            <a:r>
              <a:rPr lang="zh-CN" sz="2000">
                <a:latin typeface="黑体" panose="02010609060101010101" charset="-122"/>
                <a:ea typeface="黑体" panose="02010609060101010101" charset="-122"/>
              </a:rPr>
              <a:t>本地</a:t>
            </a:r>
            <a:r>
              <a:rPr sz="2000">
                <a:latin typeface="黑体" panose="02010609060101010101" charset="-122"/>
                <a:ea typeface="黑体" panose="02010609060101010101" charset="-122"/>
              </a:rPr>
              <a:t>行动者价值的遵从（conformance to values of local Actors）</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（6）可持续性</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endParaRPr sz="2000">
              <a:latin typeface="黑体" panose="02010609060101010101" charset="-122"/>
              <a:ea typeface="黑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IAD</a:t>
            </a:r>
            <a:r>
              <a:rPr lang="zh-CN" altLang="en-US"/>
              <a:t>框架的分析</a:t>
            </a:r>
            <a:r>
              <a:rPr lang="zh-CN" altLang="en-US"/>
              <a:t>层次</a:t>
            </a:r>
            <a:endParaRPr lang="zh-CN" altLang="en-US"/>
          </a:p>
        </p:txBody>
      </p:sp>
      <p:grpSp>
        <p:nvGrpSpPr>
          <p:cNvPr id="52" name="组合 51"/>
          <p:cNvGrpSpPr/>
          <p:nvPr/>
        </p:nvGrpSpPr>
        <p:grpSpPr>
          <a:xfrm>
            <a:off x="119380" y="2493010"/>
            <a:ext cx="9124950" cy="3171825"/>
            <a:chOff x="720" y="6900"/>
            <a:chExt cx="17976" cy="6900"/>
          </a:xfrm>
        </p:grpSpPr>
        <p:pic>
          <p:nvPicPr>
            <p:cNvPr id="7" name="Image 5" descr="preencoded.png"/>
            <p:cNvPicPr>
              <a:picLocks noChangeAspect="1"/>
            </p:cNvPicPr>
            <p:nvPr/>
          </p:nvPicPr>
          <p:blipFill>
            <a:blip r:embed="rId1"/>
            <a:stretch>
              <a:fillRect/>
            </a:stretch>
          </p:blipFill>
          <p:spPr>
            <a:xfrm>
              <a:off x="720" y="6900"/>
              <a:ext cx="5760" cy="6360"/>
            </a:xfrm>
            <a:prstGeom prst="rect">
              <a:avLst/>
            </a:prstGeom>
          </p:spPr>
        </p:pic>
        <p:pic>
          <p:nvPicPr>
            <p:cNvPr id="8" name="Image 6" descr="preencoded.png"/>
            <p:cNvPicPr>
              <a:picLocks noChangeAspect="1"/>
            </p:cNvPicPr>
            <p:nvPr/>
          </p:nvPicPr>
          <p:blipFill>
            <a:blip r:embed="rId2"/>
            <a:stretch>
              <a:fillRect/>
            </a:stretch>
          </p:blipFill>
          <p:spPr>
            <a:xfrm>
              <a:off x="1020" y="7200"/>
              <a:ext cx="600" cy="600"/>
            </a:xfrm>
            <a:prstGeom prst="rect">
              <a:avLst/>
            </a:prstGeom>
          </p:spPr>
        </p:pic>
        <p:pic>
          <p:nvPicPr>
            <p:cNvPr id="9" name="Image 7" descr="preencoded.png"/>
            <p:cNvPicPr>
              <a:picLocks noChangeAspect="1"/>
            </p:cNvPicPr>
            <p:nvPr/>
          </p:nvPicPr>
          <p:blipFill>
            <a:blip r:embed="rId3"/>
            <a:stretch>
              <a:fillRect/>
            </a:stretch>
          </p:blipFill>
          <p:spPr>
            <a:xfrm>
              <a:off x="1133" y="7290"/>
              <a:ext cx="375" cy="420"/>
            </a:xfrm>
            <a:prstGeom prst="rect">
              <a:avLst/>
            </a:prstGeom>
          </p:spPr>
        </p:pic>
        <p:pic>
          <p:nvPicPr>
            <p:cNvPr id="10" name="Image 8" descr="preencoded.png"/>
            <p:cNvPicPr>
              <a:picLocks noChangeAspect="1"/>
            </p:cNvPicPr>
            <p:nvPr/>
          </p:nvPicPr>
          <p:blipFill>
            <a:blip r:embed="rId4"/>
            <a:stretch>
              <a:fillRect/>
            </a:stretch>
          </p:blipFill>
          <p:spPr>
            <a:xfrm>
              <a:off x="1020" y="8055"/>
              <a:ext cx="240" cy="240"/>
            </a:xfrm>
            <a:prstGeom prst="rect">
              <a:avLst/>
            </a:prstGeom>
          </p:spPr>
        </p:pic>
        <p:pic>
          <p:nvPicPr>
            <p:cNvPr id="11" name="Image 9" descr="preencoded.png"/>
            <p:cNvPicPr>
              <a:picLocks noChangeAspect="1"/>
            </p:cNvPicPr>
            <p:nvPr/>
          </p:nvPicPr>
          <p:blipFill>
            <a:blip r:embed="rId4"/>
            <a:stretch>
              <a:fillRect/>
            </a:stretch>
          </p:blipFill>
          <p:spPr>
            <a:xfrm>
              <a:off x="1020" y="8835"/>
              <a:ext cx="240" cy="240"/>
            </a:xfrm>
            <a:prstGeom prst="rect">
              <a:avLst/>
            </a:prstGeom>
          </p:spPr>
        </p:pic>
        <p:pic>
          <p:nvPicPr>
            <p:cNvPr id="12" name="Image 10" descr="preencoded.png"/>
            <p:cNvPicPr>
              <a:picLocks noChangeAspect="1"/>
            </p:cNvPicPr>
            <p:nvPr/>
          </p:nvPicPr>
          <p:blipFill>
            <a:blip r:embed="rId4"/>
            <a:stretch>
              <a:fillRect/>
            </a:stretch>
          </p:blipFill>
          <p:spPr>
            <a:xfrm>
              <a:off x="1020" y="9615"/>
              <a:ext cx="240" cy="240"/>
            </a:xfrm>
            <a:prstGeom prst="rect">
              <a:avLst/>
            </a:prstGeom>
          </p:spPr>
        </p:pic>
        <p:pic>
          <p:nvPicPr>
            <p:cNvPr id="13" name="Image 11" descr="preencoded.png"/>
            <p:cNvPicPr>
              <a:picLocks noChangeAspect="1"/>
            </p:cNvPicPr>
            <p:nvPr/>
          </p:nvPicPr>
          <p:blipFill>
            <a:blip r:embed="rId5"/>
            <a:stretch>
              <a:fillRect/>
            </a:stretch>
          </p:blipFill>
          <p:spPr>
            <a:xfrm>
              <a:off x="1020" y="10380"/>
              <a:ext cx="5160" cy="900"/>
            </a:xfrm>
            <a:prstGeom prst="rect">
              <a:avLst/>
            </a:prstGeom>
          </p:spPr>
        </p:pic>
        <p:pic>
          <p:nvPicPr>
            <p:cNvPr id="14" name="Image 12" descr="preencoded.png"/>
            <p:cNvPicPr>
              <a:picLocks noChangeAspect="1"/>
            </p:cNvPicPr>
            <p:nvPr/>
          </p:nvPicPr>
          <p:blipFill>
            <a:blip r:embed="rId6"/>
            <a:stretch>
              <a:fillRect/>
            </a:stretch>
          </p:blipFill>
          <p:spPr>
            <a:xfrm>
              <a:off x="6720" y="6900"/>
              <a:ext cx="5760" cy="6360"/>
            </a:xfrm>
            <a:prstGeom prst="rect">
              <a:avLst/>
            </a:prstGeom>
          </p:spPr>
        </p:pic>
        <p:pic>
          <p:nvPicPr>
            <p:cNvPr id="15" name="Image 13" descr="preencoded.png"/>
            <p:cNvPicPr>
              <a:picLocks noChangeAspect="1"/>
            </p:cNvPicPr>
            <p:nvPr/>
          </p:nvPicPr>
          <p:blipFill>
            <a:blip r:embed="rId7"/>
            <a:stretch>
              <a:fillRect/>
            </a:stretch>
          </p:blipFill>
          <p:spPr>
            <a:xfrm>
              <a:off x="7020" y="7200"/>
              <a:ext cx="600" cy="600"/>
            </a:xfrm>
            <a:prstGeom prst="rect">
              <a:avLst/>
            </a:prstGeom>
          </p:spPr>
        </p:pic>
        <p:pic>
          <p:nvPicPr>
            <p:cNvPr id="16" name="Image 14" descr="preencoded.png"/>
            <p:cNvPicPr>
              <a:picLocks noChangeAspect="1"/>
            </p:cNvPicPr>
            <p:nvPr/>
          </p:nvPicPr>
          <p:blipFill>
            <a:blip r:embed="rId8"/>
            <a:stretch>
              <a:fillRect/>
            </a:stretch>
          </p:blipFill>
          <p:spPr>
            <a:xfrm>
              <a:off x="7133" y="7290"/>
              <a:ext cx="375" cy="420"/>
            </a:xfrm>
            <a:prstGeom prst="rect">
              <a:avLst/>
            </a:prstGeom>
          </p:spPr>
        </p:pic>
        <p:pic>
          <p:nvPicPr>
            <p:cNvPr id="17" name="Image 15" descr="preencoded.png"/>
            <p:cNvPicPr>
              <a:picLocks noChangeAspect="1"/>
            </p:cNvPicPr>
            <p:nvPr/>
          </p:nvPicPr>
          <p:blipFill>
            <a:blip r:embed="rId9"/>
            <a:stretch>
              <a:fillRect/>
            </a:stretch>
          </p:blipFill>
          <p:spPr>
            <a:xfrm>
              <a:off x="7020" y="8055"/>
              <a:ext cx="240" cy="240"/>
            </a:xfrm>
            <a:prstGeom prst="rect">
              <a:avLst/>
            </a:prstGeom>
          </p:spPr>
        </p:pic>
        <p:pic>
          <p:nvPicPr>
            <p:cNvPr id="18" name="Image 16" descr="preencoded.png"/>
            <p:cNvPicPr>
              <a:picLocks noChangeAspect="1"/>
            </p:cNvPicPr>
            <p:nvPr/>
          </p:nvPicPr>
          <p:blipFill>
            <a:blip r:embed="rId9"/>
            <a:stretch>
              <a:fillRect/>
            </a:stretch>
          </p:blipFill>
          <p:spPr>
            <a:xfrm>
              <a:off x="7020" y="8835"/>
              <a:ext cx="240" cy="240"/>
            </a:xfrm>
            <a:prstGeom prst="rect">
              <a:avLst/>
            </a:prstGeom>
          </p:spPr>
        </p:pic>
        <p:pic>
          <p:nvPicPr>
            <p:cNvPr id="19" name="Image 17" descr="preencoded.png"/>
            <p:cNvPicPr>
              <a:picLocks noChangeAspect="1"/>
            </p:cNvPicPr>
            <p:nvPr/>
          </p:nvPicPr>
          <p:blipFill>
            <a:blip r:embed="rId9"/>
            <a:stretch>
              <a:fillRect/>
            </a:stretch>
          </p:blipFill>
          <p:spPr>
            <a:xfrm>
              <a:off x="7020" y="9615"/>
              <a:ext cx="240" cy="240"/>
            </a:xfrm>
            <a:prstGeom prst="rect">
              <a:avLst/>
            </a:prstGeom>
          </p:spPr>
        </p:pic>
        <p:pic>
          <p:nvPicPr>
            <p:cNvPr id="20" name="Image 18" descr="preencoded.png"/>
            <p:cNvPicPr>
              <a:picLocks noChangeAspect="1"/>
            </p:cNvPicPr>
            <p:nvPr/>
          </p:nvPicPr>
          <p:blipFill>
            <a:blip r:embed="rId10"/>
            <a:stretch>
              <a:fillRect/>
            </a:stretch>
          </p:blipFill>
          <p:spPr>
            <a:xfrm>
              <a:off x="7020" y="10380"/>
              <a:ext cx="5160" cy="900"/>
            </a:xfrm>
            <a:prstGeom prst="rect">
              <a:avLst/>
            </a:prstGeom>
          </p:spPr>
        </p:pic>
        <p:pic>
          <p:nvPicPr>
            <p:cNvPr id="21" name="Image 19" descr="preencoded.png"/>
            <p:cNvPicPr>
              <a:picLocks noChangeAspect="1"/>
            </p:cNvPicPr>
            <p:nvPr/>
          </p:nvPicPr>
          <p:blipFill>
            <a:blip r:embed="rId11"/>
            <a:stretch>
              <a:fillRect/>
            </a:stretch>
          </p:blipFill>
          <p:spPr>
            <a:xfrm>
              <a:off x="12720" y="6900"/>
              <a:ext cx="5760" cy="6360"/>
            </a:xfrm>
            <a:prstGeom prst="rect">
              <a:avLst/>
            </a:prstGeom>
          </p:spPr>
        </p:pic>
        <p:pic>
          <p:nvPicPr>
            <p:cNvPr id="22" name="Image 20" descr="preencoded.png"/>
            <p:cNvPicPr>
              <a:picLocks noChangeAspect="1"/>
            </p:cNvPicPr>
            <p:nvPr/>
          </p:nvPicPr>
          <p:blipFill>
            <a:blip r:embed="rId12"/>
            <a:stretch>
              <a:fillRect/>
            </a:stretch>
          </p:blipFill>
          <p:spPr>
            <a:xfrm>
              <a:off x="13020" y="7200"/>
              <a:ext cx="600" cy="600"/>
            </a:xfrm>
            <a:prstGeom prst="rect">
              <a:avLst/>
            </a:prstGeom>
          </p:spPr>
        </p:pic>
        <p:pic>
          <p:nvPicPr>
            <p:cNvPr id="23" name="Image 21" descr="preencoded.png"/>
            <p:cNvPicPr>
              <a:picLocks noChangeAspect="1"/>
            </p:cNvPicPr>
            <p:nvPr/>
          </p:nvPicPr>
          <p:blipFill>
            <a:blip r:embed="rId13"/>
            <a:stretch>
              <a:fillRect/>
            </a:stretch>
          </p:blipFill>
          <p:spPr>
            <a:xfrm>
              <a:off x="13170" y="7290"/>
              <a:ext cx="300" cy="420"/>
            </a:xfrm>
            <a:prstGeom prst="rect">
              <a:avLst/>
            </a:prstGeom>
          </p:spPr>
        </p:pic>
        <p:pic>
          <p:nvPicPr>
            <p:cNvPr id="24" name="Image 22" descr="preencoded.png"/>
            <p:cNvPicPr>
              <a:picLocks noChangeAspect="1"/>
            </p:cNvPicPr>
            <p:nvPr/>
          </p:nvPicPr>
          <p:blipFill>
            <a:blip r:embed="rId14"/>
            <a:stretch>
              <a:fillRect/>
            </a:stretch>
          </p:blipFill>
          <p:spPr>
            <a:xfrm>
              <a:off x="13020" y="8055"/>
              <a:ext cx="240" cy="240"/>
            </a:xfrm>
            <a:prstGeom prst="rect">
              <a:avLst/>
            </a:prstGeom>
          </p:spPr>
        </p:pic>
        <p:pic>
          <p:nvPicPr>
            <p:cNvPr id="25" name="Image 23" descr="preencoded.png"/>
            <p:cNvPicPr>
              <a:picLocks noChangeAspect="1"/>
            </p:cNvPicPr>
            <p:nvPr/>
          </p:nvPicPr>
          <p:blipFill>
            <a:blip r:embed="rId14"/>
            <a:stretch>
              <a:fillRect/>
            </a:stretch>
          </p:blipFill>
          <p:spPr>
            <a:xfrm>
              <a:off x="13020" y="8835"/>
              <a:ext cx="240" cy="240"/>
            </a:xfrm>
            <a:prstGeom prst="rect">
              <a:avLst/>
            </a:prstGeom>
          </p:spPr>
        </p:pic>
        <p:pic>
          <p:nvPicPr>
            <p:cNvPr id="26" name="Image 24" descr="preencoded.png"/>
            <p:cNvPicPr>
              <a:picLocks noChangeAspect="1"/>
            </p:cNvPicPr>
            <p:nvPr/>
          </p:nvPicPr>
          <p:blipFill>
            <a:blip r:embed="rId14"/>
            <a:stretch>
              <a:fillRect/>
            </a:stretch>
          </p:blipFill>
          <p:spPr>
            <a:xfrm>
              <a:off x="13020" y="9615"/>
              <a:ext cx="240" cy="240"/>
            </a:xfrm>
            <a:prstGeom prst="rect">
              <a:avLst/>
            </a:prstGeom>
          </p:spPr>
        </p:pic>
        <p:pic>
          <p:nvPicPr>
            <p:cNvPr id="27" name="Image 25" descr="preencoded.png"/>
            <p:cNvPicPr>
              <a:picLocks noChangeAspect="1"/>
            </p:cNvPicPr>
            <p:nvPr/>
          </p:nvPicPr>
          <p:blipFill>
            <a:blip r:embed="rId15"/>
            <a:stretch>
              <a:fillRect/>
            </a:stretch>
          </p:blipFill>
          <p:spPr>
            <a:xfrm>
              <a:off x="13020" y="10380"/>
              <a:ext cx="5160" cy="900"/>
            </a:xfrm>
            <a:prstGeom prst="rect">
              <a:avLst/>
            </a:prstGeom>
          </p:spPr>
        </p:pic>
        <p:pic>
          <p:nvPicPr>
            <p:cNvPr id="28" name="Image 26" descr="preencoded.png"/>
            <p:cNvPicPr>
              <a:picLocks noChangeAspect="1"/>
            </p:cNvPicPr>
            <p:nvPr/>
          </p:nvPicPr>
          <p:blipFill>
            <a:blip r:embed="rId16"/>
            <a:stretch>
              <a:fillRect/>
            </a:stretch>
          </p:blipFill>
          <p:spPr>
            <a:xfrm>
              <a:off x="720" y="13260"/>
              <a:ext cx="17760" cy="540"/>
            </a:xfrm>
            <a:prstGeom prst="rect">
              <a:avLst/>
            </a:prstGeom>
          </p:spPr>
        </p:pic>
        <p:sp>
          <p:nvSpPr>
            <p:cNvPr id="32" name="Text 1"/>
            <p:cNvSpPr/>
            <p:nvPr/>
          </p:nvSpPr>
          <p:spPr>
            <a:xfrm>
              <a:off x="1800" y="7290"/>
              <a:ext cx="2865" cy="420"/>
            </a:xfrm>
            <a:prstGeom prst="rect">
              <a:avLst/>
            </a:prstGeom>
            <a:noFill/>
          </p:spPr>
          <p:txBody>
            <a:bodyPr wrap="square" lIns="0" tIns="0" rIns="0" bIns="0" rtlCol="0" anchor="t"/>
            <a:p>
              <a:pPr marL="0" indent="0">
                <a:lnSpc>
                  <a:spcPts val="1500"/>
                </a:lnSpc>
                <a:buNone/>
              </a:pPr>
              <a:r>
                <a:rPr lang="en-US" sz="1380" b="1" dirty="0">
                  <a:solidFill>
                    <a:srgbClr val="15803D"/>
                  </a:solidFill>
                  <a:latin typeface="Noto Sans SC" panose="020B0200000000000000" pitchFamily="34" charset="-122"/>
                  <a:ea typeface="Noto Sans SC" panose="020B0200000000000000" pitchFamily="34" charset="-122"/>
                  <a:cs typeface="Noto Sans SC" panose="020B0200000000000000" pitchFamily="34" charset="-120"/>
                </a:rPr>
                <a:t>操作层</a:t>
              </a:r>
              <a:r>
                <a:rPr lang="en-US" sz="980" b="1"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(Operational Level)</a:t>
              </a:r>
              <a:endParaRPr lang="en-US" sz="1380" dirty="0"/>
            </a:p>
          </p:txBody>
        </p:sp>
        <p:sp>
          <p:nvSpPr>
            <p:cNvPr id="33" name="Text 2"/>
            <p:cNvSpPr/>
            <p:nvPr/>
          </p:nvSpPr>
          <p:spPr>
            <a:xfrm>
              <a:off x="1020" y="834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关注日常互动与决策</a:t>
              </a:r>
              <a:endParaRPr lang="en-US" sz="980" dirty="0"/>
            </a:p>
          </p:txBody>
        </p:sp>
        <p:sp>
          <p:nvSpPr>
            <p:cNvPr id="34" name="Text 3"/>
            <p:cNvSpPr/>
            <p:nvPr/>
          </p:nvSpPr>
          <p:spPr>
            <a:xfrm>
              <a:off x="1020" y="912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分析行动情境中的互动</a:t>
              </a:r>
              <a:endParaRPr lang="en-US" sz="980" dirty="0"/>
            </a:p>
          </p:txBody>
        </p:sp>
        <p:sp>
          <p:nvSpPr>
            <p:cNvPr id="35" name="Text 4"/>
            <p:cNvSpPr/>
            <p:nvPr/>
          </p:nvSpPr>
          <p:spPr>
            <a:xfrm>
              <a:off x="1020" y="990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追踪信息流动</a:t>
              </a:r>
              <a:endParaRPr lang="en-US" sz="980" dirty="0"/>
            </a:p>
          </p:txBody>
        </p:sp>
        <p:sp>
          <p:nvSpPr>
            <p:cNvPr id="36" name="Text 5"/>
            <p:cNvSpPr/>
            <p:nvPr/>
          </p:nvSpPr>
          <p:spPr>
            <a:xfrm>
              <a:off x="1140" y="10500"/>
              <a:ext cx="5412" cy="417"/>
            </a:xfrm>
            <a:prstGeom prst="rect">
              <a:avLst/>
            </a:prstGeom>
            <a:noFill/>
          </p:spPr>
          <p:txBody>
            <a:bodyPr wrap="square" lIns="0" tIns="0" rIns="0" bIns="0" rtlCol="0" anchor="t">
              <a:spAutoFit/>
            </a:bodyPr>
            <a:p>
              <a:pPr marL="0" indent="0">
                <a:lnSpc>
                  <a:spcPts val="1500"/>
                </a:lnSpc>
                <a:buNone/>
              </a:pPr>
              <a:r>
                <a:rPr lang="en-US" sz="98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示例：</a:t>
              </a:r>
              <a:endParaRPr lang="en-US" sz="980" dirty="0"/>
            </a:p>
          </p:txBody>
        </p:sp>
        <p:sp>
          <p:nvSpPr>
            <p:cNvPr id="37" name="Text 6"/>
            <p:cNvSpPr/>
            <p:nvPr/>
          </p:nvSpPr>
          <p:spPr>
            <a:xfrm>
              <a:off x="1140" y="10860"/>
              <a:ext cx="5412" cy="417"/>
            </a:xfrm>
            <a:prstGeom prst="rect">
              <a:avLst/>
            </a:prstGeom>
            <a:noFill/>
          </p:spPr>
          <p:txBody>
            <a:bodyPr wrap="square" lIns="0" tIns="0" rIns="0" bIns="0" rtlCol="0" anchor="t">
              <a:spAutoFit/>
            </a:bodyPr>
            <a:p>
              <a:pPr marL="0" indent="0">
                <a:lnSpc>
                  <a:spcPts val="1500"/>
                </a:lnSpc>
                <a:buNone/>
              </a:pPr>
              <a:r>
                <a:rPr lang="zh-CN" alt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村民个体如何决策是否砍伐</a:t>
              </a:r>
              <a:r>
                <a:rPr lang="zh-CN" alt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树木</a:t>
              </a:r>
              <a:endParaRPr lang="zh-CN" alt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38" name="Text 7"/>
            <p:cNvSpPr/>
            <p:nvPr/>
          </p:nvSpPr>
          <p:spPr>
            <a:xfrm>
              <a:off x="7800" y="7290"/>
              <a:ext cx="3975" cy="420"/>
            </a:xfrm>
            <a:prstGeom prst="rect">
              <a:avLst/>
            </a:prstGeom>
            <a:noFill/>
          </p:spPr>
          <p:txBody>
            <a:bodyPr wrap="square" lIns="0" tIns="0" rIns="0" bIns="0" rtlCol="0" anchor="t"/>
            <a:p>
              <a:pPr marL="0" indent="0">
                <a:lnSpc>
                  <a:spcPts val="1500"/>
                </a:lnSpc>
                <a:buNone/>
              </a:pPr>
              <a:r>
                <a:rPr lang="en-US" sz="138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0"/>
                </a:rPr>
                <a:t>集体选择层</a:t>
              </a:r>
              <a:r>
                <a:rPr lang="en-US" sz="980" b="1"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(Collective Choice Level)</a:t>
              </a:r>
              <a:endParaRPr lang="en-US" sz="1380" dirty="0"/>
            </a:p>
          </p:txBody>
        </p:sp>
        <p:sp>
          <p:nvSpPr>
            <p:cNvPr id="39" name="Text 8"/>
            <p:cNvSpPr/>
            <p:nvPr/>
          </p:nvSpPr>
          <p:spPr>
            <a:xfrm>
              <a:off x="7020" y="834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关注规则建立与维护</a:t>
              </a:r>
              <a:endParaRPr lang="en-US" sz="980" dirty="0"/>
            </a:p>
          </p:txBody>
        </p:sp>
        <p:sp>
          <p:nvSpPr>
            <p:cNvPr id="40" name="Text 9"/>
            <p:cNvSpPr/>
            <p:nvPr/>
          </p:nvSpPr>
          <p:spPr>
            <a:xfrm>
              <a:off x="7020" y="912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分析规则制定与遵守</a:t>
              </a:r>
              <a:endParaRPr lang="en-US" sz="980" dirty="0"/>
            </a:p>
          </p:txBody>
        </p:sp>
        <p:sp>
          <p:nvSpPr>
            <p:cNvPr id="41" name="Text 10"/>
            <p:cNvSpPr/>
            <p:nvPr/>
          </p:nvSpPr>
          <p:spPr>
            <a:xfrm>
              <a:off x="7020" y="990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考察冲突解决与制裁</a:t>
              </a:r>
              <a:endParaRPr lang="en-US" sz="980" dirty="0"/>
            </a:p>
          </p:txBody>
        </p:sp>
        <p:sp>
          <p:nvSpPr>
            <p:cNvPr id="42" name="Text 11"/>
            <p:cNvSpPr/>
            <p:nvPr/>
          </p:nvSpPr>
          <p:spPr>
            <a:xfrm>
              <a:off x="7140" y="10500"/>
              <a:ext cx="5412" cy="417"/>
            </a:xfrm>
            <a:prstGeom prst="rect">
              <a:avLst/>
            </a:prstGeom>
            <a:noFill/>
          </p:spPr>
          <p:txBody>
            <a:bodyPr wrap="square" lIns="0" tIns="0" rIns="0" bIns="0" rtlCol="0" anchor="t">
              <a:spAutoFit/>
            </a:bodyPr>
            <a:p>
              <a:pPr marL="0" indent="0">
                <a:lnSpc>
                  <a:spcPts val="1500"/>
                </a:lnSpc>
                <a:buNone/>
              </a:pPr>
              <a:r>
                <a:rPr lang="en-US" sz="98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示例：</a:t>
              </a:r>
              <a:endParaRPr lang="en-US" sz="980" dirty="0"/>
            </a:p>
          </p:txBody>
        </p:sp>
        <p:sp>
          <p:nvSpPr>
            <p:cNvPr id="43" name="Text 12"/>
            <p:cNvSpPr/>
            <p:nvPr/>
          </p:nvSpPr>
          <p:spPr>
            <a:xfrm>
              <a:off x="7140" y="10860"/>
              <a:ext cx="5412" cy="417"/>
            </a:xfrm>
            <a:prstGeom prst="rect">
              <a:avLst/>
            </a:prstGeom>
            <a:noFill/>
          </p:spPr>
          <p:txBody>
            <a:bodyPr wrap="square" lIns="0" tIns="0" rIns="0" bIns="0" rtlCol="0" anchor="t">
              <a:spAutoFit/>
            </a:bodyPr>
            <a:p>
              <a:pPr marL="0" indent="0">
                <a:lnSpc>
                  <a:spcPts val="1500"/>
                </a:lnSpc>
                <a:buNone/>
              </a:pPr>
              <a:r>
                <a:rPr lang="zh-CN" altLang="en-US" sz="980" dirty="0">
                  <a:latin typeface="微软雅黑" panose="020B0503020204020204" charset="-122"/>
                  <a:ea typeface="微软雅黑" panose="020B0503020204020204" charset="-122"/>
                </a:rPr>
                <a:t>村庄层面上共同制定的村规民约</a:t>
              </a:r>
              <a:endParaRPr lang="zh-CN" altLang="en-US" sz="980" dirty="0">
                <a:latin typeface="微软雅黑" panose="020B0503020204020204" charset="-122"/>
                <a:ea typeface="微软雅黑" panose="020B0503020204020204" charset="-122"/>
              </a:endParaRPr>
            </a:p>
          </p:txBody>
        </p:sp>
        <p:sp>
          <p:nvSpPr>
            <p:cNvPr id="44" name="Text 13"/>
            <p:cNvSpPr/>
            <p:nvPr/>
          </p:nvSpPr>
          <p:spPr>
            <a:xfrm>
              <a:off x="13800" y="7290"/>
              <a:ext cx="3105" cy="420"/>
            </a:xfrm>
            <a:prstGeom prst="rect">
              <a:avLst/>
            </a:prstGeom>
            <a:noFill/>
          </p:spPr>
          <p:txBody>
            <a:bodyPr wrap="square" lIns="0" tIns="0" rIns="0" bIns="0" rtlCol="0" anchor="t"/>
            <a:p>
              <a:pPr marL="0" indent="0">
                <a:lnSpc>
                  <a:spcPts val="1500"/>
                </a:lnSpc>
                <a:buNone/>
              </a:pPr>
              <a:r>
                <a:rPr lang="en-US" sz="1380" b="1" dirty="0">
                  <a:solidFill>
                    <a:srgbClr val="C2410C"/>
                  </a:solidFill>
                  <a:latin typeface="Noto Sans SC" panose="020B0200000000000000" pitchFamily="34" charset="-122"/>
                  <a:ea typeface="Noto Sans SC" panose="020B0200000000000000" pitchFamily="34" charset="-122"/>
                  <a:cs typeface="Noto Sans SC" panose="020B0200000000000000" pitchFamily="34" charset="-120"/>
                </a:rPr>
                <a:t>宪法层</a:t>
              </a:r>
              <a:r>
                <a:rPr lang="en-US" sz="980" b="1"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(Constitutional Level)</a:t>
              </a:r>
              <a:endParaRPr lang="en-US" sz="1380" dirty="0"/>
            </a:p>
          </p:txBody>
        </p:sp>
        <p:sp>
          <p:nvSpPr>
            <p:cNvPr id="45" name="Text 14"/>
            <p:cNvSpPr/>
            <p:nvPr/>
          </p:nvSpPr>
          <p:spPr>
            <a:xfrm>
              <a:off x="13020" y="834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关注制度结构与外生变量</a:t>
              </a:r>
              <a:endParaRPr lang="en-US" sz="980" dirty="0"/>
            </a:p>
          </p:txBody>
        </p:sp>
        <p:sp>
          <p:nvSpPr>
            <p:cNvPr id="46" name="Text 15"/>
            <p:cNvSpPr/>
            <p:nvPr/>
          </p:nvSpPr>
          <p:spPr>
            <a:xfrm>
              <a:off x="13020" y="912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分析社会经济政治背景</a:t>
              </a:r>
              <a:endParaRPr lang="en-US" sz="980" dirty="0"/>
            </a:p>
          </p:txBody>
        </p:sp>
        <p:sp>
          <p:nvSpPr>
            <p:cNvPr id="47" name="Text 16"/>
            <p:cNvSpPr/>
            <p:nvPr/>
          </p:nvSpPr>
          <p:spPr>
            <a:xfrm>
              <a:off x="13020" y="9900"/>
              <a:ext cx="5676"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考察情境间联系</a:t>
              </a:r>
              <a:endParaRPr lang="en-US" sz="980" dirty="0"/>
            </a:p>
          </p:txBody>
        </p:sp>
        <p:sp>
          <p:nvSpPr>
            <p:cNvPr id="48" name="Text 17"/>
            <p:cNvSpPr/>
            <p:nvPr/>
          </p:nvSpPr>
          <p:spPr>
            <a:xfrm>
              <a:off x="13140" y="10500"/>
              <a:ext cx="5412" cy="417"/>
            </a:xfrm>
            <a:prstGeom prst="rect">
              <a:avLst/>
            </a:prstGeom>
            <a:noFill/>
          </p:spPr>
          <p:txBody>
            <a:bodyPr wrap="square" lIns="0" tIns="0" rIns="0" bIns="0" rtlCol="0" anchor="t">
              <a:spAutoFit/>
            </a:bodyPr>
            <a:p>
              <a:pPr marL="0" indent="0">
                <a:lnSpc>
                  <a:spcPts val="1500"/>
                </a:lnSpc>
                <a:buNone/>
              </a:pPr>
              <a:r>
                <a:rPr lang="en-US" sz="98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示例：</a:t>
              </a:r>
              <a:endParaRPr lang="en-US" sz="980" dirty="0"/>
            </a:p>
          </p:txBody>
        </p:sp>
        <p:sp>
          <p:nvSpPr>
            <p:cNvPr id="49" name="Text 18"/>
            <p:cNvSpPr/>
            <p:nvPr/>
          </p:nvSpPr>
          <p:spPr>
            <a:xfrm>
              <a:off x="13140" y="10860"/>
              <a:ext cx="5412" cy="417"/>
            </a:xfrm>
            <a:prstGeom prst="rect">
              <a:avLst/>
            </a:prstGeom>
            <a:noFill/>
          </p:spPr>
          <p:txBody>
            <a:bodyPr wrap="square" lIns="0" tIns="0" rIns="0" bIns="0" rtlCol="0" anchor="t">
              <a:spAutoFit/>
            </a:bodyPr>
            <a:p>
              <a:pPr marL="0" indent="0">
                <a:lnSpc>
                  <a:spcPts val="1500"/>
                </a:lnSpc>
                <a:buNone/>
              </a:pPr>
              <a:r>
                <a:rPr lang="en-US" sz="98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政府政策/产权制度/社区文化</a:t>
              </a:r>
              <a:endParaRPr lang="en-US" sz="98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社会生态系统框架</a:t>
            </a:r>
            <a:r>
              <a:rPr lang="en-US" altLang="zh-CN"/>
              <a:t>SES</a:t>
            </a:r>
            <a:endParaRPr lang="en-US" altLang="zh-CN"/>
          </a:p>
        </p:txBody>
      </p:sp>
      <p:grpSp>
        <p:nvGrpSpPr>
          <p:cNvPr id="44" name="组合 43"/>
          <p:cNvGrpSpPr/>
          <p:nvPr/>
        </p:nvGrpSpPr>
        <p:grpSpPr>
          <a:xfrm>
            <a:off x="254000" y="1954530"/>
            <a:ext cx="8864600" cy="4338320"/>
            <a:chOff x="720" y="4005"/>
            <a:chExt cx="18738" cy="9930"/>
          </a:xfrm>
        </p:grpSpPr>
        <p:pic>
          <p:nvPicPr>
            <p:cNvPr id="5" name="Image 3" descr="preencoded.png"/>
            <p:cNvPicPr>
              <a:picLocks noChangeAspect="1"/>
            </p:cNvPicPr>
            <p:nvPr/>
          </p:nvPicPr>
          <p:blipFill>
            <a:blip r:embed="rId1"/>
            <a:stretch>
              <a:fillRect/>
            </a:stretch>
          </p:blipFill>
          <p:spPr>
            <a:xfrm>
              <a:off x="8880" y="4005"/>
              <a:ext cx="1440" cy="60"/>
            </a:xfrm>
            <a:prstGeom prst="rect">
              <a:avLst/>
            </a:prstGeom>
          </p:spPr>
        </p:pic>
        <p:pic>
          <p:nvPicPr>
            <p:cNvPr id="6" name="Image 4" descr="preencoded.png"/>
            <p:cNvPicPr>
              <a:picLocks noChangeAspect="1"/>
            </p:cNvPicPr>
            <p:nvPr/>
          </p:nvPicPr>
          <p:blipFill>
            <a:blip r:embed="rId2"/>
            <a:stretch>
              <a:fillRect/>
            </a:stretch>
          </p:blipFill>
          <p:spPr>
            <a:xfrm>
              <a:off x="720" y="4425"/>
              <a:ext cx="17760" cy="3930"/>
            </a:xfrm>
            <a:prstGeom prst="rect">
              <a:avLst/>
            </a:prstGeom>
          </p:spPr>
        </p:pic>
        <p:pic>
          <p:nvPicPr>
            <p:cNvPr id="3" name="Image 5" descr="preencoded.png"/>
            <p:cNvPicPr>
              <a:picLocks noChangeAspect="1"/>
            </p:cNvPicPr>
            <p:nvPr/>
          </p:nvPicPr>
          <p:blipFill>
            <a:blip r:embed="rId3"/>
            <a:stretch>
              <a:fillRect/>
            </a:stretch>
          </p:blipFill>
          <p:spPr>
            <a:xfrm>
              <a:off x="960" y="4665"/>
              <a:ext cx="17280" cy="3450"/>
            </a:xfrm>
            <a:prstGeom prst="rect">
              <a:avLst/>
            </a:prstGeom>
          </p:spPr>
        </p:pic>
        <p:pic>
          <p:nvPicPr>
            <p:cNvPr id="8" name="Image 6" descr="preencoded.png"/>
            <p:cNvPicPr>
              <a:picLocks noChangeAspect="1"/>
            </p:cNvPicPr>
            <p:nvPr/>
          </p:nvPicPr>
          <p:blipFill>
            <a:blip r:embed="rId4"/>
            <a:stretch>
              <a:fillRect/>
            </a:stretch>
          </p:blipFill>
          <p:spPr>
            <a:xfrm>
              <a:off x="720" y="8715"/>
              <a:ext cx="8700" cy="5220"/>
            </a:xfrm>
            <a:prstGeom prst="rect">
              <a:avLst/>
            </a:prstGeom>
          </p:spPr>
        </p:pic>
        <p:pic>
          <p:nvPicPr>
            <p:cNvPr id="9" name="Image 7" descr="preencoded.png"/>
            <p:cNvPicPr>
              <a:picLocks noChangeAspect="1"/>
            </p:cNvPicPr>
            <p:nvPr/>
          </p:nvPicPr>
          <p:blipFill>
            <a:blip r:embed="rId5"/>
            <a:stretch>
              <a:fillRect/>
            </a:stretch>
          </p:blipFill>
          <p:spPr>
            <a:xfrm>
              <a:off x="1080" y="9135"/>
              <a:ext cx="270" cy="360"/>
            </a:xfrm>
            <a:prstGeom prst="rect">
              <a:avLst/>
            </a:prstGeom>
          </p:spPr>
        </p:pic>
        <p:pic>
          <p:nvPicPr>
            <p:cNvPr id="10" name="Image 8" descr="preencoded.png"/>
            <p:cNvPicPr>
              <a:picLocks noChangeAspect="1"/>
            </p:cNvPicPr>
            <p:nvPr/>
          </p:nvPicPr>
          <p:blipFill>
            <a:blip r:embed="rId6"/>
            <a:stretch>
              <a:fillRect/>
            </a:stretch>
          </p:blipFill>
          <p:spPr>
            <a:xfrm>
              <a:off x="1080" y="9795"/>
              <a:ext cx="600" cy="600"/>
            </a:xfrm>
            <a:prstGeom prst="rect">
              <a:avLst/>
            </a:prstGeom>
          </p:spPr>
        </p:pic>
        <p:pic>
          <p:nvPicPr>
            <p:cNvPr id="11" name="Image 9" descr="preencoded.png"/>
            <p:cNvPicPr>
              <a:picLocks noChangeAspect="1"/>
            </p:cNvPicPr>
            <p:nvPr/>
          </p:nvPicPr>
          <p:blipFill>
            <a:blip r:embed="rId7"/>
            <a:stretch>
              <a:fillRect/>
            </a:stretch>
          </p:blipFill>
          <p:spPr>
            <a:xfrm>
              <a:off x="1260" y="9975"/>
              <a:ext cx="240" cy="240"/>
            </a:xfrm>
            <a:prstGeom prst="rect">
              <a:avLst/>
            </a:prstGeom>
          </p:spPr>
        </p:pic>
        <p:pic>
          <p:nvPicPr>
            <p:cNvPr id="12" name="Image 10" descr="preencoded.png"/>
            <p:cNvPicPr>
              <a:picLocks noChangeAspect="1"/>
            </p:cNvPicPr>
            <p:nvPr/>
          </p:nvPicPr>
          <p:blipFill>
            <a:blip r:embed="rId8"/>
            <a:stretch>
              <a:fillRect/>
            </a:stretch>
          </p:blipFill>
          <p:spPr>
            <a:xfrm>
              <a:off x="1080" y="11175"/>
              <a:ext cx="600" cy="600"/>
            </a:xfrm>
            <a:prstGeom prst="rect">
              <a:avLst/>
            </a:prstGeom>
          </p:spPr>
        </p:pic>
        <p:pic>
          <p:nvPicPr>
            <p:cNvPr id="13" name="Image 11" descr="preencoded.png"/>
            <p:cNvPicPr>
              <a:picLocks noChangeAspect="1"/>
            </p:cNvPicPr>
            <p:nvPr/>
          </p:nvPicPr>
          <p:blipFill>
            <a:blip r:embed="rId9"/>
            <a:stretch>
              <a:fillRect/>
            </a:stretch>
          </p:blipFill>
          <p:spPr>
            <a:xfrm>
              <a:off x="1245" y="11355"/>
              <a:ext cx="270" cy="240"/>
            </a:xfrm>
            <a:prstGeom prst="rect">
              <a:avLst/>
            </a:prstGeom>
          </p:spPr>
        </p:pic>
        <p:pic>
          <p:nvPicPr>
            <p:cNvPr id="14" name="Image 12" descr="preencoded.png"/>
            <p:cNvPicPr>
              <a:picLocks noChangeAspect="1"/>
            </p:cNvPicPr>
            <p:nvPr/>
          </p:nvPicPr>
          <p:blipFill>
            <a:blip r:embed="rId10"/>
            <a:stretch>
              <a:fillRect/>
            </a:stretch>
          </p:blipFill>
          <p:spPr>
            <a:xfrm>
              <a:off x="1080" y="12195"/>
              <a:ext cx="600" cy="600"/>
            </a:xfrm>
            <a:prstGeom prst="rect">
              <a:avLst/>
            </a:prstGeom>
          </p:spPr>
        </p:pic>
        <p:pic>
          <p:nvPicPr>
            <p:cNvPr id="15" name="Image 13" descr="preencoded.png"/>
            <p:cNvPicPr>
              <a:picLocks noChangeAspect="1"/>
            </p:cNvPicPr>
            <p:nvPr/>
          </p:nvPicPr>
          <p:blipFill>
            <a:blip r:embed="rId11"/>
            <a:stretch>
              <a:fillRect/>
            </a:stretch>
          </p:blipFill>
          <p:spPr>
            <a:xfrm>
              <a:off x="1245" y="12375"/>
              <a:ext cx="270" cy="240"/>
            </a:xfrm>
            <a:prstGeom prst="rect">
              <a:avLst/>
            </a:prstGeom>
          </p:spPr>
        </p:pic>
        <p:pic>
          <p:nvPicPr>
            <p:cNvPr id="16" name="Image 14" descr="preencoded.png"/>
            <p:cNvPicPr>
              <a:picLocks noChangeAspect="1"/>
            </p:cNvPicPr>
            <p:nvPr/>
          </p:nvPicPr>
          <p:blipFill>
            <a:blip r:embed="rId4"/>
            <a:stretch>
              <a:fillRect/>
            </a:stretch>
          </p:blipFill>
          <p:spPr>
            <a:xfrm>
              <a:off x="9780" y="8715"/>
              <a:ext cx="8700" cy="5220"/>
            </a:xfrm>
            <a:prstGeom prst="rect">
              <a:avLst/>
            </a:prstGeom>
          </p:spPr>
        </p:pic>
        <p:pic>
          <p:nvPicPr>
            <p:cNvPr id="17" name="Image 15" descr="preencoded.png"/>
            <p:cNvPicPr>
              <a:picLocks noChangeAspect="1"/>
            </p:cNvPicPr>
            <p:nvPr/>
          </p:nvPicPr>
          <p:blipFill>
            <a:blip r:embed="rId12"/>
            <a:stretch>
              <a:fillRect/>
            </a:stretch>
          </p:blipFill>
          <p:spPr>
            <a:xfrm>
              <a:off x="10140" y="9135"/>
              <a:ext cx="360" cy="360"/>
            </a:xfrm>
            <a:prstGeom prst="rect">
              <a:avLst/>
            </a:prstGeom>
          </p:spPr>
        </p:pic>
        <p:pic>
          <p:nvPicPr>
            <p:cNvPr id="18" name="Image 16" descr="preencoded.png"/>
            <p:cNvPicPr>
              <a:picLocks noChangeAspect="1"/>
            </p:cNvPicPr>
            <p:nvPr/>
          </p:nvPicPr>
          <p:blipFill>
            <a:blip r:embed="rId13"/>
            <a:stretch>
              <a:fillRect/>
            </a:stretch>
          </p:blipFill>
          <p:spPr>
            <a:xfrm>
              <a:off x="10140" y="9795"/>
              <a:ext cx="600" cy="600"/>
            </a:xfrm>
            <a:prstGeom prst="rect">
              <a:avLst/>
            </a:prstGeom>
          </p:spPr>
        </p:pic>
        <p:pic>
          <p:nvPicPr>
            <p:cNvPr id="19" name="Image 17" descr="preencoded.png"/>
            <p:cNvPicPr>
              <a:picLocks noChangeAspect="1"/>
            </p:cNvPicPr>
            <p:nvPr/>
          </p:nvPicPr>
          <p:blipFill>
            <a:blip r:embed="rId14"/>
            <a:stretch>
              <a:fillRect/>
            </a:stretch>
          </p:blipFill>
          <p:spPr>
            <a:xfrm>
              <a:off x="10320" y="9975"/>
              <a:ext cx="240" cy="240"/>
            </a:xfrm>
            <a:prstGeom prst="rect">
              <a:avLst/>
            </a:prstGeom>
          </p:spPr>
        </p:pic>
        <p:pic>
          <p:nvPicPr>
            <p:cNvPr id="20" name="Image 18" descr="preencoded.png"/>
            <p:cNvPicPr>
              <a:picLocks noChangeAspect="1"/>
            </p:cNvPicPr>
            <p:nvPr/>
          </p:nvPicPr>
          <p:blipFill>
            <a:blip r:embed="rId15"/>
            <a:stretch>
              <a:fillRect/>
            </a:stretch>
          </p:blipFill>
          <p:spPr>
            <a:xfrm>
              <a:off x="10140" y="10815"/>
              <a:ext cx="600" cy="600"/>
            </a:xfrm>
            <a:prstGeom prst="rect">
              <a:avLst/>
            </a:prstGeom>
          </p:spPr>
        </p:pic>
        <p:pic>
          <p:nvPicPr>
            <p:cNvPr id="21" name="Image 19" descr="preencoded.png"/>
            <p:cNvPicPr>
              <a:picLocks noChangeAspect="1"/>
            </p:cNvPicPr>
            <p:nvPr/>
          </p:nvPicPr>
          <p:blipFill>
            <a:blip r:embed="rId16"/>
            <a:stretch>
              <a:fillRect/>
            </a:stretch>
          </p:blipFill>
          <p:spPr>
            <a:xfrm>
              <a:off x="10290" y="10995"/>
              <a:ext cx="300" cy="240"/>
            </a:xfrm>
            <a:prstGeom prst="rect">
              <a:avLst/>
            </a:prstGeom>
          </p:spPr>
        </p:pic>
        <p:pic>
          <p:nvPicPr>
            <p:cNvPr id="22" name="Image 20" descr="preencoded.png"/>
            <p:cNvPicPr>
              <a:picLocks noChangeAspect="1"/>
            </p:cNvPicPr>
            <p:nvPr/>
          </p:nvPicPr>
          <p:blipFill>
            <a:blip r:embed="rId17"/>
            <a:stretch>
              <a:fillRect/>
            </a:stretch>
          </p:blipFill>
          <p:spPr>
            <a:xfrm>
              <a:off x="10140" y="12195"/>
              <a:ext cx="600" cy="600"/>
            </a:xfrm>
            <a:prstGeom prst="rect">
              <a:avLst/>
            </a:prstGeom>
          </p:spPr>
        </p:pic>
        <p:pic>
          <p:nvPicPr>
            <p:cNvPr id="23" name="Image 21" descr="preencoded.png"/>
            <p:cNvPicPr>
              <a:picLocks noChangeAspect="1"/>
            </p:cNvPicPr>
            <p:nvPr/>
          </p:nvPicPr>
          <p:blipFill>
            <a:blip r:embed="rId18"/>
            <a:stretch>
              <a:fillRect/>
            </a:stretch>
          </p:blipFill>
          <p:spPr>
            <a:xfrm>
              <a:off x="10320" y="12375"/>
              <a:ext cx="240" cy="240"/>
            </a:xfrm>
            <a:prstGeom prst="rect">
              <a:avLst/>
            </a:prstGeom>
          </p:spPr>
        </p:pic>
        <p:sp>
          <p:nvSpPr>
            <p:cNvPr id="28" name="Text 1"/>
            <p:cNvSpPr/>
            <p:nvPr/>
          </p:nvSpPr>
          <p:spPr>
            <a:xfrm>
              <a:off x="1530" y="9075"/>
              <a:ext cx="8778" cy="703"/>
            </a:xfrm>
            <a:prstGeom prst="rect">
              <a:avLst/>
            </a:prstGeom>
            <a:noFill/>
          </p:spPr>
          <p:txBody>
            <a:bodyPr wrap="square" lIns="0" tIns="0" rIns="0" bIns="0" rtlCol="0" anchor="t">
              <a:spAutoFit/>
            </a:bodyPr>
            <a:p>
              <a:pPr marL="0" indent="0">
                <a:lnSpc>
                  <a:spcPts val="2400"/>
                </a:lnSpc>
                <a:buNone/>
              </a:pPr>
              <a:r>
                <a:rPr lang="en-US" sz="1645" b="1" dirty="0">
                  <a:solidFill>
                    <a:srgbClr val="15803D"/>
                  </a:solidFill>
                  <a:latin typeface="Noto Sans SC" panose="020B0200000000000000" pitchFamily="34" charset="-122"/>
                  <a:ea typeface="Noto Sans SC" panose="020B0200000000000000" pitchFamily="34" charset="-122"/>
                  <a:cs typeface="Noto Sans SC" panose="020B0200000000000000" pitchFamily="34" charset="-120"/>
                </a:rPr>
                <a:t>从IAD到SES：框架升级</a:t>
              </a:r>
              <a:endParaRPr lang="en-US" sz="1645" dirty="0"/>
            </a:p>
          </p:txBody>
        </p:sp>
        <p:sp>
          <p:nvSpPr>
            <p:cNvPr id="29" name="Text 2"/>
            <p:cNvSpPr/>
            <p:nvPr/>
          </p:nvSpPr>
          <p:spPr>
            <a:xfrm>
              <a:off x="1920" y="9735"/>
              <a:ext cx="7854" cy="616"/>
            </a:xfrm>
            <a:prstGeom prst="rect">
              <a:avLst/>
            </a:prstGeom>
            <a:noFill/>
          </p:spPr>
          <p:txBody>
            <a:bodyPr wrap="square" lIns="0" tIns="0" rIns="0" bIns="0" rtlCol="0" anchor="t">
              <a:spAutoFit/>
            </a:bodyPr>
            <a:p>
              <a:pPr marL="0" indent="0">
                <a:lnSpc>
                  <a:spcPts val="2100"/>
                </a:lnSpc>
                <a:buNone/>
              </a:pPr>
              <a:r>
                <a:rPr lang="en-US" sz="126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SES框架：IAD框架的"升级版"</a:t>
              </a:r>
              <a:endParaRPr lang="en-US" sz="1260" dirty="0"/>
            </a:p>
          </p:txBody>
        </p:sp>
        <p:sp>
          <p:nvSpPr>
            <p:cNvPr id="30" name="Text 3"/>
            <p:cNvSpPr/>
            <p:nvPr/>
          </p:nvSpPr>
          <p:spPr>
            <a:xfrm>
              <a:off x="1920" y="10215"/>
              <a:ext cx="7140" cy="1057"/>
            </a:xfrm>
            <a:prstGeom prst="rect">
              <a:avLst/>
            </a:prstGeom>
            <a:noFill/>
          </p:spPr>
          <p:txBody>
            <a:bodyPr wrap="square" lIns="0" tIns="0" rIns="0" bIns="0" rtlCol="0" anchor="t">
              <a:spAutoFit/>
            </a:bodyPr>
            <a:p>
              <a:pPr marL="0" indent="0">
                <a:lnSpc>
                  <a:spcPts val="1800"/>
                </a:lnSpc>
                <a:buNone/>
              </a:pPr>
              <a:r>
                <a:rPr lang="en-US" sz="112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将IAD框架的核心思想与生态学概念相结合，提供更精细、更有针对性的视角</a:t>
              </a:r>
              <a:endParaRPr lang="en-US" sz="1120" dirty="0"/>
            </a:p>
          </p:txBody>
        </p:sp>
        <p:sp>
          <p:nvSpPr>
            <p:cNvPr id="31" name="Text 4"/>
            <p:cNvSpPr/>
            <p:nvPr/>
          </p:nvSpPr>
          <p:spPr>
            <a:xfrm>
              <a:off x="1920" y="11085"/>
              <a:ext cx="6600" cy="616"/>
            </a:xfrm>
            <a:prstGeom prst="rect">
              <a:avLst/>
            </a:prstGeom>
            <a:noFill/>
          </p:spPr>
          <p:txBody>
            <a:bodyPr wrap="square" lIns="0" tIns="0" rIns="0" bIns="0" rtlCol="0" anchor="t">
              <a:spAutoFit/>
            </a:bodyPr>
            <a:p>
              <a:pPr marL="0" indent="0">
                <a:lnSpc>
                  <a:spcPts val="2100"/>
                </a:lnSpc>
                <a:buNone/>
              </a:pPr>
              <a:r>
                <a:rPr lang="en-US" sz="126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突破"万能药"思维陷阱</a:t>
              </a:r>
              <a:endParaRPr lang="en-US" sz="1260" dirty="0"/>
            </a:p>
          </p:txBody>
        </p:sp>
        <p:sp>
          <p:nvSpPr>
            <p:cNvPr id="32" name="Text 5"/>
            <p:cNvSpPr/>
            <p:nvPr/>
          </p:nvSpPr>
          <p:spPr>
            <a:xfrm>
              <a:off x="1920" y="11595"/>
              <a:ext cx="6600" cy="786"/>
            </a:xfrm>
            <a:prstGeom prst="rect">
              <a:avLst/>
            </a:prstGeom>
            <a:noFill/>
          </p:spPr>
          <p:txBody>
            <a:bodyPr wrap="square" lIns="0" tIns="0" rIns="0" bIns="0" rtlCol="0" anchor="t">
              <a:spAutoFit/>
            </a:bodyPr>
            <a:p>
              <a:pPr indent="0" fontAlgn="auto">
                <a:lnSpc>
                  <a:spcPct val="100000"/>
                </a:lnSpc>
                <a:buNone/>
              </a:pPr>
              <a:r>
                <a:rPr lang="en-US" sz="112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避免用一种理想化的理论模型解决所有公共资源治理问题</a:t>
              </a:r>
              <a:endParaRPr lang="en-US" sz="1120" dirty="0"/>
            </a:p>
          </p:txBody>
        </p:sp>
        <p:sp>
          <p:nvSpPr>
            <p:cNvPr id="33" name="Text 6"/>
            <p:cNvSpPr/>
            <p:nvPr/>
          </p:nvSpPr>
          <p:spPr>
            <a:xfrm>
              <a:off x="1920" y="12195"/>
              <a:ext cx="7854" cy="616"/>
            </a:xfrm>
            <a:prstGeom prst="rect">
              <a:avLst/>
            </a:prstGeom>
            <a:noFill/>
          </p:spPr>
          <p:txBody>
            <a:bodyPr wrap="square" lIns="0" tIns="0" rIns="0" bIns="0" rtlCol="0" anchor="t">
              <a:spAutoFit/>
            </a:bodyPr>
            <a:p>
              <a:pPr marL="0" indent="0">
                <a:lnSpc>
                  <a:spcPts val="2100"/>
                </a:lnSpc>
                <a:buNone/>
              </a:pPr>
              <a:r>
                <a:rPr lang="en-US" sz="126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多学科融合分析平台</a:t>
              </a:r>
              <a:endParaRPr lang="en-US" sz="1260" dirty="0"/>
            </a:p>
          </p:txBody>
        </p:sp>
        <p:sp>
          <p:nvSpPr>
            <p:cNvPr id="34" name="Text 7"/>
            <p:cNvSpPr/>
            <p:nvPr/>
          </p:nvSpPr>
          <p:spPr>
            <a:xfrm>
              <a:off x="1920" y="12615"/>
              <a:ext cx="7140" cy="1057"/>
            </a:xfrm>
            <a:prstGeom prst="rect">
              <a:avLst/>
            </a:prstGeom>
            <a:noFill/>
          </p:spPr>
          <p:txBody>
            <a:bodyPr wrap="square" lIns="0" tIns="0" rIns="0" bIns="0" rtlCol="0" anchor="t">
              <a:spAutoFit/>
            </a:bodyPr>
            <a:p>
              <a:pPr marL="0" indent="0">
                <a:lnSpc>
                  <a:spcPts val="1800"/>
                </a:lnSpc>
                <a:buNone/>
              </a:pPr>
              <a:r>
                <a:rPr lang="en-US" sz="112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整合社会学、生态学、经济学等学科视角，成为社会-生态系统研究领域应用最广泛的方法</a:t>
              </a:r>
              <a:endParaRPr lang="en-US" sz="1120" dirty="0"/>
            </a:p>
          </p:txBody>
        </p:sp>
        <p:sp>
          <p:nvSpPr>
            <p:cNvPr id="35" name="Text 8"/>
            <p:cNvSpPr/>
            <p:nvPr/>
          </p:nvSpPr>
          <p:spPr>
            <a:xfrm>
              <a:off x="10680" y="9075"/>
              <a:ext cx="8778" cy="703"/>
            </a:xfrm>
            <a:prstGeom prst="rect">
              <a:avLst/>
            </a:prstGeom>
            <a:noFill/>
          </p:spPr>
          <p:txBody>
            <a:bodyPr wrap="square" lIns="0" tIns="0" rIns="0" bIns="0" rtlCol="0" anchor="t">
              <a:spAutoFit/>
            </a:bodyPr>
            <a:p>
              <a:pPr marL="0" indent="0">
                <a:lnSpc>
                  <a:spcPts val="2400"/>
                </a:lnSpc>
                <a:buNone/>
              </a:pPr>
              <a:r>
                <a:rPr lang="en-US" sz="1645" b="1" dirty="0">
                  <a:solidFill>
                    <a:srgbClr val="2563EB"/>
                  </a:solidFill>
                  <a:latin typeface="Noto Sans SC" panose="020B0200000000000000" pitchFamily="34" charset="-122"/>
                  <a:ea typeface="Noto Sans SC" panose="020B0200000000000000" pitchFamily="34" charset="-122"/>
                  <a:cs typeface="Noto Sans SC" panose="020B0200000000000000" pitchFamily="34" charset="-120"/>
                </a:rPr>
                <a:t>SES框架的分析优势</a:t>
              </a:r>
              <a:endParaRPr lang="en-US" sz="1645" dirty="0"/>
            </a:p>
          </p:txBody>
        </p:sp>
        <p:sp>
          <p:nvSpPr>
            <p:cNvPr id="36" name="Text 9"/>
            <p:cNvSpPr/>
            <p:nvPr/>
          </p:nvSpPr>
          <p:spPr>
            <a:xfrm>
              <a:off x="10980" y="9703"/>
              <a:ext cx="7772" cy="616"/>
            </a:xfrm>
            <a:prstGeom prst="rect">
              <a:avLst/>
            </a:prstGeom>
            <a:noFill/>
          </p:spPr>
          <p:txBody>
            <a:bodyPr wrap="square" lIns="0" tIns="0" rIns="0" bIns="0" rtlCol="0" anchor="t">
              <a:spAutoFit/>
            </a:bodyPr>
            <a:p>
              <a:pPr marL="0" indent="0">
                <a:lnSpc>
                  <a:spcPts val="2100"/>
                </a:lnSpc>
                <a:buNone/>
              </a:pPr>
              <a:r>
                <a:rPr lang="en-US" sz="126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更精细的分析层次</a:t>
              </a:r>
              <a:endParaRPr lang="en-US" sz="1260" dirty="0"/>
            </a:p>
          </p:txBody>
        </p:sp>
        <p:sp>
          <p:nvSpPr>
            <p:cNvPr id="37" name="Text 10"/>
            <p:cNvSpPr/>
            <p:nvPr/>
          </p:nvSpPr>
          <p:spPr>
            <a:xfrm>
              <a:off x="10980" y="10215"/>
              <a:ext cx="7772" cy="786"/>
            </a:xfrm>
            <a:prstGeom prst="rect">
              <a:avLst/>
            </a:prstGeom>
            <a:noFill/>
          </p:spPr>
          <p:txBody>
            <a:bodyPr wrap="square" lIns="0" tIns="0" rIns="0" bIns="0" rtlCol="0" anchor="t">
              <a:spAutoFit/>
            </a:bodyPr>
            <a:p>
              <a:pPr indent="0" fontAlgn="auto">
                <a:lnSpc>
                  <a:spcPct val="100000"/>
                </a:lnSpc>
                <a:buNone/>
              </a:pPr>
              <a:r>
                <a:rPr lang="en-US" sz="112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相比IAD框架，SES框架能提供更详细的资源、环境和治理互动分析</a:t>
              </a:r>
              <a:endParaRPr lang="en-US" sz="1120" dirty="0"/>
            </a:p>
          </p:txBody>
        </p:sp>
        <p:sp>
          <p:nvSpPr>
            <p:cNvPr id="38" name="Text 11"/>
            <p:cNvSpPr/>
            <p:nvPr/>
          </p:nvSpPr>
          <p:spPr>
            <a:xfrm>
              <a:off x="10980" y="10815"/>
              <a:ext cx="7854" cy="616"/>
            </a:xfrm>
            <a:prstGeom prst="rect">
              <a:avLst/>
            </a:prstGeom>
            <a:noFill/>
          </p:spPr>
          <p:txBody>
            <a:bodyPr wrap="square" lIns="0" tIns="0" rIns="0" bIns="0" rtlCol="0" anchor="t">
              <a:spAutoFit/>
            </a:bodyPr>
            <a:p>
              <a:pPr marL="0" indent="0">
                <a:lnSpc>
                  <a:spcPts val="2100"/>
                </a:lnSpc>
                <a:buNone/>
              </a:pPr>
              <a:r>
                <a:rPr lang="en-US" sz="126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社会与自然互动视角</a:t>
              </a:r>
              <a:endParaRPr lang="en-US" sz="1260" dirty="0"/>
            </a:p>
          </p:txBody>
        </p:sp>
        <p:sp>
          <p:nvSpPr>
            <p:cNvPr id="39" name="Text 12"/>
            <p:cNvSpPr/>
            <p:nvPr/>
          </p:nvSpPr>
          <p:spPr>
            <a:xfrm>
              <a:off x="10980" y="11235"/>
              <a:ext cx="7140" cy="1057"/>
            </a:xfrm>
            <a:prstGeom prst="rect">
              <a:avLst/>
            </a:prstGeom>
            <a:noFill/>
          </p:spPr>
          <p:txBody>
            <a:bodyPr wrap="square" lIns="0" tIns="0" rIns="0" bIns="0" rtlCol="0" anchor="t">
              <a:spAutoFit/>
            </a:bodyPr>
            <a:p>
              <a:pPr marL="0" indent="0">
                <a:lnSpc>
                  <a:spcPts val="1800"/>
                </a:lnSpc>
                <a:buNone/>
              </a:pPr>
              <a:r>
                <a:rPr lang="en-US" sz="112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从社会系统与生态系统互动的角度，理解人类活动对自然环境的影响</a:t>
              </a:r>
              <a:endParaRPr lang="en-US" sz="1120" dirty="0"/>
            </a:p>
          </p:txBody>
        </p:sp>
        <p:sp>
          <p:nvSpPr>
            <p:cNvPr id="40" name="Text 13"/>
            <p:cNvSpPr/>
            <p:nvPr/>
          </p:nvSpPr>
          <p:spPr>
            <a:xfrm>
              <a:off x="10980" y="12195"/>
              <a:ext cx="7854" cy="616"/>
            </a:xfrm>
            <a:prstGeom prst="rect">
              <a:avLst/>
            </a:prstGeom>
            <a:noFill/>
          </p:spPr>
          <p:txBody>
            <a:bodyPr wrap="square" lIns="0" tIns="0" rIns="0" bIns="0" rtlCol="0" anchor="t">
              <a:spAutoFit/>
            </a:bodyPr>
            <a:p>
              <a:pPr marL="0" indent="0">
                <a:lnSpc>
                  <a:spcPts val="2100"/>
                </a:lnSpc>
                <a:buNone/>
              </a:pPr>
              <a:r>
                <a:rPr lang="en-US" sz="126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复杂适应性分析</a:t>
              </a:r>
              <a:endParaRPr lang="en-US" sz="1260" dirty="0"/>
            </a:p>
          </p:txBody>
        </p:sp>
        <p:sp>
          <p:nvSpPr>
            <p:cNvPr id="41" name="Text 14"/>
            <p:cNvSpPr/>
            <p:nvPr/>
          </p:nvSpPr>
          <p:spPr>
            <a:xfrm>
              <a:off x="10980" y="12615"/>
              <a:ext cx="7140" cy="1057"/>
            </a:xfrm>
            <a:prstGeom prst="rect">
              <a:avLst/>
            </a:prstGeom>
            <a:noFill/>
          </p:spPr>
          <p:txBody>
            <a:bodyPr wrap="square" lIns="0" tIns="0" rIns="0" bIns="0" rtlCol="0" anchor="t">
              <a:spAutoFit/>
            </a:bodyPr>
            <a:p>
              <a:pPr marL="0" indent="0">
                <a:lnSpc>
                  <a:spcPts val="1800"/>
                </a:lnSpc>
                <a:buNone/>
              </a:pPr>
              <a:r>
                <a:rPr lang="en-US" sz="112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体现社会-生态系统复杂适应性发展的特征，反映各子系统间的反馈与互动</a:t>
              </a:r>
              <a:endParaRPr lang="en-US" sz="112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SES</a:t>
            </a:r>
            <a:r>
              <a:rPr lang="zh-CN" altLang="en-US"/>
              <a:t>框架的核心</a:t>
            </a:r>
            <a:r>
              <a:rPr lang="zh-CN" altLang="en-US"/>
              <a:t>理念</a:t>
            </a:r>
            <a:endParaRPr lang="zh-CN" altLang="en-US"/>
          </a:p>
        </p:txBody>
      </p:sp>
      <p:grpSp>
        <p:nvGrpSpPr>
          <p:cNvPr id="23" name="组合 22"/>
          <p:cNvGrpSpPr/>
          <p:nvPr/>
        </p:nvGrpSpPr>
        <p:grpSpPr>
          <a:xfrm>
            <a:off x="240030" y="2098040"/>
            <a:ext cx="8658225" cy="3989070"/>
            <a:chOff x="1020" y="3660"/>
            <a:chExt cx="17760" cy="5280"/>
          </a:xfrm>
        </p:grpSpPr>
        <p:pic>
          <p:nvPicPr>
            <p:cNvPr id="5" name="Image 3" descr="preencoded.png"/>
            <p:cNvPicPr>
              <a:picLocks noChangeAspect="1"/>
            </p:cNvPicPr>
            <p:nvPr/>
          </p:nvPicPr>
          <p:blipFill>
            <a:blip r:embed="rId1"/>
            <a:stretch>
              <a:fillRect/>
            </a:stretch>
          </p:blipFill>
          <p:spPr>
            <a:xfrm>
              <a:off x="1020" y="3660"/>
              <a:ext cx="3360" cy="3480"/>
            </a:xfrm>
            <a:prstGeom prst="rect">
              <a:avLst/>
            </a:prstGeom>
          </p:spPr>
        </p:pic>
        <p:pic>
          <p:nvPicPr>
            <p:cNvPr id="6" name="Image 4" descr="preencoded.png"/>
            <p:cNvPicPr>
              <a:picLocks noChangeAspect="1"/>
            </p:cNvPicPr>
            <p:nvPr/>
          </p:nvPicPr>
          <p:blipFill>
            <a:blip r:embed="rId2"/>
            <a:stretch>
              <a:fillRect/>
            </a:stretch>
          </p:blipFill>
          <p:spPr>
            <a:xfrm>
              <a:off x="2220" y="3960"/>
              <a:ext cx="960" cy="960"/>
            </a:xfrm>
            <a:prstGeom prst="rect">
              <a:avLst/>
            </a:prstGeom>
          </p:spPr>
        </p:pic>
        <p:pic>
          <p:nvPicPr>
            <p:cNvPr id="7" name="Image 5" descr="preencoded.png"/>
            <p:cNvPicPr>
              <a:picLocks noChangeAspect="1"/>
            </p:cNvPicPr>
            <p:nvPr/>
          </p:nvPicPr>
          <p:blipFill>
            <a:blip r:embed="rId3"/>
            <a:stretch>
              <a:fillRect/>
            </a:stretch>
          </p:blipFill>
          <p:spPr>
            <a:xfrm>
              <a:off x="2415" y="4170"/>
              <a:ext cx="570" cy="540"/>
            </a:xfrm>
            <a:prstGeom prst="rect">
              <a:avLst/>
            </a:prstGeom>
          </p:spPr>
        </p:pic>
        <p:pic>
          <p:nvPicPr>
            <p:cNvPr id="8" name="Image 6" descr="preencoded.png"/>
            <p:cNvPicPr>
              <a:picLocks noChangeAspect="1"/>
            </p:cNvPicPr>
            <p:nvPr/>
          </p:nvPicPr>
          <p:blipFill>
            <a:blip r:embed="rId4"/>
            <a:stretch>
              <a:fillRect/>
            </a:stretch>
          </p:blipFill>
          <p:spPr>
            <a:xfrm>
              <a:off x="4620" y="3660"/>
              <a:ext cx="3360" cy="3480"/>
            </a:xfrm>
            <a:prstGeom prst="rect">
              <a:avLst/>
            </a:prstGeom>
          </p:spPr>
        </p:pic>
        <p:pic>
          <p:nvPicPr>
            <p:cNvPr id="9" name="Image 7" descr="preencoded.png"/>
            <p:cNvPicPr>
              <a:picLocks noChangeAspect="1"/>
            </p:cNvPicPr>
            <p:nvPr/>
          </p:nvPicPr>
          <p:blipFill>
            <a:blip r:embed="rId5"/>
            <a:stretch>
              <a:fillRect/>
            </a:stretch>
          </p:blipFill>
          <p:spPr>
            <a:xfrm>
              <a:off x="5820" y="3960"/>
              <a:ext cx="960" cy="960"/>
            </a:xfrm>
            <a:prstGeom prst="rect">
              <a:avLst/>
            </a:prstGeom>
          </p:spPr>
        </p:pic>
        <p:pic>
          <p:nvPicPr>
            <p:cNvPr id="10" name="Image 8" descr="preencoded.png"/>
            <p:cNvPicPr>
              <a:picLocks noChangeAspect="1"/>
            </p:cNvPicPr>
            <p:nvPr/>
          </p:nvPicPr>
          <p:blipFill>
            <a:blip r:embed="rId6"/>
            <a:stretch>
              <a:fillRect/>
            </a:stretch>
          </p:blipFill>
          <p:spPr>
            <a:xfrm>
              <a:off x="6075" y="4170"/>
              <a:ext cx="450" cy="540"/>
            </a:xfrm>
            <a:prstGeom prst="rect">
              <a:avLst/>
            </a:prstGeom>
          </p:spPr>
        </p:pic>
        <p:pic>
          <p:nvPicPr>
            <p:cNvPr id="11" name="Image 9" descr="preencoded.png"/>
            <p:cNvPicPr>
              <a:picLocks noChangeAspect="1"/>
            </p:cNvPicPr>
            <p:nvPr/>
          </p:nvPicPr>
          <p:blipFill>
            <a:blip r:embed="rId7"/>
            <a:stretch>
              <a:fillRect/>
            </a:stretch>
          </p:blipFill>
          <p:spPr>
            <a:xfrm>
              <a:off x="8220" y="3660"/>
              <a:ext cx="3360" cy="3480"/>
            </a:xfrm>
            <a:prstGeom prst="rect">
              <a:avLst/>
            </a:prstGeom>
          </p:spPr>
        </p:pic>
        <p:pic>
          <p:nvPicPr>
            <p:cNvPr id="12" name="Image 10" descr="preencoded.png"/>
            <p:cNvPicPr>
              <a:picLocks noChangeAspect="1"/>
            </p:cNvPicPr>
            <p:nvPr/>
          </p:nvPicPr>
          <p:blipFill>
            <a:blip r:embed="rId8"/>
            <a:stretch>
              <a:fillRect/>
            </a:stretch>
          </p:blipFill>
          <p:spPr>
            <a:xfrm>
              <a:off x="9420" y="3960"/>
              <a:ext cx="960" cy="960"/>
            </a:xfrm>
            <a:prstGeom prst="rect">
              <a:avLst/>
            </a:prstGeom>
          </p:spPr>
        </p:pic>
        <p:pic>
          <p:nvPicPr>
            <p:cNvPr id="13" name="Image 11" descr="preencoded.png"/>
            <p:cNvPicPr>
              <a:picLocks noChangeAspect="1"/>
            </p:cNvPicPr>
            <p:nvPr/>
          </p:nvPicPr>
          <p:blipFill>
            <a:blip r:embed="rId9"/>
            <a:stretch>
              <a:fillRect/>
            </a:stretch>
          </p:blipFill>
          <p:spPr>
            <a:xfrm>
              <a:off x="9675" y="4170"/>
              <a:ext cx="450" cy="540"/>
            </a:xfrm>
            <a:prstGeom prst="rect">
              <a:avLst/>
            </a:prstGeom>
          </p:spPr>
        </p:pic>
        <p:pic>
          <p:nvPicPr>
            <p:cNvPr id="14" name="Image 12" descr="preencoded.png"/>
            <p:cNvPicPr>
              <a:picLocks noChangeAspect="1"/>
            </p:cNvPicPr>
            <p:nvPr/>
          </p:nvPicPr>
          <p:blipFill>
            <a:blip r:embed="rId10"/>
            <a:stretch>
              <a:fillRect/>
            </a:stretch>
          </p:blipFill>
          <p:spPr>
            <a:xfrm>
              <a:off x="11820" y="3660"/>
              <a:ext cx="3360" cy="3480"/>
            </a:xfrm>
            <a:prstGeom prst="rect">
              <a:avLst/>
            </a:prstGeom>
          </p:spPr>
        </p:pic>
        <p:pic>
          <p:nvPicPr>
            <p:cNvPr id="15" name="Image 13" descr="preencoded.png"/>
            <p:cNvPicPr>
              <a:picLocks noChangeAspect="1"/>
            </p:cNvPicPr>
            <p:nvPr/>
          </p:nvPicPr>
          <p:blipFill>
            <a:blip r:embed="rId11"/>
            <a:stretch>
              <a:fillRect/>
            </a:stretch>
          </p:blipFill>
          <p:spPr>
            <a:xfrm>
              <a:off x="13020" y="3960"/>
              <a:ext cx="960" cy="960"/>
            </a:xfrm>
            <a:prstGeom prst="rect">
              <a:avLst/>
            </a:prstGeom>
          </p:spPr>
        </p:pic>
        <p:pic>
          <p:nvPicPr>
            <p:cNvPr id="16" name="Image 14" descr="preencoded.png"/>
            <p:cNvPicPr>
              <a:picLocks noChangeAspect="1"/>
            </p:cNvPicPr>
            <p:nvPr/>
          </p:nvPicPr>
          <p:blipFill>
            <a:blip r:embed="rId12"/>
            <a:stretch>
              <a:fillRect/>
            </a:stretch>
          </p:blipFill>
          <p:spPr>
            <a:xfrm>
              <a:off x="13328" y="4170"/>
              <a:ext cx="345" cy="540"/>
            </a:xfrm>
            <a:prstGeom prst="rect">
              <a:avLst/>
            </a:prstGeom>
          </p:spPr>
        </p:pic>
        <p:pic>
          <p:nvPicPr>
            <p:cNvPr id="17" name="Image 15" descr="preencoded.png"/>
            <p:cNvPicPr>
              <a:picLocks noChangeAspect="1"/>
            </p:cNvPicPr>
            <p:nvPr/>
          </p:nvPicPr>
          <p:blipFill>
            <a:blip r:embed="rId13"/>
            <a:stretch>
              <a:fillRect/>
            </a:stretch>
          </p:blipFill>
          <p:spPr>
            <a:xfrm>
              <a:off x="15420" y="3660"/>
              <a:ext cx="3360" cy="3480"/>
            </a:xfrm>
            <a:prstGeom prst="rect">
              <a:avLst/>
            </a:prstGeom>
          </p:spPr>
        </p:pic>
        <p:pic>
          <p:nvPicPr>
            <p:cNvPr id="18" name="Image 16" descr="preencoded.png"/>
            <p:cNvPicPr>
              <a:picLocks noChangeAspect="1"/>
            </p:cNvPicPr>
            <p:nvPr/>
          </p:nvPicPr>
          <p:blipFill>
            <a:blip r:embed="rId14"/>
            <a:stretch>
              <a:fillRect/>
            </a:stretch>
          </p:blipFill>
          <p:spPr>
            <a:xfrm>
              <a:off x="16620" y="3960"/>
              <a:ext cx="960" cy="960"/>
            </a:xfrm>
            <a:prstGeom prst="rect">
              <a:avLst/>
            </a:prstGeom>
          </p:spPr>
        </p:pic>
        <p:pic>
          <p:nvPicPr>
            <p:cNvPr id="19" name="Image 17" descr="preencoded.png"/>
            <p:cNvPicPr>
              <a:picLocks noChangeAspect="1"/>
            </p:cNvPicPr>
            <p:nvPr/>
          </p:nvPicPr>
          <p:blipFill>
            <a:blip r:embed="rId15"/>
            <a:stretch>
              <a:fillRect/>
            </a:stretch>
          </p:blipFill>
          <p:spPr>
            <a:xfrm>
              <a:off x="16815" y="4170"/>
              <a:ext cx="570" cy="540"/>
            </a:xfrm>
            <a:prstGeom prst="rect">
              <a:avLst/>
            </a:prstGeom>
          </p:spPr>
        </p:pic>
        <p:pic>
          <p:nvPicPr>
            <p:cNvPr id="20" name="Image 18" descr="preencoded.png"/>
            <p:cNvPicPr>
              <a:picLocks noChangeAspect="1"/>
            </p:cNvPicPr>
            <p:nvPr/>
          </p:nvPicPr>
          <p:blipFill>
            <a:blip r:embed="rId16"/>
            <a:stretch>
              <a:fillRect/>
            </a:stretch>
          </p:blipFill>
          <p:spPr>
            <a:xfrm>
              <a:off x="3180" y="7620"/>
              <a:ext cx="13440" cy="1320"/>
            </a:xfrm>
            <a:prstGeom prst="rect">
              <a:avLst/>
            </a:prstGeom>
          </p:spPr>
        </p:pic>
        <p:pic>
          <p:nvPicPr>
            <p:cNvPr id="21" name="Image 19" descr="preencoded.png"/>
            <p:cNvPicPr>
              <a:picLocks noChangeAspect="1"/>
            </p:cNvPicPr>
            <p:nvPr/>
          </p:nvPicPr>
          <p:blipFill>
            <a:blip r:embed="rId17"/>
            <a:stretch>
              <a:fillRect/>
            </a:stretch>
          </p:blipFill>
          <p:spPr>
            <a:xfrm>
              <a:off x="3480" y="7980"/>
              <a:ext cx="270" cy="480"/>
            </a:xfrm>
            <a:prstGeom prst="rect">
              <a:avLst/>
            </a:prstGeom>
          </p:spPr>
        </p:pic>
        <p:sp>
          <p:nvSpPr>
            <p:cNvPr id="25" name="Text 1"/>
            <p:cNvSpPr/>
            <p:nvPr/>
          </p:nvSpPr>
          <p:spPr>
            <a:xfrm>
              <a:off x="1182" y="5160"/>
              <a:ext cx="3036" cy="305"/>
            </a:xfrm>
            <a:prstGeom prst="rect">
              <a:avLst/>
            </a:prstGeom>
            <a:noFill/>
          </p:spPr>
          <p:txBody>
            <a:bodyPr wrap="square" lIns="0" tIns="0" rIns="0" bIns="0" rtlCol="0" anchor="t">
              <a:spAutoFit/>
            </a:bodyPr>
            <a:p>
              <a:pPr marL="0" indent="0" algn="ctr">
                <a:lnSpc>
                  <a:spcPts val="1800"/>
                </a:lnSpc>
                <a:buNone/>
              </a:pPr>
              <a:r>
                <a:rPr lang="en-US" sz="1120" b="1" dirty="0">
                  <a:solidFill>
                    <a:srgbClr val="000000"/>
                  </a:solidFill>
                  <a:latin typeface="ui-sans-serif" pitchFamily="34" charset="0"/>
                  <a:ea typeface="ui-sans-serif" pitchFamily="34" charset="-122"/>
                  <a:cs typeface="ui-sans-serif" pitchFamily="34" charset="-120"/>
                </a:rPr>
                <a:t>人与自然的相互依存性</a:t>
              </a:r>
              <a:endParaRPr lang="en-US" sz="1120" dirty="0"/>
            </a:p>
          </p:txBody>
        </p:sp>
        <p:sp>
          <p:nvSpPr>
            <p:cNvPr id="26" name="Text 2"/>
            <p:cNvSpPr/>
            <p:nvPr/>
          </p:nvSpPr>
          <p:spPr>
            <a:xfrm>
              <a:off x="1320" y="5640"/>
              <a:ext cx="2760" cy="1273"/>
            </a:xfrm>
            <a:prstGeom prst="rect">
              <a:avLst/>
            </a:prstGeom>
            <a:noFill/>
          </p:spPr>
          <p:txBody>
            <a:bodyPr wrap="square" lIns="0" tIns="0" rIns="0" bIns="0" rtlCol="0" anchor="t">
              <a:spAutoFit/>
            </a:bodyPr>
            <a:p>
              <a:pPr marL="0" indent="0" algn="ctr">
                <a:lnSpc>
                  <a:spcPts val="1500"/>
                </a:lnSpc>
                <a:buNone/>
              </a:pPr>
              <a:r>
                <a:rPr lang="en-US" sz="980" dirty="0">
                  <a:solidFill>
                    <a:srgbClr val="4B5563"/>
                  </a:solidFill>
                  <a:latin typeface="ui-sans-serif" pitchFamily="34" charset="0"/>
                  <a:ea typeface="ui-sans-serif" pitchFamily="34" charset="-122"/>
                  <a:cs typeface="ui-sans-serif" pitchFamily="34" charset="-120"/>
                </a:rPr>
                <a:t>所有人类使用的资源都嵌入在复杂的社会-生态系统中，这些系统由多个子系统和内部动态相互作用构成。</a:t>
              </a:r>
              <a:endParaRPr lang="en-US" sz="980" dirty="0"/>
            </a:p>
          </p:txBody>
        </p:sp>
        <p:sp>
          <p:nvSpPr>
            <p:cNvPr id="27" name="Text 3"/>
            <p:cNvSpPr/>
            <p:nvPr/>
          </p:nvSpPr>
          <p:spPr>
            <a:xfrm>
              <a:off x="4782" y="5160"/>
              <a:ext cx="3036" cy="305"/>
            </a:xfrm>
            <a:prstGeom prst="rect">
              <a:avLst/>
            </a:prstGeom>
            <a:noFill/>
          </p:spPr>
          <p:txBody>
            <a:bodyPr wrap="square" lIns="0" tIns="0" rIns="0" bIns="0" rtlCol="0" anchor="t">
              <a:spAutoFit/>
            </a:bodyPr>
            <a:p>
              <a:pPr marL="0" indent="0" algn="ctr">
                <a:lnSpc>
                  <a:spcPts val="1800"/>
                </a:lnSpc>
                <a:buNone/>
              </a:pPr>
              <a:r>
                <a:rPr lang="en-US" sz="1120" b="1" dirty="0">
                  <a:solidFill>
                    <a:srgbClr val="000000"/>
                  </a:solidFill>
                  <a:latin typeface="ui-sans-serif" pitchFamily="34" charset="0"/>
                  <a:ea typeface="ui-sans-serif" pitchFamily="34" charset="-122"/>
                  <a:cs typeface="ui-sans-serif" pitchFamily="34" charset="-120"/>
                </a:rPr>
                <a:t>多层级嵌套结构</a:t>
              </a:r>
              <a:endParaRPr lang="en-US" sz="1120" dirty="0"/>
            </a:p>
          </p:txBody>
        </p:sp>
        <p:sp>
          <p:nvSpPr>
            <p:cNvPr id="28" name="Text 4"/>
            <p:cNvSpPr/>
            <p:nvPr/>
          </p:nvSpPr>
          <p:spPr>
            <a:xfrm>
              <a:off x="4920" y="5640"/>
              <a:ext cx="2760" cy="1018"/>
            </a:xfrm>
            <a:prstGeom prst="rect">
              <a:avLst/>
            </a:prstGeom>
            <a:noFill/>
          </p:spPr>
          <p:txBody>
            <a:bodyPr wrap="square" lIns="0" tIns="0" rIns="0" bIns="0" rtlCol="0" anchor="t">
              <a:spAutoFit/>
            </a:bodyPr>
            <a:p>
              <a:pPr marL="0" indent="0" algn="ctr">
                <a:lnSpc>
                  <a:spcPts val="1500"/>
                </a:lnSpc>
                <a:buNone/>
              </a:pPr>
              <a:r>
                <a:rPr lang="en-US" sz="980" dirty="0">
                  <a:solidFill>
                    <a:srgbClr val="4B5563"/>
                  </a:solidFill>
                  <a:latin typeface="ui-sans-serif" pitchFamily="34" charset="0"/>
                  <a:ea typeface="ui-sans-serif" pitchFamily="34" charset="-122"/>
                  <a:cs typeface="ui-sans-serif" pitchFamily="34" charset="-120"/>
                </a:rPr>
                <a:t>SES具有多层级的嵌套系统，从局部到全球，不同尺度的系统相互关联、相互影响。</a:t>
              </a:r>
              <a:endParaRPr lang="en-US" sz="980" dirty="0"/>
            </a:p>
          </p:txBody>
        </p:sp>
        <p:sp>
          <p:nvSpPr>
            <p:cNvPr id="29" name="Text 5"/>
            <p:cNvSpPr/>
            <p:nvPr/>
          </p:nvSpPr>
          <p:spPr>
            <a:xfrm>
              <a:off x="8382" y="5160"/>
              <a:ext cx="3036" cy="305"/>
            </a:xfrm>
            <a:prstGeom prst="rect">
              <a:avLst/>
            </a:prstGeom>
            <a:noFill/>
          </p:spPr>
          <p:txBody>
            <a:bodyPr wrap="square" lIns="0" tIns="0" rIns="0" bIns="0" rtlCol="0" anchor="t">
              <a:spAutoFit/>
            </a:bodyPr>
            <a:p>
              <a:pPr marL="0" indent="0" algn="ctr">
                <a:lnSpc>
                  <a:spcPts val="1800"/>
                </a:lnSpc>
                <a:buNone/>
              </a:pPr>
              <a:r>
                <a:rPr lang="en-US" sz="1120" b="1" dirty="0">
                  <a:solidFill>
                    <a:srgbClr val="000000"/>
                  </a:solidFill>
                  <a:latin typeface="ui-sans-serif" pitchFamily="34" charset="0"/>
                  <a:ea typeface="ui-sans-serif" pitchFamily="34" charset="-122"/>
                  <a:cs typeface="ui-sans-serif" pitchFamily="34" charset="-120"/>
                </a:rPr>
                <a:t>动态互动与反馈机制</a:t>
              </a:r>
              <a:endParaRPr lang="en-US" sz="1120" dirty="0"/>
            </a:p>
          </p:txBody>
        </p:sp>
        <p:sp>
          <p:nvSpPr>
            <p:cNvPr id="30" name="Text 6"/>
            <p:cNvSpPr/>
            <p:nvPr/>
          </p:nvSpPr>
          <p:spPr>
            <a:xfrm>
              <a:off x="8520" y="5640"/>
              <a:ext cx="2760" cy="1273"/>
            </a:xfrm>
            <a:prstGeom prst="rect">
              <a:avLst/>
            </a:prstGeom>
            <a:noFill/>
          </p:spPr>
          <p:txBody>
            <a:bodyPr wrap="square" lIns="0" tIns="0" rIns="0" bIns="0" rtlCol="0" anchor="t">
              <a:spAutoFit/>
            </a:bodyPr>
            <a:p>
              <a:pPr marL="0" indent="0" algn="ctr">
                <a:lnSpc>
                  <a:spcPts val="1500"/>
                </a:lnSpc>
                <a:buNone/>
              </a:pPr>
              <a:r>
                <a:rPr lang="en-US" sz="980" dirty="0">
                  <a:solidFill>
                    <a:srgbClr val="4B5563"/>
                  </a:solidFill>
                  <a:latin typeface="ui-sans-serif" pitchFamily="34" charset="0"/>
                  <a:ea typeface="ui-sans-serif" pitchFamily="34" charset="-122"/>
                  <a:cs typeface="ui-sans-serif" pitchFamily="34" charset="-120"/>
                </a:rPr>
                <a:t>系统内部各要素之间存在持续的动态互动，并产生结果，这些结果又会反馈到系统中，影响未来的互动和演变。</a:t>
              </a:r>
              <a:endParaRPr lang="en-US" sz="980" dirty="0"/>
            </a:p>
          </p:txBody>
        </p:sp>
        <p:sp>
          <p:nvSpPr>
            <p:cNvPr id="31" name="Text 7"/>
            <p:cNvSpPr/>
            <p:nvPr/>
          </p:nvSpPr>
          <p:spPr>
            <a:xfrm>
              <a:off x="11982" y="5160"/>
              <a:ext cx="3036" cy="305"/>
            </a:xfrm>
            <a:prstGeom prst="rect">
              <a:avLst/>
            </a:prstGeom>
            <a:noFill/>
          </p:spPr>
          <p:txBody>
            <a:bodyPr wrap="square" lIns="0" tIns="0" rIns="0" bIns="0" rtlCol="0" anchor="t">
              <a:spAutoFit/>
            </a:bodyPr>
            <a:p>
              <a:pPr marL="0" indent="0" algn="ctr">
                <a:lnSpc>
                  <a:spcPts val="1800"/>
                </a:lnSpc>
                <a:buNone/>
              </a:pPr>
              <a:r>
                <a:rPr lang="en-US" sz="1120" b="1" dirty="0">
                  <a:solidFill>
                    <a:srgbClr val="000000"/>
                  </a:solidFill>
                  <a:latin typeface="ui-sans-serif" pitchFamily="34" charset="0"/>
                  <a:ea typeface="ui-sans-serif" pitchFamily="34" charset="-122"/>
                  <a:cs typeface="ui-sans-serif" pitchFamily="34" charset="-120"/>
                </a:rPr>
                <a:t>"行动情境"的核心地位</a:t>
              </a:r>
              <a:endParaRPr lang="en-US" sz="1120" dirty="0"/>
            </a:p>
          </p:txBody>
        </p:sp>
        <p:sp>
          <p:nvSpPr>
            <p:cNvPr id="32" name="Text 8"/>
            <p:cNvSpPr/>
            <p:nvPr/>
          </p:nvSpPr>
          <p:spPr>
            <a:xfrm>
              <a:off x="12120" y="5640"/>
              <a:ext cx="2760" cy="1018"/>
            </a:xfrm>
            <a:prstGeom prst="rect">
              <a:avLst/>
            </a:prstGeom>
            <a:noFill/>
          </p:spPr>
          <p:txBody>
            <a:bodyPr wrap="square" lIns="0" tIns="0" rIns="0" bIns="0" rtlCol="0" anchor="t">
              <a:spAutoFit/>
            </a:bodyPr>
            <a:p>
              <a:pPr marL="0" indent="0" algn="ctr">
                <a:lnSpc>
                  <a:spcPts val="1500"/>
                </a:lnSpc>
                <a:buNone/>
              </a:pPr>
              <a:r>
                <a:rPr lang="en-US" sz="980" dirty="0">
                  <a:solidFill>
                    <a:srgbClr val="4B5563"/>
                  </a:solidFill>
                  <a:latin typeface="ui-sans-serif" pitchFamily="34" charset="0"/>
                  <a:ea typeface="ui-sans-serif" pitchFamily="34" charset="-122"/>
                  <a:cs typeface="ui-sans-serif" pitchFamily="34" charset="-120"/>
                </a:rPr>
                <a:t>SES框架将"行动情境"置于核心位置，认为所有互动都在特定的行动情境中发生，并受其影响。</a:t>
              </a:r>
              <a:endParaRPr lang="en-US" sz="980" dirty="0"/>
            </a:p>
          </p:txBody>
        </p:sp>
        <p:sp>
          <p:nvSpPr>
            <p:cNvPr id="33" name="Text 9"/>
            <p:cNvSpPr/>
            <p:nvPr/>
          </p:nvSpPr>
          <p:spPr>
            <a:xfrm>
              <a:off x="15582" y="5160"/>
              <a:ext cx="3036" cy="305"/>
            </a:xfrm>
            <a:prstGeom prst="rect">
              <a:avLst/>
            </a:prstGeom>
            <a:noFill/>
          </p:spPr>
          <p:txBody>
            <a:bodyPr wrap="square" lIns="0" tIns="0" rIns="0" bIns="0" rtlCol="0" anchor="t">
              <a:spAutoFit/>
            </a:bodyPr>
            <a:p>
              <a:pPr marL="0" indent="0" algn="ctr">
                <a:lnSpc>
                  <a:spcPts val="1800"/>
                </a:lnSpc>
                <a:buNone/>
              </a:pPr>
              <a:r>
                <a:rPr lang="en-US" sz="1120" b="1" dirty="0">
                  <a:solidFill>
                    <a:srgbClr val="000000"/>
                  </a:solidFill>
                  <a:latin typeface="ui-sans-serif" pitchFamily="34" charset="0"/>
                  <a:ea typeface="ui-sans-serif" pitchFamily="34" charset="-122"/>
                  <a:cs typeface="ui-sans-serif" pitchFamily="34" charset="-120"/>
                </a:rPr>
                <a:t>复杂适应性系统特性</a:t>
              </a:r>
              <a:endParaRPr lang="en-US" sz="1120" dirty="0"/>
            </a:p>
          </p:txBody>
        </p:sp>
        <p:sp>
          <p:nvSpPr>
            <p:cNvPr id="34" name="Text 10"/>
            <p:cNvSpPr/>
            <p:nvPr/>
          </p:nvSpPr>
          <p:spPr>
            <a:xfrm>
              <a:off x="15720" y="5640"/>
              <a:ext cx="2760" cy="1018"/>
            </a:xfrm>
            <a:prstGeom prst="rect">
              <a:avLst/>
            </a:prstGeom>
            <a:noFill/>
          </p:spPr>
          <p:txBody>
            <a:bodyPr wrap="square" lIns="0" tIns="0" rIns="0" bIns="0" rtlCol="0" anchor="t">
              <a:spAutoFit/>
            </a:bodyPr>
            <a:p>
              <a:pPr marL="0" indent="0" algn="ctr">
                <a:lnSpc>
                  <a:spcPts val="1500"/>
                </a:lnSpc>
                <a:buNone/>
              </a:pPr>
              <a:r>
                <a:rPr lang="en-US" sz="980" dirty="0">
                  <a:solidFill>
                    <a:srgbClr val="4B5563"/>
                  </a:solidFill>
                  <a:latin typeface="ui-sans-serif" pitchFamily="34" charset="0"/>
                  <a:ea typeface="ui-sans-serif" pitchFamily="34" charset="-122"/>
                  <a:cs typeface="ui-sans-serif" pitchFamily="34" charset="-120"/>
                </a:rPr>
                <a:t>SES被视为具有复杂适应性系统（CAS）的特性，能够通过学习和适应来应对变化和不确定性。</a:t>
              </a:r>
              <a:endParaRPr lang="en-US" sz="980" dirty="0"/>
            </a:p>
          </p:txBody>
        </p:sp>
        <p:sp>
          <p:nvSpPr>
            <p:cNvPr id="35" name="Text 11"/>
            <p:cNvSpPr/>
            <p:nvPr/>
          </p:nvSpPr>
          <p:spPr>
            <a:xfrm>
              <a:off x="3990" y="7920"/>
              <a:ext cx="12330" cy="916"/>
            </a:xfrm>
            <a:prstGeom prst="rect">
              <a:avLst/>
            </a:prstGeom>
            <a:noFill/>
          </p:spPr>
          <p:txBody>
            <a:bodyPr wrap="square" lIns="0" tIns="0" rIns="0" bIns="0" rtlCol="0" anchor="t">
              <a:spAutoFit/>
            </a:bodyPr>
            <a:p>
              <a:pPr marL="0" indent="0">
                <a:lnSpc>
                  <a:spcPts val="1800"/>
                </a:lnSpc>
                <a:buNone/>
              </a:pPr>
              <a:r>
                <a:rPr lang="en-US" sz="1120" dirty="0">
                  <a:solidFill>
                    <a:srgbClr val="374151"/>
                  </a:solidFill>
                  <a:latin typeface="ui-sans-serif" pitchFamily="34" charset="0"/>
                  <a:ea typeface="ui-sans-serif" pitchFamily="34" charset="-122"/>
                  <a:cs typeface="ui-sans-serif" pitchFamily="34" charset="-120"/>
                </a:rPr>
                <a:t>这些核心理念共同构成了SES框架的理论基础，强调人与自然环境是一个整合的、复杂的适应性系统，而非相互分离的实体。通过这一视角，SES框架为我们理解和应对复杂的环境与资源管理挑战提供了系统性分析工具。</a:t>
              </a:r>
              <a:endParaRPr lang="en-US" sz="112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sym typeface="+mn-ea"/>
              </a:rPr>
              <a:t>社会生态系统（SES）框架</a:t>
            </a:r>
            <a:endParaRPr lang="zh-CN" altLang="en-US"/>
          </a:p>
        </p:txBody>
      </p:sp>
      <p:grpSp>
        <p:nvGrpSpPr>
          <p:cNvPr id="43" name="组合 42"/>
          <p:cNvGrpSpPr/>
          <p:nvPr/>
        </p:nvGrpSpPr>
        <p:grpSpPr>
          <a:xfrm>
            <a:off x="-231775" y="2118995"/>
            <a:ext cx="9607550" cy="3550285"/>
            <a:chOff x="-168" y="5160"/>
            <a:chExt cx="19536" cy="6900"/>
          </a:xfrm>
        </p:grpSpPr>
        <p:pic>
          <p:nvPicPr>
            <p:cNvPr id="5" name="Image 3" descr="preencoded.png"/>
            <p:cNvPicPr>
              <a:picLocks noChangeAspect="1"/>
            </p:cNvPicPr>
            <p:nvPr/>
          </p:nvPicPr>
          <p:blipFill>
            <a:blip r:embed="rId1"/>
            <a:stretch>
              <a:fillRect/>
            </a:stretch>
          </p:blipFill>
          <p:spPr>
            <a:xfrm>
              <a:off x="8880" y="5160"/>
              <a:ext cx="1440" cy="60"/>
            </a:xfrm>
            <a:prstGeom prst="rect">
              <a:avLst/>
            </a:prstGeom>
          </p:spPr>
        </p:pic>
        <p:pic>
          <p:nvPicPr>
            <p:cNvPr id="6" name="Image 4" descr="preencoded.png"/>
            <p:cNvPicPr>
              <a:picLocks noChangeAspect="1"/>
            </p:cNvPicPr>
            <p:nvPr/>
          </p:nvPicPr>
          <p:blipFill>
            <a:blip r:embed="rId2"/>
            <a:stretch>
              <a:fillRect/>
            </a:stretch>
          </p:blipFill>
          <p:spPr>
            <a:xfrm>
              <a:off x="720" y="6060"/>
              <a:ext cx="8700" cy="2220"/>
            </a:xfrm>
            <a:prstGeom prst="rect">
              <a:avLst/>
            </a:prstGeom>
          </p:spPr>
        </p:pic>
        <p:pic>
          <p:nvPicPr>
            <p:cNvPr id="7" name="Image 5" descr="preencoded.png"/>
            <p:cNvPicPr>
              <a:picLocks noChangeAspect="1"/>
            </p:cNvPicPr>
            <p:nvPr/>
          </p:nvPicPr>
          <p:blipFill>
            <a:blip r:embed="rId3"/>
            <a:stretch>
              <a:fillRect/>
            </a:stretch>
          </p:blipFill>
          <p:spPr>
            <a:xfrm>
              <a:off x="960" y="6300"/>
              <a:ext cx="600" cy="600"/>
            </a:xfrm>
            <a:prstGeom prst="rect">
              <a:avLst/>
            </a:prstGeom>
          </p:spPr>
        </p:pic>
        <p:pic>
          <p:nvPicPr>
            <p:cNvPr id="8" name="Image 6" descr="preencoded.png"/>
            <p:cNvPicPr>
              <a:picLocks noChangeAspect="1"/>
            </p:cNvPicPr>
            <p:nvPr/>
          </p:nvPicPr>
          <p:blipFill>
            <a:blip r:embed="rId4"/>
            <a:stretch>
              <a:fillRect/>
            </a:stretch>
          </p:blipFill>
          <p:spPr>
            <a:xfrm>
              <a:off x="1125" y="6390"/>
              <a:ext cx="270" cy="420"/>
            </a:xfrm>
            <a:prstGeom prst="rect">
              <a:avLst/>
            </a:prstGeom>
          </p:spPr>
        </p:pic>
        <p:pic>
          <p:nvPicPr>
            <p:cNvPr id="9" name="Image 7" descr="preencoded.png"/>
            <p:cNvPicPr>
              <a:picLocks noChangeAspect="1"/>
            </p:cNvPicPr>
            <p:nvPr/>
          </p:nvPicPr>
          <p:blipFill>
            <a:blip r:embed="rId5"/>
            <a:stretch>
              <a:fillRect/>
            </a:stretch>
          </p:blipFill>
          <p:spPr>
            <a:xfrm>
              <a:off x="9780" y="6060"/>
              <a:ext cx="8700" cy="2220"/>
            </a:xfrm>
            <a:prstGeom prst="rect">
              <a:avLst/>
            </a:prstGeom>
          </p:spPr>
        </p:pic>
        <p:pic>
          <p:nvPicPr>
            <p:cNvPr id="10" name="Image 8" descr="preencoded.png"/>
            <p:cNvPicPr>
              <a:picLocks noChangeAspect="1"/>
            </p:cNvPicPr>
            <p:nvPr/>
          </p:nvPicPr>
          <p:blipFill>
            <a:blip r:embed="rId6"/>
            <a:stretch>
              <a:fillRect/>
            </a:stretch>
          </p:blipFill>
          <p:spPr>
            <a:xfrm>
              <a:off x="10020" y="6300"/>
              <a:ext cx="600" cy="600"/>
            </a:xfrm>
            <a:prstGeom prst="rect">
              <a:avLst/>
            </a:prstGeom>
          </p:spPr>
        </p:pic>
        <p:pic>
          <p:nvPicPr>
            <p:cNvPr id="11" name="Image 9" descr="preencoded.png"/>
            <p:cNvPicPr>
              <a:picLocks noChangeAspect="1"/>
            </p:cNvPicPr>
            <p:nvPr/>
          </p:nvPicPr>
          <p:blipFill>
            <a:blip r:embed="rId7"/>
            <a:stretch>
              <a:fillRect/>
            </a:stretch>
          </p:blipFill>
          <p:spPr>
            <a:xfrm>
              <a:off x="10170" y="6390"/>
              <a:ext cx="300" cy="420"/>
            </a:xfrm>
            <a:prstGeom prst="rect">
              <a:avLst/>
            </a:prstGeom>
          </p:spPr>
        </p:pic>
        <p:pic>
          <p:nvPicPr>
            <p:cNvPr id="12" name="Image 10" descr="preencoded.png"/>
            <p:cNvPicPr>
              <a:picLocks noChangeAspect="1"/>
            </p:cNvPicPr>
            <p:nvPr/>
          </p:nvPicPr>
          <p:blipFill>
            <a:blip r:embed="rId8"/>
            <a:stretch>
              <a:fillRect/>
            </a:stretch>
          </p:blipFill>
          <p:spPr>
            <a:xfrm>
              <a:off x="720" y="8640"/>
              <a:ext cx="8700" cy="2220"/>
            </a:xfrm>
            <a:prstGeom prst="rect">
              <a:avLst/>
            </a:prstGeom>
          </p:spPr>
        </p:pic>
        <p:pic>
          <p:nvPicPr>
            <p:cNvPr id="13" name="Image 11" descr="preencoded.png"/>
            <p:cNvPicPr>
              <a:picLocks noChangeAspect="1"/>
            </p:cNvPicPr>
            <p:nvPr/>
          </p:nvPicPr>
          <p:blipFill>
            <a:blip r:embed="rId9"/>
            <a:stretch>
              <a:fillRect/>
            </a:stretch>
          </p:blipFill>
          <p:spPr>
            <a:xfrm>
              <a:off x="960" y="8880"/>
              <a:ext cx="600" cy="600"/>
            </a:xfrm>
            <a:prstGeom prst="rect">
              <a:avLst/>
            </a:prstGeom>
          </p:spPr>
        </p:pic>
        <p:pic>
          <p:nvPicPr>
            <p:cNvPr id="14" name="Image 12" descr="preencoded.png"/>
            <p:cNvPicPr>
              <a:picLocks noChangeAspect="1"/>
            </p:cNvPicPr>
            <p:nvPr/>
          </p:nvPicPr>
          <p:blipFill>
            <a:blip r:embed="rId10"/>
            <a:stretch>
              <a:fillRect/>
            </a:stretch>
          </p:blipFill>
          <p:spPr>
            <a:xfrm>
              <a:off x="1073" y="8970"/>
              <a:ext cx="375" cy="420"/>
            </a:xfrm>
            <a:prstGeom prst="rect">
              <a:avLst/>
            </a:prstGeom>
          </p:spPr>
        </p:pic>
        <p:pic>
          <p:nvPicPr>
            <p:cNvPr id="15" name="Image 13" descr="preencoded.png"/>
            <p:cNvPicPr>
              <a:picLocks noChangeAspect="1"/>
            </p:cNvPicPr>
            <p:nvPr/>
          </p:nvPicPr>
          <p:blipFill>
            <a:blip r:embed="rId11"/>
            <a:stretch>
              <a:fillRect/>
            </a:stretch>
          </p:blipFill>
          <p:spPr>
            <a:xfrm>
              <a:off x="9780" y="8640"/>
              <a:ext cx="8700" cy="2220"/>
            </a:xfrm>
            <a:prstGeom prst="rect">
              <a:avLst/>
            </a:prstGeom>
          </p:spPr>
        </p:pic>
        <p:pic>
          <p:nvPicPr>
            <p:cNvPr id="16" name="Image 14" descr="preencoded.png"/>
            <p:cNvPicPr>
              <a:picLocks noChangeAspect="1"/>
            </p:cNvPicPr>
            <p:nvPr/>
          </p:nvPicPr>
          <p:blipFill>
            <a:blip r:embed="rId12"/>
            <a:stretch>
              <a:fillRect/>
            </a:stretch>
          </p:blipFill>
          <p:spPr>
            <a:xfrm>
              <a:off x="10020" y="8880"/>
              <a:ext cx="600" cy="600"/>
            </a:xfrm>
            <a:prstGeom prst="rect">
              <a:avLst/>
            </a:prstGeom>
          </p:spPr>
        </p:pic>
        <p:pic>
          <p:nvPicPr>
            <p:cNvPr id="17" name="Image 15" descr="preencoded.png"/>
            <p:cNvPicPr>
              <a:picLocks noChangeAspect="1"/>
            </p:cNvPicPr>
            <p:nvPr/>
          </p:nvPicPr>
          <p:blipFill>
            <a:blip r:embed="rId13"/>
            <a:stretch>
              <a:fillRect/>
            </a:stretch>
          </p:blipFill>
          <p:spPr>
            <a:xfrm>
              <a:off x="10133" y="8970"/>
              <a:ext cx="375" cy="420"/>
            </a:xfrm>
            <a:prstGeom prst="rect">
              <a:avLst/>
            </a:prstGeom>
          </p:spPr>
        </p:pic>
        <p:pic>
          <p:nvPicPr>
            <p:cNvPr id="18" name="Image 16" descr="preencoded.png"/>
            <p:cNvPicPr>
              <a:picLocks noChangeAspect="1"/>
            </p:cNvPicPr>
            <p:nvPr/>
          </p:nvPicPr>
          <p:blipFill>
            <a:blip r:embed="rId14"/>
            <a:stretch>
              <a:fillRect/>
            </a:stretch>
          </p:blipFill>
          <p:spPr>
            <a:xfrm>
              <a:off x="720" y="11100"/>
              <a:ext cx="17760" cy="960"/>
            </a:xfrm>
            <a:prstGeom prst="rect">
              <a:avLst/>
            </a:prstGeom>
          </p:spPr>
        </p:pic>
        <p:sp>
          <p:nvSpPr>
            <p:cNvPr id="23" name="Text 1"/>
            <p:cNvSpPr/>
            <p:nvPr/>
          </p:nvSpPr>
          <p:spPr>
            <a:xfrm>
              <a:off x="-168" y="5460"/>
              <a:ext cx="19536" cy="448"/>
            </a:xfrm>
            <a:prstGeom prst="rect">
              <a:avLst/>
            </a:prstGeom>
            <a:noFill/>
          </p:spPr>
          <p:txBody>
            <a:bodyPr wrap="square" lIns="0" tIns="0" rIns="0" bIns="0" rtlCol="0" anchor="t">
              <a:spAutoFit/>
            </a:bodyPr>
            <a:p>
              <a:pPr marL="0" indent="0" algn="ctr">
                <a:lnSpc>
                  <a:spcPts val="1800"/>
                </a:lnSpc>
                <a:buNone/>
              </a:pPr>
              <a:r>
                <a:rPr lang="en-US" sz="112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社会生态系统（SES）框架由四个相互关联的子系统构成，描绘了社会与生态系统如何相互作用、相互影响</a:t>
              </a:r>
              <a:endParaRPr lang="en-US" sz="1120" dirty="0"/>
            </a:p>
          </p:txBody>
        </p:sp>
        <p:sp>
          <p:nvSpPr>
            <p:cNvPr id="24" name="Text 2"/>
            <p:cNvSpPr/>
            <p:nvPr/>
          </p:nvSpPr>
          <p:spPr>
            <a:xfrm>
              <a:off x="1740" y="6390"/>
              <a:ext cx="2096" cy="523"/>
            </a:xfrm>
            <a:prstGeom prst="rect">
              <a:avLst/>
            </a:prstGeom>
            <a:noFill/>
          </p:spPr>
          <p:txBody>
            <a:bodyPr wrap="square" lIns="0" tIns="0" rIns="0" bIns="0" rtlCol="0" anchor="t">
              <a:spAutoFit/>
            </a:bodyPr>
            <a:p>
              <a:pPr marL="0" indent="0">
                <a:lnSpc>
                  <a:spcPts val="2100"/>
                </a:lnSpc>
                <a:buNone/>
              </a:pPr>
              <a:r>
                <a:rPr lang="en-US" sz="1380" b="1" dirty="0">
                  <a:solidFill>
                    <a:srgbClr val="15803D"/>
                  </a:solidFill>
                  <a:latin typeface="Noto Sans SC" panose="020B0200000000000000" pitchFamily="34" charset="-122"/>
                  <a:ea typeface="Noto Sans SC" panose="020B0200000000000000" pitchFamily="34" charset="-122"/>
                  <a:cs typeface="Noto Sans SC" panose="020B0200000000000000" pitchFamily="34" charset="-120"/>
                </a:rPr>
                <a:t>资源系统 (RS)</a:t>
              </a:r>
              <a:endParaRPr lang="en-US" sz="1380" dirty="0"/>
            </a:p>
          </p:txBody>
        </p:sp>
        <p:sp>
          <p:nvSpPr>
            <p:cNvPr id="25" name="Text 3"/>
            <p:cNvSpPr/>
            <p:nvPr/>
          </p:nvSpPr>
          <p:spPr>
            <a:xfrm>
              <a:off x="960" y="7020"/>
              <a:ext cx="9042" cy="37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由多种类型资源构成的统一整体</a:t>
              </a:r>
              <a:endParaRPr lang="en-US" sz="980" dirty="0"/>
            </a:p>
          </p:txBody>
        </p:sp>
        <p:sp>
          <p:nvSpPr>
            <p:cNvPr id="26" name="Text 4"/>
            <p:cNvSpPr/>
            <p:nvPr/>
          </p:nvSpPr>
          <p:spPr>
            <a:xfrm>
              <a:off x="960" y="744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例如：一片森林、一个湖泊、一个动物保护区</a:t>
              </a:r>
              <a:endParaRPr lang="en-US" sz="980" dirty="0"/>
            </a:p>
          </p:txBody>
        </p:sp>
        <p:sp>
          <p:nvSpPr>
            <p:cNvPr id="27" name="Text 5"/>
            <p:cNvSpPr/>
            <p:nvPr/>
          </p:nvSpPr>
          <p:spPr>
            <a:xfrm>
              <a:off x="960" y="774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包含系统规模、边界清晰度、生产力、稀缺性等属性</a:t>
              </a:r>
              <a:endParaRPr lang="en-US" sz="980" dirty="0"/>
            </a:p>
          </p:txBody>
        </p:sp>
        <p:sp>
          <p:nvSpPr>
            <p:cNvPr id="28" name="Text 6"/>
            <p:cNvSpPr/>
            <p:nvPr/>
          </p:nvSpPr>
          <p:spPr>
            <a:xfrm>
              <a:off x="10800" y="6390"/>
              <a:ext cx="2145" cy="523"/>
            </a:xfrm>
            <a:prstGeom prst="rect">
              <a:avLst/>
            </a:prstGeom>
            <a:noFill/>
          </p:spPr>
          <p:txBody>
            <a:bodyPr wrap="square" lIns="0" tIns="0" rIns="0" bIns="0" rtlCol="0" anchor="t">
              <a:spAutoFit/>
            </a:bodyPr>
            <a:p>
              <a:pPr marL="0" indent="0">
                <a:lnSpc>
                  <a:spcPts val="2100"/>
                </a:lnSpc>
                <a:buNone/>
              </a:pPr>
              <a:r>
                <a:rPr lang="en-US" sz="1380" b="1" dirty="0">
                  <a:solidFill>
                    <a:srgbClr val="2563EB"/>
                  </a:solidFill>
                  <a:latin typeface="Noto Sans SC" panose="020B0200000000000000" pitchFamily="34" charset="-122"/>
                  <a:ea typeface="Noto Sans SC" panose="020B0200000000000000" pitchFamily="34" charset="-122"/>
                  <a:cs typeface="Noto Sans SC" panose="020B0200000000000000" pitchFamily="34" charset="-120"/>
                </a:rPr>
                <a:t>资源单位 (RU)</a:t>
              </a:r>
              <a:endParaRPr lang="en-US" sz="1380" dirty="0"/>
            </a:p>
          </p:txBody>
        </p:sp>
        <p:sp>
          <p:nvSpPr>
            <p:cNvPr id="29" name="Text 7"/>
            <p:cNvSpPr/>
            <p:nvPr/>
          </p:nvSpPr>
          <p:spPr>
            <a:xfrm>
              <a:off x="10020" y="7020"/>
              <a:ext cx="9042" cy="37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资源系统中的具体、具有鲜明物理特征的资源个体</a:t>
              </a:r>
              <a:endParaRPr lang="en-US" sz="980" dirty="0"/>
            </a:p>
          </p:txBody>
        </p:sp>
        <p:sp>
          <p:nvSpPr>
            <p:cNvPr id="30" name="Text 8"/>
            <p:cNvSpPr/>
            <p:nvPr/>
          </p:nvSpPr>
          <p:spPr>
            <a:xfrm>
              <a:off x="10020" y="744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例如：森林中的一棵树、湖泊中的一条鱼</a:t>
              </a:r>
              <a:endParaRPr lang="en-US" sz="980" dirty="0"/>
            </a:p>
          </p:txBody>
        </p:sp>
        <p:sp>
          <p:nvSpPr>
            <p:cNvPr id="31" name="Text 9"/>
            <p:cNvSpPr/>
            <p:nvPr/>
          </p:nvSpPr>
          <p:spPr>
            <a:xfrm>
              <a:off x="10020" y="774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包含流动性、增长效率、经济价值、时空分布等特征</a:t>
              </a:r>
              <a:endParaRPr lang="en-US" sz="980" dirty="0"/>
            </a:p>
          </p:txBody>
        </p:sp>
        <p:sp>
          <p:nvSpPr>
            <p:cNvPr id="32" name="Text 10"/>
            <p:cNvSpPr/>
            <p:nvPr/>
          </p:nvSpPr>
          <p:spPr>
            <a:xfrm>
              <a:off x="1740" y="8970"/>
              <a:ext cx="2096" cy="523"/>
            </a:xfrm>
            <a:prstGeom prst="rect">
              <a:avLst/>
            </a:prstGeom>
            <a:noFill/>
          </p:spPr>
          <p:txBody>
            <a:bodyPr wrap="square" lIns="0" tIns="0" rIns="0" bIns="0" rtlCol="0" anchor="t">
              <a:spAutoFit/>
            </a:bodyPr>
            <a:p>
              <a:pPr marL="0" indent="0">
                <a:lnSpc>
                  <a:spcPts val="2100"/>
                </a:lnSpc>
                <a:buNone/>
              </a:pPr>
              <a:r>
                <a:rPr lang="en-US" sz="1380" b="1" dirty="0">
                  <a:solidFill>
                    <a:srgbClr val="EA580C"/>
                  </a:solidFill>
                  <a:latin typeface="Noto Sans SC" panose="020B0200000000000000" pitchFamily="34" charset="-122"/>
                  <a:ea typeface="Noto Sans SC" panose="020B0200000000000000" pitchFamily="34" charset="-122"/>
                  <a:cs typeface="Noto Sans SC" panose="020B0200000000000000" pitchFamily="34" charset="-120"/>
                </a:rPr>
                <a:t>治理系统 (GS)</a:t>
              </a:r>
              <a:endParaRPr lang="en-US" sz="1380" dirty="0"/>
            </a:p>
          </p:txBody>
        </p:sp>
        <p:sp>
          <p:nvSpPr>
            <p:cNvPr id="33" name="Text 11"/>
            <p:cNvSpPr/>
            <p:nvPr/>
          </p:nvSpPr>
          <p:spPr>
            <a:xfrm>
              <a:off x="960" y="9600"/>
              <a:ext cx="9042" cy="37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参与资源管理的治理主体及其制定的规则</a:t>
              </a:r>
              <a:endParaRPr lang="en-US" sz="980" dirty="0"/>
            </a:p>
          </p:txBody>
        </p:sp>
        <p:sp>
          <p:nvSpPr>
            <p:cNvPr id="34" name="Text 12"/>
            <p:cNvSpPr/>
            <p:nvPr/>
          </p:nvSpPr>
          <p:spPr>
            <a:xfrm>
              <a:off x="960" y="1002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例如：政府部门、地方社区组织、产权制度、法律法规</a:t>
              </a:r>
              <a:endParaRPr lang="en-US" sz="980" dirty="0"/>
            </a:p>
          </p:txBody>
        </p:sp>
        <p:sp>
          <p:nvSpPr>
            <p:cNvPr id="35" name="Text 13"/>
            <p:cNvSpPr/>
            <p:nvPr/>
          </p:nvSpPr>
          <p:spPr>
            <a:xfrm>
              <a:off x="960" y="1032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包含政府组织、产权结构、操作规则、监督机制、冲突解决机制等</a:t>
              </a:r>
              <a:endParaRPr lang="en-US" sz="980" dirty="0"/>
            </a:p>
          </p:txBody>
        </p:sp>
        <p:sp>
          <p:nvSpPr>
            <p:cNvPr id="36" name="Text 14"/>
            <p:cNvSpPr/>
            <p:nvPr/>
          </p:nvSpPr>
          <p:spPr>
            <a:xfrm>
              <a:off x="10800" y="8970"/>
              <a:ext cx="1551" cy="523"/>
            </a:xfrm>
            <a:prstGeom prst="rect">
              <a:avLst/>
            </a:prstGeom>
            <a:noFill/>
          </p:spPr>
          <p:txBody>
            <a:bodyPr wrap="square" lIns="0" tIns="0" rIns="0" bIns="0" rtlCol="0" anchor="t">
              <a:spAutoFit/>
            </a:bodyPr>
            <a:p>
              <a:pPr marL="0" indent="0">
                <a:lnSpc>
                  <a:spcPts val="2100"/>
                </a:lnSpc>
                <a:buNone/>
              </a:pPr>
              <a:r>
                <a:rPr lang="en-US" sz="1380" b="1" dirty="0">
                  <a:solidFill>
                    <a:srgbClr val="A16207"/>
                  </a:solidFill>
                  <a:latin typeface="Noto Sans SC" panose="020B0200000000000000" pitchFamily="34" charset="-122"/>
                  <a:ea typeface="Noto Sans SC" panose="020B0200000000000000" pitchFamily="34" charset="-122"/>
                  <a:cs typeface="Noto Sans SC" panose="020B0200000000000000" pitchFamily="34" charset="-120"/>
                </a:rPr>
                <a:t>行动者 (A)</a:t>
              </a:r>
              <a:endParaRPr lang="en-US" sz="1380" dirty="0"/>
            </a:p>
          </p:txBody>
        </p:sp>
        <p:sp>
          <p:nvSpPr>
            <p:cNvPr id="37" name="Text 15"/>
            <p:cNvSpPr/>
            <p:nvPr/>
          </p:nvSpPr>
          <p:spPr>
            <a:xfrm>
              <a:off x="10020" y="9600"/>
              <a:ext cx="9042" cy="37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参与社会-生态系统互动的个人或群体</a:t>
              </a:r>
              <a:endParaRPr lang="en-US" sz="980" dirty="0"/>
            </a:p>
          </p:txBody>
        </p:sp>
        <p:sp>
          <p:nvSpPr>
            <p:cNvPr id="38" name="Text 16"/>
            <p:cNvSpPr/>
            <p:nvPr/>
          </p:nvSpPr>
          <p:spPr>
            <a:xfrm>
              <a:off x="10020" y="1002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例如：资源使用者、管理者、研究人员、政策制定者</a:t>
              </a:r>
              <a:endParaRPr lang="en-US" sz="980" dirty="0"/>
            </a:p>
          </p:txBody>
        </p:sp>
        <p:sp>
          <p:nvSpPr>
            <p:cNvPr id="39" name="Text 17"/>
            <p:cNvSpPr/>
            <p:nvPr/>
          </p:nvSpPr>
          <p:spPr>
            <a:xfrm>
              <a:off x="10020" y="10320"/>
              <a:ext cx="9042" cy="373"/>
            </a:xfrm>
            <a:prstGeom prst="rect">
              <a:avLst/>
            </a:prstGeom>
            <a:noFill/>
          </p:spPr>
          <p:txBody>
            <a:bodyPr wrap="square" lIns="0" tIns="0" rIns="0" bIns="0" rtlCol="0" anchor="t">
              <a:spAutoFit/>
            </a:bodyPr>
            <a:p>
              <a:pPr marL="342900" indent="-342900" algn="l">
                <a:lnSpc>
                  <a:spcPts val="1500"/>
                </a:lnSpc>
                <a:buSzPct val="100000"/>
                <a:buChar char="•"/>
              </a:pPr>
              <a:r>
                <a:rPr lang="en-US" sz="980" dirty="0">
                  <a:solidFill>
                    <a:srgbClr val="4B5563"/>
                  </a:solidFill>
                  <a:latin typeface="Noto Sans SC" panose="020B0200000000000000" pitchFamily="34" charset="-122"/>
                  <a:ea typeface="Noto Sans SC" panose="020B0200000000000000" pitchFamily="34" charset="-122"/>
                  <a:cs typeface="Noto Sans SC" panose="020B0200000000000000" pitchFamily="34" charset="-120"/>
                </a:rPr>
                <a:t>包含数量、社会经济属性、文化背景、利益诉求等特征</a:t>
              </a:r>
              <a:endParaRPr lang="en-US" sz="980" dirty="0"/>
            </a:p>
          </p:txBody>
        </p:sp>
        <p:sp>
          <p:nvSpPr>
            <p:cNvPr id="40" name="Text 18"/>
            <p:cNvSpPr/>
            <p:nvPr/>
          </p:nvSpPr>
          <p:spPr>
            <a:xfrm>
              <a:off x="900" y="11280"/>
              <a:ext cx="17400" cy="600"/>
            </a:xfrm>
            <a:prstGeom prst="rect">
              <a:avLst/>
            </a:prstGeom>
            <a:noFill/>
          </p:spPr>
          <p:txBody>
            <a:bodyPr wrap="square" lIns="0" tIns="0" rIns="0" bIns="0" rtlCol="0" anchor="t"/>
            <a:p>
              <a:pPr marL="0" indent="0" algn="ctr">
                <a:lnSpc>
                  <a:spcPts val="1500"/>
                </a:lnSpc>
                <a:buNone/>
              </a:pPr>
              <a:r>
                <a:rPr lang="en-US" sz="980" b="1" dirty="0">
                  <a:solidFill>
                    <a:srgbClr val="15803D"/>
                  </a:solidFill>
                  <a:latin typeface="Noto Sans SC" panose="020B0200000000000000" pitchFamily="34" charset="-122"/>
                  <a:ea typeface="Noto Sans SC" panose="020B0200000000000000" pitchFamily="34" charset="-122"/>
                  <a:cs typeface="Noto Sans SC" panose="020B0200000000000000" pitchFamily="34" charset="-120"/>
                </a:rPr>
                <a:t>核心互动机制：</a:t>
              </a:r>
              <a:r>
                <a:rPr lang="en-US" sz="980" dirty="0">
                  <a:solidFill>
                    <a:srgbClr val="374151"/>
                  </a:solidFill>
                  <a:latin typeface="Noto Sans SC" panose="020B0200000000000000" pitchFamily="34" charset="-122"/>
                  <a:ea typeface="Noto Sans SC" panose="020B0200000000000000" pitchFamily="34" charset="-122"/>
                  <a:cs typeface="Noto Sans SC" panose="020B0200000000000000" pitchFamily="34" charset="-120"/>
                </a:rPr>
                <a:t>在行动情境（Action Situations）中，各子系统之间展开互动（Interactions, I）并产生结果（Outcomes, O）， 结果将反馈至系统，体现出社会-生态系统复杂适应性发展的特征。</a:t>
              </a:r>
              <a:endParaRPr lang="en-US" sz="98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资源</a:t>
            </a:r>
            <a:r>
              <a:rPr lang="zh-CN" altLang="en-US"/>
              <a:t>系统</a:t>
            </a:r>
            <a:endParaRPr lang="zh-CN" altLang="en-US"/>
          </a:p>
        </p:txBody>
      </p:sp>
      <p:grpSp>
        <p:nvGrpSpPr>
          <p:cNvPr id="3" name="组合 2"/>
          <p:cNvGrpSpPr/>
          <p:nvPr/>
        </p:nvGrpSpPr>
        <p:grpSpPr>
          <a:xfrm>
            <a:off x="457200" y="1659255"/>
            <a:ext cx="7966975" cy="5427345"/>
            <a:chOff x="720" y="1980"/>
            <a:chExt cx="8853" cy="9180"/>
          </a:xfrm>
        </p:grpSpPr>
        <p:pic>
          <p:nvPicPr>
            <p:cNvPr id="6" name="Image 4" descr="preencoded.png"/>
            <p:cNvPicPr>
              <a:picLocks noChangeAspect="1"/>
            </p:cNvPicPr>
            <p:nvPr/>
          </p:nvPicPr>
          <p:blipFill>
            <a:blip r:embed="rId1"/>
            <a:stretch>
              <a:fillRect/>
            </a:stretch>
          </p:blipFill>
          <p:spPr>
            <a:xfrm>
              <a:off x="720" y="1980"/>
              <a:ext cx="8700" cy="1020"/>
            </a:xfrm>
            <a:prstGeom prst="rect">
              <a:avLst/>
            </a:prstGeom>
          </p:spPr>
        </p:pic>
        <p:pic>
          <p:nvPicPr>
            <p:cNvPr id="7" name="Image 5" descr="preencoded.png"/>
            <p:cNvPicPr>
              <a:picLocks noChangeAspect="1"/>
            </p:cNvPicPr>
            <p:nvPr/>
          </p:nvPicPr>
          <p:blipFill>
            <a:blip r:embed="rId2"/>
            <a:stretch>
              <a:fillRect/>
            </a:stretch>
          </p:blipFill>
          <p:spPr>
            <a:xfrm>
              <a:off x="900" y="2160"/>
              <a:ext cx="480" cy="480"/>
            </a:xfrm>
            <a:prstGeom prst="rect">
              <a:avLst/>
            </a:prstGeom>
          </p:spPr>
        </p:pic>
        <p:pic>
          <p:nvPicPr>
            <p:cNvPr id="8" name="Image 6" descr="preencoded.png"/>
            <p:cNvPicPr>
              <a:picLocks noChangeAspect="1"/>
            </p:cNvPicPr>
            <p:nvPr/>
          </p:nvPicPr>
          <p:blipFill>
            <a:blip r:embed="rId1"/>
            <a:stretch>
              <a:fillRect/>
            </a:stretch>
          </p:blipFill>
          <p:spPr>
            <a:xfrm>
              <a:off x="720" y="3120"/>
              <a:ext cx="8700" cy="1020"/>
            </a:xfrm>
            <a:prstGeom prst="rect">
              <a:avLst/>
            </a:prstGeom>
          </p:spPr>
        </p:pic>
        <p:pic>
          <p:nvPicPr>
            <p:cNvPr id="9" name="Image 7" descr="preencoded.png"/>
            <p:cNvPicPr>
              <a:picLocks noChangeAspect="1"/>
            </p:cNvPicPr>
            <p:nvPr/>
          </p:nvPicPr>
          <p:blipFill>
            <a:blip r:embed="rId3"/>
            <a:stretch>
              <a:fillRect/>
            </a:stretch>
          </p:blipFill>
          <p:spPr>
            <a:xfrm>
              <a:off x="900" y="3300"/>
              <a:ext cx="480" cy="480"/>
            </a:xfrm>
            <a:prstGeom prst="rect">
              <a:avLst/>
            </a:prstGeom>
          </p:spPr>
        </p:pic>
        <p:pic>
          <p:nvPicPr>
            <p:cNvPr id="10" name="Image 8" descr="preencoded.png"/>
            <p:cNvPicPr>
              <a:picLocks noChangeAspect="1"/>
            </p:cNvPicPr>
            <p:nvPr/>
          </p:nvPicPr>
          <p:blipFill>
            <a:blip r:embed="rId1"/>
            <a:stretch>
              <a:fillRect/>
            </a:stretch>
          </p:blipFill>
          <p:spPr>
            <a:xfrm>
              <a:off x="720" y="4260"/>
              <a:ext cx="8700" cy="1020"/>
            </a:xfrm>
            <a:prstGeom prst="rect">
              <a:avLst/>
            </a:prstGeom>
          </p:spPr>
        </p:pic>
        <p:pic>
          <p:nvPicPr>
            <p:cNvPr id="11" name="Image 9" descr="preencoded.png"/>
            <p:cNvPicPr>
              <a:picLocks noChangeAspect="1"/>
            </p:cNvPicPr>
            <p:nvPr/>
          </p:nvPicPr>
          <p:blipFill>
            <a:blip r:embed="rId4"/>
            <a:stretch>
              <a:fillRect/>
            </a:stretch>
          </p:blipFill>
          <p:spPr>
            <a:xfrm>
              <a:off x="900" y="4440"/>
              <a:ext cx="480" cy="480"/>
            </a:xfrm>
            <a:prstGeom prst="rect">
              <a:avLst/>
            </a:prstGeom>
          </p:spPr>
        </p:pic>
        <p:pic>
          <p:nvPicPr>
            <p:cNvPr id="4" name="Image 10" descr="preencoded.png"/>
            <p:cNvPicPr>
              <a:picLocks noChangeAspect="1"/>
            </p:cNvPicPr>
            <p:nvPr/>
          </p:nvPicPr>
          <p:blipFill>
            <a:blip r:embed="rId1"/>
            <a:stretch>
              <a:fillRect/>
            </a:stretch>
          </p:blipFill>
          <p:spPr>
            <a:xfrm>
              <a:off x="720" y="5400"/>
              <a:ext cx="8700" cy="1020"/>
            </a:xfrm>
            <a:prstGeom prst="rect">
              <a:avLst/>
            </a:prstGeom>
          </p:spPr>
        </p:pic>
        <p:pic>
          <p:nvPicPr>
            <p:cNvPr id="5" name="Image 11" descr="preencoded.png"/>
            <p:cNvPicPr>
              <a:picLocks noChangeAspect="1"/>
            </p:cNvPicPr>
            <p:nvPr/>
          </p:nvPicPr>
          <p:blipFill>
            <a:blip r:embed="rId5"/>
            <a:stretch>
              <a:fillRect/>
            </a:stretch>
          </p:blipFill>
          <p:spPr>
            <a:xfrm>
              <a:off x="900" y="5580"/>
              <a:ext cx="480" cy="480"/>
            </a:xfrm>
            <a:prstGeom prst="rect">
              <a:avLst/>
            </a:prstGeom>
          </p:spPr>
        </p:pic>
        <p:pic>
          <p:nvPicPr>
            <p:cNvPr id="18" name="Image 12" descr="preencoded.png"/>
            <p:cNvPicPr>
              <a:picLocks noChangeAspect="1"/>
            </p:cNvPicPr>
            <p:nvPr/>
          </p:nvPicPr>
          <p:blipFill>
            <a:blip r:embed="rId6"/>
            <a:stretch>
              <a:fillRect/>
            </a:stretch>
          </p:blipFill>
          <p:spPr>
            <a:xfrm>
              <a:off x="720" y="6540"/>
              <a:ext cx="4290" cy="1680"/>
            </a:xfrm>
            <a:prstGeom prst="rect">
              <a:avLst/>
            </a:prstGeom>
          </p:spPr>
        </p:pic>
        <p:pic>
          <p:nvPicPr>
            <p:cNvPr id="19" name="Image 13" descr="preencoded.png"/>
            <p:cNvPicPr>
              <a:picLocks noChangeAspect="1"/>
            </p:cNvPicPr>
            <p:nvPr/>
          </p:nvPicPr>
          <p:blipFill>
            <a:blip r:embed="rId5"/>
            <a:stretch>
              <a:fillRect/>
            </a:stretch>
          </p:blipFill>
          <p:spPr>
            <a:xfrm>
              <a:off x="900" y="6720"/>
              <a:ext cx="480" cy="480"/>
            </a:xfrm>
            <a:prstGeom prst="rect">
              <a:avLst/>
            </a:prstGeom>
          </p:spPr>
        </p:pic>
        <p:pic>
          <p:nvPicPr>
            <p:cNvPr id="20" name="Image 14" descr="preencoded.png"/>
            <p:cNvPicPr>
              <a:picLocks noChangeAspect="1"/>
            </p:cNvPicPr>
            <p:nvPr/>
          </p:nvPicPr>
          <p:blipFill>
            <a:blip r:embed="rId6"/>
            <a:stretch>
              <a:fillRect/>
            </a:stretch>
          </p:blipFill>
          <p:spPr>
            <a:xfrm>
              <a:off x="5130" y="6540"/>
              <a:ext cx="4290" cy="1680"/>
            </a:xfrm>
            <a:prstGeom prst="rect">
              <a:avLst/>
            </a:prstGeom>
          </p:spPr>
        </p:pic>
        <p:pic>
          <p:nvPicPr>
            <p:cNvPr id="21" name="Image 15" descr="preencoded.png"/>
            <p:cNvPicPr>
              <a:picLocks noChangeAspect="1"/>
            </p:cNvPicPr>
            <p:nvPr/>
          </p:nvPicPr>
          <p:blipFill>
            <a:blip r:embed="rId5"/>
            <a:stretch>
              <a:fillRect/>
            </a:stretch>
          </p:blipFill>
          <p:spPr>
            <a:xfrm>
              <a:off x="5310" y="6720"/>
              <a:ext cx="480" cy="480"/>
            </a:xfrm>
            <a:prstGeom prst="rect">
              <a:avLst/>
            </a:prstGeom>
          </p:spPr>
        </p:pic>
        <p:pic>
          <p:nvPicPr>
            <p:cNvPr id="22" name="Image 16" descr="preencoded.png"/>
            <p:cNvPicPr>
              <a:picLocks noChangeAspect="1"/>
            </p:cNvPicPr>
            <p:nvPr/>
          </p:nvPicPr>
          <p:blipFill>
            <a:blip r:embed="rId7"/>
            <a:stretch>
              <a:fillRect/>
            </a:stretch>
          </p:blipFill>
          <p:spPr>
            <a:xfrm>
              <a:off x="720" y="8340"/>
              <a:ext cx="4290" cy="1359"/>
            </a:xfrm>
            <a:prstGeom prst="rect">
              <a:avLst/>
            </a:prstGeom>
          </p:spPr>
        </p:pic>
        <p:pic>
          <p:nvPicPr>
            <p:cNvPr id="23" name="Image 17" descr="preencoded.png"/>
            <p:cNvPicPr>
              <a:picLocks noChangeAspect="1"/>
            </p:cNvPicPr>
            <p:nvPr/>
          </p:nvPicPr>
          <p:blipFill>
            <a:blip r:embed="rId8"/>
            <a:stretch>
              <a:fillRect/>
            </a:stretch>
          </p:blipFill>
          <p:spPr>
            <a:xfrm>
              <a:off x="900" y="8520"/>
              <a:ext cx="480" cy="480"/>
            </a:xfrm>
            <a:prstGeom prst="rect">
              <a:avLst/>
            </a:prstGeom>
          </p:spPr>
        </p:pic>
        <p:pic>
          <p:nvPicPr>
            <p:cNvPr id="24" name="Image 18" descr="preencoded.png"/>
            <p:cNvPicPr>
              <a:picLocks noChangeAspect="1"/>
            </p:cNvPicPr>
            <p:nvPr/>
          </p:nvPicPr>
          <p:blipFill>
            <a:blip r:embed="rId7"/>
            <a:stretch>
              <a:fillRect/>
            </a:stretch>
          </p:blipFill>
          <p:spPr>
            <a:xfrm>
              <a:off x="5130" y="8340"/>
              <a:ext cx="4290" cy="1359"/>
            </a:xfrm>
            <a:prstGeom prst="rect">
              <a:avLst/>
            </a:prstGeom>
          </p:spPr>
        </p:pic>
        <p:pic>
          <p:nvPicPr>
            <p:cNvPr id="25" name="Image 19" descr="preencoded.png"/>
            <p:cNvPicPr>
              <a:picLocks noChangeAspect="1"/>
            </p:cNvPicPr>
            <p:nvPr/>
          </p:nvPicPr>
          <p:blipFill>
            <a:blip r:embed="rId8"/>
            <a:stretch>
              <a:fillRect/>
            </a:stretch>
          </p:blipFill>
          <p:spPr>
            <a:xfrm>
              <a:off x="5310" y="8520"/>
              <a:ext cx="480" cy="480"/>
            </a:xfrm>
            <a:prstGeom prst="rect">
              <a:avLst/>
            </a:prstGeom>
          </p:spPr>
        </p:pic>
        <p:pic>
          <p:nvPicPr>
            <p:cNvPr id="26" name="Image 20" descr="preencoded.png"/>
            <p:cNvPicPr>
              <a:picLocks noChangeAspect="1"/>
            </p:cNvPicPr>
            <p:nvPr/>
          </p:nvPicPr>
          <p:blipFill>
            <a:blip r:embed="rId9"/>
            <a:stretch>
              <a:fillRect/>
            </a:stretch>
          </p:blipFill>
          <p:spPr>
            <a:xfrm>
              <a:off x="720" y="9890"/>
              <a:ext cx="8700" cy="1270"/>
            </a:xfrm>
            <a:prstGeom prst="rect">
              <a:avLst/>
            </a:prstGeom>
          </p:spPr>
        </p:pic>
        <p:pic>
          <p:nvPicPr>
            <p:cNvPr id="27" name="Image 21" descr="preencoded.png"/>
            <p:cNvPicPr>
              <a:picLocks noChangeAspect="1"/>
            </p:cNvPicPr>
            <p:nvPr/>
          </p:nvPicPr>
          <p:blipFill>
            <a:blip r:embed="rId10"/>
            <a:stretch>
              <a:fillRect/>
            </a:stretch>
          </p:blipFill>
          <p:spPr>
            <a:xfrm>
              <a:off x="900" y="10320"/>
              <a:ext cx="480" cy="480"/>
            </a:xfrm>
            <a:prstGeom prst="rect">
              <a:avLst/>
            </a:prstGeom>
          </p:spPr>
        </p:pic>
        <p:sp>
          <p:nvSpPr>
            <p:cNvPr id="49" name="Text 2"/>
            <p:cNvSpPr/>
            <p:nvPr/>
          </p:nvSpPr>
          <p:spPr>
            <a:xfrm>
              <a:off x="1056" y="222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1</a:t>
              </a:r>
              <a:endParaRPr lang="en-US" sz="1120" dirty="0"/>
            </a:p>
          </p:txBody>
        </p:sp>
        <p:sp>
          <p:nvSpPr>
            <p:cNvPr id="50" name="Text 3"/>
            <p:cNvSpPr/>
            <p:nvPr/>
          </p:nvSpPr>
          <p:spPr>
            <a:xfrm>
              <a:off x="1500" y="2160"/>
              <a:ext cx="6699"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资源系统规模 (Size of resource system)</a:t>
              </a:r>
              <a:endParaRPr lang="en-US" sz="1120" dirty="0"/>
            </a:p>
          </p:txBody>
        </p:sp>
        <p:sp>
          <p:nvSpPr>
            <p:cNvPr id="51" name="Text 4"/>
            <p:cNvSpPr/>
            <p:nvPr/>
          </p:nvSpPr>
          <p:spPr>
            <a:xfrm>
              <a:off x="1500" y="2520"/>
              <a:ext cx="6699" cy="324"/>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资源系统的空间范围和边界，如森林面积、湿地范围、流域大小等</a:t>
              </a:r>
              <a:endParaRPr lang="en-US" sz="980" dirty="0"/>
            </a:p>
          </p:txBody>
        </p:sp>
        <p:sp>
          <p:nvSpPr>
            <p:cNvPr id="52" name="Text 5"/>
            <p:cNvSpPr/>
            <p:nvPr/>
          </p:nvSpPr>
          <p:spPr>
            <a:xfrm>
              <a:off x="1056" y="336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2</a:t>
              </a:r>
              <a:endParaRPr lang="en-US" sz="1120" dirty="0"/>
            </a:p>
          </p:txBody>
        </p:sp>
        <p:sp>
          <p:nvSpPr>
            <p:cNvPr id="53" name="Text 6"/>
            <p:cNvSpPr/>
            <p:nvPr/>
          </p:nvSpPr>
          <p:spPr>
            <a:xfrm>
              <a:off x="1500" y="3300"/>
              <a:ext cx="5775"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边界清晰度 (Boundary clarity)</a:t>
              </a:r>
              <a:endParaRPr lang="en-US" sz="1120" dirty="0"/>
            </a:p>
          </p:txBody>
        </p:sp>
        <p:sp>
          <p:nvSpPr>
            <p:cNvPr id="54" name="Text 7"/>
            <p:cNvSpPr/>
            <p:nvPr/>
          </p:nvSpPr>
          <p:spPr>
            <a:xfrm>
              <a:off x="1500" y="3660"/>
              <a:ext cx="5775" cy="324"/>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系统边界的明确程度，包括物理边界和法律边界的清晰性</a:t>
              </a:r>
              <a:endParaRPr lang="en-US" sz="980" dirty="0"/>
            </a:p>
          </p:txBody>
        </p:sp>
        <p:sp>
          <p:nvSpPr>
            <p:cNvPr id="55" name="Text 8"/>
            <p:cNvSpPr/>
            <p:nvPr/>
          </p:nvSpPr>
          <p:spPr>
            <a:xfrm>
              <a:off x="1056" y="450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3</a:t>
              </a:r>
              <a:endParaRPr lang="en-US" sz="1120" dirty="0"/>
            </a:p>
          </p:txBody>
        </p:sp>
        <p:sp>
          <p:nvSpPr>
            <p:cNvPr id="56" name="Text 9"/>
            <p:cNvSpPr/>
            <p:nvPr/>
          </p:nvSpPr>
          <p:spPr>
            <a:xfrm>
              <a:off x="1500" y="4440"/>
              <a:ext cx="6468"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资源系统产品 (Resource system products)</a:t>
              </a:r>
              <a:endParaRPr lang="en-US" sz="1120" dirty="0"/>
            </a:p>
          </p:txBody>
        </p:sp>
        <p:sp>
          <p:nvSpPr>
            <p:cNvPr id="57" name="Text 10"/>
            <p:cNvSpPr/>
            <p:nvPr/>
          </p:nvSpPr>
          <p:spPr>
            <a:xfrm>
              <a:off x="1500" y="4800"/>
              <a:ext cx="6468" cy="324"/>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系统提供的产品和服务类型，如木材、水产品、生态系统服务等</a:t>
              </a:r>
              <a:endParaRPr lang="en-US" sz="980" dirty="0"/>
            </a:p>
          </p:txBody>
        </p:sp>
        <p:sp>
          <p:nvSpPr>
            <p:cNvPr id="58" name="Text 11"/>
            <p:cNvSpPr/>
            <p:nvPr/>
          </p:nvSpPr>
          <p:spPr>
            <a:xfrm>
              <a:off x="1056" y="564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4</a:t>
              </a:r>
              <a:endParaRPr lang="en-US" sz="1120" dirty="0"/>
            </a:p>
          </p:txBody>
        </p:sp>
        <p:sp>
          <p:nvSpPr>
            <p:cNvPr id="59" name="Text 12"/>
            <p:cNvSpPr/>
            <p:nvPr/>
          </p:nvSpPr>
          <p:spPr>
            <a:xfrm>
              <a:off x="1500" y="5580"/>
              <a:ext cx="7492"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系统动态可预测性 (Predictability of system dynamics)</a:t>
              </a:r>
              <a:endParaRPr lang="en-US" sz="1120" dirty="0"/>
            </a:p>
          </p:txBody>
        </p:sp>
        <p:sp>
          <p:nvSpPr>
            <p:cNvPr id="60" name="Text 13"/>
            <p:cNvSpPr/>
            <p:nvPr/>
          </p:nvSpPr>
          <p:spPr>
            <a:xfrm>
              <a:off x="1500" y="5940"/>
              <a:ext cx="7492" cy="324"/>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系统变化的可预测程度，包括季节性变化、周期性波动等</a:t>
              </a:r>
              <a:endParaRPr lang="en-US" sz="980" dirty="0"/>
            </a:p>
          </p:txBody>
        </p:sp>
        <p:sp>
          <p:nvSpPr>
            <p:cNvPr id="61" name="Text 14"/>
            <p:cNvSpPr/>
            <p:nvPr/>
          </p:nvSpPr>
          <p:spPr>
            <a:xfrm>
              <a:off x="1056" y="678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5</a:t>
              </a:r>
              <a:endParaRPr lang="en-US" sz="1120" dirty="0"/>
            </a:p>
          </p:txBody>
        </p:sp>
        <p:sp>
          <p:nvSpPr>
            <p:cNvPr id="62" name="Text 15"/>
            <p:cNvSpPr/>
            <p:nvPr/>
          </p:nvSpPr>
          <p:spPr>
            <a:xfrm>
              <a:off x="1500" y="6720"/>
              <a:ext cx="3330"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储存容量 (Storage capacity)</a:t>
              </a:r>
              <a:endParaRPr lang="en-US" sz="1120" dirty="0"/>
            </a:p>
          </p:txBody>
        </p:sp>
        <p:sp>
          <p:nvSpPr>
            <p:cNvPr id="63" name="Text 16"/>
            <p:cNvSpPr/>
            <p:nvPr/>
          </p:nvSpPr>
          <p:spPr>
            <a:xfrm>
              <a:off x="1500" y="7440"/>
              <a:ext cx="3330" cy="65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系统存储资源的能力，如水库容量、碳汇能力</a:t>
              </a:r>
              <a:endParaRPr lang="en-US" sz="980" dirty="0"/>
            </a:p>
          </p:txBody>
        </p:sp>
        <p:sp>
          <p:nvSpPr>
            <p:cNvPr id="64" name="Text 17"/>
            <p:cNvSpPr/>
            <p:nvPr/>
          </p:nvSpPr>
          <p:spPr>
            <a:xfrm>
              <a:off x="5466" y="678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6</a:t>
              </a:r>
              <a:endParaRPr lang="en-US" sz="1120" dirty="0"/>
            </a:p>
          </p:txBody>
        </p:sp>
        <p:sp>
          <p:nvSpPr>
            <p:cNvPr id="65" name="Text 18"/>
            <p:cNvSpPr/>
            <p:nvPr/>
          </p:nvSpPr>
          <p:spPr>
            <a:xfrm>
              <a:off x="5910" y="6720"/>
              <a:ext cx="3330" cy="781"/>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平衡特性 (Equilibrium properties)</a:t>
              </a:r>
              <a:endParaRPr lang="en-US" sz="1120" dirty="0"/>
            </a:p>
          </p:txBody>
        </p:sp>
        <p:sp>
          <p:nvSpPr>
            <p:cNvPr id="66" name="Text 19"/>
            <p:cNvSpPr/>
            <p:nvPr/>
          </p:nvSpPr>
          <p:spPr>
            <a:xfrm>
              <a:off x="5910" y="7440"/>
              <a:ext cx="3663" cy="324"/>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系统的稳定性和恢复能力特征</a:t>
              </a:r>
              <a:endParaRPr lang="en-US" sz="980" dirty="0"/>
            </a:p>
          </p:txBody>
        </p:sp>
        <p:sp>
          <p:nvSpPr>
            <p:cNvPr id="67" name="Text 20"/>
            <p:cNvSpPr/>
            <p:nvPr/>
          </p:nvSpPr>
          <p:spPr>
            <a:xfrm>
              <a:off x="1056" y="858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7</a:t>
              </a:r>
              <a:endParaRPr lang="en-US" sz="1120" dirty="0"/>
            </a:p>
          </p:txBody>
        </p:sp>
        <p:sp>
          <p:nvSpPr>
            <p:cNvPr id="68" name="Text 21"/>
            <p:cNvSpPr/>
            <p:nvPr/>
          </p:nvSpPr>
          <p:spPr>
            <a:xfrm>
              <a:off x="1500" y="8520"/>
              <a:ext cx="3330"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地理范围 (Geographic range)</a:t>
              </a:r>
              <a:endParaRPr lang="en-US" sz="1120" dirty="0"/>
            </a:p>
          </p:txBody>
        </p:sp>
        <p:sp>
          <p:nvSpPr>
            <p:cNvPr id="69" name="Text 22"/>
            <p:cNvSpPr/>
            <p:nvPr/>
          </p:nvSpPr>
          <p:spPr>
            <a:xfrm>
              <a:off x="1500" y="9240"/>
              <a:ext cx="3663" cy="324"/>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系统的空间分布和地理特征</a:t>
              </a:r>
              <a:endParaRPr lang="en-US" sz="980" dirty="0"/>
            </a:p>
          </p:txBody>
        </p:sp>
        <p:sp>
          <p:nvSpPr>
            <p:cNvPr id="70" name="Text 23"/>
            <p:cNvSpPr/>
            <p:nvPr/>
          </p:nvSpPr>
          <p:spPr>
            <a:xfrm>
              <a:off x="5466" y="858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8</a:t>
              </a:r>
              <a:endParaRPr lang="en-US" sz="1120" dirty="0"/>
            </a:p>
          </p:txBody>
        </p:sp>
        <p:sp>
          <p:nvSpPr>
            <p:cNvPr id="71" name="Text 24"/>
            <p:cNvSpPr/>
            <p:nvPr/>
          </p:nvSpPr>
          <p:spPr>
            <a:xfrm>
              <a:off x="5910" y="8520"/>
              <a:ext cx="3330"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互联性 (Interconnectedness)</a:t>
              </a:r>
              <a:endParaRPr lang="en-US" sz="1120" dirty="0"/>
            </a:p>
          </p:txBody>
        </p:sp>
        <p:sp>
          <p:nvSpPr>
            <p:cNvPr id="72" name="Text 25"/>
            <p:cNvSpPr/>
            <p:nvPr/>
          </p:nvSpPr>
          <p:spPr>
            <a:xfrm>
              <a:off x="5910" y="9240"/>
              <a:ext cx="3330" cy="65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与其他生态系统的连接和相互依存关系</a:t>
              </a:r>
              <a:endParaRPr lang="en-US" sz="980" dirty="0"/>
            </a:p>
          </p:txBody>
        </p:sp>
        <p:sp>
          <p:nvSpPr>
            <p:cNvPr id="73" name="Text 26"/>
            <p:cNvSpPr/>
            <p:nvPr/>
          </p:nvSpPr>
          <p:spPr>
            <a:xfrm>
              <a:off x="1056" y="10050"/>
              <a:ext cx="184" cy="390"/>
            </a:xfrm>
            <a:prstGeom prst="rect">
              <a:avLst/>
            </a:prstGeom>
            <a:noFill/>
          </p:spPr>
          <p:txBody>
            <a:bodyPr wrap="square" lIns="0" tIns="0" rIns="0" bIns="0" rtlCol="0" anchor="t">
              <a:spAutoFit/>
            </a:bodyPr>
            <a:p>
              <a:pPr marL="0" indent="0">
                <a:lnSpc>
                  <a:spcPts val="1800"/>
                </a:lnSpc>
                <a:buNone/>
              </a:pPr>
              <a:r>
                <a:rPr lang="en-US" sz="1120" b="1" dirty="0">
                  <a:solidFill>
                    <a:srgbClr val="16A34A"/>
                  </a:solidFill>
                  <a:latin typeface="ui-sans-serif" pitchFamily="34" charset="0"/>
                  <a:ea typeface="ui-sans-serif" pitchFamily="34" charset="-122"/>
                  <a:cs typeface="ui-sans-serif" pitchFamily="34" charset="-120"/>
                </a:rPr>
                <a:t>9</a:t>
              </a:r>
              <a:endParaRPr lang="en-US" sz="1120" dirty="0"/>
            </a:p>
          </p:txBody>
        </p:sp>
        <p:sp>
          <p:nvSpPr>
            <p:cNvPr id="74" name="Text 27"/>
            <p:cNvSpPr/>
            <p:nvPr/>
          </p:nvSpPr>
          <p:spPr>
            <a:xfrm>
              <a:off x="1500" y="9930"/>
              <a:ext cx="6237" cy="390"/>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系统生产力 (System productivity)</a:t>
              </a:r>
              <a:endParaRPr lang="en-US" sz="1120" dirty="0"/>
            </a:p>
          </p:txBody>
        </p:sp>
        <p:sp>
          <p:nvSpPr>
            <p:cNvPr id="75" name="Text 28"/>
            <p:cNvSpPr/>
            <p:nvPr/>
          </p:nvSpPr>
          <p:spPr>
            <a:xfrm>
              <a:off x="1500" y="10320"/>
              <a:ext cx="6237" cy="324"/>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系统生产资源的能力和效率，如生物量生产率、初级生产力等</a:t>
              </a:r>
              <a:endParaRPr lang="en-US" sz="98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资源</a:t>
            </a:r>
            <a:r>
              <a:rPr lang="zh-CN" altLang="en-US"/>
              <a:t>单位</a:t>
            </a:r>
            <a:endParaRPr lang="zh-CN" altLang="en-US"/>
          </a:p>
        </p:txBody>
      </p:sp>
      <p:grpSp>
        <p:nvGrpSpPr>
          <p:cNvPr id="104" name="组合 103"/>
          <p:cNvGrpSpPr/>
          <p:nvPr/>
        </p:nvGrpSpPr>
        <p:grpSpPr>
          <a:xfrm>
            <a:off x="411480" y="1564005"/>
            <a:ext cx="8341360" cy="4983480"/>
            <a:chOff x="9780" y="2400"/>
            <a:chExt cx="8853" cy="8580"/>
          </a:xfrm>
        </p:grpSpPr>
        <p:pic>
          <p:nvPicPr>
            <p:cNvPr id="26" name="Image 24" descr="preencoded.png"/>
            <p:cNvPicPr>
              <a:picLocks noChangeAspect="1"/>
            </p:cNvPicPr>
            <p:nvPr/>
          </p:nvPicPr>
          <p:blipFill>
            <a:blip r:embed="rId1"/>
            <a:stretch>
              <a:fillRect/>
            </a:stretch>
          </p:blipFill>
          <p:spPr>
            <a:xfrm>
              <a:off x="9780" y="2400"/>
              <a:ext cx="8700" cy="1020"/>
            </a:xfrm>
            <a:prstGeom prst="rect">
              <a:avLst/>
            </a:prstGeom>
          </p:spPr>
        </p:pic>
        <p:pic>
          <p:nvPicPr>
            <p:cNvPr id="27" name="Image 25" descr="preencoded.png"/>
            <p:cNvPicPr>
              <a:picLocks noChangeAspect="1"/>
            </p:cNvPicPr>
            <p:nvPr/>
          </p:nvPicPr>
          <p:blipFill>
            <a:blip r:embed="rId2"/>
            <a:stretch>
              <a:fillRect/>
            </a:stretch>
          </p:blipFill>
          <p:spPr>
            <a:xfrm>
              <a:off x="9960" y="2580"/>
              <a:ext cx="480" cy="480"/>
            </a:xfrm>
            <a:prstGeom prst="rect">
              <a:avLst/>
            </a:prstGeom>
          </p:spPr>
        </p:pic>
        <p:pic>
          <p:nvPicPr>
            <p:cNvPr id="28" name="Image 26" descr="preencoded.png"/>
            <p:cNvPicPr>
              <a:picLocks noChangeAspect="1"/>
            </p:cNvPicPr>
            <p:nvPr/>
          </p:nvPicPr>
          <p:blipFill>
            <a:blip r:embed="rId1"/>
            <a:stretch>
              <a:fillRect/>
            </a:stretch>
          </p:blipFill>
          <p:spPr>
            <a:xfrm>
              <a:off x="9780" y="3540"/>
              <a:ext cx="8700" cy="1020"/>
            </a:xfrm>
            <a:prstGeom prst="rect">
              <a:avLst/>
            </a:prstGeom>
          </p:spPr>
        </p:pic>
        <p:pic>
          <p:nvPicPr>
            <p:cNvPr id="29" name="Image 27" descr="preencoded.png"/>
            <p:cNvPicPr>
              <a:picLocks noChangeAspect="1"/>
            </p:cNvPicPr>
            <p:nvPr/>
          </p:nvPicPr>
          <p:blipFill>
            <a:blip r:embed="rId3"/>
            <a:stretch>
              <a:fillRect/>
            </a:stretch>
          </p:blipFill>
          <p:spPr>
            <a:xfrm>
              <a:off x="9960" y="3720"/>
              <a:ext cx="480" cy="480"/>
            </a:xfrm>
            <a:prstGeom prst="rect">
              <a:avLst/>
            </a:prstGeom>
          </p:spPr>
        </p:pic>
        <p:pic>
          <p:nvPicPr>
            <p:cNvPr id="30" name="Image 28" descr="preencoded.png"/>
            <p:cNvPicPr>
              <a:picLocks noChangeAspect="1"/>
            </p:cNvPicPr>
            <p:nvPr/>
          </p:nvPicPr>
          <p:blipFill>
            <a:blip r:embed="rId1"/>
            <a:stretch>
              <a:fillRect/>
            </a:stretch>
          </p:blipFill>
          <p:spPr>
            <a:xfrm>
              <a:off x="9780" y="4680"/>
              <a:ext cx="8700" cy="1020"/>
            </a:xfrm>
            <a:prstGeom prst="rect">
              <a:avLst/>
            </a:prstGeom>
          </p:spPr>
        </p:pic>
        <p:pic>
          <p:nvPicPr>
            <p:cNvPr id="31" name="Image 29" descr="preencoded.png"/>
            <p:cNvPicPr>
              <a:picLocks noChangeAspect="1"/>
            </p:cNvPicPr>
            <p:nvPr/>
          </p:nvPicPr>
          <p:blipFill>
            <a:blip r:embed="rId4"/>
            <a:stretch>
              <a:fillRect/>
            </a:stretch>
          </p:blipFill>
          <p:spPr>
            <a:xfrm>
              <a:off x="9960" y="4860"/>
              <a:ext cx="480" cy="480"/>
            </a:xfrm>
            <a:prstGeom prst="rect">
              <a:avLst/>
            </a:prstGeom>
          </p:spPr>
        </p:pic>
        <p:pic>
          <p:nvPicPr>
            <p:cNvPr id="32" name="Image 30" descr="preencoded.png"/>
            <p:cNvPicPr>
              <a:picLocks noChangeAspect="1"/>
            </p:cNvPicPr>
            <p:nvPr/>
          </p:nvPicPr>
          <p:blipFill>
            <a:blip r:embed="rId1"/>
            <a:stretch>
              <a:fillRect/>
            </a:stretch>
          </p:blipFill>
          <p:spPr>
            <a:xfrm>
              <a:off x="9780" y="5820"/>
              <a:ext cx="8700" cy="1020"/>
            </a:xfrm>
            <a:prstGeom prst="rect">
              <a:avLst/>
            </a:prstGeom>
          </p:spPr>
        </p:pic>
        <p:pic>
          <p:nvPicPr>
            <p:cNvPr id="33" name="Image 31" descr="preencoded.png"/>
            <p:cNvPicPr>
              <a:picLocks noChangeAspect="1"/>
            </p:cNvPicPr>
            <p:nvPr/>
          </p:nvPicPr>
          <p:blipFill>
            <a:blip r:embed="rId5"/>
            <a:stretch>
              <a:fillRect/>
            </a:stretch>
          </p:blipFill>
          <p:spPr>
            <a:xfrm>
              <a:off x="9960" y="6000"/>
              <a:ext cx="480" cy="480"/>
            </a:xfrm>
            <a:prstGeom prst="rect">
              <a:avLst/>
            </a:prstGeom>
          </p:spPr>
        </p:pic>
        <p:pic>
          <p:nvPicPr>
            <p:cNvPr id="34" name="Image 32" descr="preencoded.png"/>
            <p:cNvPicPr>
              <a:picLocks noChangeAspect="1"/>
            </p:cNvPicPr>
            <p:nvPr/>
          </p:nvPicPr>
          <p:blipFill>
            <a:blip r:embed="rId6"/>
            <a:stretch>
              <a:fillRect/>
            </a:stretch>
          </p:blipFill>
          <p:spPr>
            <a:xfrm>
              <a:off x="9780" y="6960"/>
              <a:ext cx="4290" cy="1380"/>
            </a:xfrm>
            <a:prstGeom prst="rect">
              <a:avLst/>
            </a:prstGeom>
          </p:spPr>
        </p:pic>
        <p:pic>
          <p:nvPicPr>
            <p:cNvPr id="35" name="Image 33" descr="preencoded.png"/>
            <p:cNvPicPr>
              <a:picLocks noChangeAspect="1"/>
            </p:cNvPicPr>
            <p:nvPr/>
          </p:nvPicPr>
          <p:blipFill>
            <a:blip r:embed="rId5"/>
            <a:stretch>
              <a:fillRect/>
            </a:stretch>
          </p:blipFill>
          <p:spPr>
            <a:xfrm>
              <a:off x="9960" y="7140"/>
              <a:ext cx="480" cy="480"/>
            </a:xfrm>
            <a:prstGeom prst="rect">
              <a:avLst/>
            </a:prstGeom>
          </p:spPr>
        </p:pic>
        <p:pic>
          <p:nvPicPr>
            <p:cNvPr id="36" name="Image 34" descr="preencoded.png"/>
            <p:cNvPicPr>
              <a:picLocks noChangeAspect="1"/>
            </p:cNvPicPr>
            <p:nvPr/>
          </p:nvPicPr>
          <p:blipFill>
            <a:blip r:embed="rId6"/>
            <a:stretch>
              <a:fillRect/>
            </a:stretch>
          </p:blipFill>
          <p:spPr>
            <a:xfrm>
              <a:off x="14190" y="6960"/>
              <a:ext cx="4290" cy="1380"/>
            </a:xfrm>
            <a:prstGeom prst="rect">
              <a:avLst/>
            </a:prstGeom>
          </p:spPr>
        </p:pic>
        <p:pic>
          <p:nvPicPr>
            <p:cNvPr id="37" name="Image 35" descr="preencoded.png"/>
            <p:cNvPicPr>
              <a:picLocks noChangeAspect="1"/>
            </p:cNvPicPr>
            <p:nvPr/>
          </p:nvPicPr>
          <p:blipFill>
            <a:blip r:embed="rId5"/>
            <a:stretch>
              <a:fillRect/>
            </a:stretch>
          </p:blipFill>
          <p:spPr>
            <a:xfrm>
              <a:off x="14370" y="7140"/>
              <a:ext cx="480" cy="480"/>
            </a:xfrm>
            <a:prstGeom prst="rect">
              <a:avLst/>
            </a:prstGeom>
          </p:spPr>
        </p:pic>
        <p:pic>
          <p:nvPicPr>
            <p:cNvPr id="38" name="Image 36" descr="preencoded.png"/>
            <p:cNvPicPr>
              <a:picLocks noChangeAspect="1"/>
            </p:cNvPicPr>
            <p:nvPr/>
          </p:nvPicPr>
          <p:blipFill>
            <a:blip r:embed="rId6"/>
            <a:stretch>
              <a:fillRect/>
            </a:stretch>
          </p:blipFill>
          <p:spPr>
            <a:xfrm>
              <a:off x="9780" y="8460"/>
              <a:ext cx="4290" cy="1380"/>
            </a:xfrm>
            <a:prstGeom prst="rect">
              <a:avLst/>
            </a:prstGeom>
          </p:spPr>
        </p:pic>
        <p:pic>
          <p:nvPicPr>
            <p:cNvPr id="39" name="Image 37" descr="preencoded.png"/>
            <p:cNvPicPr>
              <a:picLocks noChangeAspect="1"/>
            </p:cNvPicPr>
            <p:nvPr/>
          </p:nvPicPr>
          <p:blipFill>
            <a:blip r:embed="rId5"/>
            <a:stretch>
              <a:fillRect/>
            </a:stretch>
          </p:blipFill>
          <p:spPr>
            <a:xfrm>
              <a:off x="9960" y="8640"/>
              <a:ext cx="480" cy="480"/>
            </a:xfrm>
            <a:prstGeom prst="rect">
              <a:avLst/>
            </a:prstGeom>
          </p:spPr>
        </p:pic>
        <p:pic>
          <p:nvPicPr>
            <p:cNvPr id="40" name="Image 38" descr="preencoded.png"/>
            <p:cNvPicPr>
              <a:picLocks noChangeAspect="1"/>
            </p:cNvPicPr>
            <p:nvPr/>
          </p:nvPicPr>
          <p:blipFill>
            <a:blip r:embed="rId6"/>
            <a:stretch>
              <a:fillRect/>
            </a:stretch>
          </p:blipFill>
          <p:spPr>
            <a:xfrm>
              <a:off x="14190" y="8460"/>
              <a:ext cx="4290" cy="1380"/>
            </a:xfrm>
            <a:prstGeom prst="rect">
              <a:avLst/>
            </a:prstGeom>
          </p:spPr>
        </p:pic>
        <p:pic>
          <p:nvPicPr>
            <p:cNvPr id="41" name="Image 39" descr="preencoded.png"/>
            <p:cNvPicPr>
              <a:picLocks noChangeAspect="1"/>
            </p:cNvPicPr>
            <p:nvPr/>
          </p:nvPicPr>
          <p:blipFill>
            <a:blip r:embed="rId5"/>
            <a:stretch>
              <a:fillRect/>
            </a:stretch>
          </p:blipFill>
          <p:spPr>
            <a:xfrm>
              <a:off x="14370" y="8640"/>
              <a:ext cx="480" cy="480"/>
            </a:xfrm>
            <a:prstGeom prst="rect">
              <a:avLst/>
            </a:prstGeom>
          </p:spPr>
        </p:pic>
        <p:pic>
          <p:nvPicPr>
            <p:cNvPr id="42" name="Image 40" descr="preencoded.png"/>
            <p:cNvPicPr>
              <a:picLocks noChangeAspect="1"/>
            </p:cNvPicPr>
            <p:nvPr/>
          </p:nvPicPr>
          <p:blipFill>
            <a:blip r:embed="rId7"/>
            <a:stretch>
              <a:fillRect/>
            </a:stretch>
          </p:blipFill>
          <p:spPr>
            <a:xfrm>
              <a:off x="9780" y="9960"/>
              <a:ext cx="8700" cy="1020"/>
            </a:xfrm>
            <a:prstGeom prst="rect">
              <a:avLst/>
            </a:prstGeom>
          </p:spPr>
        </p:pic>
        <p:pic>
          <p:nvPicPr>
            <p:cNvPr id="43" name="Image 41" descr="preencoded.png"/>
            <p:cNvPicPr>
              <a:picLocks noChangeAspect="1"/>
            </p:cNvPicPr>
            <p:nvPr/>
          </p:nvPicPr>
          <p:blipFill>
            <a:blip r:embed="rId8"/>
            <a:stretch>
              <a:fillRect/>
            </a:stretch>
          </p:blipFill>
          <p:spPr>
            <a:xfrm>
              <a:off x="9960" y="10140"/>
              <a:ext cx="480" cy="480"/>
            </a:xfrm>
            <a:prstGeom prst="rect">
              <a:avLst/>
            </a:prstGeom>
          </p:spPr>
        </p:pic>
        <p:sp>
          <p:nvSpPr>
            <p:cNvPr id="77" name="Text 30"/>
            <p:cNvSpPr/>
            <p:nvPr/>
          </p:nvSpPr>
          <p:spPr>
            <a:xfrm>
              <a:off x="10116" y="264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1</a:t>
              </a:r>
              <a:endParaRPr lang="en-US" sz="1120" dirty="0"/>
            </a:p>
          </p:txBody>
        </p:sp>
        <p:sp>
          <p:nvSpPr>
            <p:cNvPr id="78" name="Text 31"/>
            <p:cNvSpPr/>
            <p:nvPr/>
          </p:nvSpPr>
          <p:spPr>
            <a:xfrm>
              <a:off x="10560" y="2580"/>
              <a:ext cx="5544"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价值 (Value)</a:t>
              </a:r>
              <a:endParaRPr lang="en-US" sz="1120" dirty="0"/>
            </a:p>
          </p:txBody>
        </p:sp>
        <p:sp>
          <p:nvSpPr>
            <p:cNvPr id="79" name="Text 32"/>
            <p:cNvSpPr/>
            <p:nvPr/>
          </p:nvSpPr>
          <p:spPr>
            <a:xfrm>
              <a:off x="10560" y="2940"/>
              <a:ext cx="5544"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资源单位的总体价值，包括经济、生态和社会文化价值</a:t>
              </a:r>
              <a:endParaRPr lang="en-US" sz="980" dirty="0"/>
            </a:p>
          </p:txBody>
        </p:sp>
        <p:sp>
          <p:nvSpPr>
            <p:cNvPr id="80" name="Text 33"/>
            <p:cNvSpPr/>
            <p:nvPr/>
          </p:nvSpPr>
          <p:spPr>
            <a:xfrm>
              <a:off x="10116" y="378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2</a:t>
              </a:r>
              <a:endParaRPr lang="en-US" sz="1120" dirty="0"/>
            </a:p>
          </p:txBody>
        </p:sp>
        <p:sp>
          <p:nvSpPr>
            <p:cNvPr id="81" name="Text 34"/>
            <p:cNvSpPr/>
            <p:nvPr/>
          </p:nvSpPr>
          <p:spPr>
            <a:xfrm>
              <a:off x="10560" y="3720"/>
              <a:ext cx="6075"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增长或更新率 (Growth or replacement rate)</a:t>
              </a:r>
              <a:endParaRPr lang="en-US" sz="1120" dirty="0"/>
            </a:p>
          </p:txBody>
        </p:sp>
        <p:sp>
          <p:nvSpPr>
            <p:cNvPr id="82" name="Text 35"/>
            <p:cNvSpPr/>
            <p:nvPr/>
          </p:nvSpPr>
          <p:spPr>
            <a:xfrm>
              <a:off x="10560" y="4080"/>
              <a:ext cx="6075"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资源单位的再生能力和速度，如森林生长率、鱼类繁殖率</a:t>
              </a:r>
              <a:endParaRPr lang="en-US" sz="980" dirty="0"/>
            </a:p>
          </p:txBody>
        </p:sp>
        <p:sp>
          <p:nvSpPr>
            <p:cNvPr id="83" name="Text 36"/>
            <p:cNvSpPr/>
            <p:nvPr/>
          </p:nvSpPr>
          <p:spPr>
            <a:xfrm>
              <a:off x="10116" y="492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3</a:t>
              </a:r>
              <a:endParaRPr lang="en-US" sz="1120" dirty="0"/>
            </a:p>
          </p:txBody>
        </p:sp>
        <p:sp>
          <p:nvSpPr>
            <p:cNvPr id="84" name="Text 37"/>
            <p:cNvSpPr/>
            <p:nvPr/>
          </p:nvSpPr>
          <p:spPr>
            <a:xfrm>
              <a:off x="10560" y="4860"/>
              <a:ext cx="4851"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位置 (Location)</a:t>
              </a:r>
              <a:endParaRPr lang="en-US" sz="1120" dirty="0"/>
            </a:p>
          </p:txBody>
        </p:sp>
        <p:sp>
          <p:nvSpPr>
            <p:cNvPr id="85" name="Text 38"/>
            <p:cNvSpPr/>
            <p:nvPr/>
          </p:nvSpPr>
          <p:spPr>
            <a:xfrm>
              <a:off x="10560" y="5220"/>
              <a:ext cx="4851"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资源单位的空间分布特征，包括集中度和分散度</a:t>
              </a:r>
              <a:endParaRPr lang="en-US" sz="980" dirty="0"/>
            </a:p>
          </p:txBody>
        </p:sp>
        <p:sp>
          <p:nvSpPr>
            <p:cNvPr id="86" name="Text 39"/>
            <p:cNvSpPr/>
            <p:nvPr/>
          </p:nvSpPr>
          <p:spPr>
            <a:xfrm>
              <a:off x="10116" y="606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4</a:t>
              </a:r>
              <a:endParaRPr lang="en-US" sz="1120" dirty="0"/>
            </a:p>
          </p:txBody>
        </p:sp>
        <p:sp>
          <p:nvSpPr>
            <p:cNvPr id="87" name="Text 40"/>
            <p:cNvSpPr/>
            <p:nvPr/>
          </p:nvSpPr>
          <p:spPr>
            <a:xfrm>
              <a:off x="10560" y="6000"/>
              <a:ext cx="4851"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储存 (Storage)</a:t>
              </a:r>
              <a:endParaRPr lang="en-US" sz="1120" dirty="0"/>
            </a:p>
          </p:txBody>
        </p:sp>
        <p:sp>
          <p:nvSpPr>
            <p:cNvPr id="88" name="Text 41"/>
            <p:cNvSpPr/>
            <p:nvPr/>
          </p:nvSpPr>
          <p:spPr>
            <a:xfrm>
              <a:off x="10560" y="6360"/>
              <a:ext cx="4851"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资源单位的存储特性，如可存储性、存储期限等</a:t>
              </a:r>
              <a:endParaRPr lang="en-US" sz="980" dirty="0"/>
            </a:p>
          </p:txBody>
        </p:sp>
        <p:sp>
          <p:nvSpPr>
            <p:cNvPr id="89" name="Text 42"/>
            <p:cNvSpPr/>
            <p:nvPr/>
          </p:nvSpPr>
          <p:spPr>
            <a:xfrm>
              <a:off x="10116" y="720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5</a:t>
              </a:r>
              <a:endParaRPr lang="en-US" sz="1120" dirty="0"/>
            </a:p>
          </p:txBody>
        </p:sp>
        <p:sp>
          <p:nvSpPr>
            <p:cNvPr id="90" name="Text 43"/>
            <p:cNvSpPr/>
            <p:nvPr/>
          </p:nvSpPr>
          <p:spPr>
            <a:xfrm>
              <a:off x="10560" y="7140"/>
              <a:ext cx="3663"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移动性 (Mobility)</a:t>
              </a:r>
              <a:endParaRPr lang="en-US" sz="1120" dirty="0"/>
            </a:p>
          </p:txBody>
        </p:sp>
        <p:sp>
          <p:nvSpPr>
            <p:cNvPr id="91" name="Text 44"/>
            <p:cNvSpPr/>
            <p:nvPr/>
          </p:nvSpPr>
          <p:spPr>
            <a:xfrm>
              <a:off x="10560" y="7500"/>
              <a:ext cx="3330"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资源单位的移动特性，如迁徙性动物</a:t>
              </a:r>
              <a:endParaRPr lang="en-US" sz="980" dirty="0"/>
            </a:p>
          </p:txBody>
        </p:sp>
        <p:sp>
          <p:nvSpPr>
            <p:cNvPr id="92" name="Text 45"/>
            <p:cNvSpPr/>
            <p:nvPr/>
          </p:nvSpPr>
          <p:spPr>
            <a:xfrm>
              <a:off x="14526" y="720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6</a:t>
              </a:r>
              <a:endParaRPr lang="en-US" sz="1120" dirty="0"/>
            </a:p>
          </p:txBody>
        </p:sp>
        <p:sp>
          <p:nvSpPr>
            <p:cNvPr id="93" name="Text 46"/>
            <p:cNvSpPr/>
            <p:nvPr/>
          </p:nvSpPr>
          <p:spPr>
            <a:xfrm>
              <a:off x="14970" y="7140"/>
              <a:ext cx="3330"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经济价值 (Economic value)</a:t>
              </a:r>
              <a:endParaRPr lang="en-US" sz="1120" dirty="0"/>
            </a:p>
          </p:txBody>
        </p:sp>
        <p:sp>
          <p:nvSpPr>
            <p:cNvPr id="94" name="Text 47"/>
            <p:cNvSpPr/>
            <p:nvPr/>
          </p:nvSpPr>
          <p:spPr>
            <a:xfrm>
              <a:off x="14970" y="7860"/>
              <a:ext cx="3663"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资源单位的市场价值和经济重要性</a:t>
              </a:r>
              <a:endParaRPr lang="en-US" sz="980" dirty="0"/>
            </a:p>
          </p:txBody>
        </p:sp>
        <p:sp>
          <p:nvSpPr>
            <p:cNvPr id="95" name="Text 48"/>
            <p:cNvSpPr/>
            <p:nvPr/>
          </p:nvSpPr>
          <p:spPr>
            <a:xfrm>
              <a:off x="10116" y="870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7</a:t>
              </a:r>
              <a:endParaRPr lang="en-US" sz="1120" dirty="0"/>
            </a:p>
          </p:txBody>
        </p:sp>
        <p:sp>
          <p:nvSpPr>
            <p:cNvPr id="96" name="Text 49"/>
            <p:cNvSpPr/>
            <p:nvPr/>
          </p:nvSpPr>
          <p:spPr>
            <a:xfrm>
              <a:off x="10560" y="8640"/>
              <a:ext cx="3474"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文化价值 (Cultural value)</a:t>
              </a:r>
              <a:endParaRPr lang="en-US" sz="1120" dirty="0"/>
            </a:p>
          </p:txBody>
        </p:sp>
        <p:sp>
          <p:nvSpPr>
            <p:cNvPr id="97" name="Text 50"/>
            <p:cNvSpPr/>
            <p:nvPr/>
          </p:nvSpPr>
          <p:spPr>
            <a:xfrm>
              <a:off x="10560" y="9000"/>
              <a:ext cx="3474"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资源单位的文化和精神意义</a:t>
              </a:r>
              <a:endParaRPr lang="en-US" sz="980" dirty="0"/>
            </a:p>
          </p:txBody>
        </p:sp>
        <p:sp>
          <p:nvSpPr>
            <p:cNvPr id="98" name="Text 51"/>
            <p:cNvSpPr/>
            <p:nvPr/>
          </p:nvSpPr>
          <p:spPr>
            <a:xfrm>
              <a:off x="14526" y="870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8</a:t>
              </a:r>
              <a:endParaRPr lang="en-US" sz="1120" dirty="0"/>
            </a:p>
          </p:txBody>
        </p:sp>
        <p:sp>
          <p:nvSpPr>
            <p:cNvPr id="99" name="Text 52"/>
            <p:cNvSpPr/>
            <p:nvPr/>
          </p:nvSpPr>
          <p:spPr>
            <a:xfrm>
              <a:off x="14970" y="8640"/>
              <a:ext cx="3330"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用户数量 (Number of users)</a:t>
              </a:r>
              <a:endParaRPr lang="en-US" sz="1120" dirty="0"/>
            </a:p>
          </p:txBody>
        </p:sp>
        <p:sp>
          <p:nvSpPr>
            <p:cNvPr id="100" name="Text 53"/>
            <p:cNvSpPr/>
            <p:nvPr/>
          </p:nvSpPr>
          <p:spPr>
            <a:xfrm>
              <a:off x="14970" y="9360"/>
              <a:ext cx="3663"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依赖或使用该资源的人数</a:t>
              </a:r>
              <a:endParaRPr lang="en-US" sz="980" dirty="0"/>
            </a:p>
          </p:txBody>
        </p:sp>
        <p:sp>
          <p:nvSpPr>
            <p:cNvPr id="101" name="Text 54"/>
            <p:cNvSpPr/>
            <p:nvPr/>
          </p:nvSpPr>
          <p:spPr>
            <a:xfrm>
              <a:off x="10116" y="10200"/>
              <a:ext cx="184" cy="397"/>
            </a:xfrm>
            <a:prstGeom prst="rect">
              <a:avLst/>
            </a:prstGeom>
            <a:noFill/>
          </p:spPr>
          <p:txBody>
            <a:bodyPr wrap="square" lIns="0" tIns="0" rIns="0" bIns="0" rtlCol="0" anchor="t">
              <a:spAutoFit/>
            </a:bodyPr>
            <a:p>
              <a:pPr marL="0" indent="0">
                <a:lnSpc>
                  <a:spcPts val="1800"/>
                </a:lnSpc>
                <a:buNone/>
              </a:pPr>
              <a:r>
                <a:rPr lang="en-US" sz="1120" b="1" dirty="0">
                  <a:solidFill>
                    <a:srgbClr val="CA8A04"/>
                  </a:solidFill>
                  <a:latin typeface="ui-sans-serif" pitchFamily="34" charset="0"/>
                  <a:ea typeface="ui-sans-serif" pitchFamily="34" charset="-122"/>
                  <a:cs typeface="ui-sans-serif" pitchFamily="34" charset="-120"/>
                </a:rPr>
                <a:t>9</a:t>
              </a:r>
              <a:endParaRPr lang="en-US" sz="1120" dirty="0"/>
            </a:p>
          </p:txBody>
        </p:sp>
        <p:sp>
          <p:nvSpPr>
            <p:cNvPr id="102" name="Text 55"/>
            <p:cNvSpPr/>
            <p:nvPr/>
          </p:nvSpPr>
          <p:spPr>
            <a:xfrm>
              <a:off x="10560" y="10140"/>
              <a:ext cx="5313" cy="39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排他性 (Excludability)</a:t>
              </a:r>
              <a:endParaRPr lang="en-US" sz="1120" dirty="0"/>
            </a:p>
          </p:txBody>
        </p:sp>
        <p:sp>
          <p:nvSpPr>
            <p:cNvPr id="103" name="Text 56"/>
            <p:cNvSpPr/>
            <p:nvPr/>
          </p:nvSpPr>
          <p:spPr>
            <a:xfrm>
              <a:off x="10560" y="10500"/>
              <a:ext cx="5313" cy="330"/>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限制他人获取资源的难易程度，与资源的公共性相关</a:t>
              </a:r>
              <a:endParaRPr lang="en-US" sz="98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治理</a:t>
            </a:r>
            <a:r>
              <a:rPr lang="zh-CN" altLang="en-US"/>
              <a:t>系统</a:t>
            </a:r>
            <a:endParaRPr lang="zh-CN" altLang="en-US"/>
          </a:p>
        </p:txBody>
      </p:sp>
      <p:grpSp>
        <p:nvGrpSpPr>
          <p:cNvPr id="46" name="组合 45"/>
          <p:cNvGrpSpPr/>
          <p:nvPr/>
        </p:nvGrpSpPr>
        <p:grpSpPr>
          <a:xfrm>
            <a:off x="457200" y="1729740"/>
            <a:ext cx="8159750" cy="5433060"/>
            <a:chOff x="720" y="2400"/>
            <a:chExt cx="8700" cy="8880"/>
          </a:xfrm>
        </p:grpSpPr>
        <p:pic>
          <p:nvPicPr>
            <p:cNvPr id="6" name="Image 4" descr="preencoded.png"/>
            <p:cNvPicPr>
              <a:picLocks noChangeAspect="1"/>
            </p:cNvPicPr>
            <p:nvPr/>
          </p:nvPicPr>
          <p:blipFill>
            <a:blip r:embed="rId1"/>
            <a:stretch>
              <a:fillRect/>
            </a:stretch>
          </p:blipFill>
          <p:spPr>
            <a:xfrm>
              <a:off x="720" y="2400"/>
              <a:ext cx="8700" cy="1020"/>
            </a:xfrm>
            <a:prstGeom prst="rect">
              <a:avLst/>
            </a:prstGeom>
          </p:spPr>
        </p:pic>
        <p:pic>
          <p:nvPicPr>
            <p:cNvPr id="7" name="Image 5" descr="preencoded.png"/>
            <p:cNvPicPr>
              <a:picLocks noChangeAspect="1"/>
            </p:cNvPicPr>
            <p:nvPr/>
          </p:nvPicPr>
          <p:blipFill>
            <a:blip r:embed="rId2"/>
            <a:stretch>
              <a:fillRect/>
            </a:stretch>
          </p:blipFill>
          <p:spPr>
            <a:xfrm>
              <a:off x="900" y="2580"/>
              <a:ext cx="480" cy="480"/>
            </a:xfrm>
            <a:prstGeom prst="rect">
              <a:avLst/>
            </a:prstGeom>
          </p:spPr>
        </p:pic>
        <p:pic>
          <p:nvPicPr>
            <p:cNvPr id="8" name="Image 6" descr="preencoded.png"/>
            <p:cNvPicPr>
              <a:picLocks noChangeAspect="1"/>
            </p:cNvPicPr>
            <p:nvPr/>
          </p:nvPicPr>
          <p:blipFill>
            <a:blip r:embed="rId1"/>
            <a:stretch>
              <a:fillRect/>
            </a:stretch>
          </p:blipFill>
          <p:spPr>
            <a:xfrm>
              <a:off x="720" y="3540"/>
              <a:ext cx="8700" cy="1020"/>
            </a:xfrm>
            <a:prstGeom prst="rect">
              <a:avLst/>
            </a:prstGeom>
          </p:spPr>
        </p:pic>
        <p:pic>
          <p:nvPicPr>
            <p:cNvPr id="9" name="Image 7" descr="preencoded.png"/>
            <p:cNvPicPr>
              <a:picLocks noChangeAspect="1"/>
            </p:cNvPicPr>
            <p:nvPr/>
          </p:nvPicPr>
          <p:blipFill>
            <a:blip r:embed="rId3"/>
            <a:stretch>
              <a:fillRect/>
            </a:stretch>
          </p:blipFill>
          <p:spPr>
            <a:xfrm>
              <a:off x="900" y="3720"/>
              <a:ext cx="480" cy="480"/>
            </a:xfrm>
            <a:prstGeom prst="rect">
              <a:avLst/>
            </a:prstGeom>
          </p:spPr>
        </p:pic>
        <p:pic>
          <p:nvPicPr>
            <p:cNvPr id="10" name="Image 8" descr="preencoded.png"/>
            <p:cNvPicPr>
              <a:picLocks noChangeAspect="1"/>
            </p:cNvPicPr>
            <p:nvPr/>
          </p:nvPicPr>
          <p:blipFill>
            <a:blip r:embed="rId1"/>
            <a:stretch>
              <a:fillRect/>
            </a:stretch>
          </p:blipFill>
          <p:spPr>
            <a:xfrm>
              <a:off x="720" y="4680"/>
              <a:ext cx="8700" cy="1020"/>
            </a:xfrm>
            <a:prstGeom prst="rect">
              <a:avLst/>
            </a:prstGeom>
          </p:spPr>
        </p:pic>
        <p:pic>
          <p:nvPicPr>
            <p:cNvPr id="11" name="Image 9" descr="preencoded.png"/>
            <p:cNvPicPr>
              <a:picLocks noChangeAspect="1"/>
            </p:cNvPicPr>
            <p:nvPr/>
          </p:nvPicPr>
          <p:blipFill>
            <a:blip r:embed="rId4"/>
            <a:stretch>
              <a:fillRect/>
            </a:stretch>
          </p:blipFill>
          <p:spPr>
            <a:xfrm>
              <a:off x="900" y="4860"/>
              <a:ext cx="480" cy="480"/>
            </a:xfrm>
            <a:prstGeom prst="rect">
              <a:avLst/>
            </a:prstGeom>
          </p:spPr>
        </p:pic>
        <p:pic>
          <p:nvPicPr>
            <p:cNvPr id="12" name="Image 10" descr="preencoded.png"/>
            <p:cNvPicPr>
              <a:picLocks noChangeAspect="1"/>
            </p:cNvPicPr>
            <p:nvPr/>
          </p:nvPicPr>
          <p:blipFill>
            <a:blip r:embed="rId1"/>
            <a:stretch>
              <a:fillRect/>
            </a:stretch>
          </p:blipFill>
          <p:spPr>
            <a:xfrm>
              <a:off x="720" y="5820"/>
              <a:ext cx="8700" cy="1020"/>
            </a:xfrm>
            <a:prstGeom prst="rect">
              <a:avLst/>
            </a:prstGeom>
          </p:spPr>
        </p:pic>
        <p:pic>
          <p:nvPicPr>
            <p:cNvPr id="13" name="Image 11" descr="preencoded.png"/>
            <p:cNvPicPr>
              <a:picLocks noChangeAspect="1"/>
            </p:cNvPicPr>
            <p:nvPr/>
          </p:nvPicPr>
          <p:blipFill>
            <a:blip r:embed="rId5"/>
            <a:stretch>
              <a:fillRect/>
            </a:stretch>
          </p:blipFill>
          <p:spPr>
            <a:xfrm>
              <a:off x="900" y="6000"/>
              <a:ext cx="480" cy="480"/>
            </a:xfrm>
            <a:prstGeom prst="rect">
              <a:avLst/>
            </a:prstGeom>
          </p:spPr>
        </p:pic>
        <p:pic>
          <p:nvPicPr>
            <p:cNvPr id="14" name="Image 12" descr="preencoded.png"/>
            <p:cNvPicPr>
              <a:picLocks noChangeAspect="1"/>
            </p:cNvPicPr>
            <p:nvPr/>
          </p:nvPicPr>
          <p:blipFill>
            <a:blip r:embed="rId6"/>
            <a:stretch>
              <a:fillRect/>
            </a:stretch>
          </p:blipFill>
          <p:spPr>
            <a:xfrm>
              <a:off x="720" y="6960"/>
              <a:ext cx="4290" cy="1499"/>
            </a:xfrm>
            <a:prstGeom prst="rect">
              <a:avLst/>
            </a:prstGeom>
          </p:spPr>
        </p:pic>
        <p:pic>
          <p:nvPicPr>
            <p:cNvPr id="15" name="Image 13" descr="preencoded.png"/>
            <p:cNvPicPr>
              <a:picLocks noChangeAspect="1"/>
            </p:cNvPicPr>
            <p:nvPr/>
          </p:nvPicPr>
          <p:blipFill>
            <a:blip r:embed="rId5"/>
            <a:stretch>
              <a:fillRect/>
            </a:stretch>
          </p:blipFill>
          <p:spPr>
            <a:xfrm>
              <a:off x="900" y="7140"/>
              <a:ext cx="480" cy="480"/>
            </a:xfrm>
            <a:prstGeom prst="rect">
              <a:avLst/>
            </a:prstGeom>
          </p:spPr>
        </p:pic>
        <p:pic>
          <p:nvPicPr>
            <p:cNvPr id="16" name="Image 14" descr="preencoded.png"/>
            <p:cNvPicPr>
              <a:picLocks noChangeAspect="1"/>
            </p:cNvPicPr>
            <p:nvPr/>
          </p:nvPicPr>
          <p:blipFill>
            <a:blip r:embed="rId6"/>
            <a:stretch>
              <a:fillRect/>
            </a:stretch>
          </p:blipFill>
          <p:spPr>
            <a:xfrm>
              <a:off x="5130" y="6960"/>
              <a:ext cx="4290" cy="1446"/>
            </a:xfrm>
            <a:prstGeom prst="rect">
              <a:avLst/>
            </a:prstGeom>
          </p:spPr>
        </p:pic>
        <p:pic>
          <p:nvPicPr>
            <p:cNvPr id="17" name="Image 15" descr="preencoded.png"/>
            <p:cNvPicPr>
              <a:picLocks noChangeAspect="1"/>
            </p:cNvPicPr>
            <p:nvPr/>
          </p:nvPicPr>
          <p:blipFill>
            <a:blip r:embed="rId5"/>
            <a:stretch>
              <a:fillRect/>
            </a:stretch>
          </p:blipFill>
          <p:spPr>
            <a:xfrm>
              <a:off x="5310" y="7140"/>
              <a:ext cx="480" cy="480"/>
            </a:xfrm>
            <a:prstGeom prst="rect">
              <a:avLst/>
            </a:prstGeom>
          </p:spPr>
        </p:pic>
        <p:pic>
          <p:nvPicPr>
            <p:cNvPr id="18" name="Image 16" descr="preencoded.png"/>
            <p:cNvPicPr>
              <a:picLocks noChangeAspect="1"/>
            </p:cNvPicPr>
            <p:nvPr/>
          </p:nvPicPr>
          <p:blipFill>
            <a:blip r:embed="rId7"/>
            <a:stretch>
              <a:fillRect/>
            </a:stretch>
          </p:blipFill>
          <p:spPr>
            <a:xfrm>
              <a:off x="720" y="8460"/>
              <a:ext cx="4290" cy="1680"/>
            </a:xfrm>
            <a:prstGeom prst="rect">
              <a:avLst/>
            </a:prstGeom>
          </p:spPr>
        </p:pic>
        <p:pic>
          <p:nvPicPr>
            <p:cNvPr id="19" name="Image 17" descr="preencoded.png"/>
            <p:cNvPicPr>
              <a:picLocks noChangeAspect="1"/>
            </p:cNvPicPr>
            <p:nvPr/>
          </p:nvPicPr>
          <p:blipFill>
            <a:blip r:embed="rId5"/>
            <a:stretch>
              <a:fillRect/>
            </a:stretch>
          </p:blipFill>
          <p:spPr>
            <a:xfrm>
              <a:off x="900" y="8640"/>
              <a:ext cx="480" cy="480"/>
            </a:xfrm>
            <a:prstGeom prst="rect">
              <a:avLst/>
            </a:prstGeom>
          </p:spPr>
        </p:pic>
        <p:pic>
          <p:nvPicPr>
            <p:cNvPr id="20" name="Image 18" descr="preencoded.png"/>
            <p:cNvPicPr>
              <a:picLocks noChangeAspect="1"/>
            </p:cNvPicPr>
            <p:nvPr/>
          </p:nvPicPr>
          <p:blipFill>
            <a:blip r:embed="rId7"/>
            <a:stretch>
              <a:fillRect/>
            </a:stretch>
          </p:blipFill>
          <p:spPr>
            <a:xfrm>
              <a:off x="5130" y="8460"/>
              <a:ext cx="4290" cy="1680"/>
            </a:xfrm>
            <a:prstGeom prst="rect">
              <a:avLst/>
            </a:prstGeom>
          </p:spPr>
        </p:pic>
        <p:pic>
          <p:nvPicPr>
            <p:cNvPr id="21" name="Image 19" descr="preencoded.png"/>
            <p:cNvPicPr>
              <a:picLocks noChangeAspect="1"/>
            </p:cNvPicPr>
            <p:nvPr/>
          </p:nvPicPr>
          <p:blipFill>
            <a:blip r:embed="rId5"/>
            <a:stretch>
              <a:fillRect/>
            </a:stretch>
          </p:blipFill>
          <p:spPr>
            <a:xfrm>
              <a:off x="5310" y="8640"/>
              <a:ext cx="480" cy="480"/>
            </a:xfrm>
            <a:prstGeom prst="rect">
              <a:avLst/>
            </a:prstGeom>
          </p:spPr>
        </p:pic>
        <p:pic>
          <p:nvPicPr>
            <p:cNvPr id="22" name="Image 20" descr="preencoded.png"/>
            <p:cNvPicPr>
              <a:picLocks noChangeAspect="1"/>
            </p:cNvPicPr>
            <p:nvPr/>
          </p:nvPicPr>
          <p:blipFill>
            <a:blip r:embed="rId8"/>
            <a:stretch>
              <a:fillRect/>
            </a:stretch>
          </p:blipFill>
          <p:spPr>
            <a:xfrm>
              <a:off x="720" y="10260"/>
              <a:ext cx="8700" cy="1020"/>
            </a:xfrm>
            <a:prstGeom prst="rect">
              <a:avLst/>
            </a:prstGeom>
          </p:spPr>
        </p:pic>
        <p:pic>
          <p:nvPicPr>
            <p:cNvPr id="23" name="Image 21" descr="preencoded.png"/>
            <p:cNvPicPr>
              <a:picLocks noChangeAspect="1"/>
            </p:cNvPicPr>
            <p:nvPr/>
          </p:nvPicPr>
          <p:blipFill>
            <a:blip r:embed="rId9"/>
            <a:stretch>
              <a:fillRect/>
            </a:stretch>
          </p:blipFill>
          <p:spPr>
            <a:xfrm>
              <a:off x="900" y="10260"/>
              <a:ext cx="480" cy="480"/>
            </a:xfrm>
            <a:prstGeom prst="rect">
              <a:avLst/>
            </a:prstGeom>
          </p:spPr>
        </p:pic>
        <p:sp>
          <p:nvSpPr>
            <p:cNvPr id="49" name="Text 2"/>
            <p:cNvSpPr/>
            <p:nvPr/>
          </p:nvSpPr>
          <p:spPr>
            <a:xfrm>
              <a:off x="1056" y="264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1</a:t>
              </a:r>
              <a:endParaRPr lang="en-US" sz="1120" dirty="0"/>
            </a:p>
          </p:txBody>
        </p:sp>
        <p:sp>
          <p:nvSpPr>
            <p:cNvPr id="50" name="Text 3"/>
            <p:cNvSpPr/>
            <p:nvPr/>
          </p:nvSpPr>
          <p:spPr>
            <a:xfrm>
              <a:off x="1500" y="2580"/>
              <a:ext cx="5349" cy="37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政府组织 (Government organizations)</a:t>
              </a:r>
              <a:endParaRPr lang="en-US" sz="1120" dirty="0"/>
            </a:p>
          </p:txBody>
        </p:sp>
        <p:sp>
          <p:nvSpPr>
            <p:cNvPr id="51" name="Text 4"/>
            <p:cNvSpPr/>
            <p:nvPr/>
          </p:nvSpPr>
          <p:spPr>
            <a:xfrm>
              <a:off x="1500" y="2940"/>
              <a:ext cx="5349"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负责资源管理的政府机构，包括其结构、职能和权力</a:t>
              </a:r>
              <a:endParaRPr lang="en-US" sz="980" dirty="0"/>
            </a:p>
          </p:txBody>
        </p:sp>
        <p:sp>
          <p:nvSpPr>
            <p:cNvPr id="52" name="Text 5"/>
            <p:cNvSpPr/>
            <p:nvPr/>
          </p:nvSpPr>
          <p:spPr>
            <a:xfrm>
              <a:off x="1056" y="378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2</a:t>
              </a:r>
              <a:endParaRPr lang="en-US" sz="1120" dirty="0"/>
            </a:p>
          </p:txBody>
        </p:sp>
        <p:sp>
          <p:nvSpPr>
            <p:cNvPr id="53" name="Text 6"/>
            <p:cNvSpPr/>
            <p:nvPr/>
          </p:nvSpPr>
          <p:spPr>
            <a:xfrm>
              <a:off x="1500" y="3720"/>
              <a:ext cx="6771" cy="37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非政府组织 (Non-governmental organizations)</a:t>
              </a:r>
              <a:endParaRPr lang="en-US" sz="1120" dirty="0"/>
            </a:p>
          </p:txBody>
        </p:sp>
        <p:sp>
          <p:nvSpPr>
            <p:cNvPr id="54" name="Text 7"/>
            <p:cNvSpPr/>
            <p:nvPr/>
          </p:nvSpPr>
          <p:spPr>
            <a:xfrm>
              <a:off x="1500" y="4080"/>
              <a:ext cx="6771"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参与资源管理的非政府实体，如社区组织、行业协会、环保NGO等</a:t>
              </a:r>
              <a:endParaRPr lang="en-US" sz="980" dirty="0"/>
            </a:p>
          </p:txBody>
        </p:sp>
        <p:sp>
          <p:nvSpPr>
            <p:cNvPr id="55" name="Text 8"/>
            <p:cNvSpPr/>
            <p:nvPr/>
          </p:nvSpPr>
          <p:spPr>
            <a:xfrm>
              <a:off x="1056" y="492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3</a:t>
              </a:r>
              <a:endParaRPr lang="en-US" sz="1120" dirty="0"/>
            </a:p>
          </p:txBody>
        </p:sp>
        <p:sp>
          <p:nvSpPr>
            <p:cNvPr id="56" name="Text 9"/>
            <p:cNvSpPr/>
            <p:nvPr/>
          </p:nvSpPr>
          <p:spPr>
            <a:xfrm>
              <a:off x="1500" y="4860"/>
              <a:ext cx="7161" cy="37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使用中的规则 (Rules-in-use)</a:t>
              </a:r>
              <a:endParaRPr lang="en-US" sz="1120" dirty="0"/>
            </a:p>
          </p:txBody>
        </p:sp>
        <p:sp>
          <p:nvSpPr>
            <p:cNvPr id="57" name="Text 10"/>
            <p:cNvSpPr/>
            <p:nvPr/>
          </p:nvSpPr>
          <p:spPr>
            <a:xfrm>
              <a:off x="1500" y="5220"/>
              <a:ext cx="7161"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实际操作中的规则，包括正式和非正式规则，可能与正式规定有所不同</a:t>
              </a:r>
              <a:endParaRPr lang="en-US" sz="980" dirty="0"/>
            </a:p>
          </p:txBody>
        </p:sp>
        <p:sp>
          <p:nvSpPr>
            <p:cNvPr id="58" name="Text 11"/>
            <p:cNvSpPr/>
            <p:nvPr/>
          </p:nvSpPr>
          <p:spPr>
            <a:xfrm>
              <a:off x="1056" y="606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4</a:t>
              </a:r>
              <a:endParaRPr lang="en-US" sz="1120" dirty="0"/>
            </a:p>
          </p:txBody>
        </p:sp>
        <p:sp>
          <p:nvSpPr>
            <p:cNvPr id="59" name="Text 12"/>
            <p:cNvSpPr/>
            <p:nvPr/>
          </p:nvSpPr>
          <p:spPr>
            <a:xfrm>
              <a:off x="1500" y="6000"/>
              <a:ext cx="5275" cy="37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集体选择规则 (Collective-choice rules)</a:t>
              </a:r>
              <a:endParaRPr lang="en-US" sz="1120" dirty="0"/>
            </a:p>
          </p:txBody>
        </p:sp>
        <p:sp>
          <p:nvSpPr>
            <p:cNvPr id="60" name="Text 13"/>
            <p:cNvSpPr/>
            <p:nvPr/>
          </p:nvSpPr>
          <p:spPr>
            <a:xfrm>
              <a:off x="1500" y="6360"/>
              <a:ext cx="5275"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决定谁可以参与决策以及如何制定操作规则的规则</a:t>
              </a:r>
              <a:endParaRPr lang="en-US" sz="980" dirty="0"/>
            </a:p>
          </p:txBody>
        </p:sp>
        <p:sp>
          <p:nvSpPr>
            <p:cNvPr id="61" name="Text 14"/>
            <p:cNvSpPr/>
            <p:nvPr/>
          </p:nvSpPr>
          <p:spPr>
            <a:xfrm>
              <a:off x="1056" y="720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5</a:t>
              </a:r>
              <a:endParaRPr lang="en-US" sz="1120" dirty="0"/>
            </a:p>
          </p:txBody>
        </p:sp>
        <p:sp>
          <p:nvSpPr>
            <p:cNvPr id="62" name="Text 15"/>
            <p:cNvSpPr/>
            <p:nvPr/>
          </p:nvSpPr>
          <p:spPr>
            <a:xfrm>
              <a:off x="1500" y="7140"/>
              <a:ext cx="3330" cy="37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宪法选择规则 (Constitutional-choice rules)</a:t>
              </a:r>
              <a:endParaRPr lang="en-US" sz="1120" dirty="0"/>
            </a:p>
          </p:txBody>
        </p:sp>
        <p:sp>
          <p:nvSpPr>
            <p:cNvPr id="63" name="Text 16"/>
            <p:cNvSpPr/>
            <p:nvPr/>
          </p:nvSpPr>
          <p:spPr>
            <a:xfrm>
              <a:off x="1500" y="7860"/>
              <a:ext cx="3330"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决定如何制定集体选择规则的元规则</a:t>
              </a:r>
              <a:endParaRPr lang="en-US" sz="980" dirty="0"/>
            </a:p>
          </p:txBody>
        </p:sp>
        <p:sp>
          <p:nvSpPr>
            <p:cNvPr id="64" name="Text 17"/>
            <p:cNvSpPr/>
            <p:nvPr/>
          </p:nvSpPr>
          <p:spPr>
            <a:xfrm>
              <a:off x="5466" y="720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6</a:t>
              </a:r>
              <a:endParaRPr lang="en-US" sz="1120" dirty="0"/>
            </a:p>
          </p:txBody>
        </p:sp>
        <p:sp>
          <p:nvSpPr>
            <p:cNvPr id="65" name="Text 18"/>
            <p:cNvSpPr/>
            <p:nvPr/>
          </p:nvSpPr>
          <p:spPr>
            <a:xfrm>
              <a:off x="5910" y="7140"/>
              <a:ext cx="3330" cy="37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监测与执行 (Monitoring and enforcement)</a:t>
              </a:r>
              <a:endParaRPr lang="en-US" sz="1120" dirty="0"/>
            </a:p>
          </p:txBody>
        </p:sp>
        <p:sp>
          <p:nvSpPr>
            <p:cNvPr id="66" name="Text 19"/>
            <p:cNvSpPr/>
            <p:nvPr/>
          </p:nvSpPr>
          <p:spPr>
            <a:xfrm>
              <a:off x="5910" y="7860"/>
              <a:ext cx="3330"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规则遵守情况的监督和违规处罚机制</a:t>
              </a:r>
              <a:endParaRPr lang="en-US" sz="980" dirty="0"/>
            </a:p>
          </p:txBody>
        </p:sp>
        <p:sp>
          <p:nvSpPr>
            <p:cNvPr id="67" name="Text 20"/>
            <p:cNvSpPr/>
            <p:nvPr/>
          </p:nvSpPr>
          <p:spPr>
            <a:xfrm>
              <a:off x="1056" y="870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7</a:t>
              </a:r>
              <a:endParaRPr lang="en-US" sz="1120" dirty="0"/>
            </a:p>
          </p:txBody>
        </p:sp>
        <p:sp>
          <p:nvSpPr>
            <p:cNvPr id="68" name="Text 21"/>
            <p:cNvSpPr/>
            <p:nvPr/>
          </p:nvSpPr>
          <p:spPr>
            <a:xfrm>
              <a:off x="1500" y="8640"/>
              <a:ext cx="3330" cy="37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信息系统 (Information systems)</a:t>
              </a:r>
              <a:endParaRPr lang="en-US" sz="1120" dirty="0"/>
            </a:p>
          </p:txBody>
        </p:sp>
        <p:sp>
          <p:nvSpPr>
            <p:cNvPr id="69" name="Text 22"/>
            <p:cNvSpPr/>
            <p:nvPr/>
          </p:nvSpPr>
          <p:spPr>
            <a:xfrm>
              <a:off x="1500" y="9360"/>
              <a:ext cx="3330"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收集、处理和分享资源相关信息的机制</a:t>
              </a:r>
              <a:endParaRPr lang="en-US" sz="980" dirty="0"/>
            </a:p>
          </p:txBody>
        </p:sp>
        <p:sp>
          <p:nvSpPr>
            <p:cNvPr id="70" name="Text 23"/>
            <p:cNvSpPr/>
            <p:nvPr/>
          </p:nvSpPr>
          <p:spPr>
            <a:xfrm>
              <a:off x="5466" y="8700"/>
              <a:ext cx="184" cy="377"/>
            </a:xfrm>
            <a:prstGeom prst="rect">
              <a:avLst/>
            </a:prstGeom>
            <a:noFill/>
          </p:spPr>
          <p:txBody>
            <a:bodyPr wrap="square" lIns="0" tIns="0" rIns="0" bIns="0" rtlCol="0" anchor="t">
              <a:spAutoFit/>
            </a:bodyPr>
            <a:p>
              <a:pPr marL="0" indent="0">
                <a:lnSpc>
                  <a:spcPts val="1800"/>
                </a:lnSpc>
                <a:buNone/>
              </a:pPr>
              <a:r>
                <a:rPr lang="en-US" sz="1120" b="1" dirty="0">
                  <a:solidFill>
                    <a:srgbClr val="2563EB"/>
                  </a:solidFill>
                  <a:latin typeface="ui-sans-serif" pitchFamily="34" charset="0"/>
                  <a:ea typeface="ui-sans-serif" pitchFamily="34" charset="-122"/>
                  <a:cs typeface="ui-sans-serif" pitchFamily="34" charset="-120"/>
                </a:rPr>
                <a:t>8</a:t>
              </a:r>
              <a:endParaRPr lang="en-US" sz="1120" dirty="0"/>
            </a:p>
          </p:txBody>
        </p:sp>
        <p:sp>
          <p:nvSpPr>
            <p:cNvPr id="71" name="Text 24"/>
            <p:cNvSpPr/>
            <p:nvPr/>
          </p:nvSpPr>
          <p:spPr>
            <a:xfrm>
              <a:off x="5910" y="8640"/>
              <a:ext cx="3330" cy="755"/>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冲突解决机制 (Conflict resolution mechanisms)</a:t>
              </a:r>
              <a:endParaRPr lang="en-US" sz="1120" dirty="0"/>
            </a:p>
          </p:txBody>
        </p:sp>
        <p:sp>
          <p:nvSpPr>
            <p:cNvPr id="72" name="Text 25"/>
            <p:cNvSpPr/>
            <p:nvPr/>
          </p:nvSpPr>
          <p:spPr>
            <a:xfrm>
              <a:off x="5910" y="9360"/>
              <a:ext cx="3330" cy="313"/>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处理利益相关者之间争议的程序和平台</a:t>
              </a:r>
              <a:endParaRPr lang="en-US" sz="98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行动</a:t>
            </a:r>
            <a:r>
              <a:rPr lang="zh-CN" altLang="en-US"/>
              <a:t>者</a:t>
            </a:r>
            <a:endParaRPr lang="zh-CN" altLang="en-US"/>
          </a:p>
        </p:txBody>
      </p:sp>
      <p:grpSp>
        <p:nvGrpSpPr>
          <p:cNvPr id="104" name="组合 103"/>
          <p:cNvGrpSpPr/>
          <p:nvPr/>
        </p:nvGrpSpPr>
        <p:grpSpPr>
          <a:xfrm>
            <a:off x="457200" y="1524000"/>
            <a:ext cx="8230530" cy="5448300"/>
            <a:chOff x="9780" y="2400"/>
            <a:chExt cx="8853" cy="8580"/>
          </a:xfrm>
        </p:grpSpPr>
        <p:pic>
          <p:nvPicPr>
            <p:cNvPr id="26" name="Image 24" descr="preencoded.png"/>
            <p:cNvPicPr>
              <a:picLocks noChangeAspect="1"/>
            </p:cNvPicPr>
            <p:nvPr/>
          </p:nvPicPr>
          <p:blipFill>
            <a:blip r:embed="rId1"/>
            <a:stretch>
              <a:fillRect/>
            </a:stretch>
          </p:blipFill>
          <p:spPr>
            <a:xfrm>
              <a:off x="9780" y="2400"/>
              <a:ext cx="8700" cy="1020"/>
            </a:xfrm>
            <a:prstGeom prst="rect">
              <a:avLst/>
            </a:prstGeom>
          </p:spPr>
        </p:pic>
        <p:pic>
          <p:nvPicPr>
            <p:cNvPr id="27" name="Image 25" descr="preencoded.png"/>
            <p:cNvPicPr>
              <a:picLocks noChangeAspect="1"/>
            </p:cNvPicPr>
            <p:nvPr/>
          </p:nvPicPr>
          <p:blipFill>
            <a:blip r:embed="rId2"/>
            <a:stretch>
              <a:fillRect/>
            </a:stretch>
          </p:blipFill>
          <p:spPr>
            <a:xfrm>
              <a:off x="9960" y="2580"/>
              <a:ext cx="480" cy="480"/>
            </a:xfrm>
            <a:prstGeom prst="rect">
              <a:avLst/>
            </a:prstGeom>
          </p:spPr>
        </p:pic>
        <p:pic>
          <p:nvPicPr>
            <p:cNvPr id="28" name="Image 26" descr="preencoded.png"/>
            <p:cNvPicPr>
              <a:picLocks noChangeAspect="1"/>
            </p:cNvPicPr>
            <p:nvPr/>
          </p:nvPicPr>
          <p:blipFill>
            <a:blip r:embed="rId1"/>
            <a:stretch>
              <a:fillRect/>
            </a:stretch>
          </p:blipFill>
          <p:spPr>
            <a:xfrm>
              <a:off x="9780" y="3540"/>
              <a:ext cx="8700" cy="1020"/>
            </a:xfrm>
            <a:prstGeom prst="rect">
              <a:avLst/>
            </a:prstGeom>
          </p:spPr>
        </p:pic>
        <p:pic>
          <p:nvPicPr>
            <p:cNvPr id="29" name="Image 27" descr="preencoded.png"/>
            <p:cNvPicPr>
              <a:picLocks noChangeAspect="1"/>
            </p:cNvPicPr>
            <p:nvPr/>
          </p:nvPicPr>
          <p:blipFill>
            <a:blip r:embed="rId3"/>
            <a:stretch>
              <a:fillRect/>
            </a:stretch>
          </p:blipFill>
          <p:spPr>
            <a:xfrm>
              <a:off x="9960" y="3720"/>
              <a:ext cx="480" cy="480"/>
            </a:xfrm>
            <a:prstGeom prst="rect">
              <a:avLst/>
            </a:prstGeom>
          </p:spPr>
        </p:pic>
        <p:pic>
          <p:nvPicPr>
            <p:cNvPr id="30" name="Image 28" descr="preencoded.png"/>
            <p:cNvPicPr>
              <a:picLocks noChangeAspect="1"/>
            </p:cNvPicPr>
            <p:nvPr/>
          </p:nvPicPr>
          <p:blipFill>
            <a:blip r:embed="rId1"/>
            <a:stretch>
              <a:fillRect/>
            </a:stretch>
          </p:blipFill>
          <p:spPr>
            <a:xfrm>
              <a:off x="9780" y="4680"/>
              <a:ext cx="8700" cy="1020"/>
            </a:xfrm>
            <a:prstGeom prst="rect">
              <a:avLst/>
            </a:prstGeom>
          </p:spPr>
        </p:pic>
        <p:pic>
          <p:nvPicPr>
            <p:cNvPr id="31" name="Image 29" descr="preencoded.png"/>
            <p:cNvPicPr>
              <a:picLocks noChangeAspect="1"/>
            </p:cNvPicPr>
            <p:nvPr/>
          </p:nvPicPr>
          <p:blipFill>
            <a:blip r:embed="rId4"/>
            <a:stretch>
              <a:fillRect/>
            </a:stretch>
          </p:blipFill>
          <p:spPr>
            <a:xfrm>
              <a:off x="9960" y="4860"/>
              <a:ext cx="480" cy="480"/>
            </a:xfrm>
            <a:prstGeom prst="rect">
              <a:avLst/>
            </a:prstGeom>
          </p:spPr>
        </p:pic>
        <p:pic>
          <p:nvPicPr>
            <p:cNvPr id="32" name="Image 30" descr="preencoded.png"/>
            <p:cNvPicPr>
              <a:picLocks noChangeAspect="1"/>
            </p:cNvPicPr>
            <p:nvPr/>
          </p:nvPicPr>
          <p:blipFill>
            <a:blip r:embed="rId1"/>
            <a:stretch>
              <a:fillRect/>
            </a:stretch>
          </p:blipFill>
          <p:spPr>
            <a:xfrm>
              <a:off x="9780" y="5820"/>
              <a:ext cx="8700" cy="1020"/>
            </a:xfrm>
            <a:prstGeom prst="rect">
              <a:avLst/>
            </a:prstGeom>
          </p:spPr>
        </p:pic>
        <p:pic>
          <p:nvPicPr>
            <p:cNvPr id="33" name="Image 31" descr="preencoded.png"/>
            <p:cNvPicPr>
              <a:picLocks noChangeAspect="1"/>
            </p:cNvPicPr>
            <p:nvPr/>
          </p:nvPicPr>
          <p:blipFill>
            <a:blip r:embed="rId5"/>
            <a:stretch>
              <a:fillRect/>
            </a:stretch>
          </p:blipFill>
          <p:spPr>
            <a:xfrm>
              <a:off x="9960" y="6000"/>
              <a:ext cx="480" cy="480"/>
            </a:xfrm>
            <a:prstGeom prst="rect">
              <a:avLst/>
            </a:prstGeom>
          </p:spPr>
        </p:pic>
        <p:pic>
          <p:nvPicPr>
            <p:cNvPr id="34" name="Image 32" descr="preencoded.png"/>
            <p:cNvPicPr>
              <a:picLocks noChangeAspect="1"/>
            </p:cNvPicPr>
            <p:nvPr/>
          </p:nvPicPr>
          <p:blipFill>
            <a:blip r:embed="rId6"/>
            <a:stretch>
              <a:fillRect/>
            </a:stretch>
          </p:blipFill>
          <p:spPr>
            <a:xfrm>
              <a:off x="9780" y="6960"/>
              <a:ext cx="4290" cy="1380"/>
            </a:xfrm>
            <a:prstGeom prst="rect">
              <a:avLst/>
            </a:prstGeom>
          </p:spPr>
        </p:pic>
        <p:pic>
          <p:nvPicPr>
            <p:cNvPr id="35" name="Image 33" descr="preencoded.png"/>
            <p:cNvPicPr>
              <a:picLocks noChangeAspect="1"/>
            </p:cNvPicPr>
            <p:nvPr/>
          </p:nvPicPr>
          <p:blipFill>
            <a:blip r:embed="rId5"/>
            <a:stretch>
              <a:fillRect/>
            </a:stretch>
          </p:blipFill>
          <p:spPr>
            <a:xfrm>
              <a:off x="9960" y="7140"/>
              <a:ext cx="480" cy="480"/>
            </a:xfrm>
            <a:prstGeom prst="rect">
              <a:avLst/>
            </a:prstGeom>
          </p:spPr>
        </p:pic>
        <p:pic>
          <p:nvPicPr>
            <p:cNvPr id="36" name="Image 34" descr="preencoded.png"/>
            <p:cNvPicPr>
              <a:picLocks noChangeAspect="1"/>
            </p:cNvPicPr>
            <p:nvPr/>
          </p:nvPicPr>
          <p:blipFill>
            <a:blip r:embed="rId6"/>
            <a:stretch>
              <a:fillRect/>
            </a:stretch>
          </p:blipFill>
          <p:spPr>
            <a:xfrm>
              <a:off x="14190" y="6960"/>
              <a:ext cx="4290" cy="1380"/>
            </a:xfrm>
            <a:prstGeom prst="rect">
              <a:avLst/>
            </a:prstGeom>
          </p:spPr>
        </p:pic>
        <p:pic>
          <p:nvPicPr>
            <p:cNvPr id="37" name="Image 35" descr="preencoded.png"/>
            <p:cNvPicPr>
              <a:picLocks noChangeAspect="1"/>
            </p:cNvPicPr>
            <p:nvPr/>
          </p:nvPicPr>
          <p:blipFill>
            <a:blip r:embed="rId5"/>
            <a:stretch>
              <a:fillRect/>
            </a:stretch>
          </p:blipFill>
          <p:spPr>
            <a:xfrm>
              <a:off x="14370" y="7140"/>
              <a:ext cx="480" cy="480"/>
            </a:xfrm>
            <a:prstGeom prst="rect">
              <a:avLst/>
            </a:prstGeom>
          </p:spPr>
        </p:pic>
        <p:pic>
          <p:nvPicPr>
            <p:cNvPr id="38" name="Image 36" descr="preencoded.png"/>
            <p:cNvPicPr>
              <a:picLocks noChangeAspect="1"/>
            </p:cNvPicPr>
            <p:nvPr/>
          </p:nvPicPr>
          <p:blipFill>
            <a:blip r:embed="rId6"/>
            <a:stretch>
              <a:fillRect/>
            </a:stretch>
          </p:blipFill>
          <p:spPr>
            <a:xfrm>
              <a:off x="9780" y="8460"/>
              <a:ext cx="4290" cy="1380"/>
            </a:xfrm>
            <a:prstGeom prst="rect">
              <a:avLst/>
            </a:prstGeom>
          </p:spPr>
        </p:pic>
        <p:pic>
          <p:nvPicPr>
            <p:cNvPr id="39" name="Image 37" descr="preencoded.png"/>
            <p:cNvPicPr>
              <a:picLocks noChangeAspect="1"/>
            </p:cNvPicPr>
            <p:nvPr/>
          </p:nvPicPr>
          <p:blipFill>
            <a:blip r:embed="rId5"/>
            <a:stretch>
              <a:fillRect/>
            </a:stretch>
          </p:blipFill>
          <p:spPr>
            <a:xfrm>
              <a:off x="9960" y="8640"/>
              <a:ext cx="480" cy="480"/>
            </a:xfrm>
            <a:prstGeom prst="rect">
              <a:avLst/>
            </a:prstGeom>
          </p:spPr>
        </p:pic>
        <p:pic>
          <p:nvPicPr>
            <p:cNvPr id="40" name="Image 38" descr="preencoded.png"/>
            <p:cNvPicPr>
              <a:picLocks noChangeAspect="1"/>
            </p:cNvPicPr>
            <p:nvPr/>
          </p:nvPicPr>
          <p:blipFill>
            <a:blip r:embed="rId6"/>
            <a:stretch>
              <a:fillRect/>
            </a:stretch>
          </p:blipFill>
          <p:spPr>
            <a:xfrm>
              <a:off x="14190" y="8460"/>
              <a:ext cx="4290" cy="1380"/>
            </a:xfrm>
            <a:prstGeom prst="rect">
              <a:avLst/>
            </a:prstGeom>
          </p:spPr>
        </p:pic>
        <p:pic>
          <p:nvPicPr>
            <p:cNvPr id="41" name="Image 39" descr="preencoded.png"/>
            <p:cNvPicPr>
              <a:picLocks noChangeAspect="1"/>
            </p:cNvPicPr>
            <p:nvPr/>
          </p:nvPicPr>
          <p:blipFill>
            <a:blip r:embed="rId5"/>
            <a:stretch>
              <a:fillRect/>
            </a:stretch>
          </p:blipFill>
          <p:spPr>
            <a:xfrm>
              <a:off x="14370" y="8640"/>
              <a:ext cx="480" cy="480"/>
            </a:xfrm>
            <a:prstGeom prst="rect">
              <a:avLst/>
            </a:prstGeom>
          </p:spPr>
        </p:pic>
        <p:pic>
          <p:nvPicPr>
            <p:cNvPr id="42" name="Image 40" descr="preencoded.png"/>
            <p:cNvPicPr>
              <a:picLocks noChangeAspect="1"/>
            </p:cNvPicPr>
            <p:nvPr/>
          </p:nvPicPr>
          <p:blipFill>
            <a:blip r:embed="rId7"/>
            <a:stretch>
              <a:fillRect/>
            </a:stretch>
          </p:blipFill>
          <p:spPr>
            <a:xfrm>
              <a:off x="9780" y="9960"/>
              <a:ext cx="8700" cy="1020"/>
            </a:xfrm>
            <a:prstGeom prst="rect">
              <a:avLst/>
            </a:prstGeom>
          </p:spPr>
        </p:pic>
        <p:pic>
          <p:nvPicPr>
            <p:cNvPr id="43" name="Image 41" descr="preencoded.png"/>
            <p:cNvPicPr>
              <a:picLocks noChangeAspect="1"/>
            </p:cNvPicPr>
            <p:nvPr/>
          </p:nvPicPr>
          <p:blipFill>
            <a:blip r:embed="rId8"/>
            <a:stretch>
              <a:fillRect/>
            </a:stretch>
          </p:blipFill>
          <p:spPr>
            <a:xfrm>
              <a:off x="9960" y="10140"/>
              <a:ext cx="480" cy="480"/>
            </a:xfrm>
            <a:prstGeom prst="rect">
              <a:avLst/>
            </a:prstGeom>
          </p:spPr>
        </p:pic>
        <p:sp>
          <p:nvSpPr>
            <p:cNvPr id="77" name="Text 30"/>
            <p:cNvSpPr/>
            <p:nvPr/>
          </p:nvSpPr>
          <p:spPr>
            <a:xfrm>
              <a:off x="10116" y="264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1</a:t>
              </a:r>
              <a:endParaRPr lang="en-US" sz="1120" dirty="0"/>
            </a:p>
          </p:txBody>
        </p:sp>
        <p:sp>
          <p:nvSpPr>
            <p:cNvPr id="78" name="Text 31"/>
            <p:cNvSpPr/>
            <p:nvPr/>
          </p:nvSpPr>
          <p:spPr>
            <a:xfrm>
              <a:off x="10560" y="2580"/>
              <a:ext cx="4245"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行动者数量 (Number of actors)</a:t>
              </a:r>
              <a:endParaRPr lang="en-US" sz="1120" dirty="0"/>
            </a:p>
          </p:txBody>
        </p:sp>
        <p:sp>
          <p:nvSpPr>
            <p:cNvPr id="79" name="Text 32"/>
            <p:cNvSpPr/>
            <p:nvPr/>
          </p:nvSpPr>
          <p:spPr>
            <a:xfrm>
              <a:off x="10560" y="2940"/>
              <a:ext cx="4245"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参与资源系统的个人、群体或组织的数量</a:t>
              </a:r>
              <a:endParaRPr lang="en-US" sz="980" dirty="0"/>
            </a:p>
          </p:txBody>
        </p:sp>
        <p:sp>
          <p:nvSpPr>
            <p:cNvPr id="80" name="Text 33"/>
            <p:cNvSpPr/>
            <p:nvPr/>
          </p:nvSpPr>
          <p:spPr>
            <a:xfrm>
              <a:off x="10116" y="378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2</a:t>
              </a:r>
              <a:endParaRPr lang="en-US" sz="1120" dirty="0"/>
            </a:p>
          </p:txBody>
        </p:sp>
        <p:sp>
          <p:nvSpPr>
            <p:cNvPr id="81" name="Text 34"/>
            <p:cNvSpPr/>
            <p:nvPr/>
          </p:nvSpPr>
          <p:spPr>
            <a:xfrm>
              <a:off x="10560" y="3720"/>
              <a:ext cx="5775"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社会经济属性 (Socioeconomic attributes)</a:t>
              </a:r>
              <a:endParaRPr lang="en-US" sz="1120" dirty="0"/>
            </a:p>
          </p:txBody>
        </p:sp>
        <p:sp>
          <p:nvSpPr>
            <p:cNvPr id="82" name="Text 35"/>
            <p:cNvSpPr/>
            <p:nvPr/>
          </p:nvSpPr>
          <p:spPr>
            <a:xfrm>
              <a:off x="10560" y="4080"/>
              <a:ext cx="5775"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行动者的社会经济特征，如收入水平、教育程度、职业等</a:t>
              </a:r>
              <a:endParaRPr lang="en-US" sz="980" dirty="0"/>
            </a:p>
          </p:txBody>
        </p:sp>
        <p:sp>
          <p:nvSpPr>
            <p:cNvPr id="83" name="Text 36"/>
            <p:cNvSpPr/>
            <p:nvPr/>
          </p:nvSpPr>
          <p:spPr>
            <a:xfrm>
              <a:off x="10116" y="492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3</a:t>
              </a:r>
              <a:endParaRPr lang="en-US" sz="1120" dirty="0"/>
            </a:p>
          </p:txBody>
        </p:sp>
        <p:sp>
          <p:nvSpPr>
            <p:cNvPr id="84" name="Text 37"/>
            <p:cNvSpPr/>
            <p:nvPr/>
          </p:nvSpPr>
          <p:spPr>
            <a:xfrm>
              <a:off x="10560" y="4860"/>
              <a:ext cx="5781"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知识与信息 (Knowledge and information)</a:t>
              </a:r>
              <a:endParaRPr lang="en-US" sz="1120" dirty="0"/>
            </a:p>
          </p:txBody>
        </p:sp>
        <p:sp>
          <p:nvSpPr>
            <p:cNvPr id="85" name="Text 38"/>
            <p:cNvSpPr/>
            <p:nvPr/>
          </p:nvSpPr>
          <p:spPr>
            <a:xfrm>
              <a:off x="10560" y="5220"/>
              <a:ext cx="5781"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行动者对资源系统的了解程度，包括科学知识和传统知识</a:t>
              </a:r>
              <a:endParaRPr lang="en-US" sz="980" dirty="0"/>
            </a:p>
          </p:txBody>
        </p:sp>
        <p:sp>
          <p:nvSpPr>
            <p:cNvPr id="86" name="Text 39"/>
            <p:cNvSpPr/>
            <p:nvPr/>
          </p:nvSpPr>
          <p:spPr>
            <a:xfrm>
              <a:off x="10116" y="606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4</a:t>
              </a:r>
              <a:endParaRPr lang="en-US" sz="1120" dirty="0"/>
            </a:p>
          </p:txBody>
        </p:sp>
        <p:sp>
          <p:nvSpPr>
            <p:cNvPr id="87" name="Text 40"/>
            <p:cNvSpPr/>
            <p:nvPr/>
          </p:nvSpPr>
          <p:spPr>
            <a:xfrm>
              <a:off x="10560" y="6000"/>
              <a:ext cx="584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规范与社会资本 (Norms and social capital)</a:t>
              </a:r>
              <a:endParaRPr lang="en-US" sz="1120" dirty="0"/>
            </a:p>
          </p:txBody>
        </p:sp>
        <p:sp>
          <p:nvSpPr>
            <p:cNvPr id="88" name="Text 41"/>
            <p:cNvSpPr/>
            <p:nvPr/>
          </p:nvSpPr>
          <p:spPr>
            <a:xfrm>
              <a:off x="10560" y="6360"/>
              <a:ext cx="5840"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行动者共享的价值观、行为准则和社会网络</a:t>
              </a:r>
              <a:endParaRPr lang="en-US" sz="980" dirty="0"/>
            </a:p>
          </p:txBody>
        </p:sp>
        <p:sp>
          <p:nvSpPr>
            <p:cNvPr id="89" name="Text 42"/>
            <p:cNvSpPr/>
            <p:nvPr/>
          </p:nvSpPr>
          <p:spPr>
            <a:xfrm>
              <a:off x="10116" y="720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5</a:t>
              </a:r>
              <a:endParaRPr lang="en-US" sz="1120" dirty="0"/>
            </a:p>
          </p:txBody>
        </p:sp>
        <p:sp>
          <p:nvSpPr>
            <p:cNvPr id="90" name="Text 43"/>
            <p:cNvSpPr/>
            <p:nvPr/>
          </p:nvSpPr>
          <p:spPr>
            <a:xfrm>
              <a:off x="10560" y="7140"/>
              <a:ext cx="3465"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领导力 (Leadership)</a:t>
              </a:r>
              <a:endParaRPr lang="en-US" sz="1120" dirty="0"/>
            </a:p>
          </p:txBody>
        </p:sp>
        <p:sp>
          <p:nvSpPr>
            <p:cNvPr id="91" name="Text 44"/>
            <p:cNvSpPr/>
            <p:nvPr/>
          </p:nvSpPr>
          <p:spPr>
            <a:xfrm>
              <a:off x="10560" y="7500"/>
              <a:ext cx="3465"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行动者中的领导者特征及其影响力</a:t>
              </a:r>
              <a:endParaRPr lang="en-US" sz="980" dirty="0"/>
            </a:p>
          </p:txBody>
        </p:sp>
        <p:sp>
          <p:nvSpPr>
            <p:cNvPr id="92" name="Text 45"/>
            <p:cNvSpPr/>
            <p:nvPr/>
          </p:nvSpPr>
          <p:spPr>
            <a:xfrm>
              <a:off x="14526" y="720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6</a:t>
              </a:r>
              <a:endParaRPr lang="en-US" sz="1120" dirty="0"/>
            </a:p>
          </p:txBody>
        </p:sp>
        <p:sp>
          <p:nvSpPr>
            <p:cNvPr id="93" name="Text 46"/>
            <p:cNvSpPr/>
            <p:nvPr/>
          </p:nvSpPr>
          <p:spPr>
            <a:xfrm>
              <a:off x="14970" y="7140"/>
              <a:ext cx="3330" cy="72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资源重要性 (Importance of resource)</a:t>
              </a:r>
              <a:endParaRPr lang="en-US" sz="1120" dirty="0"/>
            </a:p>
          </p:txBody>
        </p:sp>
        <p:sp>
          <p:nvSpPr>
            <p:cNvPr id="94" name="Text 47"/>
            <p:cNvSpPr/>
            <p:nvPr/>
          </p:nvSpPr>
          <p:spPr>
            <a:xfrm>
              <a:off x="14970" y="7860"/>
              <a:ext cx="3663"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资源对行动者的价值和意义</a:t>
              </a:r>
              <a:endParaRPr lang="en-US" sz="980" dirty="0"/>
            </a:p>
          </p:txBody>
        </p:sp>
        <p:sp>
          <p:nvSpPr>
            <p:cNvPr id="95" name="Text 48"/>
            <p:cNvSpPr/>
            <p:nvPr/>
          </p:nvSpPr>
          <p:spPr>
            <a:xfrm>
              <a:off x="10116" y="870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7</a:t>
              </a:r>
              <a:endParaRPr lang="en-US" sz="1120" dirty="0"/>
            </a:p>
          </p:txBody>
        </p:sp>
        <p:sp>
          <p:nvSpPr>
            <p:cNvPr id="96" name="Text 49"/>
            <p:cNvSpPr/>
            <p:nvPr/>
          </p:nvSpPr>
          <p:spPr>
            <a:xfrm>
              <a:off x="10560" y="8640"/>
              <a:ext cx="3330" cy="727"/>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资源依赖性 (Dependence on resource)</a:t>
              </a:r>
              <a:endParaRPr lang="en-US" sz="1120" dirty="0"/>
            </a:p>
          </p:txBody>
        </p:sp>
        <p:sp>
          <p:nvSpPr>
            <p:cNvPr id="97" name="Text 50"/>
            <p:cNvSpPr/>
            <p:nvPr/>
          </p:nvSpPr>
          <p:spPr>
            <a:xfrm>
              <a:off x="10560" y="9360"/>
              <a:ext cx="3663"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行动者对资源的依赖程度</a:t>
              </a:r>
              <a:endParaRPr lang="en-US" sz="980" dirty="0"/>
            </a:p>
          </p:txBody>
        </p:sp>
        <p:sp>
          <p:nvSpPr>
            <p:cNvPr id="98" name="Text 51"/>
            <p:cNvSpPr/>
            <p:nvPr/>
          </p:nvSpPr>
          <p:spPr>
            <a:xfrm>
              <a:off x="14526" y="870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8</a:t>
              </a:r>
              <a:endParaRPr lang="en-US" sz="1120" dirty="0"/>
            </a:p>
          </p:txBody>
        </p:sp>
        <p:sp>
          <p:nvSpPr>
            <p:cNvPr id="99" name="Text 52"/>
            <p:cNvSpPr/>
            <p:nvPr/>
          </p:nvSpPr>
          <p:spPr>
            <a:xfrm>
              <a:off x="14970" y="8640"/>
              <a:ext cx="23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信任 (Trust)</a:t>
              </a:r>
              <a:endParaRPr lang="en-US" sz="1120" dirty="0"/>
            </a:p>
          </p:txBody>
        </p:sp>
        <p:sp>
          <p:nvSpPr>
            <p:cNvPr id="100" name="Text 53"/>
            <p:cNvSpPr/>
            <p:nvPr/>
          </p:nvSpPr>
          <p:spPr>
            <a:xfrm>
              <a:off x="14970" y="9000"/>
              <a:ext cx="2310"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行动者之间的信任水平</a:t>
              </a:r>
              <a:endParaRPr lang="en-US" sz="980" dirty="0"/>
            </a:p>
          </p:txBody>
        </p:sp>
        <p:sp>
          <p:nvSpPr>
            <p:cNvPr id="101" name="Text 54"/>
            <p:cNvSpPr/>
            <p:nvPr/>
          </p:nvSpPr>
          <p:spPr>
            <a:xfrm>
              <a:off x="10116" y="10200"/>
              <a:ext cx="184" cy="363"/>
            </a:xfrm>
            <a:prstGeom prst="rect">
              <a:avLst/>
            </a:prstGeom>
            <a:noFill/>
          </p:spPr>
          <p:txBody>
            <a:bodyPr wrap="square" lIns="0" tIns="0" rIns="0" bIns="0" rtlCol="0" anchor="t">
              <a:spAutoFit/>
            </a:bodyPr>
            <a:p>
              <a:pPr marL="0" indent="0">
                <a:lnSpc>
                  <a:spcPts val="1800"/>
                </a:lnSpc>
                <a:buNone/>
              </a:pPr>
              <a:r>
                <a:rPr lang="en-US" sz="1120" b="1" dirty="0">
                  <a:solidFill>
                    <a:srgbClr val="9333EA"/>
                  </a:solidFill>
                  <a:latin typeface="ui-sans-serif" pitchFamily="34" charset="0"/>
                  <a:ea typeface="ui-sans-serif" pitchFamily="34" charset="-122"/>
                  <a:cs typeface="ui-sans-serif" pitchFamily="34" charset="-120"/>
                </a:rPr>
                <a:t>9</a:t>
              </a:r>
              <a:endParaRPr lang="en-US" sz="1120" dirty="0"/>
            </a:p>
          </p:txBody>
        </p:sp>
        <p:sp>
          <p:nvSpPr>
            <p:cNvPr id="102" name="Text 55"/>
            <p:cNvSpPr/>
            <p:nvPr/>
          </p:nvSpPr>
          <p:spPr>
            <a:xfrm>
              <a:off x="10560" y="10140"/>
              <a:ext cx="3465"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互惠 (Reciprocity)</a:t>
              </a:r>
              <a:endParaRPr lang="en-US" sz="1120" dirty="0"/>
            </a:p>
          </p:txBody>
        </p:sp>
        <p:sp>
          <p:nvSpPr>
            <p:cNvPr id="103" name="Text 56"/>
            <p:cNvSpPr/>
            <p:nvPr/>
          </p:nvSpPr>
          <p:spPr>
            <a:xfrm>
              <a:off x="10560" y="10500"/>
              <a:ext cx="3465" cy="302"/>
            </a:xfrm>
            <a:prstGeom prst="rect">
              <a:avLst/>
            </a:prstGeom>
            <a:noFill/>
          </p:spPr>
          <p:txBody>
            <a:bodyPr wrap="square" lIns="0" tIns="0" rIns="0" bIns="0" rtlCol="0" anchor="t">
              <a:spAutoFit/>
            </a:bodyPr>
            <a:p>
              <a:pPr marL="0" indent="0">
                <a:lnSpc>
                  <a:spcPts val="1500"/>
                </a:lnSpc>
                <a:buNone/>
              </a:pPr>
              <a:r>
                <a:rPr lang="en-US" sz="980" dirty="0">
                  <a:solidFill>
                    <a:srgbClr val="4B5563"/>
                  </a:solidFill>
                  <a:latin typeface="ui-sans-serif" pitchFamily="34" charset="0"/>
                  <a:ea typeface="ui-sans-serif" pitchFamily="34" charset="-122"/>
                  <a:cs typeface="ui-sans-serif" pitchFamily="34" charset="-120"/>
                </a:rPr>
                <a:t>行动者之间的互惠行为和合作模式</a:t>
              </a:r>
              <a:endParaRPr lang="en-US" sz="980"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互动</a:t>
            </a:r>
            <a:r>
              <a:rPr lang="zh-CN" altLang="en-US"/>
              <a:t>关系</a:t>
            </a:r>
            <a:endParaRPr lang="zh-CN" altLang="en-US"/>
          </a:p>
        </p:txBody>
      </p:sp>
      <p:grpSp>
        <p:nvGrpSpPr>
          <p:cNvPr id="40" name="组合 39"/>
          <p:cNvGrpSpPr/>
          <p:nvPr/>
        </p:nvGrpSpPr>
        <p:grpSpPr>
          <a:xfrm>
            <a:off x="312420" y="1924050"/>
            <a:ext cx="8465820" cy="4388485"/>
            <a:chOff x="720" y="2220"/>
            <a:chExt cx="8760" cy="5100"/>
          </a:xfrm>
        </p:grpSpPr>
        <p:pic>
          <p:nvPicPr>
            <p:cNvPr id="6" name="Image 4" descr="preencoded.png"/>
            <p:cNvPicPr>
              <a:picLocks noChangeAspect="1"/>
            </p:cNvPicPr>
            <p:nvPr/>
          </p:nvPicPr>
          <p:blipFill>
            <a:blip r:embed="rId1"/>
            <a:stretch>
              <a:fillRect/>
            </a:stretch>
          </p:blipFill>
          <p:spPr>
            <a:xfrm>
              <a:off x="720" y="2220"/>
              <a:ext cx="2840" cy="1620"/>
            </a:xfrm>
            <a:prstGeom prst="rect">
              <a:avLst/>
            </a:prstGeom>
          </p:spPr>
        </p:pic>
        <p:pic>
          <p:nvPicPr>
            <p:cNvPr id="7" name="Image 5" descr="preencoded.png"/>
            <p:cNvPicPr>
              <a:picLocks noChangeAspect="1"/>
            </p:cNvPicPr>
            <p:nvPr/>
          </p:nvPicPr>
          <p:blipFill>
            <a:blip r:embed="rId2"/>
            <a:stretch>
              <a:fillRect/>
            </a:stretch>
          </p:blipFill>
          <p:spPr>
            <a:xfrm>
              <a:off x="840" y="2340"/>
              <a:ext cx="360" cy="360"/>
            </a:xfrm>
            <a:prstGeom prst="rect">
              <a:avLst/>
            </a:prstGeom>
          </p:spPr>
        </p:pic>
        <p:pic>
          <p:nvPicPr>
            <p:cNvPr id="8" name="Image 6" descr="preencoded.png"/>
            <p:cNvPicPr>
              <a:picLocks noChangeAspect="1"/>
            </p:cNvPicPr>
            <p:nvPr/>
          </p:nvPicPr>
          <p:blipFill>
            <a:blip r:embed="rId3"/>
            <a:stretch>
              <a:fillRect/>
            </a:stretch>
          </p:blipFill>
          <p:spPr>
            <a:xfrm>
              <a:off x="3680" y="2220"/>
              <a:ext cx="2840" cy="1620"/>
            </a:xfrm>
            <a:prstGeom prst="rect">
              <a:avLst/>
            </a:prstGeom>
          </p:spPr>
        </p:pic>
        <p:pic>
          <p:nvPicPr>
            <p:cNvPr id="9" name="Image 7" descr="preencoded.png"/>
            <p:cNvPicPr>
              <a:picLocks noChangeAspect="1"/>
            </p:cNvPicPr>
            <p:nvPr/>
          </p:nvPicPr>
          <p:blipFill>
            <a:blip r:embed="rId4"/>
            <a:stretch>
              <a:fillRect/>
            </a:stretch>
          </p:blipFill>
          <p:spPr>
            <a:xfrm>
              <a:off x="3800" y="2340"/>
              <a:ext cx="360" cy="360"/>
            </a:xfrm>
            <a:prstGeom prst="rect">
              <a:avLst/>
            </a:prstGeom>
          </p:spPr>
        </p:pic>
        <p:pic>
          <p:nvPicPr>
            <p:cNvPr id="10" name="Image 8" descr="preencoded.png"/>
            <p:cNvPicPr>
              <a:picLocks noChangeAspect="1"/>
            </p:cNvPicPr>
            <p:nvPr/>
          </p:nvPicPr>
          <p:blipFill>
            <a:blip r:embed="rId5"/>
            <a:stretch>
              <a:fillRect/>
            </a:stretch>
          </p:blipFill>
          <p:spPr>
            <a:xfrm>
              <a:off x="6640" y="2220"/>
              <a:ext cx="2840" cy="1620"/>
            </a:xfrm>
            <a:prstGeom prst="rect">
              <a:avLst/>
            </a:prstGeom>
          </p:spPr>
        </p:pic>
        <p:pic>
          <p:nvPicPr>
            <p:cNvPr id="11" name="Image 9" descr="preencoded.png"/>
            <p:cNvPicPr>
              <a:picLocks noChangeAspect="1"/>
            </p:cNvPicPr>
            <p:nvPr/>
          </p:nvPicPr>
          <p:blipFill>
            <a:blip r:embed="rId6"/>
            <a:stretch>
              <a:fillRect/>
            </a:stretch>
          </p:blipFill>
          <p:spPr>
            <a:xfrm>
              <a:off x="6760" y="2340"/>
              <a:ext cx="360" cy="360"/>
            </a:xfrm>
            <a:prstGeom prst="rect">
              <a:avLst/>
            </a:prstGeom>
          </p:spPr>
        </p:pic>
        <p:pic>
          <p:nvPicPr>
            <p:cNvPr id="12" name="Image 10" descr="preencoded.png"/>
            <p:cNvPicPr>
              <a:picLocks noChangeAspect="1"/>
            </p:cNvPicPr>
            <p:nvPr/>
          </p:nvPicPr>
          <p:blipFill>
            <a:blip r:embed="rId7"/>
            <a:stretch>
              <a:fillRect/>
            </a:stretch>
          </p:blipFill>
          <p:spPr>
            <a:xfrm>
              <a:off x="720" y="3960"/>
              <a:ext cx="2840" cy="1620"/>
            </a:xfrm>
            <a:prstGeom prst="rect">
              <a:avLst/>
            </a:prstGeom>
          </p:spPr>
        </p:pic>
        <p:pic>
          <p:nvPicPr>
            <p:cNvPr id="13" name="Image 11" descr="preencoded.png"/>
            <p:cNvPicPr>
              <a:picLocks noChangeAspect="1"/>
            </p:cNvPicPr>
            <p:nvPr/>
          </p:nvPicPr>
          <p:blipFill>
            <a:blip r:embed="rId2"/>
            <a:stretch>
              <a:fillRect/>
            </a:stretch>
          </p:blipFill>
          <p:spPr>
            <a:xfrm>
              <a:off x="840" y="4080"/>
              <a:ext cx="360" cy="360"/>
            </a:xfrm>
            <a:prstGeom prst="rect">
              <a:avLst/>
            </a:prstGeom>
          </p:spPr>
        </p:pic>
        <p:pic>
          <p:nvPicPr>
            <p:cNvPr id="14" name="Image 12" descr="preencoded.png"/>
            <p:cNvPicPr>
              <a:picLocks noChangeAspect="1"/>
            </p:cNvPicPr>
            <p:nvPr/>
          </p:nvPicPr>
          <p:blipFill>
            <a:blip r:embed="rId8"/>
            <a:stretch>
              <a:fillRect/>
            </a:stretch>
          </p:blipFill>
          <p:spPr>
            <a:xfrm>
              <a:off x="3680" y="3960"/>
              <a:ext cx="2840" cy="1620"/>
            </a:xfrm>
            <a:prstGeom prst="rect">
              <a:avLst/>
            </a:prstGeom>
          </p:spPr>
        </p:pic>
        <p:pic>
          <p:nvPicPr>
            <p:cNvPr id="15" name="Image 13" descr="preencoded.png"/>
            <p:cNvPicPr>
              <a:picLocks noChangeAspect="1"/>
            </p:cNvPicPr>
            <p:nvPr/>
          </p:nvPicPr>
          <p:blipFill>
            <a:blip r:embed="rId4"/>
            <a:stretch>
              <a:fillRect/>
            </a:stretch>
          </p:blipFill>
          <p:spPr>
            <a:xfrm>
              <a:off x="3800" y="4080"/>
              <a:ext cx="360" cy="360"/>
            </a:xfrm>
            <a:prstGeom prst="rect">
              <a:avLst/>
            </a:prstGeom>
          </p:spPr>
        </p:pic>
        <p:pic>
          <p:nvPicPr>
            <p:cNvPr id="16" name="Image 14" descr="preencoded.png"/>
            <p:cNvPicPr>
              <a:picLocks noChangeAspect="1"/>
            </p:cNvPicPr>
            <p:nvPr/>
          </p:nvPicPr>
          <p:blipFill>
            <a:blip r:embed="rId9"/>
            <a:stretch>
              <a:fillRect/>
            </a:stretch>
          </p:blipFill>
          <p:spPr>
            <a:xfrm>
              <a:off x="6640" y="3960"/>
              <a:ext cx="2840" cy="1620"/>
            </a:xfrm>
            <a:prstGeom prst="rect">
              <a:avLst/>
            </a:prstGeom>
          </p:spPr>
        </p:pic>
        <p:pic>
          <p:nvPicPr>
            <p:cNvPr id="17" name="Image 15" descr="preencoded.png"/>
            <p:cNvPicPr>
              <a:picLocks noChangeAspect="1"/>
            </p:cNvPicPr>
            <p:nvPr/>
          </p:nvPicPr>
          <p:blipFill>
            <a:blip r:embed="rId6"/>
            <a:stretch>
              <a:fillRect/>
            </a:stretch>
          </p:blipFill>
          <p:spPr>
            <a:xfrm>
              <a:off x="6760" y="4080"/>
              <a:ext cx="360" cy="360"/>
            </a:xfrm>
            <a:prstGeom prst="rect">
              <a:avLst/>
            </a:prstGeom>
          </p:spPr>
        </p:pic>
        <p:pic>
          <p:nvPicPr>
            <p:cNvPr id="18" name="Image 16" descr="preencoded.png"/>
            <p:cNvPicPr>
              <a:picLocks noChangeAspect="1"/>
            </p:cNvPicPr>
            <p:nvPr/>
          </p:nvPicPr>
          <p:blipFill>
            <a:blip r:embed="rId1"/>
            <a:stretch>
              <a:fillRect/>
            </a:stretch>
          </p:blipFill>
          <p:spPr>
            <a:xfrm>
              <a:off x="720" y="5700"/>
              <a:ext cx="2840" cy="1620"/>
            </a:xfrm>
            <a:prstGeom prst="rect">
              <a:avLst/>
            </a:prstGeom>
          </p:spPr>
        </p:pic>
        <p:pic>
          <p:nvPicPr>
            <p:cNvPr id="19" name="Image 17" descr="preencoded.png"/>
            <p:cNvPicPr>
              <a:picLocks noChangeAspect="1"/>
            </p:cNvPicPr>
            <p:nvPr/>
          </p:nvPicPr>
          <p:blipFill>
            <a:blip r:embed="rId2"/>
            <a:stretch>
              <a:fillRect/>
            </a:stretch>
          </p:blipFill>
          <p:spPr>
            <a:xfrm>
              <a:off x="840" y="5820"/>
              <a:ext cx="360" cy="360"/>
            </a:xfrm>
            <a:prstGeom prst="rect">
              <a:avLst/>
            </a:prstGeom>
          </p:spPr>
        </p:pic>
        <p:pic>
          <p:nvPicPr>
            <p:cNvPr id="20" name="Image 18" descr="preencoded.png"/>
            <p:cNvPicPr>
              <a:picLocks noChangeAspect="1"/>
            </p:cNvPicPr>
            <p:nvPr/>
          </p:nvPicPr>
          <p:blipFill>
            <a:blip r:embed="rId3"/>
            <a:stretch>
              <a:fillRect/>
            </a:stretch>
          </p:blipFill>
          <p:spPr>
            <a:xfrm>
              <a:off x="3680" y="5700"/>
              <a:ext cx="2840" cy="1620"/>
            </a:xfrm>
            <a:prstGeom prst="rect">
              <a:avLst/>
            </a:prstGeom>
          </p:spPr>
        </p:pic>
        <p:pic>
          <p:nvPicPr>
            <p:cNvPr id="21" name="Image 19" descr="preencoded.png"/>
            <p:cNvPicPr>
              <a:picLocks noChangeAspect="1"/>
            </p:cNvPicPr>
            <p:nvPr/>
          </p:nvPicPr>
          <p:blipFill>
            <a:blip r:embed="rId4"/>
            <a:stretch>
              <a:fillRect/>
            </a:stretch>
          </p:blipFill>
          <p:spPr>
            <a:xfrm>
              <a:off x="3800" y="5820"/>
              <a:ext cx="360" cy="360"/>
            </a:xfrm>
            <a:prstGeom prst="rect">
              <a:avLst/>
            </a:prstGeom>
          </p:spPr>
        </p:pic>
        <p:pic>
          <p:nvPicPr>
            <p:cNvPr id="22" name="Image 20" descr="preencoded.png"/>
            <p:cNvPicPr>
              <a:picLocks noChangeAspect="1"/>
            </p:cNvPicPr>
            <p:nvPr/>
          </p:nvPicPr>
          <p:blipFill>
            <a:blip r:embed="rId5"/>
            <a:stretch>
              <a:fillRect/>
            </a:stretch>
          </p:blipFill>
          <p:spPr>
            <a:xfrm>
              <a:off x="6640" y="5700"/>
              <a:ext cx="2840" cy="1620"/>
            </a:xfrm>
            <a:prstGeom prst="rect">
              <a:avLst/>
            </a:prstGeom>
          </p:spPr>
        </p:pic>
        <p:pic>
          <p:nvPicPr>
            <p:cNvPr id="23" name="Image 21" descr="preencoded.png"/>
            <p:cNvPicPr>
              <a:picLocks noChangeAspect="1"/>
            </p:cNvPicPr>
            <p:nvPr/>
          </p:nvPicPr>
          <p:blipFill>
            <a:blip r:embed="rId6"/>
            <a:stretch>
              <a:fillRect/>
            </a:stretch>
          </p:blipFill>
          <p:spPr>
            <a:xfrm>
              <a:off x="6760" y="5820"/>
              <a:ext cx="360" cy="360"/>
            </a:xfrm>
            <a:prstGeom prst="rect">
              <a:avLst/>
            </a:prstGeom>
          </p:spPr>
        </p:pic>
        <p:sp>
          <p:nvSpPr>
            <p:cNvPr id="75" name="Text 2"/>
            <p:cNvSpPr/>
            <p:nvPr/>
          </p:nvSpPr>
          <p:spPr>
            <a:xfrm>
              <a:off x="957" y="240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1</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76" name="Text 3"/>
            <p:cNvSpPr/>
            <p:nvPr/>
          </p:nvSpPr>
          <p:spPr>
            <a:xfrm>
              <a:off x="1320" y="234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收获水平 (Harvesting levels)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77" name="Text 4"/>
            <p:cNvSpPr/>
            <p:nvPr/>
          </p:nvSpPr>
          <p:spPr>
            <a:xfrm>
              <a:off x="1320" y="3240"/>
              <a:ext cx="2120" cy="35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资源使用者从系统中提取资源的数量和方式</a:t>
              </a:r>
              <a:endParaRPr lang="en-US" sz="1200" dirty="0">
                <a:solidFill>
                  <a:srgbClr val="4B5563"/>
                </a:solidFill>
                <a:latin typeface="ui-sans-serif" pitchFamily="34" charset="0"/>
                <a:ea typeface="ui-sans-serif" pitchFamily="34" charset="-122"/>
                <a:cs typeface="ui-sans-serif" pitchFamily="34" charset="-120"/>
              </a:endParaRPr>
            </a:p>
          </p:txBody>
        </p:sp>
        <p:sp>
          <p:nvSpPr>
            <p:cNvPr id="78" name="Text 5"/>
            <p:cNvSpPr/>
            <p:nvPr/>
          </p:nvSpPr>
          <p:spPr>
            <a:xfrm>
              <a:off x="3917" y="240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2</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79" name="Text 6"/>
            <p:cNvSpPr/>
            <p:nvPr/>
          </p:nvSpPr>
          <p:spPr>
            <a:xfrm>
              <a:off x="4280" y="234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投入水平 (Investment levels)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80" name="Text 7"/>
            <p:cNvSpPr/>
            <p:nvPr/>
          </p:nvSpPr>
          <p:spPr>
            <a:xfrm>
              <a:off x="4280" y="3240"/>
              <a:ext cx="2120" cy="35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行动者对资源系统的投入，如时间、资金和技术</a:t>
              </a:r>
              <a:endParaRPr lang="en-US" sz="1200" dirty="0">
                <a:solidFill>
                  <a:srgbClr val="4B5563"/>
                </a:solidFill>
                <a:latin typeface="ui-sans-serif" pitchFamily="34" charset="0"/>
                <a:ea typeface="ui-sans-serif" pitchFamily="34" charset="-122"/>
                <a:cs typeface="ui-sans-serif" pitchFamily="34" charset="-120"/>
              </a:endParaRPr>
            </a:p>
          </p:txBody>
        </p:sp>
        <p:sp>
          <p:nvSpPr>
            <p:cNvPr id="81" name="Text 8"/>
            <p:cNvSpPr/>
            <p:nvPr/>
          </p:nvSpPr>
          <p:spPr>
            <a:xfrm>
              <a:off x="6877" y="240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3</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82" name="Text 9"/>
            <p:cNvSpPr/>
            <p:nvPr/>
          </p:nvSpPr>
          <p:spPr>
            <a:xfrm>
              <a:off x="7240" y="234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监测活动 (Monitoring activities)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83" name="Text 10"/>
            <p:cNvSpPr/>
            <p:nvPr/>
          </p:nvSpPr>
          <p:spPr>
            <a:xfrm>
              <a:off x="7240" y="3240"/>
              <a:ext cx="2120" cy="35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对资源状况和行动者行为的观察和记录</a:t>
              </a:r>
              <a:endParaRPr lang="en-US" sz="1200" dirty="0">
                <a:solidFill>
                  <a:srgbClr val="4B5563"/>
                </a:solidFill>
                <a:latin typeface="ui-sans-serif" pitchFamily="34" charset="0"/>
                <a:ea typeface="ui-sans-serif" pitchFamily="34" charset="-122"/>
                <a:cs typeface="ui-sans-serif" pitchFamily="34" charset="-120"/>
              </a:endParaRPr>
            </a:p>
          </p:txBody>
        </p:sp>
        <p:sp>
          <p:nvSpPr>
            <p:cNvPr id="84" name="Text 11"/>
            <p:cNvSpPr/>
            <p:nvPr/>
          </p:nvSpPr>
          <p:spPr>
            <a:xfrm>
              <a:off x="957" y="414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4</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85" name="Text 12"/>
            <p:cNvSpPr/>
            <p:nvPr/>
          </p:nvSpPr>
          <p:spPr>
            <a:xfrm>
              <a:off x="1320" y="408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执行活动 (Enforcement activities)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86" name="Text 13"/>
            <p:cNvSpPr/>
            <p:nvPr/>
          </p:nvSpPr>
          <p:spPr>
            <a:xfrm>
              <a:off x="1320" y="4980"/>
              <a:ext cx="2120" cy="35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确保规则遵守的措施，包括奖励和惩罚</a:t>
              </a:r>
              <a:endParaRPr lang="en-US" sz="1200" dirty="0">
                <a:solidFill>
                  <a:srgbClr val="4B5563"/>
                </a:solidFill>
                <a:latin typeface="ui-sans-serif" pitchFamily="34" charset="0"/>
                <a:ea typeface="ui-sans-serif" pitchFamily="34" charset="-122"/>
                <a:cs typeface="ui-sans-serif" pitchFamily="34" charset="-120"/>
              </a:endParaRPr>
            </a:p>
          </p:txBody>
        </p:sp>
        <p:sp>
          <p:nvSpPr>
            <p:cNvPr id="87" name="Text 14"/>
            <p:cNvSpPr/>
            <p:nvPr/>
          </p:nvSpPr>
          <p:spPr>
            <a:xfrm>
              <a:off x="3917" y="414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5</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88" name="Text 15"/>
            <p:cNvSpPr/>
            <p:nvPr/>
          </p:nvSpPr>
          <p:spPr>
            <a:xfrm>
              <a:off x="4280" y="408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冲突水平 (Conflict levels)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89" name="Text 16"/>
            <p:cNvSpPr/>
            <p:nvPr/>
          </p:nvSpPr>
          <p:spPr>
            <a:xfrm>
              <a:off x="4280" y="4680"/>
              <a:ext cx="2120" cy="179"/>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行动者之间的争议和冲突程度</a:t>
              </a:r>
              <a:endParaRPr lang="en-US" sz="1200" dirty="0">
                <a:solidFill>
                  <a:srgbClr val="4B5563"/>
                </a:solidFill>
                <a:latin typeface="ui-sans-serif" pitchFamily="34" charset="0"/>
                <a:ea typeface="ui-sans-serif" pitchFamily="34" charset="-122"/>
                <a:cs typeface="ui-sans-serif" pitchFamily="34" charset="-120"/>
              </a:endParaRPr>
            </a:p>
          </p:txBody>
        </p:sp>
        <p:sp>
          <p:nvSpPr>
            <p:cNvPr id="90" name="Text 17"/>
            <p:cNvSpPr/>
            <p:nvPr/>
          </p:nvSpPr>
          <p:spPr>
            <a:xfrm>
              <a:off x="6877" y="414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6</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91" name="Text 18"/>
            <p:cNvSpPr/>
            <p:nvPr/>
          </p:nvSpPr>
          <p:spPr>
            <a:xfrm>
              <a:off x="7240" y="408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信息共享 (Information sharing)</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92" name="Text 19"/>
            <p:cNvSpPr/>
            <p:nvPr/>
          </p:nvSpPr>
          <p:spPr>
            <a:xfrm>
              <a:off x="7240" y="4980"/>
              <a:ext cx="2120" cy="35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行动者之间交换资源和系统信息的方式</a:t>
              </a:r>
              <a:endParaRPr lang="en-US" sz="1200" dirty="0">
                <a:solidFill>
                  <a:srgbClr val="4B5563"/>
                </a:solidFill>
                <a:latin typeface="ui-sans-serif" pitchFamily="34" charset="0"/>
                <a:ea typeface="ui-sans-serif" pitchFamily="34" charset="-122"/>
                <a:cs typeface="ui-sans-serif" pitchFamily="34" charset="-120"/>
              </a:endParaRPr>
            </a:p>
          </p:txBody>
        </p:sp>
        <p:sp>
          <p:nvSpPr>
            <p:cNvPr id="93" name="Text 20"/>
            <p:cNvSpPr/>
            <p:nvPr/>
          </p:nvSpPr>
          <p:spPr>
            <a:xfrm>
              <a:off x="957" y="588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7</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94" name="Text 21"/>
            <p:cNvSpPr/>
            <p:nvPr/>
          </p:nvSpPr>
          <p:spPr>
            <a:xfrm>
              <a:off x="1320" y="582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协商过程 (Deliberation processes)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95" name="Text 22"/>
            <p:cNvSpPr/>
            <p:nvPr/>
          </p:nvSpPr>
          <p:spPr>
            <a:xfrm>
              <a:off x="1320" y="6720"/>
              <a:ext cx="2120" cy="179"/>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集体讨论和决策的机制和过程</a:t>
              </a:r>
              <a:endParaRPr lang="en-US" sz="1200" dirty="0">
                <a:solidFill>
                  <a:srgbClr val="4B5563"/>
                </a:solidFill>
                <a:latin typeface="ui-sans-serif" pitchFamily="34" charset="0"/>
                <a:ea typeface="ui-sans-serif" pitchFamily="34" charset="-122"/>
                <a:cs typeface="ui-sans-serif" pitchFamily="34" charset="-120"/>
              </a:endParaRPr>
            </a:p>
          </p:txBody>
        </p:sp>
        <p:sp>
          <p:nvSpPr>
            <p:cNvPr id="96" name="Text 23"/>
            <p:cNvSpPr/>
            <p:nvPr/>
          </p:nvSpPr>
          <p:spPr>
            <a:xfrm>
              <a:off x="3917" y="588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8</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97" name="Text 24"/>
            <p:cNvSpPr/>
            <p:nvPr/>
          </p:nvSpPr>
          <p:spPr>
            <a:xfrm>
              <a:off x="4280" y="582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学习过程 (Learning processes)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98" name="Text 25"/>
            <p:cNvSpPr/>
            <p:nvPr/>
          </p:nvSpPr>
          <p:spPr>
            <a:xfrm>
              <a:off x="4280" y="6420"/>
              <a:ext cx="2120" cy="179"/>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行动者获取和应用知识的方式</a:t>
              </a:r>
              <a:endParaRPr lang="en-US" sz="1200" dirty="0">
                <a:solidFill>
                  <a:srgbClr val="4B5563"/>
                </a:solidFill>
                <a:latin typeface="ui-sans-serif" pitchFamily="34" charset="0"/>
                <a:ea typeface="ui-sans-serif" pitchFamily="34" charset="-122"/>
                <a:cs typeface="ui-sans-serif" pitchFamily="34" charset="-120"/>
              </a:endParaRPr>
            </a:p>
          </p:txBody>
        </p:sp>
        <p:sp>
          <p:nvSpPr>
            <p:cNvPr id="99" name="Text 26"/>
            <p:cNvSpPr/>
            <p:nvPr/>
          </p:nvSpPr>
          <p:spPr>
            <a:xfrm>
              <a:off x="6877" y="588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2563EB"/>
                  </a:solidFill>
                  <a:latin typeface="ui-sans-serif" pitchFamily="34" charset="0"/>
                  <a:ea typeface="ui-sans-serif" pitchFamily="34" charset="-122"/>
                  <a:cs typeface="ui-sans-serif" pitchFamily="34" charset="-120"/>
                </a:rPr>
                <a:t>9</a:t>
              </a:r>
              <a:endParaRPr lang="en-US" sz="1200" b="1" dirty="0">
                <a:solidFill>
                  <a:srgbClr val="2563EB"/>
                </a:solidFill>
                <a:latin typeface="ui-sans-serif" pitchFamily="34" charset="0"/>
                <a:ea typeface="ui-sans-serif" pitchFamily="34" charset="-122"/>
                <a:cs typeface="ui-sans-serif" pitchFamily="34" charset="-120"/>
              </a:endParaRPr>
            </a:p>
          </p:txBody>
        </p:sp>
        <p:sp>
          <p:nvSpPr>
            <p:cNvPr id="100" name="Text 27"/>
            <p:cNvSpPr/>
            <p:nvPr/>
          </p:nvSpPr>
          <p:spPr>
            <a:xfrm>
              <a:off x="7240" y="5820"/>
              <a:ext cx="2120" cy="446"/>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适应过程 (Adaptation processes)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01" name="Text 28"/>
            <p:cNvSpPr/>
            <p:nvPr/>
          </p:nvSpPr>
          <p:spPr>
            <a:xfrm>
              <a:off x="7240" y="6720"/>
              <a:ext cx="2120" cy="179"/>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系统对变化的响应和调整机制</a:t>
              </a:r>
              <a:endParaRPr lang="en-US" sz="1200" dirty="0">
                <a:solidFill>
                  <a:srgbClr val="4B5563"/>
                </a:solidFill>
                <a:latin typeface="ui-sans-serif" pitchFamily="34" charset="0"/>
                <a:ea typeface="ui-sans-serif" pitchFamily="34" charset="-122"/>
                <a:cs typeface="ui-sans-serif" pitchFamily="34" charset="-12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结果</a:t>
            </a:r>
            <a:endParaRPr lang="zh-CN" altLang="en-US"/>
          </a:p>
        </p:txBody>
      </p:sp>
      <p:grpSp>
        <p:nvGrpSpPr>
          <p:cNvPr id="41" name="组合 40"/>
          <p:cNvGrpSpPr/>
          <p:nvPr/>
        </p:nvGrpSpPr>
        <p:grpSpPr>
          <a:xfrm>
            <a:off x="457200" y="2171700"/>
            <a:ext cx="8229600" cy="3923665"/>
            <a:chOff x="9720" y="2220"/>
            <a:chExt cx="8760" cy="4260"/>
          </a:xfrm>
        </p:grpSpPr>
        <p:pic>
          <p:nvPicPr>
            <p:cNvPr id="26" name="Image 24" descr="preencoded.png"/>
            <p:cNvPicPr>
              <a:picLocks noChangeAspect="1"/>
            </p:cNvPicPr>
            <p:nvPr/>
          </p:nvPicPr>
          <p:blipFill>
            <a:blip r:embed="rId1"/>
            <a:stretch>
              <a:fillRect/>
            </a:stretch>
          </p:blipFill>
          <p:spPr>
            <a:xfrm>
              <a:off x="9720" y="2220"/>
              <a:ext cx="2840" cy="1620"/>
            </a:xfrm>
            <a:prstGeom prst="rect">
              <a:avLst/>
            </a:prstGeom>
          </p:spPr>
        </p:pic>
        <p:pic>
          <p:nvPicPr>
            <p:cNvPr id="27" name="Image 25" descr="preencoded.png"/>
            <p:cNvPicPr>
              <a:picLocks noChangeAspect="1"/>
            </p:cNvPicPr>
            <p:nvPr/>
          </p:nvPicPr>
          <p:blipFill>
            <a:blip r:embed="rId2"/>
            <a:stretch>
              <a:fillRect/>
            </a:stretch>
          </p:blipFill>
          <p:spPr>
            <a:xfrm>
              <a:off x="9840" y="2340"/>
              <a:ext cx="360" cy="360"/>
            </a:xfrm>
            <a:prstGeom prst="rect">
              <a:avLst/>
            </a:prstGeom>
          </p:spPr>
        </p:pic>
        <p:pic>
          <p:nvPicPr>
            <p:cNvPr id="28" name="Image 26" descr="preencoded.png"/>
            <p:cNvPicPr>
              <a:picLocks noChangeAspect="1"/>
            </p:cNvPicPr>
            <p:nvPr/>
          </p:nvPicPr>
          <p:blipFill>
            <a:blip r:embed="rId3"/>
            <a:stretch>
              <a:fillRect/>
            </a:stretch>
          </p:blipFill>
          <p:spPr>
            <a:xfrm>
              <a:off x="12680" y="2220"/>
              <a:ext cx="2840" cy="1620"/>
            </a:xfrm>
            <a:prstGeom prst="rect">
              <a:avLst/>
            </a:prstGeom>
          </p:spPr>
        </p:pic>
        <p:pic>
          <p:nvPicPr>
            <p:cNvPr id="29" name="Image 27" descr="preencoded.png"/>
            <p:cNvPicPr>
              <a:picLocks noChangeAspect="1"/>
            </p:cNvPicPr>
            <p:nvPr/>
          </p:nvPicPr>
          <p:blipFill>
            <a:blip r:embed="rId4"/>
            <a:stretch>
              <a:fillRect/>
            </a:stretch>
          </p:blipFill>
          <p:spPr>
            <a:xfrm>
              <a:off x="12800" y="2340"/>
              <a:ext cx="360" cy="360"/>
            </a:xfrm>
            <a:prstGeom prst="rect">
              <a:avLst/>
            </a:prstGeom>
          </p:spPr>
        </p:pic>
        <p:pic>
          <p:nvPicPr>
            <p:cNvPr id="30" name="Image 28" descr="preencoded.png"/>
            <p:cNvPicPr>
              <a:picLocks noChangeAspect="1"/>
            </p:cNvPicPr>
            <p:nvPr/>
          </p:nvPicPr>
          <p:blipFill>
            <a:blip r:embed="rId5"/>
            <a:stretch>
              <a:fillRect/>
            </a:stretch>
          </p:blipFill>
          <p:spPr>
            <a:xfrm>
              <a:off x="15640" y="2220"/>
              <a:ext cx="2840" cy="1620"/>
            </a:xfrm>
            <a:prstGeom prst="rect">
              <a:avLst/>
            </a:prstGeom>
          </p:spPr>
        </p:pic>
        <p:pic>
          <p:nvPicPr>
            <p:cNvPr id="31" name="Image 29" descr="preencoded.png"/>
            <p:cNvPicPr>
              <a:picLocks noChangeAspect="1"/>
            </p:cNvPicPr>
            <p:nvPr/>
          </p:nvPicPr>
          <p:blipFill>
            <a:blip r:embed="rId6"/>
            <a:stretch>
              <a:fillRect/>
            </a:stretch>
          </p:blipFill>
          <p:spPr>
            <a:xfrm>
              <a:off x="15760" y="2340"/>
              <a:ext cx="360" cy="360"/>
            </a:xfrm>
            <a:prstGeom prst="rect">
              <a:avLst/>
            </a:prstGeom>
          </p:spPr>
        </p:pic>
        <p:pic>
          <p:nvPicPr>
            <p:cNvPr id="32" name="Image 30" descr="preencoded.png"/>
            <p:cNvPicPr>
              <a:picLocks noChangeAspect="1"/>
            </p:cNvPicPr>
            <p:nvPr/>
          </p:nvPicPr>
          <p:blipFill>
            <a:blip r:embed="rId7"/>
            <a:stretch>
              <a:fillRect/>
            </a:stretch>
          </p:blipFill>
          <p:spPr>
            <a:xfrm>
              <a:off x="9720" y="3960"/>
              <a:ext cx="2840" cy="1620"/>
            </a:xfrm>
            <a:prstGeom prst="rect">
              <a:avLst/>
            </a:prstGeom>
          </p:spPr>
        </p:pic>
        <p:pic>
          <p:nvPicPr>
            <p:cNvPr id="33" name="Image 31" descr="preencoded.png"/>
            <p:cNvPicPr>
              <a:picLocks noChangeAspect="1"/>
            </p:cNvPicPr>
            <p:nvPr/>
          </p:nvPicPr>
          <p:blipFill>
            <a:blip r:embed="rId2"/>
            <a:stretch>
              <a:fillRect/>
            </a:stretch>
          </p:blipFill>
          <p:spPr>
            <a:xfrm>
              <a:off x="9840" y="4080"/>
              <a:ext cx="360" cy="360"/>
            </a:xfrm>
            <a:prstGeom prst="rect">
              <a:avLst/>
            </a:prstGeom>
          </p:spPr>
        </p:pic>
        <p:pic>
          <p:nvPicPr>
            <p:cNvPr id="34" name="Image 32" descr="preencoded.png"/>
            <p:cNvPicPr>
              <a:picLocks noChangeAspect="1"/>
            </p:cNvPicPr>
            <p:nvPr/>
          </p:nvPicPr>
          <p:blipFill>
            <a:blip r:embed="rId8"/>
            <a:stretch>
              <a:fillRect/>
            </a:stretch>
          </p:blipFill>
          <p:spPr>
            <a:xfrm>
              <a:off x="12680" y="3960"/>
              <a:ext cx="2840" cy="1620"/>
            </a:xfrm>
            <a:prstGeom prst="rect">
              <a:avLst/>
            </a:prstGeom>
          </p:spPr>
        </p:pic>
        <p:pic>
          <p:nvPicPr>
            <p:cNvPr id="35" name="Image 33" descr="preencoded.png"/>
            <p:cNvPicPr>
              <a:picLocks noChangeAspect="1"/>
            </p:cNvPicPr>
            <p:nvPr/>
          </p:nvPicPr>
          <p:blipFill>
            <a:blip r:embed="rId4"/>
            <a:stretch>
              <a:fillRect/>
            </a:stretch>
          </p:blipFill>
          <p:spPr>
            <a:xfrm>
              <a:off x="12800" y="4080"/>
              <a:ext cx="360" cy="360"/>
            </a:xfrm>
            <a:prstGeom prst="rect">
              <a:avLst/>
            </a:prstGeom>
          </p:spPr>
        </p:pic>
        <p:pic>
          <p:nvPicPr>
            <p:cNvPr id="36" name="Image 34" descr="preencoded.png"/>
            <p:cNvPicPr>
              <a:picLocks noChangeAspect="1"/>
            </p:cNvPicPr>
            <p:nvPr/>
          </p:nvPicPr>
          <p:blipFill>
            <a:blip r:embed="rId9"/>
            <a:stretch>
              <a:fillRect/>
            </a:stretch>
          </p:blipFill>
          <p:spPr>
            <a:xfrm>
              <a:off x="15640" y="3960"/>
              <a:ext cx="2840" cy="1620"/>
            </a:xfrm>
            <a:prstGeom prst="rect">
              <a:avLst/>
            </a:prstGeom>
          </p:spPr>
        </p:pic>
        <p:pic>
          <p:nvPicPr>
            <p:cNvPr id="37" name="Image 35" descr="preencoded.png"/>
            <p:cNvPicPr>
              <a:picLocks noChangeAspect="1"/>
            </p:cNvPicPr>
            <p:nvPr/>
          </p:nvPicPr>
          <p:blipFill>
            <a:blip r:embed="rId6"/>
            <a:stretch>
              <a:fillRect/>
            </a:stretch>
          </p:blipFill>
          <p:spPr>
            <a:xfrm>
              <a:off x="15760" y="4080"/>
              <a:ext cx="360" cy="360"/>
            </a:xfrm>
            <a:prstGeom prst="rect">
              <a:avLst/>
            </a:prstGeom>
          </p:spPr>
        </p:pic>
        <p:pic>
          <p:nvPicPr>
            <p:cNvPr id="38" name="Image 36" descr="preencoded.png"/>
            <p:cNvPicPr>
              <a:picLocks noChangeAspect="1"/>
            </p:cNvPicPr>
            <p:nvPr/>
          </p:nvPicPr>
          <p:blipFill>
            <a:blip r:embed="rId10"/>
            <a:stretch>
              <a:fillRect/>
            </a:stretch>
          </p:blipFill>
          <p:spPr>
            <a:xfrm>
              <a:off x="9720" y="5700"/>
              <a:ext cx="8760" cy="780"/>
            </a:xfrm>
            <a:prstGeom prst="rect">
              <a:avLst/>
            </a:prstGeom>
          </p:spPr>
        </p:pic>
        <p:pic>
          <p:nvPicPr>
            <p:cNvPr id="39" name="Image 37" descr="preencoded.png"/>
            <p:cNvPicPr>
              <a:picLocks noChangeAspect="1"/>
            </p:cNvPicPr>
            <p:nvPr/>
          </p:nvPicPr>
          <p:blipFill>
            <a:blip r:embed="rId2"/>
            <a:stretch>
              <a:fillRect/>
            </a:stretch>
          </p:blipFill>
          <p:spPr>
            <a:xfrm>
              <a:off x="9840" y="5820"/>
              <a:ext cx="360" cy="360"/>
            </a:xfrm>
            <a:prstGeom prst="rect">
              <a:avLst/>
            </a:prstGeom>
          </p:spPr>
        </p:pic>
        <p:sp>
          <p:nvSpPr>
            <p:cNvPr id="103" name="Text 30"/>
            <p:cNvSpPr/>
            <p:nvPr/>
          </p:nvSpPr>
          <p:spPr>
            <a:xfrm>
              <a:off x="9957" y="2400"/>
              <a:ext cx="138" cy="167"/>
            </a:xfrm>
            <a:prstGeom prst="rect">
              <a:avLst/>
            </a:prstGeom>
            <a:noFill/>
          </p:spPr>
          <p:txBody>
            <a:bodyPr wrap="square" lIns="0" tIns="0" rIns="0" bIns="0" rtlCol="0" anchor="t">
              <a:spAutoFit/>
            </a:bodyPr>
            <a:p>
              <a:pPr marL="0" indent="0">
                <a:lnSpc>
                  <a:spcPts val="1200"/>
                </a:lnSpc>
                <a:buNone/>
              </a:pPr>
              <a:r>
                <a:rPr lang="en-US" sz="1200" b="1" dirty="0">
                  <a:solidFill>
                    <a:srgbClr val="16A34A"/>
                  </a:solidFill>
                  <a:latin typeface="ui-sans-serif" pitchFamily="34" charset="0"/>
                  <a:ea typeface="ui-sans-serif" pitchFamily="34" charset="-122"/>
                  <a:cs typeface="ui-sans-serif" pitchFamily="34" charset="-120"/>
                </a:rPr>
                <a:t>1</a:t>
              </a:r>
              <a:endParaRPr lang="en-US" sz="1200" b="1" dirty="0">
                <a:solidFill>
                  <a:srgbClr val="16A34A"/>
                </a:solidFill>
                <a:latin typeface="ui-sans-serif" pitchFamily="34" charset="0"/>
                <a:ea typeface="ui-sans-serif" pitchFamily="34" charset="-122"/>
                <a:cs typeface="ui-sans-serif" pitchFamily="34" charset="-120"/>
              </a:endParaRPr>
            </a:p>
          </p:txBody>
        </p:sp>
        <p:sp>
          <p:nvSpPr>
            <p:cNvPr id="104" name="Text 31"/>
            <p:cNvSpPr/>
            <p:nvPr/>
          </p:nvSpPr>
          <p:spPr>
            <a:xfrm>
              <a:off x="10320" y="2340"/>
              <a:ext cx="2120" cy="417"/>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社会绩效 (Social performance)</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05" name="Text 32"/>
            <p:cNvSpPr/>
            <p:nvPr/>
          </p:nvSpPr>
          <p:spPr>
            <a:xfrm>
              <a:off x="10320" y="2940"/>
              <a:ext cx="2120" cy="334"/>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系统对社会福祉、公平和社区发展的影响</a:t>
              </a:r>
              <a:endParaRPr lang="en-US" sz="1200" dirty="0">
                <a:solidFill>
                  <a:srgbClr val="4B5563"/>
                </a:solidFill>
                <a:latin typeface="ui-sans-serif" pitchFamily="34" charset="0"/>
                <a:ea typeface="ui-sans-serif" pitchFamily="34" charset="-122"/>
                <a:cs typeface="ui-sans-serif" pitchFamily="34" charset="-120"/>
              </a:endParaRPr>
            </a:p>
          </p:txBody>
        </p:sp>
        <p:sp>
          <p:nvSpPr>
            <p:cNvPr id="106" name="Text 33"/>
            <p:cNvSpPr/>
            <p:nvPr/>
          </p:nvSpPr>
          <p:spPr>
            <a:xfrm>
              <a:off x="12917" y="2400"/>
              <a:ext cx="138" cy="167"/>
            </a:xfrm>
            <a:prstGeom prst="rect">
              <a:avLst/>
            </a:prstGeom>
            <a:noFill/>
          </p:spPr>
          <p:txBody>
            <a:bodyPr wrap="square" lIns="0" tIns="0" rIns="0" bIns="0" rtlCol="0" anchor="t">
              <a:spAutoFit/>
            </a:bodyPr>
            <a:p>
              <a:pPr marL="0" indent="0">
                <a:lnSpc>
                  <a:spcPts val="1200"/>
                </a:lnSpc>
                <a:buNone/>
              </a:pPr>
              <a:r>
                <a:rPr lang="en-US" sz="1200" b="1" dirty="0">
                  <a:solidFill>
                    <a:srgbClr val="16A34A"/>
                  </a:solidFill>
                  <a:latin typeface="ui-sans-serif" pitchFamily="34" charset="0"/>
                  <a:ea typeface="ui-sans-serif" pitchFamily="34" charset="-122"/>
                  <a:cs typeface="ui-sans-serif" pitchFamily="34" charset="-120"/>
                </a:rPr>
                <a:t>2</a:t>
              </a:r>
              <a:endParaRPr lang="en-US" sz="1200" b="1" dirty="0">
                <a:solidFill>
                  <a:srgbClr val="16A34A"/>
                </a:solidFill>
                <a:latin typeface="ui-sans-serif" pitchFamily="34" charset="0"/>
                <a:ea typeface="ui-sans-serif" pitchFamily="34" charset="-122"/>
                <a:cs typeface="ui-sans-serif" pitchFamily="34" charset="-120"/>
              </a:endParaRPr>
            </a:p>
          </p:txBody>
        </p:sp>
        <p:sp>
          <p:nvSpPr>
            <p:cNvPr id="107" name="Text 34"/>
            <p:cNvSpPr/>
            <p:nvPr/>
          </p:nvSpPr>
          <p:spPr>
            <a:xfrm>
              <a:off x="13280" y="2340"/>
              <a:ext cx="2120" cy="417"/>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生态绩效 (Ecological performance)</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08" name="Text 35"/>
            <p:cNvSpPr/>
            <p:nvPr/>
          </p:nvSpPr>
          <p:spPr>
            <a:xfrm>
              <a:off x="13280" y="3240"/>
              <a:ext cx="2120" cy="334"/>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系统对生态健康和生物多样性的影响</a:t>
              </a:r>
              <a:endParaRPr lang="en-US" sz="1200" dirty="0">
                <a:solidFill>
                  <a:srgbClr val="4B5563"/>
                </a:solidFill>
                <a:latin typeface="ui-sans-serif" pitchFamily="34" charset="0"/>
                <a:ea typeface="ui-sans-serif" pitchFamily="34" charset="-122"/>
                <a:cs typeface="ui-sans-serif" pitchFamily="34" charset="-120"/>
              </a:endParaRPr>
            </a:p>
          </p:txBody>
        </p:sp>
        <p:sp>
          <p:nvSpPr>
            <p:cNvPr id="109" name="Text 36"/>
            <p:cNvSpPr/>
            <p:nvPr/>
          </p:nvSpPr>
          <p:spPr>
            <a:xfrm>
              <a:off x="15877" y="2400"/>
              <a:ext cx="138" cy="167"/>
            </a:xfrm>
            <a:prstGeom prst="rect">
              <a:avLst/>
            </a:prstGeom>
            <a:noFill/>
          </p:spPr>
          <p:txBody>
            <a:bodyPr wrap="square" lIns="0" tIns="0" rIns="0" bIns="0" rtlCol="0" anchor="t">
              <a:spAutoFit/>
            </a:bodyPr>
            <a:p>
              <a:pPr marL="0" indent="0">
                <a:lnSpc>
                  <a:spcPts val="1200"/>
                </a:lnSpc>
                <a:buNone/>
              </a:pPr>
              <a:r>
                <a:rPr lang="en-US" sz="1200" b="1" dirty="0">
                  <a:solidFill>
                    <a:srgbClr val="16A34A"/>
                  </a:solidFill>
                  <a:latin typeface="ui-sans-serif" pitchFamily="34" charset="0"/>
                  <a:ea typeface="ui-sans-serif" pitchFamily="34" charset="-122"/>
                  <a:cs typeface="ui-sans-serif" pitchFamily="34" charset="-120"/>
                </a:rPr>
                <a:t>3</a:t>
              </a:r>
              <a:endParaRPr lang="en-US" sz="1200" b="1" dirty="0">
                <a:solidFill>
                  <a:srgbClr val="16A34A"/>
                </a:solidFill>
                <a:latin typeface="ui-sans-serif" pitchFamily="34" charset="0"/>
                <a:ea typeface="ui-sans-serif" pitchFamily="34" charset="-122"/>
                <a:cs typeface="ui-sans-serif" pitchFamily="34" charset="-120"/>
              </a:endParaRPr>
            </a:p>
          </p:txBody>
        </p:sp>
        <p:sp>
          <p:nvSpPr>
            <p:cNvPr id="110" name="Text 37"/>
            <p:cNvSpPr/>
            <p:nvPr/>
          </p:nvSpPr>
          <p:spPr>
            <a:xfrm>
              <a:off x="16240" y="2340"/>
              <a:ext cx="2120" cy="417"/>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经济绩效 (Economic performance)</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11" name="Text 38"/>
            <p:cNvSpPr/>
            <p:nvPr/>
          </p:nvSpPr>
          <p:spPr>
            <a:xfrm>
              <a:off x="16240" y="3240"/>
              <a:ext cx="2120" cy="334"/>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系统的经济效益和资源利用效率</a:t>
              </a:r>
              <a:endParaRPr lang="en-US" sz="1200" dirty="0">
                <a:solidFill>
                  <a:srgbClr val="4B5563"/>
                </a:solidFill>
                <a:latin typeface="ui-sans-serif" pitchFamily="34" charset="0"/>
                <a:ea typeface="ui-sans-serif" pitchFamily="34" charset="-122"/>
                <a:cs typeface="ui-sans-serif" pitchFamily="34" charset="-120"/>
              </a:endParaRPr>
            </a:p>
          </p:txBody>
        </p:sp>
        <p:sp>
          <p:nvSpPr>
            <p:cNvPr id="112" name="Text 39"/>
            <p:cNvSpPr/>
            <p:nvPr/>
          </p:nvSpPr>
          <p:spPr>
            <a:xfrm>
              <a:off x="9957" y="4140"/>
              <a:ext cx="138" cy="167"/>
            </a:xfrm>
            <a:prstGeom prst="rect">
              <a:avLst/>
            </a:prstGeom>
            <a:noFill/>
          </p:spPr>
          <p:txBody>
            <a:bodyPr wrap="square" lIns="0" tIns="0" rIns="0" bIns="0" rtlCol="0" anchor="t">
              <a:spAutoFit/>
            </a:bodyPr>
            <a:p>
              <a:pPr marL="0" indent="0">
                <a:lnSpc>
                  <a:spcPts val="1200"/>
                </a:lnSpc>
                <a:buNone/>
              </a:pPr>
              <a:r>
                <a:rPr lang="en-US" sz="1200" b="1" dirty="0">
                  <a:solidFill>
                    <a:srgbClr val="16A34A"/>
                  </a:solidFill>
                  <a:latin typeface="ui-sans-serif" pitchFamily="34" charset="0"/>
                  <a:ea typeface="ui-sans-serif" pitchFamily="34" charset="-122"/>
                  <a:cs typeface="ui-sans-serif" pitchFamily="34" charset="-120"/>
                </a:rPr>
                <a:t>4</a:t>
              </a:r>
              <a:endParaRPr lang="en-US" sz="1200" b="1" dirty="0">
                <a:solidFill>
                  <a:srgbClr val="16A34A"/>
                </a:solidFill>
                <a:latin typeface="ui-sans-serif" pitchFamily="34" charset="0"/>
                <a:ea typeface="ui-sans-serif" pitchFamily="34" charset="-122"/>
                <a:cs typeface="ui-sans-serif" pitchFamily="34" charset="-120"/>
              </a:endParaRPr>
            </a:p>
          </p:txBody>
        </p:sp>
        <p:sp>
          <p:nvSpPr>
            <p:cNvPr id="113" name="Text 40"/>
            <p:cNvSpPr/>
            <p:nvPr/>
          </p:nvSpPr>
          <p:spPr>
            <a:xfrm>
              <a:off x="10320" y="4080"/>
              <a:ext cx="2120" cy="417"/>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制度绩效 (Institutional performance)</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14" name="Text 41"/>
            <p:cNvSpPr/>
            <p:nvPr/>
          </p:nvSpPr>
          <p:spPr>
            <a:xfrm>
              <a:off x="10320" y="4980"/>
              <a:ext cx="2120" cy="16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治理系统的有效性和适应性</a:t>
              </a:r>
              <a:endParaRPr lang="en-US" sz="1200" dirty="0">
                <a:solidFill>
                  <a:srgbClr val="4B5563"/>
                </a:solidFill>
                <a:latin typeface="ui-sans-serif" pitchFamily="34" charset="0"/>
                <a:ea typeface="ui-sans-serif" pitchFamily="34" charset="-122"/>
                <a:cs typeface="ui-sans-serif" pitchFamily="34" charset="-120"/>
              </a:endParaRPr>
            </a:p>
          </p:txBody>
        </p:sp>
        <p:sp>
          <p:nvSpPr>
            <p:cNvPr id="115" name="Text 42"/>
            <p:cNvSpPr/>
            <p:nvPr/>
          </p:nvSpPr>
          <p:spPr>
            <a:xfrm>
              <a:off x="12917" y="4140"/>
              <a:ext cx="138" cy="167"/>
            </a:xfrm>
            <a:prstGeom prst="rect">
              <a:avLst/>
            </a:prstGeom>
            <a:noFill/>
          </p:spPr>
          <p:txBody>
            <a:bodyPr wrap="square" lIns="0" tIns="0" rIns="0" bIns="0" rtlCol="0" anchor="t">
              <a:spAutoFit/>
            </a:bodyPr>
            <a:p>
              <a:pPr marL="0" indent="0">
                <a:lnSpc>
                  <a:spcPts val="1200"/>
                </a:lnSpc>
                <a:buNone/>
              </a:pPr>
              <a:r>
                <a:rPr lang="en-US" sz="1200" b="1" dirty="0">
                  <a:solidFill>
                    <a:srgbClr val="16A34A"/>
                  </a:solidFill>
                  <a:latin typeface="ui-sans-serif" pitchFamily="34" charset="0"/>
                  <a:ea typeface="ui-sans-serif" pitchFamily="34" charset="-122"/>
                  <a:cs typeface="ui-sans-serif" pitchFamily="34" charset="-120"/>
                </a:rPr>
                <a:t>5</a:t>
              </a:r>
              <a:endParaRPr lang="en-US" sz="1200" b="1" dirty="0">
                <a:solidFill>
                  <a:srgbClr val="16A34A"/>
                </a:solidFill>
                <a:latin typeface="ui-sans-serif" pitchFamily="34" charset="0"/>
                <a:ea typeface="ui-sans-serif" pitchFamily="34" charset="-122"/>
                <a:cs typeface="ui-sans-serif" pitchFamily="34" charset="-120"/>
              </a:endParaRPr>
            </a:p>
          </p:txBody>
        </p:sp>
        <p:sp>
          <p:nvSpPr>
            <p:cNvPr id="116" name="Text 43"/>
            <p:cNvSpPr/>
            <p:nvPr/>
          </p:nvSpPr>
          <p:spPr>
            <a:xfrm>
              <a:off x="13280" y="4080"/>
              <a:ext cx="2332" cy="20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韧性 (Resilience)</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17" name="Text 44"/>
            <p:cNvSpPr/>
            <p:nvPr/>
          </p:nvSpPr>
          <p:spPr>
            <a:xfrm>
              <a:off x="13280" y="4380"/>
              <a:ext cx="2120" cy="16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系统应对扰动和压力的能力</a:t>
              </a:r>
              <a:endParaRPr lang="en-US" sz="1200" dirty="0">
                <a:solidFill>
                  <a:srgbClr val="4B5563"/>
                </a:solidFill>
                <a:latin typeface="ui-sans-serif" pitchFamily="34" charset="0"/>
                <a:ea typeface="ui-sans-serif" pitchFamily="34" charset="-122"/>
                <a:cs typeface="ui-sans-serif" pitchFamily="34" charset="-120"/>
              </a:endParaRPr>
            </a:p>
          </p:txBody>
        </p:sp>
        <p:sp>
          <p:nvSpPr>
            <p:cNvPr id="118" name="Text 45"/>
            <p:cNvSpPr/>
            <p:nvPr/>
          </p:nvSpPr>
          <p:spPr>
            <a:xfrm>
              <a:off x="15877" y="4140"/>
              <a:ext cx="138" cy="167"/>
            </a:xfrm>
            <a:prstGeom prst="rect">
              <a:avLst/>
            </a:prstGeom>
            <a:noFill/>
          </p:spPr>
          <p:txBody>
            <a:bodyPr wrap="square" lIns="0" tIns="0" rIns="0" bIns="0" rtlCol="0" anchor="t">
              <a:spAutoFit/>
            </a:bodyPr>
            <a:p>
              <a:pPr marL="0" indent="0">
                <a:lnSpc>
                  <a:spcPts val="1200"/>
                </a:lnSpc>
                <a:buNone/>
              </a:pPr>
              <a:r>
                <a:rPr lang="en-US" sz="1200" b="1" dirty="0">
                  <a:solidFill>
                    <a:srgbClr val="16A34A"/>
                  </a:solidFill>
                  <a:latin typeface="ui-sans-serif" pitchFamily="34" charset="0"/>
                  <a:ea typeface="ui-sans-serif" pitchFamily="34" charset="-122"/>
                  <a:cs typeface="ui-sans-serif" pitchFamily="34" charset="-120"/>
                </a:rPr>
                <a:t>6</a:t>
              </a:r>
              <a:endParaRPr lang="en-US" sz="1200" b="1" dirty="0">
                <a:solidFill>
                  <a:srgbClr val="16A34A"/>
                </a:solidFill>
                <a:latin typeface="ui-sans-serif" pitchFamily="34" charset="0"/>
                <a:ea typeface="ui-sans-serif" pitchFamily="34" charset="-122"/>
                <a:cs typeface="ui-sans-serif" pitchFamily="34" charset="-120"/>
              </a:endParaRPr>
            </a:p>
          </p:txBody>
        </p:sp>
        <p:sp>
          <p:nvSpPr>
            <p:cNvPr id="119" name="Text 46"/>
            <p:cNvSpPr/>
            <p:nvPr/>
          </p:nvSpPr>
          <p:spPr>
            <a:xfrm>
              <a:off x="16240" y="4080"/>
              <a:ext cx="2120" cy="20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适应性 (Adaptability)</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20" name="Text 47"/>
            <p:cNvSpPr/>
            <p:nvPr/>
          </p:nvSpPr>
          <p:spPr>
            <a:xfrm>
              <a:off x="16240" y="4680"/>
              <a:ext cx="2120" cy="334"/>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系统调整和改变以适应新条件的能力</a:t>
              </a:r>
              <a:endParaRPr lang="en-US" sz="1200" dirty="0">
                <a:solidFill>
                  <a:srgbClr val="4B5563"/>
                </a:solidFill>
                <a:latin typeface="ui-sans-serif" pitchFamily="34" charset="0"/>
                <a:ea typeface="ui-sans-serif" pitchFamily="34" charset="-122"/>
                <a:cs typeface="ui-sans-serif" pitchFamily="34" charset="-120"/>
              </a:endParaRPr>
            </a:p>
          </p:txBody>
        </p:sp>
        <p:sp>
          <p:nvSpPr>
            <p:cNvPr id="121" name="Text 48"/>
            <p:cNvSpPr/>
            <p:nvPr/>
          </p:nvSpPr>
          <p:spPr>
            <a:xfrm>
              <a:off x="9957" y="5880"/>
              <a:ext cx="138" cy="167"/>
            </a:xfrm>
            <a:prstGeom prst="rect">
              <a:avLst/>
            </a:prstGeom>
            <a:noFill/>
          </p:spPr>
          <p:txBody>
            <a:bodyPr wrap="square" lIns="0" tIns="0" rIns="0" bIns="0" rtlCol="0" anchor="t">
              <a:spAutoFit/>
            </a:bodyPr>
            <a:p>
              <a:pPr marL="0" indent="0">
                <a:lnSpc>
                  <a:spcPts val="1200"/>
                </a:lnSpc>
                <a:buNone/>
              </a:pPr>
              <a:r>
                <a:rPr lang="en-US" sz="1200" b="1" dirty="0">
                  <a:solidFill>
                    <a:srgbClr val="16A34A"/>
                  </a:solidFill>
                  <a:latin typeface="ui-sans-serif" pitchFamily="34" charset="0"/>
                  <a:ea typeface="ui-sans-serif" pitchFamily="34" charset="-122"/>
                  <a:cs typeface="ui-sans-serif" pitchFamily="34" charset="-120"/>
                </a:rPr>
                <a:t>7</a:t>
              </a:r>
              <a:endParaRPr lang="en-US" sz="1200" b="1" dirty="0">
                <a:solidFill>
                  <a:srgbClr val="16A34A"/>
                </a:solidFill>
                <a:latin typeface="ui-sans-serif" pitchFamily="34" charset="0"/>
                <a:ea typeface="ui-sans-serif" pitchFamily="34" charset="-122"/>
                <a:cs typeface="ui-sans-serif" pitchFamily="34" charset="-120"/>
              </a:endParaRPr>
            </a:p>
          </p:txBody>
        </p:sp>
        <p:sp>
          <p:nvSpPr>
            <p:cNvPr id="122" name="Text 49"/>
            <p:cNvSpPr/>
            <p:nvPr/>
          </p:nvSpPr>
          <p:spPr>
            <a:xfrm>
              <a:off x="10320" y="5820"/>
              <a:ext cx="7128" cy="20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可持续性 (Sustainability)</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23" name="Text 50"/>
            <p:cNvSpPr/>
            <p:nvPr/>
          </p:nvSpPr>
          <p:spPr>
            <a:xfrm>
              <a:off x="10320" y="6120"/>
              <a:ext cx="7128" cy="167"/>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系统长期维持其功能和结构的能力，满足当代需求而不损害后代满足其需求的能力</a:t>
              </a:r>
              <a:endParaRPr lang="en-US" sz="1200" dirty="0">
                <a:solidFill>
                  <a:srgbClr val="4B5563"/>
                </a:solidFill>
                <a:latin typeface="ui-sans-serif" pitchFamily="34" charset="0"/>
                <a:ea typeface="ui-sans-serif" pitchFamily="34" charset="-122"/>
                <a:cs typeface="ui-sans-serif" pitchFamily="34" charset="-12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社会经济政治</a:t>
            </a:r>
            <a:r>
              <a:rPr lang="zh-CN" altLang="en-US"/>
              <a:t>背景</a:t>
            </a:r>
            <a:endParaRPr lang="zh-CN" altLang="en-US"/>
          </a:p>
        </p:txBody>
      </p:sp>
      <p:grpSp>
        <p:nvGrpSpPr>
          <p:cNvPr id="8" name="组合 7"/>
          <p:cNvGrpSpPr/>
          <p:nvPr/>
        </p:nvGrpSpPr>
        <p:grpSpPr>
          <a:xfrm>
            <a:off x="457200" y="1808480"/>
            <a:ext cx="8543925" cy="4135343"/>
            <a:chOff x="720" y="4150"/>
            <a:chExt cx="9375" cy="4820"/>
          </a:xfrm>
        </p:grpSpPr>
        <p:pic>
          <p:nvPicPr>
            <p:cNvPr id="7" name="Image 44" descr="preencoded.png"/>
            <p:cNvPicPr>
              <a:picLocks noChangeAspect="1"/>
            </p:cNvPicPr>
            <p:nvPr/>
          </p:nvPicPr>
          <p:blipFill>
            <a:blip r:embed="rId1"/>
            <a:stretch>
              <a:fillRect/>
            </a:stretch>
          </p:blipFill>
          <p:spPr>
            <a:xfrm>
              <a:off x="720" y="7667"/>
              <a:ext cx="8701" cy="1303"/>
            </a:xfrm>
            <a:prstGeom prst="rect">
              <a:avLst/>
            </a:prstGeom>
          </p:spPr>
        </p:pic>
        <p:pic>
          <p:nvPicPr>
            <p:cNvPr id="6" name="Image 44" descr="preencoded.png"/>
            <p:cNvPicPr>
              <a:picLocks noChangeAspect="1"/>
            </p:cNvPicPr>
            <p:nvPr/>
          </p:nvPicPr>
          <p:blipFill>
            <a:blip r:embed="rId1"/>
            <a:stretch>
              <a:fillRect/>
            </a:stretch>
          </p:blipFill>
          <p:spPr>
            <a:xfrm>
              <a:off x="6640" y="5890"/>
              <a:ext cx="2840" cy="1620"/>
            </a:xfrm>
            <a:prstGeom prst="rect">
              <a:avLst/>
            </a:prstGeom>
          </p:spPr>
        </p:pic>
        <p:pic>
          <p:nvPicPr>
            <p:cNvPr id="5" name="Image 42" descr="preencoded.png"/>
            <p:cNvPicPr>
              <a:picLocks noChangeAspect="1"/>
            </p:cNvPicPr>
            <p:nvPr/>
          </p:nvPicPr>
          <p:blipFill>
            <a:blip r:embed="rId2"/>
            <a:stretch>
              <a:fillRect/>
            </a:stretch>
          </p:blipFill>
          <p:spPr>
            <a:xfrm>
              <a:off x="3680" y="5950"/>
              <a:ext cx="2840" cy="1620"/>
            </a:xfrm>
            <a:prstGeom prst="rect">
              <a:avLst/>
            </a:prstGeom>
          </p:spPr>
        </p:pic>
        <p:pic>
          <p:nvPicPr>
            <p:cNvPr id="4" name="Image 40" descr="preencoded.png"/>
            <p:cNvPicPr>
              <a:picLocks noChangeAspect="1"/>
            </p:cNvPicPr>
            <p:nvPr/>
          </p:nvPicPr>
          <p:blipFill>
            <a:blip r:embed="rId3"/>
            <a:stretch>
              <a:fillRect/>
            </a:stretch>
          </p:blipFill>
          <p:spPr>
            <a:xfrm>
              <a:off x="720" y="5950"/>
              <a:ext cx="2840" cy="1620"/>
            </a:xfrm>
            <a:prstGeom prst="rect">
              <a:avLst/>
            </a:prstGeom>
          </p:spPr>
        </p:pic>
        <p:pic>
          <p:nvPicPr>
            <p:cNvPr id="42" name="Image 40" descr="preencoded.png"/>
            <p:cNvPicPr>
              <a:picLocks noChangeAspect="1"/>
            </p:cNvPicPr>
            <p:nvPr/>
          </p:nvPicPr>
          <p:blipFill>
            <a:blip r:embed="rId3"/>
            <a:stretch>
              <a:fillRect/>
            </a:stretch>
          </p:blipFill>
          <p:spPr>
            <a:xfrm>
              <a:off x="720" y="4210"/>
              <a:ext cx="2840" cy="1620"/>
            </a:xfrm>
            <a:prstGeom prst="rect">
              <a:avLst/>
            </a:prstGeom>
          </p:spPr>
        </p:pic>
        <p:pic>
          <p:nvPicPr>
            <p:cNvPr id="43" name="Image 41" descr="preencoded.png"/>
            <p:cNvPicPr>
              <a:picLocks noChangeAspect="1"/>
            </p:cNvPicPr>
            <p:nvPr/>
          </p:nvPicPr>
          <p:blipFill>
            <a:blip r:embed="rId4"/>
            <a:stretch>
              <a:fillRect/>
            </a:stretch>
          </p:blipFill>
          <p:spPr>
            <a:xfrm>
              <a:off x="840" y="4330"/>
              <a:ext cx="360" cy="360"/>
            </a:xfrm>
            <a:prstGeom prst="rect">
              <a:avLst/>
            </a:prstGeom>
          </p:spPr>
        </p:pic>
        <p:pic>
          <p:nvPicPr>
            <p:cNvPr id="44" name="Image 42" descr="preencoded.png"/>
            <p:cNvPicPr>
              <a:picLocks noChangeAspect="1"/>
            </p:cNvPicPr>
            <p:nvPr/>
          </p:nvPicPr>
          <p:blipFill>
            <a:blip r:embed="rId2"/>
            <a:stretch>
              <a:fillRect/>
            </a:stretch>
          </p:blipFill>
          <p:spPr>
            <a:xfrm>
              <a:off x="3680" y="4210"/>
              <a:ext cx="2840" cy="1620"/>
            </a:xfrm>
            <a:prstGeom prst="rect">
              <a:avLst/>
            </a:prstGeom>
          </p:spPr>
        </p:pic>
        <p:pic>
          <p:nvPicPr>
            <p:cNvPr id="45" name="Image 43" descr="preencoded.png"/>
            <p:cNvPicPr>
              <a:picLocks noChangeAspect="1"/>
            </p:cNvPicPr>
            <p:nvPr/>
          </p:nvPicPr>
          <p:blipFill>
            <a:blip r:embed="rId5"/>
            <a:stretch>
              <a:fillRect/>
            </a:stretch>
          </p:blipFill>
          <p:spPr>
            <a:xfrm>
              <a:off x="3800" y="4330"/>
              <a:ext cx="360" cy="360"/>
            </a:xfrm>
            <a:prstGeom prst="rect">
              <a:avLst/>
            </a:prstGeom>
          </p:spPr>
        </p:pic>
        <p:pic>
          <p:nvPicPr>
            <p:cNvPr id="46" name="Image 44" descr="preencoded.png"/>
            <p:cNvPicPr>
              <a:picLocks noChangeAspect="1"/>
            </p:cNvPicPr>
            <p:nvPr/>
          </p:nvPicPr>
          <p:blipFill>
            <a:blip r:embed="rId1"/>
            <a:stretch>
              <a:fillRect/>
            </a:stretch>
          </p:blipFill>
          <p:spPr>
            <a:xfrm>
              <a:off x="6640" y="4210"/>
              <a:ext cx="2840" cy="1620"/>
            </a:xfrm>
            <a:prstGeom prst="rect">
              <a:avLst/>
            </a:prstGeom>
          </p:spPr>
        </p:pic>
        <p:pic>
          <p:nvPicPr>
            <p:cNvPr id="47" name="Image 45" descr="preencoded.png"/>
            <p:cNvPicPr>
              <a:picLocks noChangeAspect="1"/>
            </p:cNvPicPr>
            <p:nvPr/>
          </p:nvPicPr>
          <p:blipFill>
            <a:blip r:embed="rId6"/>
            <a:stretch>
              <a:fillRect/>
            </a:stretch>
          </p:blipFill>
          <p:spPr>
            <a:xfrm>
              <a:off x="6760" y="4330"/>
              <a:ext cx="360" cy="360"/>
            </a:xfrm>
            <a:prstGeom prst="rect">
              <a:avLst/>
            </a:prstGeom>
          </p:spPr>
        </p:pic>
        <p:pic>
          <p:nvPicPr>
            <p:cNvPr id="48" name="Image 46" descr="preencoded.png"/>
            <p:cNvPicPr>
              <a:picLocks noChangeAspect="1"/>
            </p:cNvPicPr>
            <p:nvPr/>
          </p:nvPicPr>
          <p:blipFill>
            <a:blip r:embed="rId7"/>
            <a:stretch>
              <a:fillRect/>
            </a:stretch>
          </p:blipFill>
          <p:spPr>
            <a:xfrm>
              <a:off x="720" y="5950"/>
              <a:ext cx="2840" cy="1320"/>
            </a:xfrm>
            <a:prstGeom prst="rect">
              <a:avLst/>
            </a:prstGeom>
          </p:spPr>
        </p:pic>
        <p:pic>
          <p:nvPicPr>
            <p:cNvPr id="49" name="Image 47" descr="preencoded.png"/>
            <p:cNvPicPr>
              <a:picLocks noChangeAspect="1"/>
            </p:cNvPicPr>
            <p:nvPr/>
          </p:nvPicPr>
          <p:blipFill>
            <a:blip r:embed="rId8"/>
            <a:stretch>
              <a:fillRect/>
            </a:stretch>
          </p:blipFill>
          <p:spPr>
            <a:xfrm>
              <a:off x="840" y="6070"/>
              <a:ext cx="360" cy="360"/>
            </a:xfrm>
            <a:prstGeom prst="rect">
              <a:avLst/>
            </a:prstGeom>
          </p:spPr>
        </p:pic>
        <p:pic>
          <p:nvPicPr>
            <p:cNvPr id="50" name="Image 48" descr="preencoded.png"/>
            <p:cNvPicPr>
              <a:picLocks noChangeAspect="1"/>
            </p:cNvPicPr>
            <p:nvPr/>
          </p:nvPicPr>
          <p:blipFill>
            <a:blip r:embed="rId9"/>
            <a:stretch>
              <a:fillRect/>
            </a:stretch>
          </p:blipFill>
          <p:spPr>
            <a:xfrm>
              <a:off x="3680" y="5950"/>
              <a:ext cx="2840" cy="1320"/>
            </a:xfrm>
            <a:prstGeom prst="rect">
              <a:avLst/>
            </a:prstGeom>
          </p:spPr>
        </p:pic>
        <p:pic>
          <p:nvPicPr>
            <p:cNvPr id="51" name="Image 49" descr="preencoded.png"/>
            <p:cNvPicPr>
              <a:picLocks noChangeAspect="1"/>
            </p:cNvPicPr>
            <p:nvPr/>
          </p:nvPicPr>
          <p:blipFill>
            <a:blip r:embed="rId10"/>
            <a:stretch>
              <a:fillRect/>
            </a:stretch>
          </p:blipFill>
          <p:spPr>
            <a:xfrm>
              <a:off x="3800" y="6070"/>
              <a:ext cx="360" cy="360"/>
            </a:xfrm>
            <a:prstGeom prst="rect">
              <a:avLst/>
            </a:prstGeom>
          </p:spPr>
        </p:pic>
        <p:pic>
          <p:nvPicPr>
            <p:cNvPr id="52" name="Image 50" descr="preencoded.png"/>
            <p:cNvPicPr>
              <a:picLocks noChangeAspect="1"/>
            </p:cNvPicPr>
            <p:nvPr/>
          </p:nvPicPr>
          <p:blipFill>
            <a:blip r:embed="rId11"/>
            <a:stretch>
              <a:fillRect/>
            </a:stretch>
          </p:blipFill>
          <p:spPr>
            <a:xfrm>
              <a:off x="6640" y="5950"/>
              <a:ext cx="2840" cy="1320"/>
            </a:xfrm>
            <a:prstGeom prst="rect">
              <a:avLst/>
            </a:prstGeom>
          </p:spPr>
        </p:pic>
        <p:pic>
          <p:nvPicPr>
            <p:cNvPr id="53" name="Image 51" descr="preencoded.png"/>
            <p:cNvPicPr>
              <a:picLocks noChangeAspect="1"/>
            </p:cNvPicPr>
            <p:nvPr/>
          </p:nvPicPr>
          <p:blipFill>
            <a:blip r:embed="rId12"/>
            <a:stretch>
              <a:fillRect/>
            </a:stretch>
          </p:blipFill>
          <p:spPr>
            <a:xfrm>
              <a:off x="6760" y="6070"/>
              <a:ext cx="360" cy="360"/>
            </a:xfrm>
            <a:prstGeom prst="rect">
              <a:avLst/>
            </a:prstGeom>
          </p:spPr>
        </p:pic>
        <p:pic>
          <p:nvPicPr>
            <p:cNvPr id="54" name="Image 52" descr="preencoded.png"/>
            <p:cNvPicPr>
              <a:picLocks noChangeAspect="1"/>
            </p:cNvPicPr>
            <p:nvPr/>
          </p:nvPicPr>
          <p:blipFill>
            <a:blip r:embed="rId13"/>
            <a:stretch>
              <a:fillRect/>
            </a:stretch>
          </p:blipFill>
          <p:spPr>
            <a:xfrm>
              <a:off x="720" y="7390"/>
              <a:ext cx="8760" cy="780"/>
            </a:xfrm>
            <a:prstGeom prst="rect">
              <a:avLst/>
            </a:prstGeom>
          </p:spPr>
        </p:pic>
        <p:pic>
          <p:nvPicPr>
            <p:cNvPr id="55" name="Image 53" descr="preencoded.png"/>
            <p:cNvPicPr>
              <a:picLocks noChangeAspect="1"/>
            </p:cNvPicPr>
            <p:nvPr/>
          </p:nvPicPr>
          <p:blipFill>
            <a:blip r:embed="rId14"/>
            <a:stretch>
              <a:fillRect/>
            </a:stretch>
          </p:blipFill>
          <p:spPr>
            <a:xfrm>
              <a:off x="840" y="7510"/>
              <a:ext cx="360" cy="360"/>
            </a:xfrm>
            <a:prstGeom prst="rect">
              <a:avLst/>
            </a:prstGeom>
          </p:spPr>
        </p:pic>
        <p:pic>
          <p:nvPicPr>
            <p:cNvPr id="71" name="Image 69" descr="preencoded.png"/>
            <p:cNvPicPr>
              <a:picLocks noChangeAspect="1"/>
            </p:cNvPicPr>
            <p:nvPr/>
          </p:nvPicPr>
          <p:blipFill>
            <a:blip r:embed="rId15"/>
            <a:stretch>
              <a:fillRect/>
            </a:stretch>
          </p:blipFill>
          <p:spPr>
            <a:xfrm>
              <a:off x="720" y="8515"/>
              <a:ext cx="240" cy="240"/>
            </a:xfrm>
            <a:prstGeom prst="rect">
              <a:avLst/>
            </a:prstGeom>
          </p:spPr>
        </p:pic>
        <p:sp>
          <p:nvSpPr>
            <p:cNvPr id="125" name="Text 52"/>
            <p:cNvSpPr/>
            <p:nvPr/>
          </p:nvSpPr>
          <p:spPr>
            <a:xfrm>
              <a:off x="957" y="439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EA580C"/>
                  </a:solidFill>
                  <a:latin typeface="ui-sans-serif" pitchFamily="34" charset="0"/>
                  <a:ea typeface="ui-sans-serif" pitchFamily="34" charset="-122"/>
                  <a:cs typeface="ui-sans-serif" pitchFamily="34" charset="-120"/>
                </a:rPr>
                <a:t>1</a:t>
              </a:r>
              <a:endParaRPr lang="en-US" sz="1200" b="1" dirty="0">
                <a:solidFill>
                  <a:srgbClr val="EA580C"/>
                </a:solidFill>
                <a:latin typeface="ui-sans-serif" pitchFamily="34" charset="0"/>
                <a:ea typeface="ui-sans-serif" pitchFamily="34" charset="-122"/>
                <a:cs typeface="ui-sans-serif" pitchFamily="34" charset="-120"/>
              </a:endParaRPr>
            </a:p>
          </p:txBody>
        </p:sp>
        <p:sp>
          <p:nvSpPr>
            <p:cNvPr id="126" name="Text 53"/>
            <p:cNvSpPr/>
            <p:nvPr/>
          </p:nvSpPr>
          <p:spPr>
            <a:xfrm>
              <a:off x="1320" y="4330"/>
              <a:ext cx="2120" cy="44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市场结构 (Market structure)</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27" name="Text 54"/>
            <p:cNvSpPr/>
            <p:nvPr/>
          </p:nvSpPr>
          <p:spPr>
            <a:xfrm>
              <a:off x="1320" y="4930"/>
              <a:ext cx="2120" cy="358"/>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影响资源交换的市场特征和经济因素</a:t>
              </a:r>
              <a:endParaRPr lang="en-US" sz="1200" dirty="0">
                <a:solidFill>
                  <a:srgbClr val="4B5563"/>
                </a:solidFill>
                <a:latin typeface="ui-sans-serif" pitchFamily="34" charset="0"/>
                <a:ea typeface="ui-sans-serif" pitchFamily="34" charset="-122"/>
                <a:cs typeface="ui-sans-serif" pitchFamily="34" charset="-120"/>
              </a:endParaRPr>
            </a:p>
          </p:txBody>
        </p:sp>
        <p:sp>
          <p:nvSpPr>
            <p:cNvPr id="128" name="Text 55"/>
            <p:cNvSpPr/>
            <p:nvPr/>
          </p:nvSpPr>
          <p:spPr>
            <a:xfrm>
              <a:off x="3917" y="439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EA580C"/>
                  </a:solidFill>
                  <a:latin typeface="ui-sans-serif" pitchFamily="34" charset="0"/>
                  <a:ea typeface="ui-sans-serif" pitchFamily="34" charset="-122"/>
                  <a:cs typeface="ui-sans-serif" pitchFamily="34" charset="-120"/>
                </a:rPr>
                <a:t>2</a:t>
              </a:r>
              <a:endParaRPr lang="en-US" sz="1200" b="1" dirty="0">
                <a:solidFill>
                  <a:srgbClr val="EA580C"/>
                </a:solidFill>
                <a:latin typeface="ui-sans-serif" pitchFamily="34" charset="0"/>
                <a:ea typeface="ui-sans-serif" pitchFamily="34" charset="-122"/>
                <a:cs typeface="ui-sans-serif" pitchFamily="34" charset="-120"/>
              </a:endParaRPr>
            </a:p>
          </p:txBody>
        </p:sp>
        <p:sp>
          <p:nvSpPr>
            <p:cNvPr id="129" name="Text 56"/>
            <p:cNvSpPr/>
            <p:nvPr/>
          </p:nvSpPr>
          <p:spPr>
            <a:xfrm>
              <a:off x="4280" y="4330"/>
              <a:ext cx="2120" cy="44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人口趋势 (Demographic trends)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30" name="Text 57"/>
            <p:cNvSpPr/>
            <p:nvPr/>
          </p:nvSpPr>
          <p:spPr>
            <a:xfrm>
              <a:off x="4280" y="5230"/>
              <a:ext cx="2120" cy="179"/>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人口规模、结构和变化趋势</a:t>
              </a:r>
              <a:endParaRPr lang="en-US" sz="1200" dirty="0">
                <a:solidFill>
                  <a:srgbClr val="4B5563"/>
                </a:solidFill>
                <a:latin typeface="ui-sans-serif" pitchFamily="34" charset="0"/>
                <a:ea typeface="ui-sans-serif" pitchFamily="34" charset="-122"/>
                <a:cs typeface="ui-sans-serif" pitchFamily="34" charset="-120"/>
              </a:endParaRPr>
            </a:p>
          </p:txBody>
        </p:sp>
        <p:sp>
          <p:nvSpPr>
            <p:cNvPr id="131" name="Text 58"/>
            <p:cNvSpPr/>
            <p:nvPr/>
          </p:nvSpPr>
          <p:spPr>
            <a:xfrm>
              <a:off x="6877" y="439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EA580C"/>
                  </a:solidFill>
                  <a:latin typeface="ui-sans-serif" pitchFamily="34" charset="0"/>
                  <a:ea typeface="ui-sans-serif" pitchFamily="34" charset="-122"/>
                  <a:cs typeface="ui-sans-serif" pitchFamily="34" charset="-120"/>
                </a:rPr>
                <a:t>3</a:t>
              </a:r>
              <a:endParaRPr lang="en-US" sz="1200" b="1" dirty="0">
                <a:solidFill>
                  <a:srgbClr val="EA580C"/>
                </a:solidFill>
                <a:latin typeface="ui-sans-serif" pitchFamily="34" charset="0"/>
                <a:ea typeface="ui-sans-serif" pitchFamily="34" charset="-122"/>
                <a:cs typeface="ui-sans-serif" pitchFamily="34" charset="-120"/>
              </a:endParaRPr>
            </a:p>
          </p:txBody>
        </p:sp>
        <p:sp>
          <p:nvSpPr>
            <p:cNvPr id="132" name="Text 59"/>
            <p:cNvSpPr/>
            <p:nvPr/>
          </p:nvSpPr>
          <p:spPr>
            <a:xfrm>
              <a:off x="7240" y="4330"/>
              <a:ext cx="2120" cy="44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政治稳定性 (Political stability)</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33" name="Text 60"/>
            <p:cNvSpPr/>
            <p:nvPr/>
          </p:nvSpPr>
          <p:spPr>
            <a:xfrm>
              <a:off x="7240" y="5230"/>
              <a:ext cx="2120" cy="358"/>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政治环境的稳定程度和治理结构</a:t>
              </a:r>
              <a:endParaRPr lang="en-US" sz="1200" dirty="0">
                <a:solidFill>
                  <a:srgbClr val="4B5563"/>
                </a:solidFill>
                <a:latin typeface="ui-sans-serif" pitchFamily="34" charset="0"/>
                <a:ea typeface="ui-sans-serif" pitchFamily="34" charset="-122"/>
                <a:cs typeface="ui-sans-serif" pitchFamily="34" charset="-120"/>
              </a:endParaRPr>
            </a:p>
          </p:txBody>
        </p:sp>
        <p:sp>
          <p:nvSpPr>
            <p:cNvPr id="134" name="Text 61"/>
            <p:cNvSpPr/>
            <p:nvPr/>
          </p:nvSpPr>
          <p:spPr>
            <a:xfrm>
              <a:off x="957" y="613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EA580C"/>
                  </a:solidFill>
                  <a:latin typeface="ui-sans-serif" pitchFamily="34" charset="0"/>
                  <a:ea typeface="ui-sans-serif" pitchFamily="34" charset="-122"/>
                  <a:cs typeface="ui-sans-serif" pitchFamily="34" charset="-120"/>
                </a:rPr>
                <a:t>4</a:t>
              </a:r>
              <a:endParaRPr lang="en-US" sz="1200" b="1" dirty="0">
                <a:solidFill>
                  <a:srgbClr val="EA580C"/>
                </a:solidFill>
                <a:latin typeface="ui-sans-serif" pitchFamily="34" charset="0"/>
                <a:ea typeface="ui-sans-serif" pitchFamily="34" charset="-122"/>
                <a:cs typeface="ui-sans-serif" pitchFamily="34" charset="-120"/>
              </a:endParaRPr>
            </a:p>
          </p:txBody>
        </p:sp>
        <p:sp>
          <p:nvSpPr>
            <p:cNvPr id="135" name="Text 62"/>
            <p:cNvSpPr/>
            <p:nvPr/>
          </p:nvSpPr>
          <p:spPr>
            <a:xfrm>
              <a:off x="1320" y="6070"/>
              <a:ext cx="2120" cy="44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文化价值观 (Cultural values)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36" name="Text 63"/>
            <p:cNvSpPr/>
            <p:nvPr/>
          </p:nvSpPr>
          <p:spPr>
            <a:xfrm>
              <a:off x="1320" y="6670"/>
              <a:ext cx="2120" cy="358"/>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社会共享的信仰、价值观和规范</a:t>
              </a:r>
              <a:endParaRPr lang="en-US" sz="1200" dirty="0">
                <a:solidFill>
                  <a:srgbClr val="4B5563"/>
                </a:solidFill>
                <a:latin typeface="ui-sans-serif" pitchFamily="34" charset="0"/>
                <a:ea typeface="ui-sans-serif" pitchFamily="34" charset="-122"/>
                <a:cs typeface="ui-sans-serif" pitchFamily="34" charset="-120"/>
              </a:endParaRPr>
            </a:p>
          </p:txBody>
        </p:sp>
        <p:sp>
          <p:nvSpPr>
            <p:cNvPr id="137" name="Text 64"/>
            <p:cNvSpPr/>
            <p:nvPr/>
          </p:nvSpPr>
          <p:spPr>
            <a:xfrm>
              <a:off x="3917" y="613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EA580C"/>
                  </a:solidFill>
                  <a:latin typeface="ui-sans-serif" pitchFamily="34" charset="0"/>
                  <a:ea typeface="ui-sans-serif" pitchFamily="34" charset="-122"/>
                  <a:cs typeface="ui-sans-serif" pitchFamily="34" charset="-120"/>
                </a:rPr>
                <a:t>5</a:t>
              </a:r>
              <a:endParaRPr lang="en-US" sz="1200" b="1" dirty="0">
                <a:solidFill>
                  <a:srgbClr val="EA580C"/>
                </a:solidFill>
                <a:latin typeface="ui-sans-serif" pitchFamily="34" charset="0"/>
                <a:ea typeface="ui-sans-serif" pitchFamily="34" charset="-122"/>
                <a:cs typeface="ui-sans-serif" pitchFamily="34" charset="-120"/>
              </a:endParaRPr>
            </a:p>
          </p:txBody>
        </p:sp>
        <p:sp>
          <p:nvSpPr>
            <p:cNvPr id="138" name="Text 65"/>
            <p:cNvSpPr/>
            <p:nvPr/>
          </p:nvSpPr>
          <p:spPr>
            <a:xfrm>
              <a:off x="4280" y="6070"/>
              <a:ext cx="2120" cy="448"/>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基础设施 (Infrastructure)</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39" name="Text 66"/>
            <p:cNvSpPr/>
            <p:nvPr/>
          </p:nvSpPr>
          <p:spPr>
            <a:xfrm>
              <a:off x="4280" y="6670"/>
              <a:ext cx="2120" cy="358"/>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支持系统运行的物理和社会基础设施</a:t>
              </a:r>
              <a:endParaRPr lang="en-US" sz="1200" dirty="0">
                <a:solidFill>
                  <a:srgbClr val="4B5563"/>
                </a:solidFill>
                <a:latin typeface="ui-sans-serif" pitchFamily="34" charset="0"/>
                <a:ea typeface="ui-sans-serif" pitchFamily="34" charset="-122"/>
                <a:cs typeface="ui-sans-serif" pitchFamily="34" charset="-120"/>
              </a:endParaRPr>
            </a:p>
          </p:txBody>
        </p:sp>
        <p:sp>
          <p:nvSpPr>
            <p:cNvPr id="140" name="Text 67"/>
            <p:cNvSpPr/>
            <p:nvPr/>
          </p:nvSpPr>
          <p:spPr>
            <a:xfrm>
              <a:off x="6877" y="613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EA580C"/>
                  </a:solidFill>
                  <a:latin typeface="ui-sans-serif" pitchFamily="34" charset="0"/>
                  <a:ea typeface="ui-sans-serif" pitchFamily="34" charset="-122"/>
                  <a:cs typeface="ui-sans-serif" pitchFamily="34" charset="-120"/>
                </a:rPr>
                <a:t>6</a:t>
              </a:r>
              <a:endParaRPr lang="en-US" sz="1200" b="1" dirty="0">
                <a:solidFill>
                  <a:srgbClr val="EA580C"/>
                </a:solidFill>
                <a:latin typeface="ui-sans-serif" pitchFamily="34" charset="0"/>
                <a:ea typeface="ui-sans-serif" pitchFamily="34" charset="-122"/>
                <a:cs typeface="ui-sans-serif" pitchFamily="34" charset="-120"/>
              </a:endParaRPr>
            </a:p>
          </p:txBody>
        </p:sp>
        <p:sp>
          <p:nvSpPr>
            <p:cNvPr id="141" name="Text 68"/>
            <p:cNvSpPr/>
            <p:nvPr/>
          </p:nvSpPr>
          <p:spPr>
            <a:xfrm>
              <a:off x="7240" y="6070"/>
              <a:ext cx="2332" cy="224"/>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技术 (Technology)</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42" name="Text 69"/>
            <p:cNvSpPr/>
            <p:nvPr/>
          </p:nvSpPr>
          <p:spPr>
            <a:xfrm>
              <a:off x="7240" y="6370"/>
              <a:ext cx="2120" cy="358"/>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可用的技术水平及其对资源利用的影响</a:t>
              </a:r>
              <a:endParaRPr lang="en-US" sz="1200" dirty="0">
                <a:solidFill>
                  <a:srgbClr val="4B5563"/>
                </a:solidFill>
                <a:latin typeface="ui-sans-serif" pitchFamily="34" charset="0"/>
                <a:ea typeface="ui-sans-serif" pitchFamily="34" charset="-122"/>
                <a:cs typeface="ui-sans-serif" pitchFamily="34" charset="-120"/>
              </a:endParaRPr>
            </a:p>
          </p:txBody>
        </p:sp>
        <p:sp>
          <p:nvSpPr>
            <p:cNvPr id="143" name="Text 70"/>
            <p:cNvSpPr/>
            <p:nvPr/>
          </p:nvSpPr>
          <p:spPr>
            <a:xfrm>
              <a:off x="957" y="7894"/>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EA580C"/>
                  </a:solidFill>
                  <a:latin typeface="ui-sans-serif" pitchFamily="34" charset="0"/>
                  <a:ea typeface="ui-sans-serif" pitchFamily="34" charset="-122"/>
                  <a:cs typeface="ui-sans-serif" pitchFamily="34" charset="-120"/>
                </a:rPr>
                <a:t>7</a:t>
              </a:r>
              <a:endParaRPr lang="en-US" sz="1200" b="1" dirty="0">
                <a:solidFill>
                  <a:srgbClr val="EA580C"/>
                </a:solidFill>
                <a:latin typeface="ui-sans-serif" pitchFamily="34" charset="0"/>
                <a:ea typeface="ui-sans-serif" pitchFamily="34" charset="-122"/>
                <a:cs typeface="ui-sans-serif" pitchFamily="34" charset="-120"/>
              </a:endParaRPr>
            </a:p>
          </p:txBody>
        </p:sp>
        <p:sp>
          <p:nvSpPr>
            <p:cNvPr id="144" name="Text 71"/>
            <p:cNvSpPr/>
            <p:nvPr/>
          </p:nvSpPr>
          <p:spPr>
            <a:xfrm>
              <a:off x="1200" y="7870"/>
              <a:ext cx="5346" cy="224"/>
            </a:xfrm>
            <a:prstGeom prst="rect">
              <a:avLst/>
            </a:prstGeom>
            <a:noFill/>
          </p:spPr>
          <p:txBody>
            <a:bodyPr wrap="square" lIns="0" tIns="0" rIns="0" bIns="0" rtlCol="0" anchor="t">
              <a:spAutoFit/>
            </a:bodyPr>
            <a:p>
              <a:pPr marL="0" indent="0">
                <a:lnSpc>
                  <a:spcPts val="1500"/>
                </a:lnSpc>
                <a:buNone/>
              </a:pPr>
              <a:r>
                <a:rPr lang="en-US" sz="1400" b="1" dirty="0">
                  <a:solidFill>
                    <a:srgbClr val="1F2937"/>
                  </a:solidFill>
                  <a:latin typeface="ui-sans-serif" pitchFamily="34" charset="0"/>
                  <a:ea typeface="ui-sans-serif" pitchFamily="34" charset="-122"/>
                  <a:cs typeface="ui-sans-serif" pitchFamily="34" charset="-120"/>
                </a:rPr>
                <a:t>外部政策 (External policies)</a:t>
              </a:r>
              <a:endParaRPr lang="en-US" sz="1400" b="1" dirty="0">
                <a:solidFill>
                  <a:srgbClr val="1F2937"/>
                </a:solidFill>
                <a:latin typeface="ui-sans-serif" pitchFamily="34" charset="0"/>
                <a:ea typeface="ui-sans-serif" pitchFamily="34" charset="-122"/>
                <a:cs typeface="ui-sans-serif" pitchFamily="34" charset="-120"/>
              </a:endParaRPr>
            </a:p>
          </p:txBody>
        </p:sp>
        <p:sp>
          <p:nvSpPr>
            <p:cNvPr id="145" name="Text 72"/>
            <p:cNvSpPr/>
            <p:nvPr/>
          </p:nvSpPr>
          <p:spPr>
            <a:xfrm>
              <a:off x="1200" y="8290"/>
              <a:ext cx="5346" cy="179"/>
            </a:xfrm>
            <a:prstGeom prst="rect">
              <a:avLst/>
            </a:prstGeom>
            <a:noFill/>
          </p:spPr>
          <p:txBody>
            <a:bodyPr wrap="square" lIns="0" tIns="0" rIns="0" bIns="0" rtlCol="0" anchor="t">
              <a:spAutoFit/>
            </a:bodyPr>
            <a:p>
              <a:pPr marL="0" indent="0">
                <a:lnSpc>
                  <a:spcPts val="1200"/>
                </a:lnSpc>
                <a:buNone/>
              </a:pPr>
              <a:r>
                <a:rPr lang="en-US" sz="1200" dirty="0">
                  <a:solidFill>
                    <a:srgbClr val="4B5563"/>
                  </a:solidFill>
                  <a:latin typeface="ui-sans-serif" pitchFamily="34" charset="0"/>
                  <a:ea typeface="ui-sans-serif" pitchFamily="34" charset="-122"/>
                  <a:cs typeface="ui-sans-serif" pitchFamily="34" charset="-120"/>
                </a:rPr>
                <a:t>更广泛的政策环境对系统的影响，包括国家和国际层面的政策</a:t>
              </a:r>
              <a:endParaRPr lang="en-US" sz="1200" dirty="0">
                <a:solidFill>
                  <a:srgbClr val="4B5563"/>
                </a:solidFill>
                <a:latin typeface="ui-sans-serif" pitchFamily="34" charset="0"/>
                <a:ea typeface="ui-sans-serif" pitchFamily="34" charset="-122"/>
                <a:cs typeface="ui-sans-serif" pitchFamily="34" charset="-120"/>
              </a:endParaRPr>
            </a:p>
          </p:txBody>
        </p:sp>
        <p:sp>
          <p:nvSpPr>
            <p:cNvPr id="147" name="Text 74"/>
            <p:cNvSpPr/>
            <p:nvPr/>
          </p:nvSpPr>
          <p:spPr>
            <a:xfrm>
              <a:off x="9957" y="415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0D9488"/>
                  </a:solidFill>
                  <a:latin typeface="ui-sans-serif" pitchFamily="34" charset="0"/>
                  <a:ea typeface="ui-sans-serif" pitchFamily="34" charset="-122"/>
                  <a:cs typeface="ui-sans-serif" pitchFamily="34" charset="-120"/>
                </a:rPr>
                <a:t>1</a:t>
              </a:r>
              <a:endParaRPr lang="en-US" sz="1200" b="1" dirty="0">
                <a:solidFill>
                  <a:srgbClr val="0D9488"/>
                </a:solidFill>
                <a:latin typeface="ui-sans-serif" pitchFamily="34" charset="0"/>
                <a:ea typeface="ui-sans-serif" pitchFamily="34" charset="-122"/>
                <a:cs typeface="ui-sans-serif" pitchFamily="34" charset="-120"/>
              </a:endParaRPr>
            </a:p>
          </p:txBody>
        </p:sp>
        <p:sp>
          <p:nvSpPr>
            <p:cNvPr id="156" name="Text 83"/>
            <p:cNvSpPr/>
            <p:nvPr/>
          </p:nvSpPr>
          <p:spPr>
            <a:xfrm>
              <a:off x="9957" y="5290"/>
              <a:ext cx="138" cy="179"/>
            </a:xfrm>
            <a:prstGeom prst="rect">
              <a:avLst/>
            </a:prstGeom>
            <a:noFill/>
          </p:spPr>
          <p:txBody>
            <a:bodyPr wrap="square" lIns="0" tIns="0" rIns="0" bIns="0" rtlCol="0" anchor="t">
              <a:spAutoFit/>
            </a:bodyPr>
            <a:p>
              <a:pPr marL="0" indent="0">
                <a:lnSpc>
                  <a:spcPts val="1200"/>
                </a:lnSpc>
                <a:buNone/>
              </a:pPr>
              <a:r>
                <a:rPr lang="en-US" sz="1200" b="1" dirty="0">
                  <a:solidFill>
                    <a:srgbClr val="0D9488"/>
                  </a:solidFill>
                  <a:latin typeface="ui-sans-serif" pitchFamily="34" charset="0"/>
                  <a:ea typeface="ui-sans-serif" pitchFamily="34" charset="-122"/>
                  <a:cs typeface="ui-sans-serif" pitchFamily="34" charset="-120"/>
                </a:rPr>
                <a:t>4</a:t>
              </a:r>
              <a:endParaRPr lang="en-US" sz="1200" b="1" dirty="0">
                <a:solidFill>
                  <a:srgbClr val="0D9488"/>
                </a:solidFill>
                <a:latin typeface="ui-sans-serif" pitchFamily="34" charset="0"/>
                <a:ea typeface="ui-sans-serif" pitchFamily="34" charset="-122"/>
                <a:cs typeface="ui-sans-serif" pitchFamily="34" charset="-12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相关生态</a:t>
            </a:r>
            <a:r>
              <a:rPr lang="zh-CN" altLang="en-US"/>
              <a:t>系统</a:t>
            </a:r>
            <a:endParaRPr lang="zh-CN" altLang="en-US"/>
          </a:p>
        </p:txBody>
      </p:sp>
      <p:grpSp>
        <p:nvGrpSpPr>
          <p:cNvPr id="9" name="组合 8"/>
          <p:cNvGrpSpPr/>
          <p:nvPr/>
        </p:nvGrpSpPr>
        <p:grpSpPr>
          <a:xfrm>
            <a:off x="398780" y="2063750"/>
            <a:ext cx="8263255" cy="3489960"/>
            <a:chOff x="9720" y="3970"/>
            <a:chExt cx="8852" cy="2460"/>
          </a:xfrm>
        </p:grpSpPr>
        <p:pic>
          <p:nvPicPr>
            <p:cNvPr id="58" name="Image 56" descr="preencoded.png"/>
            <p:cNvPicPr>
              <a:picLocks noChangeAspect="1"/>
            </p:cNvPicPr>
            <p:nvPr/>
          </p:nvPicPr>
          <p:blipFill>
            <a:blip r:embed="rId1"/>
            <a:stretch>
              <a:fillRect/>
            </a:stretch>
          </p:blipFill>
          <p:spPr>
            <a:xfrm>
              <a:off x="9720" y="3970"/>
              <a:ext cx="2840" cy="1020"/>
            </a:xfrm>
            <a:prstGeom prst="rect">
              <a:avLst/>
            </a:prstGeom>
          </p:spPr>
        </p:pic>
        <p:pic>
          <p:nvPicPr>
            <p:cNvPr id="59" name="Image 57" descr="preencoded.png"/>
            <p:cNvPicPr>
              <a:picLocks noChangeAspect="1"/>
            </p:cNvPicPr>
            <p:nvPr/>
          </p:nvPicPr>
          <p:blipFill>
            <a:blip r:embed="rId2"/>
            <a:stretch>
              <a:fillRect/>
            </a:stretch>
          </p:blipFill>
          <p:spPr>
            <a:xfrm>
              <a:off x="9840" y="4090"/>
              <a:ext cx="360" cy="360"/>
            </a:xfrm>
            <a:prstGeom prst="rect">
              <a:avLst/>
            </a:prstGeom>
          </p:spPr>
        </p:pic>
        <p:pic>
          <p:nvPicPr>
            <p:cNvPr id="60" name="Image 58" descr="preencoded.png"/>
            <p:cNvPicPr>
              <a:picLocks noChangeAspect="1"/>
            </p:cNvPicPr>
            <p:nvPr/>
          </p:nvPicPr>
          <p:blipFill>
            <a:blip r:embed="rId3"/>
            <a:stretch>
              <a:fillRect/>
            </a:stretch>
          </p:blipFill>
          <p:spPr>
            <a:xfrm>
              <a:off x="12680" y="3970"/>
              <a:ext cx="2840" cy="1020"/>
            </a:xfrm>
            <a:prstGeom prst="rect">
              <a:avLst/>
            </a:prstGeom>
          </p:spPr>
        </p:pic>
        <p:pic>
          <p:nvPicPr>
            <p:cNvPr id="61" name="Image 59" descr="preencoded.png"/>
            <p:cNvPicPr>
              <a:picLocks noChangeAspect="1"/>
            </p:cNvPicPr>
            <p:nvPr/>
          </p:nvPicPr>
          <p:blipFill>
            <a:blip r:embed="rId4"/>
            <a:stretch>
              <a:fillRect/>
            </a:stretch>
          </p:blipFill>
          <p:spPr>
            <a:xfrm>
              <a:off x="12800" y="4090"/>
              <a:ext cx="360" cy="360"/>
            </a:xfrm>
            <a:prstGeom prst="rect">
              <a:avLst/>
            </a:prstGeom>
          </p:spPr>
        </p:pic>
        <p:pic>
          <p:nvPicPr>
            <p:cNvPr id="62" name="Image 60" descr="preencoded.png"/>
            <p:cNvPicPr>
              <a:picLocks noChangeAspect="1"/>
            </p:cNvPicPr>
            <p:nvPr/>
          </p:nvPicPr>
          <p:blipFill>
            <a:blip r:embed="rId5"/>
            <a:stretch>
              <a:fillRect/>
            </a:stretch>
          </p:blipFill>
          <p:spPr>
            <a:xfrm>
              <a:off x="15640" y="3970"/>
              <a:ext cx="2840" cy="1020"/>
            </a:xfrm>
            <a:prstGeom prst="rect">
              <a:avLst/>
            </a:prstGeom>
          </p:spPr>
        </p:pic>
        <p:pic>
          <p:nvPicPr>
            <p:cNvPr id="63" name="Image 61" descr="preencoded.png"/>
            <p:cNvPicPr>
              <a:picLocks noChangeAspect="1"/>
            </p:cNvPicPr>
            <p:nvPr/>
          </p:nvPicPr>
          <p:blipFill>
            <a:blip r:embed="rId6"/>
            <a:stretch>
              <a:fillRect/>
            </a:stretch>
          </p:blipFill>
          <p:spPr>
            <a:xfrm>
              <a:off x="15760" y="4090"/>
              <a:ext cx="360" cy="360"/>
            </a:xfrm>
            <a:prstGeom prst="rect">
              <a:avLst/>
            </a:prstGeom>
          </p:spPr>
        </p:pic>
        <p:pic>
          <p:nvPicPr>
            <p:cNvPr id="64" name="Image 62" descr="preencoded.png"/>
            <p:cNvPicPr>
              <a:picLocks noChangeAspect="1"/>
            </p:cNvPicPr>
            <p:nvPr/>
          </p:nvPicPr>
          <p:blipFill>
            <a:blip r:embed="rId1"/>
            <a:stretch>
              <a:fillRect/>
            </a:stretch>
          </p:blipFill>
          <p:spPr>
            <a:xfrm>
              <a:off x="9720" y="5110"/>
              <a:ext cx="2840" cy="1320"/>
            </a:xfrm>
            <a:prstGeom prst="rect">
              <a:avLst/>
            </a:prstGeom>
          </p:spPr>
        </p:pic>
        <p:pic>
          <p:nvPicPr>
            <p:cNvPr id="65" name="Image 63" descr="preencoded.png"/>
            <p:cNvPicPr>
              <a:picLocks noChangeAspect="1"/>
            </p:cNvPicPr>
            <p:nvPr/>
          </p:nvPicPr>
          <p:blipFill>
            <a:blip r:embed="rId2"/>
            <a:stretch>
              <a:fillRect/>
            </a:stretch>
          </p:blipFill>
          <p:spPr>
            <a:xfrm>
              <a:off x="9840" y="5230"/>
              <a:ext cx="360" cy="360"/>
            </a:xfrm>
            <a:prstGeom prst="rect">
              <a:avLst/>
            </a:prstGeom>
          </p:spPr>
        </p:pic>
        <p:pic>
          <p:nvPicPr>
            <p:cNvPr id="66" name="Image 64" descr="preencoded.png"/>
            <p:cNvPicPr>
              <a:picLocks noChangeAspect="1"/>
            </p:cNvPicPr>
            <p:nvPr/>
          </p:nvPicPr>
          <p:blipFill>
            <a:blip r:embed="rId3"/>
            <a:stretch>
              <a:fillRect/>
            </a:stretch>
          </p:blipFill>
          <p:spPr>
            <a:xfrm>
              <a:off x="12680" y="5110"/>
              <a:ext cx="2840" cy="1320"/>
            </a:xfrm>
            <a:prstGeom prst="rect">
              <a:avLst/>
            </a:prstGeom>
          </p:spPr>
        </p:pic>
        <p:pic>
          <p:nvPicPr>
            <p:cNvPr id="67" name="Image 65" descr="preencoded.png"/>
            <p:cNvPicPr>
              <a:picLocks noChangeAspect="1"/>
            </p:cNvPicPr>
            <p:nvPr/>
          </p:nvPicPr>
          <p:blipFill>
            <a:blip r:embed="rId4"/>
            <a:stretch>
              <a:fillRect/>
            </a:stretch>
          </p:blipFill>
          <p:spPr>
            <a:xfrm>
              <a:off x="12800" y="5230"/>
              <a:ext cx="360" cy="360"/>
            </a:xfrm>
            <a:prstGeom prst="rect">
              <a:avLst/>
            </a:prstGeom>
          </p:spPr>
        </p:pic>
        <p:pic>
          <p:nvPicPr>
            <p:cNvPr id="68" name="Image 66" descr="preencoded.png"/>
            <p:cNvPicPr>
              <a:picLocks noChangeAspect="1"/>
            </p:cNvPicPr>
            <p:nvPr/>
          </p:nvPicPr>
          <p:blipFill>
            <a:blip r:embed="rId7"/>
            <a:stretch>
              <a:fillRect/>
            </a:stretch>
          </p:blipFill>
          <p:spPr>
            <a:xfrm>
              <a:off x="15640" y="5110"/>
              <a:ext cx="2840" cy="1320"/>
            </a:xfrm>
            <a:prstGeom prst="rect">
              <a:avLst/>
            </a:prstGeom>
          </p:spPr>
        </p:pic>
        <p:pic>
          <p:nvPicPr>
            <p:cNvPr id="69" name="Image 67" descr="preencoded.png"/>
            <p:cNvPicPr>
              <a:picLocks noChangeAspect="1"/>
            </p:cNvPicPr>
            <p:nvPr/>
          </p:nvPicPr>
          <p:blipFill>
            <a:blip r:embed="rId6"/>
            <a:stretch>
              <a:fillRect/>
            </a:stretch>
          </p:blipFill>
          <p:spPr>
            <a:xfrm>
              <a:off x="15760" y="5230"/>
              <a:ext cx="360" cy="360"/>
            </a:xfrm>
            <a:prstGeom prst="rect">
              <a:avLst/>
            </a:prstGeom>
          </p:spPr>
        </p:pic>
        <p:sp>
          <p:nvSpPr>
            <p:cNvPr id="148" name="Text 75"/>
            <p:cNvSpPr/>
            <p:nvPr/>
          </p:nvSpPr>
          <p:spPr>
            <a:xfrm>
              <a:off x="10320" y="4090"/>
              <a:ext cx="2332" cy="135"/>
            </a:xfrm>
            <a:prstGeom prst="rect">
              <a:avLst/>
            </a:prstGeom>
            <a:noFill/>
          </p:spPr>
          <p:txBody>
            <a:bodyPr wrap="square" lIns="0" tIns="0" rIns="0" bIns="0" rtlCol="0" anchor="t">
              <a:spAutoFit/>
            </a:bodyPr>
            <a:p>
              <a:pPr marL="0" indent="0">
                <a:lnSpc>
                  <a:spcPts val="1500"/>
                </a:lnSpc>
                <a:buNone/>
              </a:pPr>
              <a:r>
                <a:rPr lang="en-US" sz="1600" b="1" dirty="0">
                  <a:solidFill>
                    <a:srgbClr val="1F2937"/>
                  </a:solidFill>
                  <a:latin typeface="ui-sans-serif" pitchFamily="34" charset="0"/>
                  <a:ea typeface="ui-sans-serif" pitchFamily="34" charset="-122"/>
                  <a:cs typeface="ui-sans-serif" pitchFamily="34" charset="-120"/>
                </a:rPr>
                <a:t>气候 (Climate)</a:t>
              </a:r>
              <a:endParaRPr lang="en-US" sz="1600" b="1" dirty="0">
                <a:solidFill>
                  <a:srgbClr val="1F2937"/>
                </a:solidFill>
                <a:latin typeface="ui-sans-serif" pitchFamily="34" charset="0"/>
                <a:ea typeface="ui-sans-serif" pitchFamily="34" charset="-122"/>
                <a:cs typeface="ui-sans-serif" pitchFamily="34" charset="-120"/>
              </a:endParaRPr>
            </a:p>
          </p:txBody>
        </p:sp>
        <p:sp>
          <p:nvSpPr>
            <p:cNvPr id="149" name="Text 76"/>
            <p:cNvSpPr/>
            <p:nvPr/>
          </p:nvSpPr>
          <p:spPr>
            <a:xfrm>
              <a:off x="10320" y="4390"/>
              <a:ext cx="2120" cy="217"/>
            </a:xfrm>
            <a:prstGeom prst="rect">
              <a:avLst/>
            </a:prstGeom>
            <a:noFill/>
          </p:spPr>
          <p:txBody>
            <a:bodyPr wrap="square" lIns="0" tIns="0" rIns="0" bIns="0" rtlCol="0" anchor="t">
              <a:spAutoFit/>
            </a:bodyPr>
            <a:p>
              <a:pPr marL="0" indent="0">
                <a:lnSpc>
                  <a:spcPts val="1200"/>
                </a:lnSpc>
                <a:buNone/>
              </a:pPr>
              <a:r>
                <a:rPr lang="en-US" sz="1400" dirty="0">
                  <a:solidFill>
                    <a:srgbClr val="4B5563"/>
                  </a:solidFill>
                  <a:latin typeface="ui-sans-serif" pitchFamily="34" charset="0"/>
                  <a:ea typeface="ui-sans-serif" pitchFamily="34" charset="-122"/>
                  <a:cs typeface="ui-sans-serif" pitchFamily="34" charset="-120"/>
                </a:rPr>
                <a:t>气候条件及其变化对系统的影响</a:t>
              </a:r>
              <a:endParaRPr lang="en-US" sz="1400" dirty="0">
                <a:solidFill>
                  <a:srgbClr val="4B5563"/>
                </a:solidFill>
                <a:latin typeface="ui-sans-serif" pitchFamily="34" charset="0"/>
                <a:ea typeface="ui-sans-serif" pitchFamily="34" charset="-122"/>
                <a:cs typeface="ui-sans-serif" pitchFamily="34" charset="-120"/>
              </a:endParaRPr>
            </a:p>
          </p:txBody>
        </p:sp>
        <p:sp>
          <p:nvSpPr>
            <p:cNvPr id="150" name="Text 77"/>
            <p:cNvSpPr/>
            <p:nvPr/>
          </p:nvSpPr>
          <p:spPr>
            <a:xfrm>
              <a:off x="12917" y="4150"/>
              <a:ext cx="138" cy="108"/>
            </a:xfrm>
            <a:prstGeom prst="rect">
              <a:avLst/>
            </a:prstGeom>
            <a:noFill/>
          </p:spPr>
          <p:txBody>
            <a:bodyPr wrap="square" lIns="0" tIns="0" rIns="0" bIns="0" rtlCol="0" anchor="t">
              <a:spAutoFit/>
            </a:bodyPr>
            <a:p>
              <a:pPr marL="0" indent="0">
                <a:lnSpc>
                  <a:spcPts val="1200"/>
                </a:lnSpc>
                <a:buNone/>
              </a:pPr>
              <a:r>
                <a:rPr lang="en-US" sz="1400" b="1" dirty="0">
                  <a:solidFill>
                    <a:srgbClr val="0D9488"/>
                  </a:solidFill>
                  <a:latin typeface="ui-sans-serif" pitchFamily="34" charset="0"/>
                  <a:ea typeface="ui-sans-serif" pitchFamily="34" charset="-122"/>
                  <a:cs typeface="ui-sans-serif" pitchFamily="34" charset="-120"/>
                </a:rPr>
                <a:t>2</a:t>
              </a:r>
              <a:endParaRPr lang="en-US" sz="1400" b="1" dirty="0">
                <a:solidFill>
                  <a:srgbClr val="0D9488"/>
                </a:solidFill>
                <a:latin typeface="ui-sans-serif" pitchFamily="34" charset="0"/>
                <a:ea typeface="ui-sans-serif" pitchFamily="34" charset="-122"/>
                <a:cs typeface="ui-sans-serif" pitchFamily="34" charset="-120"/>
              </a:endParaRPr>
            </a:p>
          </p:txBody>
        </p:sp>
        <p:sp>
          <p:nvSpPr>
            <p:cNvPr id="151" name="Text 78"/>
            <p:cNvSpPr/>
            <p:nvPr/>
          </p:nvSpPr>
          <p:spPr>
            <a:xfrm>
              <a:off x="13280" y="4090"/>
              <a:ext cx="2332" cy="135"/>
            </a:xfrm>
            <a:prstGeom prst="rect">
              <a:avLst/>
            </a:prstGeom>
            <a:noFill/>
          </p:spPr>
          <p:txBody>
            <a:bodyPr wrap="square" lIns="0" tIns="0" rIns="0" bIns="0" rtlCol="0" anchor="t">
              <a:spAutoFit/>
            </a:bodyPr>
            <a:p>
              <a:pPr marL="0" indent="0">
                <a:lnSpc>
                  <a:spcPts val="1500"/>
                </a:lnSpc>
                <a:buNone/>
              </a:pPr>
              <a:r>
                <a:rPr lang="en-US" sz="1600" b="1" dirty="0">
                  <a:solidFill>
                    <a:srgbClr val="1F2937"/>
                  </a:solidFill>
                  <a:latin typeface="ui-sans-serif" pitchFamily="34" charset="0"/>
                  <a:ea typeface="ui-sans-serif" pitchFamily="34" charset="-122"/>
                  <a:cs typeface="ui-sans-serif" pitchFamily="34" charset="-120"/>
                </a:rPr>
                <a:t>地形 (Topography)</a:t>
              </a:r>
              <a:endParaRPr lang="en-US" sz="1600" b="1" dirty="0">
                <a:solidFill>
                  <a:srgbClr val="1F2937"/>
                </a:solidFill>
                <a:latin typeface="ui-sans-serif" pitchFamily="34" charset="0"/>
                <a:ea typeface="ui-sans-serif" pitchFamily="34" charset="-122"/>
                <a:cs typeface="ui-sans-serif" pitchFamily="34" charset="-120"/>
              </a:endParaRPr>
            </a:p>
          </p:txBody>
        </p:sp>
        <p:sp>
          <p:nvSpPr>
            <p:cNvPr id="152" name="Text 79"/>
            <p:cNvSpPr/>
            <p:nvPr/>
          </p:nvSpPr>
          <p:spPr>
            <a:xfrm>
              <a:off x="13280" y="4390"/>
              <a:ext cx="2120" cy="217"/>
            </a:xfrm>
            <a:prstGeom prst="rect">
              <a:avLst/>
            </a:prstGeom>
            <a:noFill/>
          </p:spPr>
          <p:txBody>
            <a:bodyPr wrap="square" lIns="0" tIns="0" rIns="0" bIns="0" rtlCol="0" anchor="t">
              <a:spAutoFit/>
            </a:bodyPr>
            <a:p>
              <a:pPr marL="0" indent="0">
                <a:lnSpc>
                  <a:spcPts val="1200"/>
                </a:lnSpc>
                <a:buNone/>
              </a:pPr>
              <a:r>
                <a:rPr lang="en-US" sz="1400" dirty="0">
                  <a:solidFill>
                    <a:srgbClr val="4B5563"/>
                  </a:solidFill>
                  <a:latin typeface="ui-sans-serif" pitchFamily="34" charset="0"/>
                  <a:ea typeface="ui-sans-serif" pitchFamily="34" charset="-122"/>
                  <a:cs typeface="ui-sans-serif" pitchFamily="34" charset="-120"/>
                </a:rPr>
                <a:t>地形特征及其对资源分布的影响</a:t>
              </a:r>
              <a:endParaRPr lang="en-US" sz="1400" dirty="0">
                <a:solidFill>
                  <a:srgbClr val="4B5563"/>
                </a:solidFill>
                <a:latin typeface="ui-sans-serif" pitchFamily="34" charset="0"/>
                <a:ea typeface="ui-sans-serif" pitchFamily="34" charset="-122"/>
                <a:cs typeface="ui-sans-serif" pitchFamily="34" charset="-120"/>
              </a:endParaRPr>
            </a:p>
          </p:txBody>
        </p:sp>
        <p:sp>
          <p:nvSpPr>
            <p:cNvPr id="153" name="Text 80"/>
            <p:cNvSpPr/>
            <p:nvPr/>
          </p:nvSpPr>
          <p:spPr>
            <a:xfrm>
              <a:off x="15877" y="4150"/>
              <a:ext cx="138" cy="108"/>
            </a:xfrm>
            <a:prstGeom prst="rect">
              <a:avLst/>
            </a:prstGeom>
            <a:noFill/>
          </p:spPr>
          <p:txBody>
            <a:bodyPr wrap="square" lIns="0" tIns="0" rIns="0" bIns="0" rtlCol="0" anchor="t">
              <a:spAutoFit/>
            </a:bodyPr>
            <a:p>
              <a:pPr marL="0" indent="0">
                <a:lnSpc>
                  <a:spcPts val="1200"/>
                </a:lnSpc>
                <a:buNone/>
              </a:pPr>
              <a:r>
                <a:rPr lang="en-US" sz="1400" b="1" dirty="0">
                  <a:solidFill>
                    <a:srgbClr val="0D9488"/>
                  </a:solidFill>
                  <a:latin typeface="ui-sans-serif" pitchFamily="34" charset="0"/>
                  <a:ea typeface="ui-sans-serif" pitchFamily="34" charset="-122"/>
                  <a:cs typeface="ui-sans-serif" pitchFamily="34" charset="-120"/>
                </a:rPr>
                <a:t>3</a:t>
              </a:r>
              <a:endParaRPr lang="en-US" sz="1400" b="1" dirty="0">
                <a:solidFill>
                  <a:srgbClr val="0D9488"/>
                </a:solidFill>
                <a:latin typeface="ui-sans-serif" pitchFamily="34" charset="0"/>
                <a:ea typeface="ui-sans-serif" pitchFamily="34" charset="-122"/>
                <a:cs typeface="ui-sans-serif" pitchFamily="34" charset="-120"/>
              </a:endParaRPr>
            </a:p>
          </p:txBody>
        </p:sp>
        <p:sp>
          <p:nvSpPr>
            <p:cNvPr id="154" name="Text 81"/>
            <p:cNvSpPr/>
            <p:nvPr/>
          </p:nvSpPr>
          <p:spPr>
            <a:xfrm>
              <a:off x="16240" y="4090"/>
              <a:ext cx="2332" cy="135"/>
            </a:xfrm>
            <a:prstGeom prst="rect">
              <a:avLst/>
            </a:prstGeom>
            <a:noFill/>
          </p:spPr>
          <p:txBody>
            <a:bodyPr wrap="square" lIns="0" tIns="0" rIns="0" bIns="0" rtlCol="0" anchor="t">
              <a:spAutoFit/>
            </a:bodyPr>
            <a:p>
              <a:pPr marL="0" indent="0">
                <a:lnSpc>
                  <a:spcPts val="1500"/>
                </a:lnSpc>
                <a:buNone/>
              </a:pPr>
              <a:r>
                <a:rPr lang="en-US" sz="1600" b="1" dirty="0">
                  <a:solidFill>
                    <a:srgbClr val="1F2937"/>
                  </a:solidFill>
                  <a:latin typeface="ui-sans-serif" pitchFamily="34" charset="0"/>
                  <a:ea typeface="ui-sans-serif" pitchFamily="34" charset="-122"/>
                  <a:cs typeface="ui-sans-serif" pitchFamily="34" charset="-120"/>
                </a:rPr>
                <a:t>水文 (Hydrology)</a:t>
              </a:r>
              <a:endParaRPr lang="en-US" sz="1600" b="1" dirty="0">
                <a:solidFill>
                  <a:srgbClr val="1F2937"/>
                </a:solidFill>
                <a:latin typeface="ui-sans-serif" pitchFamily="34" charset="0"/>
                <a:ea typeface="ui-sans-serif" pitchFamily="34" charset="-122"/>
                <a:cs typeface="ui-sans-serif" pitchFamily="34" charset="-120"/>
              </a:endParaRPr>
            </a:p>
          </p:txBody>
        </p:sp>
        <p:sp>
          <p:nvSpPr>
            <p:cNvPr id="155" name="Text 82"/>
            <p:cNvSpPr/>
            <p:nvPr/>
          </p:nvSpPr>
          <p:spPr>
            <a:xfrm>
              <a:off x="16240" y="4390"/>
              <a:ext cx="2120" cy="217"/>
            </a:xfrm>
            <a:prstGeom prst="rect">
              <a:avLst/>
            </a:prstGeom>
            <a:noFill/>
          </p:spPr>
          <p:txBody>
            <a:bodyPr wrap="square" lIns="0" tIns="0" rIns="0" bIns="0" rtlCol="0" anchor="t">
              <a:spAutoFit/>
            </a:bodyPr>
            <a:p>
              <a:pPr marL="0" indent="0">
                <a:lnSpc>
                  <a:spcPts val="1200"/>
                </a:lnSpc>
                <a:buNone/>
              </a:pPr>
              <a:r>
                <a:rPr lang="en-US" sz="1400" dirty="0">
                  <a:solidFill>
                    <a:srgbClr val="4B5563"/>
                  </a:solidFill>
                  <a:latin typeface="ui-sans-serif" pitchFamily="34" charset="0"/>
                  <a:ea typeface="ui-sans-serif" pitchFamily="34" charset="-122"/>
                  <a:cs typeface="ui-sans-serif" pitchFamily="34" charset="-120"/>
                </a:rPr>
                <a:t>水资源的分布、流动和质量特征</a:t>
              </a:r>
              <a:endParaRPr lang="en-US" sz="1400" dirty="0">
                <a:solidFill>
                  <a:srgbClr val="4B5563"/>
                </a:solidFill>
                <a:latin typeface="ui-sans-serif" pitchFamily="34" charset="0"/>
                <a:ea typeface="ui-sans-serif" pitchFamily="34" charset="-122"/>
                <a:cs typeface="ui-sans-serif" pitchFamily="34" charset="-120"/>
              </a:endParaRPr>
            </a:p>
          </p:txBody>
        </p:sp>
        <p:sp>
          <p:nvSpPr>
            <p:cNvPr id="157" name="Text 84"/>
            <p:cNvSpPr/>
            <p:nvPr/>
          </p:nvSpPr>
          <p:spPr>
            <a:xfrm>
              <a:off x="10320" y="5230"/>
              <a:ext cx="2120" cy="271"/>
            </a:xfrm>
            <a:prstGeom prst="rect">
              <a:avLst/>
            </a:prstGeom>
            <a:noFill/>
          </p:spPr>
          <p:txBody>
            <a:bodyPr wrap="square" lIns="0" tIns="0" rIns="0" bIns="0" rtlCol="0" anchor="t">
              <a:spAutoFit/>
            </a:bodyPr>
            <a:p>
              <a:pPr marL="0" indent="0">
                <a:lnSpc>
                  <a:spcPts val="1500"/>
                </a:lnSpc>
                <a:buNone/>
              </a:pPr>
              <a:r>
                <a:rPr lang="en-US" sz="1600" b="1" dirty="0">
                  <a:solidFill>
                    <a:srgbClr val="1F2937"/>
                  </a:solidFill>
                  <a:latin typeface="ui-sans-serif" pitchFamily="34" charset="0"/>
                  <a:ea typeface="ui-sans-serif" pitchFamily="34" charset="-122"/>
                  <a:cs typeface="ui-sans-serif" pitchFamily="34" charset="-120"/>
                </a:rPr>
                <a:t>生物多样性 (Biodiversity)</a:t>
              </a:r>
              <a:endParaRPr lang="en-US" sz="1600" b="1" dirty="0">
                <a:solidFill>
                  <a:srgbClr val="1F2937"/>
                </a:solidFill>
                <a:latin typeface="ui-sans-serif" pitchFamily="34" charset="0"/>
                <a:ea typeface="ui-sans-serif" pitchFamily="34" charset="-122"/>
                <a:cs typeface="ui-sans-serif" pitchFamily="34" charset="-120"/>
              </a:endParaRPr>
            </a:p>
          </p:txBody>
        </p:sp>
        <p:sp>
          <p:nvSpPr>
            <p:cNvPr id="158" name="Text 85"/>
            <p:cNvSpPr/>
            <p:nvPr/>
          </p:nvSpPr>
          <p:spPr>
            <a:xfrm>
              <a:off x="10320" y="5830"/>
              <a:ext cx="2120" cy="217"/>
            </a:xfrm>
            <a:prstGeom prst="rect">
              <a:avLst/>
            </a:prstGeom>
            <a:noFill/>
          </p:spPr>
          <p:txBody>
            <a:bodyPr wrap="square" lIns="0" tIns="0" rIns="0" bIns="0" rtlCol="0" anchor="t">
              <a:spAutoFit/>
            </a:bodyPr>
            <a:p>
              <a:pPr marL="0" indent="0">
                <a:lnSpc>
                  <a:spcPts val="1200"/>
                </a:lnSpc>
                <a:buNone/>
              </a:pPr>
              <a:r>
                <a:rPr lang="en-US" sz="1400" dirty="0">
                  <a:solidFill>
                    <a:srgbClr val="4B5563"/>
                  </a:solidFill>
                  <a:latin typeface="ui-sans-serif" pitchFamily="34" charset="0"/>
                  <a:ea typeface="ui-sans-serif" pitchFamily="34" charset="-122"/>
                  <a:cs typeface="ui-sans-serif" pitchFamily="34" charset="-120"/>
                </a:rPr>
                <a:t>系统内物种的丰富度和多样性</a:t>
              </a:r>
              <a:endParaRPr lang="en-US" sz="1400" dirty="0">
                <a:solidFill>
                  <a:srgbClr val="4B5563"/>
                </a:solidFill>
                <a:latin typeface="ui-sans-serif" pitchFamily="34" charset="0"/>
                <a:ea typeface="ui-sans-serif" pitchFamily="34" charset="-122"/>
                <a:cs typeface="ui-sans-serif" pitchFamily="34" charset="-120"/>
              </a:endParaRPr>
            </a:p>
          </p:txBody>
        </p:sp>
        <p:sp>
          <p:nvSpPr>
            <p:cNvPr id="159" name="Text 86"/>
            <p:cNvSpPr/>
            <p:nvPr/>
          </p:nvSpPr>
          <p:spPr>
            <a:xfrm>
              <a:off x="12917" y="5290"/>
              <a:ext cx="138" cy="108"/>
            </a:xfrm>
            <a:prstGeom prst="rect">
              <a:avLst/>
            </a:prstGeom>
            <a:noFill/>
          </p:spPr>
          <p:txBody>
            <a:bodyPr wrap="square" lIns="0" tIns="0" rIns="0" bIns="0" rtlCol="0" anchor="t">
              <a:spAutoFit/>
            </a:bodyPr>
            <a:p>
              <a:pPr marL="0" indent="0">
                <a:lnSpc>
                  <a:spcPts val="1200"/>
                </a:lnSpc>
                <a:buNone/>
              </a:pPr>
              <a:r>
                <a:rPr lang="en-US" sz="1400" b="1" dirty="0">
                  <a:solidFill>
                    <a:srgbClr val="0D9488"/>
                  </a:solidFill>
                  <a:latin typeface="ui-sans-serif" pitchFamily="34" charset="0"/>
                  <a:ea typeface="ui-sans-serif" pitchFamily="34" charset="-122"/>
                  <a:cs typeface="ui-sans-serif" pitchFamily="34" charset="-120"/>
                </a:rPr>
                <a:t>5</a:t>
              </a:r>
              <a:endParaRPr lang="en-US" sz="1400" b="1" dirty="0">
                <a:solidFill>
                  <a:srgbClr val="0D9488"/>
                </a:solidFill>
                <a:latin typeface="ui-sans-serif" pitchFamily="34" charset="0"/>
                <a:ea typeface="ui-sans-serif" pitchFamily="34" charset="-122"/>
                <a:cs typeface="ui-sans-serif" pitchFamily="34" charset="-120"/>
              </a:endParaRPr>
            </a:p>
          </p:txBody>
        </p:sp>
        <p:sp>
          <p:nvSpPr>
            <p:cNvPr id="160" name="Text 87"/>
            <p:cNvSpPr/>
            <p:nvPr/>
          </p:nvSpPr>
          <p:spPr>
            <a:xfrm>
              <a:off x="13280" y="5230"/>
              <a:ext cx="2332" cy="135"/>
            </a:xfrm>
            <a:prstGeom prst="rect">
              <a:avLst/>
            </a:prstGeom>
            <a:noFill/>
          </p:spPr>
          <p:txBody>
            <a:bodyPr wrap="square" lIns="0" tIns="0" rIns="0" bIns="0" rtlCol="0" anchor="t">
              <a:spAutoFit/>
            </a:bodyPr>
            <a:p>
              <a:pPr marL="0" indent="0">
                <a:lnSpc>
                  <a:spcPts val="1500"/>
                </a:lnSpc>
                <a:buNone/>
              </a:pPr>
              <a:r>
                <a:rPr lang="en-US" sz="1600" b="1" dirty="0">
                  <a:solidFill>
                    <a:srgbClr val="1F2937"/>
                  </a:solidFill>
                  <a:latin typeface="ui-sans-serif" pitchFamily="34" charset="0"/>
                  <a:ea typeface="ui-sans-serif" pitchFamily="34" charset="-122"/>
                  <a:cs typeface="ui-sans-serif" pitchFamily="34" charset="-120"/>
                </a:rPr>
                <a:t>污染 (Pollution)</a:t>
              </a:r>
              <a:endParaRPr lang="en-US" sz="1600" b="1" dirty="0">
                <a:solidFill>
                  <a:srgbClr val="1F2937"/>
                </a:solidFill>
                <a:latin typeface="ui-sans-serif" pitchFamily="34" charset="0"/>
                <a:ea typeface="ui-sans-serif" pitchFamily="34" charset="-122"/>
                <a:cs typeface="ui-sans-serif" pitchFamily="34" charset="-120"/>
              </a:endParaRPr>
            </a:p>
          </p:txBody>
        </p:sp>
        <p:sp>
          <p:nvSpPr>
            <p:cNvPr id="161" name="Text 88"/>
            <p:cNvSpPr/>
            <p:nvPr/>
          </p:nvSpPr>
          <p:spPr>
            <a:xfrm>
              <a:off x="13280" y="5530"/>
              <a:ext cx="2120" cy="217"/>
            </a:xfrm>
            <a:prstGeom prst="rect">
              <a:avLst/>
            </a:prstGeom>
            <a:noFill/>
          </p:spPr>
          <p:txBody>
            <a:bodyPr wrap="square" lIns="0" tIns="0" rIns="0" bIns="0" rtlCol="0" anchor="t">
              <a:spAutoFit/>
            </a:bodyPr>
            <a:p>
              <a:pPr marL="0" indent="0">
                <a:lnSpc>
                  <a:spcPts val="1200"/>
                </a:lnSpc>
                <a:buNone/>
              </a:pPr>
              <a:r>
                <a:rPr lang="en-US" sz="1400" dirty="0">
                  <a:solidFill>
                    <a:srgbClr val="4B5563"/>
                  </a:solidFill>
                  <a:latin typeface="ui-sans-serif" pitchFamily="34" charset="0"/>
                  <a:ea typeface="ui-sans-serif" pitchFamily="34" charset="-122"/>
                  <a:cs typeface="ui-sans-serif" pitchFamily="34" charset="-120"/>
                </a:rPr>
                <a:t>环境污染物及其对系统的影响</a:t>
              </a:r>
              <a:endParaRPr lang="en-US" sz="1400" dirty="0">
                <a:solidFill>
                  <a:srgbClr val="4B5563"/>
                </a:solidFill>
                <a:latin typeface="ui-sans-serif" pitchFamily="34" charset="0"/>
                <a:ea typeface="ui-sans-serif" pitchFamily="34" charset="-122"/>
                <a:cs typeface="ui-sans-serif" pitchFamily="34" charset="-120"/>
              </a:endParaRPr>
            </a:p>
          </p:txBody>
        </p:sp>
        <p:sp>
          <p:nvSpPr>
            <p:cNvPr id="162" name="Text 89"/>
            <p:cNvSpPr/>
            <p:nvPr/>
          </p:nvSpPr>
          <p:spPr>
            <a:xfrm>
              <a:off x="15877" y="5290"/>
              <a:ext cx="138" cy="108"/>
            </a:xfrm>
            <a:prstGeom prst="rect">
              <a:avLst/>
            </a:prstGeom>
            <a:noFill/>
          </p:spPr>
          <p:txBody>
            <a:bodyPr wrap="square" lIns="0" tIns="0" rIns="0" bIns="0" rtlCol="0" anchor="t">
              <a:spAutoFit/>
            </a:bodyPr>
            <a:p>
              <a:pPr marL="0" indent="0">
                <a:lnSpc>
                  <a:spcPts val="1200"/>
                </a:lnSpc>
                <a:buNone/>
              </a:pPr>
              <a:r>
                <a:rPr lang="en-US" sz="1400" b="1" dirty="0">
                  <a:solidFill>
                    <a:srgbClr val="0D9488"/>
                  </a:solidFill>
                  <a:latin typeface="ui-sans-serif" pitchFamily="34" charset="0"/>
                  <a:ea typeface="ui-sans-serif" pitchFamily="34" charset="-122"/>
                  <a:cs typeface="ui-sans-serif" pitchFamily="34" charset="-120"/>
                </a:rPr>
                <a:t>6</a:t>
              </a:r>
              <a:endParaRPr lang="en-US" sz="1400" b="1" dirty="0">
                <a:solidFill>
                  <a:srgbClr val="0D9488"/>
                </a:solidFill>
                <a:latin typeface="ui-sans-serif" pitchFamily="34" charset="0"/>
                <a:ea typeface="ui-sans-serif" pitchFamily="34" charset="-122"/>
                <a:cs typeface="ui-sans-serif" pitchFamily="34" charset="-120"/>
              </a:endParaRPr>
            </a:p>
          </p:txBody>
        </p:sp>
        <p:sp>
          <p:nvSpPr>
            <p:cNvPr id="163" name="Text 90"/>
            <p:cNvSpPr/>
            <p:nvPr/>
          </p:nvSpPr>
          <p:spPr>
            <a:xfrm>
              <a:off x="16240" y="5230"/>
              <a:ext cx="2120" cy="271"/>
            </a:xfrm>
            <a:prstGeom prst="rect">
              <a:avLst/>
            </a:prstGeom>
            <a:noFill/>
          </p:spPr>
          <p:txBody>
            <a:bodyPr wrap="square" lIns="0" tIns="0" rIns="0" bIns="0" rtlCol="0" anchor="t">
              <a:spAutoFit/>
            </a:bodyPr>
            <a:p>
              <a:pPr marL="0" indent="0">
                <a:lnSpc>
                  <a:spcPts val="1500"/>
                </a:lnSpc>
                <a:buNone/>
              </a:pPr>
              <a:r>
                <a:rPr lang="en-US" sz="1600" b="1" dirty="0">
                  <a:solidFill>
                    <a:srgbClr val="1F2937"/>
                  </a:solidFill>
                  <a:latin typeface="ui-sans-serif" pitchFamily="34" charset="0"/>
                  <a:ea typeface="ui-sans-serif" pitchFamily="34" charset="-122"/>
                  <a:cs typeface="ui-sans-serif" pitchFamily="34" charset="-120"/>
                </a:rPr>
                <a:t>外部冲击 (External shocks)</a:t>
              </a:r>
              <a:endParaRPr lang="en-US" sz="1600" b="1" dirty="0">
                <a:solidFill>
                  <a:srgbClr val="1F2937"/>
                </a:solidFill>
                <a:latin typeface="ui-sans-serif" pitchFamily="34" charset="0"/>
                <a:ea typeface="ui-sans-serif" pitchFamily="34" charset="-122"/>
                <a:cs typeface="ui-sans-serif" pitchFamily="34" charset="-120"/>
              </a:endParaRPr>
            </a:p>
          </p:txBody>
        </p:sp>
        <p:sp>
          <p:nvSpPr>
            <p:cNvPr id="164" name="Text 91"/>
            <p:cNvSpPr/>
            <p:nvPr/>
          </p:nvSpPr>
          <p:spPr>
            <a:xfrm>
              <a:off x="16240" y="5830"/>
              <a:ext cx="2120" cy="217"/>
            </a:xfrm>
            <a:prstGeom prst="rect">
              <a:avLst/>
            </a:prstGeom>
            <a:noFill/>
          </p:spPr>
          <p:txBody>
            <a:bodyPr wrap="square" lIns="0" tIns="0" rIns="0" bIns="0" rtlCol="0" anchor="t">
              <a:spAutoFit/>
            </a:bodyPr>
            <a:p>
              <a:pPr marL="0" indent="0">
                <a:lnSpc>
                  <a:spcPts val="1200"/>
                </a:lnSpc>
                <a:buNone/>
              </a:pPr>
              <a:r>
                <a:rPr lang="en-US" sz="1400" dirty="0">
                  <a:solidFill>
                    <a:srgbClr val="4B5563"/>
                  </a:solidFill>
                  <a:latin typeface="ui-sans-serif" pitchFamily="34" charset="0"/>
                  <a:ea typeface="ui-sans-serif" pitchFamily="34" charset="-122"/>
                  <a:cs typeface="ui-sans-serif" pitchFamily="34" charset="-120"/>
                </a:rPr>
                <a:t>自然灾害和其他外部事件对系统的影响</a:t>
              </a:r>
              <a:endParaRPr lang="en-US" sz="1400" dirty="0">
                <a:solidFill>
                  <a:srgbClr val="4B5563"/>
                </a:solidFill>
                <a:latin typeface="ui-sans-serif" pitchFamily="34" charset="0"/>
                <a:ea typeface="ui-sans-serif" pitchFamily="34" charset="-122"/>
                <a:cs typeface="ui-sans-serif" pitchFamily="34" charset="-12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2" name="组合 61"/>
          <p:cNvGrpSpPr/>
          <p:nvPr/>
        </p:nvGrpSpPr>
        <p:grpSpPr>
          <a:xfrm>
            <a:off x="0" y="190518"/>
            <a:ext cx="9990455" cy="6668117"/>
            <a:chOff x="0" y="300"/>
            <a:chExt cx="20256" cy="10500"/>
          </a:xfrm>
        </p:grpSpPr>
        <p:pic>
          <p:nvPicPr>
            <p:cNvPr id="3" name="Image 1" descr="preencoded.png"/>
            <p:cNvPicPr>
              <a:picLocks noChangeAspect="1"/>
            </p:cNvPicPr>
            <p:nvPr/>
          </p:nvPicPr>
          <p:blipFill>
            <a:blip r:embed="rId1"/>
            <a:stretch>
              <a:fillRect/>
            </a:stretch>
          </p:blipFill>
          <p:spPr>
            <a:xfrm>
              <a:off x="720" y="300"/>
              <a:ext cx="17760" cy="660"/>
            </a:xfrm>
            <a:prstGeom prst="rect">
              <a:avLst/>
            </a:prstGeom>
          </p:spPr>
        </p:pic>
        <p:pic>
          <p:nvPicPr>
            <p:cNvPr id="4" name="Image 2" descr="preencoded.png"/>
            <p:cNvPicPr>
              <a:picLocks noChangeAspect="1"/>
            </p:cNvPicPr>
            <p:nvPr/>
          </p:nvPicPr>
          <p:blipFill>
            <a:blip r:embed="rId2"/>
            <a:stretch>
              <a:fillRect/>
            </a:stretch>
          </p:blipFill>
          <p:spPr>
            <a:xfrm>
              <a:off x="720" y="2100"/>
              <a:ext cx="5760" cy="3480"/>
            </a:xfrm>
            <a:prstGeom prst="rect">
              <a:avLst/>
            </a:prstGeom>
          </p:spPr>
        </p:pic>
        <p:pic>
          <p:nvPicPr>
            <p:cNvPr id="5" name="Image 3" descr="preencoded.png"/>
            <p:cNvPicPr>
              <a:picLocks noChangeAspect="1"/>
            </p:cNvPicPr>
            <p:nvPr/>
          </p:nvPicPr>
          <p:blipFill>
            <a:blip r:embed="rId3"/>
            <a:stretch>
              <a:fillRect/>
            </a:stretch>
          </p:blipFill>
          <p:spPr>
            <a:xfrm>
              <a:off x="960" y="2340"/>
              <a:ext cx="600" cy="600"/>
            </a:xfrm>
            <a:prstGeom prst="rect">
              <a:avLst/>
            </a:prstGeom>
          </p:spPr>
        </p:pic>
        <p:pic>
          <p:nvPicPr>
            <p:cNvPr id="6" name="Image 4" descr="preencoded.png"/>
            <p:cNvPicPr>
              <a:picLocks noChangeAspect="1"/>
            </p:cNvPicPr>
            <p:nvPr/>
          </p:nvPicPr>
          <p:blipFill>
            <a:blip r:embed="rId4"/>
            <a:stretch>
              <a:fillRect/>
            </a:stretch>
          </p:blipFill>
          <p:spPr>
            <a:xfrm>
              <a:off x="1110" y="2430"/>
              <a:ext cx="300" cy="420"/>
            </a:xfrm>
            <a:prstGeom prst="rect">
              <a:avLst/>
            </a:prstGeom>
          </p:spPr>
        </p:pic>
        <p:pic>
          <p:nvPicPr>
            <p:cNvPr id="7" name="Image 5" descr="preencoded.png"/>
            <p:cNvPicPr>
              <a:picLocks noChangeAspect="1"/>
            </p:cNvPicPr>
            <p:nvPr/>
          </p:nvPicPr>
          <p:blipFill>
            <a:blip r:embed="rId5"/>
            <a:stretch>
              <a:fillRect/>
            </a:stretch>
          </p:blipFill>
          <p:spPr>
            <a:xfrm>
              <a:off x="960" y="3120"/>
              <a:ext cx="5280" cy="1020"/>
            </a:xfrm>
            <a:prstGeom prst="rect">
              <a:avLst/>
            </a:prstGeom>
          </p:spPr>
        </p:pic>
        <p:pic>
          <p:nvPicPr>
            <p:cNvPr id="8" name="Image 6" descr="preencoded.png"/>
            <p:cNvPicPr>
              <a:picLocks noChangeAspect="1"/>
            </p:cNvPicPr>
            <p:nvPr/>
          </p:nvPicPr>
          <p:blipFill>
            <a:blip r:embed="rId6"/>
            <a:stretch>
              <a:fillRect/>
            </a:stretch>
          </p:blipFill>
          <p:spPr>
            <a:xfrm>
              <a:off x="1440" y="3600"/>
              <a:ext cx="210" cy="210"/>
            </a:xfrm>
            <a:prstGeom prst="rect">
              <a:avLst/>
            </a:prstGeom>
          </p:spPr>
        </p:pic>
        <p:pic>
          <p:nvPicPr>
            <p:cNvPr id="9" name="Image 7" descr="preencoded.png"/>
            <p:cNvPicPr>
              <a:picLocks noChangeAspect="1"/>
            </p:cNvPicPr>
            <p:nvPr/>
          </p:nvPicPr>
          <p:blipFill>
            <a:blip r:embed="rId6"/>
            <a:stretch>
              <a:fillRect/>
            </a:stretch>
          </p:blipFill>
          <p:spPr>
            <a:xfrm>
              <a:off x="1440" y="3900"/>
              <a:ext cx="210" cy="210"/>
            </a:xfrm>
            <a:prstGeom prst="rect">
              <a:avLst/>
            </a:prstGeom>
          </p:spPr>
        </p:pic>
        <p:pic>
          <p:nvPicPr>
            <p:cNvPr id="10" name="Image 8" descr="preencoded.png"/>
            <p:cNvPicPr>
              <a:picLocks noChangeAspect="1"/>
            </p:cNvPicPr>
            <p:nvPr/>
          </p:nvPicPr>
          <p:blipFill>
            <a:blip r:embed="rId5"/>
            <a:stretch>
              <a:fillRect/>
            </a:stretch>
          </p:blipFill>
          <p:spPr>
            <a:xfrm>
              <a:off x="960" y="4320"/>
              <a:ext cx="5280" cy="1020"/>
            </a:xfrm>
            <a:prstGeom prst="rect">
              <a:avLst/>
            </a:prstGeom>
          </p:spPr>
        </p:pic>
        <p:pic>
          <p:nvPicPr>
            <p:cNvPr id="11" name="Image 9" descr="preencoded.png"/>
            <p:cNvPicPr>
              <a:picLocks noChangeAspect="1"/>
            </p:cNvPicPr>
            <p:nvPr/>
          </p:nvPicPr>
          <p:blipFill>
            <a:blip r:embed="rId6"/>
            <a:stretch>
              <a:fillRect/>
            </a:stretch>
          </p:blipFill>
          <p:spPr>
            <a:xfrm>
              <a:off x="1440" y="4800"/>
              <a:ext cx="210" cy="210"/>
            </a:xfrm>
            <a:prstGeom prst="rect">
              <a:avLst/>
            </a:prstGeom>
          </p:spPr>
        </p:pic>
        <p:pic>
          <p:nvPicPr>
            <p:cNvPr id="12" name="Image 10" descr="preencoded.png"/>
            <p:cNvPicPr>
              <a:picLocks noChangeAspect="1"/>
            </p:cNvPicPr>
            <p:nvPr/>
          </p:nvPicPr>
          <p:blipFill>
            <a:blip r:embed="rId6"/>
            <a:stretch>
              <a:fillRect/>
            </a:stretch>
          </p:blipFill>
          <p:spPr>
            <a:xfrm>
              <a:off x="1440" y="5100"/>
              <a:ext cx="210" cy="210"/>
            </a:xfrm>
            <a:prstGeom prst="rect">
              <a:avLst/>
            </a:prstGeom>
          </p:spPr>
        </p:pic>
        <p:pic>
          <p:nvPicPr>
            <p:cNvPr id="13" name="Image 11" descr="preencoded.png"/>
            <p:cNvPicPr>
              <a:picLocks noChangeAspect="1"/>
            </p:cNvPicPr>
            <p:nvPr/>
          </p:nvPicPr>
          <p:blipFill>
            <a:blip r:embed="rId2"/>
            <a:stretch>
              <a:fillRect/>
            </a:stretch>
          </p:blipFill>
          <p:spPr>
            <a:xfrm>
              <a:off x="6720" y="2100"/>
              <a:ext cx="5760" cy="3480"/>
            </a:xfrm>
            <a:prstGeom prst="rect">
              <a:avLst/>
            </a:prstGeom>
          </p:spPr>
        </p:pic>
        <p:pic>
          <p:nvPicPr>
            <p:cNvPr id="14" name="Image 12" descr="preencoded.png"/>
            <p:cNvPicPr>
              <a:picLocks noChangeAspect="1"/>
            </p:cNvPicPr>
            <p:nvPr/>
          </p:nvPicPr>
          <p:blipFill>
            <a:blip r:embed="rId7"/>
            <a:stretch>
              <a:fillRect/>
            </a:stretch>
          </p:blipFill>
          <p:spPr>
            <a:xfrm>
              <a:off x="6960" y="2340"/>
              <a:ext cx="600" cy="600"/>
            </a:xfrm>
            <a:prstGeom prst="rect">
              <a:avLst/>
            </a:prstGeom>
          </p:spPr>
        </p:pic>
        <p:pic>
          <p:nvPicPr>
            <p:cNvPr id="15" name="Image 13" descr="preencoded.png"/>
            <p:cNvPicPr>
              <a:picLocks noChangeAspect="1"/>
            </p:cNvPicPr>
            <p:nvPr/>
          </p:nvPicPr>
          <p:blipFill>
            <a:blip r:embed="rId8"/>
            <a:stretch>
              <a:fillRect/>
            </a:stretch>
          </p:blipFill>
          <p:spPr>
            <a:xfrm>
              <a:off x="7110" y="2430"/>
              <a:ext cx="300" cy="420"/>
            </a:xfrm>
            <a:prstGeom prst="rect">
              <a:avLst/>
            </a:prstGeom>
          </p:spPr>
        </p:pic>
        <p:pic>
          <p:nvPicPr>
            <p:cNvPr id="16" name="Image 14" descr="preencoded.png"/>
            <p:cNvPicPr>
              <a:picLocks noChangeAspect="1"/>
            </p:cNvPicPr>
            <p:nvPr/>
          </p:nvPicPr>
          <p:blipFill>
            <a:blip r:embed="rId9"/>
            <a:stretch>
              <a:fillRect/>
            </a:stretch>
          </p:blipFill>
          <p:spPr>
            <a:xfrm>
              <a:off x="6960" y="3120"/>
              <a:ext cx="5280" cy="1020"/>
            </a:xfrm>
            <a:prstGeom prst="rect">
              <a:avLst/>
            </a:prstGeom>
          </p:spPr>
        </p:pic>
        <p:pic>
          <p:nvPicPr>
            <p:cNvPr id="17" name="Image 15" descr="preencoded.png"/>
            <p:cNvPicPr>
              <a:picLocks noChangeAspect="1"/>
            </p:cNvPicPr>
            <p:nvPr/>
          </p:nvPicPr>
          <p:blipFill>
            <a:blip r:embed="rId10"/>
            <a:stretch>
              <a:fillRect/>
            </a:stretch>
          </p:blipFill>
          <p:spPr>
            <a:xfrm>
              <a:off x="7440" y="3600"/>
              <a:ext cx="210" cy="210"/>
            </a:xfrm>
            <a:prstGeom prst="rect">
              <a:avLst/>
            </a:prstGeom>
          </p:spPr>
        </p:pic>
        <p:pic>
          <p:nvPicPr>
            <p:cNvPr id="18" name="Image 16" descr="preencoded.png"/>
            <p:cNvPicPr>
              <a:picLocks noChangeAspect="1"/>
            </p:cNvPicPr>
            <p:nvPr/>
          </p:nvPicPr>
          <p:blipFill>
            <a:blip r:embed="rId10"/>
            <a:stretch>
              <a:fillRect/>
            </a:stretch>
          </p:blipFill>
          <p:spPr>
            <a:xfrm>
              <a:off x="7440" y="3900"/>
              <a:ext cx="210" cy="210"/>
            </a:xfrm>
            <a:prstGeom prst="rect">
              <a:avLst/>
            </a:prstGeom>
          </p:spPr>
        </p:pic>
        <p:pic>
          <p:nvPicPr>
            <p:cNvPr id="19" name="Image 17" descr="preencoded.png"/>
            <p:cNvPicPr>
              <a:picLocks noChangeAspect="1"/>
            </p:cNvPicPr>
            <p:nvPr/>
          </p:nvPicPr>
          <p:blipFill>
            <a:blip r:embed="rId9"/>
            <a:stretch>
              <a:fillRect/>
            </a:stretch>
          </p:blipFill>
          <p:spPr>
            <a:xfrm>
              <a:off x="6960" y="4320"/>
              <a:ext cx="5280" cy="1020"/>
            </a:xfrm>
            <a:prstGeom prst="rect">
              <a:avLst/>
            </a:prstGeom>
          </p:spPr>
        </p:pic>
        <p:pic>
          <p:nvPicPr>
            <p:cNvPr id="20" name="Image 18" descr="preencoded.png"/>
            <p:cNvPicPr>
              <a:picLocks noChangeAspect="1"/>
            </p:cNvPicPr>
            <p:nvPr/>
          </p:nvPicPr>
          <p:blipFill>
            <a:blip r:embed="rId10"/>
            <a:stretch>
              <a:fillRect/>
            </a:stretch>
          </p:blipFill>
          <p:spPr>
            <a:xfrm>
              <a:off x="7440" y="4800"/>
              <a:ext cx="210" cy="210"/>
            </a:xfrm>
            <a:prstGeom prst="rect">
              <a:avLst/>
            </a:prstGeom>
          </p:spPr>
        </p:pic>
        <p:pic>
          <p:nvPicPr>
            <p:cNvPr id="21" name="Image 19" descr="preencoded.png"/>
            <p:cNvPicPr>
              <a:picLocks noChangeAspect="1"/>
            </p:cNvPicPr>
            <p:nvPr/>
          </p:nvPicPr>
          <p:blipFill>
            <a:blip r:embed="rId10"/>
            <a:stretch>
              <a:fillRect/>
            </a:stretch>
          </p:blipFill>
          <p:spPr>
            <a:xfrm>
              <a:off x="7440" y="5100"/>
              <a:ext cx="210" cy="210"/>
            </a:xfrm>
            <a:prstGeom prst="rect">
              <a:avLst/>
            </a:prstGeom>
          </p:spPr>
        </p:pic>
        <p:pic>
          <p:nvPicPr>
            <p:cNvPr id="22" name="Image 20" descr="preencoded.png"/>
            <p:cNvPicPr>
              <a:picLocks noChangeAspect="1"/>
            </p:cNvPicPr>
            <p:nvPr/>
          </p:nvPicPr>
          <p:blipFill>
            <a:blip r:embed="rId2"/>
            <a:stretch>
              <a:fillRect/>
            </a:stretch>
          </p:blipFill>
          <p:spPr>
            <a:xfrm>
              <a:off x="12720" y="2100"/>
              <a:ext cx="5760" cy="3480"/>
            </a:xfrm>
            <a:prstGeom prst="rect">
              <a:avLst/>
            </a:prstGeom>
          </p:spPr>
        </p:pic>
        <p:pic>
          <p:nvPicPr>
            <p:cNvPr id="23" name="Image 21" descr="preencoded.png"/>
            <p:cNvPicPr>
              <a:picLocks noChangeAspect="1"/>
            </p:cNvPicPr>
            <p:nvPr/>
          </p:nvPicPr>
          <p:blipFill>
            <a:blip r:embed="rId11"/>
            <a:stretch>
              <a:fillRect/>
            </a:stretch>
          </p:blipFill>
          <p:spPr>
            <a:xfrm>
              <a:off x="12960" y="2340"/>
              <a:ext cx="600" cy="600"/>
            </a:xfrm>
            <a:prstGeom prst="rect">
              <a:avLst/>
            </a:prstGeom>
          </p:spPr>
        </p:pic>
        <p:pic>
          <p:nvPicPr>
            <p:cNvPr id="24" name="Image 22" descr="preencoded.png"/>
            <p:cNvPicPr>
              <a:picLocks noChangeAspect="1"/>
            </p:cNvPicPr>
            <p:nvPr/>
          </p:nvPicPr>
          <p:blipFill>
            <a:blip r:embed="rId12"/>
            <a:stretch>
              <a:fillRect/>
            </a:stretch>
          </p:blipFill>
          <p:spPr>
            <a:xfrm>
              <a:off x="13073" y="2430"/>
              <a:ext cx="375" cy="420"/>
            </a:xfrm>
            <a:prstGeom prst="rect">
              <a:avLst/>
            </a:prstGeom>
          </p:spPr>
        </p:pic>
        <p:pic>
          <p:nvPicPr>
            <p:cNvPr id="25" name="Image 23" descr="preencoded.png"/>
            <p:cNvPicPr>
              <a:picLocks noChangeAspect="1"/>
            </p:cNvPicPr>
            <p:nvPr/>
          </p:nvPicPr>
          <p:blipFill>
            <a:blip r:embed="rId13"/>
            <a:stretch>
              <a:fillRect/>
            </a:stretch>
          </p:blipFill>
          <p:spPr>
            <a:xfrm>
              <a:off x="12960" y="3120"/>
              <a:ext cx="5280" cy="1020"/>
            </a:xfrm>
            <a:prstGeom prst="rect">
              <a:avLst/>
            </a:prstGeom>
          </p:spPr>
        </p:pic>
        <p:pic>
          <p:nvPicPr>
            <p:cNvPr id="26" name="Image 24" descr="preencoded.png"/>
            <p:cNvPicPr>
              <a:picLocks noChangeAspect="1"/>
            </p:cNvPicPr>
            <p:nvPr/>
          </p:nvPicPr>
          <p:blipFill>
            <a:blip r:embed="rId14"/>
            <a:stretch>
              <a:fillRect/>
            </a:stretch>
          </p:blipFill>
          <p:spPr>
            <a:xfrm>
              <a:off x="13440" y="3600"/>
              <a:ext cx="210" cy="210"/>
            </a:xfrm>
            <a:prstGeom prst="rect">
              <a:avLst/>
            </a:prstGeom>
          </p:spPr>
        </p:pic>
        <p:pic>
          <p:nvPicPr>
            <p:cNvPr id="27" name="Image 25" descr="preencoded.png"/>
            <p:cNvPicPr>
              <a:picLocks noChangeAspect="1"/>
            </p:cNvPicPr>
            <p:nvPr/>
          </p:nvPicPr>
          <p:blipFill>
            <a:blip r:embed="rId14"/>
            <a:stretch>
              <a:fillRect/>
            </a:stretch>
          </p:blipFill>
          <p:spPr>
            <a:xfrm>
              <a:off x="13440" y="3900"/>
              <a:ext cx="210" cy="210"/>
            </a:xfrm>
            <a:prstGeom prst="rect">
              <a:avLst/>
            </a:prstGeom>
          </p:spPr>
        </p:pic>
        <p:pic>
          <p:nvPicPr>
            <p:cNvPr id="28" name="Image 26" descr="preencoded.png"/>
            <p:cNvPicPr>
              <a:picLocks noChangeAspect="1"/>
            </p:cNvPicPr>
            <p:nvPr/>
          </p:nvPicPr>
          <p:blipFill>
            <a:blip r:embed="rId13"/>
            <a:stretch>
              <a:fillRect/>
            </a:stretch>
          </p:blipFill>
          <p:spPr>
            <a:xfrm>
              <a:off x="12960" y="4320"/>
              <a:ext cx="5280" cy="1020"/>
            </a:xfrm>
            <a:prstGeom prst="rect">
              <a:avLst/>
            </a:prstGeom>
          </p:spPr>
        </p:pic>
        <p:pic>
          <p:nvPicPr>
            <p:cNvPr id="29" name="Image 27" descr="preencoded.png"/>
            <p:cNvPicPr>
              <a:picLocks noChangeAspect="1"/>
            </p:cNvPicPr>
            <p:nvPr/>
          </p:nvPicPr>
          <p:blipFill>
            <a:blip r:embed="rId14"/>
            <a:stretch>
              <a:fillRect/>
            </a:stretch>
          </p:blipFill>
          <p:spPr>
            <a:xfrm>
              <a:off x="13440" y="4800"/>
              <a:ext cx="210" cy="210"/>
            </a:xfrm>
            <a:prstGeom prst="rect">
              <a:avLst/>
            </a:prstGeom>
          </p:spPr>
        </p:pic>
        <p:pic>
          <p:nvPicPr>
            <p:cNvPr id="30" name="Image 28" descr="preencoded.png"/>
            <p:cNvPicPr>
              <a:picLocks noChangeAspect="1"/>
            </p:cNvPicPr>
            <p:nvPr/>
          </p:nvPicPr>
          <p:blipFill>
            <a:blip r:embed="rId14"/>
            <a:stretch>
              <a:fillRect/>
            </a:stretch>
          </p:blipFill>
          <p:spPr>
            <a:xfrm>
              <a:off x="13440" y="5100"/>
              <a:ext cx="210" cy="210"/>
            </a:xfrm>
            <a:prstGeom prst="rect">
              <a:avLst/>
            </a:prstGeom>
          </p:spPr>
        </p:pic>
        <p:pic>
          <p:nvPicPr>
            <p:cNvPr id="31" name="Image 29" descr="preencoded.png"/>
            <p:cNvPicPr>
              <a:picLocks noChangeAspect="1"/>
            </p:cNvPicPr>
            <p:nvPr/>
          </p:nvPicPr>
          <p:blipFill>
            <a:blip r:embed="rId15"/>
            <a:stretch>
              <a:fillRect/>
            </a:stretch>
          </p:blipFill>
          <p:spPr>
            <a:xfrm>
              <a:off x="720" y="5820"/>
              <a:ext cx="5760" cy="4080"/>
            </a:xfrm>
            <a:prstGeom prst="rect">
              <a:avLst/>
            </a:prstGeom>
          </p:spPr>
        </p:pic>
        <p:pic>
          <p:nvPicPr>
            <p:cNvPr id="32" name="Image 30" descr="preencoded.png"/>
            <p:cNvPicPr>
              <a:picLocks noChangeAspect="1"/>
            </p:cNvPicPr>
            <p:nvPr/>
          </p:nvPicPr>
          <p:blipFill>
            <a:blip r:embed="rId16"/>
            <a:stretch>
              <a:fillRect/>
            </a:stretch>
          </p:blipFill>
          <p:spPr>
            <a:xfrm>
              <a:off x="960" y="6060"/>
              <a:ext cx="600" cy="600"/>
            </a:xfrm>
            <a:prstGeom prst="rect">
              <a:avLst/>
            </a:prstGeom>
          </p:spPr>
        </p:pic>
        <p:pic>
          <p:nvPicPr>
            <p:cNvPr id="33" name="Image 31" descr="preencoded.png"/>
            <p:cNvPicPr>
              <a:picLocks noChangeAspect="1"/>
            </p:cNvPicPr>
            <p:nvPr/>
          </p:nvPicPr>
          <p:blipFill>
            <a:blip r:embed="rId17"/>
            <a:stretch>
              <a:fillRect/>
            </a:stretch>
          </p:blipFill>
          <p:spPr>
            <a:xfrm>
              <a:off x="1073" y="6150"/>
              <a:ext cx="375" cy="420"/>
            </a:xfrm>
            <a:prstGeom prst="rect">
              <a:avLst/>
            </a:prstGeom>
          </p:spPr>
        </p:pic>
        <p:pic>
          <p:nvPicPr>
            <p:cNvPr id="34" name="Image 32" descr="preencoded.png"/>
            <p:cNvPicPr>
              <a:picLocks noChangeAspect="1"/>
            </p:cNvPicPr>
            <p:nvPr/>
          </p:nvPicPr>
          <p:blipFill>
            <a:blip r:embed="rId18"/>
            <a:stretch>
              <a:fillRect/>
            </a:stretch>
          </p:blipFill>
          <p:spPr>
            <a:xfrm>
              <a:off x="960" y="6840"/>
              <a:ext cx="5280" cy="1320"/>
            </a:xfrm>
            <a:prstGeom prst="rect">
              <a:avLst/>
            </a:prstGeom>
          </p:spPr>
        </p:pic>
        <p:pic>
          <p:nvPicPr>
            <p:cNvPr id="35" name="Image 33" descr="preencoded.png"/>
            <p:cNvPicPr>
              <a:picLocks noChangeAspect="1"/>
            </p:cNvPicPr>
            <p:nvPr/>
          </p:nvPicPr>
          <p:blipFill>
            <a:blip r:embed="rId19"/>
            <a:stretch>
              <a:fillRect/>
            </a:stretch>
          </p:blipFill>
          <p:spPr>
            <a:xfrm>
              <a:off x="1440" y="7320"/>
              <a:ext cx="210" cy="210"/>
            </a:xfrm>
            <a:prstGeom prst="rect">
              <a:avLst/>
            </a:prstGeom>
          </p:spPr>
        </p:pic>
        <p:pic>
          <p:nvPicPr>
            <p:cNvPr id="36" name="Image 34" descr="preencoded.png"/>
            <p:cNvPicPr>
              <a:picLocks noChangeAspect="1"/>
            </p:cNvPicPr>
            <p:nvPr/>
          </p:nvPicPr>
          <p:blipFill>
            <a:blip r:embed="rId19"/>
            <a:stretch>
              <a:fillRect/>
            </a:stretch>
          </p:blipFill>
          <p:spPr>
            <a:xfrm>
              <a:off x="1440" y="7620"/>
              <a:ext cx="210" cy="210"/>
            </a:xfrm>
            <a:prstGeom prst="rect">
              <a:avLst/>
            </a:prstGeom>
          </p:spPr>
        </p:pic>
        <p:pic>
          <p:nvPicPr>
            <p:cNvPr id="37" name="Image 35" descr="preencoded.png"/>
            <p:cNvPicPr>
              <a:picLocks noChangeAspect="1"/>
            </p:cNvPicPr>
            <p:nvPr/>
          </p:nvPicPr>
          <p:blipFill>
            <a:blip r:embed="rId19"/>
            <a:stretch>
              <a:fillRect/>
            </a:stretch>
          </p:blipFill>
          <p:spPr>
            <a:xfrm>
              <a:off x="1440" y="7920"/>
              <a:ext cx="210" cy="210"/>
            </a:xfrm>
            <a:prstGeom prst="rect">
              <a:avLst/>
            </a:prstGeom>
          </p:spPr>
        </p:pic>
        <p:pic>
          <p:nvPicPr>
            <p:cNvPr id="38" name="Image 36" descr="preencoded.png"/>
            <p:cNvPicPr>
              <a:picLocks noChangeAspect="1"/>
            </p:cNvPicPr>
            <p:nvPr/>
          </p:nvPicPr>
          <p:blipFill>
            <a:blip r:embed="rId18"/>
            <a:stretch>
              <a:fillRect/>
            </a:stretch>
          </p:blipFill>
          <p:spPr>
            <a:xfrm>
              <a:off x="960" y="8340"/>
              <a:ext cx="5280" cy="1320"/>
            </a:xfrm>
            <a:prstGeom prst="rect">
              <a:avLst/>
            </a:prstGeom>
          </p:spPr>
        </p:pic>
        <p:pic>
          <p:nvPicPr>
            <p:cNvPr id="39" name="Image 37" descr="preencoded.png"/>
            <p:cNvPicPr>
              <a:picLocks noChangeAspect="1"/>
            </p:cNvPicPr>
            <p:nvPr/>
          </p:nvPicPr>
          <p:blipFill>
            <a:blip r:embed="rId19"/>
            <a:stretch>
              <a:fillRect/>
            </a:stretch>
          </p:blipFill>
          <p:spPr>
            <a:xfrm>
              <a:off x="1440" y="8820"/>
              <a:ext cx="210" cy="210"/>
            </a:xfrm>
            <a:prstGeom prst="rect">
              <a:avLst/>
            </a:prstGeom>
          </p:spPr>
        </p:pic>
        <p:pic>
          <p:nvPicPr>
            <p:cNvPr id="40" name="Image 38" descr="preencoded.png"/>
            <p:cNvPicPr>
              <a:picLocks noChangeAspect="1"/>
            </p:cNvPicPr>
            <p:nvPr/>
          </p:nvPicPr>
          <p:blipFill>
            <a:blip r:embed="rId19"/>
            <a:stretch>
              <a:fillRect/>
            </a:stretch>
          </p:blipFill>
          <p:spPr>
            <a:xfrm>
              <a:off x="1440" y="9120"/>
              <a:ext cx="210" cy="210"/>
            </a:xfrm>
            <a:prstGeom prst="rect">
              <a:avLst/>
            </a:prstGeom>
          </p:spPr>
        </p:pic>
        <p:pic>
          <p:nvPicPr>
            <p:cNvPr id="41" name="Image 39" descr="preencoded.png"/>
            <p:cNvPicPr>
              <a:picLocks noChangeAspect="1"/>
            </p:cNvPicPr>
            <p:nvPr/>
          </p:nvPicPr>
          <p:blipFill>
            <a:blip r:embed="rId19"/>
            <a:stretch>
              <a:fillRect/>
            </a:stretch>
          </p:blipFill>
          <p:spPr>
            <a:xfrm>
              <a:off x="1440" y="9420"/>
              <a:ext cx="210" cy="210"/>
            </a:xfrm>
            <a:prstGeom prst="rect">
              <a:avLst/>
            </a:prstGeom>
          </p:spPr>
        </p:pic>
        <p:pic>
          <p:nvPicPr>
            <p:cNvPr id="42" name="Image 40" descr="preencoded.png"/>
            <p:cNvPicPr>
              <a:picLocks noChangeAspect="1"/>
            </p:cNvPicPr>
            <p:nvPr/>
          </p:nvPicPr>
          <p:blipFill>
            <a:blip r:embed="rId15"/>
            <a:stretch>
              <a:fillRect/>
            </a:stretch>
          </p:blipFill>
          <p:spPr>
            <a:xfrm>
              <a:off x="6720" y="5820"/>
              <a:ext cx="5760" cy="4080"/>
            </a:xfrm>
            <a:prstGeom prst="rect">
              <a:avLst/>
            </a:prstGeom>
          </p:spPr>
        </p:pic>
        <p:pic>
          <p:nvPicPr>
            <p:cNvPr id="43" name="Image 41" descr="preencoded.png"/>
            <p:cNvPicPr>
              <a:picLocks noChangeAspect="1"/>
            </p:cNvPicPr>
            <p:nvPr/>
          </p:nvPicPr>
          <p:blipFill>
            <a:blip r:embed="rId20"/>
            <a:stretch>
              <a:fillRect/>
            </a:stretch>
          </p:blipFill>
          <p:spPr>
            <a:xfrm>
              <a:off x="6960" y="6060"/>
              <a:ext cx="600" cy="600"/>
            </a:xfrm>
            <a:prstGeom prst="rect">
              <a:avLst/>
            </a:prstGeom>
          </p:spPr>
        </p:pic>
        <p:pic>
          <p:nvPicPr>
            <p:cNvPr id="44" name="Image 42" descr="preencoded.png"/>
            <p:cNvPicPr>
              <a:picLocks noChangeAspect="1"/>
            </p:cNvPicPr>
            <p:nvPr/>
          </p:nvPicPr>
          <p:blipFill>
            <a:blip r:embed="rId21"/>
            <a:stretch>
              <a:fillRect/>
            </a:stretch>
          </p:blipFill>
          <p:spPr>
            <a:xfrm>
              <a:off x="7110" y="6150"/>
              <a:ext cx="300" cy="420"/>
            </a:xfrm>
            <a:prstGeom prst="rect">
              <a:avLst/>
            </a:prstGeom>
          </p:spPr>
        </p:pic>
        <p:pic>
          <p:nvPicPr>
            <p:cNvPr id="45" name="Image 43" descr="preencoded.png"/>
            <p:cNvPicPr>
              <a:picLocks noChangeAspect="1"/>
            </p:cNvPicPr>
            <p:nvPr/>
          </p:nvPicPr>
          <p:blipFill>
            <a:blip r:embed="rId22"/>
            <a:stretch>
              <a:fillRect/>
            </a:stretch>
          </p:blipFill>
          <p:spPr>
            <a:xfrm>
              <a:off x="6960" y="6840"/>
              <a:ext cx="5280" cy="1020"/>
            </a:xfrm>
            <a:prstGeom prst="rect">
              <a:avLst/>
            </a:prstGeom>
          </p:spPr>
        </p:pic>
        <p:pic>
          <p:nvPicPr>
            <p:cNvPr id="46" name="Image 44" descr="preencoded.png"/>
            <p:cNvPicPr>
              <a:picLocks noChangeAspect="1"/>
            </p:cNvPicPr>
            <p:nvPr/>
          </p:nvPicPr>
          <p:blipFill>
            <a:blip r:embed="rId23"/>
            <a:stretch>
              <a:fillRect/>
            </a:stretch>
          </p:blipFill>
          <p:spPr>
            <a:xfrm>
              <a:off x="7440" y="7320"/>
              <a:ext cx="210" cy="210"/>
            </a:xfrm>
            <a:prstGeom prst="rect">
              <a:avLst/>
            </a:prstGeom>
          </p:spPr>
        </p:pic>
        <p:pic>
          <p:nvPicPr>
            <p:cNvPr id="47" name="Image 45" descr="preencoded.png"/>
            <p:cNvPicPr>
              <a:picLocks noChangeAspect="1"/>
            </p:cNvPicPr>
            <p:nvPr/>
          </p:nvPicPr>
          <p:blipFill>
            <a:blip r:embed="rId23"/>
            <a:stretch>
              <a:fillRect/>
            </a:stretch>
          </p:blipFill>
          <p:spPr>
            <a:xfrm>
              <a:off x="7440" y="7620"/>
              <a:ext cx="210" cy="210"/>
            </a:xfrm>
            <a:prstGeom prst="rect">
              <a:avLst/>
            </a:prstGeom>
          </p:spPr>
        </p:pic>
        <p:pic>
          <p:nvPicPr>
            <p:cNvPr id="48" name="Image 46" descr="preencoded.png"/>
            <p:cNvPicPr>
              <a:picLocks noChangeAspect="1"/>
            </p:cNvPicPr>
            <p:nvPr/>
          </p:nvPicPr>
          <p:blipFill>
            <a:blip r:embed="rId22"/>
            <a:stretch>
              <a:fillRect/>
            </a:stretch>
          </p:blipFill>
          <p:spPr>
            <a:xfrm>
              <a:off x="6960" y="8040"/>
              <a:ext cx="5280" cy="1020"/>
            </a:xfrm>
            <a:prstGeom prst="rect">
              <a:avLst/>
            </a:prstGeom>
          </p:spPr>
        </p:pic>
        <p:pic>
          <p:nvPicPr>
            <p:cNvPr id="49" name="Image 47" descr="preencoded.png"/>
            <p:cNvPicPr>
              <a:picLocks noChangeAspect="1"/>
            </p:cNvPicPr>
            <p:nvPr/>
          </p:nvPicPr>
          <p:blipFill>
            <a:blip r:embed="rId23"/>
            <a:stretch>
              <a:fillRect/>
            </a:stretch>
          </p:blipFill>
          <p:spPr>
            <a:xfrm>
              <a:off x="7440" y="8520"/>
              <a:ext cx="210" cy="210"/>
            </a:xfrm>
            <a:prstGeom prst="rect">
              <a:avLst/>
            </a:prstGeom>
          </p:spPr>
        </p:pic>
        <p:pic>
          <p:nvPicPr>
            <p:cNvPr id="50" name="Image 48" descr="preencoded.png"/>
            <p:cNvPicPr>
              <a:picLocks noChangeAspect="1"/>
            </p:cNvPicPr>
            <p:nvPr/>
          </p:nvPicPr>
          <p:blipFill>
            <a:blip r:embed="rId23"/>
            <a:stretch>
              <a:fillRect/>
            </a:stretch>
          </p:blipFill>
          <p:spPr>
            <a:xfrm>
              <a:off x="7440" y="8820"/>
              <a:ext cx="210" cy="210"/>
            </a:xfrm>
            <a:prstGeom prst="rect">
              <a:avLst/>
            </a:prstGeom>
          </p:spPr>
        </p:pic>
        <p:pic>
          <p:nvPicPr>
            <p:cNvPr id="51" name="Image 49" descr="preencoded.png"/>
            <p:cNvPicPr>
              <a:picLocks noChangeAspect="1"/>
            </p:cNvPicPr>
            <p:nvPr/>
          </p:nvPicPr>
          <p:blipFill>
            <a:blip r:embed="rId15"/>
            <a:stretch>
              <a:fillRect/>
            </a:stretch>
          </p:blipFill>
          <p:spPr>
            <a:xfrm>
              <a:off x="12720" y="5820"/>
              <a:ext cx="5760" cy="4080"/>
            </a:xfrm>
            <a:prstGeom prst="rect">
              <a:avLst/>
            </a:prstGeom>
          </p:spPr>
        </p:pic>
        <p:pic>
          <p:nvPicPr>
            <p:cNvPr id="52" name="Image 50" descr="preencoded.png"/>
            <p:cNvPicPr>
              <a:picLocks noChangeAspect="1"/>
            </p:cNvPicPr>
            <p:nvPr/>
          </p:nvPicPr>
          <p:blipFill>
            <a:blip r:embed="rId24"/>
            <a:stretch>
              <a:fillRect/>
            </a:stretch>
          </p:blipFill>
          <p:spPr>
            <a:xfrm>
              <a:off x="12960" y="6060"/>
              <a:ext cx="600" cy="600"/>
            </a:xfrm>
            <a:prstGeom prst="rect">
              <a:avLst/>
            </a:prstGeom>
          </p:spPr>
        </p:pic>
        <p:pic>
          <p:nvPicPr>
            <p:cNvPr id="53" name="Image 51" descr="preencoded.png"/>
            <p:cNvPicPr>
              <a:picLocks noChangeAspect="1"/>
            </p:cNvPicPr>
            <p:nvPr/>
          </p:nvPicPr>
          <p:blipFill>
            <a:blip r:embed="rId25"/>
            <a:stretch>
              <a:fillRect/>
            </a:stretch>
          </p:blipFill>
          <p:spPr>
            <a:xfrm>
              <a:off x="13110" y="6150"/>
              <a:ext cx="300" cy="420"/>
            </a:xfrm>
            <a:prstGeom prst="rect">
              <a:avLst/>
            </a:prstGeom>
          </p:spPr>
        </p:pic>
        <p:pic>
          <p:nvPicPr>
            <p:cNvPr id="54" name="Image 52" descr="preencoded.png"/>
            <p:cNvPicPr>
              <a:picLocks noChangeAspect="1"/>
            </p:cNvPicPr>
            <p:nvPr/>
          </p:nvPicPr>
          <p:blipFill>
            <a:blip r:embed="rId26"/>
            <a:stretch>
              <a:fillRect/>
            </a:stretch>
          </p:blipFill>
          <p:spPr>
            <a:xfrm>
              <a:off x="12960" y="6840"/>
              <a:ext cx="5280" cy="1020"/>
            </a:xfrm>
            <a:prstGeom prst="rect">
              <a:avLst/>
            </a:prstGeom>
          </p:spPr>
        </p:pic>
        <p:pic>
          <p:nvPicPr>
            <p:cNvPr id="55" name="Image 53" descr="preencoded.png"/>
            <p:cNvPicPr>
              <a:picLocks noChangeAspect="1"/>
            </p:cNvPicPr>
            <p:nvPr/>
          </p:nvPicPr>
          <p:blipFill>
            <a:blip r:embed="rId27"/>
            <a:stretch>
              <a:fillRect/>
            </a:stretch>
          </p:blipFill>
          <p:spPr>
            <a:xfrm>
              <a:off x="13440" y="7320"/>
              <a:ext cx="210" cy="210"/>
            </a:xfrm>
            <a:prstGeom prst="rect">
              <a:avLst/>
            </a:prstGeom>
          </p:spPr>
        </p:pic>
        <p:pic>
          <p:nvPicPr>
            <p:cNvPr id="56" name="Image 54" descr="preencoded.png"/>
            <p:cNvPicPr>
              <a:picLocks noChangeAspect="1"/>
            </p:cNvPicPr>
            <p:nvPr/>
          </p:nvPicPr>
          <p:blipFill>
            <a:blip r:embed="rId27"/>
            <a:stretch>
              <a:fillRect/>
            </a:stretch>
          </p:blipFill>
          <p:spPr>
            <a:xfrm>
              <a:off x="13440" y="7620"/>
              <a:ext cx="210" cy="210"/>
            </a:xfrm>
            <a:prstGeom prst="rect">
              <a:avLst/>
            </a:prstGeom>
          </p:spPr>
        </p:pic>
        <p:pic>
          <p:nvPicPr>
            <p:cNvPr id="57" name="Image 55" descr="preencoded.png"/>
            <p:cNvPicPr>
              <a:picLocks noChangeAspect="1"/>
            </p:cNvPicPr>
            <p:nvPr/>
          </p:nvPicPr>
          <p:blipFill>
            <a:blip r:embed="rId26"/>
            <a:stretch>
              <a:fillRect/>
            </a:stretch>
          </p:blipFill>
          <p:spPr>
            <a:xfrm>
              <a:off x="12960" y="8040"/>
              <a:ext cx="5280" cy="1020"/>
            </a:xfrm>
            <a:prstGeom prst="rect">
              <a:avLst/>
            </a:prstGeom>
          </p:spPr>
        </p:pic>
        <p:pic>
          <p:nvPicPr>
            <p:cNvPr id="58" name="Image 56" descr="preencoded.png"/>
            <p:cNvPicPr>
              <a:picLocks noChangeAspect="1"/>
            </p:cNvPicPr>
            <p:nvPr/>
          </p:nvPicPr>
          <p:blipFill>
            <a:blip r:embed="rId27"/>
            <a:stretch>
              <a:fillRect/>
            </a:stretch>
          </p:blipFill>
          <p:spPr>
            <a:xfrm>
              <a:off x="13440" y="8520"/>
              <a:ext cx="210" cy="210"/>
            </a:xfrm>
            <a:prstGeom prst="rect">
              <a:avLst/>
            </a:prstGeom>
          </p:spPr>
        </p:pic>
        <p:pic>
          <p:nvPicPr>
            <p:cNvPr id="59" name="Image 57" descr="preencoded.png"/>
            <p:cNvPicPr>
              <a:picLocks noChangeAspect="1"/>
            </p:cNvPicPr>
            <p:nvPr/>
          </p:nvPicPr>
          <p:blipFill>
            <a:blip r:embed="rId27"/>
            <a:stretch>
              <a:fillRect/>
            </a:stretch>
          </p:blipFill>
          <p:spPr>
            <a:xfrm>
              <a:off x="13440" y="8820"/>
              <a:ext cx="210" cy="210"/>
            </a:xfrm>
            <a:prstGeom prst="rect">
              <a:avLst/>
            </a:prstGeom>
          </p:spPr>
        </p:pic>
        <p:pic>
          <p:nvPicPr>
            <p:cNvPr id="60" name="Image 58" descr="preencoded.png"/>
            <p:cNvPicPr>
              <a:picLocks noChangeAspect="1"/>
            </p:cNvPicPr>
            <p:nvPr/>
          </p:nvPicPr>
          <p:blipFill>
            <a:blip r:embed="rId28"/>
            <a:stretch>
              <a:fillRect/>
            </a:stretch>
          </p:blipFill>
          <p:spPr>
            <a:xfrm>
              <a:off x="0" y="10080"/>
              <a:ext cx="19200" cy="720"/>
            </a:xfrm>
            <a:prstGeom prst="rect">
              <a:avLst/>
            </a:prstGeom>
          </p:spPr>
        </p:pic>
        <p:pic>
          <p:nvPicPr>
            <p:cNvPr id="61" name="Image 59" descr="preencoded.png"/>
            <p:cNvPicPr>
              <a:picLocks noChangeAspect="1"/>
            </p:cNvPicPr>
            <p:nvPr/>
          </p:nvPicPr>
          <p:blipFill>
            <a:blip r:embed="rId29"/>
            <a:stretch>
              <a:fillRect/>
            </a:stretch>
          </p:blipFill>
          <p:spPr>
            <a:xfrm>
              <a:off x="720" y="10305"/>
              <a:ext cx="240" cy="240"/>
            </a:xfrm>
            <a:prstGeom prst="rect">
              <a:avLst/>
            </a:prstGeom>
          </p:spPr>
        </p:pic>
        <p:sp>
          <p:nvSpPr>
            <p:cNvPr id="63" name="Text 0"/>
            <p:cNvSpPr/>
            <p:nvPr/>
          </p:nvSpPr>
          <p:spPr>
            <a:xfrm>
              <a:off x="720" y="300"/>
              <a:ext cx="19536" cy="545"/>
            </a:xfrm>
            <a:prstGeom prst="rect">
              <a:avLst/>
            </a:prstGeom>
            <a:noFill/>
          </p:spPr>
          <p:txBody>
            <a:bodyPr wrap="square" lIns="0" tIns="0" rIns="0" bIns="0" rtlCol="0" anchor="t">
              <a:spAutoFit/>
            </a:bodyPr>
            <a:p>
              <a:pPr marL="0" indent="0">
                <a:lnSpc>
                  <a:spcPts val="2700"/>
                </a:lnSpc>
                <a:buNone/>
              </a:pPr>
              <a:r>
                <a:rPr lang="en-US" sz="2040" b="1" dirty="0">
                  <a:solidFill>
                    <a:srgbClr val="1F2937"/>
                  </a:solidFill>
                  <a:latin typeface="ui-sans-serif" pitchFamily="34" charset="0"/>
                  <a:ea typeface="ui-sans-serif" pitchFamily="34" charset="-122"/>
                  <a:cs typeface="ui-sans-serif" pitchFamily="34" charset="-120"/>
                </a:rPr>
                <a:t>祁连山国家公园SES综合评价指标体系</a:t>
              </a:r>
              <a:endParaRPr lang="en-US" sz="2040" dirty="0"/>
            </a:p>
          </p:txBody>
        </p:sp>
        <p:sp>
          <p:nvSpPr>
            <p:cNvPr id="64" name="Text 1"/>
            <p:cNvSpPr/>
            <p:nvPr/>
          </p:nvSpPr>
          <p:spPr>
            <a:xfrm>
              <a:off x="779" y="1200"/>
              <a:ext cx="17761" cy="727"/>
            </a:xfrm>
            <a:prstGeom prst="rect">
              <a:avLst/>
            </a:prstGeom>
            <a:noFill/>
          </p:spPr>
          <p:txBody>
            <a:bodyPr wrap="square" lIns="0" tIns="0" rIns="0" bIns="0" rtlCol="0" anchor="t">
              <a:spAutoFit/>
            </a:bodyPr>
            <a:p>
              <a:pPr marL="0" indent="0">
                <a:lnSpc>
                  <a:spcPts val="1800"/>
                </a:lnSpc>
                <a:buNone/>
              </a:pPr>
              <a:r>
                <a:rPr lang="en-US" sz="1120" dirty="0">
                  <a:solidFill>
                    <a:srgbClr val="374151"/>
                  </a:solidFill>
                  <a:latin typeface="ui-sans-serif" pitchFamily="34" charset="0"/>
                  <a:ea typeface="ui-sans-serif" pitchFamily="34" charset="-122"/>
                  <a:cs typeface="ui-sans-serif" pitchFamily="34" charset="-120"/>
                </a:rPr>
                <a:t>研究通过定性与定量分析相结合，构建了祁连山国家公园的综合评价指标体系，并运用耦合协调度模型（CCDM）量化各子系统间的互动强度。</a:t>
              </a:r>
              <a:endParaRPr lang="en-US" sz="1120" dirty="0"/>
            </a:p>
          </p:txBody>
        </p:sp>
        <p:sp>
          <p:nvSpPr>
            <p:cNvPr id="65" name="Text 2"/>
            <p:cNvSpPr/>
            <p:nvPr/>
          </p:nvSpPr>
          <p:spPr>
            <a:xfrm>
              <a:off x="1740" y="2430"/>
              <a:ext cx="2006" cy="424"/>
            </a:xfrm>
            <a:prstGeom prst="rect">
              <a:avLst/>
            </a:prstGeom>
            <a:noFill/>
          </p:spPr>
          <p:txBody>
            <a:bodyPr wrap="square" lIns="0" tIns="0" rIns="0" bIns="0" rtlCol="0" anchor="t">
              <a:spAutoFit/>
            </a:bodyPr>
            <a:p>
              <a:pPr marL="0" indent="0">
                <a:lnSpc>
                  <a:spcPts val="2100"/>
                </a:lnSpc>
                <a:buNone/>
              </a:pPr>
              <a:r>
                <a:rPr lang="en-US" sz="1260" b="1" dirty="0">
                  <a:solidFill>
                    <a:srgbClr val="7FB069"/>
                  </a:solidFill>
                  <a:latin typeface="ui-sans-serif" pitchFamily="34" charset="0"/>
                  <a:ea typeface="ui-sans-serif" pitchFamily="34" charset="-122"/>
                  <a:cs typeface="ui-sans-serif" pitchFamily="34" charset="-120"/>
                </a:rPr>
                <a:t>资源系统 (RS)</a:t>
              </a:r>
              <a:endParaRPr lang="en-US" sz="1260" dirty="0"/>
            </a:p>
          </p:txBody>
        </p:sp>
        <p:sp>
          <p:nvSpPr>
            <p:cNvPr id="66" name="Text 3"/>
            <p:cNvSpPr/>
            <p:nvPr/>
          </p:nvSpPr>
          <p:spPr>
            <a:xfrm>
              <a:off x="1140" y="312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RS2 边界清晰度</a:t>
              </a:r>
              <a:endParaRPr lang="en-US" sz="1120" dirty="0"/>
            </a:p>
          </p:txBody>
        </p:sp>
        <p:sp>
          <p:nvSpPr>
            <p:cNvPr id="67" name="Text 4"/>
            <p:cNvSpPr/>
            <p:nvPr/>
          </p:nvSpPr>
          <p:spPr>
            <a:xfrm>
              <a:off x="1770" y="3540"/>
              <a:ext cx="2912"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保护区边界明确性</a:t>
              </a:r>
              <a:endParaRPr lang="en-US" sz="980" dirty="0"/>
            </a:p>
          </p:txBody>
        </p:sp>
        <p:sp>
          <p:nvSpPr>
            <p:cNvPr id="68" name="Text 5"/>
            <p:cNvSpPr/>
            <p:nvPr/>
          </p:nvSpPr>
          <p:spPr>
            <a:xfrm>
              <a:off x="1770" y="3840"/>
              <a:ext cx="2544"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执法力度</a:t>
              </a:r>
              <a:endParaRPr lang="en-US" sz="980" dirty="0"/>
            </a:p>
          </p:txBody>
        </p:sp>
        <p:sp>
          <p:nvSpPr>
            <p:cNvPr id="69" name="Text 6"/>
            <p:cNvSpPr/>
            <p:nvPr/>
          </p:nvSpPr>
          <p:spPr>
            <a:xfrm>
              <a:off x="1140" y="432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RS5 系统生产力</a:t>
              </a:r>
              <a:endParaRPr lang="en-US" sz="1120" dirty="0"/>
            </a:p>
          </p:txBody>
        </p:sp>
        <p:sp>
          <p:nvSpPr>
            <p:cNvPr id="70" name="Text 7"/>
            <p:cNvSpPr/>
            <p:nvPr/>
          </p:nvSpPr>
          <p:spPr>
            <a:xfrm>
              <a:off x="1770" y="4740"/>
              <a:ext cx="2713"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植被覆盖率</a:t>
              </a:r>
              <a:endParaRPr lang="en-US" sz="980" dirty="0"/>
            </a:p>
          </p:txBody>
        </p:sp>
        <p:sp>
          <p:nvSpPr>
            <p:cNvPr id="71" name="Text 8"/>
            <p:cNvSpPr/>
            <p:nvPr/>
          </p:nvSpPr>
          <p:spPr>
            <a:xfrm>
              <a:off x="1770" y="5040"/>
              <a:ext cx="1617" cy="605"/>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生物多样性指数</a:t>
              </a:r>
              <a:endParaRPr lang="en-US" sz="980" dirty="0"/>
            </a:p>
          </p:txBody>
        </p:sp>
        <p:sp>
          <p:nvSpPr>
            <p:cNvPr id="72" name="Text 9"/>
            <p:cNvSpPr/>
            <p:nvPr/>
          </p:nvSpPr>
          <p:spPr>
            <a:xfrm>
              <a:off x="7740" y="2430"/>
              <a:ext cx="2682" cy="424"/>
            </a:xfrm>
            <a:prstGeom prst="rect">
              <a:avLst/>
            </a:prstGeom>
            <a:noFill/>
          </p:spPr>
          <p:txBody>
            <a:bodyPr wrap="square" lIns="0" tIns="0" rIns="0" bIns="0" rtlCol="0" anchor="t">
              <a:spAutoFit/>
            </a:bodyPr>
            <a:p>
              <a:pPr marL="0" indent="0">
                <a:lnSpc>
                  <a:spcPts val="2100"/>
                </a:lnSpc>
                <a:buNone/>
              </a:pPr>
              <a:r>
                <a:rPr lang="en-US" sz="1260" b="1" dirty="0">
                  <a:solidFill>
                    <a:srgbClr val="2563EB"/>
                  </a:solidFill>
                  <a:latin typeface="ui-sans-serif" pitchFamily="34" charset="0"/>
                  <a:ea typeface="ui-sans-serif" pitchFamily="34" charset="-122"/>
                  <a:cs typeface="ui-sans-serif" pitchFamily="34" charset="-120"/>
                </a:rPr>
                <a:t>资源单位 (RU)</a:t>
              </a:r>
              <a:endParaRPr lang="en-US" sz="1260" dirty="0"/>
            </a:p>
          </p:txBody>
        </p:sp>
        <p:sp>
          <p:nvSpPr>
            <p:cNvPr id="73" name="Text 10"/>
            <p:cNvSpPr/>
            <p:nvPr/>
          </p:nvSpPr>
          <p:spPr>
            <a:xfrm>
              <a:off x="7140" y="312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RU2 增长与更新效率</a:t>
              </a:r>
              <a:endParaRPr lang="en-US" sz="1120" dirty="0"/>
            </a:p>
          </p:txBody>
        </p:sp>
        <p:sp>
          <p:nvSpPr>
            <p:cNvPr id="74" name="Text 11"/>
            <p:cNvSpPr/>
            <p:nvPr/>
          </p:nvSpPr>
          <p:spPr>
            <a:xfrm>
              <a:off x="7770" y="3540"/>
              <a:ext cx="2652" cy="360"/>
            </a:xfrm>
            <a:prstGeom prst="rect">
              <a:avLst/>
            </a:prstGeom>
            <a:noFill/>
          </p:spPr>
          <p:txBody>
            <a:bodyPr wrap="square" lIns="0" tIns="0" rIns="0" bIns="0" rtlCol="0" anchor="t">
              <a:no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关键物种数量变化</a:t>
              </a:r>
              <a:endParaRPr lang="en-US" sz="980" dirty="0"/>
            </a:p>
          </p:txBody>
        </p:sp>
        <p:sp>
          <p:nvSpPr>
            <p:cNvPr id="75" name="Text 12"/>
            <p:cNvSpPr/>
            <p:nvPr/>
          </p:nvSpPr>
          <p:spPr>
            <a:xfrm>
              <a:off x="7770" y="3840"/>
              <a:ext cx="2205" cy="605"/>
            </a:xfrm>
            <a:prstGeom prst="rect">
              <a:avLst/>
            </a:prstGeom>
            <a:noFill/>
          </p:spPr>
          <p:txBody>
            <a:bodyPr wrap="square" lIns="0" tIns="0" rIns="0" bIns="0" rtlCol="0" anchor="t">
              <a:no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水资源补给率</a:t>
              </a:r>
              <a:endParaRPr lang="en-US" sz="980" dirty="0"/>
            </a:p>
          </p:txBody>
        </p:sp>
        <p:sp>
          <p:nvSpPr>
            <p:cNvPr id="76" name="Text 13"/>
            <p:cNvSpPr/>
            <p:nvPr/>
          </p:nvSpPr>
          <p:spPr>
            <a:xfrm>
              <a:off x="7140" y="432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RU4 经济价值</a:t>
              </a:r>
              <a:endParaRPr lang="en-US" sz="1120" dirty="0"/>
            </a:p>
          </p:txBody>
        </p:sp>
        <p:sp>
          <p:nvSpPr>
            <p:cNvPr id="77" name="Text 14"/>
            <p:cNvSpPr/>
            <p:nvPr/>
          </p:nvSpPr>
          <p:spPr>
            <a:xfrm>
              <a:off x="7770" y="4740"/>
              <a:ext cx="220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生态旅游收入</a:t>
              </a:r>
              <a:endParaRPr lang="en-US" sz="980" dirty="0"/>
            </a:p>
          </p:txBody>
        </p:sp>
        <p:sp>
          <p:nvSpPr>
            <p:cNvPr id="78" name="Text 15"/>
            <p:cNvSpPr/>
            <p:nvPr/>
          </p:nvSpPr>
          <p:spPr>
            <a:xfrm>
              <a:off x="7770" y="5040"/>
              <a:ext cx="2866" cy="541"/>
            </a:xfrm>
            <a:prstGeom prst="rect">
              <a:avLst/>
            </a:prstGeom>
            <a:noFill/>
          </p:spPr>
          <p:txBody>
            <a:bodyPr wrap="square" lIns="0" tIns="0" rIns="0" bIns="0" rtlCol="0" anchor="t">
              <a:no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非木材林产品价值</a:t>
              </a:r>
              <a:endParaRPr lang="en-US" sz="980" dirty="0"/>
            </a:p>
          </p:txBody>
        </p:sp>
        <p:sp>
          <p:nvSpPr>
            <p:cNvPr id="79" name="Text 16"/>
            <p:cNvSpPr/>
            <p:nvPr/>
          </p:nvSpPr>
          <p:spPr>
            <a:xfrm>
              <a:off x="13740" y="2430"/>
              <a:ext cx="2021" cy="424"/>
            </a:xfrm>
            <a:prstGeom prst="rect">
              <a:avLst/>
            </a:prstGeom>
            <a:noFill/>
          </p:spPr>
          <p:txBody>
            <a:bodyPr wrap="square" lIns="0" tIns="0" rIns="0" bIns="0" rtlCol="0" anchor="t">
              <a:spAutoFit/>
            </a:bodyPr>
            <a:p>
              <a:pPr marL="0" indent="0">
                <a:lnSpc>
                  <a:spcPts val="2100"/>
                </a:lnSpc>
                <a:buNone/>
              </a:pPr>
              <a:r>
                <a:rPr lang="en-US" sz="1260" b="1" dirty="0">
                  <a:solidFill>
                    <a:srgbClr val="D4A373"/>
                  </a:solidFill>
                  <a:latin typeface="ui-sans-serif" pitchFamily="34" charset="0"/>
                  <a:ea typeface="ui-sans-serif" pitchFamily="34" charset="-122"/>
                  <a:cs typeface="ui-sans-serif" pitchFamily="34" charset="-120"/>
                </a:rPr>
                <a:t>治理系统 (GS)</a:t>
              </a:r>
              <a:endParaRPr lang="en-US" sz="1260" dirty="0"/>
            </a:p>
          </p:txBody>
        </p:sp>
        <p:sp>
          <p:nvSpPr>
            <p:cNvPr id="80" name="Text 17"/>
            <p:cNvSpPr/>
            <p:nvPr/>
          </p:nvSpPr>
          <p:spPr>
            <a:xfrm>
              <a:off x="13140" y="312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GS1 政府组织</a:t>
              </a:r>
              <a:endParaRPr lang="en-US" sz="1120" dirty="0"/>
            </a:p>
          </p:txBody>
        </p:sp>
        <p:sp>
          <p:nvSpPr>
            <p:cNvPr id="81" name="Text 18"/>
            <p:cNvSpPr/>
            <p:nvPr/>
          </p:nvSpPr>
          <p:spPr>
            <a:xfrm>
              <a:off x="13770" y="3540"/>
              <a:ext cx="2436"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管理机构设置</a:t>
              </a:r>
              <a:endParaRPr lang="en-US" sz="980" dirty="0"/>
            </a:p>
          </p:txBody>
        </p:sp>
        <p:sp>
          <p:nvSpPr>
            <p:cNvPr id="82" name="Text 19"/>
            <p:cNvSpPr/>
            <p:nvPr/>
          </p:nvSpPr>
          <p:spPr>
            <a:xfrm>
              <a:off x="13770" y="3840"/>
              <a:ext cx="223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政策法规完善度</a:t>
              </a:r>
              <a:endParaRPr lang="en-US" sz="980" dirty="0"/>
            </a:p>
          </p:txBody>
        </p:sp>
        <p:sp>
          <p:nvSpPr>
            <p:cNvPr id="83" name="Text 20"/>
            <p:cNvSpPr/>
            <p:nvPr/>
          </p:nvSpPr>
          <p:spPr>
            <a:xfrm>
              <a:off x="13140" y="432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GS5 操作规则</a:t>
              </a:r>
              <a:endParaRPr lang="en-US" sz="1120" dirty="0"/>
            </a:p>
          </p:txBody>
        </p:sp>
        <p:sp>
          <p:nvSpPr>
            <p:cNvPr id="84" name="Text 21"/>
            <p:cNvSpPr/>
            <p:nvPr/>
          </p:nvSpPr>
          <p:spPr>
            <a:xfrm>
              <a:off x="13770" y="4740"/>
              <a:ext cx="1992"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巡护制度</a:t>
              </a:r>
              <a:endParaRPr lang="en-US" sz="980" dirty="0"/>
            </a:p>
          </p:txBody>
        </p:sp>
        <p:sp>
          <p:nvSpPr>
            <p:cNvPr id="85" name="Text 22"/>
            <p:cNvSpPr/>
            <p:nvPr/>
          </p:nvSpPr>
          <p:spPr>
            <a:xfrm>
              <a:off x="13770" y="5040"/>
              <a:ext cx="223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社区共管协议</a:t>
              </a:r>
              <a:endParaRPr lang="en-US" sz="980" dirty="0"/>
            </a:p>
          </p:txBody>
        </p:sp>
        <p:sp>
          <p:nvSpPr>
            <p:cNvPr id="86" name="Text 23"/>
            <p:cNvSpPr/>
            <p:nvPr/>
          </p:nvSpPr>
          <p:spPr>
            <a:xfrm>
              <a:off x="1740" y="6150"/>
              <a:ext cx="1496" cy="424"/>
            </a:xfrm>
            <a:prstGeom prst="rect">
              <a:avLst/>
            </a:prstGeom>
            <a:noFill/>
          </p:spPr>
          <p:txBody>
            <a:bodyPr wrap="square" lIns="0" tIns="0" rIns="0" bIns="0" rtlCol="0" anchor="t">
              <a:spAutoFit/>
            </a:bodyPr>
            <a:p>
              <a:pPr marL="0" indent="0">
                <a:lnSpc>
                  <a:spcPts val="2100"/>
                </a:lnSpc>
                <a:buNone/>
              </a:pPr>
              <a:r>
                <a:rPr lang="en-US" sz="1260" b="1" dirty="0">
                  <a:solidFill>
                    <a:srgbClr val="9333EA"/>
                  </a:solidFill>
                  <a:latin typeface="ui-sans-serif" pitchFamily="34" charset="0"/>
                  <a:ea typeface="ui-sans-serif" pitchFamily="34" charset="-122"/>
                  <a:cs typeface="ui-sans-serif" pitchFamily="34" charset="-120"/>
                </a:rPr>
                <a:t>行动者 (A)</a:t>
              </a:r>
              <a:endParaRPr lang="en-US" sz="1260" dirty="0"/>
            </a:p>
          </p:txBody>
        </p:sp>
        <p:sp>
          <p:nvSpPr>
            <p:cNvPr id="87" name="Text 24"/>
            <p:cNvSpPr/>
            <p:nvPr/>
          </p:nvSpPr>
          <p:spPr>
            <a:xfrm>
              <a:off x="1140" y="684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A1 相关行动者数量</a:t>
              </a:r>
              <a:endParaRPr lang="en-US" sz="1120" dirty="0"/>
            </a:p>
          </p:txBody>
        </p:sp>
        <p:sp>
          <p:nvSpPr>
            <p:cNvPr id="88" name="Text 25"/>
            <p:cNvSpPr/>
            <p:nvPr/>
          </p:nvSpPr>
          <p:spPr>
            <a:xfrm>
              <a:off x="1770" y="7260"/>
              <a:ext cx="1978"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居民数量</a:t>
              </a:r>
              <a:endParaRPr lang="en-US" sz="980" dirty="0"/>
            </a:p>
          </p:txBody>
        </p:sp>
        <p:sp>
          <p:nvSpPr>
            <p:cNvPr id="89" name="Text 26"/>
            <p:cNvSpPr/>
            <p:nvPr/>
          </p:nvSpPr>
          <p:spPr>
            <a:xfrm>
              <a:off x="1770" y="7560"/>
              <a:ext cx="2714"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管理人员数量</a:t>
              </a:r>
              <a:endParaRPr lang="en-US" sz="980" dirty="0"/>
            </a:p>
          </p:txBody>
        </p:sp>
        <p:sp>
          <p:nvSpPr>
            <p:cNvPr id="90" name="Text 27"/>
            <p:cNvSpPr/>
            <p:nvPr/>
          </p:nvSpPr>
          <p:spPr>
            <a:xfrm>
              <a:off x="1770" y="7860"/>
              <a:ext cx="234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游客数量</a:t>
              </a:r>
              <a:endParaRPr lang="en-US" sz="980" dirty="0"/>
            </a:p>
          </p:txBody>
        </p:sp>
        <p:sp>
          <p:nvSpPr>
            <p:cNvPr id="91" name="Text 28"/>
            <p:cNvSpPr/>
            <p:nvPr/>
          </p:nvSpPr>
          <p:spPr>
            <a:xfrm>
              <a:off x="1140" y="834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A2 社会经济属性</a:t>
              </a:r>
              <a:endParaRPr lang="en-US" sz="1120" dirty="0"/>
            </a:p>
          </p:txBody>
        </p:sp>
        <p:sp>
          <p:nvSpPr>
            <p:cNvPr id="92" name="Text 29"/>
            <p:cNvSpPr/>
            <p:nvPr/>
          </p:nvSpPr>
          <p:spPr>
            <a:xfrm>
              <a:off x="1770" y="8760"/>
              <a:ext cx="254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居民收入水平</a:t>
              </a:r>
              <a:endParaRPr lang="en-US" sz="980" dirty="0"/>
            </a:p>
          </p:txBody>
        </p:sp>
        <p:sp>
          <p:nvSpPr>
            <p:cNvPr id="93" name="Text 30"/>
            <p:cNvSpPr/>
            <p:nvPr/>
          </p:nvSpPr>
          <p:spPr>
            <a:xfrm>
              <a:off x="1770" y="9060"/>
              <a:ext cx="234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教育程度</a:t>
              </a:r>
              <a:endParaRPr lang="en-US" sz="980" dirty="0"/>
            </a:p>
          </p:txBody>
        </p:sp>
        <p:sp>
          <p:nvSpPr>
            <p:cNvPr id="94" name="Text 31"/>
            <p:cNvSpPr/>
            <p:nvPr/>
          </p:nvSpPr>
          <p:spPr>
            <a:xfrm>
              <a:off x="1770" y="9360"/>
              <a:ext cx="1978"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职业结构</a:t>
              </a:r>
              <a:endParaRPr lang="en-US" sz="980" dirty="0"/>
            </a:p>
          </p:txBody>
        </p:sp>
        <p:sp>
          <p:nvSpPr>
            <p:cNvPr id="95" name="Text 32"/>
            <p:cNvSpPr/>
            <p:nvPr/>
          </p:nvSpPr>
          <p:spPr>
            <a:xfrm>
              <a:off x="7740" y="6150"/>
              <a:ext cx="1079" cy="424"/>
            </a:xfrm>
            <a:prstGeom prst="rect">
              <a:avLst/>
            </a:prstGeom>
            <a:noFill/>
          </p:spPr>
          <p:txBody>
            <a:bodyPr wrap="square" lIns="0" tIns="0" rIns="0" bIns="0" rtlCol="0" anchor="t">
              <a:spAutoFit/>
            </a:bodyPr>
            <a:p>
              <a:pPr marL="0" indent="0">
                <a:lnSpc>
                  <a:spcPts val="2100"/>
                </a:lnSpc>
                <a:buNone/>
              </a:pPr>
              <a:r>
                <a:rPr lang="en-US" sz="1260" b="1" dirty="0">
                  <a:solidFill>
                    <a:srgbClr val="DC2626"/>
                  </a:solidFill>
                  <a:latin typeface="ui-sans-serif" pitchFamily="34" charset="0"/>
                  <a:ea typeface="ui-sans-serif" pitchFamily="34" charset="-122"/>
                  <a:cs typeface="ui-sans-serif" pitchFamily="34" charset="-120"/>
                </a:rPr>
                <a:t>互动 (I)</a:t>
              </a:r>
              <a:endParaRPr lang="en-US" sz="1260" dirty="0"/>
            </a:p>
          </p:txBody>
        </p:sp>
        <p:sp>
          <p:nvSpPr>
            <p:cNvPr id="96" name="Text 33"/>
            <p:cNvSpPr/>
            <p:nvPr/>
          </p:nvSpPr>
          <p:spPr>
            <a:xfrm>
              <a:off x="7140" y="684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I1 收获量</a:t>
              </a:r>
              <a:endParaRPr lang="en-US" sz="1120" dirty="0"/>
            </a:p>
          </p:txBody>
        </p:sp>
        <p:sp>
          <p:nvSpPr>
            <p:cNvPr id="97" name="Text 34"/>
            <p:cNvSpPr/>
            <p:nvPr/>
          </p:nvSpPr>
          <p:spPr>
            <a:xfrm>
              <a:off x="7770" y="7260"/>
              <a:ext cx="2866"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牧草采伐量</a:t>
              </a:r>
              <a:endParaRPr lang="en-US" sz="980" dirty="0"/>
            </a:p>
          </p:txBody>
        </p:sp>
        <p:sp>
          <p:nvSpPr>
            <p:cNvPr id="98" name="Text 35"/>
            <p:cNvSpPr/>
            <p:nvPr/>
          </p:nvSpPr>
          <p:spPr>
            <a:xfrm>
              <a:off x="7770" y="7560"/>
              <a:ext cx="2746"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旅游接待量</a:t>
              </a:r>
              <a:endParaRPr lang="en-US" sz="980" dirty="0"/>
            </a:p>
          </p:txBody>
        </p:sp>
        <p:sp>
          <p:nvSpPr>
            <p:cNvPr id="99" name="Text 36"/>
            <p:cNvSpPr/>
            <p:nvPr/>
          </p:nvSpPr>
          <p:spPr>
            <a:xfrm>
              <a:off x="7140" y="804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I9 监测活动</a:t>
              </a:r>
              <a:endParaRPr lang="en-US" sz="1120" dirty="0"/>
            </a:p>
          </p:txBody>
        </p:sp>
        <p:sp>
          <p:nvSpPr>
            <p:cNvPr id="100" name="Text 37"/>
            <p:cNvSpPr/>
            <p:nvPr/>
          </p:nvSpPr>
          <p:spPr>
            <a:xfrm>
              <a:off x="7770" y="8403"/>
              <a:ext cx="232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生态监测频率</a:t>
              </a:r>
              <a:endParaRPr lang="en-US" sz="980" dirty="0"/>
            </a:p>
          </p:txBody>
        </p:sp>
        <p:sp>
          <p:nvSpPr>
            <p:cNvPr id="101" name="Text 38"/>
            <p:cNvSpPr/>
            <p:nvPr/>
          </p:nvSpPr>
          <p:spPr>
            <a:xfrm>
              <a:off x="7770" y="8760"/>
              <a:ext cx="2205"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社区巡护记录</a:t>
              </a:r>
              <a:endParaRPr lang="en-US" sz="980" dirty="0"/>
            </a:p>
          </p:txBody>
        </p:sp>
        <p:sp>
          <p:nvSpPr>
            <p:cNvPr id="102" name="Text 39"/>
            <p:cNvSpPr/>
            <p:nvPr/>
          </p:nvSpPr>
          <p:spPr>
            <a:xfrm>
              <a:off x="13740" y="6150"/>
              <a:ext cx="1222" cy="424"/>
            </a:xfrm>
            <a:prstGeom prst="rect">
              <a:avLst/>
            </a:prstGeom>
            <a:noFill/>
          </p:spPr>
          <p:txBody>
            <a:bodyPr wrap="square" lIns="0" tIns="0" rIns="0" bIns="0" rtlCol="0" anchor="t">
              <a:spAutoFit/>
            </a:bodyPr>
            <a:p>
              <a:pPr marL="0" indent="0">
                <a:lnSpc>
                  <a:spcPts val="2100"/>
                </a:lnSpc>
                <a:buNone/>
              </a:pPr>
              <a:r>
                <a:rPr lang="en-US" sz="1260" b="1" dirty="0">
                  <a:solidFill>
                    <a:srgbClr val="0D9488"/>
                  </a:solidFill>
                  <a:latin typeface="ui-sans-serif" pitchFamily="34" charset="0"/>
                  <a:ea typeface="ui-sans-serif" pitchFamily="34" charset="-122"/>
                  <a:cs typeface="ui-sans-serif" pitchFamily="34" charset="-120"/>
                </a:rPr>
                <a:t>结果 (O)</a:t>
              </a:r>
              <a:endParaRPr lang="en-US" sz="1260" dirty="0"/>
            </a:p>
          </p:txBody>
        </p:sp>
        <p:sp>
          <p:nvSpPr>
            <p:cNvPr id="103" name="Text 40"/>
            <p:cNvSpPr/>
            <p:nvPr/>
          </p:nvSpPr>
          <p:spPr>
            <a:xfrm>
              <a:off x="13140" y="684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O1 社会绩效评估</a:t>
              </a:r>
              <a:endParaRPr lang="en-US" sz="1120" dirty="0"/>
            </a:p>
          </p:txBody>
        </p:sp>
        <p:sp>
          <p:nvSpPr>
            <p:cNvPr id="104" name="Text 41"/>
            <p:cNvSpPr/>
            <p:nvPr/>
          </p:nvSpPr>
          <p:spPr>
            <a:xfrm>
              <a:off x="13770" y="7260"/>
              <a:ext cx="2081"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居民满意度</a:t>
              </a:r>
              <a:endParaRPr lang="en-US" sz="980" dirty="0"/>
            </a:p>
          </p:txBody>
        </p:sp>
        <p:sp>
          <p:nvSpPr>
            <p:cNvPr id="105" name="Text 42"/>
            <p:cNvSpPr/>
            <p:nvPr/>
          </p:nvSpPr>
          <p:spPr>
            <a:xfrm>
              <a:off x="13770" y="7560"/>
              <a:ext cx="2082"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社区发展水平</a:t>
              </a:r>
              <a:endParaRPr lang="en-US" sz="980" dirty="0"/>
            </a:p>
          </p:txBody>
        </p:sp>
        <p:sp>
          <p:nvSpPr>
            <p:cNvPr id="106" name="Text 43"/>
            <p:cNvSpPr/>
            <p:nvPr/>
          </p:nvSpPr>
          <p:spPr>
            <a:xfrm>
              <a:off x="13140" y="8040"/>
              <a:ext cx="5610" cy="363"/>
            </a:xfrm>
            <a:prstGeom prst="rect">
              <a:avLst/>
            </a:prstGeom>
            <a:noFill/>
          </p:spPr>
          <p:txBody>
            <a:bodyPr wrap="square" lIns="0" tIns="0" rIns="0" bIns="0" rtlCol="0" anchor="t">
              <a:spAutoFit/>
            </a:bodyPr>
            <a:p>
              <a:pPr marL="0" indent="0">
                <a:lnSpc>
                  <a:spcPts val="1800"/>
                </a:lnSpc>
                <a:buNone/>
              </a:pPr>
              <a:r>
                <a:rPr lang="en-US" sz="1120" b="1" dirty="0">
                  <a:solidFill>
                    <a:srgbClr val="1F2937"/>
                  </a:solidFill>
                  <a:latin typeface="ui-sans-serif" pitchFamily="34" charset="0"/>
                  <a:ea typeface="ui-sans-serif" pitchFamily="34" charset="-122"/>
                  <a:cs typeface="ui-sans-serif" pitchFamily="34" charset="-120"/>
                </a:rPr>
                <a:t>O2 生态绩效评估</a:t>
              </a:r>
              <a:endParaRPr lang="en-US" sz="1120" dirty="0"/>
            </a:p>
          </p:txBody>
        </p:sp>
        <p:sp>
          <p:nvSpPr>
            <p:cNvPr id="107" name="Text 44"/>
            <p:cNvSpPr/>
            <p:nvPr/>
          </p:nvSpPr>
          <p:spPr>
            <a:xfrm>
              <a:off x="13770" y="8460"/>
              <a:ext cx="3190"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生态系统健康状况</a:t>
              </a:r>
              <a:endParaRPr lang="en-US" sz="980" dirty="0"/>
            </a:p>
          </p:txBody>
        </p:sp>
        <p:sp>
          <p:nvSpPr>
            <p:cNvPr id="108" name="Text 45"/>
            <p:cNvSpPr/>
            <p:nvPr/>
          </p:nvSpPr>
          <p:spPr>
            <a:xfrm>
              <a:off x="13770" y="8760"/>
              <a:ext cx="2912" cy="302"/>
            </a:xfrm>
            <a:prstGeom prst="rect">
              <a:avLst/>
            </a:prstGeom>
            <a:noFill/>
          </p:spPr>
          <p:txBody>
            <a:bodyPr wrap="square" lIns="0" tIns="0" rIns="0" bIns="0" rtlCol="0" anchor="t">
              <a:spAutoFit/>
            </a:bodyPr>
            <a:p>
              <a:pPr marL="0" indent="0" algn="l">
                <a:lnSpc>
                  <a:spcPts val="1500"/>
                </a:lnSpc>
                <a:buNone/>
              </a:pPr>
              <a:r>
                <a:rPr lang="en-US" sz="980" dirty="0">
                  <a:solidFill>
                    <a:srgbClr val="4B5563"/>
                  </a:solidFill>
                  <a:latin typeface="ui-sans-serif" pitchFamily="34" charset="0"/>
                  <a:ea typeface="ui-sans-serif" pitchFamily="34" charset="-122"/>
                  <a:cs typeface="ui-sans-serif" pitchFamily="34" charset="-120"/>
                </a:rPr>
                <a:t>生物多样性保护成效</a:t>
              </a:r>
              <a:endParaRPr lang="en-US" sz="980" dirty="0"/>
            </a:p>
          </p:txBody>
        </p:sp>
        <p:sp>
          <p:nvSpPr>
            <p:cNvPr id="109" name="Text 46"/>
            <p:cNvSpPr/>
            <p:nvPr/>
          </p:nvSpPr>
          <p:spPr>
            <a:xfrm>
              <a:off x="1096" y="10290"/>
              <a:ext cx="1320" cy="363"/>
            </a:xfrm>
            <a:prstGeom prst="rect">
              <a:avLst/>
            </a:prstGeom>
            <a:noFill/>
          </p:spPr>
          <p:txBody>
            <a:bodyPr wrap="square" lIns="0" tIns="0" rIns="0" bIns="0" rtlCol="0" anchor="t">
              <a:spAutoFit/>
            </a:bodyPr>
            <a:p>
              <a:pPr marL="0" indent="0">
                <a:lnSpc>
                  <a:spcPts val="1800"/>
                </a:lnSpc>
                <a:buNone/>
              </a:pPr>
              <a:r>
                <a:rPr lang="en-US" sz="1120" b="1" dirty="0">
                  <a:solidFill>
                    <a:srgbClr val="374151"/>
                  </a:solidFill>
                  <a:latin typeface="ui-sans-serif" pitchFamily="34" charset="0"/>
                  <a:ea typeface="ui-sans-serif" pitchFamily="34" charset="-122"/>
                  <a:cs typeface="ui-sans-serif" pitchFamily="34" charset="-120"/>
                </a:rPr>
                <a:t>研究发现：</a:t>
              </a:r>
              <a:endParaRPr lang="en-US" sz="1120" dirty="0"/>
            </a:p>
          </p:txBody>
        </p:sp>
        <p:sp>
          <p:nvSpPr>
            <p:cNvPr id="110" name="Text 47"/>
            <p:cNvSpPr/>
            <p:nvPr/>
          </p:nvSpPr>
          <p:spPr>
            <a:xfrm>
              <a:off x="2373" y="10335"/>
              <a:ext cx="11804" cy="317"/>
            </a:xfrm>
            <a:prstGeom prst="rect">
              <a:avLst/>
            </a:prstGeom>
            <a:noFill/>
          </p:spPr>
          <p:txBody>
            <a:bodyPr wrap="square" lIns="0" tIns="0" rIns="0" bIns="0" rtlCol="0" anchor="t"/>
            <a:p>
              <a:pPr marL="0" indent="0">
                <a:lnSpc>
                  <a:spcPts val="1500"/>
                </a:lnSpc>
                <a:buNone/>
              </a:pPr>
              <a:r>
                <a:rPr lang="en-US" sz="980" dirty="0">
                  <a:solidFill>
                    <a:srgbClr val="374151"/>
                  </a:solidFill>
                  <a:latin typeface="ui-sans-serif" pitchFamily="34" charset="0"/>
                  <a:ea typeface="ui-sans-serif" pitchFamily="34" charset="-122"/>
                  <a:cs typeface="ui-sans-serif" pitchFamily="34" charset="-120"/>
                </a:rPr>
                <a:t>祁连山国家公园的生态系统发展水平优于社会系统，四个子系统的耦合协调度处于</a:t>
              </a:r>
              <a:r>
                <a:rPr lang="en-US" sz="980" b="1" dirty="0">
                  <a:solidFill>
                    <a:srgbClr val="F4A261"/>
                  </a:solidFill>
                  <a:latin typeface="ui-sans-serif" pitchFamily="34" charset="0"/>
                  <a:ea typeface="ui-sans-serif" pitchFamily="34" charset="-122"/>
                  <a:cs typeface="ui-sans-serif" pitchFamily="34" charset="-120"/>
                </a:rPr>
                <a:t>初级协调（0.6-0.7）</a:t>
              </a:r>
              <a:r>
                <a:rPr lang="en-US" sz="980" dirty="0">
                  <a:solidFill>
                    <a:srgbClr val="374151"/>
                  </a:solidFill>
                  <a:latin typeface="ui-sans-serif" pitchFamily="34" charset="0"/>
                  <a:ea typeface="ui-sans-serif" pitchFamily="34" charset="-122"/>
                  <a:cs typeface="ui-sans-serif" pitchFamily="34" charset="-120"/>
                </a:rPr>
                <a:t>。</a:t>
              </a:r>
              <a:endParaRPr lang="en-US" sz="980"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b="1" dirty="0"/>
              <a:t>Forest Investment Analysis </a:t>
            </a:r>
            <a:endParaRPr lang="zh-CN" altLang="en-US" dirty="0"/>
          </a:p>
        </p:txBody>
      </p:sp>
      <p:sp>
        <p:nvSpPr>
          <p:cNvPr id="3" name="副标题 2"/>
          <p:cNvSpPr>
            <a:spLocks noGrp="1"/>
          </p:cNvSpPr>
          <p:nvPr>
            <p:ph type="subTitle" idx="1"/>
          </p:nvPr>
        </p:nvSpPr>
        <p:spPr/>
        <p:txBody>
          <a:bodyPr/>
          <a:lstStyle/>
          <a:p>
            <a:r>
              <a:rPr lang="zh-CN" altLang="en-US" dirty="0"/>
              <a:t>第</a:t>
            </a:r>
            <a:r>
              <a:rPr lang="en-US" altLang="en-US" dirty="0"/>
              <a:t>二</a:t>
            </a:r>
            <a:r>
              <a:rPr lang="zh-CN" altLang="en-US" dirty="0"/>
              <a:t>讲：林业投资分析</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案例</a:t>
            </a:r>
            <a:endParaRPr kumimoji="1" lang="zh-CN" altLang="en-US" dirty="0"/>
          </a:p>
        </p:txBody>
      </p:sp>
      <p:sp>
        <p:nvSpPr>
          <p:cNvPr id="5" name="内容占位符 4"/>
          <p:cNvSpPr>
            <a:spLocks noGrp="1"/>
          </p:cNvSpPr>
          <p:nvPr>
            <p:ph idx="1"/>
          </p:nvPr>
        </p:nvSpPr>
        <p:spPr>
          <a:xfrm>
            <a:off x="323528" y="1772816"/>
            <a:ext cx="8496944" cy="5085184"/>
          </a:xfrm>
        </p:spPr>
        <p:txBody>
          <a:bodyPr>
            <a:normAutofit fontScale="85000" lnSpcReduction="20000"/>
          </a:bodyPr>
          <a:lstStyle/>
          <a:p>
            <a:r>
              <a:rPr kumimoji="1" lang="en-US" altLang="zh-CN" dirty="0">
                <a:latin typeface="黑体" panose="02010609060101010101" charset="-122"/>
                <a:ea typeface="黑体" panose="02010609060101010101" charset="-122"/>
                <a:cs typeface="黑体" panose="02010609060101010101" charset="-122"/>
              </a:rPr>
              <a:t>A</a:t>
            </a:r>
            <a:r>
              <a:rPr kumimoji="1" lang="zh-CN" altLang="en-US" dirty="0">
                <a:latin typeface="黑体" panose="02010609060101010101" charset="-122"/>
                <a:ea typeface="黑体" panose="02010609060101010101" charset="-122"/>
                <a:cs typeface="黑体" panose="02010609060101010101" charset="-122"/>
              </a:rPr>
              <a:t>村有一片荒山，面积约</a:t>
            </a:r>
            <a:r>
              <a:rPr kumimoji="1" lang="en-US" altLang="zh-CN" dirty="0">
                <a:latin typeface="黑体" panose="02010609060101010101" charset="-122"/>
                <a:ea typeface="黑体" panose="02010609060101010101" charset="-122"/>
                <a:cs typeface="黑体" panose="02010609060101010101" charset="-122"/>
              </a:rPr>
              <a:t>50</a:t>
            </a:r>
            <a:r>
              <a:rPr kumimoji="1" lang="zh-CN" altLang="en-US" dirty="0">
                <a:latin typeface="黑体" panose="02010609060101010101" charset="-122"/>
                <a:ea typeface="黑体" panose="02010609060101010101" charset="-122"/>
                <a:cs typeface="黑体" panose="02010609060101010101" charset="-122"/>
              </a:rPr>
              <a:t>亩，现在生长着用材价值不高的杂木林。</a:t>
            </a:r>
            <a:endParaRPr kumimoji="1" lang="en-US" altLang="zh-CN" dirty="0">
              <a:latin typeface="黑体" panose="02010609060101010101" charset="-122"/>
              <a:ea typeface="黑体" panose="02010609060101010101" charset="-122"/>
              <a:cs typeface="黑体" panose="02010609060101010101" charset="-122"/>
            </a:endParaRPr>
          </a:p>
          <a:p>
            <a:r>
              <a:rPr kumimoji="1" lang="zh-CN" altLang="en-US" dirty="0">
                <a:latin typeface="黑体" panose="02010609060101010101" charset="-122"/>
                <a:ea typeface="黑体" panose="02010609060101010101" charset="-122"/>
                <a:cs typeface="黑体" panose="02010609060101010101" charset="-122"/>
              </a:rPr>
              <a:t>将杂木全部砍伐改种马尾松</a:t>
            </a:r>
            <a:r>
              <a:rPr kumimoji="1" lang="en-US" altLang="en-US" dirty="0">
                <a:latin typeface="黑体" panose="02010609060101010101" charset="-122"/>
                <a:ea typeface="黑体" panose="02010609060101010101" charset="-122"/>
                <a:cs typeface="黑体" panose="02010609060101010101" charset="-122"/>
              </a:rPr>
              <a:t>后</a:t>
            </a:r>
            <a:r>
              <a:rPr kumimoji="1" lang="zh-CN" altLang="en-US" dirty="0">
                <a:latin typeface="黑体" panose="02010609060101010101" charset="-122"/>
                <a:ea typeface="黑体" panose="02010609060101010101" charset="-122"/>
                <a:cs typeface="黑体" panose="02010609060101010101" charset="-122"/>
              </a:rPr>
              <a:t>，树苗、人工及前期管护等需花费</a:t>
            </a:r>
            <a:r>
              <a:rPr kumimoji="1" lang="en-US" altLang="zh-CN" dirty="0">
                <a:latin typeface="黑体" panose="02010609060101010101" charset="-122"/>
                <a:ea typeface="黑体" panose="02010609060101010101" charset="-122"/>
                <a:cs typeface="黑体" panose="02010609060101010101" charset="-122"/>
              </a:rPr>
              <a:t>2</a:t>
            </a:r>
            <a:r>
              <a:rPr kumimoji="1" lang="zh-CN" altLang="en-US" dirty="0">
                <a:latin typeface="黑体" panose="02010609060101010101" charset="-122"/>
                <a:ea typeface="黑体" panose="02010609060101010101" charset="-122"/>
                <a:cs typeface="黑体" panose="02010609060101010101" charset="-122"/>
              </a:rPr>
              <a:t>万元，中间每年管护费用为</a:t>
            </a:r>
            <a:r>
              <a:rPr kumimoji="1" lang="en-US" altLang="zh-CN" dirty="0">
                <a:latin typeface="黑体" panose="02010609060101010101" charset="-122"/>
                <a:ea typeface="黑体" panose="02010609060101010101" charset="-122"/>
                <a:cs typeface="黑体" panose="02010609060101010101" charset="-122"/>
              </a:rPr>
              <a:t>500</a:t>
            </a:r>
            <a:r>
              <a:rPr kumimoji="1" lang="zh-CN" altLang="en-US" dirty="0">
                <a:latin typeface="黑体" panose="02010609060101010101" charset="-122"/>
                <a:ea typeface="黑体" panose="02010609060101010101" charset="-122"/>
                <a:cs typeface="黑体" panose="02010609060101010101" charset="-122"/>
              </a:rPr>
              <a:t>元，</a:t>
            </a:r>
            <a:r>
              <a:rPr kumimoji="1" lang="en-US" altLang="zh-CN" dirty="0">
                <a:latin typeface="黑体" panose="02010609060101010101" charset="-122"/>
                <a:ea typeface="黑体" panose="02010609060101010101" charset="-122"/>
                <a:cs typeface="黑体" panose="02010609060101010101" charset="-122"/>
              </a:rPr>
              <a:t>15</a:t>
            </a:r>
            <a:r>
              <a:rPr kumimoji="1" lang="zh-CN" altLang="en-US" dirty="0">
                <a:latin typeface="黑体" panose="02010609060101010101" charset="-122"/>
                <a:ea typeface="黑体" panose="02010609060101010101" charset="-122"/>
                <a:cs typeface="黑体" panose="02010609060101010101" charset="-122"/>
              </a:rPr>
              <a:t>年后马尾松长成，全部采伐后可得</a:t>
            </a:r>
            <a:r>
              <a:rPr kumimoji="1" lang="en-US" altLang="zh-CN" dirty="0">
                <a:latin typeface="黑体" panose="02010609060101010101" charset="-122"/>
                <a:ea typeface="黑体" panose="02010609060101010101" charset="-122"/>
                <a:cs typeface="黑体" panose="02010609060101010101" charset="-122"/>
              </a:rPr>
              <a:t>20</a:t>
            </a:r>
            <a:r>
              <a:rPr kumimoji="1" lang="zh-CN" altLang="en-US" dirty="0">
                <a:latin typeface="黑体" panose="02010609060101010101" charset="-122"/>
                <a:ea typeface="黑体" panose="02010609060101010101" charset="-122"/>
                <a:cs typeface="黑体" panose="02010609060101010101" charset="-122"/>
              </a:rPr>
              <a:t>万元。</a:t>
            </a:r>
            <a:endParaRPr kumimoji="1" lang="en-US" altLang="zh-CN" dirty="0">
              <a:latin typeface="黑体" panose="02010609060101010101" charset="-122"/>
              <a:ea typeface="黑体" panose="02010609060101010101" charset="-122"/>
              <a:cs typeface="黑体" panose="02010609060101010101" charset="-122"/>
            </a:endParaRPr>
          </a:p>
          <a:p>
            <a:r>
              <a:rPr kumimoji="1" lang="zh-CN" altLang="en-US" dirty="0">
                <a:latin typeface="黑体" panose="02010609060101010101" charset="-122"/>
                <a:ea typeface="黑体" panose="02010609060101010101" charset="-122"/>
                <a:cs typeface="黑体" panose="02010609060101010101" charset="-122"/>
              </a:rPr>
              <a:t>若改种果树，初期投入</a:t>
            </a:r>
            <a:r>
              <a:rPr kumimoji="1" lang="en-US" altLang="zh-CN" dirty="0">
                <a:latin typeface="黑体" panose="02010609060101010101" charset="-122"/>
                <a:ea typeface="黑体" panose="02010609060101010101" charset="-122"/>
                <a:cs typeface="黑体" panose="02010609060101010101" charset="-122"/>
              </a:rPr>
              <a:t>5</a:t>
            </a:r>
            <a:r>
              <a:rPr kumimoji="1" lang="zh-CN" altLang="en-US" dirty="0">
                <a:latin typeface="黑体" panose="02010609060101010101" charset="-122"/>
                <a:ea typeface="黑体" panose="02010609060101010101" charset="-122"/>
                <a:cs typeface="黑体" panose="02010609060101010101" charset="-122"/>
              </a:rPr>
              <a:t>万元，第三年末挂果，挂果期每年投入</a:t>
            </a:r>
            <a:r>
              <a:rPr kumimoji="1" lang="en-US" altLang="zh-CN" dirty="0">
                <a:latin typeface="黑体" panose="02010609060101010101" charset="-122"/>
                <a:ea typeface="黑体" panose="02010609060101010101" charset="-122"/>
                <a:cs typeface="黑体" panose="02010609060101010101" charset="-122"/>
              </a:rPr>
              <a:t>0.5</a:t>
            </a:r>
            <a:r>
              <a:rPr kumimoji="1" lang="zh-CN" altLang="en-US" dirty="0">
                <a:latin typeface="黑体" panose="02010609060101010101" charset="-122"/>
                <a:ea typeface="黑体" panose="02010609060101010101" charset="-122"/>
                <a:cs typeface="黑体" panose="02010609060101010101" charset="-122"/>
              </a:rPr>
              <a:t>万元，第三年起每年需投入农药、化肥等费用约</a:t>
            </a:r>
            <a:r>
              <a:rPr kumimoji="1" lang="en-US" altLang="zh-CN" dirty="0">
                <a:latin typeface="黑体" panose="02010609060101010101" charset="-122"/>
                <a:ea typeface="黑体" panose="02010609060101010101" charset="-122"/>
                <a:cs typeface="黑体" panose="02010609060101010101" charset="-122"/>
              </a:rPr>
              <a:t>1</a:t>
            </a:r>
            <a:r>
              <a:rPr kumimoji="1" lang="zh-CN" altLang="en-US" dirty="0">
                <a:latin typeface="黑体" panose="02010609060101010101" charset="-122"/>
                <a:ea typeface="黑体" panose="02010609060101010101" charset="-122"/>
                <a:cs typeface="黑体" panose="02010609060101010101" charset="-122"/>
              </a:rPr>
              <a:t>万元，收入</a:t>
            </a:r>
            <a:r>
              <a:rPr kumimoji="1" lang="en-US" altLang="zh-CN" dirty="0">
                <a:latin typeface="黑体" panose="02010609060101010101" charset="-122"/>
                <a:ea typeface="黑体" panose="02010609060101010101" charset="-122"/>
                <a:cs typeface="黑体" panose="02010609060101010101" charset="-122"/>
              </a:rPr>
              <a:t>2</a:t>
            </a:r>
            <a:r>
              <a:rPr kumimoji="1" lang="zh-CN" altLang="en-US" dirty="0">
                <a:latin typeface="黑体" panose="02010609060101010101" charset="-122"/>
                <a:ea typeface="黑体" panose="02010609060101010101" charset="-122"/>
                <a:cs typeface="黑体" panose="02010609060101010101" charset="-122"/>
              </a:rPr>
              <a:t>万元。</a:t>
            </a:r>
            <a:endParaRPr kumimoji="1" lang="en-US" altLang="zh-CN" dirty="0">
              <a:latin typeface="黑体" panose="02010609060101010101" charset="-122"/>
              <a:ea typeface="黑体" panose="02010609060101010101" charset="-122"/>
              <a:cs typeface="黑体" panose="02010609060101010101" charset="-122"/>
            </a:endParaRPr>
          </a:p>
          <a:p>
            <a:pPr lvl="1"/>
            <a:r>
              <a:rPr kumimoji="1" lang="zh-CN" altLang="en-US" dirty="0">
                <a:latin typeface="黑体" panose="02010609060101010101" charset="-122"/>
                <a:ea typeface="黑体" panose="02010609060101010101" charset="-122"/>
                <a:cs typeface="黑体" panose="02010609060101010101" charset="-122"/>
              </a:rPr>
              <a:t>假定社会贴现率为</a:t>
            </a:r>
            <a:r>
              <a:rPr kumimoji="1" lang="en-US" altLang="zh-CN" dirty="0">
                <a:latin typeface="黑体" panose="02010609060101010101" charset="-122"/>
                <a:ea typeface="黑体" panose="02010609060101010101" charset="-122"/>
                <a:cs typeface="黑体" panose="02010609060101010101" charset="-122"/>
              </a:rPr>
              <a:t>5%</a:t>
            </a:r>
            <a:r>
              <a:rPr kumimoji="1" lang="zh-CN" altLang="en-US" dirty="0">
                <a:latin typeface="黑体" panose="02010609060101010101" charset="-122"/>
                <a:ea typeface="黑体" panose="02010609060101010101" charset="-122"/>
                <a:cs typeface="黑体" panose="02010609060101010101" charset="-122"/>
              </a:rPr>
              <a:t>，</a:t>
            </a:r>
            <a:r>
              <a:rPr kumimoji="1" lang="en-US" altLang="zh-CN" dirty="0">
                <a:latin typeface="黑体" panose="02010609060101010101" charset="-122"/>
                <a:ea typeface="黑体" panose="02010609060101010101" charset="-122"/>
                <a:cs typeface="黑体" panose="02010609060101010101" charset="-122"/>
              </a:rPr>
              <a:t>A</a:t>
            </a:r>
            <a:r>
              <a:rPr kumimoji="1" lang="zh-CN" altLang="en-US" dirty="0">
                <a:latin typeface="黑体" panose="02010609060101010101" charset="-122"/>
                <a:ea typeface="黑体" panose="02010609060101010101" charset="-122"/>
                <a:cs typeface="黑体" panose="02010609060101010101" charset="-122"/>
              </a:rPr>
              <a:t>村应该如何选择？</a:t>
            </a:r>
            <a:endParaRPr kumimoji="1" lang="en-US" altLang="zh-CN" dirty="0">
              <a:latin typeface="黑体" panose="02010609060101010101" charset="-122"/>
              <a:ea typeface="黑体" panose="02010609060101010101" charset="-122"/>
              <a:cs typeface="黑体" panose="02010609060101010101" charset="-122"/>
            </a:endParaRPr>
          </a:p>
          <a:p>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梯形 5"/>
          <p:cNvSpPr/>
          <p:nvPr/>
        </p:nvSpPr>
        <p:spPr>
          <a:xfrm>
            <a:off x="5823786" y="-13645"/>
            <a:ext cx="3354367" cy="6905502"/>
          </a:xfrm>
          <a:custGeom>
            <a:avLst/>
            <a:gdLst>
              <a:gd name="connsiteX0" fmla="*/ 0 w 3816424"/>
              <a:gd name="connsiteY0" fmla="*/ 6858000 h 6858000"/>
              <a:gd name="connsiteX1" fmla="*/ 799732 w 3816424"/>
              <a:gd name="connsiteY1" fmla="*/ 0 h 6858000"/>
              <a:gd name="connsiteX2" fmla="*/ 3016692 w 3816424"/>
              <a:gd name="connsiteY2" fmla="*/ 0 h 6858000"/>
              <a:gd name="connsiteX3" fmla="*/ 3816424 w 3816424"/>
              <a:gd name="connsiteY3" fmla="*/ 6858000 h 6858000"/>
              <a:gd name="connsiteX4" fmla="*/ 0 w 3816424"/>
              <a:gd name="connsiteY4" fmla="*/ 6858000 h 6858000"/>
              <a:gd name="connsiteX0-1" fmla="*/ 0 w 4536734"/>
              <a:gd name="connsiteY0-2" fmla="*/ 6881751 h 6881751"/>
              <a:gd name="connsiteX1-3" fmla="*/ 799732 w 4536734"/>
              <a:gd name="connsiteY1-4" fmla="*/ 23751 h 6881751"/>
              <a:gd name="connsiteX2-5" fmla="*/ 4536734 w 4536734"/>
              <a:gd name="connsiteY2-6" fmla="*/ 0 h 6881751"/>
              <a:gd name="connsiteX3-7" fmla="*/ 3816424 w 4536734"/>
              <a:gd name="connsiteY3-8" fmla="*/ 6881751 h 6881751"/>
              <a:gd name="connsiteX4-9" fmla="*/ 0 w 4536734"/>
              <a:gd name="connsiteY4-10" fmla="*/ 6881751 h 6881751"/>
              <a:gd name="connsiteX0-11" fmla="*/ 0 w 4536734"/>
              <a:gd name="connsiteY0-12" fmla="*/ 6881751 h 6893626"/>
              <a:gd name="connsiteX1-13" fmla="*/ 799732 w 4536734"/>
              <a:gd name="connsiteY1-14" fmla="*/ 23751 h 6893626"/>
              <a:gd name="connsiteX2-15" fmla="*/ 4536734 w 4536734"/>
              <a:gd name="connsiteY2-16" fmla="*/ 0 h 6893626"/>
              <a:gd name="connsiteX3-17" fmla="*/ 4505193 w 4536734"/>
              <a:gd name="connsiteY3-18" fmla="*/ 6893626 h 6893626"/>
              <a:gd name="connsiteX4-19" fmla="*/ 0 w 4536734"/>
              <a:gd name="connsiteY4-20" fmla="*/ 6881751 h 6893626"/>
              <a:gd name="connsiteX0-21" fmla="*/ 0 w 4536734"/>
              <a:gd name="connsiteY0-22" fmla="*/ 6881751 h 6893626"/>
              <a:gd name="connsiteX1-23" fmla="*/ 2782911 w 4536734"/>
              <a:gd name="connsiteY1-24" fmla="*/ 23751 h 6893626"/>
              <a:gd name="connsiteX2-25" fmla="*/ 4536734 w 4536734"/>
              <a:gd name="connsiteY2-26" fmla="*/ 0 h 6893626"/>
              <a:gd name="connsiteX3-27" fmla="*/ 4505193 w 4536734"/>
              <a:gd name="connsiteY3-28" fmla="*/ 6893626 h 6893626"/>
              <a:gd name="connsiteX4-29" fmla="*/ 0 w 4536734"/>
              <a:gd name="connsiteY4-30" fmla="*/ 6881751 h 6893626"/>
              <a:gd name="connsiteX0-31" fmla="*/ 0 w 4536734"/>
              <a:gd name="connsiteY0-32" fmla="*/ 6881751 h 6893626"/>
              <a:gd name="connsiteX1-33" fmla="*/ 2782911 w 4536734"/>
              <a:gd name="connsiteY1-34" fmla="*/ 23751 h 6893626"/>
              <a:gd name="connsiteX2-35" fmla="*/ 4536734 w 4536734"/>
              <a:gd name="connsiteY2-36" fmla="*/ 0 h 6893626"/>
              <a:gd name="connsiteX3-37" fmla="*/ 4505193 w 4536734"/>
              <a:gd name="connsiteY3-38" fmla="*/ 6893626 h 6893626"/>
              <a:gd name="connsiteX4-39" fmla="*/ 0 w 4536734"/>
              <a:gd name="connsiteY4-40" fmla="*/ 6881751 h 6893626"/>
              <a:gd name="connsiteX0-41" fmla="*/ 1064958 w 3321629"/>
              <a:gd name="connsiteY0-42" fmla="*/ 6834250 h 6893626"/>
              <a:gd name="connsiteX1-43" fmla="*/ 1567806 w 3321629"/>
              <a:gd name="connsiteY1-44" fmla="*/ 23751 h 6893626"/>
              <a:gd name="connsiteX2-45" fmla="*/ 3321629 w 3321629"/>
              <a:gd name="connsiteY2-46" fmla="*/ 0 h 6893626"/>
              <a:gd name="connsiteX3-47" fmla="*/ 3290088 w 3321629"/>
              <a:gd name="connsiteY3-48" fmla="*/ 6893626 h 6893626"/>
              <a:gd name="connsiteX4-49" fmla="*/ 1064958 w 3321629"/>
              <a:gd name="connsiteY4-50" fmla="*/ 6834250 h 6893626"/>
              <a:gd name="connsiteX0-51" fmla="*/ 1047012 w 3327434"/>
              <a:gd name="connsiteY0-52" fmla="*/ 6905502 h 6905502"/>
              <a:gd name="connsiteX1-53" fmla="*/ 1573611 w 3327434"/>
              <a:gd name="connsiteY1-54" fmla="*/ 23751 h 6905502"/>
              <a:gd name="connsiteX2-55" fmla="*/ 3327434 w 3327434"/>
              <a:gd name="connsiteY2-56" fmla="*/ 0 h 6905502"/>
              <a:gd name="connsiteX3-57" fmla="*/ 3295893 w 3327434"/>
              <a:gd name="connsiteY3-58" fmla="*/ 6893626 h 6905502"/>
              <a:gd name="connsiteX4-59" fmla="*/ 1047012 w 3327434"/>
              <a:gd name="connsiteY4-60" fmla="*/ 6905502 h 6905502"/>
              <a:gd name="connsiteX0-61" fmla="*/ 1073945 w 3354367"/>
              <a:gd name="connsiteY0-62" fmla="*/ 6905502 h 6905502"/>
              <a:gd name="connsiteX1-63" fmla="*/ 1564918 w 3354367"/>
              <a:gd name="connsiteY1-64" fmla="*/ 0 h 6905502"/>
              <a:gd name="connsiteX2-65" fmla="*/ 3354367 w 3354367"/>
              <a:gd name="connsiteY2-66" fmla="*/ 0 h 6905502"/>
              <a:gd name="connsiteX3-67" fmla="*/ 3322826 w 3354367"/>
              <a:gd name="connsiteY3-68" fmla="*/ 6893626 h 6905502"/>
              <a:gd name="connsiteX4-69" fmla="*/ 1073945 w 3354367"/>
              <a:gd name="connsiteY4-70" fmla="*/ 6905502 h 69055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54367" h="6905502">
                <a:moveTo>
                  <a:pt x="1073945" y="6905502"/>
                </a:moveTo>
                <a:cubicBezTo>
                  <a:pt x="2001582" y="4619502"/>
                  <a:pt x="-2129669" y="3580410"/>
                  <a:pt x="1564918" y="0"/>
                </a:cubicBezTo>
                <a:lnTo>
                  <a:pt x="3354367" y="0"/>
                </a:lnTo>
                <a:lnTo>
                  <a:pt x="3322826" y="6893626"/>
                </a:lnTo>
                <a:lnTo>
                  <a:pt x="1073945" y="6905502"/>
                </a:lnTo>
                <a:close/>
              </a:path>
            </a:pathLst>
          </a:custGeom>
          <a:solidFill>
            <a:srgbClr val="00B0F0"/>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直角三角形 3"/>
          <p:cNvSpPr/>
          <p:nvPr/>
        </p:nvSpPr>
        <p:spPr>
          <a:xfrm>
            <a:off x="0" y="0"/>
            <a:ext cx="4932040" cy="6858000"/>
          </a:xfrm>
          <a:custGeom>
            <a:avLst/>
            <a:gdLst>
              <a:gd name="connsiteX0" fmla="*/ 0 w 4788024"/>
              <a:gd name="connsiteY0" fmla="*/ 3717032 h 3717032"/>
              <a:gd name="connsiteX1" fmla="*/ 0 w 4788024"/>
              <a:gd name="connsiteY1" fmla="*/ 0 h 3717032"/>
              <a:gd name="connsiteX2" fmla="*/ 4788024 w 4788024"/>
              <a:gd name="connsiteY2" fmla="*/ 3717032 h 3717032"/>
              <a:gd name="connsiteX3" fmla="*/ 0 w 4788024"/>
              <a:gd name="connsiteY3" fmla="*/ 3717032 h 3717032"/>
              <a:gd name="connsiteX0-1" fmla="*/ 0 w 4788024"/>
              <a:gd name="connsiteY0-2" fmla="*/ 6329604 h 6329604"/>
              <a:gd name="connsiteX1-3" fmla="*/ 0 w 4788024"/>
              <a:gd name="connsiteY1-4" fmla="*/ 0 h 6329604"/>
              <a:gd name="connsiteX2-5" fmla="*/ 4788024 w 4788024"/>
              <a:gd name="connsiteY2-6" fmla="*/ 3717032 h 6329604"/>
              <a:gd name="connsiteX3-7" fmla="*/ 0 w 4788024"/>
              <a:gd name="connsiteY3-8" fmla="*/ 6329604 h 6329604"/>
            </a:gdLst>
            <a:ahLst/>
            <a:cxnLst>
              <a:cxn ang="0">
                <a:pos x="connsiteX0-1" y="connsiteY0-2"/>
              </a:cxn>
              <a:cxn ang="0">
                <a:pos x="connsiteX1-3" y="connsiteY1-4"/>
              </a:cxn>
              <a:cxn ang="0">
                <a:pos x="connsiteX2-5" y="connsiteY2-6"/>
              </a:cxn>
              <a:cxn ang="0">
                <a:pos x="connsiteX3-7" y="connsiteY3-8"/>
              </a:cxn>
            </a:cxnLst>
            <a:rect l="l" t="t" r="r" b="b"/>
            <a:pathLst>
              <a:path w="4788024" h="6329604">
                <a:moveTo>
                  <a:pt x="0" y="6329604"/>
                </a:moveTo>
                <a:lnTo>
                  <a:pt x="0" y="0"/>
                </a:lnTo>
                <a:lnTo>
                  <a:pt x="4788024" y="3717032"/>
                </a:lnTo>
                <a:lnTo>
                  <a:pt x="0" y="6329604"/>
                </a:lnTo>
                <a:close/>
              </a:path>
            </a:pathLst>
          </a:custGeom>
          <a:solidFill>
            <a:srgbClr val="FFC000"/>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椭圆 2"/>
          <p:cNvSpPr/>
          <p:nvPr/>
        </p:nvSpPr>
        <p:spPr>
          <a:xfrm>
            <a:off x="3275856" y="2060848"/>
            <a:ext cx="2700000" cy="2700000"/>
          </a:xfrm>
          <a:prstGeom prst="ellipse">
            <a:avLst/>
          </a:prstGeom>
          <a:gradFill flip="none" rotWithShape="1">
            <a:gsLst>
              <a:gs pos="0">
                <a:srgbClr val="00B0F0"/>
              </a:gs>
              <a:gs pos="0">
                <a:schemeClr val="bg1"/>
              </a:gs>
              <a:gs pos="100000">
                <a:srgbClr val="00B0F0"/>
              </a:gs>
            </a:gsLst>
            <a:lin ang="18600000" scaled="0"/>
            <a:tileRect/>
          </a:gradFill>
          <a:ln>
            <a:noFill/>
          </a:ln>
          <a:effectLst>
            <a:softEdge rad="63500"/>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w="17780" cmpd="sng">
                  <a:solidFill>
                    <a:srgbClr val="4F81BD">
                      <a:tint val="3000"/>
                    </a:srgbClr>
                  </a:solidFill>
                  <a:prstDash val="solid"/>
                  <a:miter lim="800000"/>
                </a:ln>
                <a:solidFill>
                  <a:srgbClr val="FF6699"/>
                </a:solidFill>
                <a:effectLst>
                  <a:outerShdw blurRad="55000" dist="50800" dir="5400000" algn="tl">
                    <a:srgbClr val="000000">
                      <a:alpha val="33000"/>
                    </a:srgbClr>
                  </a:outerShdw>
                </a:effectLst>
                <a:uLnTx/>
                <a:uFillTx/>
                <a:latin typeface="Cooper Black" panose="0208090404030B020404" pitchFamily="18" charset="0"/>
                <a:ea typeface="宋体" panose="02010600030101010101" pitchFamily="2" charset="-122"/>
                <a:cs typeface="+mn-cs"/>
              </a:rPr>
              <a:t>Integrating Economics and </a:t>
            </a:r>
            <a:r>
              <a:rPr kumimoji="0" lang="en-US" altLang="zh-CN" sz="2200" b="1" i="0" u="none" strike="noStrike" kern="1200" cap="none" spc="0" normalizeH="0" baseline="0" noProof="0" dirty="0" err="1">
                <a:ln w="17780" cmpd="sng">
                  <a:solidFill>
                    <a:srgbClr val="4F81BD">
                      <a:tint val="3000"/>
                    </a:srgbClr>
                  </a:solidFill>
                  <a:prstDash val="solid"/>
                  <a:miter lim="800000"/>
                </a:ln>
                <a:solidFill>
                  <a:srgbClr val="FF6699"/>
                </a:solidFill>
                <a:effectLst>
                  <a:outerShdw blurRad="55000" dist="50800" dir="5400000" algn="tl">
                    <a:srgbClr val="000000">
                      <a:alpha val="33000"/>
                    </a:srgbClr>
                  </a:outerShdw>
                </a:effectLst>
                <a:uLnTx/>
                <a:uFillTx/>
                <a:latin typeface="Cooper Black" panose="0208090404030B020404" pitchFamily="18" charset="0"/>
                <a:ea typeface="宋体" panose="02010600030101010101" pitchFamily="2" charset="-122"/>
                <a:cs typeface="+mn-cs"/>
              </a:rPr>
              <a:t>Silviculture</a:t>
            </a:r>
            <a:endParaRPr kumimoji="0" lang="en-US" altLang="zh-CN" sz="2200" b="1" i="0" u="none" strike="noStrike" kern="1200" cap="none" spc="0" normalizeH="0" baseline="0" noProof="0" dirty="0">
              <a:ln w="17780" cmpd="sng">
                <a:solidFill>
                  <a:srgbClr val="4F81BD">
                    <a:tint val="3000"/>
                  </a:srgbClr>
                </a:solidFill>
                <a:prstDash val="solid"/>
                <a:miter lim="800000"/>
              </a:ln>
              <a:solidFill>
                <a:srgbClr val="FF6699"/>
              </a:solidFill>
              <a:effectLst>
                <a:outerShdw blurRad="55000" dist="50800" dir="5400000" algn="tl">
                  <a:srgbClr val="000000">
                    <a:alpha val="33000"/>
                  </a:srgbClr>
                </a:outerShdw>
              </a:effectLst>
              <a:uLnTx/>
              <a:uFillTx/>
              <a:latin typeface="Cooper Black" panose="0208090404030B0204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w="17780" cmpd="sng">
                  <a:noFill/>
                  <a:prstDash val="solid"/>
                  <a:miter lim="800000"/>
                </a:ln>
                <a:solidFill>
                  <a:sysClr val="windowText" lastClr="000000"/>
                </a:solidFill>
                <a:effectLst>
                  <a:outerShdw blurRad="55000" dist="50800" dir="5400000" algn="tl">
                    <a:srgbClr val="000000">
                      <a:alpha val="33000"/>
                    </a:srgbClr>
                  </a:outerShdw>
                </a:effectLst>
                <a:uLnTx/>
                <a:uFillTx/>
                <a:latin typeface="隶书" panose="02010509060101010101" pitchFamily="49" charset="-122"/>
                <a:ea typeface="隶书" panose="02010509060101010101" pitchFamily="49" charset="-122"/>
                <a:cs typeface="+mn-cs"/>
              </a:rPr>
              <a:t>营林与经济</a:t>
            </a:r>
            <a:r>
              <a:rPr kumimoji="0" lang="en-US" altLang="zh-CN" sz="2200" b="1" i="0" u="none" strike="noStrike" kern="1200" cap="none" spc="0" normalizeH="0" baseline="0" noProof="0" dirty="0">
                <a:ln w="17780" cmpd="sng">
                  <a:noFill/>
                  <a:prstDash val="solid"/>
                  <a:miter lim="800000"/>
                </a:ln>
                <a:solidFill>
                  <a:sysClr val="windowText" lastClr="000000"/>
                </a:solidFill>
                <a:effectLst>
                  <a:outerShdw blurRad="55000" dist="50800" dir="5400000" algn="tl">
                    <a:srgbClr val="000000">
                      <a:alpha val="33000"/>
                    </a:srgbClr>
                  </a:outerShdw>
                </a:effectLst>
                <a:uLnTx/>
                <a:uFillTx/>
                <a:latin typeface="隶书" panose="02010509060101010101" pitchFamily="49" charset="-122"/>
                <a:ea typeface="隶书" panose="02010509060101010101" pitchFamily="49" charset="-122"/>
                <a:cs typeface="+mn-cs"/>
              </a:rPr>
              <a:t> </a:t>
            </a:r>
            <a:endParaRPr kumimoji="0" lang="zh-CN" altLang="en-US" sz="2200" b="1" i="0" u="none" strike="noStrike" kern="1200" cap="none" spc="0" normalizeH="0" baseline="0" noProof="0" dirty="0">
              <a:ln w="17780" cmpd="sng">
                <a:noFill/>
                <a:prstDash val="solid"/>
                <a:miter lim="800000"/>
              </a:ln>
              <a:solidFill>
                <a:sysClr val="windowText" lastClr="000000"/>
              </a:solidFill>
              <a:effectLst>
                <a:outerShdw blurRad="55000" dist="50800" dir="5400000" algn="tl">
                  <a:srgbClr val="000000">
                    <a:alpha val="33000"/>
                  </a:srgbClr>
                </a:outerShdw>
              </a:effectLst>
              <a:uLnTx/>
              <a:uFillTx/>
              <a:latin typeface="隶书" panose="02010509060101010101" pitchFamily="49" charset="-122"/>
              <a:ea typeface="隶书" panose="02010509060101010101" pitchFamily="49" charset="-122"/>
              <a:cs typeface="+mn-cs"/>
            </a:endParaRPr>
          </a:p>
        </p:txBody>
      </p:sp>
      <p:sp>
        <p:nvSpPr>
          <p:cNvPr id="2" name="同心圆 1"/>
          <p:cNvSpPr/>
          <p:nvPr/>
        </p:nvSpPr>
        <p:spPr>
          <a:xfrm>
            <a:off x="2987824" y="1772816"/>
            <a:ext cx="3240360" cy="3240360"/>
          </a:xfrm>
          <a:prstGeom prst="donut">
            <a:avLst>
              <a:gd name="adj" fmla="val 11072"/>
            </a:avLst>
          </a:prstGeom>
          <a:solidFill>
            <a:srgbClr val="92D05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2195735" y="279945"/>
            <a:ext cx="4234107" cy="1384995"/>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Calibri" panose="020F0502020204030204"/>
                <a:ea typeface="宋体" panose="02010600030101010101" pitchFamily="2" charset="-122"/>
                <a:cs typeface="+mn-cs"/>
              </a:rPr>
              <a:t>Time and the Role of Interest</a:t>
            </a:r>
            <a:endParaRPr kumimoji="0" lang="en-US" altLang="zh-CN"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时间和利息的作用</a:t>
            </a:r>
            <a:r>
              <a:rPr kumimoji="0" lang="en-US" altLang="zh-CN"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 </a:t>
            </a:r>
            <a:endParaRPr kumimoji="0" lang="zh-CN" altLang="en-US"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endParaRPr>
          </a:p>
        </p:txBody>
      </p:sp>
      <p:sp>
        <p:nvSpPr>
          <p:cNvPr id="8" name="矩形 7"/>
          <p:cNvSpPr/>
          <p:nvPr/>
        </p:nvSpPr>
        <p:spPr>
          <a:xfrm>
            <a:off x="6550369" y="1915612"/>
            <a:ext cx="2627784" cy="3046988"/>
          </a:xfrm>
          <a:prstGeom prst="rect">
            <a:avLst/>
          </a:prstGeom>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rPr>
              <a:t>Compounding, Discounting, and Present Values</a:t>
            </a:r>
            <a:endParaRPr kumimoji="0" lang="en-US" altLang="zh-CN"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复利、贴现和现值</a:t>
            </a:r>
            <a:r>
              <a:rPr kumimoji="0" lang="en-US" altLang="zh-CN"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 </a:t>
            </a:r>
            <a:endParaRPr kumimoji="0" lang="zh-CN" altLang="en-US"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endParaRPr>
          </a:p>
        </p:txBody>
      </p:sp>
      <p:sp>
        <p:nvSpPr>
          <p:cNvPr id="9" name="矩形 8"/>
          <p:cNvSpPr/>
          <p:nvPr/>
        </p:nvSpPr>
        <p:spPr>
          <a:xfrm>
            <a:off x="1545403" y="5445224"/>
            <a:ext cx="5955566" cy="1077218"/>
          </a:xfrm>
          <a:prstGeom prst="rect">
            <a:avLst/>
          </a:prstGeom>
        </p:spPr>
        <p:txBody>
          <a:bodyPr wrap="square">
            <a:spAutoFit/>
            <a:scene3d>
              <a:camera prst="orthographicFront"/>
              <a:lightRig rig="glow" dir="tl">
                <a:rot lat="0" lon="0" rev="5400000"/>
              </a:lightRig>
            </a:scene3d>
            <a:sp3d>
              <a:bevelT w="25400" h="25400"/>
              <a:bevelB w="6350"/>
              <a:contourClr>
                <a:schemeClr val="bg1"/>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Britannic Bold" panose="020B0903060703020204" pitchFamily="34" charset="0"/>
                <a:ea typeface="宋体" panose="02010600030101010101" pitchFamily="2" charset="-122"/>
                <a:cs typeface="+mn-cs"/>
              </a:rPr>
              <a:t>Criteria for Investment Decisions</a:t>
            </a:r>
            <a:r>
              <a:rPr kumimoji="0" lang="zh-CN" altLang="en-US"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隶书" panose="02010509060101010101" pitchFamily="49" charset="-122"/>
                <a:ea typeface="隶书" panose="02010509060101010101" pitchFamily="49" charset="-122"/>
                <a:cs typeface="+mn-cs"/>
              </a:rPr>
              <a:t>投资决策的标准</a:t>
            </a:r>
            <a:r>
              <a:rPr kumimoji="0" lang="en-US" altLang="zh-CN"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隶书" panose="02010509060101010101" pitchFamily="49" charset="-122"/>
                <a:ea typeface="隶书" panose="02010509060101010101" pitchFamily="49" charset="-122"/>
                <a:cs typeface="+mn-cs"/>
              </a:rPr>
              <a:t> </a:t>
            </a:r>
            <a:endParaRPr kumimoji="0" lang="zh-CN" altLang="en-US"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隶书" panose="02010509060101010101" pitchFamily="49" charset="-122"/>
              <a:ea typeface="隶书" panose="02010509060101010101" pitchFamily="49" charset="-122"/>
              <a:cs typeface="+mn-cs"/>
            </a:endParaRPr>
          </a:p>
        </p:txBody>
      </p:sp>
      <p:sp>
        <p:nvSpPr>
          <p:cNvPr id="10" name="矩形 9"/>
          <p:cNvSpPr/>
          <p:nvPr/>
        </p:nvSpPr>
        <p:spPr>
          <a:xfrm>
            <a:off x="70001" y="1974815"/>
            <a:ext cx="2240258" cy="3108543"/>
          </a:xfrm>
          <a:prstGeom prst="rect">
            <a:avLst/>
          </a:prstGeom>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rPr>
              <a:t>Interest Rate, Inflation, Risk, </a:t>
            </a:r>
            <a:endPar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rPr>
              <a:t>and Uncertainty</a:t>
            </a:r>
            <a:r>
              <a:rPr kumimoji="0" lang="zh-CN" altLang="en-US"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利率、通货膨胀、风险和不确定性</a:t>
            </a:r>
            <a:r>
              <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 </a:t>
            </a:r>
            <a:endParaRPr kumimoji="0" lang="zh-CN" altLang="en-US"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Scale>
                                      <p:cBhvr>
                                        <p:cTn id="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7"/>
                                        </p:tgtEl>
                                        <p:attrNameLst>
                                          <p:attrName>ppt_x</p:attrName>
                                          <p:attrName>ppt_y</p:attrName>
                                        </p:attrNameLst>
                                      </p:cBhvr>
                                    </p:animMotion>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fltVal val="0"/>
                                          </p:val>
                                        </p:tav>
                                        <p:tav tm="100000">
                                          <p:val>
                                            <p:strVal val="#ppt_w"/>
                                          </p:val>
                                        </p:tav>
                                      </p:tavLst>
                                    </p:anim>
                                    <p:anim calcmode="lin" valueType="num">
                                      <p:cBhvr>
                                        <p:cTn id="15" dur="1000" fill="hold"/>
                                        <p:tgtEl>
                                          <p:spTgt spid="8"/>
                                        </p:tgtEl>
                                        <p:attrNameLst>
                                          <p:attrName>ppt_h</p:attrName>
                                        </p:attrNameLst>
                                      </p:cBhvr>
                                      <p:tavLst>
                                        <p:tav tm="0">
                                          <p:val>
                                            <p:fltVal val="0"/>
                                          </p:val>
                                        </p:tav>
                                        <p:tav tm="100000">
                                          <p:val>
                                            <p:strVal val="#ppt_h"/>
                                          </p:val>
                                        </p:tav>
                                      </p:tavLst>
                                    </p:anim>
                                    <p:anim calcmode="lin" valueType="num">
                                      <p:cBhvr>
                                        <p:cTn id="16" dur="1000" fill="hold"/>
                                        <p:tgtEl>
                                          <p:spTgt spid="8"/>
                                        </p:tgtEl>
                                        <p:attrNameLst>
                                          <p:attrName>style.rotation</p:attrName>
                                        </p:attrNameLst>
                                      </p:cBhvr>
                                      <p:tavLst>
                                        <p:tav tm="0">
                                          <p:val>
                                            <p:fltVal val="90"/>
                                          </p:val>
                                        </p:tav>
                                        <p:tav tm="100000">
                                          <p:val>
                                            <p:fltVal val="0"/>
                                          </p:val>
                                        </p:tav>
                                      </p:tavLst>
                                    </p:anim>
                                    <p:animEffect transition="in" filter="fade">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8" grpId="0"/>
      <p:bldP spid="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sz="4800" b="1" spc="50" dirty="0">
                <a:ln w="11430"/>
                <a:solidFill>
                  <a:srgbClr val="00B0F0"/>
                </a:solidFill>
                <a:effectLst>
                  <a:innerShdw blurRad="63500" dist="50800" dir="13500000">
                    <a:prstClr val="black">
                      <a:alpha val="50000"/>
                    </a:prstClr>
                  </a:innerShdw>
                </a:effectLst>
              </a:rPr>
              <a:t>Time and the Role of Interest </a:t>
            </a:r>
            <a:endParaRPr lang="zh-CN" altLang="en-US" dirty="0">
              <a:solidFill>
                <a:srgbClr val="00B0F0"/>
              </a:solidFill>
              <a:effectLst>
                <a:innerShdw blurRad="63500" dist="50800" dir="13500000">
                  <a:prstClr val="black">
                    <a:alpha val="50000"/>
                  </a:prstClr>
                </a:innerShdw>
              </a:effectLst>
            </a:endParaRPr>
          </a:p>
        </p:txBody>
      </p:sp>
      <p:sp>
        <p:nvSpPr>
          <p:cNvPr id="3" name="副标题 2"/>
          <p:cNvSpPr>
            <a:spLocks noGrp="1"/>
          </p:cNvSpPr>
          <p:nvPr>
            <p:ph type="subTitle" idx="1"/>
          </p:nvPr>
        </p:nvSpPr>
        <p:spPr/>
        <p:txBody>
          <a:bodyPr/>
          <a:lstStyle/>
          <a:p>
            <a:r>
              <a:rPr lang="zh-CN" altLang="en-US" dirty="0"/>
              <a:t>时间和利息的作用</a:t>
            </a:r>
            <a:endParaRPr lang="zh-CN" altLang="en-US" dirty="0"/>
          </a:p>
        </p:txBody>
      </p:sp>
      <p:sp>
        <p:nvSpPr>
          <p:cNvPr id="4" name="矩形 3"/>
          <p:cNvSpPr/>
          <p:nvPr/>
        </p:nvSpPr>
        <p:spPr>
          <a:xfrm>
            <a:off x="8172400" y="548680"/>
            <a:ext cx="535723" cy="923330"/>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relaxedInset"/>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9BBB59">
                    <a:lumMod val="60000"/>
                    <a:lumOff val="40000"/>
                  </a:srgbClr>
                </a:solidFill>
                <a:effectLst/>
                <a:uLnTx/>
                <a:uFillTx/>
                <a:latin typeface="Calibri" panose="020F0502020204030204"/>
                <a:ea typeface="宋体" panose="02010600030101010101" pitchFamily="2" charset="-122"/>
                <a:cs typeface="+mn-cs"/>
              </a:rPr>
              <a:t>1</a:t>
            </a:r>
            <a:endParaRPr kumimoji="0" lang="en-US" altLang="zh-CN" sz="5400" b="1" i="0" u="none" strike="noStrike" kern="1200" cap="none" spc="0" normalizeH="0" baseline="0" noProof="0" dirty="0">
              <a:solidFill>
                <a:srgbClr val="9BBB59">
                  <a:lumMod val="60000"/>
                  <a:lumOff val="40000"/>
                </a:srgbClr>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83568" y="2132856"/>
            <a:ext cx="8229600" cy="1143000"/>
          </a:xfrm>
        </p:spPr>
        <p:txBody>
          <a:bodyPr>
            <a:normAutofit fontScale="90000"/>
          </a:bodyPr>
          <a:lstStyle/>
          <a:p>
            <a:r>
              <a:rPr lang="zh-CN" altLang="en-US" dirty="0"/>
              <a:t>现值高于未来价值</a:t>
            </a:r>
            <a:endParaRPr lang="zh-CN" altLang="en-US" dirty="0"/>
          </a:p>
        </p:txBody>
      </p:sp>
      <p:sp>
        <p:nvSpPr>
          <p:cNvPr id="4" name="TextBox 3"/>
          <p:cNvSpPr txBox="1"/>
          <p:nvPr/>
        </p:nvSpPr>
        <p:spPr>
          <a:xfrm>
            <a:off x="395536" y="620688"/>
            <a:ext cx="59298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关于资金时间价值的一个基本观点：</a:t>
            </a:r>
            <a:endParaRPr kumimoji="0" lang="zh-CN" altLang="en-US" sz="28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弦形 1"/>
          <p:cNvSpPr/>
          <p:nvPr/>
        </p:nvSpPr>
        <p:spPr>
          <a:xfrm>
            <a:off x="683568" y="2060848"/>
            <a:ext cx="3168352" cy="3168352"/>
          </a:xfrm>
          <a:prstGeom prst="chord">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8900000" scaled="1"/>
            <a:tileRect/>
          </a:gradFill>
          <a:ln>
            <a:noFill/>
          </a:ln>
          <a:effectLst>
            <a:outerShdw blurRad="101600" dist="1016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弦形 2"/>
          <p:cNvSpPr/>
          <p:nvPr/>
        </p:nvSpPr>
        <p:spPr>
          <a:xfrm>
            <a:off x="719746" y="2060848"/>
            <a:ext cx="3096000" cy="3168352"/>
          </a:xfrm>
          <a:prstGeom prst="chord">
            <a:avLst>
              <a:gd name="adj1" fmla="val 2628521"/>
              <a:gd name="adj2" fmla="val 16200000"/>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rPr>
              <a:t>1</a:t>
            </a:r>
            <a:endParaRPr kumimoji="0" lang="zh-CN" altLang="en-US"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endParaRPr>
          </a:p>
        </p:txBody>
      </p:sp>
      <p:sp>
        <p:nvSpPr>
          <p:cNvPr id="5" name="弦形 4"/>
          <p:cNvSpPr/>
          <p:nvPr/>
        </p:nvSpPr>
        <p:spPr>
          <a:xfrm flipH="1" flipV="1">
            <a:off x="4896032" y="948090"/>
            <a:ext cx="3240000" cy="2880320"/>
          </a:xfrm>
          <a:prstGeom prst="chord">
            <a:avLst/>
          </a:prstGeom>
          <a:gradFill flip="none" rotWithShape="1">
            <a:gsLst>
              <a:gs pos="0">
                <a:schemeClr val="bg1"/>
              </a:gs>
              <a:gs pos="100000">
                <a:srgbClr val="0070C0"/>
              </a:gs>
              <a:gs pos="100000">
                <a:schemeClr val="bg1"/>
              </a:gs>
            </a:gsLst>
            <a:lin ang="16200000" scaled="1"/>
            <a:tileRect/>
          </a:gra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弦形 3"/>
          <p:cNvSpPr/>
          <p:nvPr/>
        </p:nvSpPr>
        <p:spPr>
          <a:xfrm flipH="1" flipV="1">
            <a:off x="4896032" y="980728"/>
            <a:ext cx="3204000" cy="2808312"/>
          </a:xfrm>
          <a:prstGeom prst="chord">
            <a:avLst/>
          </a:prstGeom>
          <a:gradFill flip="none" rotWithShape="1">
            <a:gsLst>
              <a:gs pos="0">
                <a:schemeClr val="bg1"/>
              </a:gs>
              <a:gs pos="100000">
                <a:srgbClr val="0070C0"/>
              </a:gs>
              <a:gs pos="100000">
                <a:schemeClr val="bg1"/>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6" name="右箭头 5"/>
          <p:cNvSpPr/>
          <p:nvPr/>
        </p:nvSpPr>
        <p:spPr>
          <a:xfrm>
            <a:off x="3179784" y="2780928"/>
            <a:ext cx="2616352" cy="864096"/>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230297" y="5445224"/>
            <a:ext cx="4074898" cy="923330"/>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9BBB59"/>
                </a:solidFill>
                <a:effectLst/>
                <a:uLnTx/>
                <a:uFillTx/>
                <a:latin typeface="Calibri" panose="020F0502020204030204"/>
                <a:ea typeface="宋体" panose="02010600030101010101" pitchFamily="2" charset="-122"/>
                <a:cs typeface="+mn-cs"/>
              </a:rPr>
              <a:t>Present value</a:t>
            </a:r>
            <a:endParaRPr kumimoji="0" lang="en-US" altLang="zh-CN" sz="5400" b="1" i="0" u="none" strike="noStrike" kern="1200" cap="none" spc="0" normalizeH="0" baseline="0" noProof="0" dirty="0">
              <a:solidFill>
                <a:srgbClr val="9BBB59"/>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5868144" y="4221088"/>
            <a:ext cx="2664296" cy="1754326"/>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00B0F0"/>
                </a:solidFill>
                <a:effectLst/>
                <a:uLnTx/>
                <a:uFillTx/>
                <a:latin typeface="Calibri" panose="020F0502020204030204"/>
                <a:ea typeface="宋体" panose="02010600030101010101" pitchFamily="2" charset="-122"/>
                <a:cs typeface="+mn-cs"/>
              </a:rPr>
              <a:t>Future value</a:t>
            </a:r>
            <a:endParaRPr kumimoji="0" lang="en-US" altLang="zh-CN" sz="5400" b="1" i="0" u="none" strike="noStrike" kern="1200" cap="none" spc="0" normalizeH="0" baseline="0" noProof="0" dirty="0">
              <a:solidFill>
                <a:srgbClr val="00B0F0"/>
              </a:solidFill>
              <a:effectLst/>
              <a:uLnTx/>
              <a:uFillTx/>
              <a:latin typeface="Calibri" panose="020F0502020204030204"/>
              <a:ea typeface="宋体" panose="02010600030101010101" pitchFamily="2" charset="-122"/>
              <a:cs typeface="+mn-cs"/>
            </a:endParaRPr>
          </a:p>
        </p:txBody>
      </p:sp>
      <p:sp>
        <p:nvSpPr>
          <p:cNvPr id="9" name="矩形 8"/>
          <p:cNvSpPr/>
          <p:nvPr/>
        </p:nvSpPr>
        <p:spPr>
          <a:xfrm>
            <a:off x="2915816" y="1857598"/>
            <a:ext cx="2928264" cy="923330"/>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rPr>
              <a:t>+Interest</a:t>
            </a:r>
            <a:endParaRPr kumimoji="0" lang="en-US" altLang="zh-CN"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6425608" y="1388239"/>
            <a:ext cx="931665" cy="186204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rPr>
              <a:t>1</a:t>
            </a:r>
            <a:endParaRPr kumimoji="0" lang="zh-CN" altLang="en-US"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endParaRPr>
          </a:p>
        </p:txBody>
      </p:sp>
      <p:sp>
        <p:nvSpPr>
          <p:cNvPr id="11" name="矩形 10"/>
          <p:cNvSpPr/>
          <p:nvPr/>
        </p:nvSpPr>
        <p:spPr>
          <a:xfrm>
            <a:off x="3815746" y="4952786"/>
            <a:ext cx="2928264" cy="923330"/>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rPr>
              <a:t>＞</a:t>
            </a:r>
            <a:endParaRPr kumimoji="0" lang="en-US" altLang="zh-CN"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324032" y="188640"/>
            <a:ext cx="4572000" cy="1200329"/>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同样的钱，早拿到永远比晚拿到好，要晚一点拿到这笔钱，需要的补偿就是利率。</a:t>
            </a:r>
            <a:endParaRPr kumimoji="0" lang="zh-CN" altLang="en-US" sz="24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市场利率</a:t>
            </a:r>
            <a:br>
              <a:rPr lang="en-US" altLang="zh-CN" dirty="0"/>
            </a:br>
            <a:r>
              <a:rPr lang="en-US" altLang="zh-CN" dirty="0"/>
              <a:t>market rate of interest</a:t>
            </a:r>
            <a:endParaRPr lang="zh-CN" altLang="en-US" dirty="0"/>
          </a:p>
        </p:txBody>
      </p:sp>
      <p:sp>
        <p:nvSpPr>
          <p:cNvPr id="3" name="内容占位符 2"/>
          <p:cNvSpPr>
            <a:spLocks noGrp="1"/>
          </p:cNvSpPr>
          <p:nvPr>
            <p:ph idx="1"/>
          </p:nvPr>
        </p:nvSpPr>
        <p:spPr/>
        <p:txBody>
          <a:bodyPr/>
          <a:lstStyle/>
          <a:p>
            <a:r>
              <a:rPr lang="en-US" altLang="zh-CN" dirty="0"/>
              <a:t>The </a:t>
            </a:r>
            <a:r>
              <a:rPr lang="en-US" altLang="zh-CN" dirty="0">
                <a:ln>
                  <a:solidFill>
                    <a:schemeClr val="tx1"/>
                  </a:solidFill>
                </a:ln>
                <a:solidFill>
                  <a:srgbClr val="FF0000"/>
                </a:solidFill>
              </a:rPr>
              <a:t>market rate of interest </a:t>
            </a:r>
            <a:r>
              <a:rPr lang="en-US" altLang="zh-CN" dirty="0"/>
              <a:t>is the price that must be paid to borrow investment capital.</a:t>
            </a:r>
            <a:endParaRPr lang="en-US" altLang="zh-CN" dirty="0"/>
          </a:p>
          <a:p>
            <a:r>
              <a:rPr lang="en-US" altLang="zh-CN" dirty="0"/>
              <a:t>The rate of interest simultaneously reflects the </a:t>
            </a:r>
            <a:r>
              <a:rPr lang="en-US" altLang="zh-CN" dirty="0">
                <a:ln w="0"/>
                <a:solidFill>
                  <a:schemeClr val="accent1"/>
                </a:solidFill>
                <a:effectLst>
                  <a:outerShdw blurRad="38100" dist="25400" dir="5400000" algn="ctr" rotWithShape="0">
                    <a:srgbClr val="6E747A">
                      <a:alpha val="43000"/>
                    </a:srgbClr>
                  </a:outerShdw>
                </a:effectLst>
              </a:rPr>
              <a:t>return on investment </a:t>
            </a:r>
            <a:r>
              <a:rPr lang="en-US" altLang="zh-CN" dirty="0"/>
              <a:t>and the </a:t>
            </a:r>
            <a:r>
              <a:rPr lang="en-US" altLang="zh-CN" b="1" dirty="0">
                <a:ln w="22225">
                  <a:solidFill>
                    <a:schemeClr val="accent2"/>
                  </a:solidFill>
                  <a:prstDash val="solid"/>
                </a:ln>
                <a:solidFill>
                  <a:schemeClr val="accent2">
                    <a:lumMod val="40000"/>
                    <a:lumOff val="60000"/>
                  </a:schemeClr>
                </a:solidFill>
              </a:rPr>
              <a:t>reward for saving</a:t>
            </a:r>
            <a:r>
              <a:rPr lang="en-US" altLang="zh-CN" dirty="0"/>
              <a:t>.</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Two Explanation</a:t>
            </a:r>
            <a:endParaRPr lang="zh-CN" altLang="en-US" dirty="0"/>
          </a:p>
        </p:txBody>
      </p:sp>
      <p:sp>
        <p:nvSpPr>
          <p:cNvPr id="3" name="内容占位符 2"/>
          <p:cNvSpPr>
            <a:spLocks noGrp="1"/>
          </p:cNvSpPr>
          <p:nvPr>
            <p:ph sz="half" idx="1"/>
          </p:nvPr>
        </p:nvSpPr>
        <p:spPr/>
        <p:txBody>
          <a:bodyPr/>
          <a:lstStyle/>
          <a:p>
            <a:r>
              <a:rPr lang="en-US" altLang="zh-CN" dirty="0">
                <a:solidFill>
                  <a:schemeClr val="accent3">
                    <a:lumMod val="75000"/>
                  </a:schemeClr>
                </a:solidFill>
                <a:effectLst>
                  <a:innerShdw blurRad="63500" dist="50800" dir="13500000">
                    <a:prstClr val="black">
                      <a:alpha val="50000"/>
                    </a:prstClr>
                  </a:innerShdw>
                </a:effectLst>
              </a:rPr>
              <a:t>The </a:t>
            </a:r>
            <a:r>
              <a:rPr lang="en-US" altLang="zh-CN" b="1" dirty="0">
                <a:solidFill>
                  <a:schemeClr val="accent3">
                    <a:lumMod val="75000"/>
                  </a:schemeClr>
                </a:solidFill>
                <a:effectLst>
                  <a:innerShdw blurRad="63500" dist="50800" dir="13500000">
                    <a:prstClr val="black">
                      <a:alpha val="50000"/>
                    </a:prstClr>
                  </a:innerShdw>
                </a:effectLst>
              </a:rPr>
              <a:t>opportunity cost of capital</a:t>
            </a:r>
            <a:endParaRPr lang="en-US" altLang="zh-CN" b="1" dirty="0">
              <a:solidFill>
                <a:schemeClr val="accent3">
                  <a:lumMod val="75000"/>
                </a:schemeClr>
              </a:solidFill>
              <a:effectLst>
                <a:innerShdw blurRad="63500" dist="50800" dir="13500000">
                  <a:prstClr val="black">
                    <a:alpha val="50000"/>
                  </a:prstClr>
                </a:innerShdw>
              </a:effectLst>
            </a:endParaRPr>
          </a:p>
          <a:p>
            <a:r>
              <a:rPr lang="zh-CN" altLang="en-US" b="1" dirty="0">
                <a:solidFill>
                  <a:schemeClr val="accent3">
                    <a:lumMod val="75000"/>
                  </a:schemeClr>
                </a:solidFill>
                <a:effectLst>
                  <a:innerShdw blurRad="63500" dist="50800" dir="13500000">
                    <a:prstClr val="black">
                      <a:alpha val="50000"/>
                    </a:prstClr>
                  </a:innerShdw>
                </a:effectLst>
              </a:rPr>
              <a:t>用利息来衡量资本的时间机会成本</a:t>
            </a:r>
            <a:endParaRPr lang="zh-CN" altLang="en-US" dirty="0">
              <a:solidFill>
                <a:schemeClr val="accent3">
                  <a:lumMod val="75000"/>
                </a:schemeClr>
              </a:solidFill>
              <a:effectLst>
                <a:innerShdw blurRad="63500" dist="50800" dir="13500000">
                  <a:prstClr val="black">
                    <a:alpha val="50000"/>
                  </a:prstClr>
                </a:innerShdw>
              </a:effectLst>
            </a:endParaRPr>
          </a:p>
        </p:txBody>
      </p:sp>
      <p:sp>
        <p:nvSpPr>
          <p:cNvPr id="4" name="内容占位符 3"/>
          <p:cNvSpPr>
            <a:spLocks noGrp="1"/>
          </p:cNvSpPr>
          <p:nvPr>
            <p:ph sz="half" idx="2"/>
          </p:nvPr>
        </p:nvSpPr>
        <p:spPr/>
        <p:txBody>
          <a:bodyPr/>
          <a:lstStyle/>
          <a:p>
            <a:r>
              <a:rPr lang="en-US" altLang="zh-CN" dirty="0"/>
              <a:t>Time preference</a:t>
            </a:r>
            <a:endParaRPr lang="en-US" altLang="zh-CN" dirty="0"/>
          </a:p>
          <a:p>
            <a:r>
              <a:rPr lang="zh-CN" altLang="en-US" dirty="0"/>
              <a:t>时间偏好：人们更偏好现在而非将来享受某种价值</a:t>
            </a:r>
            <a:endParaRPr lang="en-US" altLang="zh-CN" dirty="0"/>
          </a:p>
          <a:p>
            <a:r>
              <a:rPr lang="zh-CN" altLang="en-US" dirty="0"/>
              <a:t>利息是对延迟消费的补偿</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资本的</a:t>
            </a:r>
            <a:r>
              <a:rPr lang="zh-CN" altLang="en-US" dirty="0">
                <a:solidFill>
                  <a:schemeClr val="accent6">
                    <a:lumMod val="50000"/>
                  </a:schemeClr>
                </a:solidFill>
              </a:rPr>
              <a:t>时间机会成本</a:t>
            </a:r>
            <a:r>
              <a:rPr lang="zh-CN" altLang="en-US" dirty="0"/>
              <a:t>可用</a:t>
            </a:r>
            <a:r>
              <a:rPr lang="zh-CN" altLang="en-US" dirty="0">
                <a:solidFill>
                  <a:schemeClr val="accent6">
                    <a:lumMod val="50000"/>
                  </a:schemeClr>
                </a:solidFill>
              </a:rPr>
              <a:t>利息</a:t>
            </a:r>
            <a:r>
              <a:rPr lang="zh-CN" altLang="en-US" dirty="0"/>
              <a:t>来衡量</a:t>
            </a:r>
            <a:endParaRPr lang="zh-CN" altLang="en-US" dirty="0"/>
          </a:p>
        </p:txBody>
      </p:sp>
      <p:sp>
        <p:nvSpPr>
          <p:cNvPr id="3" name="TextBox 2"/>
          <p:cNvSpPr txBox="1"/>
          <p:nvPr/>
        </p:nvSpPr>
        <p:spPr>
          <a:xfrm>
            <a:off x="1138939" y="3938685"/>
            <a:ext cx="7030825"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The </a:t>
            </a:r>
            <a:r>
              <a:rPr kumimoji="0" lang="en-US" altLang="zh-CN" sz="2800" b="0" i="0" u="none" strike="noStrike" kern="1200" cap="none" spc="0" normalizeH="0" baseline="0" noProof="0" dirty="0">
                <a:ln>
                  <a:noFill/>
                </a:ln>
                <a:solidFill>
                  <a:schemeClr val="accent6">
                    <a:lumMod val="50000"/>
                  </a:schemeClr>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opportunity cost </a:t>
            </a:r>
            <a:r>
              <a:rPr kumimoji="0" lang="en-US" altLang="zh-CN"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of capital over time is measured by </a:t>
            </a:r>
            <a:r>
              <a:rPr kumimoji="0" lang="en-US" altLang="zh-CN" sz="2800" b="0" i="0" u="none" strike="noStrike" kern="1200" cap="none" spc="0" normalizeH="0" baseline="0" noProof="0" dirty="0">
                <a:ln>
                  <a:noFill/>
                </a:ln>
                <a:solidFill>
                  <a:schemeClr val="accent6">
                    <a:lumMod val="50000"/>
                  </a:schemeClr>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interest</a:t>
            </a:r>
            <a:r>
              <a:rPr kumimoji="0" lang="en-US" altLang="zh-CN"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a:t>
            </a:r>
            <a:endParaRPr kumimoji="0" lang="zh-CN" altLang="en-US"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15816" y="479513"/>
            <a:ext cx="5897456" cy="4680520"/>
          </a:xfrm>
          <a:prstGeom prst="rect">
            <a:avLst/>
          </a:prstGeom>
          <a:ln w="190500" cap="sq">
            <a:solidFill>
              <a:srgbClr val="C8C6BD"/>
            </a:solidFill>
            <a:prstDash val="solid"/>
            <a:miter lim="800000"/>
            <a:headEnd/>
            <a:tailEnd/>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chemeClr val="accent1"/>
                </a:solidFill>
              </a14:hiddenFill>
            </a:ext>
          </a:extLst>
        </p:spPr>
      </p:pic>
      <p:pic>
        <p:nvPicPr>
          <p:cNvPr id="7170" name="Picture 2" descr="http://sr.photos2.fotosearch.com/bthumb/UNC/UNC182/u26391142.jpg"/>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59832" y="3520403"/>
            <a:ext cx="1552575" cy="1619251"/>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
        <p:nvSpPr>
          <p:cNvPr id="2" name="AutoShape 4" descr="data:image/jpeg;base64,/9j/4AAQSkZJRgABAQAAAQABAAD/2wCEAAkGBxQSEhUUEhQVFhUXGBcaGBgXFxgXGRwcGRcXGBgYGhoaHCggHBonHBwXITEiJSkrLi4uFx8zODMsNygtLisBCgoKDg0OGxAQGywkICQsLCwsLDQsLCwsLCwsLCwsLCwsLCwsLCwsLCwsLCwsLCwsLCwsLCwsLCwsLCwsLCwsLP/AABEIAMgA/AMBEQACEQEDEQH/xAAbAAACAwEBAQAAAAAAAAAAAAAEBQADBgIBB//EAEUQAAIBAgQDBQYEAwcCBAcAAAECEQADBBIhMQVBUSJhcYGRBhMyobHBQlLR8CNiggcUFXKSsuFDomPC0vEWJDM0U3OT/8QAGwEAAQUBAQAAAAAAAAAAAAAAAAECAwQFBgf/xAAxEQACAgEEAQIFAwQDAAMAAAAAAQIDEQQSITEFE0EUIjJRYXGRoSNCgbEGFTMkUsH/2gAMAwEAAhEDEQA/AEnFvjH+X6H/AJNP8NzTYvwQ+ZSV9T/I/sVzsuGzoo9ByCQQdoNLHsH0YN8Q7qmUFiFMx35f0rb8ZYqZScvc5zy1tdkYrcuzRcOxkIgZWHZUbTrlk6DWO+s/UUylNyXTZbo8rp44rb6Q2sOGEgyKqOO3JrRsjOOV0zP3LgRnkwA7+mYx8qe1ljd6inkL4PfV85UyMw6/lXrSWQcMJhTbGxNxeRrbqMmMpx8xdu+A/wBgrr/FSS0b/wAnH+VWdYn+g44XJYT+T7iuUs7f6nV1/Sh3ZpiHt4QDwu6rocpntOT/AFOzD613GhkvQikef+QT9eT/ACGRVz/JSJFAEigCZaAF2N4sttsoUuRvBAA7iSd+6qd+thU9vZL6eFmTwUWOOD/qIV6ZZcR36Ag1FX5KEn83AbIy+l/uEni9qJzTrEQc3odY76nesq25yHpS7/k4tcbtHfMnTMu/fpOnjFJHXUy6YKpy+nDLrHErTtlVtTtoQD4EiDUkNVVJ4T5EdckGRVgjJFIBIoAkUASKAJFAEigCRQBIoA9AoAxnGNwf5W+1c74N/JP9DqvOr56x/YOg8vtXP2fWzoa/oQw92GUqdiCD56UkXhizipRafRkL1xrS5iMw6zr3SI3rSpkrJbTkdX4WUXuT4DsMXYgDLrvqTGkg7QZEGJ5jrTJXKIVf8fk0syG+CwmQliQSRGgyjefM/vmaq2W7zodDoVpU0m3kynEDN1yQSM7xpMdptY36a1YqcUsMzvK0X2r+n0ht7NDsORzfw/CtQ6h5ki14eqVdLUlh5HdjYVWNYy/tQIv/AOZU/wBzD6RXReOsxpLDnvI151dY44QJLHwHpJ+4rAkb6GiGEJ7ifqaI/UhJ8Qf6GPw+LtwstDBQJBIO0kSNdtx0mthSnDo8/nVqN7aT5/Ye8ItMWDKHVNzmLQdDoqt36yB9a1dFG7dmTeCKTePnx+g7itQgJFAHmWh8rCFTwY5bMdnSVJB8pEx31y90ds2h9y+bJ6SoMEgHly9Ki6GKuco7kso4dxusMRvBEj960riyWFU87ZcEz9iREnb9Nab7ZFWnbs2fyWIuYcxqORBBBkHXvpybi8oheapcM0HB8WbilW+NDB7xyaO/XzBrodHe7YZffuPml9UemMIq2RkigCZaAJloAkUoEy0gEy0oEy0gEAoyLhvow/FTLAfyn5muf8IvlmdV5x/NWPLTdlY5gH6VgWL+o/1N+t5rX6DbDagVH7knsZDGXP4fgR9YrT8dhamOTO8ll6Z4GXA7ZyI06QfSTA8oEePdUWvcfWko/ck0Cl6EXIcNcCgsdgCT4ASapQTlLBdk1FZMNhsQWEnc6nx5j1q1bXtk4lauW+KY74RjraqQzqDm2J/lWop1zfSF+Jri9rkssfWhAFQPjssp5Mr7Uf8A3VsdVT5MzH5CtnSy26SZk6mO7VQG/CD2GP8AN9l1/fSsqfsakfcYY+RYuBd8hA9Ip+nWbURaiW2tv8HmD4SJz3oa5JOkhRP4QOYHfXX06SK+eXZxF+uk/khwhnFXjPJFAhIoAkUgGcx4Ny652Cygga8iTPPXTy8awddPdY19iab2xims+4vu2yBFyGB0G0k9PE9IjTfrRSbeEXtOoSeantf8F1vCNoAjOsc0KweYBX4eUEb8xzq8q5prbHdH3yXpuqUf6kkpfuUjCRc1yrI0V3ac0ySJtrPLSPtFO/MHna0SfCK+vbCxBN4FYldyBMjKO8tyHjTKZxsltzyZt3hr6/mfKHXDOHG3LMQWIjTYCZjvO2vdtXRaXTKpZ92Z88L5UuhhFWxhIpRCRQBIoAkUADYi+ZyJBaJM7KORPXuHOOVZ+t18dOvyaeg8dLVSz7HC4c87jk9QQvoAIrn5eUvbzk6eHh9NFYaye5bi7H3g6NAbyYaHwIHjVyjzUlxauChqfAwfNTwzr+9/+Hc9Afoa0l5ehLsypeG1GejEcUaGnov3NU/C8VTZp+a5tgjQ4a32FHMAf7YrnrXmbf5OiqWIJfgbWTUa7Hvowl5y1k9cs+Y1q3RPZapFW6HqVuJo7N5bNpAx/CNACSYAnQfvWorE7bHJfcJX16atb3gHxXEDcBUDKrCDPxEHcCDppp51PXRte59mDq/Pbk41Lh+4pxPDASBbhRzUyBz2Ou/SrEopvL7M6nyc1U65fuS5w8hZyjU7DfXSY2jz2pxUhJylhS5CcFgMSCChZQY1LAiOsSZqtOyrpo6PR0a6LXOEde06zibJ6W3J9QB/uNMrm/Ra+7NeUM2p+6Q14Yv8JO8yf6iT9IqtLssR6GN7XIv5nUenaPyWrnjq998Sh5S3ZppfkZZa7R9nBEy0ATLQBMtAEy0AB3eFW2JJB11IDEA+n2qtLS1SluaJFY/wd4bh1u2ZVRm/Me00dMx1inwphDpCOxy4/g7OKt5smdc/5ZE+lO9SPWQ2S7aLXtgiCAR0IkelPcUxIylHoWY/hcCbICnmggKw5iNg3pPPqMzWePhZHMFya3j/ACk6pbJvMRdhccyHKrhBHwOpOWN4OYEDuNZcNfqNOtklk2J+N0uqe+DC0xrn/qrPQKv0Mmk/7e/tIP8Ao9MuG+S9Mey//UAK/mQGR3ldZHgZ7qu6bzEJcWLBR1fgpwW6p5/AxtkMAQZB2I2raUk1lM5+UJReGjrLS5ExyB47F5ewkG4fRR+ZvsNz6kUdZrYUR57+xoaDx9mpl+CnD28oiSSdSTuTzJ/fdXI3XStk5SO4pojTBRj7F4NREx0DSpAdZqT9RUfPeJmWI/kH1aum8PhUzz0cx5jPrRHdniBgZF5Cc0ry22rE+GzJtsmv87XSko/NxyGNxOUYBGzFSNxEkECDOvypFp5Z7Hy87RtT+5nb2Ga2FzRBMaHn6dJ9KklTjnI/R+Tr1M3GKwzSYjBLciZBGxHzH09KqQtcei/qtHXqYqM+hfxTBe5tNcVz2Y0YAiCQOUVc09vqWKEv3MbVeDphByjn9AZXue7DwurBdzqYzNy0AE6mnuyKeCpHwLfzSkGYG2zzLQBGwg6gHQk/UemwhnqMdF2nwFWU5N8DiyIgDYD9Iqm3nk6FRwkl7Gd48pbEwNyqKPMkk/OfKp4v5URT+rgfWUjKBsPsIqBvJNjAVhhmvD+RCT4uYX5K9bvhK/mlM5v/AJBbiEYIZ5a6NHJky0ATLQKTLQBMtAEy0ZDGTK8Z4wbgKWyFtmO0dGbnA6KdtdxNZGr1reYR6J8en7Zf+hSLEbCPDTz02NZu5p5RErZJ5yN+F8XdCi3TmTaYOZd4JOsjYEnxmtPTa2W7bPokTjY37M1B0EnatVvjkhisvAlwyvfdn+EEATAkDUhVkfFrJbYaADSax/Ress3z+lHQfELx9WyH1P8AgPfhNoggoNfxSS/jnJzT51o/C1bdqXBkvXX71NyeRNesXLBhu1b/ADRy7zsh8dOhGgHPazxsoNuKyjqtB5au2KU2kyqy9kyZGpkyxyz3a5fSqXqXxWMs0PS08nnCCLAQ/DmEdGdR8jSrV3w92JLQ6ef9qLLZRCVEljqQJdyep3Y+PLSmqF+oeexzso00cZSQVZwlx9STaXkOyXPeZkAd2p8Nq19L4dY3WP8AwYer87h7acHt3A3F1Vy/VWCgxH4SABPPXfrUmo8PDbmvsi03np7sXYwC/wB6dWUOpAM6lSu2s9PEdxO22Pdop1rMlg3aNfVa8QlkOmqeWXWz57xNocnooPoWNdJ4uKlROLOb8uv6kWzQW+GHKCbgGkmV02n81Y8tR82EhH4CpwzuwCW7rbRO+uwI5GNSD3VZXRzd9VcZtQfCJete9ADGADMCJ268qXCZJRf8PLdDl/cY27r7ZtO8SfXb5VC9PHOTTh5+/aotJs8xVw3rTW8ss0gRqukQx6LM/wCk71X2enLPsdLpr3fUpNNAmIuiQiNKIAO4trmbv1+9Nk+CxFIO4WZDH+b/AMq1FL2JI+4ZYksT++770gvuLRbzYq452XKo8cok+kepqSb2wURkVmWRrbqL3JA7hKSHf8zQPBeyPnmPnXXeLq2UJv3OH81d6moaXSFQ9qU/vv8Ad9CnwZv/ABJMjw/D41obucFL4V+lu9zSRTypgkUASKAJFACX2kxDKEUEopJLNMbbJPKZn+mqGttnGKUff3Ja18raWX7CDD4dYzKJmTPMyZmaxuW+Rtk5uTUgW5eLyqwukyTrGo8jNIk28JFuGmVaUp8/4LbNlwtv30i2xym4V37wATM7DbrrFTQqcGpT4Ra+Fpslmp8/Y0F7FPiZS0sJsSfnmOwH8oknY5davSunf8la4+4+vT06Rb7nmXskOcLhwihBy67nmSe8ma0K4xrSgjJtslbJzfuWxUpESKAzgQ8cKu/uEtqzMO12VJg/hE6DTUk7COZFZmrlmXpVrL/0bOhhtj61smo/7ZdhOCkABngD8FsQB3FjqfEZaip8TBc2PLJb/O2vipYGmHwyoIRQB3c+8nme81qV1wgsRWDFtunY8yeSyKkIyRQIU4vCi4pU89j0I2IqK6qNsXFk+nvlTYpx9hE15rZKtlBHJp9VMar9NuVcpdobITaxk7WnydU4J7sGM4s3a/p+5rS8T/5TKXlv/SBr8RZL2yqmCQPDlIPcdvOsJyUbMs2ba5W0bIvDaARwq7A0U9wb9QKs/ERZy8/+P3Z4kgG2zh8hAUZsu3MEjkeo+e9OdqXRLX/x/MVvlyH2cOGbIZJU9uSYMEEQu0EAac5O8GoZ2yxk1dP4rT14xHoZ30BhIgPOaNNANR6ADwqGLfZqNLGEZHC3OyPAfSny5ZGnwaDhGqA9Wb5Sv2qKfZLEaWVjzpo5ccgNlpk9Sx8iTHyiiXeBFhHuLxPu7bPzAOUdWOij99afXHMkiHU3KquUmThntbZRUS4j2wqgFiQyyBvprr1jnyrq6NZDCgcHZX6s3KLy2fPxiAL3vFBgXM4BOsBswBPWOdWlj2NLa3HB9jweMW5ZW98KsgfXkInXwqfPBhyrak4AvAuM28UjMmhViCDvucp8CPvSJ5HW0ut8jOKUhJFAHhWkwmKmxXc4BbPwl07g0jyDTA7tqqz0dcvYk9XPayCXvZW3EoWF1ZKsSV16dmMo0Hw1HLQwUfleGXqvJTWIyWV9j21w6/dyriCPdpyB7TkbZoO/fp4ayGxotswrXwiSeq09WXTnL/gO4tjRh7YCKJPZRRAUQNz3DoKsX2qiGUjNXztyk+uzH3czuXZj7zQ5xoR4EbDSsSV03LORXc8/L10E8P43ftMVabgMAZ2YwSwhsxXbUgydNPOzRrLIvD5yXa6a7obpPH+x1jeJ4m1bZ2w6woJnOoA79yTHTQ1cnqLYxe6P8jq9Lp5ySjL+Cz2aw/Ze6TmZmIzHeFMH1aT4ZRypNCsw9R9sXykts/Sj1EdRWgZJIoDJIoDJIoAkUAegULAqlg+P8Wbtf0/c1heK/wDOZ2HlFmyBusPy8P0rAs+pm7X9K/QMQ7UxDs+wiusC9wb9t5/1H0qSWU9xHGUJNpMstMRlcHU9lp5hSde470uU+B35D75iG/KGPotMivYSx7VuMpa4Y4Ah1J6EFeXWT+/nfdUX0cxX535ts48D3hCxbt6akE/6jP3qhP6sHT1SzFSRXf4sSYt7ayxHhGUT46nu61PXp/eRia/zUaflrWX7gNkkAdps3UeO0GREaVa9OD4MJ+X1G/en/gtOHDxmZ4G4nc/mPfvtG/hT1BLpEFmvvnFxm85FuPwpVLjwsKQApJzEMYU6LBHnVmnTuzOGSV1xk04y7/gzhHgPCteuG2OGaH4Po13ioPCS4QfB7ogbD/pk+Ea1NngzfT/r4f6i3+zK4Pe3ljUopnuBgj5j0pIj9aspM+hRTzOwSKAwSKAwSKMikigTBIpASM97ZXAEtDQtnkA9ysD38+VUNfJKCRPWkoy3dGd/vInVD4gjz57Vjr3Itsc8P+Di4xcGNFPdqR4nalz7juKnhdgt20xDBwSo+ESzDugHY/vlQ5zfDfBchqVtUYdt8sZ8I4nesgQZSZNsqNiZOXYht9+tWNPqp1cew3V3122ty/c22CxK3UDrMHruCDBB7wZFblc1OOUU5wwy+KeNwSKAwSKAwSKMhg9AoyGD41xjl4MPpXP+Ll9SO08lH6WbrCNIU9VB9YrEt+tmxXzFBintL4H7U1Dn+DN4y8C7r+IXHiOXbnXu2q9mOxJnLxr1PxzlDrP+BhhLP8GOoZh3FiWH1qk383B0+HgvxVybDtt/DfTp2ftSx4mNmt0GZxbdwz2yNhoBMnlsdeR89udt3Y4MSvwtKlu7NHZSIHQRVFvLybqjiOCrG8PVkOVYf8JXTtHae6d6lrsknjJV1Ghpti00uRYtlRnlmdUmdlGk5pO8DUctt6tKyUsJe5mR8Pp4ScnzgzGNxhuPmXMg1ygMdJ358/kABrEne02kUY/Pyylb6e75FhD29j1bh2VE7edFvMe0Y7TI0nkTI7tRVuFcYJ7eClGGLTMxT2WUaQYp/wDCsohVF8qeRZYD6de0de4UEG1erlnX9nl8riwuYAOjAg841AHfP3oG6mOYGw9teLvhrANv43YKDyEdo/IR50uSnRWpy5HPDsR721buRGdFaPEA0ZI5xxJoIigbgkUZDBIoyGCRQxMGL9pCxxB95IC9m3p2SCAxM7EyD4RWRrtznyuCSyMnBJLj3Fy2v/eqJW7PFt5D/Kd94G5mOnKhIlX9RY9y8IBBhwDqCVcKfAkRUnpSxnAOm3HKDcDwq5e1UZU/OwP/AGrIJ5a6DXep6tJKXL6FVKj9X7Gp4fgxatqgkxMk7kkkk+pNa9cNkdqHTeXkuvXFRSzEBVBJJ2AG5p+Rqjno7AoyGCRQGCRQGCJBEjUHYigGsdnxbjH4f6vtXO+OeHL9DtNesqP6m8wqRlHRQKx7HmTZqwWIoIYwyn9+H0pEDM/jhOIderx6gT96kfsM/A7SoSU8xw/g3P8AI/8AtJp8O0JPpiLC6so5TPprPrFOfWWMj9hxh3k/vqajxwSI6xd/KsCcx0EcpIGbykac6dBe42TEvtXiwllbKaZ9T/lX9THjBrU8XR6tu99Iz/IXbK9q7ZkYrpzALFusFZQSFYqWHXLMT4SaAxymcRQH4C/eFbYBJIkkAkwCYnTlsKZ2xce5ZwvGZL1pjsHUmBrEiflS7Rs+UzT/ANo2OYXUtCMmUP4kkjUdwHzpFEg06wmaX2MvtdwltrmhEqI0kKYB+3lSNFe/CngeKOVInyRSj7nsU7IzBIoDB7FGQwV3rCuCrAMDyIBHzpGk+x0ZSi8pmfPsyw0W6IG0oSe6Tm+Yqi9F9mDVbeWnyFYX2cQEG43vP5SoCT3jc+BP2qSvSQhy+QWI/ShyBVrHsJySKUTAswPHLV3EXMOhl7YknkeTAHuJAPjRkllU4xUmIP7TscEsLaDENcaSBzVd5PScvpSMl0sfmbG/sViBcwdkhiSoynNvK6EeH2pSO+OJsstcftti2wv4lUEHq0Sy+IWD69KMiOl7Nxx7ZY42MJcdDDEBVPexjTviT5UNi0Q3TRkvY72ntYfD+7vXHBDsQMpYBSBAB8Z0pvJcsp3PKQiez7y7ZXq+vgNT8hXM0WenGT/B099e+UV+TcWqzGaBbc2HiKWPYjEMTjLg6En/ALVH/mqWXESOPY4tmoSYmMH8K5/kb/aadH6hsuhHwUSWbpA+5+1Ps6GQ7G+HGnj+/pFRkiRRxbFC2oJ2Et45YAHmzCpaK3Y8L3IrZqCbfSMRisQ1xy7ntH0A5AdwrsNNp40VqMTmb7nbPcyqKskJbh8MXmOX7iqt+oVbSIbblBpfc9sgAZjU2ck8fucXbhanKOAbLMPZ5nypJSwKlkNx143mz3DmYgCfAAD5CmbgUUjW/wBm15/4tokm2oVlnkSSCPOJilbyU9TBZTNu1umsrRZEoTCccM9y0uRuD2KMhgkUZEwSKBcEijImBbxzi9vC2w9w7sqgczJEkeAk+VKSQrcmGvdAQuBmAUsI1nSRHjRkaovOD5P7E48jHq3ZUXS4adgGloBPOQAKXBftinXg7/tDxr3MWyMIW1CqOcMFYk+M+lJgNPFRhn7mg/ssxLtbvWyRkQqVGkjPmzeWg+dDItVFZTRnH4tk4o18ZQBeIP4hl+Bj5rJkdaXBNszXg0/9qOIixaQEQ7yRpJAEg9YmkRBpo4kfNQKC8pY4NVwG1Nwt+UaeLH9AfWuNsfypHUQWWzR4caeOtVyYLVZ9R9acgE/uIxV5u5PmBP0FPk/kRHFfMwywdKiJC66uZWHVSPUGljw8iS6EnB7ZFldIZhmPUZvuBHpTrHmQkFiI0XQUz3HGb9sHOe2s6ZZI780D6VveGqUm5Mx/KTaSiIIrojFJFD6FG3DEGXTc7/8AtWDrZSduH/gytVKW/kCxCgZgNs1ammcnBORoUNutZBoq0SBdttBUTXPI9Heamppij72L4kbeJRMwCXJDAmBMHKfGdPOlxwQXxyj6flpmSjg4tjfxpIj5o7y04ZgmWgMEy0BgmWgMEy0Bg+c/2qXpuWbeXZWbNr+IxA9PpTo8lrTrjIxt8TLcHLhlRlT3cjuOUDTZisetGMMZsxYfOcHe926OACUZWAO2hBin4yi2+Ud8SxPvbty5EZ2ZoJmJMxNGBIrCwFcC4w+Fa4UAOdGQg9+x8jSNZEnBMWBaUd7B3GOJvibguXIzBVXToo38SZPnRjAkYqIGBRgcbDgVqLZP52Pp8I/Xzrh7X82DrK1xkbi8B31EQ26uFbwFYa8DpsehpU+R1Opha8ICuPLO3ef+3sz8vnSy+xMsJZLLbDrTRI2wbwmXIdfP7D70o4X2uY6Fh6MR9qJdgnwEAUgpl/as/wAcf/rX/c9dL4T/AM2YXlX86E8VttpdmT12QCklJRi2JlKOR/hrGVQIg8/HnXN2zc55ZjWzcp5F/FLQG2k/WtLx0m04s0NHNuvDF8VqFoIwyHMNCRO1VdVJemxtmVFhGPQh9BuBVfQy3Q5I9NNyhyBsrb6jv6VorHRNJN5PrPCfaq3dIVgUJiDuCT9B49ailU1yik+x5h9QfE1Ch0kWxSjMEigCRQBIoDBxauKwlSCJIkGdQYI9RQLhnxr2wxDXMZezPmysVWDICjZR4c++anguC3BJJFOCx7e4bDQMjurzzBXfxkRUV8/TjvG2vYt6AMRaysR0o09nqQUharN8VIripyQgWmzkorLBvCyE4rBlAD138apabU+pJp/4K1Oo9RyTBoq+Wj0CgDcKOm1cE/uXlfNLCZYtIyNts7DdPUU0IycXldnSIOVDeR8rZtbWy6JpmRkXJcogJHI8vkaepo1atdDCU+wZlhm0MFtNDz1+s0rkiytTXj6gn+7tE6c9KZvKv/YrPRlfalD70NGmQCehDNoe+um8LbHa1kpeRkptSXuA8Nty2o2FXPIWYikjA1c2orBzZw+a5lM7mYqSVzhQpL3Hyt215HiWgBA+tYkn7mVKTk8sD4pYGXNz2/fSr2hscZ7fuXdHbztFSgCthttYNNYyH8NBJmNPKsvXSwlEq6q1JYyXcTUwDG25qPRTSngj0s1nGRb7ytZRaZoZQ34eZQQNtN6mTbRQtilIb4DiV2yRkY6cjqvpR6Sa5I5TyPuHe1h1F9esFR4QI9de6op6d/2iKa9zQ8N4gl5QUImNVnUbaH1qCUXHskTTDIpuR2AXimIW1ad3bIAp7XQxpHUzypVlsEuUfLvY72iOFW6rAshGaAdQdpE1YlWmSzXKMyakxhEq6DOFqcx00jfpWZ5JrCRT1jW1ZZ7xVDmBjSN6Txz4aE0TW1gNajRdO7TQQehqtqYp1NDLVmLQ14iv8M+VY2l4uiZmmeLBPXQmueqKANstcCWjtaRgWLTQxkDTialgqpcbMQqsqyCeg1k8thUvoto0/wDqrlX6nC98e4yVhEzp1NQ7X0Zig84wd27gOxB8DNMlGS7FlCUe0WA91NwMR2Ceg9f+KTHuB09oOpVhIO4pYWShLcuAeTL38Elq44tg5Z6zHd5Ga3Y6m2+Cdj5MXWyzZwwO3gm94WDQJ5bnqKuvURdSg1lr3GO9eko45GATxqngqPnkE4hh8w3OkmNYMCrWmt9OeS3prFFiMDnW43hZNZYY74faZUE6TJ1P2rD1UlKxtGVe4uR7xBSbbACTp9d6bp8RmmJRFKxCQCt/JrcB/BVJcxoMutOi3kgvxt6Hq2/OpfmKLcSZKehjZZYuMhzIxU9Rp3/YelI4qXYKWBlheP30BGbNPNtSJqJ0RbHq1oz3tJxF2RUdmbpJ2iNfGl2Rj0TafMnn7GbBpC4WPYhQ3WqlWo3WuCIoW7puIy4VbIX4d+c7+VZmuknZ9yjqpJy7Jxa2So02Op6UaCSjblv2DRySl32KK3eEaYbwu2CxlSeh5D/nasryFr4SfBT1cmlhMZ3rOZSDzrLhLY8rsz4T2yyI3skcjGusGN66GrUQlFNvk24PdFPBwKn3xfuO4NmtcEWyxaawK8Q4P8POiFw0M7ZVGnNo0nYVJVXukXtDp5Wz3JZSAbb3LlpVRbpsL28rFUC3chDOrRoBO01Puwkvb/8ATrpuqOZzaUv9r7BfCOHX72Hup7pbmUx7x3jIwJuMNTDMQY15L3mmppctGbt0sLVc+M+2P8Fl/C37Fwrdt2rAusv8UqBbQrr2XQmFIIBB0k9007cp5XHI6+rT6ip7W210vdjSy+YAjmAfUTWbJYZyclh4LRTBhXjb4RDvJkCOsb1LRW5ySRFfYq4NiAKecVt4wc8/m5JbnpI9KBWky2KUYUXM0iB1+lI844LFWPco/u1qASus7xp5jaoK9VqHLZKXBoTn8nAZpz18B/zVkzWnnspu2zlbWAdtP18qVPDRJFrchI/Dbg1CkjqNdOtacPJafpywzVjNNHeCttbuAvbaNjoRvzq3Xq6JP6l+423mPBp1txtV2M4Ppoym32z3JT9yG5JkoygJkqOV1ce5JC8iXjOHuu4VUYqBMgcz31Uu8hp4dzRf0yxHkGXgV6CSoAAnUj7VRl5vTdReWTuSxlBNvAq4VCwUfm3jQ/Ws96uVTc0smfRP+q232FLay9kaqNAdR8jUam5/M1jJBbjc3ktsopYC58E9rn5R0qO5zjBuvsNO471uNIuEw9tS/u7YUCZyg6elYj1mpnPa5PJu7klkzfErguXC6LkEAACNYnUjaf0rYornGOJvLMjU3qcuEUlanKi74Nb7K4zNayED+HAkDQgyR/V18QedYetUq55Uuzf0dvqV9dDW9YQmSin+kfpVeOotx9TLnH2Pnpxx5CK0thSeqfsj1Mc3QUODGrUv3RTfuljPdBAMSJBIkgxtvTovBf0Xl56aWccD21x9LNp7WHsrldMpa6Jae1JhTtrzJPyFG7kmv8upz3YyT2O4U9y8GV1VYZzZS4ssQ+zK2sDSJ12INOnI25a+m2qO3l/6Dr7XrmIu4VmjDlu0mVZMAMVDyY7XTv76rW27YcdmfLVbbMRXP3HJ4baiAuWNiCZrO9aec5KzSfLOreAtieyCD17UeBO1I7JMRKKEHHcCwPZn3YgzvB1EE9B9609DZDOX2ZevqscfkXAmuW4B19YrXMJdnofqD6fpQG07ApRvRyzRyJ8BQOisldvXUHeY2O8VlzvcLG0Xo15gk2Wh26L8/wBP331J8csdEXw35Pczdw85+wpJa/jhCrTLPZ1bEVn2zc5bmWYx2rB0XgTUaz7McWYNWugm2pYAwSIiekkifKtHT6LVWrMHx+o2eIfUFDh13/8AGfVP/VVteO1643fyMzWwr/A7gGZntKAJMk6eJiBVh+O1CjmdrHRcHwkLLxIMIQ3fqB5AgE1jXRhF49RsmUInC+8J1KAeBb7iPnVSbq/LFe1exTjCRAzs3UaDw2Aq7oa973tcIq6maUduQQjbTy+9axRii0ClG4PG8CaTj3FiuRzfuf8Ayxjt9kDr3E9dN/KuejH/AORzxybOV6f34ENpgRoZroTHlF9s7igYOvZUENcP4YA7p/WCKyfJuOEvc1vH7sP7GlDVkGpufsfLwa6AyB83G7Zw/uhZGbKACQhXNszxAhoiDvO5qw7Ytdexad0XXt2mduYxVnqOXd1HWoFW2V9rOBxJfKY+Uz9qX0WO2sa8GX3txciswVlLRyGhOuwMTzqtdmCeSaiM1I+glwo5AD0FZL5NPJwLhPVR5Sf0/wCaXGAyT3jDftDuEH60YTDJ47h1YA7gjwkEailS2sR4awZXH8OuWe0SLi7TsQf+a16NapcSMbUaBR5iwdcQvPTxq8roPpmfKmaO869R6ipMojcX9jxrqjmPLX6U2U4rsVVyfRSxBMgR39az9VbCfRcpg49hvDbVtmPvXygDTlJmImNOvkahoqhL6i5Uot/MyvEqquQjFlBgExrG50O3SorYqM8R6GSxu4OJqLA0maKFFy6Q5RbeEWYdnVwUzKdzClmI/mVfw9516a1u+Nqvqe5dfYtfCw2/1ng1+BuFlBZSpO4O4/frXTptpPBjyilNpPP2A/aLDXbigJ8AIYxJMjqvNfAzPIxWfr65WQ2p4NDSem+JPDMvYxyscogkblTmHXf/AIrjr9M6/cktp2P7hYNVcckXIEVLdqd/DyrodLUoVrBm3zzLlHJ0JgT4VYGbG0drrQNcWjxtORo/AmPuV28QxBAJCHXpM6EdYgVX9CMrHNotO5whtj2e5KnXBVbfbJFKIX4G+1t1ymAzKGHIyQuo6671U1lUZ1ttdFzSWyjNLPBrA9c5nBtJnzQGuiwZZxeUkQCB5TRFpPkdEH4ZwV7rEN2VG58eQqWzUKK4LVcNw1xPsqpj3bEHnm1FV46x/wByJXSn0aL2cU4ewtvIJBYsZiZJ126RVHUP1Z7sk0PlQ7s4kP3Ebg1UcHEfktz0m1hk8z0YDJM1GAyB8WstctlVIBmdeccvpUlfD5GTTlHCMiDV0y2sPB6KTLDg6FI85AswyG42W2MzdBGneeg8akhp52PakSwqlN8IuxmFuWiFuKVLRB3XUxOYSAJ3qVePtbwkPdEoySfBbfwDKVCtbuSJJU6Ltod9+Xgatw8NOx4ixupjGlcyL7PCyfieO5R9z+lX6vAQX/oyjLUJdINw3CbamYLN1Yk+g2HkK06vH0UrhDfibOlwGnEWrI1ZE7tAT5DUmpZW01LlpDGrLHzyC3/aAbWlJP5mED/TuflWRqvM1QTVfLLEKGvqFN++1zW4zN4nT/Tt8q527W6i3uROnjgrdogCJJAE7SSBVeuLslhk9FTumoBmDwyk9suwjkSvKdMkfU+OlXFTGPSN6GhpS6yE2cLZifcCTr8RPXUknUTppOtSKUl0yX4Sn/6oNw2AsTD2bS6AgkAb8oP1prnL7irT0r+1fsMP8Fw7f9JPIZfmtN9WS6YS0tMu4oWcQ4HZHwG6hmNQzLz5suv+oeNSx1E12UrfE6efSwZnEYM2mKMxWDppCkH4SuadDpz7qtxnFrs53V6Kyqb+Vtfc7VPOpDNbTPHtzzI8KATSPLYyMHB1B/FqDy2/SorqlZBpsnptcZcI01q6SoJEEgSOndXMSistI2cp8tHzwGuiZQDMFYLMJBiobJLHBZppbllofWkA2AFVWy+kkuC4MBuaY0BfbYHamsDnEJclTbYKRMzz20pE49MawPF8cuIcpRVYc5JHlT4aeLILLnD2Kx7RPPwr86X4aIz4n8Hj+0FwnRVA6amhaePuD1L+xw3HLpWNPGNaX0I5yI9Q2g/gvA1vWs5LEsWRQBEPuDuc+kkiBtvWjXp4OKfLb/gfRTGxNyYpx1pUuMqPnUGA2UrP9J2108qrXVxhLCK00oywB20IJzdsE7Hl5EwflWhotVRXxZD/ACNn83XAfhsaEIZCyHb4dI6Huralq9HasbsCUTupeY8jH/EjdIDOpiYAGXeJ3OvlU2mdO75JZE1OpsshhxCbQq/hFDdnkY2cqiYDHv8AhH6moZc/hD4477M9xXGuznNK2/wwMqsPzGO/kenfXNeS1V27ZX0jSjpZRipNdgqADYAVgylKTxJ5G9Dvg2EtOksVzligVmA3AhgAQdNddtNqvaamEoKTSbLWnrqkm5MBx6ItxhbzZRp2oJkb6roRM61S1MIRsaj0QWJKWEB4iIE/mX/cKZS2potaB4vQbadgZ0OumYDaB+IQ286zzq0rDq3Wn0E2sWCZ7Q3mVVx0kHMPWBNP3IZ6bPRispGURJ5DLyJ17Z6Um5B6cgn/ABV1jVtwIEHfvYmk4B1sIHEwx7XvZEHZTryiHUcvy0mEJsZXjOIBkuoqRnRgSQoENIJyLILaHUnnzpYvDQ2VS2vJn7Wqg9w+laiZ51csTaf3OstKR4Kb6J+KPAmmyaxyPhu/tGvDrj5O110zbxA3853rn9QqfUeHg16nNxWTI4AAuAa1bM7RNPHMjQpVNmkWKD1prAutrTGIXBdZBimiF1ozyg0xgKfaDBuxzgAqojTfxNT0TS4ZWvg3yKuH4Rr1xbaRmYwJMD1q/VW5ywVIQcpYNa3snaJCq14MFaQMryw6bab/ACq36FcpOCTyjSeijs3ZEI4BiMub3ZkkALs5kTITcjvFV5aSaKfw82tyQBLKeakHvBB2PgarvfF46IstcHk1G+RDoGm4A9WSYUSen3PQU6Fe5ktVErHwgv8AuQEe8YDmANBI/mPMb8q0KKnXJNdmpDRQinvY74L/ABCFZS2sZhpp+bw68q6au6Uq8y4Zg30QhbiLyg6V+E6gEgEcxPQ1Ny1lFXhMpxPDUIGVpH5TJHgQeXcDVOejjP2wzQq8lZXhZyhTieDussoEflXbvMbjwE1k6nxDazEnepoufWH/AALlugnLBkCSPGY8djt0NYFtM63hjJ1yg+SzNUPLGJZZVduBhlUySQNNeYk+QqSuEk8mhodPZK2LxxkYlo1NSI6w9sLCgdAKGCI57S9NfoQT4QachCxn0XvI/X9+dIhWEKaAOmWQe8R9f1oEl0JMLZTKAQVgCVJKjUdJiD86hsuvhxk43U6Vxse6IQuFX+Y+LMY8NdKilq7vuVHVFexfZthdh9z5k61BO2cnlsekl0EK9MHGb4OVy/zTrW5ammT6Zx2YXY0Wq7ZZL0prAuSmMC5KYxC5KaxMkxN5UUljAg7/AEojFtrANrGWYjNWmuDLbw+xsvtHiRbS2t0qqfDlAUxEQSNTVl6qzHBL8RPbhMNwftSVVFa1mKhpb3jgs2mVj0K93yin/FRbUmuSeGslGO0R3LpYlmJJJkk6kk7kmqU5OcssqSeWcowLZZE76kCB1M7CnV0Tm8JD64OX4Qdbwyc3LdyDKP8AU2seArSp8TZLl8Ezlp6vqeQrDyNFCovdJbzY7+ladfiox+p/sJLyqisVRwG2LFsHNcY3CNhsPWAB4gT31ar00a38qKdutst+ph396YiBCr+VdPU7nzqwq0uX2VHYzq0JpzYxB9u0o+JjPRf1NRNyf0kiUf7gTifF7drQCW5LMt4seQ/etU9RrIURzN5f2Hxr39LCMnibxlnyyzGSF0HIaTy/561yOoud9m58GhBKTUW+Cu3ckywJ7gpgd5mCT5UxRS6ZtaVaWh5cssNs3F3UjTyjnqOVJyblc4yWYHRfNos7iTEDcE791KO/QvdoBNIuxc8HbQNT0j1pUB7hWDKp30HrH1oYHSowZjoQY056TzpeBMM7ONQCc48AZPoNZ7qMY5GTthFZbKBibMgkagQAUMx0Gmvl1o3Je5X+K07WcgpuhZy5iNYUo4IH5ZiPDyqCyuuXO7kxdTTRNuUJd+wUDVFoy2dqaBDDC5Gonyrp3FMii2nwef38iMpMnv8ArSelF+xInNe4dY4s8QGmO6fnUMqIt9D/AF5pFy8XugRm84E0x6eLBaqYUnH3AjKs9dfpUb0qyP8AivwCXuK3CDmcgHvgVIqYL2I3fNnfDcM+IcIrd5Y6hR1/QVNVRufHA+quy54b4NhhvZTDx2jcY9c0fICrq08Eui/HS1pYwBcY9lFQA2LhJJgW3iT1IYDSBrqPOop6VPois0UX9JWnsfcK63bYbplZh6yD8qT4P8jVofuwDF+zGIt6svvB1tmR/p+L5GtXTUaSP1rkrXaW6LzDoEtWspjLlPMRB862a41pfIZtnqJ4lkKt1I8kOQq3TegYSlI37hjPCCbcxOVo6lWA9YiKg9evOMlh6S5LO0JtGnvkr9HPEsd7pC0SToB3nST3VU1eojRW2yeml2PK9jLL6nmep5k99cVbZKyTk/cufoWIpJAAJJ2A1JpkIuTxHsEm3gd//DdyFh7clSSGLJljdSWXf9DV34BZ2qXP2LXwk9qkxGifjYE5DHZQlQdozkR38uVROiccmxpIUadb92Qlcao3DD+k/aahwX4+Qo+5zfxkqYQ/1ED9fnFCaTIJeVpXCC7WLQ/iHgTB75FLtfsXo31ySaZMQziGtgNOjaT4HQjvHpS/qNtm0swWTmzxORqjT/LBHzIIPcaZle7wVV5CtfXwxpwrgqOvvmFxUfNlgoO1JmQdtQfEzV1aaDq9SxZ/QpahV6iXyHOM4QVFv3ed84JPYIUQQD2pIjXfl51Hd418en7mXbp3GWIgmIwj25zqQAYndZiYDDQ6Vn3aWyr6lx9yGdco8MqBqrgjLENGBTCOs8yK6ghTwBNZbpT9xOpILwVptB2iTsoEk+Q1NMaz0NacnhLIzHDb+/uL3/8AJ/8A0011sPQsXsOvZr2c9/8AxL0rb5Lszde8Ly6mpa6M/UW9PpM8zNvg8BZtCEtIv9InzO5qyoJdGgoRXSCTgrLb21BO7KMjeqwT50uMDlwB47CvZGZJuKN9gyj8xj4gOcCe40ZApGEuM2fOh7IAGoA1JMNrM6ch8IoA9TEFTlcFW6H6g7Ed4oyKG2b9LyJgSe0GCbFMr2VBKypYsFzAbAdYMwTG57qs6a/0m93RS1ml9aKx2ZwKQSCCCCQQdwRuK2YzUllHPWVuEtrCbdAwZDCe8UBHQHTRiAZBnnoR51Xt+lpk1LxJS7Dk4hdVhauJkYzLAggCJ0nqNtI1rKnU4rPaOhp1MLpbcchmHwdkCAnzafWZpqnL7kjoraztAeKYZUOXK1xbinTQlcpEiZBK9qREnQ76VHbC29r3EXw+ni0+EzOYnhxUn3ZzgbqdHHjO/nB8aybtJKL4IZ6SM1uqeUDYfEMjBlJDKZB5giqsXKuWV2UHurlh8M0Fn2rdVU+7VroJJuMSc0giMugG426VcWuSW5R5+5aWsko7QnBcetlUF0lTPbC2xl7Oq9kGGJMbjeTU61dcsSk8fgkhqYbcSXZluKcQGZn7ALEkKOwPIawO6sycPVsbXRSk90sozl3izS0fC26nUbQYNXI6aOMPsMIGTGMInWFZROuh/SpfSWB2544OsNxC4gIRisgCQY25+PKaHSvcsQ1VsPpZqfZlVvMU9/LwSWuZvQaEnXzqq9PK6eHwhrlZfLDZsLWEbDk3LDqDbtlmW7lMn8WQDTaOc8qsVNRg5VSyl7MnnROlZTALPHLmcG4zOgnsBsog6xpymNO6qkPIzUnv6K0dRLdmXRMdxT3lsIAy9os/alSZ7MDlA50zUauEqlXBYQ67UuxC8GstlUstmlSFMODXT4K50oJIA3JAA7yYA9aMDoR3PB9M9n8Dbw6ALBc/G3Mn9OgqzGCRvV1RgsIY47GZU7JgsQoPSdz4xNPJCizdAAA2FABSXqAL1uUAXW70Ugovu4f3QLWzKCSU5qOeTqP5fTkKAOMSwv2yoaDEowiVMaEfvWnJrI2WWmkYP/Er50a6/QgGNRodQAa2a9LVtTwc/brLlJxyGYLi162oRX0AgaAkeZ/SmPQ1buxy8lbjDOc5YlmMkmSTzNWoxjBYRQsnKx7mEW6XIxhVo01rKwKnzkPx11bxzZSraHRtAQIldJHrUHpcbZdE0b3GW6PZzba6PhuL/WmY/wDayj5VWeji3wXo+TmliSCrYJMs2ZoidgO4Dl8zoKmqqjDhFPUaqd31Hd/DB9yQRsRE/PcU26iNixITT6qyh5j+xnuK8MdTmgTzYfA3IT+VvHTlNYGs0DibKsr1a+0hUDyOhG4O9Y0oOLwynOEoPEjoGmYGFN/Bo85lknnzHh0qSNso9C5FN3gTfhYEd+hq3HVrqQ5SOV4Dc6qPX9Kc9ZANxYvs+/N19DTHrY+yDcabhV84dla1AKiBoDygyDVSGplCzchYTcZZQZf4s72vdMEIzl82XtySSdZ2knlUlmrnOG3CQ+V8pR2sDBqhghPZpMCnQNNaAtQ0uBT/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 name="AutoShape 6" descr="data:image/jpeg;base64,/9j/4AAQSkZJRgABAQAAAQABAAD/2wCEAAkGBxQSEhUUEhQVFhUXGBcaGBgXFxgXGRwcGRcXGBgYGhoaHCggHBonHBwXITEiJSkrLi4uFx8zODMsNygtLisBCgoKDg0OGxAQGywkICQsLCwsLDQsLCwsLCwsLCwsLCwsLCwsLCwsLCwsLCwsLCwsLCwsLCwsLCwsLCwsLCwsLP/AABEIAMgA/AMBEQACEQEDEQH/xAAbAAACAwEBAQAAAAAAAAAAAAAEBQADBgIBB//EAEUQAAIBAgQDBQYEAwcCBAcAAAECEQADBBIhMQVBUSJhcYGRBhMyobHBQlLR8CNiggcUFXKSsuFDomPC0vEWJDM0U3OT/8QAGwEAAQUBAQAAAAAAAAAAAAAAAAECAwQFBgf/xAAxEQACAgEEAQIFAwQDAAMAAAAAAQIDEQQSITEFE0EUIjJRYXGRoSNCgbEGFTMkUsH/2gAMAwEAAhEDEQA/AEnFvjH+X6H/AJNP8NzTYvwQ+ZSV9T/I/sVzsuGzoo9ByCQQdoNLHsH0YN8Q7qmUFiFMx35f0rb8ZYqZScvc5zy1tdkYrcuzRcOxkIgZWHZUbTrlk6DWO+s/UUylNyXTZbo8rp44rb6Q2sOGEgyKqOO3JrRsjOOV0zP3LgRnkwA7+mYx8qe1ljd6inkL4PfV85UyMw6/lXrSWQcMJhTbGxNxeRrbqMmMpx8xdu+A/wBgrr/FSS0b/wAnH+VWdYn+g44XJYT+T7iuUs7f6nV1/Sh3ZpiHt4QDwu6rocpntOT/AFOzD613GhkvQikef+QT9eT/ACGRVz/JSJFAEigCZaAF2N4sttsoUuRvBAA7iSd+6qd+thU9vZL6eFmTwUWOOD/qIV6ZZcR36Ag1FX5KEn83AbIy+l/uEni9qJzTrEQc3odY76nesq25yHpS7/k4tcbtHfMnTMu/fpOnjFJHXUy6YKpy+nDLrHErTtlVtTtoQD4EiDUkNVVJ4T5EdckGRVgjJFIBIoAkUASKAJFAEigCRQBIoA9AoAxnGNwf5W+1c74N/JP9DqvOr56x/YOg8vtXP2fWzoa/oQw92GUqdiCD56UkXhizipRafRkL1xrS5iMw6zr3SI3rSpkrJbTkdX4WUXuT4DsMXYgDLrvqTGkg7QZEGJ5jrTJXKIVf8fk0syG+CwmQliQSRGgyjefM/vmaq2W7zodDoVpU0m3kynEDN1yQSM7xpMdptY36a1YqcUsMzvK0X2r+n0ht7NDsORzfw/CtQ6h5ki14eqVdLUlh5HdjYVWNYy/tQIv/AOZU/wBzD6RXReOsxpLDnvI151dY44QJLHwHpJ+4rAkb6GiGEJ7ifqaI/UhJ8Qf6GPw+LtwstDBQJBIO0kSNdtx0mthSnDo8/nVqN7aT5/Ye8ItMWDKHVNzmLQdDoqt36yB9a1dFG7dmTeCKTePnx+g7itQgJFAHmWh8rCFTwY5bMdnSVJB8pEx31y90ds2h9y+bJ6SoMEgHly9Ki6GKuco7kso4dxusMRvBEj960riyWFU87ZcEz9iREnb9Nab7ZFWnbs2fyWIuYcxqORBBBkHXvpybi8oheapcM0HB8WbilW+NDB7xyaO/XzBrodHe7YZffuPml9UemMIq2RkigCZaAJloAkUoEy0gEy0oEy0gEAoyLhvow/FTLAfyn5muf8IvlmdV5x/NWPLTdlY5gH6VgWL+o/1N+t5rX6DbDagVH7knsZDGXP4fgR9YrT8dhamOTO8ll6Z4GXA7ZyI06QfSTA8oEePdUWvcfWko/ck0Cl6EXIcNcCgsdgCT4ASapQTlLBdk1FZMNhsQWEnc6nx5j1q1bXtk4lauW+KY74RjraqQzqDm2J/lWop1zfSF+Jri9rkssfWhAFQPjssp5Mr7Uf8A3VsdVT5MzH5CtnSy26SZk6mO7VQG/CD2GP8AN9l1/fSsqfsakfcYY+RYuBd8hA9Ip+nWbURaiW2tv8HmD4SJz3oa5JOkhRP4QOYHfXX06SK+eXZxF+uk/khwhnFXjPJFAhIoAkUgGcx4Ny652Cygga8iTPPXTy8awddPdY19iab2xims+4vu2yBFyGB0G0k9PE9IjTfrRSbeEXtOoSeantf8F1vCNoAjOsc0KweYBX4eUEb8xzq8q5prbHdH3yXpuqUf6kkpfuUjCRc1yrI0V3ac0ySJtrPLSPtFO/MHna0SfCK+vbCxBN4FYldyBMjKO8tyHjTKZxsltzyZt3hr6/mfKHXDOHG3LMQWIjTYCZjvO2vdtXRaXTKpZ92Z88L5UuhhFWxhIpRCRQBIoAkUADYi+ZyJBaJM7KORPXuHOOVZ+t18dOvyaeg8dLVSz7HC4c87jk9QQvoAIrn5eUvbzk6eHh9NFYaye5bi7H3g6NAbyYaHwIHjVyjzUlxauChqfAwfNTwzr+9/+Hc9Afoa0l5ehLsypeG1GejEcUaGnov3NU/C8VTZp+a5tgjQ4a32FHMAf7YrnrXmbf5OiqWIJfgbWTUa7Hvowl5y1k9cs+Y1q3RPZapFW6HqVuJo7N5bNpAx/CNACSYAnQfvWorE7bHJfcJX16atb3gHxXEDcBUDKrCDPxEHcCDppp51PXRte59mDq/Pbk41Lh+4pxPDASBbhRzUyBz2Ou/SrEopvL7M6nyc1U65fuS5w8hZyjU7DfXSY2jz2pxUhJylhS5CcFgMSCChZQY1LAiOsSZqtOyrpo6PR0a6LXOEde06zibJ6W3J9QB/uNMrm/Ra+7NeUM2p+6Q14Yv8JO8yf6iT9IqtLssR6GN7XIv5nUenaPyWrnjq998Sh5S3ZppfkZZa7R9nBEy0ATLQBMtAEy0AB3eFW2JJB11IDEA+n2qtLS1SluaJFY/wd4bh1u2ZVRm/Me00dMx1inwphDpCOxy4/g7OKt5smdc/5ZE+lO9SPWQ2S7aLXtgiCAR0IkelPcUxIylHoWY/hcCbICnmggKw5iNg3pPPqMzWePhZHMFya3j/ACk6pbJvMRdhccyHKrhBHwOpOWN4OYEDuNZcNfqNOtklk2J+N0uqe+DC0xrn/qrPQKv0Mmk/7e/tIP8Ao9MuG+S9Mey//UAK/mQGR3ldZHgZ7qu6bzEJcWLBR1fgpwW6p5/AxtkMAQZB2I2raUk1lM5+UJReGjrLS5ExyB47F5ewkG4fRR+ZvsNz6kUdZrYUR57+xoaDx9mpl+CnD28oiSSdSTuTzJ/fdXI3XStk5SO4pojTBRj7F4NREx0DSpAdZqT9RUfPeJmWI/kH1aum8PhUzz0cx5jPrRHdniBgZF5Cc0ry22rE+GzJtsmv87XSko/NxyGNxOUYBGzFSNxEkECDOvypFp5Z7Hy87RtT+5nb2Ga2FzRBMaHn6dJ9KklTjnI/R+Tr1M3GKwzSYjBLciZBGxHzH09KqQtcei/qtHXqYqM+hfxTBe5tNcVz2Y0YAiCQOUVc09vqWKEv3MbVeDphByjn9AZXue7DwurBdzqYzNy0AE6mnuyKeCpHwLfzSkGYG2zzLQBGwg6gHQk/UemwhnqMdF2nwFWU5N8DiyIgDYD9Iqm3nk6FRwkl7Gd48pbEwNyqKPMkk/OfKp4v5URT+rgfWUjKBsPsIqBvJNjAVhhmvD+RCT4uYX5K9bvhK/mlM5v/AJBbiEYIZ5a6NHJky0ATLQKTLQBMtAEy0ZDGTK8Z4wbgKWyFtmO0dGbnA6KdtdxNZGr1reYR6J8en7Zf+hSLEbCPDTz02NZu5p5RErZJ5yN+F8XdCi3TmTaYOZd4JOsjYEnxmtPTa2W7bPokTjY37M1B0EnatVvjkhisvAlwyvfdn+EEATAkDUhVkfFrJbYaADSax/Ress3z+lHQfELx9WyH1P8AgPfhNoggoNfxSS/jnJzT51o/C1bdqXBkvXX71NyeRNesXLBhu1b/ADRy7zsh8dOhGgHPazxsoNuKyjqtB5au2KU2kyqy9kyZGpkyxyz3a5fSqXqXxWMs0PS08nnCCLAQ/DmEdGdR8jSrV3w92JLQ6ef9qLLZRCVEljqQJdyep3Y+PLSmqF+oeexzso00cZSQVZwlx9STaXkOyXPeZkAd2p8Nq19L4dY3WP8AwYer87h7acHt3A3F1Vy/VWCgxH4SABPPXfrUmo8PDbmvsi03np7sXYwC/wB6dWUOpAM6lSu2s9PEdxO22Pdop1rMlg3aNfVa8QlkOmqeWXWz57xNocnooPoWNdJ4uKlROLOb8uv6kWzQW+GHKCbgGkmV02n81Y8tR82EhH4CpwzuwCW7rbRO+uwI5GNSD3VZXRzd9VcZtQfCJete9ADGADMCJ268qXCZJRf8PLdDl/cY27r7ZtO8SfXb5VC9PHOTTh5+/aotJs8xVw3rTW8ss0gRqukQx6LM/wCk71X2enLPsdLpr3fUpNNAmIuiQiNKIAO4trmbv1+9Nk+CxFIO4WZDH+b/AMq1FL2JI+4ZYksT++770gvuLRbzYq452XKo8cok+kepqSb2wURkVmWRrbqL3JA7hKSHf8zQPBeyPnmPnXXeLq2UJv3OH81d6moaXSFQ9qU/vv8Ad9CnwZv/ABJMjw/D41obucFL4V+lu9zSRTypgkUASKAJFACX2kxDKEUEopJLNMbbJPKZn+mqGttnGKUff3Ja18raWX7CDD4dYzKJmTPMyZmaxuW+Rtk5uTUgW5eLyqwukyTrGo8jNIk28JFuGmVaUp8/4LbNlwtv30i2xym4V37wATM7DbrrFTQqcGpT4Ra+Fpslmp8/Y0F7FPiZS0sJsSfnmOwH8oknY5davSunf8la4+4+vT06Rb7nmXskOcLhwihBy67nmSe8ma0K4xrSgjJtslbJzfuWxUpESKAzgQ8cKu/uEtqzMO12VJg/hE6DTUk7COZFZmrlmXpVrL/0bOhhtj61smo/7ZdhOCkABngD8FsQB3FjqfEZaip8TBc2PLJb/O2vipYGmHwyoIRQB3c+8nme81qV1wgsRWDFtunY8yeSyKkIyRQIU4vCi4pU89j0I2IqK6qNsXFk+nvlTYpx9hE15rZKtlBHJp9VMar9NuVcpdobITaxk7WnydU4J7sGM4s3a/p+5rS8T/5TKXlv/SBr8RZL2yqmCQPDlIPcdvOsJyUbMs2ba5W0bIvDaARwq7A0U9wb9QKs/ERZy8/+P3Z4kgG2zh8hAUZsu3MEjkeo+e9OdqXRLX/x/MVvlyH2cOGbIZJU9uSYMEEQu0EAac5O8GoZ2yxk1dP4rT14xHoZ30BhIgPOaNNANR6ADwqGLfZqNLGEZHC3OyPAfSny5ZGnwaDhGqA9Wb5Sv2qKfZLEaWVjzpo5ccgNlpk9Sx8iTHyiiXeBFhHuLxPu7bPzAOUdWOij99afXHMkiHU3KquUmThntbZRUS4j2wqgFiQyyBvprr1jnyrq6NZDCgcHZX6s3KLy2fPxiAL3vFBgXM4BOsBswBPWOdWlj2NLa3HB9jweMW5ZW98KsgfXkInXwqfPBhyrak4AvAuM28UjMmhViCDvucp8CPvSJ5HW0ut8jOKUhJFAHhWkwmKmxXc4BbPwl07g0jyDTA7tqqz0dcvYk9XPayCXvZW3EoWF1ZKsSV16dmMo0Hw1HLQwUfleGXqvJTWIyWV9j21w6/dyriCPdpyB7TkbZoO/fp4ayGxotswrXwiSeq09WXTnL/gO4tjRh7YCKJPZRRAUQNz3DoKsX2qiGUjNXztyk+uzH3czuXZj7zQ5xoR4EbDSsSV03LORXc8/L10E8P43ftMVabgMAZ2YwSwhsxXbUgydNPOzRrLIvD5yXa6a7obpPH+x1jeJ4m1bZ2w6woJnOoA79yTHTQ1cnqLYxe6P8jq9Lp5ySjL+Cz2aw/Ze6TmZmIzHeFMH1aT4ZRypNCsw9R9sXykts/Sj1EdRWgZJIoDJIoDJIoAkUAegULAqlg+P8Wbtf0/c1heK/wDOZ2HlFmyBusPy8P0rAs+pm7X9K/QMQ7UxDs+wiusC9wb9t5/1H0qSWU9xHGUJNpMstMRlcHU9lp5hSde470uU+B35D75iG/KGPotMivYSx7VuMpa4Y4Ah1J6EFeXWT+/nfdUX0cxX535ts48D3hCxbt6akE/6jP3qhP6sHT1SzFSRXf4sSYt7ayxHhGUT46nu61PXp/eRia/zUaflrWX7gNkkAdps3UeO0GREaVa9OD4MJ+X1G/en/gtOHDxmZ4G4nc/mPfvtG/hT1BLpEFmvvnFxm85FuPwpVLjwsKQApJzEMYU6LBHnVmnTuzOGSV1xk04y7/gzhHgPCteuG2OGaH4Po13ioPCS4QfB7ogbD/pk+Ea1NngzfT/r4f6i3+zK4Pe3ljUopnuBgj5j0pIj9aspM+hRTzOwSKAwSKAwSKMikigTBIpASM97ZXAEtDQtnkA9ysD38+VUNfJKCRPWkoy3dGd/vInVD4gjz57Vjr3Itsc8P+Di4xcGNFPdqR4nalz7juKnhdgt20xDBwSo+ESzDugHY/vlQ5zfDfBchqVtUYdt8sZ8I4nesgQZSZNsqNiZOXYht9+tWNPqp1cew3V3122ty/c22CxK3UDrMHruCDBB7wZFblc1OOUU5wwy+KeNwSKAwSKAwSKMhg9AoyGD41xjl4MPpXP+Ll9SO08lH6WbrCNIU9VB9YrEt+tmxXzFBintL4H7U1Dn+DN4y8C7r+IXHiOXbnXu2q9mOxJnLxr1PxzlDrP+BhhLP8GOoZh3FiWH1qk383B0+HgvxVybDtt/DfTp2ftSx4mNmt0GZxbdwz2yNhoBMnlsdeR89udt3Y4MSvwtKlu7NHZSIHQRVFvLybqjiOCrG8PVkOVYf8JXTtHae6d6lrsknjJV1Ghpti00uRYtlRnlmdUmdlGk5pO8DUctt6tKyUsJe5mR8Pp4ScnzgzGNxhuPmXMg1ygMdJ358/kABrEne02kUY/Pyylb6e75FhD29j1bh2VE7edFvMe0Y7TI0nkTI7tRVuFcYJ7eClGGLTMxT2WUaQYp/wDCsohVF8qeRZYD6de0de4UEG1erlnX9nl8riwuYAOjAg841AHfP3oG6mOYGw9teLvhrANv43YKDyEdo/IR50uSnRWpy5HPDsR721buRGdFaPEA0ZI5xxJoIigbgkUZDBIoyGCRQxMGL9pCxxB95IC9m3p2SCAxM7EyD4RWRrtznyuCSyMnBJLj3Fy2v/eqJW7PFt5D/Kd94G5mOnKhIlX9RY9y8IBBhwDqCVcKfAkRUnpSxnAOm3HKDcDwq5e1UZU/OwP/AGrIJ5a6DXep6tJKXL6FVKj9X7Gp4fgxatqgkxMk7kkkk+pNa9cNkdqHTeXkuvXFRSzEBVBJJ2AG5p+Rqjno7AoyGCRQGCRQGCJBEjUHYigGsdnxbjH4f6vtXO+OeHL9DtNesqP6m8wqRlHRQKx7HmTZqwWIoIYwyn9+H0pEDM/jhOIderx6gT96kfsM/A7SoSU8xw/g3P8AI/8AtJp8O0JPpiLC6so5TPprPrFOfWWMj9hxh3k/vqajxwSI6xd/KsCcx0EcpIGbykac6dBe42TEvtXiwllbKaZ9T/lX9THjBrU8XR6tu99Iz/IXbK9q7ZkYrpzALFusFZQSFYqWHXLMT4SaAxymcRQH4C/eFbYBJIkkAkwCYnTlsKZ2xce5ZwvGZL1pjsHUmBrEiflS7Rs+UzT/ANo2OYXUtCMmUP4kkjUdwHzpFEg06wmaX2MvtdwltrmhEqI0kKYB+3lSNFe/CngeKOVInyRSj7nsU7IzBIoDB7FGQwV3rCuCrAMDyIBHzpGk+x0ZSi8pmfPsyw0W6IG0oSe6Tm+Yqi9F9mDVbeWnyFYX2cQEG43vP5SoCT3jc+BP2qSvSQhy+QWI/ShyBVrHsJySKUTAswPHLV3EXMOhl7YknkeTAHuJAPjRkllU4xUmIP7TscEsLaDENcaSBzVd5PScvpSMl0sfmbG/sViBcwdkhiSoynNvK6EeH2pSO+OJsstcftti2wv4lUEHq0Sy+IWD69KMiOl7Nxx7ZY42MJcdDDEBVPexjTviT5UNi0Q3TRkvY72ntYfD+7vXHBDsQMpYBSBAB8Z0pvJcsp3PKQiez7y7ZXq+vgNT8hXM0WenGT/B099e+UV+TcWqzGaBbc2HiKWPYjEMTjLg6En/ALVH/mqWXESOPY4tmoSYmMH8K5/kb/aadH6hsuhHwUSWbpA+5+1Ps6GQ7G+HGnj+/pFRkiRRxbFC2oJ2Et45YAHmzCpaK3Y8L3IrZqCbfSMRisQ1xy7ntH0A5AdwrsNNp40VqMTmb7nbPcyqKskJbh8MXmOX7iqt+oVbSIbblBpfc9sgAZjU2ck8fucXbhanKOAbLMPZ5nypJSwKlkNx143mz3DmYgCfAAD5CmbgUUjW/wBm15/4tokm2oVlnkSSCPOJilbyU9TBZTNu1umsrRZEoTCccM9y0uRuD2KMhgkUZEwSKBcEijImBbxzi9vC2w9w7sqgczJEkeAk+VKSQrcmGvdAQuBmAUsI1nSRHjRkaovOD5P7E48jHq3ZUXS4adgGloBPOQAKXBftinXg7/tDxr3MWyMIW1CqOcMFYk+M+lJgNPFRhn7mg/ssxLtbvWyRkQqVGkjPmzeWg+dDItVFZTRnH4tk4o18ZQBeIP4hl+Bj5rJkdaXBNszXg0/9qOIixaQEQ7yRpJAEg9YmkRBpo4kfNQKC8pY4NVwG1Nwt+UaeLH9AfWuNsfypHUQWWzR4caeOtVyYLVZ9R9acgE/uIxV5u5PmBP0FPk/kRHFfMwywdKiJC66uZWHVSPUGljw8iS6EnB7ZFldIZhmPUZvuBHpTrHmQkFiI0XQUz3HGb9sHOe2s6ZZI780D6VveGqUm5Mx/KTaSiIIrojFJFD6FG3DEGXTc7/8AtWDrZSduH/gytVKW/kCxCgZgNs1ammcnBORoUNutZBoq0SBdttBUTXPI9Heamppij72L4kbeJRMwCXJDAmBMHKfGdPOlxwQXxyj6flpmSjg4tjfxpIj5o7y04ZgmWgMEy0BgmWgMEy0Bg+c/2qXpuWbeXZWbNr+IxA9PpTo8lrTrjIxt8TLcHLhlRlT3cjuOUDTZisetGMMZsxYfOcHe926OACUZWAO2hBin4yi2+Ud8SxPvbty5EZ2ZoJmJMxNGBIrCwFcC4w+Fa4UAOdGQg9+x8jSNZEnBMWBaUd7B3GOJvibguXIzBVXToo38SZPnRjAkYqIGBRgcbDgVqLZP52Pp8I/Xzrh7X82DrK1xkbi8B31EQ26uFbwFYa8DpsehpU+R1Opha8ICuPLO3ef+3sz8vnSy+xMsJZLLbDrTRI2wbwmXIdfP7D70o4X2uY6Fh6MR9qJdgnwEAUgpl/as/wAcf/rX/c9dL4T/AM2YXlX86E8VttpdmT12QCklJRi2JlKOR/hrGVQIg8/HnXN2zc55ZjWzcp5F/FLQG2k/WtLx0m04s0NHNuvDF8VqFoIwyHMNCRO1VdVJemxtmVFhGPQh9BuBVfQy3Q5I9NNyhyBsrb6jv6VorHRNJN5PrPCfaq3dIVgUJiDuCT9B49ailU1yik+x5h9QfE1Ch0kWxSjMEigCRQBIoDBxauKwlSCJIkGdQYI9RQLhnxr2wxDXMZezPmysVWDICjZR4c++anguC3BJJFOCx7e4bDQMjurzzBXfxkRUV8/TjvG2vYt6AMRaysR0o09nqQUharN8VIripyQgWmzkorLBvCyE4rBlAD138apabU+pJp/4K1Oo9RyTBoq+Wj0CgDcKOm1cE/uXlfNLCZYtIyNts7DdPUU0IycXldnSIOVDeR8rZtbWy6JpmRkXJcogJHI8vkaepo1atdDCU+wZlhm0MFtNDz1+s0rkiytTXj6gn+7tE6c9KZvKv/YrPRlfalD70NGmQCehDNoe+um8LbHa1kpeRkptSXuA8Nty2o2FXPIWYikjA1c2orBzZw+a5lM7mYqSVzhQpL3Hyt215HiWgBA+tYkn7mVKTk8sD4pYGXNz2/fSr2hscZ7fuXdHbztFSgCthttYNNYyH8NBJmNPKsvXSwlEq6q1JYyXcTUwDG25qPRTSngj0s1nGRb7ytZRaZoZQ34eZQQNtN6mTbRQtilIb4DiV2yRkY6cjqvpR6Sa5I5TyPuHe1h1F9esFR4QI9de6op6d/2iKa9zQ8N4gl5QUImNVnUbaH1qCUXHskTTDIpuR2AXimIW1ad3bIAp7XQxpHUzypVlsEuUfLvY72iOFW6rAshGaAdQdpE1YlWmSzXKMyakxhEq6DOFqcx00jfpWZ5JrCRT1jW1ZZ7xVDmBjSN6Txz4aE0TW1gNajRdO7TQQehqtqYp1NDLVmLQ14iv8M+VY2l4uiZmmeLBPXQmueqKANstcCWjtaRgWLTQxkDTialgqpcbMQqsqyCeg1k8thUvoto0/wDqrlX6nC98e4yVhEzp1NQ7X0Zig84wd27gOxB8DNMlGS7FlCUe0WA91NwMR2Ceg9f+KTHuB09oOpVhIO4pYWShLcuAeTL38Elq44tg5Z6zHd5Ga3Y6m2+Cdj5MXWyzZwwO3gm94WDQJ5bnqKuvURdSg1lr3GO9eko45GATxqngqPnkE4hh8w3OkmNYMCrWmt9OeS3prFFiMDnW43hZNZYY74faZUE6TJ1P2rD1UlKxtGVe4uR7xBSbbACTp9d6bp8RmmJRFKxCQCt/JrcB/BVJcxoMutOi3kgvxt6Hq2/OpfmKLcSZKehjZZYuMhzIxU9Rp3/YelI4qXYKWBlheP30BGbNPNtSJqJ0RbHq1oz3tJxF2RUdmbpJ2iNfGl2Rj0TafMnn7GbBpC4WPYhQ3WqlWo3WuCIoW7puIy4VbIX4d+c7+VZmuknZ9yjqpJy7Jxa2So02Op6UaCSjblv2DRySl32KK3eEaYbwu2CxlSeh5D/nasryFr4SfBT1cmlhMZ3rOZSDzrLhLY8rsz4T2yyI3skcjGusGN66GrUQlFNvk24PdFPBwKn3xfuO4NmtcEWyxaawK8Q4P8POiFw0M7ZVGnNo0nYVJVXukXtDp5Wz3JZSAbb3LlpVRbpsL28rFUC3chDOrRoBO01Puwkvb/8ATrpuqOZzaUv9r7BfCOHX72Hup7pbmUx7x3jIwJuMNTDMQY15L3mmppctGbt0sLVc+M+2P8Fl/C37Fwrdt2rAusv8UqBbQrr2XQmFIIBB0k9007cp5XHI6+rT6ip7W210vdjSy+YAjmAfUTWbJYZyclh4LRTBhXjb4RDvJkCOsb1LRW5ySRFfYq4NiAKecVt4wc8/m5JbnpI9KBWky2KUYUXM0iB1+lI844LFWPco/u1qASus7xp5jaoK9VqHLZKXBoTn8nAZpz18B/zVkzWnnspu2zlbWAdtP18qVPDRJFrchI/Dbg1CkjqNdOtacPJafpywzVjNNHeCttbuAvbaNjoRvzq3Xq6JP6l+423mPBp1txtV2M4Ppoym32z3JT9yG5JkoygJkqOV1ce5JC8iXjOHuu4VUYqBMgcz31Uu8hp4dzRf0yxHkGXgV6CSoAAnUj7VRl5vTdReWTuSxlBNvAq4VCwUfm3jQ/Ws96uVTc0smfRP+q232FLay9kaqNAdR8jUam5/M1jJBbjc3ktsopYC58E9rn5R0qO5zjBuvsNO471uNIuEw9tS/u7YUCZyg6elYj1mpnPa5PJu7klkzfErguXC6LkEAACNYnUjaf0rYornGOJvLMjU3qcuEUlanKi74Nb7K4zNayED+HAkDQgyR/V18QedYetUq55Uuzf0dvqV9dDW9YQmSin+kfpVeOotx9TLnH2Pnpxx5CK0thSeqfsj1Mc3QUODGrUv3RTfuljPdBAMSJBIkgxtvTovBf0Xl56aWccD21x9LNp7WHsrldMpa6Jae1JhTtrzJPyFG7kmv8upz3YyT2O4U9y8GV1VYZzZS4ssQ+zK2sDSJ12INOnI25a+m2qO3l/6Dr7XrmIu4VmjDlu0mVZMAMVDyY7XTv76rW27YcdmfLVbbMRXP3HJ4baiAuWNiCZrO9aec5KzSfLOreAtieyCD17UeBO1I7JMRKKEHHcCwPZn3YgzvB1EE9B9609DZDOX2ZevqscfkXAmuW4B19YrXMJdnofqD6fpQG07ApRvRyzRyJ8BQOisldvXUHeY2O8VlzvcLG0Xo15gk2Wh26L8/wBP331J8csdEXw35Pczdw85+wpJa/jhCrTLPZ1bEVn2zc5bmWYx2rB0XgTUaz7McWYNWugm2pYAwSIiekkifKtHT6LVWrMHx+o2eIfUFDh13/8AGfVP/VVteO1643fyMzWwr/A7gGZntKAJMk6eJiBVh+O1CjmdrHRcHwkLLxIMIQ3fqB5AgE1jXRhF49RsmUInC+8J1KAeBb7iPnVSbq/LFe1exTjCRAzs3UaDw2Aq7oa973tcIq6maUduQQjbTy+9axRii0ClG4PG8CaTj3FiuRzfuf8Ayxjt9kDr3E9dN/KuejH/AORzxybOV6f34ENpgRoZroTHlF9s7igYOvZUENcP4YA7p/WCKyfJuOEvc1vH7sP7GlDVkGpufsfLwa6AyB83G7Zw/uhZGbKACQhXNszxAhoiDvO5qw7Ytdexad0XXt2mduYxVnqOXd1HWoFW2V9rOBxJfKY+Uz9qX0WO2sa8GX3txciswVlLRyGhOuwMTzqtdmCeSaiM1I+glwo5AD0FZL5NPJwLhPVR5Sf0/wCaXGAyT3jDftDuEH60YTDJ47h1YA7gjwkEailS2sR4awZXH8OuWe0SLi7TsQf+a16NapcSMbUaBR5iwdcQvPTxq8roPpmfKmaO869R6ipMojcX9jxrqjmPLX6U2U4rsVVyfRSxBMgR39az9VbCfRcpg49hvDbVtmPvXygDTlJmImNOvkahoqhL6i5Uot/MyvEqquQjFlBgExrG50O3SorYqM8R6GSxu4OJqLA0maKFFy6Q5RbeEWYdnVwUzKdzClmI/mVfw9516a1u+Nqvqe5dfYtfCw2/1ng1+BuFlBZSpO4O4/frXTptpPBjyilNpPP2A/aLDXbigJ8AIYxJMjqvNfAzPIxWfr65WQ2p4NDSem+JPDMvYxyscogkblTmHXf/AIrjr9M6/cktp2P7hYNVcckXIEVLdqd/DyrodLUoVrBm3zzLlHJ0JgT4VYGbG0drrQNcWjxtORo/AmPuV28QxBAJCHXpM6EdYgVX9CMrHNotO5whtj2e5KnXBVbfbJFKIX4G+1t1ymAzKGHIyQuo6671U1lUZ1ttdFzSWyjNLPBrA9c5nBtJnzQGuiwZZxeUkQCB5TRFpPkdEH4ZwV7rEN2VG58eQqWzUKK4LVcNw1xPsqpj3bEHnm1FV46x/wByJXSn0aL2cU4ewtvIJBYsZiZJ126RVHUP1Z7sk0PlQ7s4kP3Ebg1UcHEfktz0m1hk8z0YDJM1GAyB8WstctlVIBmdeccvpUlfD5GTTlHCMiDV0y2sPB6KTLDg6FI85AswyG42W2MzdBGneeg8akhp52PakSwqlN8IuxmFuWiFuKVLRB3XUxOYSAJ3qVePtbwkPdEoySfBbfwDKVCtbuSJJU6Ltod9+Xgatw8NOx4ixupjGlcyL7PCyfieO5R9z+lX6vAQX/oyjLUJdINw3CbamYLN1Yk+g2HkK06vH0UrhDfibOlwGnEWrI1ZE7tAT5DUmpZW01LlpDGrLHzyC3/aAbWlJP5mED/TuflWRqvM1QTVfLLEKGvqFN++1zW4zN4nT/Tt8q527W6i3uROnjgrdogCJJAE7SSBVeuLslhk9FTumoBmDwyk9suwjkSvKdMkfU+OlXFTGPSN6GhpS6yE2cLZifcCTr8RPXUknUTppOtSKUl0yX4Sn/6oNw2AsTD2bS6AgkAb8oP1prnL7irT0r+1fsMP8Fw7f9JPIZfmtN9WS6YS0tMu4oWcQ4HZHwG6hmNQzLz5suv+oeNSx1E12UrfE6efSwZnEYM2mKMxWDppCkH4SuadDpz7qtxnFrs53V6Kyqb+Vtfc7VPOpDNbTPHtzzI8KATSPLYyMHB1B/FqDy2/SorqlZBpsnptcZcI01q6SoJEEgSOndXMSistI2cp8tHzwGuiZQDMFYLMJBiobJLHBZppbllofWkA2AFVWy+kkuC4MBuaY0BfbYHamsDnEJclTbYKRMzz20pE49MawPF8cuIcpRVYc5JHlT4aeLILLnD2Kx7RPPwr86X4aIz4n8Hj+0FwnRVA6amhaePuD1L+xw3HLpWNPGNaX0I5yI9Q2g/gvA1vWs5LEsWRQBEPuDuc+kkiBtvWjXp4OKfLb/gfRTGxNyYpx1pUuMqPnUGA2UrP9J2108qrXVxhLCK00oywB20IJzdsE7Hl5EwflWhotVRXxZD/ACNn83XAfhsaEIZCyHb4dI6Huralq9HasbsCUTupeY8jH/EjdIDOpiYAGXeJ3OvlU2mdO75JZE1OpsshhxCbQq/hFDdnkY2cqiYDHv8AhH6moZc/hD4477M9xXGuznNK2/wwMqsPzGO/kenfXNeS1V27ZX0jSjpZRipNdgqADYAVgylKTxJ5G9Dvg2EtOksVzligVmA3AhgAQdNddtNqvaamEoKTSbLWnrqkm5MBx6ItxhbzZRp2oJkb6roRM61S1MIRsaj0QWJKWEB4iIE/mX/cKZS2potaB4vQbadgZ0OumYDaB+IQ286zzq0rDq3Wn0E2sWCZ7Q3mVVx0kHMPWBNP3IZ6bPRispGURJ5DLyJ17Z6Um5B6cgn/ABV1jVtwIEHfvYmk4B1sIHEwx7XvZEHZTryiHUcvy0mEJsZXjOIBkuoqRnRgSQoENIJyLILaHUnnzpYvDQ2VS2vJn7Wqg9w+laiZ51csTaf3OstKR4Kb6J+KPAmmyaxyPhu/tGvDrj5O110zbxA3853rn9QqfUeHg16nNxWTI4AAuAa1bM7RNPHMjQpVNmkWKD1prAutrTGIXBdZBimiF1ozyg0xgKfaDBuxzgAqojTfxNT0TS4ZWvg3yKuH4Rr1xbaRmYwJMD1q/VW5ywVIQcpYNa3snaJCq14MFaQMryw6bab/ACq36FcpOCTyjSeijs3ZEI4BiMub3ZkkALs5kTITcjvFV5aSaKfw82tyQBLKeakHvBB2PgarvfF46IstcHk1G+RDoGm4A9WSYUSen3PQU6Fe5ktVErHwgv8AuQEe8YDmANBI/mPMb8q0KKnXJNdmpDRQinvY74L/ABCFZS2sZhpp+bw68q6au6Uq8y4Zg30QhbiLyg6V+E6gEgEcxPQ1Ny1lFXhMpxPDUIGVpH5TJHgQeXcDVOejjP2wzQq8lZXhZyhTieDussoEflXbvMbjwE1k6nxDazEnepoufWH/AALlugnLBkCSPGY8djt0NYFtM63hjJ1yg+SzNUPLGJZZVduBhlUySQNNeYk+QqSuEk8mhodPZK2LxxkYlo1NSI6w9sLCgdAKGCI57S9NfoQT4QachCxn0XvI/X9+dIhWEKaAOmWQe8R9f1oEl0JMLZTKAQVgCVJKjUdJiD86hsuvhxk43U6Vxse6IQuFX+Y+LMY8NdKilq7vuVHVFexfZthdh9z5k61BO2cnlsekl0EK9MHGb4OVy/zTrW5ammT6Zx2YXY0Wq7ZZL0prAuSmMC5KYxC5KaxMkxN5UUljAg7/AEojFtrANrGWYjNWmuDLbw+xsvtHiRbS2t0qqfDlAUxEQSNTVl6qzHBL8RPbhMNwftSVVFa1mKhpb3jgs2mVj0K93yin/FRbUmuSeGslGO0R3LpYlmJJJkk6kk7kmqU5OcssqSeWcowLZZE76kCB1M7CnV0Tm8JD64OX4Qdbwyc3LdyDKP8AU2seArSp8TZLl8Ezlp6vqeQrDyNFCovdJbzY7+ladfiox+p/sJLyqisVRwG2LFsHNcY3CNhsPWAB4gT31ar00a38qKdutst+ph396YiBCr+VdPU7nzqwq0uX2VHYzq0JpzYxB9u0o+JjPRf1NRNyf0kiUf7gTifF7drQCW5LMt4seQ/etU9RrIURzN5f2Hxr39LCMnibxlnyyzGSF0HIaTy/561yOoud9m58GhBKTUW+Cu3ckywJ7gpgd5mCT5UxRS6ZtaVaWh5cssNs3F3UjTyjnqOVJyblc4yWYHRfNos7iTEDcE791KO/QvdoBNIuxc8HbQNT0j1pUB7hWDKp30HrH1oYHSowZjoQY056TzpeBMM7ONQCc48AZPoNZ7qMY5GTthFZbKBibMgkagQAUMx0Gmvl1o3Je5X+K07WcgpuhZy5iNYUo4IH5ZiPDyqCyuuXO7kxdTTRNuUJd+wUDVFoy2dqaBDDC5Gonyrp3FMii2nwef38iMpMnv8ArSelF+xInNe4dY4s8QGmO6fnUMqIt9D/AF5pFy8XugRm84E0x6eLBaqYUnH3AjKs9dfpUb0qyP8AivwCXuK3CDmcgHvgVIqYL2I3fNnfDcM+IcIrd5Y6hR1/QVNVRufHA+quy54b4NhhvZTDx2jcY9c0fICrq08Eui/HS1pYwBcY9lFQA2LhJJgW3iT1IYDSBrqPOop6VPois0UX9JWnsfcK63bYbplZh6yD8qT4P8jVofuwDF+zGIt6svvB1tmR/p+L5GtXTUaSP1rkrXaW6LzDoEtWspjLlPMRB862a41pfIZtnqJ4lkKt1I8kOQq3TegYSlI37hjPCCbcxOVo6lWA9YiKg9evOMlh6S5LO0JtGnvkr9HPEsd7pC0SToB3nST3VU1eojRW2yeml2PK9jLL6nmep5k99cVbZKyTk/cufoWIpJAAJJ2A1JpkIuTxHsEm3gd//DdyFh7clSSGLJljdSWXf9DV34BZ2qXP2LXwk9qkxGifjYE5DHZQlQdozkR38uVROiccmxpIUadb92Qlcao3DD+k/aahwX4+Qo+5zfxkqYQ/1ED9fnFCaTIJeVpXCC7WLQ/iHgTB75FLtfsXo31ySaZMQziGtgNOjaT4HQjvHpS/qNtm0swWTmzxORqjT/LBHzIIPcaZle7wVV5CtfXwxpwrgqOvvmFxUfNlgoO1JmQdtQfEzV1aaDq9SxZ/QpahV6iXyHOM4QVFv3ed84JPYIUQQD2pIjXfl51Hd418en7mXbp3GWIgmIwj25zqQAYndZiYDDQ6Vn3aWyr6lx9yGdco8MqBqrgjLENGBTCOs8yK6ghTwBNZbpT9xOpILwVptB2iTsoEk+Q1NMaz0NacnhLIzHDb+/uL3/8AJ/8A0011sPQsXsOvZr2c9/8AxL0rb5Lszde8Ly6mpa6M/UW9PpM8zNvg8BZtCEtIv9InzO5qyoJdGgoRXSCTgrLb21BO7KMjeqwT50uMDlwB47CvZGZJuKN9gyj8xj4gOcCe40ZApGEuM2fOh7IAGoA1JMNrM6ch8IoA9TEFTlcFW6H6g7Ed4oyKG2b9LyJgSe0GCbFMr2VBKypYsFzAbAdYMwTG57qs6a/0m93RS1ml9aKx2ZwKQSCCCCQQdwRuK2YzUllHPWVuEtrCbdAwZDCe8UBHQHTRiAZBnnoR51Xt+lpk1LxJS7Dk4hdVhauJkYzLAggCJ0nqNtI1rKnU4rPaOhp1MLpbcchmHwdkCAnzafWZpqnL7kjoraztAeKYZUOXK1xbinTQlcpEiZBK9qREnQ76VHbC29r3EXw+ni0+EzOYnhxUn3ZzgbqdHHjO/nB8aybtJKL4IZ6SM1uqeUDYfEMjBlJDKZB5giqsXKuWV2UHurlh8M0Fn2rdVU+7VroJJuMSc0giMugG426VcWuSW5R5+5aWsko7QnBcetlUF0lTPbC2xl7Oq9kGGJMbjeTU61dcsSk8fgkhqYbcSXZluKcQGZn7ALEkKOwPIawO6sycPVsbXRSk90sozl3izS0fC26nUbQYNXI6aOMPsMIGTGMInWFZROuh/SpfSWB2544OsNxC4gIRisgCQY25+PKaHSvcsQ1VsPpZqfZlVvMU9/LwSWuZvQaEnXzqq9PK6eHwhrlZfLDZsLWEbDk3LDqDbtlmW7lMn8WQDTaOc8qsVNRg5VSyl7MnnROlZTALPHLmcG4zOgnsBsog6xpymNO6qkPIzUnv6K0dRLdmXRMdxT3lsIAy9os/alSZ7MDlA50zUauEqlXBYQ67UuxC8GstlUstmlSFMODXT4K50oJIA3JAA7yYA9aMDoR3PB9M9n8Dbw6ALBc/G3Mn9OgqzGCRvV1RgsIY47GZU7JgsQoPSdz4xNPJCizdAAA2FABSXqAL1uUAXW70Ugovu4f3QLWzKCSU5qOeTqP5fTkKAOMSwv2yoaDEowiVMaEfvWnJrI2WWmkYP/Er50a6/QgGNRodQAa2a9LVtTwc/brLlJxyGYLi162oRX0AgaAkeZ/SmPQ1buxy8lbjDOc5YlmMkmSTzNWoxjBYRQsnKx7mEW6XIxhVo01rKwKnzkPx11bxzZSraHRtAQIldJHrUHpcbZdE0b3GW6PZzba6PhuL/WmY/wDayj5VWeji3wXo+TmliSCrYJMs2ZoidgO4Dl8zoKmqqjDhFPUaqd31Hd/DB9yQRsRE/PcU26iNixITT6qyh5j+xnuK8MdTmgTzYfA3IT+VvHTlNYGs0DibKsr1a+0hUDyOhG4O9Y0oOLwynOEoPEjoGmYGFN/Bo85lknnzHh0qSNso9C5FN3gTfhYEd+hq3HVrqQ5SOV4Dc6qPX9Kc9ZANxYvs+/N19DTHrY+yDcabhV84dla1AKiBoDygyDVSGplCzchYTcZZQZf4s72vdMEIzl82XtySSdZ2knlUlmrnOG3CQ+V8pR2sDBqhghPZpMCnQNNaAtQ0uBT/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3"/>
          <p:cNvSpPr txBox="1"/>
          <p:nvPr/>
        </p:nvSpPr>
        <p:spPr>
          <a:xfrm>
            <a:off x="307975" y="1268760"/>
            <a:ext cx="2452903" cy="37856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The Value of timber</a:t>
            </a:r>
            <a:r>
              <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a:t>
            </a: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1 million</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Fell today</a:t>
            </a:r>
            <a:r>
              <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Or</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Fell next year</a:t>
            </a:r>
            <a:r>
              <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p:txBody>
      </p:sp>
      <p:sp>
        <p:nvSpPr>
          <p:cNvPr id="5" name="TextBox 4"/>
          <p:cNvSpPr txBox="1"/>
          <p:nvPr/>
        </p:nvSpPr>
        <p:spPr>
          <a:xfrm>
            <a:off x="3347864" y="836712"/>
            <a:ext cx="1224136"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今天砍伐</a:t>
            </a:r>
            <a:endPar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7" name="直接箭头连接符 6"/>
          <p:cNvCxnSpPr>
            <a:stCxn id="5" idx="3"/>
            <a:endCxn id="12" idx="1"/>
          </p:cNvCxnSpPr>
          <p:nvPr/>
        </p:nvCxnSpPr>
        <p:spPr>
          <a:xfrm>
            <a:off x="4572000" y="1021378"/>
            <a:ext cx="904503" cy="8679"/>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2" name="TextBox 11"/>
          <p:cNvSpPr txBox="1"/>
          <p:nvPr/>
        </p:nvSpPr>
        <p:spPr>
          <a:xfrm>
            <a:off x="5476503" y="845391"/>
            <a:ext cx="1224136"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收入</a:t>
            </a:r>
            <a:r>
              <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100</a:t>
            </a: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万</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14" name="直接箭头连接符 13"/>
          <p:cNvCxnSpPr>
            <a:stCxn id="12" idx="3"/>
            <a:endCxn id="15" idx="1"/>
          </p:cNvCxnSpPr>
          <p:nvPr/>
        </p:nvCxnSpPr>
        <p:spPr>
          <a:xfrm flipV="1">
            <a:off x="6700639" y="1025475"/>
            <a:ext cx="823689" cy="4582"/>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5" name="TextBox 14"/>
          <p:cNvSpPr txBox="1"/>
          <p:nvPr/>
        </p:nvSpPr>
        <p:spPr>
          <a:xfrm>
            <a:off x="7524328" y="840809"/>
            <a:ext cx="1152128"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投资一年</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19" name="直接箭头连接符 18"/>
          <p:cNvCxnSpPr>
            <a:stCxn id="15" idx="2"/>
          </p:cNvCxnSpPr>
          <p:nvPr/>
        </p:nvCxnSpPr>
        <p:spPr>
          <a:xfrm>
            <a:off x="8100392" y="1210141"/>
            <a:ext cx="0" cy="634683"/>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22" name="TextBox 21"/>
          <p:cNvSpPr txBox="1"/>
          <p:nvPr/>
        </p:nvSpPr>
        <p:spPr>
          <a:xfrm>
            <a:off x="7524328" y="1916832"/>
            <a:ext cx="1152128"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利息</a:t>
            </a:r>
            <a:r>
              <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10</a:t>
            </a: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万</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
        <p:nvSpPr>
          <p:cNvPr id="20" name="TextBox 19"/>
          <p:cNvSpPr txBox="1"/>
          <p:nvPr/>
        </p:nvSpPr>
        <p:spPr>
          <a:xfrm>
            <a:off x="5362197" y="3242235"/>
            <a:ext cx="1569660" cy="369332"/>
          </a:xfrm>
          <a:prstGeom prst="rect">
            <a:avLst/>
          </a:prstGeom>
          <a:solidFill>
            <a:schemeClr val="bg2"/>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时间机会成本</a:t>
            </a:r>
            <a:endParaRPr kumimoji="0" lang="zh-CN" altLang="en-US" sz="18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
        <p:nvSpPr>
          <p:cNvPr id="16" name="TextBox 4"/>
          <p:cNvSpPr txBox="1"/>
          <p:nvPr/>
        </p:nvSpPr>
        <p:spPr>
          <a:xfrm>
            <a:off x="3380819" y="2266952"/>
            <a:ext cx="1224136"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明年砍伐</a:t>
            </a:r>
            <a:endPar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17" name="直接箭头连接符 6"/>
          <p:cNvCxnSpPr/>
          <p:nvPr/>
        </p:nvCxnSpPr>
        <p:spPr>
          <a:xfrm>
            <a:off x="4612407" y="2452812"/>
            <a:ext cx="864096" cy="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21" name="TextBox 11"/>
          <p:cNvSpPr txBox="1"/>
          <p:nvPr/>
        </p:nvSpPr>
        <p:spPr>
          <a:xfrm>
            <a:off x="5502393" y="2259036"/>
            <a:ext cx="1289269"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收入</a:t>
            </a:r>
            <a:r>
              <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110</a:t>
            </a: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万</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7175"/>
                                        </p:tgtEl>
                                      </p:cBhvr>
                                    </p:animEffect>
                                    <p:set>
                                      <p:cBhvr>
                                        <p:cTn id="7" dur="1" fill="hold">
                                          <p:stCondLst>
                                            <p:cond delay="499"/>
                                          </p:stCondLst>
                                        </p:cTn>
                                        <p:tgtEl>
                                          <p:spTgt spid="7175"/>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up)">
                                      <p:cBhvr>
                                        <p:cTn id="30" dur="500"/>
                                        <p:tgtEl>
                                          <p:spTgt spid="19"/>
                                        </p:tgtEl>
                                      </p:cBhvr>
                                    </p:animEffect>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2" nodeType="clickEffect">
                                  <p:stCondLst>
                                    <p:cond delay="0"/>
                                  </p:stCondLst>
                                  <p:childTnLst>
                                    <p:animMotion origin="layout" path="M -3.88889E-6 0 L -0.2125 0.13009 " pathEditMode="relative" rAng="0" ptsTypes="AA">
                                      <p:cBhvr>
                                        <p:cTn id="51" dur="1750" fill="hold"/>
                                        <p:tgtEl>
                                          <p:spTgt spid="22"/>
                                        </p:tgtEl>
                                        <p:attrNameLst>
                                          <p:attrName>ppt_x</p:attrName>
                                          <p:attrName>ppt_y</p:attrName>
                                        </p:attrNameLst>
                                      </p:cBhvr>
                                      <p:rCtr x="-10625" y="6505"/>
                                    </p:animMotion>
                                  </p:childTnLst>
                                </p:cTn>
                              </p:par>
                            </p:childTnLst>
                          </p:cTn>
                        </p:par>
                        <p:par>
                          <p:cTn id="52" fill="hold">
                            <p:stCondLst>
                              <p:cond delay="2000"/>
                            </p:stCondLst>
                            <p:childTnLst>
                              <p:par>
                                <p:cTn id="53" presetID="6" presetClass="emph" presetSubtype="0" fill="hold" grpId="1" nodeType="afterEffect">
                                  <p:stCondLst>
                                    <p:cond delay="0"/>
                                  </p:stCondLst>
                                  <p:childTnLst>
                                    <p:animScale>
                                      <p:cBhvr>
                                        <p:cTn id="54" dur="2000" fill="hold"/>
                                        <p:tgtEl>
                                          <p:spTgt spid="22"/>
                                        </p:tgtEl>
                                      </p:cBhvr>
                                      <p:by x="150000" y="150000"/>
                                    </p:animScale>
                                  </p:childTnLst>
                                </p:cTn>
                              </p:par>
                            </p:childTnLst>
                          </p:cTn>
                        </p:par>
                        <p:par>
                          <p:cTn id="55" fill="hold">
                            <p:stCondLst>
                              <p:cond delay="4000"/>
                            </p:stCondLst>
                            <p:childTnLst>
                              <p:par>
                                <p:cTn id="56" presetID="42" presetClass="entr" presetSubtype="0" fill="hold" grpId="1"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000"/>
                                        <p:tgtEl>
                                          <p:spTgt spid="20"/>
                                        </p:tgtEl>
                                      </p:cBhvr>
                                    </p:animEffect>
                                    <p:anim calcmode="lin" valueType="num">
                                      <p:cBhvr>
                                        <p:cTn id="59" dur="1000" fill="hold"/>
                                        <p:tgtEl>
                                          <p:spTgt spid="20"/>
                                        </p:tgtEl>
                                        <p:attrNameLst>
                                          <p:attrName>ppt_x</p:attrName>
                                        </p:attrNameLst>
                                      </p:cBhvr>
                                      <p:tavLst>
                                        <p:tav tm="0">
                                          <p:val>
                                            <p:strVal val="#ppt_x"/>
                                          </p:val>
                                        </p:tav>
                                        <p:tav tm="100000">
                                          <p:val>
                                            <p:strVal val="#ppt_x"/>
                                          </p:val>
                                        </p:tav>
                                      </p:tavLst>
                                    </p:anim>
                                    <p:anim calcmode="lin" valueType="num">
                                      <p:cBhvr>
                                        <p:cTn id="60" dur="1000" fill="hold"/>
                                        <p:tgtEl>
                                          <p:spTgt spid="20"/>
                                        </p:tgtEl>
                                        <p:attrNameLst>
                                          <p:attrName>ppt_y</p:attrName>
                                        </p:attrNameLst>
                                      </p:cBhvr>
                                      <p:tavLst>
                                        <p:tav tm="0">
                                          <p:val>
                                            <p:strVal val="#ppt_y+.1"/>
                                          </p:val>
                                        </p:tav>
                                        <p:tav tm="100000">
                                          <p:val>
                                            <p:strVal val="#ppt_y"/>
                                          </p:val>
                                        </p:tav>
                                      </p:tavLst>
                                    </p:anim>
                                  </p:childTnLst>
                                </p:cTn>
                              </p:par>
                            </p:childTnLst>
                          </p:cTn>
                        </p:par>
                        <p:par>
                          <p:cTn id="61" fill="hold">
                            <p:stCondLst>
                              <p:cond delay="5000"/>
                            </p:stCondLst>
                            <p:childTnLst>
                              <p:par>
                                <p:cTn id="62" presetID="3" presetClass="emph" presetSubtype="2" repeatCount="indefinite" fill="hold" grpId="0" nodeType="afterEffect">
                                  <p:stCondLst>
                                    <p:cond delay="0"/>
                                  </p:stCondLst>
                                  <p:endCondLst>
                                    <p:cond evt="onNext" delay="0">
                                      <p:tgtEl>
                                        <p:sldTgt/>
                                      </p:tgtEl>
                                    </p:cond>
                                  </p:endCondLst>
                                  <p:childTnLst>
                                    <p:animClr clrSpc="rgb" dir="cw">
                                      <p:cBhvr override="childStyle">
                                        <p:cTn id="63" dur="300" fill="hold"/>
                                        <p:tgtEl>
                                          <p:spTgt spid="20"/>
                                        </p:tgtEl>
                                        <p:attrNameLst>
                                          <p:attrName>style.color</p:attrName>
                                        </p:attrNameLst>
                                      </p:cBhvr>
                                      <p:to>
                                        <a:srgbClr val="CC66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P spid="15" grpId="0" animBg="1"/>
      <p:bldP spid="22" grpId="0" animBg="1"/>
      <p:bldP spid="22" grpId="1" animBg="1"/>
      <p:bldP spid="22" grpId="2" animBg="1"/>
      <p:bldP spid="20" grpId="0" animBg="1"/>
      <p:bldP spid="20" grpId="1" animBg="1"/>
      <p:bldP spid="16" grpId="0" animBg="1"/>
      <p:bldP spid="2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solidFill>
                  <a:schemeClr val="accent6">
                    <a:lumMod val="50000"/>
                  </a:schemeClr>
                </a:solidFill>
              </a:rPr>
              <a:t>时间偏好</a:t>
            </a:r>
            <a:r>
              <a:rPr lang="zh-CN" altLang="en-US" dirty="0"/>
              <a:t>：利率是为了</a:t>
            </a:r>
            <a:r>
              <a:rPr lang="zh-CN" altLang="en-US" dirty="0">
                <a:solidFill>
                  <a:schemeClr val="accent6">
                    <a:lumMod val="50000"/>
                  </a:schemeClr>
                </a:solidFill>
              </a:rPr>
              <a:t>延迟消费</a:t>
            </a:r>
            <a:r>
              <a:rPr lang="zh-CN" altLang="en-US" dirty="0"/>
              <a:t>所做出的补偿</a:t>
            </a:r>
            <a:endParaRPr lang="zh-CN" altLang="en-US" dirty="0"/>
          </a:p>
        </p:txBody>
      </p:sp>
      <p:sp>
        <p:nvSpPr>
          <p:cNvPr id="3" name="TextBox 2"/>
          <p:cNvSpPr txBox="1"/>
          <p:nvPr/>
        </p:nvSpPr>
        <p:spPr>
          <a:xfrm>
            <a:off x="395536" y="3789040"/>
            <a:ext cx="8568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Time preference </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refers to the degree to which individuals prefer present over future consumption.</a:t>
            </a:r>
            <a:endPar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Interest, </a:t>
            </a:r>
            <a:r>
              <a:rPr kumimoji="0" lang="en-US" altLang="zh-CN" sz="1800" b="0"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the return on saving</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r>
              <a:rPr kumimoji="0"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Verdana" panose="020B0604030504040204" pitchFamily="34" charset="0"/>
              </a:rPr>
              <a:t> </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Verdana" panose="020B0604030504040204" pitchFamily="34" charset="0"/>
              </a:rPr>
              <a:t>is the reward for </a:t>
            </a:r>
            <a:r>
              <a:rPr kumimoji="0" lang="en-US" altLang="zh-CN" sz="1800" b="0"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宋体" panose="02010600030101010101" pitchFamily="2" charset="-122"/>
                <a:cs typeface="Verdana" panose="020B0604030504040204" pitchFamily="34" charset="0"/>
              </a:rPr>
              <a:t>deferring consumption</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Verdana" panose="020B0604030504040204" pitchFamily="34" charset="0"/>
              </a:rPr>
              <a:t>.</a:t>
            </a:r>
            <a:endPar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 name="标题 1"/>
          <p:cNvSpPr txBox="1"/>
          <p:nvPr/>
        </p:nvSpPr>
        <p:spPr>
          <a:xfrm>
            <a:off x="7578" y="0"/>
            <a:ext cx="4996470" cy="1844824"/>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8100000" scaled="1"/>
            <a:tileRect/>
          </a:gradFill>
          <a:effectLst>
            <a:innerShdw blurRad="63500" dist="50800">
              <a:prstClr val="black">
                <a:alpha val="50000"/>
              </a:prstClr>
            </a:innerShdw>
          </a:effectLst>
        </p:spPr>
        <p:txBody>
          <a:bodyPr vert="horz" lIns="91440" tIns="45720" rIns="91440" bIns="45720" rtlCol="0" anchor="ctr">
            <a:normAutofit fontScale="900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Arial Rounded MT Bold" panose="020F0704030504030204" pitchFamily="34" charset="0"/>
                <a:ea typeface="隶书" panose="02010509060101010101" pitchFamily="49"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rPr>
              <a:t>Another</a:t>
            </a:r>
            <a:r>
              <a:rPr kumimoji="0" lang="zh-CN" altLang="en-US"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rPr>
              <a:t> </a:t>
            </a:r>
            <a:r>
              <a:rPr kumimoji="0" lang="en-US" altLang="zh-CN"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rPr>
              <a:t>Explanation</a:t>
            </a:r>
            <a:endParaRPr kumimoji="0" lang="zh-CN" altLang="en-US"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r.photos2.fotosearch.com/bthumb/UNC/UNC182/u26391142.jpg"/>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08304" y="1282854"/>
            <a:ext cx="1552575" cy="1619251"/>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55576" y="548680"/>
            <a:ext cx="2236510"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黑体" panose="02010609060101010101" charset="-122"/>
              </a:rPr>
              <a:t>今年砍伐</a:t>
            </a:r>
            <a:endParaRPr kumimoji="1" lang="zh-CN" altLang="en-US" sz="40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cxnSp>
        <p:nvCxnSpPr>
          <p:cNvPr id="5" name="直线箭头连接符 4"/>
          <p:cNvCxnSpPr>
            <a:stCxn id="3" idx="3"/>
          </p:cNvCxnSpPr>
          <p:nvPr/>
        </p:nvCxnSpPr>
        <p:spPr>
          <a:xfrm>
            <a:off x="2992086" y="902623"/>
            <a:ext cx="8598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6" name="文本框 5"/>
          <p:cNvSpPr txBox="1"/>
          <p:nvPr/>
        </p:nvSpPr>
        <p:spPr>
          <a:xfrm>
            <a:off x="3851920" y="548680"/>
            <a:ext cx="3775393"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获得现金可消费</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755576" y="1883876"/>
            <a:ext cx="2236510"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明年砍伐</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cxnSp>
        <p:nvCxnSpPr>
          <p:cNvPr id="9" name="直线箭头连接符 8"/>
          <p:cNvCxnSpPr>
            <a:stCxn id="9" idx="3"/>
          </p:cNvCxnSpPr>
          <p:nvPr/>
        </p:nvCxnSpPr>
        <p:spPr>
          <a:xfrm>
            <a:off x="2992086" y="2237819"/>
            <a:ext cx="8598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0" name="文本框 9"/>
          <p:cNvSpPr txBox="1"/>
          <p:nvPr/>
        </p:nvSpPr>
        <p:spPr>
          <a:xfrm>
            <a:off x="3851920" y="1883876"/>
            <a:ext cx="3262432"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明年才可消费</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sp>
        <p:nvSpPr>
          <p:cNvPr id="11" name="文本框 10"/>
          <p:cNvSpPr txBox="1"/>
          <p:nvPr/>
        </p:nvSpPr>
        <p:spPr>
          <a:xfrm>
            <a:off x="971600" y="5013176"/>
            <a:ext cx="4801314"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延迟消费需获得补偿</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sp>
        <p:nvSpPr>
          <p:cNvPr id="12" name="文本框 11"/>
          <p:cNvSpPr txBox="1"/>
          <p:nvPr/>
        </p:nvSpPr>
        <p:spPr>
          <a:xfrm>
            <a:off x="5871632" y="5008933"/>
            <a:ext cx="1210588" cy="707886"/>
          </a:xfrm>
          <a:prstGeom prst="rect">
            <a:avLst/>
          </a:prstGeom>
        </p:spPr>
        <p:style>
          <a:lnRef idx="0">
            <a:schemeClr val="accent3"/>
          </a:lnRef>
          <a:fillRef idx="3">
            <a:schemeClr val="accent3"/>
          </a:fillRef>
          <a:effectRef idx="3">
            <a:schemeClr val="accent3"/>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黑体" panose="02010609060101010101" charset="-122"/>
                <a:ea typeface="黑体" panose="02010609060101010101" charset="-122"/>
                <a:cs typeface="黑体" panose="02010609060101010101" charset="-122"/>
              </a:rPr>
              <a:t>利率</a:t>
            </a:r>
            <a:endParaRPr kumimoji="1" lang="zh-CN" altLang="en-US" sz="40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黑体" panose="02010609060101010101" charset="-122"/>
              <a:ea typeface="黑体" panose="02010609060101010101" charset="-122"/>
              <a:cs typeface="黑体" panose="02010609060101010101" charset="-122"/>
            </a:endParaRPr>
          </a:p>
        </p:txBody>
      </p:sp>
      <p:sp>
        <p:nvSpPr>
          <p:cNvPr id="13" name="文本框 12"/>
          <p:cNvSpPr txBox="1"/>
          <p:nvPr/>
        </p:nvSpPr>
        <p:spPr>
          <a:xfrm>
            <a:off x="2992086" y="182452"/>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4" name="文本框 13"/>
          <p:cNvSpPr txBox="1"/>
          <p:nvPr/>
        </p:nvSpPr>
        <p:spPr>
          <a:xfrm>
            <a:off x="3058071" y="1683163"/>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000"/>
                                </p:stCondLst>
                                <p:childTnLst>
                                  <p:par>
                                    <p:cTn id="17" presetID="1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p:tgtEl>
                                              <p:spTgt spid="6"/>
                                            </p:tgtEl>
                                            <p:attrNameLst>
                                              <p:attrName>ppt_x</p:attrName>
                                            </p:attrNameLst>
                                          </p:cBhvr>
                                          <p:tavLst>
                                            <p:tav tm="0">
                                              <p:val>
                                                <p:strVal val="#ppt_x-#ppt_w*1.125000"/>
                                              </p:val>
                                            </p:tav>
                                            <p:tav tm="100000">
                                              <p:val>
                                                <p:strVal val="#ppt_x"/>
                                              </p:val>
                                            </p:tav>
                                          </p:tavLst>
                                        </p:anim>
                                        <p:animEffect transition="in" filter="wipe(righ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p:tgtEl>
                                              <p:spTgt spid="8"/>
                                            </p:tgtEl>
                                            <p:attrNameLst>
                                              <p:attrName>ppt_x</p:attrName>
                                            </p:attrNameLst>
                                          </p:cBhvr>
                                          <p:tavLst>
                                            <p:tav tm="0">
                                              <p:val>
                                                <p:strVal val="#ppt_x-#ppt_w*1.125000"/>
                                              </p:val>
                                            </p:tav>
                                            <p:tav tm="100000">
                                              <p:val>
                                                <p:strVal val="#ppt_x"/>
                                              </p:val>
                                            </p:tav>
                                          </p:tavLst>
                                        </p:anim>
                                        <p:animEffect transition="in" filter="wipe(right)">
                                          <p:cBhvr>
                                            <p:cTn id="26" dur="500"/>
                                            <p:tgtEl>
                                              <p:spTgt spid="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1000"/>
                                </p:stCondLst>
                                <p:childTnLst>
                                  <p:par>
                                    <p:cTn id="35" presetID="1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p:tgtEl>
                                              <p:spTgt spid="10"/>
                                            </p:tgtEl>
                                            <p:attrNameLst>
                                              <p:attrName>ppt_x</p:attrName>
                                            </p:attrNameLst>
                                          </p:cBhvr>
                                          <p:tavLst>
                                            <p:tav tm="0">
                                              <p:val>
                                                <p:strVal val="#ppt_x-#ppt_w*1.125000"/>
                                              </p:val>
                                            </p:tav>
                                            <p:tav tm="100000">
                                              <p:val>
                                                <p:strVal val="#ppt_x"/>
                                              </p:val>
                                            </p:tav>
                                          </p:tavLst>
                                        </p:anim>
                                        <p:animEffect transition="in" filter="wipe(right)">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par>
                                    <p:cTn id="44" presetID="0" presetClass="path" presetSubtype="0" accel="50000" decel="50000" fill="hold" nodeType="withEffect">
                                      <p:stCondLst>
                                        <p:cond delay="0"/>
                                      </p:stCondLst>
                                      <p:childTnLst>
                                        <p:animMotion origin="layout" path="M -0.78576 0.5088 L -1.38889E-6 0.5088 " pathEditMode="relative" rAng="0" ptsTypes="AA">
                                          <p:cBhvr>
                                            <p:cTn id="45" dur="750" fill="hold"/>
                                            <p:tgtEl>
                                              <p:spTgt spid="2"/>
                                            </p:tgtEl>
                                            <p:attrNameLst>
                                              <p:attrName>ppt_x</p:attrName>
                                              <p:attrName>ppt_y</p:attrName>
                                            </p:attrNameLst>
                                          </p:cBhvr>
                                          <p:rCtr x="39288" y="0"/>
                                        </p:animMotion>
                                      </p:childTnLst>
                                    </p:cTn>
                                  </p:par>
                                </p:childTnLst>
                              </p:cTn>
                            </p:par>
                            <p:par>
                              <p:cTn id="46" fill="hold">
                                <p:stCondLst>
                                  <p:cond delay="500"/>
                                </p:stCondLst>
                                <p:childTnLst>
                                  <p:par>
                                    <p:cTn id="47" presetID="12" presetClass="entr" presetSubtype="4"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p:tgtEl>
                                              <p:spTgt spid="12"/>
                                            </p:tgtEl>
                                            <p:attrNameLst>
                                              <p:attrName>ppt_y</p:attrName>
                                            </p:attrNameLst>
                                          </p:cBhvr>
                                          <p:tavLst>
                                            <p:tav tm="0">
                                              <p:val>
                                                <p:strVal val="#ppt_y+#ppt_h*1.125000"/>
                                              </p:val>
                                            </p:tav>
                                            <p:tav tm="100000">
                                              <p:val>
                                                <p:strVal val="#ppt_y"/>
                                              </p:val>
                                            </p:tav>
                                          </p:tavLst>
                                        </p:anim>
                                        <p:animEffect transition="in" filter="wipe(up)">
                                          <p:cBhvr>
                                            <p:cTn id="50" dur="500"/>
                                            <p:tgtEl>
                                              <p:spTgt spid="12"/>
                                            </p:tgtEl>
                                          </p:cBhvr>
                                        </p:animEffect>
                                      </p:childTnLst>
                                    </p:cTn>
                                  </p:par>
                                </p:childTnLst>
                              </p:cTn>
                            </p:par>
                            <p:par>
                              <p:cTn id="51" fill="hold">
                                <p:stCondLst>
                                  <p:cond delay="1000"/>
                                </p:stCondLst>
                                <p:childTnLst>
                                  <p:par>
                                    <p:cTn id="52" presetID="6" presetClass="emph" presetSubtype="0" repeatCount="indefinite" fill="hold" grpId="1" nodeType="afterEffect" p14:presetBounceEnd="50000">
                                      <p:stCondLst>
                                        <p:cond delay="0"/>
                                      </p:stCondLst>
                                      <p:endCondLst>
                                        <p:cond evt="onNext" delay="0">
                                          <p:tgtEl>
                                            <p:sldTgt/>
                                          </p:tgtEl>
                                        </p:cond>
                                      </p:endCondLst>
                                      <p:childTnLst>
                                        <p:animScale p14:bounceEnd="50000">
                                          <p:cBhvr>
                                            <p:cTn id="53" dur="500" fill="hold"/>
                                            <p:tgtEl>
                                              <p:spTgt spid="1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1" grpId="0" animBg="1"/>
          <p:bldP spid="12" grpId="0" animBg="1"/>
          <p:bldP spid="12" grpId="1" animBg="1"/>
          <p:bldP spid="13" grpId="0"/>
          <p:bldP spid="14"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000"/>
                                </p:stCondLst>
                                <p:childTnLst>
                                  <p:par>
                                    <p:cTn id="17" presetID="1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p:tgtEl>
                                              <p:spTgt spid="6"/>
                                            </p:tgtEl>
                                            <p:attrNameLst>
                                              <p:attrName>ppt_x</p:attrName>
                                            </p:attrNameLst>
                                          </p:cBhvr>
                                          <p:tavLst>
                                            <p:tav tm="0">
                                              <p:val>
                                                <p:strVal val="#ppt_x-#ppt_w*1.125000"/>
                                              </p:val>
                                            </p:tav>
                                            <p:tav tm="100000">
                                              <p:val>
                                                <p:strVal val="#ppt_x"/>
                                              </p:val>
                                            </p:tav>
                                          </p:tavLst>
                                        </p:anim>
                                        <p:animEffect transition="in" filter="wipe(righ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p:tgtEl>
                                              <p:spTgt spid="8"/>
                                            </p:tgtEl>
                                            <p:attrNameLst>
                                              <p:attrName>ppt_x</p:attrName>
                                            </p:attrNameLst>
                                          </p:cBhvr>
                                          <p:tavLst>
                                            <p:tav tm="0">
                                              <p:val>
                                                <p:strVal val="#ppt_x-#ppt_w*1.125000"/>
                                              </p:val>
                                            </p:tav>
                                            <p:tav tm="100000">
                                              <p:val>
                                                <p:strVal val="#ppt_x"/>
                                              </p:val>
                                            </p:tav>
                                          </p:tavLst>
                                        </p:anim>
                                        <p:animEffect transition="in" filter="wipe(right)">
                                          <p:cBhvr>
                                            <p:cTn id="26" dur="500"/>
                                            <p:tgtEl>
                                              <p:spTgt spid="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1000"/>
                                </p:stCondLst>
                                <p:childTnLst>
                                  <p:par>
                                    <p:cTn id="35" presetID="1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p:tgtEl>
                                              <p:spTgt spid="10"/>
                                            </p:tgtEl>
                                            <p:attrNameLst>
                                              <p:attrName>ppt_x</p:attrName>
                                            </p:attrNameLst>
                                          </p:cBhvr>
                                          <p:tavLst>
                                            <p:tav tm="0">
                                              <p:val>
                                                <p:strVal val="#ppt_x-#ppt_w*1.125000"/>
                                              </p:val>
                                            </p:tav>
                                            <p:tav tm="100000">
                                              <p:val>
                                                <p:strVal val="#ppt_x"/>
                                              </p:val>
                                            </p:tav>
                                          </p:tavLst>
                                        </p:anim>
                                        <p:animEffect transition="in" filter="wipe(right)">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par>
                                    <p:cTn id="44" presetID="0" presetClass="path" presetSubtype="0" accel="50000" decel="50000" fill="hold" nodeType="withEffect">
                                      <p:stCondLst>
                                        <p:cond delay="0"/>
                                      </p:stCondLst>
                                      <p:childTnLst>
                                        <p:animMotion origin="layout" path="M -0.78576 0.5088 L -1.38889E-6 0.5088 " pathEditMode="relative" rAng="0" ptsTypes="AA">
                                          <p:cBhvr>
                                            <p:cTn id="45" dur="750" fill="hold"/>
                                            <p:tgtEl>
                                              <p:spTgt spid="2"/>
                                            </p:tgtEl>
                                            <p:attrNameLst>
                                              <p:attrName>ppt_x</p:attrName>
                                              <p:attrName>ppt_y</p:attrName>
                                            </p:attrNameLst>
                                          </p:cBhvr>
                                          <p:rCtr x="39288" y="0"/>
                                        </p:animMotion>
                                      </p:childTnLst>
                                    </p:cTn>
                                  </p:par>
                                </p:childTnLst>
                              </p:cTn>
                            </p:par>
                            <p:par>
                              <p:cTn id="46" fill="hold">
                                <p:stCondLst>
                                  <p:cond delay="500"/>
                                </p:stCondLst>
                                <p:childTnLst>
                                  <p:par>
                                    <p:cTn id="47" presetID="12" presetClass="entr" presetSubtype="4"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p:tgtEl>
                                              <p:spTgt spid="12"/>
                                            </p:tgtEl>
                                            <p:attrNameLst>
                                              <p:attrName>ppt_y</p:attrName>
                                            </p:attrNameLst>
                                          </p:cBhvr>
                                          <p:tavLst>
                                            <p:tav tm="0">
                                              <p:val>
                                                <p:strVal val="#ppt_y+#ppt_h*1.125000"/>
                                              </p:val>
                                            </p:tav>
                                            <p:tav tm="100000">
                                              <p:val>
                                                <p:strVal val="#ppt_y"/>
                                              </p:val>
                                            </p:tav>
                                          </p:tavLst>
                                        </p:anim>
                                        <p:animEffect transition="in" filter="wipe(up)">
                                          <p:cBhvr>
                                            <p:cTn id="50" dur="500"/>
                                            <p:tgtEl>
                                              <p:spTgt spid="12"/>
                                            </p:tgtEl>
                                          </p:cBhvr>
                                        </p:animEffect>
                                      </p:childTnLst>
                                    </p:cTn>
                                  </p:par>
                                </p:childTnLst>
                              </p:cTn>
                            </p:par>
                            <p:par>
                              <p:cTn id="51" fill="hold">
                                <p:stCondLst>
                                  <p:cond delay="1000"/>
                                </p:stCondLst>
                                <p:childTnLst>
                                  <p:par>
                                    <p:cTn id="52" presetID="6" presetClass="emph" presetSubtype="0" repeatCount="indefinite" fill="hold" grpId="1" nodeType="afterEffect">
                                      <p:stCondLst>
                                        <p:cond delay="0"/>
                                      </p:stCondLst>
                                      <p:endCondLst>
                                        <p:cond evt="onNext" delay="0">
                                          <p:tgtEl>
                                            <p:sldTgt/>
                                          </p:tgtEl>
                                        </p:cond>
                                      </p:endCondLst>
                                      <p:childTnLst>
                                        <p:animScale>
                                          <p:cBhvr>
                                            <p:cTn id="53" dur="500" fill="hold"/>
                                            <p:tgtEl>
                                              <p:spTgt spid="1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1" grpId="0" animBg="1"/>
          <p:bldP spid="12" grpId="0" animBg="1"/>
          <p:bldP spid="12" grpId="1" animBg="1"/>
          <p:bldP spid="13" grpId="0"/>
          <p:bldP spid="14" grpId="0"/>
        </p:bldLst>
      </p:timing>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Compounding, Discounting, and Present Values </a:t>
            </a:r>
            <a:br>
              <a:rPr lang="en-US" altLang="zh-CN" dirty="0"/>
            </a:br>
            <a:endParaRPr lang="zh-CN" altLang="en-US" dirty="0"/>
          </a:p>
        </p:txBody>
      </p:sp>
      <p:sp>
        <p:nvSpPr>
          <p:cNvPr id="3" name="副标题 2"/>
          <p:cNvSpPr>
            <a:spLocks noGrp="1"/>
          </p:cNvSpPr>
          <p:nvPr>
            <p:ph type="subTitle" idx="1"/>
          </p:nvPr>
        </p:nvSpPr>
        <p:spPr/>
        <p:txBody>
          <a:bodyPr/>
          <a:lstStyle/>
          <a:p>
            <a:r>
              <a:rPr lang="zh-CN" altLang="en-US" dirty="0"/>
              <a:t>复利、贴现和现值</a:t>
            </a:r>
            <a:endParaRPr lang="zh-CN" altLang="en-US" dirty="0"/>
          </a:p>
        </p:txBody>
      </p:sp>
      <p:sp>
        <p:nvSpPr>
          <p:cNvPr id="5" name="TextBox 4"/>
          <p:cNvSpPr txBox="1"/>
          <p:nvPr/>
        </p:nvSpPr>
        <p:spPr>
          <a:xfrm>
            <a:off x="251520" y="404664"/>
            <a:ext cx="505267" cy="784830"/>
          </a:xfrm>
          <a:prstGeom prst="rect">
            <a:avLst/>
          </a:prstGeom>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500" b="0" i="0" u="none" strike="noStrike" kern="1200" cap="none" spc="0" normalizeH="0" baseline="0" noProof="0" dirty="0">
                <a:ln>
                  <a:noFill/>
                </a:ln>
                <a:solidFill>
                  <a:srgbClr val="9BBB59">
                    <a:lumMod val="75000"/>
                  </a:srgbClr>
                </a:solidFill>
                <a:effectLst>
                  <a:innerShdw blurRad="63500" dist="50800" dir="18900000">
                    <a:prstClr val="black">
                      <a:alpha val="50000"/>
                    </a:prstClr>
                  </a:innerShdw>
                </a:effectLst>
                <a:uLnTx/>
                <a:uFillTx/>
                <a:latin typeface="Arial Rounded MT Bold" panose="020F0704030504030204" pitchFamily="34" charset="0"/>
                <a:ea typeface="隶书" panose="02010509060101010101" pitchFamily="49" charset="-122"/>
                <a:cs typeface="+mn-cs"/>
              </a:rPr>
              <a:t>2</a:t>
            </a:r>
            <a:endParaRPr kumimoji="0" lang="zh-CN" altLang="en-US" sz="4500" b="0" i="0" u="none" strike="noStrike" kern="1200" cap="none" spc="0" normalizeH="0" baseline="0" noProof="0" dirty="0">
              <a:ln>
                <a:noFill/>
              </a:ln>
              <a:solidFill>
                <a:srgbClr val="9BBB59">
                  <a:lumMod val="75000"/>
                </a:srgbClr>
              </a:solidFill>
              <a:effectLst>
                <a:innerShdw blurRad="63500" dist="50800" dir="18900000">
                  <a:prstClr val="black">
                    <a:alpha val="50000"/>
                  </a:prstClr>
                </a:innerShdw>
              </a:effectLst>
              <a:uLnTx/>
              <a:uFillTx/>
              <a:latin typeface="Arial Rounded MT Bold" panose="020F0704030504030204" pitchFamily="34" charset="0"/>
              <a:ea typeface="隶书" panose="02010509060101010101" pitchFamily="49"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Compound</a:t>
            </a:r>
            <a:r>
              <a:rPr lang="en-US" altLang="en-US" dirty="0"/>
              <a:t> </a:t>
            </a:r>
            <a:r>
              <a:rPr lang="en-US" altLang="en-US" dirty="0"/>
              <a:t>interest</a:t>
            </a:r>
            <a:br>
              <a:rPr lang="en-US" altLang="zh-CN" dirty="0"/>
            </a:br>
            <a:r>
              <a:rPr lang="zh-CN" altLang="en-US" dirty="0"/>
              <a:t>复利</a:t>
            </a:r>
            <a:endParaRPr lang="zh-CN" altLang="en-US" dirty="0"/>
          </a:p>
        </p:txBody>
      </p:sp>
      <mc:AlternateContent xmlns:mc="http://schemas.openxmlformats.org/markup-compatibility/2006">
        <mc:Choice xmlns:a14="http://schemas.microsoft.com/office/drawing/2010/main" Requires="a14">
          <p:sp>
            <p:nvSpPr>
              <p:cNvPr id="3" name="TextBox 2"/>
              <p:cNvSpPr txBox="1"/>
              <p:nvPr/>
            </p:nvSpPr>
            <p:spPr>
              <a:xfrm>
                <a:off x="539552" y="2708920"/>
                <a:ext cx="8208912"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𝑛</m:t>
                          </m:r>
                        </m:sub>
                      </m:s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sSub>
                        <m:sSub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0</m:t>
                          </m:r>
                        </m:sub>
                      </m:s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1</m:t>
                      </m:r>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𝑖</m:t>
                      </m:r>
                      <m:sSup>
                        <m:sSup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e>
                        <m:sup>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𝑛</m:t>
                          </m:r>
                        </m:sup>
                      </m:sSup>
                    </m:oMath>
                  </m:oMathPara>
                </a14:m>
                <a:endParaRPr kumimoji="0" lang="zh-CN" altLang="en-US" sz="8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Choice>
        <mc:Fallback>
          <p:sp>
            <p:nvSpPr>
              <p:cNvPr id="3" name="TextBox 2"/>
              <p:cNvSpPr txBox="1">
                <a:spLocks noRot="1" noChangeAspect="1" noMove="1" noResize="1" noEditPoints="1" noAdjustHandles="1" noChangeArrowheads="1" noChangeShapeType="1" noTextEdit="1"/>
              </p:cNvSpPr>
              <p:nvPr/>
            </p:nvSpPr>
            <p:spPr>
              <a:xfrm>
                <a:off x="539552" y="2708920"/>
                <a:ext cx="8208912" cy="1446550"/>
              </a:xfrm>
              <a:prstGeom prst="rect">
                <a:avLst/>
              </a:prstGeom>
              <a:blipFill rotWithShape="1">
                <a:blip r:embed="rId1"/>
                <a:stretch>
                  <a:fillRect l="-5" t="-1" r="1" b="2"/>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484784"/>
            <a:ext cx="8212056" cy="1447770"/>
          </a:xfrm>
        </p:spPr>
        <p:txBody>
          <a:bodyPr>
            <a:normAutofit/>
          </a:bodyPr>
          <a:lstStyle/>
          <a:p>
            <a:r>
              <a:rPr kumimoji="1" lang="zh-CN" altLang="en-US" dirty="0">
                <a:latin typeface="黑体" panose="02010609060101010101" charset="-122"/>
                <a:ea typeface="黑体" panose="02010609060101010101" charset="-122"/>
                <a:cs typeface="黑体" panose="02010609060101010101" charset="-122"/>
              </a:rPr>
              <a:t>明年的收益是？</a:t>
            </a:r>
            <a:endParaRPr kumimoji="1" lang="zh-CN" altLang="en-US"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973172" y="332656"/>
            <a:ext cx="7200800"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今年采伐树木可得</a:t>
            </a:r>
            <a:r>
              <a:rPr kumimoji="1" lang="en-US" altLang="zh-CN"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1</a:t>
            </a:r>
            <a:r>
              <a:rPr kumimoji="1" lang="zh-CN" altLang="en-US"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万元，购买无风险一年期债券，年利率</a:t>
            </a:r>
            <a:r>
              <a:rPr kumimoji="1" lang="en-US" altLang="zh-CN"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5%</a:t>
            </a:r>
            <a:endParaRPr kumimoji="1"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5" name="文本框 4"/>
          <p:cNvSpPr txBox="1"/>
          <p:nvPr/>
        </p:nvSpPr>
        <p:spPr>
          <a:xfrm>
            <a:off x="6732240" y="1988840"/>
            <a:ext cx="1441732" cy="461665"/>
          </a:xfrm>
          <a:prstGeom prst="rect">
            <a:avLst/>
          </a:prstGeom>
          <a:gradFill flip="none" rotWithShape="1">
            <a:gsLst>
              <a:gs pos="5000">
                <a:schemeClr val="accent3">
                  <a:lumMod val="73000"/>
                  <a:lumOff val="27000"/>
                </a:schemeClr>
              </a:gs>
              <a:gs pos="100000">
                <a:schemeClr val="accent3">
                  <a:lumMod val="20000"/>
                  <a:lumOff val="80000"/>
                </a:schemeClr>
              </a:gs>
              <a:gs pos="0">
                <a:schemeClr val="bg1"/>
              </a:gs>
            </a:gsLst>
            <a:lin ang="5400000" scaled="1"/>
            <a:tileRect/>
          </a:gradFill>
          <a:effectLst>
            <a:outerShdw blurRad="101600" dist="38100" dir="5400000" algn="t"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1*(1+5%)</a:t>
            </a: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标题 1"/>
          <p:cNvSpPr txBox="1"/>
          <p:nvPr/>
        </p:nvSpPr>
        <p:spPr>
          <a:xfrm>
            <a:off x="467544" y="3130575"/>
            <a:ext cx="8212056" cy="144777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rm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Arial Rounded MT Bold" panose="020F0704030504030204" pitchFamily="34" charset="0"/>
                <a:ea typeface="隶书" panose="02010509060101010101" pitchFamily="49"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rPr>
              <a:t>后年的收益是？</a:t>
            </a:r>
            <a:endPar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endParaRPr>
          </a:p>
        </p:txBody>
      </p:sp>
      <p:sp>
        <p:nvSpPr>
          <p:cNvPr id="7" name="文本框 6"/>
          <p:cNvSpPr txBox="1"/>
          <p:nvPr/>
        </p:nvSpPr>
        <p:spPr>
          <a:xfrm>
            <a:off x="6444208" y="3634631"/>
            <a:ext cx="2448272" cy="461665"/>
          </a:xfrm>
          <a:prstGeom prst="rect">
            <a:avLst/>
          </a:prstGeom>
          <a:gradFill flip="none" rotWithShape="1">
            <a:gsLst>
              <a:gs pos="5000">
                <a:schemeClr val="accent3">
                  <a:lumMod val="73000"/>
                  <a:lumOff val="27000"/>
                </a:schemeClr>
              </a:gs>
              <a:gs pos="100000">
                <a:schemeClr val="accent3">
                  <a:lumMod val="20000"/>
                  <a:lumOff val="80000"/>
                </a:schemeClr>
              </a:gs>
              <a:gs pos="0">
                <a:schemeClr val="bg1"/>
              </a:gs>
            </a:gsLst>
            <a:lin ang="5400000" scaled="1"/>
            <a:tileRect/>
          </a:gradFill>
          <a:effectLst>
            <a:outerShdw blurRad="101600" dist="38100" dir="5400000" algn="t"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a:t>
            </a:r>
            <a:r>
              <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a:t>
            </a: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标题 1"/>
          <p:cNvSpPr txBox="1"/>
          <p:nvPr/>
        </p:nvSpPr>
        <p:spPr>
          <a:xfrm>
            <a:off x="467544" y="4814984"/>
            <a:ext cx="8212056" cy="144777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rm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Arial Rounded MT Bold" panose="020F0704030504030204" pitchFamily="34" charset="0"/>
                <a:ea typeface="隶书" panose="02010509060101010101" pitchFamily="49"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rPr>
              <a:t>n</a:t>
            </a:r>
            <a:r>
              <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rPr>
              <a:t>年后的收益是？</a:t>
            </a:r>
            <a:endPar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endParaRPr>
          </a:p>
        </p:txBody>
      </p:sp>
      <p:sp>
        <p:nvSpPr>
          <p:cNvPr id="9" name="文本框 8"/>
          <p:cNvSpPr txBox="1"/>
          <p:nvPr/>
        </p:nvSpPr>
        <p:spPr>
          <a:xfrm>
            <a:off x="6732240" y="5319040"/>
            <a:ext cx="1947360" cy="461665"/>
          </a:xfrm>
          <a:prstGeom prst="rect">
            <a:avLst/>
          </a:prstGeom>
          <a:gradFill flip="none" rotWithShape="1">
            <a:gsLst>
              <a:gs pos="5000">
                <a:schemeClr val="accent3">
                  <a:lumMod val="73000"/>
                  <a:lumOff val="27000"/>
                </a:schemeClr>
              </a:gs>
              <a:gs pos="100000">
                <a:schemeClr val="accent3">
                  <a:lumMod val="20000"/>
                  <a:lumOff val="80000"/>
                </a:schemeClr>
              </a:gs>
              <a:gs pos="0">
                <a:schemeClr val="bg1"/>
              </a:gs>
            </a:gsLst>
            <a:lin ang="5400000" scaled="1"/>
            <a:tileRect/>
          </a:gradFill>
          <a:effectLst>
            <a:outerShdw blurRad="101600" dist="38100" dir="5400000" algn="t"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1*(1+5%)^n</a:t>
            </a: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107504" y="1124744"/>
          <a:ext cx="11355388" cy="6165850"/>
        </p:xfrm>
        <a:graphic>
          <a:graphicData uri="http://schemas.openxmlformats.org/presentationml/2006/ole">
            <mc:AlternateContent xmlns:mc="http://schemas.openxmlformats.org/markup-compatibility/2006">
              <mc:Choice xmlns:v="urn:schemas-microsoft-com:vml" Requires="v">
                <p:oleObj spid="_x0000_s15389" name="工作表" r:id="rId1" imgW="11311255" imgH="6172200" progId="Excel.Sheet.8">
                  <p:embed/>
                </p:oleObj>
              </mc:Choice>
              <mc:Fallback>
                <p:oleObj name="工作表" r:id="rId1" imgW="11311255" imgH="6172200" progId="Excel.Sheet.8">
                  <p:embed/>
                  <p:pic>
                    <p:nvPicPr>
                      <p:cNvPr id="0" name="对象 1"/>
                      <p:cNvPicPr/>
                      <p:nvPr/>
                    </p:nvPicPr>
                    <p:blipFill>
                      <a:blip r:embed="rId2"/>
                      <a:stretch>
                        <a:fillRect/>
                      </a:stretch>
                    </p:blipFill>
                    <p:spPr>
                      <a:xfrm>
                        <a:off x="107504" y="1124744"/>
                        <a:ext cx="11355388" cy="6165850"/>
                      </a:xfrm>
                      <a:prstGeom prst="rect">
                        <a:avLst/>
                      </a:prstGeom>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Discounting</a:t>
            </a:r>
            <a:br>
              <a:rPr lang="en-US" altLang="zh-CN" dirty="0"/>
            </a:br>
            <a:r>
              <a:rPr lang="zh-CN" altLang="en-US" dirty="0"/>
              <a:t>贴现</a:t>
            </a:r>
            <a:endParaRPr lang="zh-CN" altLang="en-US" dirty="0"/>
          </a:p>
        </p:txBody>
      </p:sp>
      <mc:AlternateContent xmlns:mc="http://schemas.openxmlformats.org/markup-compatibility/2006">
        <mc:Choice xmlns:a14="http://schemas.microsoft.com/office/drawing/2010/main" Requires="a14">
          <p:sp>
            <p:nvSpPr>
              <p:cNvPr id="3" name="TextBox 2"/>
              <p:cNvSpPr txBox="1"/>
              <p:nvPr/>
            </p:nvSpPr>
            <p:spPr>
              <a:xfrm>
                <a:off x="554230" y="2420888"/>
                <a:ext cx="8208912" cy="28677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0</m:t>
                          </m:r>
                        </m:sub>
                      </m:s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f>
                        <m:f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sSub>
                            <m:sSubPr>
                              <m:ctrlPr>
                                <a:rPr kumimoji="0" lang="en-US" altLang="zh-CN" sz="8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𝑛</m:t>
                              </m:r>
                            </m:sub>
                          </m:sSub>
                        </m:num>
                        <m:den>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1</m:t>
                          </m:r>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𝑖</m:t>
                          </m:r>
                          <m:sSup>
                            <m:sSupPr>
                              <m:ctrlPr>
                                <a:rPr kumimoji="0" lang="en-US" altLang="zh-CN" sz="8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m:t>
                              </m:r>
                            </m:e>
                            <m:sup>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𝑛</m:t>
                              </m:r>
                            </m:sup>
                          </m:sSup>
                        </m:den>
                      </m:f>
                    </m:oMath>
                  </m:oMathPara>
                </a14:m>
                <a:endParaRPr kumimoji="0" lang="zh-CN" altLang="en-US" sz="8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Choice>
        <mc:Fallback>
          <p:sp>
            <p:nvSpPr>
              <p:cNvPr id="3" name="TextBox 2"/>
              <p:cNvSpPr txBox="1">
                <a:spLocks noRot="1" noChangeAspect="1" noMove="1" noResize="1" noEditPoints="1" noAdjustHandles="1" noChangeArrowheads="1" noChangeShapeType="1" noTextEdit="1"/>
              </p:cNvSpPr>
              <p:nvPr/>
            </p:nvSpPr>
            <p:spPr>
              <a:xfrm>
                <a:off x="554230" y="2420888"/>
                <a:ext cx="8208912" cy="2867773"/>
              </a:xfrm>
              <a:prstGeom prst="rect">
                <a:avLst/>
              </a:prstGeom>
              <a:blipFill rotWithShape="1">
                <a:blip r:embed="rId1"/>
                <a:stretch>
                  <a:fillRect l="-6" t="-9" r="2" b="13"/>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复利公式变形为贴现公式</a:t>
            </a:r>
            <a:endParaRPr kumimoji="1" lang="zh-CN" altLang="en-US" dirty="0"/>
          </a:p>
        </p:txBody>
      </p:sp>
      <mc:AlternateContent xmlns:mc="http://schemas.openxmlformats.org/markup-compatibility/2006">
        <mc:Choice xmlns:a14="http://schemas.microsoft.com/office/drawing/2010/main" Requires="a14">
          <p:sp>
            <p:nvSpPr>
              <p:cNvPr id="4" name="TextBox 2"/>
              <p:cNvSpPr txBox="1">
                <a:spLocks noGrp="1"/>
              </p:cNvSpPr>
              <p:nvPr>
                <p:ph idx="1"/>
              </p:nvPr>
            </p:nvSpPr>
            <p:spPr>
              <a:xfrm>
                <a:off x="330728" y="1556792"/>
                <a:ext cx="8496944" cy="5689827"/>
              </a:xfrm>
              <a:prstGeom prst="rect">
                <a:avLst/>
              </a:prstGeom>
              <a:noFill/>
            </p:spPr>
            <p:txBody>
              <a:bodyPr wrap="square" rtlCol="0">
                <a:spAutoFit/>
              </a:bodyPr>
              <a:lstStyle/>
              <a:p>
                <a14:m>
                  <m:oMath xmlns:m="http://schemas.openxmlformats.org/officeDocument/2006/math">
                    <m:sSub>
                      <m:sSubPr>
                        <m:ctrlPr>
                          <a:rPr lang="en-US" altLang="zh-CN" sz="8800" i="1" smtClean="0">
                            <a:latin typeface="Cambria Math" panose="02040503050406030204" pitchFamily="18" charset="0"/>
                          </a:rPr>
                        </m:ctrlPr>
                      </m:sSubPr>
                      <m:e>
                        <m:r>
                          <a:rPr lang="en-US" altLang="zh-CN" sz="8800" b="0" i="1" smtClean="0">
                            <a:latin typeface="Cambria Math" panose="02040503050406030204"/>
                          </a:rPr>
                          <m:t>𝑉</m:t>
                        </m:r>
                      </m:e>
                      <m:sub>
                        <m:r>
                          <a:rPr lang="en-US" altLang="zh-CN" sz="8800" b="0" i="1" smtClean="0">
                            <a:latin typeface="Cambria Math" panose="02040503050406030204"/>
                          </a:rPr>
                          <m:t>𝑛</m:t>
                        </m:r>
                      </m:sub>
                    </m:sSub>
                    <m:r>
                      <a:rPr lang="en-US" altLang="zh-CN" sz="8800" b="0" i="1" smtClean="0">
                        <a:latin typeface="Cambria Math" panose="02040503050406030204"/>
                      </a:rPr>
                      <m:t>=</m:t>
                    </m:r>
                    <m:sSub>
                      <m:sSubPr>
                        <m:ctrlPr>
                          <a:rPr lang="en-US" altLang="zh-CN" sz="8800" b="0" i="1" smtClean="0">
                            <a:latin typeface="Cambria Math" panose="02040503050406030204" pitchFamily="18" charset="0"/>
                          </a:rPr>
                        </m:ctrlPr>
                      </m:sSubPr>
                      <m:e>
                        <m:r>
                          <a:rPr lang="en-US" altLang="zh-CN" sz="8800" b="0" i="1" smtClean="0">
                            <a:latin typeface="Cambria Math" panose="02040503050406030204"/>
                          </a:rPr>
                          <m:t>𝑉</m:t>
                        </m:r>
                      </m:e>
                      <m:sub>
                        <m:r>
                          <a:rPr lang="en-US" altLang="zh-CN" sz="8800" b="0" i="1" smtClean="0">
                            <a:latin typeface="Cambria Math" panose="02040503050406030204"/>
                          </a:rPr>
                          <m:t>0</m:t>
                        </m:r>
                      </m:sub>
                    </m:sSub>
                    <m:r>
                      <a:rPr lang="en-US" altLang="zh-CN" sz="8800" b="0" i="1" smtClean="0">
                        <a:latin typeface="Cambria Math" panose="02040503050406030204"/>
                      </a:rPr>
                      <m:t>(</m:t>
                    </m:r>
                    <m:r>
                      <a:rPr lang="en-US" altLang="zh-CN" sz="8800" b="0" i="1" smtClean="0">
                        <a:latin typeface="Cambria Math" panose="02040503050406030204"/>
                      </a:rPr>
                      <m:t>1</m:t>
                    </m:r>
                    <m:r>
                      <a:rPr lang="en-US" altLang="zh-CN" sz="8800" b="0" i="1" smtClean="0">
                        <a:latin typeface="Cambria Math" panose="02040503050406030204"/>
                      </a:rPr>
                      <m:t>+</m:t>
                    </m:r>
                    <m:r>
                      <a:rPr lang="en-US" altLang="zh-CN" sz="8800" b="0" i="1" smtClean="0">
                        <a:latin typeface="Cambria Math" panose="02040503050406030204"/>
                      </a:rPr>
                      <m:t>𝑖</m:t>
                    </m:r>
                    <m:sSup>
                      <m:sSupPr>
                        <m:ctrlPr>
                          <a:rPr lang="en-US" altLang="zh-CN" sz="8800" b="0" i="1" smtClean="0">
                            <a:latin typeface="Cambria Math" panose="02040503050406030204" pitchFamily="18" charset="0"/>
                          </a:rPr>
                        </m:ctrlPr>
                      </m:sSupPr>
                      <m:e>
                        <m:r>
                          <a:rPr lang="en-US" altLang="zh-CN" sz="8800" b="0" i="1" smtClean="0">
                            <a:latin typeface="Cambria Math" panose="02040503050406030204"/>
                          </a:rPr>
                          <m:t>)</m:t>
                        </m:r>
                      </m:e>
                      <m:sup>
                        <m:r>
                          <a:rPr lang="en-US" altLang="zh-CN" sz="8800" b="0" i="1" smtClean="0">
                            <a:latin typeface="Cambria Math" panose="02040503050406030204"/>
                          </a:rPr>
                          <m:t>𝑛</m:t>
                        </m:r>
                      </m:sup>
                    </m:sSup>
                  </m:oMath>
                </a14:m>
                <a:endParaRPr lang="en-US" altLang="zh-CN" sz="8800" dirty="0"/>
              </a:p>
              <a:p>
                <a14:m>
                  <m:oMath xmlns:m="http://schemas.openxmlformats.org/officeDocument/2006/math">
                    <m:sSub>
                      <m:sSubPr>
                        <m:ctrlPr>
                          <a:rPr lang="en-US" altLang="zh-CN" sz="8800" i="1">
                            <a:latin typeface="Cambria Math" panose="02040503050406030204" pitchFamily="18" charset="0"/>
                          </a:rPr>
                        </m:ctrlPr>
                      </m:sSubPr>
                      <m:e>
                        <m:r>
                          <a:rPr lang="en-US" altLang="zh-CN" sz="8800" i="1">
                            <a:latin typeface="Cambria Math" panose="02040503050406030204"/>
                          </a:rPr>
                          <m:t>𝑉</m:t>
                        </m:r>
                      </m:e>
                      <m:sub>
                        <m:r>
                          <a:rPr lang="en-US" altLang="zh-CN" sz="8800" i="1">
                            <a:latin typeface="Cambria Math" panose="02040503050406030204"/>
                          </a:rPr>
                          <m:t>0</m:t>
                        </m:r>
                      </m:sub>
                    </m:sSub>
                    <m:r>
                      <a:rPr lang="en-US" altLang="zh-CN" sz="8800" i="1">
                        <a:latin typeface="Cambria Math" panose="02040503050406030204"/>
                      </a:rPr>
                      <m:t>=</m:t>
                    </m:r>
                    <m:f>
                      <m:fPr>
                        <m:ctrlPr>
                          <a:rPr lang="en-US" altLang="zh-CN" sz="8800" i="1">
                            <a:latin typeface="Cambria Math" panose="02040503050406030204" pitchFamily="18" charset="0"/>
                          </a:rPr>
                        </m:ctrlPr>
                      </m:fPr>
                      <m:num>
                        <m:sSub>
                          <m:sSubPr>
                            <m:ctrlPr>
                              <a:rPr lang="en-US" altLang="zh-CN" sz="8800" i="1">
                                <a:latin typeface="Cambria Math" panose="02040503050406030204" pitchFamily="18" charset="0"/>
                              </a:rPr>
                            </m:ctrlPr>
                          </m:sSubPr>
                          <m:e>
                            <m:r>
                              <a:rPr lang="en-US" altLang="zh-CN" sz="8800" i="1">
                                <a:latin typeface="Cambria Math" panose="02040503050406030204"/>
                              </a:rPr>
                              <m:t>𝑉</m:t>
                            </m:r>
                          </m:e>
                          <m:sub>
                            <m:r>
                              <a:rPr lang="en-US" altLang="zh-CN" sz="8800" i="1">
                                <a:latin typeface="Cambria Math" panose="02040503050406030204"/>
                              </a:rPr>
                              <m:t>𝑛</m:t>
                            </m:r>
                          </m:sub>
                        </m:sSub>
                      </m:num>
                      <m:den>
                        <m:r>
                          <a:rPr lang="en-US" altLang="zh-CN" sz="8800" i="1">
                            <a:latin typeface="Cambria Math" panose="02040503050406030204"/>
                          </a:rPr>
                          <m:t>(</m:t>
                        </m:r>
                        <m:r>
                          <a:rPr lang="en-US" altLang="zh-CN" sz="8800" i="1">
                            <a:latin typeface="Cambria Math" panose="02040503050406030204"/>
                          </a:rPr>
                          <m:t>1</m:t>
                        </m:r>
                        <m:r>
                          <a:rPr lang="en-US" altLang="zh-CN" sz="8800" i="1">
                            <a:latin typeface="Cambria Math" panose="02040503050406030204"/>
                          </a:rPr>
                          <m:t>+</m:t>
                        </m:r>
                        <m:r>
                          <a:rPr lang="en-US" altLang="zh-CN" sz="8800" i="1">
                            <a:latin typeface="Cambria Math" panose="02040503050406030204"/>
                          </a:rPr>
                          <m:t>𝑖</m:t>
                        </m:r>
                        <m:sSup>
                          <m:sSupPr>
                            <m:ctrlPr>
                              <a:rPr lang="en-US" altLang="zh-CN" sz="8800" i="1">
                                <a:latin typeface="Cambria Math" panose="02040503050406030204" pitchFamily="18" charset="0"/>
                              </a:rPr>
                            </m:ctrlPr>
                          </m:sSupPr>
                          <m:e>
                            <m:r>
                              <a:rPr lang="en-US" altLang="zh-CN" sz="8800" i="1">
                                <a:latin typeface="Cambria Math" panose="02040503050406030204"/>
                              </a:rPr>
                              <m:t>)</m:t>
                            </m:r>
                          </m:e>
                          <m:sup>
                            <m:r>
                              <a:rPr lang="en-US" altLang="zh-CN" sz="8800" i="1">
                                <a:latin typeface="Cambria Math" panose="02040503050406030204"/>
                              </a:rPr>
                              <m:t>𝑛</m:t>
                            </m:r>
                          </m:sup>
                        </m:sSup>
                      </m:den>
                    </m:f>
                  </m:oMath>
                </a14:m>
                <a:endParaRPr lang="zh-CN" altLang="en-US" sz="8800" dirty="0"/>
              </a:p>
            </p:txBody>
          </p:sp>
        </mc:Choice>
        <mc:Fallback>
          <p:sp>
            <p:nvSpPr>
              <p:cNvPr id="4" name="TextBox 2"/>
              <p:cNvSpPr txBox="1">
                <a:spLocks noRot="1" noChangeAspect="1" noMove="1" noResize="1" noEditPoints="1" noAdjustHandles="1" noChangeArrowheads="1" noChangeShapeType="1" noTextEdit="1"/>
              </p:cNvSpPr>
              <p:nvPr>
                <p:ph idx="1"/>
              </p:nvPr>
            </p:nvSpPr>
            <p:spPr>
              <a:xfrm>
                <a:off x="330728" y="1556792"/>
                <a:ext cx="8496944" cy="5689827"/>
              </a:xfrm>
              <a:prstGeom prst="rect">
                <a:avLst/>
              </a:prstGeom>
              <a:blipFill rotWithShape="1">
                <a:blip r:embed="rId1"/>
                <a:stretch>
                  <a:fillRect l="-6" t="-7" r="6" b="-33760"/>
                </a:stretch>
              </a:blipFill>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effectLst>
                  <a:innerShdw blurRad="63500" dist="50800" dir="16200000">
                    <a:prstClr val="black">
                      <a:alpha val="50000"/>
                    </a:prstClr>
                  </a:innerShdw>
                </a:effectLst>
              </a:rPr>
              <a:t>Discount  Factor </a:t>
            </a:r>
            <a:endParaRPr lang="zh-CN" altLang="en-US" dirty="0">
              <a:effectLst>
                <a:innerShdw blurRad="63500" dist="50800" dir="16200000">
                  <a:prstClr val="black">
                    <a:alpha val="50000"/>
                  </a:prstClr>
                </a:innerShdw>
              </a:effectLst>
            </a:endParaRPr>
          </a:p>
        </p:txBody>
      </p:sp>
      <p:sp>
        <p:nvSpPr>
          <p:cNvPr id="3" name="矩形 2"/>
          <p:cNvSpPr/>
          <p:nvPr/>
        </p:nvSpPr>
        <p:spPr>
          <a:xfrm>
            <a:off x="1043608" y="2882138"/>
            <a:ext cx="3386708" cy="7848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500" b="1" i="0" u="none" strike="noStrike" kern="1200" cap="none" spc="0" normalizeH="0" baseline="0" noProof="0" dirty="0">
                <a:ln>
                  <a:noFill/>
                </a:ln>
                <a:solidFill>
                  <a:srgbClr val="9BBB59">
                    <a:lumMod val="75000"/>
                  </a:srgbClr>
                </a:solidFill>
                <a:effectLst>
                  <a:innerShdw blurRad="63500" dist="50800" dir="16200000">
                    <a:prstClr val="black">
                      <a:alpha val="50000"/>
                    </a:prstClr>
                  </a:innerShdw>
                </a:effectLst>
                <a:uLnTx/>
                <a:uFillTx/>
                <a:latin typeface="Arial Rounded MT Bold" panose="020F0704030504030204" pitchFamily="34" charset="0"/>
                <a:ea typeface="隶书" panose="02010509060101010101" pitchFamily="49" charset="-122"/>
                <a:cs typeface="+mn-cs"/>
              </a:rPr>
              <a:t>贴现因子：</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4" name="矩形 3"/>
              <p:cNvSpPr/>
              <p:nvPr/>
            </p:nvSpPr>
            <p:spPr>
              <a:xfrm>
                <a:off x="4275969" y="2780928"/>
                <a:ext cx="1714572" cy="11048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f>
                        <m:fPr>
                          <m:ctrlPr>
                            <a:rPr kumimoji="0" lang="en-US" altLang="zh-CN" sz="3200" b="1" i="1" u="none" strike="noStrike" kern="1200" cap="none" spc="0" normalizeH="0" baseline="0" noProof="0" smtClean="0">
                              <a:ln>
                                <a:noFill/>
                              </a:ln>
                              <a:solidFill>
                                <a:srgbClr val="9BBB59">
                                  <a:lumMod val="75000"/>
                                </a:srgbClr>
                              </a:solidFill>
                              <a:effectLst>
                                <a:innerShdw blurRad="63500" dist="50800" dir="18900000">
                                  <a:prstClr val="black">
                                    <a:alpha val="50000"/>
                                  </a:prstClr>
                                </a:innerShdw>
                              </a:effectLst>
                              <a:uLnTx/>
                              <a:uFillTx/>
                              <a:latin typeface="Cambria Math" panose="02040503050406030204" pitchFamily="18" charset="0"/>
                              <a:cs typeface="+mn-cs"/>
                            </a:rPr>
                          </m:ctrlPr>
                        </m:fPr>
                        <m:num>
                          <m:r>
                            <a:rPr kumimoji="0" lang="en-US" altLang="zh-CN" sz="3200" b="1" i="1" u="none" strike="noStrike" kern="1200" cap="none" spc="0" normalizeH="0" baseline="0" noProof="0" smtClean="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𝟏</m:t>
                          </m:r>
                        </m:num>
                        <m:den>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m:t>
                          </m:r>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𝟏</m:t>
                          </m:r>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m:t>
                          </m:r>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𝒊</m:t>
                          </m:r>
                          <m:sSup>
                            <m:sSupPr>
                              <m:ctrlP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pitchFamily="18" charset="0"/>
                                  <a:cs typeface="+mn-cs"/>
                                </a:rPr>
                              </m:ctrlPr>
                            </m:sSupPr>
                            <m:e>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m:t>
                              </m:r>
                            </m:e>
                            <m:sup>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𝒏</m:t>
                              </m:r>
                            </m:sup>
                          </m:sSup>
                        </m:den>
                      </m:f>
                    </m:oMath>
                  </m:oMathPara>
                </a14:m>
                <a:endParaRPr kumimoji="0" lang="zh-CN" altLang="en-US" sz="3200" b="1" i="0" u="none" strike="noStrike" kern="1200" cap="none" spc="0" normalizeH="0" baseline="0" noProof="0" dirty="0">
                  <a:ln>
                    <a:noFill/>
                  </a:ln>
                  <a:solidFill>
                    <a:srgbClr val="9BBB59">
                      <a:lumMod val="75000"/>
                    </a:srgbClr>
                  </a:solidFill>
                  <a:effectLst>
                    <a:innerShdw blurRad="63500" dist="50800" dir="18900000">
                      <a:prstClr val="black">
                        <a:alpha val="50000"/>
                      </a:prstClr>
                    </a:innerShdw>
                  </a:effectLst>
                  <a:uLnTx/>
                  <a:uFillTx/>
                  <a:latin typeface="Cooper Black" panose="0208090404030B020404" pitchFamily="18" charset="0"/>
                  <a:ea typeface="宋体" panose="02010600030101010101" pitchFamily="2" charset="-122"/>
                  <a:cs typeface="+mn-cs"/>
                </a:endParaRPr>
              </a:p>
            </p:txBody>
          </p:sp>
        </mc:Choice>
        <mc:Fallback>
          <p:sp>
            <p:nvSpPr>
              <p:cNvPr id="4" name="矩形 3"/>
              <p:cNvSpPr>
                <a:spLocks noRot="1" noChangeAspect="1" noMove="1" noResize="1" noEditPoints="1" noAdjustHandles="1" noChangeArrowheads="1" noChangeShapeType="1" noTextEdit="1"/>
              </p:cNvSpPr>
              <p:nvPr/>
            </p:nvSpPr>
            <p:spPr>
              <a:xfrm>
                <a:off x="4275969" y="2780928"/>
                <a:ext cx="1714572" cy="1104854"/>
              </a:xfrm>
              <a:prstGeom prst="rect">
                <a:avLst/>
              </a:prstGeom>
              <a:blipFill rotWithShape="1">
                <a:blip r:embed="rId1"/>
                <a:stretch>
                  <a:fillRect l="-30" t="-24" r="34" b="20"/>
                </a:stretch>
              </a:blipFill>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年利率</a:t>
            </a:r>
            <a:r>
              <a:rPr kumimoji="1" lang="en-US" altLang="zh-CN" dirty="0"/>
              <a:t>5%</a:t>
            </a:r>
            <a:r>
              <a:rPr kumimoji="1" lang="zh-CN" altLang="en-US" dirty="0"/>
              <a:t>，明年想得到</a:t>
            </a:r>
            <a:r>
              <a:rPr kumimoji="1" lang="en-US" altLang="zh-CN" dirty="0"/>
              <a:t>105</a:t>
            </a:r>
            <a:r>
              <a:rPr kumimoji="1" lang="zh-CN" altLang="en-US" dirty="0"/>
              <a:t>元</a:t>
            </a:r>
            <a:endParaRPr kumimoji="1" lang="zh-CN" altLang="en-US" dirty="0"/>
          </a:p>
        </p:txBody>
      </p:sp>
      <p:sp>
        <p:nvSpPr>
          <p:cNvPr id="3" name="内容占位符 2"/>
          <p:cNvSpPr>
            <a:spLocks noGrp="1"/>
          </p:cNvSpPr>
          <p:nvPr>
            <p:ph idx="1"/>
          </p:nvPr>
        </p:nvSpPr>
        <p:spPr>
          <a:xfrm>
            <a:off x="464400" y="1628800"/>
            <a:ext cx="8496944" cy="936104"/>
          </a:xfrm>
        </p:spPr>
        <p:txBody>
          <a:bodyPr/>
          <a:lstStyle/>
          <a:p>
            <a:r>
              <a:rPr kumimoji="1" lang="zh-CN" altLang="en-US"/>
              <a:t>今年应该存入多少钱？</a:t>
            </a:r>
            <a:endParaRPr kumimoji="1" lang="zh-CN" altLang="en-US"/>
          </a:p>
        </p:txBody>
      </p:sp>
      <p:sp>
        <p:nvSpPr>
          <p:cNvPr id="4" name="内容占位符 2"/>
          <p:cNvSpPr txBox="1"/>
          <p:nvPr/>
        </p:nvSpPr>
        <p:spPr>
          <a:xfrm>
            <a:off x="464400" y="2401622"/>
            <a:ext cx="8496944" cy="936104"/>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Tx/>
              <a:buSzTx/>
              <a:buFontTx/>
              <a:buBlip>
                <a:blip r:embed="rId1"/>
              </a:buBlip>
              <a:defRPr/>
            </a:pP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105/(1+5%)=100</a:t>
            </a:r>
            <a:endPar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endParaRPr>
          </a:p>
        </p:txBody>
      </p:sp>
      <p:sp>
        <p:nvSpPr>
          <p:cNvPr id="5" name="内容占位符 2"/>
          <p:cNvSpPr txBox="1"/>
          <p:nvPr/>
        </p:nvSpPr>
        <p:spPr>
          <a:xfrm>
            <a:off x="468379" y="3254521"/>
            <a:ext cx="8496944" cy="936104"/>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Tx/>
              <a:buSzTx/>
              <a:buFontTx/>
              <a:buBlip>
                <a:blip r:embed="rId1"/>
              </a:buBlip>
              <a:defRPr/>
            </a:pP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10</a:t>
            </a:r>
            <a:r>
              <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年后想得到</a:t>
            </a: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5000</a:t>
            </a:r>
            <a:r>
              <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元，今年应该存入多少钱？</a:t>
            </a:r>
            <a:endPar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endParaRPr>
          </a:p>
        </p:txBody>
      </p:sp>
      <p:sp>
        <p:nvSpPr>
          <p:cNvPr id="6" name="内容占位符 2"/>
          <p:cNvSpPr txBox="1"/>
          <p:nvPr/>
        </p:nvSpPr>
        <p:spPr>
          <a:xfrm>
            <a:off x="479631" y="4110548"/>
            <a:ext cx="8496944" cy="936104"/>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Tx/>
              <a:buSzTx/>
              <a:buFontTx/>
              <a:buBlip>
                <a:blip r:embed="rId1"/>
              </a:buBlip>
              <a:defRPr/>
            </a:pP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5000/(1+5)^10=3069.57</a:t>
            </a:r>
            <a:endPar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NPV</a:t>
            </a:r>
            <a:r>
              <a:rPr lang="zh-CN" altLang="en-US" dirty="0"/>
              <a:t>：</a:t>
            </a:r>
            <a:r>
              <a:rPr lang="en-US" altLang="zh-CN" dirty="0"/>
              <a:t>Net Present Value</a:t>
            </a:r>
            <a:endParaRPr lang="zh-CN" altLang="en-US" dirty="0"/>
          </a:p>
        </p:txBody>
      </p:sp>
      <mc:AlternateContent xmlns:mc="http://schemas.openxmlformats.org/markup-compatibility/2006">
        <mc:Choice xmlns:a14="http://schemas.microsoft.com/office/drawing/2010/main" Requires="a14">
          <p:sp>
            <p:nvSpPr>
              <p:cNvPr id="6" name="TextBox 5"/>
              <p:cNvSpPr txBox="1"/>
              <p:nvPr/>
            </p:nvSpPr>
            <p:spPr>
              <a:xfrm>
                <a:off x="554230" y="2348880"/>
                <a:ext cx="8208912" cy="26155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𝑉</m:t>
                      </m:r>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m:t>
                      </m:r>
                      <m:f>
                        <m:fPr>
                          <m:ctrlPr>
                            <a:rPr kumimoji="0" lang="en-US" altLang="zh-CN" sz="8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sSub>
                            <m:sSubPr>
                              <m:ctrlPr>
                                <a:rPr kumimoji="0" lang="en-US" altLang="zh-CN" sz="8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𝑉</m:t>
                              </m:r>
                            </m:e>
                            <m:sub>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𝑛</m:t>
                              </m:r>
                            </m:sub>
                          </m:sSub>
                        </m:num>
                        <m:den>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1</m:t>
                          </m:r>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𝑖</m:t>
                          </m:r>
                          <m:sSup>
                            <m:sSupPr>
                              <m:ctrlPr>
                                <a:rPr kumimoji="0" lang="en-US" altLang="zh-CN" sz="80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m:t>
                              </m:r>
                            </m:e>
                            <m:sup>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𝑛</m:t>
                              </m:r>
                            </m:sup>
                          </m:sSup>
                        </m:den>
                      </m:f>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m:t>
                      </m:r>
                      <m:sSub>
                        <m:sSubPr>
                          <m:ctrlPr>
                            <a:rPr kumimoji="0" lang="en-US" altLang="zh-CN" sz="8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𝐶</m:t>
                          </m:r>
                        </m:e>
                        <m:sub>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𝑝</m:t>
                          </m:r>
                        </m:sub>
                      </m:sSub>
                    </m:oMath>
                  </m:oMathPara>
                </a14:m>
                <a:endParaRPr kumimoji="0" lang="zh-CN" altLang="en-US" sz="8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Choice>
        <mc:Fallback>
          <p:sp>
            <p:nvSpPr>
              <p:cNvPr id="6" name="TextBox 5"/>
              <p:cNvSpPr txBox="1">
                <a:spLocks noRot="1" noChangeAspect="1" noMove="1" noResize="1" noEditPoints="1" noAdjustHandles="1" noChangeArrowheads="1" noChangeShapeType="1" noTextEdit="1"/>
              </p:cNvSpPr>
              <p:nvPr/>
            </p:nvSpPr>
            <p:spPr>
              <a:xfrm>
                <a:off x="554230" y="2348880"/>
                <a:ext cx="8208912" cy="2615524"/>
              </a:xfrm>
              <a:prstGeom prst="rect">
                <a:avLst/>
              </a:prstGeom>
              <a:blipFill rotWithShape="1">
                <a:blip r:embed="rId1"/>
                <a:stretch>
                  <a:fillRect l="-6" t="-1" r="2" b="23"/>
                </a:stretch>
              </a:blipFill>
            </p:spPr>
            <p:txBody>
              <a:bodyPr/>
              <a:lstStyle/>
              <a:p>
                <a:r>
                  <a:rPr lang="zh-CN" altLang="en-US">
                    <a:noFill/>
                  </a:rPr>
                  <a:t> </a:t>
                </a:r>
              </a:p>
            </p:txBody>
          </p:sp>
        </mc:Fallback>
      </mc:AlternateContent>
      <p:sp>
        <p:nvSpPr>
          <p:cNvPr id="7" name="TextBox 6"/>
          <p:cNvSpPr txBox="1"/>
          <p:nvPr/>
        </p:nvSpPr>
        <p:spPr>
          <a:xfrm>
            <a:off x="3203848" y="5560974"/>
            <a:ext cx="2557110" cy="461665"/>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n</a:t>
            </a:r>
            <a:r>
              <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年后收益的现值</a:t>
            </a:r>
            <a:endPar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endParaRPr>
          </a:p>
        </p:txBody>
      </p:sp>
      <p:sp>
        <p:nvSpPr>
          <p:cNvPr id="8" name="TextBox 7"/>
          <p:cNvSpPr txBox="1"/>
          <p:nvPr/>
        </p:nvSpPr>
        <p:spPr>
          <a:xfrm>
            <a:off x="7164288" y="5556697"/>
            <a:ext cx="1447832" cy="461665"/>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初始成本</a:t>
            </a:r>
            <a:endPar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endParaRPr>
          </a:p>
        </p:txBody>
      </p:sp>
      <p:sp>
        <p:nvSpPr>
          <p:cNvPr id="9" name="下箭头 8"/>
          <p:cNvSpPr/>
          <p:nvPr/>
        </p:nvSpPr>
        <p:spPr>
          <a:xfrm rot="10800000">
            <a:off x="4427984" y="4869160"/>
            <a:ext cx="360040" cy="687537"/>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下箭头 9"/>
          <p:cNvSpPr/>
          <p:nvPr/>
        </p:nvSpPr>
        <p:spPr>
          <a:xfrm rot="10800000">
            <a:off x="7708184" y="4873437"/>
            <a:ext cx="360040" cy="687537"/>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11" name="图片 10">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211586" flipV="1">
            <a:off x="325947" y="4643163"/>
            <a:ext cx="1219200" cy="128527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课堂练习一</a:t>
            </a:r>
            <a:endParaRPr lang="zh-CN" altLang="en-US" dirty="0"/>
          </a:p>
        </p:txBody>
      </p:sp>
      <p:sp>
        <p:nvSpPr>
          <p:cNvPr id="3" name="内容占位符 2"/>
          <p:cNvSpPr>
            <a:spLocks noGrp="1"/>
          </p:cNvSpPr>
          <p:nvPr>
            <p:ph idx="1"/>
          </p:nvPr>
        </p:nvSpPr>
        <p:spPr>
          <a:xfrm>
            <a:off x="323528" y="1772816"/>
            <a:ext cx="8496944" cy="2592288"/>
          </a:xfrm>
        </p:spPr>
        <p:txBody>
          <a:bodyPr>
            <a:normAutofit fontScale="62500" lnSpcReduction="20000"/>
          </a:bodyPr>
          <a:lstStyle/>
          <a:p>
            <a:r>
              <a:rPr lang="zh-CN" altLang="en-US" dirty="0"/>
              <a:t>造林成本是</a:t>
            </a:r>
            <a:r>
              <a:rPr lang="en-US" altLang="zh-CN" dirty="0"/>
              <a:t>1000</a:t>
            </a:r>
            <a:r>
              <a:rPr lang="zh-CN" altLang="en-US" dirty="0"/>
              <a:t>元，在生长了</a:t>
            </a:r>
            <a:r>
              <a:rPr lang="en-US" altLang="zh-CN" dirty="0"/>
              <a:t>40</a:t>
            </a:r>
            <a:r>
              <a:rPr lang="zh-CN" altLang="en-US" dirty="0"/>
              <a:t>年后进行采伐，可获得收入</a:t>
            </a:r>
            <a:r>
              <a:rPr lang="en-US" altLang="zh-CN" dirty="0"/>
              <a:t>10</a:t>
            </a:r>
            <a:r>
              <a:rPr lang="zh-CN" altLang="en-US" dirty="0"/>
              <a:t>万元，贴现率为</a:t>
            </a:r>
            <a:r>
              <a:rPr lang="en-US" altLang="zh-CN" dirty="0"/>
              <a:t>6%</a:t>
            </a:r>
            <a:endParaRPr lang="en-US" altLang="zh-CN" dirty="0"/>
          </a:p>
          <a:p>
            <a:r>
              <a:rPr lang="zh-CN" altLang="en-US" dirty="0"/>
              <a:t>求投资的净现值大小：</a:t>
            </a:r>
            <a:endParaRPr lang="en-US" altLang="zh-CN" dirty="0"/>
          </a:p>
          <a:p>
            <a:r>
              <a:rPr lang="en-US" altLang="en-US" dirty="0"/>
              <a:t>If</a:t>
            </a:r>
            <a:r>
              <a:rPr lang="en-US" altLang="en-US" dirty="0"/>
              <a:t> </a:t>
            </a:r>
            <a:r>
              <a:rPr lang="en-US" altLang="en-US" dirty="0"/>
              <a:t>the</a:t>
            </a:r>
            <a:r>
              <a:rPr lang="en-US" altLang="en-US" dirty="0"/>
              <a:t> </a:t>
            </a:r>
            <a:r>
              <a:rPr lang="en-US" altLang="en-US" dirty="0"/>
              <a:t>planting</a:t>
            </a:r>
            <a:r>
              <a:rPr lang="en-US" altLang="en-US" dirty="0"/>
              <a:t> </a:t>
            </a:r>
            <a:r>
              <a:rPr lang="en-US" altLang="en-US" dirty="0"/>
              <a:t>cost(C</a:t>
            </a:r>
            <a:r>
              <a:rPr lang="en-US" altLang="en-US" baseline="-25000" dirty="0"/>
              <a:t>p</a:t>
            </a:r>
            <a:r>
              <a:rPr lang="en-US" altLang="en-US" dirty="0"/>
              <a:t>)</a:t>
            </a:r>
            <a:r>
              <a:rPr lang="en-US" altLang="en-US" dirty="0"/>
              <a:t> </a:t>
            </a:r>
            <a:r>
              <a:rPr lang="en-US" altLang="en-US" dirty="0"/>
              <a:t>is</a:t>
            </a:r>
            <a:r>
              <a:rPr lang="en-US" altLang="en-US" dirty="0"/>
              <a:t> </a:t>
            </a:r>
            <a:r>
              <a:rPr lang="en-US" altLang="en-US" dirty="0"/>
              <a:t>¥1,000,</a:t>
            </a:r>
            <a:r>
              <a:rPr lang="en-US" altLang="en-US" dirty="0"/>
              <a:t> </a:t>
            </a:r>
            <a:r>
              <a:rPr lang="en-US" altLang="en-US" dirty="0"/>
              <a:t>the</a:t>
            </a:r>
            <a:r>
              <a:rPr lang="en-US" altLang="en-US" dirty="0"/>
              <a:t> </a:t>
            </a:r>
            <a:r>
              <a:rPr lang="en-US" altLang="en-US" dirty="0"/>
              <a:t>growth</a:t>
            </a:r>
            <a:r>
              <a:rPr lang="en-US" altLang="en-US" dirty="0"/>
              <a:t> </a:t>
            </a:r>
            <a:r>
              <a:rPr lang="en-US" altLang="en-US" dirty="0"/>
              <a:t>period(n)</a:t>
            </a:r>
            <a:r>
              <a:rPr lang="en-US" altLang="en-US" dirty="0"/>
              <a:t> </a:t>
            </a:r>
            <a:r>
              <a:rPr lang="en-US" altLang="en-US" dirty="0"/>
              <a:t>40</a:t>
            </a:r>
            <a:r>
              <a:rPr lang="en-US" altLang="en-US" dirty="0"/>
              <a:t> </a:t>
            </a:r>
            <a:r>
              <a:rPr lang="en-US" altLang="en-US" dirty="0"/>
              <a:t>years,</a:t>
            </a:r>
            <a:r>
              <a:rPr lang="en-US" altLang="en-US" dirty="0"/>
              <a:t> </a:t>
            </a:r>
            <a:r>
              <a:rPr lang="en-US" altLang="en-US" dirty="0"/>
              <a:t>the</a:t>
            </a:r>
            <a:r>
              <a:rPr lang="en-US" altLang="en-US" dirty="0"/>
              <a:t> </a:t>
            </a:r>
            <a:r>
              <a:rPr lang="en-US" altLang="en-US" dirty="0"/>
              <a:t>value</a:t>
            </a:r>
            <a:r>
              <a:rPr lang="en-US" altLang="en-US" dirty="0"/>
              <a:t> </a:t>
            </a:r>
            <a:r>
              <a:rPr lang="en-US" altLang="en-US" dirty="0"/>
              <a:t>of</a:t>
            </a:r>
            <a:r>
              <a:rPr lang="en-US" altLang="en-US" dirty="0"/>
              <a:t> </a:t>
            </a:r>
            <a:r>
              <a:rPr lang="en-US" altLang="en-US" dirty="0"/>
              <a:t>the</a:t>
            </a:r>
            <a:r>
              <a:rPr lang="en-US" altLang="en-US" dirty="0"/>
              <a:t> </a:t>
            </a:r>
            <a:r>
              <a:rPr lang="en-US" altLang="en-US" dirty="0"/>
              <a:t>harvest(V</a:t>
            </a:r>
            <a:r>
              <a:rPr lang="en-US" altLang="en-US" baseline="-25000" dirty="0"/>
              <a:t>n</a:t>
            </a:r>
            <a:r>
              <a:rPr lang="en-US" altLang="en-US" dirty="0"/>
              <a:t>)</a:t>
            </a:r>
            <a:r>
              <a:rPr lang="en-US" altLang="en-US" dirty="0"/>
              <a:t> </a:t>
            </a:r>
            <a:r>
              <a:rPr lang="en-US" altLang="en-US" dirty="0"/>
              <a:t>¥100,000,</a:t>
            </a:r>
            <a:r>
              <a:rPr lang="en-US" altLang="en-US" dirty="0"/>
              <a:t> </a:t>
            </a:r>
            <a:r>
              <a:rPr lang="en-US" altLang="en-US" dirty="0"/>
              <a:t>and</a:t>
            </a:r>
            <a:r>
              <a:rPr lang="en-US" altLang="en-US" dirty="0"/>
              <a:t> </a:t>
            </a:r>
            <a:r>
              <a:rPr lang="en-US" altLang="en-US" dirty="0"/>
              <a:t>the</a:t>
            </a:r>
            <a:r>
              <a:rPr lang="en-US" altLang="en-US" dirty="0"/>
              <a:t> </a:t>
            </a:r>
            <a:r>
              <a:rPr lang="en-US" altLang="en-US" dirty="0">
                <a:solidFill>
                  <a:schemeClr val="accent6">
                    <a:lumMod val="50000"/>
                  </a:schemeClr>
                </a:solidFill>
              </a:rPr>
              <a:t>discount</a:t>
            </a:r>
            <a:r>
              <a:rPr lang="en-US" altLang="en-US" dirty="0">
                <a:solidFill>
                  <a:schemeClr val="accent6">
                    <a:lumMod val="50000"/>
                  </a:schemeClr>
                </a:solidFill>
              </a:rPr>
              <a:t> </a:t>
            </a:r>
            <a:r>
              <a:rPr lang="en-US" altLang="en-US" dirty="0">
                <a:solidFill>
                  <a:schemeClr val="accent6">
                    <a:lumMod val="50000"/>
                  </a:schemeClr>
                </a:solidFill>
              </a:rPr>
              <a:t>rate</a:t>
            </a:r>
            <a:r>
              <a:rPr lang="en-US" altLang="en-US" dirty="0">
                <a:solidFill>
                  <a:schemeClr val="accent6">
                    <a:lumMod val="50000"/>
                  </a:schemeClr>
                </a:solidFill>
              </a:rPr>
              <a:t> </a:t>
            </a:r>
            <a:r>
              <a:rPr lang="en-US" altLang="en-US" dirty="0"/>
              <a:t>(i)</a:t>
            </a:r>
            <a:r>
              <a:rPr lang="en-US" altLang="en-US" dirty="0"/>
              <a:t> </a:t>
            </a:r>
            <a:r>
              <a:rPr lang="en-US" altLang="en-US" dirty="0"/>
              <a:t>6%,</a:t>
            </a:r>
            <a:r>
              <a:rPr lang="en-US" altLang="en-US" dirty="0"/>
              <a:t> </a:t>
            </a:r>
            <a:r>
              <a:rPr lang="en-US" altLang="en-US" dirty="0"/>
              <a:t>then</a:t>
            </a:r>
            <a:r>
              <a:rPr lang="en-US" altLang="en-US" dirty="0"/>
              <a:t> </a:t>
            </a:r>
            <a:r>
              <a:rPr lang="en-US" altLang="en-US" dirty="0"/>
              <a:t>the</a:t>
            </a:r>
            <a:r>
              <a:rPr lang="en-US" altLang="en-US" dirty="0"/>
              <a:t> </a:t>
            </a:r>
            <a:r>
              <a:rPr lang="en-US" altLang="en-US" dirty="0">
                <a:solidFill>
                  <a:schemeClr val="accent6">
                    <a:lumMod val="50000"/>
                  </a:schemeClr>
                </a:solidFill>
              </a:rPr>
              <a:t>net</a:t>
            </a:r>
            <a:r>
              <a:rPr lang="en-US" altLang="en-US" dirty="0">
                <a:solidFill>
                  <a:schemeClr val="accent6">
                    <a:lumMod val="50000"/>
                  </a:schemeClr>
                </a:solidFill>
              </a:rPr>
              <a:t> </a:t>
            </a:r>
            <a:r>
              <a:rPr lang="en-US" altLang="en-US" dirty="0">
                <a:solidFill>
                  <a:schemeClr val="accent6">
                    <a:lumMod val="50000"/>
                  </a:schemeClr>
                </a:solidFill>
              </a:rPr>
              <a:t>present</a:t>
            </a:r>
            <a:r>
              <a:rPr lang="en-US" altLang="en-US" dirty="0">
                <a:solidFill>
                  <a:schemeClr val="accent6">
                    <a:lumMod val="50000"/>
                  </a:schemeClr>
                </a:solidFill>
              </a:rPr>
              <a:t> </a:t>
            </a:r>
            <a:r>
              <a:rPr lang="en-US" altLang="en-US" dirty="0">
                <a:solidFill>
                  <a:schemeClr val="accent6">
                    <a:lumMod val="50000"/>
                  </a:schemeClr>
                </a:solidFill>
              </a:rPr>
              <a:t>value</a:t>
            </a:r>
            <a:r>
              <a:rPr lang="en-US" altLang="en-US" dirty="0">
                <a:solidFill>
                  <a:schemeClr val="accent6">
                    <a:lumMod val="50000"/>
                  </a:schemeClr>
                </a:solidFill>
              </a:rPr>
              <a:t> </a:t>
            </a:r>
            <a:r>
              <a:rPr lang="en-US" altLang="en-US" dirty="0"/>
              <a:t>of</a:t>
            </a:r>
            <a:r>
              <a:rPr lang="en-US" altLang="en-US" dirty="0"/>
              <a:t> </a:t>
            </a:r>
            <a:r>
              <a:rPr lang="en-US" altLang="en-US" dirty="0"/>
              <a:t>the</a:t>
            </a:r>
            <a:r>
              <a:rPr lang="en-US" altLang="en-US" dirty="0"/>
              <a:t> </a:t>
            </a:r>
            <a:r>
              <a:rPr lang="en-US" altLang="en-US" dirty="0"/>
              <a:t>venture</a:t>
            </a:r>
            <a:r>
              <a:rPr lang="en-US" altLang="en-US" dirty="0"/>
              <a:t> </a:t>
            </a:r>
            <a:r>
              <a:rPr lang="en-US" altLang="en-US" dirty="0"/>
              <a:t>is:</a:t>
            </a:r>
            <a:endParaRPr lang="en-US" altLang="zh-CN" dirty="0"/>
          </a:p>
          <a:p>
            <a:endParaRPr lang="zh-CN" altLang="en-US" dirty="0"/>
          </a:p>
        </p:txBody>
      </p:sp>
      <p:graphicFrame>
        <p:nvGraphicFramePr>
          <p:cNvPr id="6" name="对象 5"/>
          <p:cNvGraphicFramePr>
            <a:graphicFrameLocks noChangeAspect="1"/>
          </p:cNvGraphicFramePr>
          <p:nvPr/>
        </p:nvGraphicFramePr>
        <p:xfrm>
          <a:off x="1835695" y="4437112"/>
          <a:ext cx="6317065" cy="1080120"/>
        </p:xfrm>
        <a:graphic>
          <a:graphicData uri="http://schemas.openxmlformats.org/presentationml/2006/ole">
            <mc:AlternateContent xmlns:mc="http://schemas.openxmlformats.org/markup-compatibility/2006">
              <mc:Choice xmlns:v="urn:schemas-microsoft-com:vml" Requires="v">
                <p:oleObj spid="_x0000_s16414" name="公式" r:id="rId1" imgW="58826400" imgH="10058400" progId="Equation.3">
                  <p:embed/>
                </p:oleObj>
              </mc:Choice>
              <mc:Fallback>
                <p:oleObj name="公式" r:id="rId1" imgW="58826400" imgH="10058400" progId="Equation.3">
                  <p:embed/>
                  <p:pic>
                    <p:nvPicPr>
                      <p:cNvPr id="0" name="对象 5"/>
                      <p:cNvPicPr/>
                      <p:nvPr/>
                    </p:nvPicPr>
                    <p:blipFill>
                      <a:blip r:embed="rId2"/>
                      <a:stretch>
                        <a:fillRect/>
                      </a:stretch>
                    </p:blipFill>
                    <p:spPr>
                      <a:xfrm>
                        <a:off x="1835695" y="4437112"/>
                        <a:ext cx="6317065" cy="108012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sz="3600" dirty="0"/>
              <a:t>如果每年投入</a:t>
            </a:r>
            <a:r>
              <a:rPr kumimoji="1" lang="en-US" altLang="zh-CN" sz="3600" dirty="0"/>
              <a:t>1</a:t>
            </a:r>
            <a:r>
              <a:rPr kumimoji="1" lang="zh-CN" altLang="en-US" sz="3600" dirty="0"/>
              <a:t>万元，年利率</a:t>
            </a:r>
            <a:r>
              <a:rPr kumimoji="1" lang="en-US" altLang="zh-CN" sz="3600" dirty="0"/>
              <a:t>5%</a:t>
            </a:r>
            <a:endParaRPr kumimoji="1" lang="zh-CN" altLang="en-US" sz="3600" dirty="0"/>
          </a:p>
        </p:txBody>
      </p:sp>
      <p:cxnSp>
        <p:nvCxnSpPr>
          <p:cNvPr id="8" name="直线箭头连接符 7"/>
          <p:cNvCxnSpPr/>
          <p:nvPr/>
        </p:nvCxnSpPr>
        <p:spPr>
          <a:xfrm>
            <a:off x="971600" y="4077072"/>
            <a:ext cx="76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线箭头连接符 9"/>
          <p:cNvCxnSpPr/>
          <p:nvPr/>
        </p:nvCxnSpPr>
        <p:spPr>
          <a:xfrm flipV="1">
            <a:off x="971600"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827583" y="4005064"/>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4" name="矩形 13"/>
          <p:cNvSpPr/>
          <p:nvPr/>
        </p:nvSpPr>
        <p:spPr>
          <a:xfrm>
            <a:off x="8540753" y="3896534"/>
            <a:ext cx="30649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n</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5" name="文本框 14"/>
          <p:cNvSpPr txBox="1"/>
          <p:nvPr/>
        </p:nvSpPr>
        <p:spPr>
          <a:xfrm>
            <a:off x="464400" y="4320325"/>
            <a:ext cx="10081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期初投入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7" name="直线箭头连接符 16"/>
          <p:cNvCxnSpPr/>
          <p:nvPr/>
        </p:nvCxnSpPr>
        <p:spPr>
          <a:xfrm flipV="1">
            <a:off x="203692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948809" y="74358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9" name="文本框 18"/>
          <p:cNvSpPr txBox="1"/>
          <p:nvPr/>
        </p:nvSpPr>
        <p:spPr>
          <a:xfrm>
            <a:off x="1620990" y="4366845"/>
            <a:ext cx="10081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再投入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0" name="文本框 39"/>
          <p:cNvSpPr txBox="1"/>
          <p:nvPr/>
        </p:nvSpPr>
        <p:spPr>
          <a:xfrm>
            <a:off x="1620990" y="4966656"/>
            <a:ext cx="1008112"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期初投入的</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万元变为</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1.05</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1" name="文本框 40"/>
          <p:cNvSpPr txBox="1"/>
          <p:nvPr/>
        </p:nvSpPr>
        <p:spPr>
          <a:xfrm>
            <a:off x="1917057" y="40050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2" name="文本框 41"/>
          <p:cNvSpPr txBox="1"/>
          <p:nvPr/>
        </p:nvSpPr>
        <p:spPr>
          <a:xfrm>
            <a:off x="3298673" y="3391150"/>
            <a:ext cx="297870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(1+5%)^n+……+1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43" name="直线箭头连接符 42"/>
          <p:cNvCxnSpPr/>
          <p:nvPr/>
        </p:nvCxnSpPr>
        <p:spPr>
          <a:xfrm flipV="1">
            <a:off x="860444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标题 1"/>
          <p:cNvSpPr txBox="1"/>
          <p:nvPr/>
        </p:nvSpPr>
        <p:spPr>
          <a:xfrm>
            <a:off x="617647" y="1718084"/>
            <a:ext cx="8229600" cy="1143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到第</a:t>
            </a:r>
            <a:r>
              <a:rPr kumimoji="1" lang="en-US"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n</a:t>
            </a:r>
            <a:r>
              <a:rPr kumimoji="1" lang="en-US"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年的总收益是多少</a:t>
            </a:r>
            <a:r>
              <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a:t>
            </a:r>
            <a:endPar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25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5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250"/>
                                        <p:tgtEl>
                                          <p:spTgt spid="1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25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1.38778E-17 0.00023 L 0.11649 -0.09445 " pathEditMode="relative" rAng="0" ptsTypes="AA">
                                      <p:cBhvr>
                                        <p:cTn id="24" dur="2000" fill="hold"/>
                                        <p:tgtEl>
                                          <p:spTgt spid="10"/>
                                        </p:tgtEl>
                                        <p:attrNameLst>
                                          <p:attrName>ppt_x</p:attrName>
                                          <p:attrName>ppt_y</p:attrName>
                                        </p:attrNameLst>
                                      </p:cBhvr>
                                      <p:rCtr x="5816" y="-4745"/>
                                    </p:animMotion>
                                  </p:childTnLst>
                                </p:cTn>
                              </p:par>
                              <p:par>
                                <p:cTn id="25" presetID="6" presetClass="emph" presetSubtype="0" fill="hold" nodeType="withEffect">
                                  <p:stCondLst>
                                    <p:cond delay="0"/>
                                  </p:stCondLst>
                                  <p:childTnLst>
                                    <p:animScale>
                                      <p:cBhvr>
                                        <p:cTn id="26" dur="2000" fill="hold"/>
                                        <p:tgtEl>
                                          <p:spTgt spid="10"/>
                                        </p:tgtEl>
                                      </p:cBhvr>
                                      <p:by x="100000" y="125000"/>
                                    </p:animScale>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250"/>
                                        <p:tgtEl>
                                          <p:spTgt spid="4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left)">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wipe(down)">
                                      <p:cBhvr>
                                        <p:cTn id="40"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40" grpId="0"/>
      <p:bldP spid="4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sz="3600" dirty="0"/>
              <a:t>如果每年收入</a:t>
            </a:r>
            <a:r>
              <a:rPr kumimoji="1" lang="en-US" altLang="zh-CN" sz="3600" dirty="0"/>
              <a:t>1</a:t>
            </a:r>
            <a:r>
              <a:rPr kumimoji="1" lang="zh-CN" altLang="en-US" sz="3600" dirty="0"/>
              <a:t>万元，年利率</a:t>
            </a:r>
            <a:r>
              <a:rPr kumimoji="1" lang="en-US" altLang="zh-CN" sz="3600" dirty="0"/>
              <a:t>5%</a:t>
            </a:r>
            <a:endParaRPr kumimoji="1" lang="zh-CN" altLang="en-US" sz="3600" dirty="0"/>
          </a:p>
        </p:txBody>
      </p:sp>
      <p:cxnSp>
        <p:nvCxnSpPr>
          <p:cNvPr id="8" name="直线箭头连接符 7"/>
          <p:cNvCxnSpPr/>
          <p:nvPr/>
        </p:nvCxnSpPr>
        <p:spPr>
          <a:xfrm>
            <a:off x="971600" y="4077072"/>
            <a:ext cx="76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827583" y="4005064"/>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4" name="矩形 13"/>
          <p:cNvSpPr/>
          <p:nvPr/>
        </p:nvSpPr>
        <p:spPr>
          <a:xfrm>
            <a:off x="8540753" y="3896534"/>
            <a:ext cx="30649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n</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7" name="直线箭头连接符 16"/>
          <p:cNvCxnSpPr/>
          <p:nvPr/>
        </p:nvCxnSpPr>
        <p:spPr>
          <a:xfrm flipV="1">
            <a:off x="203692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948809" y="74358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9" name="文本框 18"/>
          <p:cNvSpPr txBox="1"/>
          <p:nvPr/>
        </p:nvSpPr>
        <p:spPr>
          <a:xfrm>
            <a:off x="1620990"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第一年收入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1" name="文本框 40"/>
          <p:cNvSpPr txBox="1"/>
          <p:nvPr/>
        </p:nvSpPr>
        <p:spPr>
          <a:xfrm>
            <a:off x="1917057" y="40050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2" name="文本框 41"/>
          <p:cNvSpPr txBox="1"/>
          <p:nvPr/>
        </p:nvSpPr>
        <p:spPr>
          <a:xfrm>
            <a:off x="3847675" y="3432805"/>
            <a:ext cx="39052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1/(1+5%)^n+……+1/(</a:t>
            </a: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1+5%)^2+1/(1+5%)</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43" name="直线箭头连接符 42"/>
          <p:cNvCxnSpPr/>
          <p:nvPr/>
        </p:nvCxnSpPr>
        <p:spPr>
          <a:xfrm flipV="1">
            <a:off x="971600" y="3575816"/>
            <a:ext cx="0" cy="501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标题 1"/>
          <p:cNvSpPr txBox="1"/>
          <p:nvPr/>
        </p:nvSpPr>
        <p:spPr>
          <a:xfrm>
            <a:off x="617647" y="1718084"/>
            <a:ext cx="8229600" cy="1143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这些钱相当于期初一次投入多少呢？</a:t>
            </a:r>
            <a:endPar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endParaRPr>
          </a:p>
        </p:txBody>
      </p:sp>
      <p:sp>
        <p:nvSpPr>
          <p:cNvPr id="20" name="文本框 19"/>
          <p:cNvSpPr txBox="1"/>
          <p:nvPr/>
        </p:nvSpPr>
        <p:spPr>
          <a:xfrm>
            <a:off x="498869"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endPar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21" name="直线箭头连接符 20"/>
          <p:cNvCxnSpPr/>
          <p:nvPr/>
        </p:nvCxnSpPr>
        <p:spPr>
          <a:xfrm flipV="1">
            <a:off x="3059832"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650435"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第二年收入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5" name="文本框 24"/>
          <p:cNvSpPr txBox="1"/>
          <p:nvPr/>
        </p:nvSpPr>
        <p:spPr>
          <a:xfrm>
            <a:off x="2936133" y="4004998"/>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6" name="文本框 25"/>
          <p:cNvSpPr txBox="1"/>
          <p:nvPr/>
        </p:nvSpPr>
        <p:spPr>
          <a:xfrm>
            <a:off x="334511" y="5117124"/>
            <a:ext cx="133682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1/(1+5%)^2</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27" name="直线箭头连接符 26"/>
          <p:cNvCxnSpPr/>
          <p:nvPr/>
        </p:nvCxnSpPr>
        <p:spPr>
          <a:xfrm flipV="1">
            <a:off x="8589386"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8036697" y="4143951"/>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n</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年中每年收入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29" name="直线箭头连接符 28"/>
          <p:cNvCxnSpPr/>
          <p:nvPr/>
        </p:nvCxnSpPr>
        <p:spPr>
          <a:xfrm flipH="1" flipV="1">
            <a:off x="963215" y="3766491"/>
            <a:ext cx="8384" cy="332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25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25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ipe(down)">
                                      <p:cBhvr>
                                        <p:cTn id="16" dur="250"/>
                                        <p:tgtEl>
                                          <p:spTgt spid="43"/>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25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down)">
                                      <p:cBhvr>
                                        <p:cTn id="25" dur="250"/>
                                        <p:tgtEl>
                                          <p:spTgt spid="21"/>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25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7"/>
                                        </p:tgtEl>
                                      </p:cBhvr>
                                    </p:animEffect>
                                    <p:set>
                                      <p:cBhvr>
                                        <p:cTn id="34" dur="1" fill="hold">
                                          <p:stCondLst>
                                            <p:cond delay="499"/>
                                          </p:stCondLst>
                                        </p:cTn>
                                        <p:tgtEl>
                                          <p:spTgt spid="1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down)">
                                      <p:cBhvr>
                                        <p:cTn id="39" dur="250"/>
                                        <p:tgtEl>
                                          <p:spTgt spid="29"/>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25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down)">
                                      <p:cBhvr>
                                        <p:cTn id="48" dur="25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wipe(left)">
                                      <p:cBhvr>
                                        <p:cTn id="53" dur="500"/>
                                        <p:tgtEl>
                                          <p:spTgt spid="42"/>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250"/>
                                        <p:tgtEl>
                                          <p:spTgt spid="28"/>
                                        </p:tgtEl>
                                      </p:cBhvr>
                                    </p:animEffect>
                                  </p:childTnLst>
                                </p:cTn>
                              </p:par>
                              <p:par>
                                <p:cTn id="58" presetID="10" presetClass="exit" presetSubtype="0" fill="hold" nodeType="withEffect">
                                  <p:stCondLst>
                                    <p:cond delay="0"/>
                                  </p:stCondLst>
                                  <p:childTnLst>
                                    <p:animEffect transition="out" filter="fade">
                                      <p:cBhvr>
                                        <p:cTn id="59" dur="500"/>
                                        <p:tgtEl>
                                          <p:spTgt spid="21"/>
                                        </p:tgtEl>
                                      </p:cBhvr>
                                    </p:animEffect>
                                    <p:set>
                                      <p:cBhvr>
                                        <p:cTn id="60"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2" grpId="0"/>
      <p:bldP spid="20" grpId="0"/>
      <p:bldP spid="22" grpId="0"/>
      <p:bldP spid="26" grpId="0"/>
      <p:bldP spid="2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PVA : Present Value of a Finite Annuity</a:t>
            </a:r>
            <a:r>
              <a:rPr lang="zh-CN" altLang="en-US" dirty="0"/>
              <a:t>有限年金求现值</a:t>
            </a:r>
            <a:endParaRPr lang="zh-CN" altLang="en-US" dirty="0"/>
          </a:p>
        </p:txBody>
      </p:sp>
      <p:graphicFrame>
        <p:nvGraphicFramePr>
          <p:cNvPr id="4" name="对象 3"/>
          <p:cNvGraphicFramePr>
            <a:graphicFrameLocks noChangeAspect="1"/>
          </p:cNvGraphicFramePr>
          <p:nvPr/>
        </p:nvGraphicFramePr>
        <p:xfrm>
          <a:off x="395536" y="1916832"/>
          <a:ext cx="8285153" cy="1289670"/>
        </p:xfrm>
        <a:graphic>
          <a:graphicData uri="http://schemas.openxmlformats.org/presentationml/2006/ole">
            <mc:AlternateContent xmlns:mc="http://schemas.openxmlformats.org/markup-compatibility/2006">
              <mc:Choice xmlns:v="urn:schemas-microsoft-com:vml" Requires="v">
                <p:oleObj spid="_x0000_s17465" name="公式" r:id="rId1" imgW="64617600" imgH="10058400" progId="Equation.3">
                  <p:embed/>
                </p:oleObj>
              </mc:Choice>
              <mc:Fallback>
                <p:oleObj name="公式" r:id="rId1" imgW="64617600" imgH="10058400" progId="Equation.3">
                  <p:embed/>
                  <p:pic>
                    <p:nvPicPr>
                      <p:cNvPr id="0" name="对象 3"/>
                      <p:cNvPicPr/>
                      <p:nvPr/>
                    </p:nvPicPr>
                    <p:blipFill>
                      <a:blip r:embed="rId2"/>
                      <a:stretch>
                        <a:fillRect/>
                      </a:stretch>
                    </p:blipFill>
                    <p:spPr>
                      <a:xfrm>
                        <a:off x="395536" y="1916832"/>
                        <a:ext cx="8285153" cy="128967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67764" y="4005064"/>
          <a:ext cx="8431482" cy="1008112"/>
        </p:xfrm>
        <a:graphic>
          <a:graphicData uri="http://schemas.openxmlformats.org/presentationml/2006/ole">
            <mc:AlternateContent xmlns:mc="http://schemas.openxmlformats.org/markup-compatibility/2006">
              <mc:Choice xmlns:v="urn:schemas-microsoft-com:vml" Requires="v">
                <p:oleObj spid="_x0000_s17466" name="公式" r:id="rId3" imgW="84124800" imgH="10058400" progId="Equation.3">
                  <p:embed/>
                </p:oleObj>
              </mc:Choice>
              <mc:Fallback>
                <p:oleObj name="公式" r:id="rId3" imgW="84124800" imgH="10058400" progId="Equation.3">
                  <p:embed/>
                  <p:pic>
                    <p:nvPicPr>
                      <p:cNvPr id="0" name="对象 4"/>
                      <p:cNvPicPr/>
                      <p:nvPr/>
                    </p:nvPicPr>
                    <p:blipFill>
                      <a:blip r:embed="rId4"/>
                      <a:stretch>
                        <a:fillRect/>
                      </a:stretch>
                    </p:blipFill>
                    <p:spPr>
                      <a:xfrm>
                        <a:off x="467764" y="4005064"/>
                        <a:ext cx="8431482" cy="1008112"/>
                      </a:xfrm>
                      <a:prstGeom prst="rect">
                        <a:avLst/>
                      </a:prstGeom>
                    </p:spPr>
                  </p:pic>
                </p:oleObj>
              </mc:Fallback>
            </mc:AlternateContent>
          </a:graphicData>
        </a:graphic>
      </p:graphicFrame>
      <p:sp>
        <p:nvSpPr>
          <p:cNvPr id="6" name="文本框 5"/>
          <p:cNvSpPr txBox="1"/>
          <p:nvPr/>
        </p:nvSpPr>
        <p:spPr>
          <a:xfrm>
            <a:off x="395536" y="2981896"/>
            <a:ext cx="402674" cy="10156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w="13462">
                  <a:solidFill>
                    <a:prstClr val="white"/>
                  </a:solidFill>
                  <a:prstDash val="solid"/>
                </a:ln>
                <a:solidFill>
                  <a:prstClr val="black">
                    <a:lumMod val="85000"/>
                    <a:lumOff val="15000"/>
                  </a:prstClr>
                </a:solidFill>
                <a:effectLst>
                  <a:outerShdw dist="38100" dir="2700000" algn="bl" rotWithShape="0">
                    <a:srgbClr val="4BACC6"/>
                  </a:outerShdw>
                </a:effectLst>
                <a:uLnTx/>
                <a:uFillTx/>
                <a:latin typeface="Cooper Black" panose="0208090404030B020404" pitchFamily="18" charset="0"/>
                <a:ea typeface="宋体" panose="02010600030101010101" pitchFamily="2" charset="-122"/>
                <a:cs typeface="+mn-cs"/>
              </a:rPr>
              <a:t>-</a:t>
            </a:r>
            <a:endParaRPr kumimoji="0" lang="zh-CN" altLang="en-US" sz="6000" b="1" i="0" u="none" strike="noStrike" kern="1200" cap="none" spc="0" normalizeH="0" baseline="0" noProof="0" dirty="0">
              <a:ln w="13462">
                <a:solidFill>
                  <a:prstClr val="white"/>
                </a:solidFill>
                <a:prstDash val="solid"/>
              </a:ln>
              <a:solidFill>
                <a:prstClr val="black">
                  <a:lumMod val="85000"/>
                  <a:lumOff val="15000"/>
                </a:prstClr>
              </a:solidFill>
              <a:effectLst>
                <a:outerShdw dist="38100" dir="2700000" algn="bl" rotWithShape="0">
                  <a:srgbClr val="4BACC6"/>
                </a:outerShdw>
              </a:effectLst>
              <a:uLnTx/>
              <a:uFillTx/>
              <a:latin typeface="Cooper Black" panose="0208090404030B020404" pitchFamily="18" charset="0"/>
              <a:ea typeface="宋体" panose="02010600030101010101" pitchFamily="2" charset="-122"/>
              <a:cs typeface="+mn-cs"/>
            </a:endParaRPr>
          </a:p>
        </p:txBody>
      </p:sp>
      <p:cxnSp>
        <p:nvCxnSpPr>
          <p:cNvPr id="8" name="直接连接符 7"/>
          <p:cNvCxnSpPr/>
          <p:nvPr/>
        </p:nvCxnSpPr>
        <p:spPr>
          <a:xfrm flipV="1">
            <a:off x="3275856" y="2060848"/>
            <a:ext cx="1512168" cy="1109136"/>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接连接符 10"/>
          <p:cNvCxnSpPr/>
          <p:nvPr/>
        </p:nvCxnSpPr>
        <p:spPr>
          <a:xfrm flipV="1">
            <a:off x="2519772" y="4149080"/>
            <a:ext cx="1512168" cy="1109136"/>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p:cNvCxnSpPr/>
          <p:nvPr/>
        </p:nvCxnSpPr>
        <p:spPr>
          <a:xfrm flipV="1">
            <a:off x="5436096" y="4105957"/>
            <a:ext cx="1512168" cy="1109136"/>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p:cNvCxnSpPr/>
          <p:nvPr/>
        </p:nvCxnSpPr>
        <p:spPr>
          <a:xfrm flipV="1">
            <a:off x="6966073" y="2069976"/>
            <a:ext cx="1512168" cy="1109136"/>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3" presetClass="emph" presetSubtype="2" repeatCount="indefinite" fill="hold" grpId="1" nodeType="withEffect">
                                  <p:stCondLst>
                                    <p:cond delay="0"/>
                                  </p:stCondLst>
                                  <p:endCondLst>
                                    <p:cond evt="onNext" delay="0">
                                      <p:tgtEl>
                                        <p:sldTgt/>
                                      </p:tgtEl>
                                    </p:cond>
                                  </p:endCondLst>
                                  <p:childTnLst>
                                    <p:animClr clrSpc="rgb" dir="cw">
                                      <p:cBhvr override="childStyle">
                                        <p:cTn id="21" dur="500" fill="hold"/>
                                        <p:tgtEl>
                                          <p:spTgt spid="6"/>
                                        </p:tgtEl>
                                        <p:attrNameLst>
                                          <p:attrName>style.color</p:attrName>
                                        </p:attrNameLst>
                                      </p:cBhvr>
                                      <p:to>
                                        <a:schemeClr val="accent2"/>
                                      </p:to>
                                    </p:animClr>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300"/>
                                        <p:tgtEl>
                                          <p:spTgt spid="8"/>
                                        </p:tgtEl>
                                      </p:cBhvr>
                                    </p:animEffect>
                                  </p:childTnLst>
                                </p:cTn>
                              </p:par>
                              <p:par>
                                <p:cTn id="27" presetID="22" presetClass="entr" presetSubtype="1"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300"/>
                                        <p:tgtEl>
                                          <p:spTgt spid="11"/>
                                        </p:tgtEl>
                                      </p:cBhvr>
                                    </p:animEffect>
                                  </p:childTnLst>
                                </p:cTn>
                              </p:par>
                              <p:par>
                                <p:cTn id="30" presetID="22" presetClass="entr" presetSubtype="1"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300"/>
                                        <p:tgtEl>
                                          <p:spTgt spid="12"/>
                                        </p:tgtEl>
                                      </p:cBhvr>
                                    </p:animEffect>
                                  </p:childTnLst>
                                </p:cTn>
                              </p:par>
                              <p:par>
                                <p:cTn id="33" presetID="22" presetClass="entr" presetSubtype="1"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有限年金求现值</a:t>
            </a:r>
            <a:endParaRPr lang="zh-CN" altLang="en-US" dirty="0"/>
          </a:p>
        </p:txBody>
      </p:sp>
      <p:graphicFrame>
        <p:nvGraphicFramePr>
          <p:cNvPr id="3" name="对象 2"/>
          <p:cNvGraphicFramePr>
            <a:graphicFrameLocks noChangeAspect="1"/>
          </p:cNvGraphicFramePr>
          <p:nvPr/>
        </p:nvGraphicFramePr>
        <p:xfrm>
          <a:off x="683568" y="2060848"/>
          <a:ext cx="7620777" cy="1289670"/>
        </p:xfrm>
        <a:graphic>
          <a:graphicData uri="http://schemas.openxmlformats.org/presentationml/2006/ole">
            <mc:AlternateContent xmlns:mc="http://schemas.openxmlformats.org/markup-compatibility/2006">
              <mc:Choice xmlns:v="urn:schemas-microsoft-com:vml" Requires="v">
                <p:oleObj spid="_x0000_s18517" name="公式" r:id="rId1" imgW="2476500" imgH="419100" progId="Equation.3">
                  <p:embed/>
                </p:oleObj>
              </mc:Choice>
              <mc:Fallback>
                <p:oleObj name="公式" r:id="rId1" imgW="2476500" imgH="419100" progId="Equation.3">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060848"/>
                        <a:ext cx="7620777" cy="1289670"/>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457200" y="3789040"/>
          <a:ext cx="3959225" cy="2543175"/>
        </p:xfrm>
        <a:graphic>
          <a:graphicData uri="http://schemas.openxmlformats.org/presentationml/2006/ole">
            <mc:AlternateContent xmlns:mc="http://schemas.openxmlformats.org/markup-compatibility/2006">
              <mc:Choice xmlns:v="urn:schemas-microsoft-com:vml" Requires="v">
                <p:oleObj spid="_x0000_s18518" name="公式" r:id="rId3" imgW="33223200" imgH="21336000" progId="Equation.3">
                  <p:embed/>
                </p:oleObj>
              </mc:Choice>
              <mc:Fallback>
                <p:oleObj name="公式" r:id="rId3" imgW="33223200" imgH="21336000" progId="Equation.3">
                  <p:embed/>
                  <p:pic>
                    <p:nvPicPr>
                      <p:cNvPr id="0" name="对象 3"/>
                      <p:cNvPicPr/>
                      <p:nvPr/>
                    </p:nvPicPr>
                    <p:blipFill>
                      <a:blip r:embed="rId4"/>
                      <a:stretch>
                        <a:fillRect/>
                      </a:stretch>
                    </p:blipFill>
                    <p:spPr>
                      <a:xfrm>
                        <a:off x="457200" y="3789040"/>
                        <a:ext cx="3959225" cy="254317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788024" y="4944861"/>
          <a:ext cx="3672408" cy="1387354"/>
        </p:xfrm>
        <a:graphic>
          <a:graphicData uri="http://schemas.openxmlformats.org/presentationml/2006/ole">
            <mc:AlternateContent xmlns:mc="http://schemas.openxmlformats.org/markup-compatibility/2006">
              <mc:Choice xmlns:v="urn:schemas-microsoft-com:vml" Requires="v">
                <p:oleObj spid="_x0000_s18519" name="公式" r:id="rId5" imgW="27432000" imgH="10363200" progId="Equation.3">
                  <p:embed/>
                </p:oleObj>
              </mc:Choice>
              <mc:Fallback>
                <p:oleObj name="公式" r:id="rId5" imgW="27432000" imgH="10363200" progId="Equation.3">
                  <p:embed/>
                  <p:pic>
                    <p:nvPicPr>
                      <p:cNvPr id="0" name="对象 4"/>
                      <p:cNvPicPr/>
                      <p:nvPr/>
                    </p:nvPicPr>
                    <p:blipFill>
                      <a:blip r:embed="rId6"/>
                      <a:stretch>
                        <a:fillRect/>
                      </a:stretch>
                    </p:blipFill>
                    <p:spPr>
                      <a:xfrm>
                        <a:off x="4788024" y="4944861"/>
                        <a:ext cx="3672408" cy="1387354"/>
                      </a:xfrm>
                      <a:prstGeom prst="rect">
                        <a:avLst/>
                      </a:prstGeom>
                    </p:spPr>
                  </p:pic>
                </p:oleObj>
              </mc:Fallback>
            </mc:AlternateContent>
          </a:graphicData>
        </a:graphic>
      </p:graphicFrame>
      <p:sp>
        <p:nvSpPr>
          <p:cNvPr id="6" name="矩形 5"/>
          <p:cNvSpPr/>
          <p:nvPr/>
        </p:nvSpPr>
        <p:spPr>
          <a:xfrm>
            <a:off x="1547664" y="1916832"/>
            <a:ext cx="2448272" cy="1584176"/>
          </a:xfrm>
          <a:prstGeom prst="rect">
            <a:avLst/>
          </a:prstGeom>
          <a:no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标题 1"/>
          <p:cNvSpPr txBox="1"/>
          <p:nvPr/>
        </p:nvSpPr>
        <p:spPr>
          <a:xfrm>
            <a:off x="4752267" y="4035057"/>
            <a:ext cx="4176464" cy="619369"/>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vert="horz" lIns="91440" tIns="45720" rIns="91440" bIns="45720" rtlCol="0" anchor="ctr">
            <a:normAutofit fontScale="450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500" b="1" i="0" u="none" strike="noStrike" kern="1200" cap="none" spc="0" normalizeH="0" baseline="0" noProof="0">
                <a:ln>
                  <a:noFill/>
                </a:ln>
                <a:solidFill>
                  <a:prstClr val="black">
                    <a:lumMod val="95000"/>
                    <a:lumOff val="5000"/>
                  </a:prstClr>
                </a:solidFill>
                <a:effectLst/>
                <a:uLnTx/>
                <a:uFillTx/>
                <a:latin typeface="黑体" panose="02010609060101010101" charset="-122"/>
                <a:ea typeface="黑体" panose="02010609060101010101" charset="-122"/>
              </a:rPr>
              <a:t>已知现值求年金</a:t>
            </a:r>
            <a:endParaRPr kumimoji="0"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500"/>
                                        <p:tgtEl>
                                          <p:spTgt spid="6"/>
                                        </p:tgtEl>
                                      </p:cBhvr>
                                    </p:animEffect>
                                  </p:childTnLst>
                                </p:cTn>
                              </p:par>
                            </p:childTnLst>
                          </p:cTn>
                        </p:par>
                        <p:par>
                          <p:cTn id="8" fill="hold">
                            <p:stCondLst>
                              <p:cond delay="500"/>
                            </p:stCondLst>
                            <p:childTnLst>
                              <p:par>
                                <p:cTn id="9" presetID="6" presetClass="emph" presetSubtype="0" repeatCount="indefinite" fill="hold" grpId="1" nodeType="afterEffect">
                                  <p:stCondLst>
                                    <p:cond delay="0"/>
                                  </p:stCondLst>
                                  <p:endCondLst>
                                    <p:cond evt="onNext" delay="0">
                                      <p:tgtEl>
                                        <p:sldTgt/>
                                      </p:tgtEl>
                                    </p:cond>
                                  </p:endCondLst>
                                  <p:childTnLst>
                                    <p:animScale>
                                      <p:cBhvr>
                                        <p:cTn id="10" dur="500" fill="hold"/>
                                        <p:tgtEl>
                                          <p:spTgt spid="6"/>
                                        </p:tgtEl>
                                      </p:cBhvr>
                                      <p:by x="110000" y="110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PVP: Present Value of </a:t>
            </a:r>
            <a:r>
              <a:rPr lang="en-US" altLang="zh-CN" dirty="0">
                <a:effectLst>
                  <a:innerShdw blurRad="63500" dist="50800" dir="13500000">
                    <a:prstClr val="black">
                      <a:alpha val="50000"/>
                    </a:prstClr>
                  </a:innerShdw>
                </a:effectLst>
              </a:rPr>
              <a:t>Perpetuity</a:t>
            </a:r>
            <a:r>
              <a:rPr lang="zh-CN" altLang="en-US" dirty="0">
                <a:effectLst>
                  <a:innerShdw blurRad="63500" dist="50800" dir="13500000">
                    <a:prstClr val="black">
                      <a:alpha val="50000"/>
                    </a:prstClr>
                  </a:innerShdw>
                </a:effectLst>
              </a:rPr>
              <a:t>永续年金的现值</a:t>
            </a:r>
            <a:endParaRPr lang="zh-CN" altLang="en-US" dirty="0">
              <a:effectLst>
                <a:innerShdw blurRad="63500" dist="50800" dir="13500000">
                  <a:prstClr val="black">
                    <a:alpha val="50000"/>
                  </a:prstClr>
                </a:innerShdw>
              </a:effectLst>
            </a:endParaRPr>
          </a:p>
        </p:txBody>
      </p:sp>
      <p:grpSp>
        <p:nvGrpSpPr>
          <p:cNvPr id="5" name="组合 4"/>
          <p:cNvGrpSpPr/>
          <p:nvPr/>
        </p:nvGrpSpPr>
        <p:grpSpPr>
          <a:xfrm>
            <a:off x="2843808" y="1556792"/>
            <a:ext cx="6119488" cy="5124960"/>
            <a:chOff x="2844496" y="1556791"/>
            <a:chExt cx="6119488" cy="5124960"/>
          </a:xfrm>
        </p:grpSpPr>
        <p:sp>
          <p:nvSpPr>
            <p:cNvPr id="3" name="圆角矩形 2"/>
            <p:cNvSpPr/>
            <p:nvPr/>
          </p:nvSpPr>
          <p:spPr>
            <a:xfrm>
              <a:off x="2844496" y="1556791"/>
              <a:ext cx="6119488" cy="5124959"/>
            </a:xfrm>
            <a:prstGeom prst="roundRect">
              <a:avLst/>
            </a:prstGeom>
            <a:gradFill flip="none" rotWithShape="1">
              <a:gsLst>
                <a:gs pos="0">
                  <a:schemeClr val="accent3">
                    <a:lumMod val="75000"/>
                  </a:schemeClr>
                </a:gs>
                <a:gs pos="50000">
                  <a:srgbClr val="92D050"/>
                </a:gs>
                <a:gs pos="100000">
                  <a:schemeClr val="bg1"/>
                </a:gs>
              </a:gsLst>
              <a:lin ang="18900000" scaled="1"/>
              <a:tileRect/>
            </a:gradFill>
            <a:effectLst>
              <a:outerShdw blurRad="101600" dist="101600" dir="8100000" algn="tr"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180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圆角矩形 3"/>
            <p:cNvSpPr/>
            <p:nvPr/>
          </p:nvSpPr>
          <p:spPr>
            <a:xfrm>
              <a:off x="2879816" y="1573970"/>
              <a:ext cx="6084168" cy="5107781"/>
            </a:xfrm>
            <a:prstGeom prst="roundRect">
              <a:avLst/>
            </a:prstGeom>
            <a:gradFill>
              <a:gsLst>
                <a:gs pos="0">
                  <a:schemeClr val="accent3">
                    <a:lumMod val="75000"/>
                  </a:schemeClr>
                </a:gs>
                <a:gs pos="50000">
                  <a:srgbClr val="92D050"/>
                </a:gs>
                <a:gs pos="100000">
                  <a:schemeClr val="bg1"/>
                </a:gs>
              </a:gsLst>
              <a:lin ang="8100000" scaled="1"/>
            </a:gradFill>
          </p:spPr>
          <p:txBody>
            <a:bodyPr wrap="square">
              <a:spAutoFit/>
            </a:bodyPr>
            <a:lstStyle/>
            <a:p>
              <a:pPr marL="0" marR="0" lvl="0" indent="0" algn="l" defTabSz="914400" rtl="0" eaLnBrk="1" fontAlgn="auto" latinLnBrk="0" hangingPunct="1">
                <a:lnSpc>
                  <a:spcPct val="100000"/>
                </a:lnSpc>
                <a:spcBef>
                  <a:spcPts val="180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rPr>
                <a:t>Perpetuity is when something goes on forever. </a:t>
              </a:r>
              <a:endPar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endParaRPr>
            </a:p>
            <a:p>
              <a:pPr marL="0" marR="0" lvl="0" indent="0" algn="l" defTabSz="914400" rtl="0" eaLnBrk="1" fontAlgn="auto" latinLnBrk="0" hangingPunct="1">
                <a:lnSpc>
                  <a:spcPct val="100000"/>
                </a:lnSpc>
                <a:spcBef>
                  <a:spcPts val="180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rPr>
                <a:t>In finance, it is those kinds of deals where you pay some amount today, and then you get, let’s say, $500 a year forever.</a:t>
              </a:r>
              <a:endPar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endParaRPr>
            </a:p>
            <a:p>
              <a:pPr marL="0" marR="0" lvl="0" indent="0" algn="l" defTabSz="914400" rtl="0" eaLnBrk="1" fontAlgn="auto" latinLnBrk="0" hangingPunct="1">
                <a:lnSpc>
                  <a:spcPct val="100000"/>
                </a:lnSpc>
                <a:spcBef>
                  <a:spcPts val="180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rPr>
                <a:t> So, how does someone figure out how much $500 a year forever is worth today? Actually, it is a very simple formula. All you have to do is divide your payment by the yearly interest rate. To make a sense out of it, look at the graph.</a:t>
              </a:r>
              <a:endParaRPr kumimoji="0" lang="zh-CN" altLang="en-US"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endParaRPr>
            </a:p>
          </p:txBody>
        </p:sp>
      </p:grpSp>
      <p:sp>
        <p:nvSpPr>
          <p:cNvPr id="6" name="TextBox 5"/>
          <p:cNvSpPr txBox="1"/>
          <p:nvPr/>
        </p:nvSpPr>
        <p:spPr>
          <a:xfrm>
            <a:off x="481905" y="2204864"/>
            <a:ext cx="2016223"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假定利率为</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r,</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我现在向银行存入多少钱</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可以保证每年获得</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500</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元</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a:t>
            </a:r>
            <a:endPar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讨论</a:t>
            </a:r>
            <a:endParaRPr kumimoji="1" lang="zh-CN" altLang="en-US" dirty="0"/>
          </a:p>
        </p:txBody>
      </p:sp>
      <p:sp>
        <p:nvSpPr>
          <p:cNvPr id="3" name="内容占位符 2"/>
          <p:cNvSpPr>
            <a:spLocks noGrp="1"/>
          </p:cNvSpPr>
          <p:nvPr>
            <p:ph idx="1"/>
          </p:nvPr>
        </p:nvSpPr>
        <p:spPr/>
        <p:txBody>
          <a:bodyPr>
            <a:normAutofit/>
          </a:bodyPr>
          <a:lstStyle/>
          <a:p>
            <a:r>
              <a:rPr kumimoji="1" lang="zh-CN" altLang="en-US" dirty="0"/>
              <a:t>我有一片果林，每年投入</a:t>
            </a:r>
            <a:r>
              <a:rPr kumimoji="1" lang="en-US" altLang="zh-CN" dirty="0"/>
              <a:t>1</a:t>
            </a:r>
            <a:r>
              <a:rPr kumimoji="1" lang="zh-CN" altLang="en-US" dirty="0"/>
              <a:t>万，收益</a:t>
            </a:r>
            <a:r>
              <a:rPr kumimoji="1" lang="en-US" altLang="zh-CN" dirty="0"/>
              <a:t>2</a:t>
            </a:r>
            <a:r>
              <a:rPr kumimoji="1" lang="zh-CN" altLang="en-US" dirty="0"/>
              <a:t>万，净赚</a:t>
            </a:r>
            <a:r>
              <a:rPr kumimoji="1" lang="en-US" altLang="zh-CN" dirty="0"/>
              <a:t>1</a:t>
            </a:r>
            <a:r>
              <a:rPr kumimoji="1" lang="zh-CN" altLang="en-US" dirty="0"/>
              <a:t>万元</a:t>
            </a:r>
            <a:endParaRPr kumimoji="1" lang="en-US" altLang="zh-CN" dirty="0"/>
          </a:p>
          <a:p>
            <a:r>
              <a:rPr kumimoji="1" lang="zh-CN" altLang="en-US" dirty="0"/>
              <a:t>假定这片果林属于我，可以子孙后代一直传承下去</a:t>
            </a:r>
            <a:endParaRPr kumimoji="1" lang="en-US" altLang="zh-CN" dirty="0"/>
          </a:p>
          <a:p>
            <a:r>
              <a:rPr kumimoji="1" lang="zh-CN" altLang="en-US" dirty="0"/>
              <a:t>现在有人来买这片果林，我应该多少钱卖给他？（贴现率</a:t>
            </a:r>
            <a:r>
              <a:rPr kumimoji="1" lang="en-US" altLang="zh-CN" dirty="0"/>
              <a:t>5%</a:t>
            </a:r>
            <a:r>
              <a:rPr kumimoji="1" lang="zh-CN" altLang="en-US" dirty="0"/>
              <a:t>）</a:t>
            </a:r>
            <a:endParaRPr kumimoji="1"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永续年金求现值公式</a:t>
            </a:r>
            <a:endParaRPr kumimoji="1" lang="zh-CN" altLang="en-US" dirty="0"/>
          </a:p>
        </p:txBody>
      </p:sp>
      <p:graphicFrame>
        <p:nvGraphicFramePr>
          <p:cNvPr id="4" name="内容占位符 3"/>
          <p:cNvGraphicFramePr>
            <a:graphicFrameLocks noGrp="1" noChangeAspect="1"/>
          </p:cNvGraphicFramePr>
          <p:nvPr>
            <p:ph idx="1"/>
          </p:nvPr>
        </p:nvGraphicFramePr>
        <p:xfrm>
          <a:off x="2438768" y="1772816"/>
          <a:ext cx="4280863" cy="2749178"/>
        </p:xfrm>
        <a:graphic>
          <a:graphicData uri="http://schemas.openxmlformats.org/presentationml/2006/ole">
            <mc:AlternateContent xmlns:mc="http://schemas.openxmlformats.org/markup-compatibility/2006">
              <mc:Choice xmlns:v="urn:schemas-microsoft-com:vml" Requires="v">
                <p:oleObj spid="_x0000_s19485" name="公式" r:id="rId1" imgW="33223200" imgH="21336000" progId="Equation.3">
                  <p:embed/>
                </p:oleObj>
              </mc:Choice>
              <mc:Fallback>
                <p:oleObj name="公式" r:id="rId1" imgW="33223200" imgH="21336000" progId="Equation.3">
                  <p:embed/>
                  <p:pic>
                    <p:nvPicPr>
                      <p:cNvPr id="0" name="内容占位符 3"/>
                      <p:cNvPicPr/>
                      <p:nvPr/>
                    </p:nvPicPr>
                    <p:blipFill>
                      <a:blip r:embed="rId2"/>
                      <a:stretch>
                        <a:fillRect/>
                      </a:stretch>
                    </p:blipFill>
                    <p:spPr>
                      <a:xfrm>
                        <a:off x="2438768" y="1772816"/>
                        <a:ext cx="4280863" cy="2749178"/>
                      </a:xfrm>
                      <a:prstGeom prst="rect">
                        <a:avLst/>
                      </a:prstGeom>
                    </p:spPr>
                  </p:pic>
                </p:oleObj>
              </mc:Fallback>
            </mc:AlternateContent>
          </a:graphicData>
        </a:graphic>
      </p:graphicFrame>
      <p:sp>
        <p:nvSpPr>
          <p:cNvPr id="5" name="椭圆 4"/>
          <p:cNvSpPr/>
          <p:nvPr/>
        </p:nvSpPr>
        <p:spPr>
          <a:xfrm>
            <a:off x="5508104" y="3933056"/>
            <a:ext cx="288032" cy="288032"/>
          </a:xfrm>
          <a:prstGeom prst="ellipse">
            <a:avLst/>
          </a:prstGeom>
          <a:no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7" name="直线箭头连接符 6"/>
          <p:cNvCxnSpPr>
            <a:stCxn id="5" idx="6"/>
          </p:cNvCxnSpPr>
          <p:nvPr/>
        </p:nvCxnSpPr>
        <p:spPr>
          <a:xfrm>
            <a:off x="5796136" y="4077072"/>
            <a:ext cx="28803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9" name="文本框 8"/>
          <p:cNvSpPr txBox="1"/>
          <p:nvPr/>
        </p:nvSpPr>
        <p:spPr>
          <a:xfrm>
            <a:off x="6012160" y="3831431"/>
            <a:ext cx="442750" cy="461665"/>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rPr>
              <a:t>∞</a:t>
            </a:r>
            <a:endParaRPr kumimoji="1" lang="zh-CN" altLang="en-US"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endParaRPr>
          </a:p>
        </p:txBody>
      </p:sp>
      <p:sp>
        <p:nvSpPr>
          <p:cNvPr id="10" name="椭圆 9"/>
          <p:cNvSpPr/>
          <p:nvPr/>
        </p:nvSpPr>
        <p:spPr>
          <a:xfrm>
            <a:off x="3851920" y="3284984"/>
            <a:ext cx="2808312" cy="1656184"/>
          </a:xfrm>
          <a:prstGeom prst="ellipse">
            <a:avLst/>
          </a:prstGeom>
          <a:no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1" name="直线箭头连接符 10"/>
          <p:cNvCxnSpPr/>
          <p:nvPr/>
        </p:nvCxnSpPr>
        <p:spPr>
          <a:xfrm>
            <a:off x="6660232" y="4062263"/>
            <a:ext cx="28803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文本框 11"/>
          <p:cNvSpPr txBox="1"/>
          <p:nvPr/>
        </p:nvSpPr>
        <p:spPr>
          <a:xfrm>
            <a:off x="6865554" y="3831431"/>
            <a:ext cx="340158" cy="461665"/>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rPr>
              <a:t>0</a:t>
            </a:r>
            <a:endParaRPr kumimoji="1" lang="zh-CN" altLang="en-US"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5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heel(1)">
                                      <p:cBhvr>
                                        <p:cTn id="24" dur="500"/>
                                        <p:tgtEl>
                                          <p:spTgt spid="10"/>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10" grpId="0" animBg="1"/>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PVP=a/</a:t>
            </a:r>
            <a:r>
              <a:rPr lang="en-US" altLang="zh-CN" dirty="0" err="1"/>
              <a:t>i</a:t>
            </a:r>
            <a:r>
              <a:rPr lang="en-US" altLang="zh-CN" dirty="0"/>
              <a:t>=1/5%=20</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755576" y="1196752"/>
          <a:ext cx="9550400" cy="5549900"/>
        </p:xfrm>
        <a:graphic>
          <a:graphicData uri="http://schemas.openxmlformats.org/presentationml/2006/ole">
            <mc:AlternateContent xmlns:mc="http://schemas.openxmlformats.org/markup-compatibility/2006">
              <mc:Choice xmlns:v="urn:schemas-microsoft-com:vml" Requires="v">
                <p:oleObj spid="_x0000_s20509" name="工作表" r:id="rId1" imgW="9546590" imgH="5550535" progId="Excel.Sheet.8">
                  <p:embed/>
                </p:oleObj>
              </mc:Choice>
              <mc:Fallback>
                <p:oleObj name="工作表" r:id="rId1" imgW="9546590" imgH="5550535" progId="Excel.Sheet.8">
                  <p:embed/>
                  <p:pic>
                    <p:nvPicPr>
                      <p:cNvPr id="0" name="对象 1"/>
                      <p:cNvPicPr/>
                      <p:nvPr/>
                    </p:nvPicPr>
                    <p:blipFill>
                      <a:blip r:embed="rId2"/>
                      <a:stretch>
                        <a:fillRect/>
                      </a:stretch>
                    </p:blipFill>
                    <p:spPr>
                      <a:xfrm>
                        <a:off x="755576" y="1196752"/>
                        <a:ext cx="9550400" cy="5549900"/>
                      </a:xfrm>
                      <a:prstGeom prst="rect">
                        <a:avLst/>
                      </a:prstGeom>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讨论</a:t>
            </a:r>
            <a:endParaRPr kumimoji="1" lang="zh-CN" altLang="en-US" dirty="0"/>
          </a:p>
        </p:txBody>
      </p:sp>
      <p:sp>
        <p:nvSpPr>
          <p:cNvPr id="3" name="内容占位符 2"/>
          <p:cNvSpPr>
            <a:spLocks noGrp="1"/>
          </p:cNvSpPr>
          <p:nvPr>
            <p:ph idx="1"/>
          </p:nvPr>
        </p:nvSpPr>
        <p:spPr/>
        <p:txBody>
          <a:bodyPr/>
          <a:lstStyle/>
          <a:p>
            <a:r>
              <a:rPr kumimoji="1" lang="zh-CN" altLang="en-US" dirty="0"/>
              <a:t>如果我有一片林地，自然更新，中间不用任何投入</a:t>
            </a:r>
            <a:endParaRPr kumimoji="1" lang="en-US" altLang="zh-CN" dirty="0"/>
          </a:p>
          <a:p>
            <a:r>
              <a:rPr kumimoji="1" lang="zh-CN" altLang="en-US" dirty="0"/>
              <a:t>每</a:t>
            </a:r>
            <a:r>
              <a:rPr kumimoji="1" lang="en-US" altLang="zh-CN" dirty="0"/>
              <a:t>10</a:t>
            </a:r>
            <a:r>
              <a:rPr kumimoji="1" lang="zh-CN" altLang="en-US" dirty="0"/>
              <a:t>年可采伐一次，除去采伐成本后净利润</a:t>
            </a:r>
            <a:r>
              <a:rPr kumimoji="1" lang="en-US" altLang="zh-CN" dirty="0"/>
              <a:t>10</a:t>
            </a:r>
            <a:r>
              <a:rPr kumimoji="1" lang="zh-CN" altLang="en-US" dirty="0"/>
              <a:t>万元，可以子子孙孙无穷尽地采伐下去</a:t>
            </a:r>
            <a:endParaRPr kumimoji="1" lang="en-US" altLang="zh-CN" dirty="0"/>
          </a:p>
          <a:p>
            <a:r>
              <a:rPr kumimoji="1" lang="zh-CN" altLang="en-US" dirty="0"/>
              <a:t>贴现率</a:t>
            </a:r>
            <a:r>
              <a:rPr kumimoji="1" lang="en-US" altLang="zh-CN" dirty="0"/>
              <a:t>5%</a:t>
            </a:r>
            <a:r>
              <a:rPr kumimoji="1" lang="zh-CN" altLang="en-US" dirty="0"/>
              <a:t>，我这片林地值多少钱？</a:t>
            </a:r>
            <a:endParaRPr kumimoji="1" lang="en-US" altLang="zh-CN" dirty="0"/>
          </a:p>
          <a:p>
            <a:endParaRPr kumimoji="1"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4000" dirty="0"/>
              <a:t>每</a:t>
            </a:r>
            <a:r>
              <a:rPr kumimoji="1" lang="en-US" altLang="zh-CN" sz="4000" dirty="0"/>
              <a:t>10</a:t>
            </a:r>
            <a:r>
              <a:rPr kumimoji="1" lang="zh-CN" altLang="en-US" sz="4000" dirty="0"/>
              <a:t>年获得</a:t>
            </a:r>
            <a:r>
              <a:rPr kumimoji="1" lang="en-US" altLang="zh-CN" sz="4000" dirty="0"/>
              <a:t>10</a:t>
            </a:r>
            <a:r>
              <a:rPr kumimoji="1" lang="zh-CN" altLang="en-US" sz="4000" dirty="0"/>
              <a:t>万元，如何求现值？</a:t>
            </a:r>
            <a:endParaRPr kumimoji="1" lang="zh-CN" altLang="en-US" sz="4000" dirty="0"/>
          </a:p>
        </p:txBody>
      </p:sp>
      <p:cxnSp>
        <p:nvCxnSpPr>
          <p:cNvPr id="4" name="直线箭头连接符 3"/>
          <p:cNvCxnSpPr/>
          <p:nvPr/>
        </p:nvCxnSpPr>
        <p:spPr>
          <a:xfrm>
            <a:off x="971600" y="4077072"/>
            <a:ext cx="76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827583" y="4005064"/>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矩形 5"/>
          <p:cNvSpPr/>
          <p:nvPr/>
        </p:nvSpPr>
        <p:spPr>
          <a:xfrm>
            <a:off x="8275640" y="4130014"/>
            <a:ext cx="73930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N</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7" name="直线箭头连接符 6"/>
          <p:cNvCxnSpPr/>
          <p:nvPr/>
        </p:nvCxnSpPr>
        <p:spPr>
          <a:xfrm flipV="1">
            <a:off x="203692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620990"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第十年收入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9" name="文本框 8"/>
          <p:cNvSpPr txBox="1"/>
          <p:nvPr/>
        </p:nvSpPr>
        <p:spPr>
          <a:xfrm>
            <a:off x="1835696" y="4005000"/>
            <a:ext cx="6006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1" name="直线箭头连接符 10"/>
          <p:cNvCxnSpPr/>
          <p:nvPr/>
        </p:nvCxnSpPr>
        <p:spPr>
          <a:xfrm flipV="1">
            <a:off x="971600" y="3575816"/>
            <a:ext cx="0" cy="501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20424" y="4193794"/>
            <a:ext cx="138655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endPar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1/(1+5%)^10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3" name="直线箭头连接符 12"/>
          <p:cNvCxnSpPr/>
          <p:nvPr/>
        </p:nvCxnSpPr>
        <p:spPr>
          <a:xfrm flipV="1">
            <a:off x="3059832"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650435"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第二十年收入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5" name="文本框 14"/>
          <p:cNvSpPr txBox="1"/>
          <p:nvPr/>
        </p:nvSpPr>
        <p:spPr>
          <a:xfrm>
            <a:off x="2936133" y="4004998"/>
            <a:ext cx="5570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20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6" name="文本框 15"/>
          <p:cNvSpPr txBox="1"/>
          <p:nvPr/>
        </p:nvSpPr>
        <p:spPr>
          <a:xfrm>
            <a:off x="129164" y="4847367"/>
            <a:ext cx="149182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1/(1+5%)^20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9" name="直线箭头连接符 18"/>
          <p:cNvCxnSpPr/>
          <p:nvPr/>
        </p:nvCxnSpPr>
        <p:spPr>
          <a:xfrm flipH="1" flipV="1">
            <a:off x="963215" y="3766491"/>
            <a:ext cx="8384" cy="332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847675" y="3432805"/>
            <a:ext cx="46057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1/(1+5%)^10n+……+1/(1+5%)^20+1/(1+5%)^10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25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5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250"/>
                                        <p:tgtEl>
                                          <p:spTgt spid="11"/>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25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250"/>
                                        <p:tgtEl>
                                          <p:spTgt spid="13"/>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250"/>
                                        <p:tgtEl>
                                          <p:spTgt spid="19"/>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250"/>
                                        <p:tgtEl>
                                          <p:spTgt spid="16"/>
                                        </p:tgtEl>
                                      </p:cBhvr>
                                    </p:animEffect>
                                  </p:childTnLst>
                                </p:cTn>
                              </p:par>
                              <p:par>
                                <p:cTn id="44" presetID="10" presetClass="exit" presetSubtype="0" fill="hold" nodeType="withEffect">
                                  <p:stCondLst>
                                    <p:cond delay="0"/>
                                  </p:stCondLst>
                                  <p:childTnLst>
                                    <p:animEffect transition="out" filter="fade">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left)">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4" grpId="0"/>
      <p:bldP spid="16" grpId="0"/>
      <p:bldP spid="2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Present Value of a periodic series </a:t>
            </a:r>
            <a:r>
              <a:rPr lang="zh-CN" altLang="en-US" dirty="0"/>
              <a:t>周期性收益的现值</a:t>
            </a:r>
            <a:endParaRPr lang="zh-CN" altLang="en-US" dirty="0"/>
          </a:p>
        </p:txBody>
      </p:sp>
      <p:graphicFrame>
        <p:nvGraphicFramePr>
          <p:cNvPr id="3" name="对象 2"/>
          <p:cNvGraphicFramePr>
            <a:graphicFrameLocks noChangeAspect="1"/>
          </p:cNvGraphicFramePr>
          <p:nvPr/>
        </p:nvGraphicFramePr>
        <p:xfrm>
          <a:off x="361441" y="2216119"/>
          <a:ext cx="8493125" cy="1223962"/>
        </p:xfrm>
        <a:graphic>
          <a:graphicData uri="http://schemas.openxmlformats.org/presentationml/2006/ole">
            <mc:AlternateContent xmlns:mc="http://schemas.openxmlformats.org/markup-compatibility/2006">
              <mc:Choice xmlns:v="urn:schemas-microsoft-com:vml" Requires="v">
                <p:oleObj spid="_x0000_s21561" name="公式" r:id="rId1" imgW="69799200" imgH="10058400" progId="Equation.3">
                  <p:embed/>
                </p:oleObj>
              </mc:Choice>
              <mc:Fallback>
                <p:oleObj name="公式" r:id="rId1" imgW="69799200" imgH="10058400" progId="Equation.3">
                  <p:embed/>
                  <p:pic>
                    <p:nvPicPr>
                      <p:cNvPr id="0" name="对象 2"/>
                      <p:cNvPicPr>
                        <a:picLocks noChangeAspect="1" noChangeArrowheads="1"/>
                      </p:cNvPicPr>
                      <p:nvPr/>
                    </p:nvPicPr>
                    <p:blipFill>
                      <a:blip r:embed="rId2"/>
                      <a:srcRect/>
                      <a:stretch>
                        <a:fillRect/>
                      </a:stretch>
                    </p:blipFill>
                    <p:spPr bwMode="auto">
                      <a:xfrm>
                        <a:off x="361441" y="2216119"/>
                        <a:ext cx="8493125" cy="1223962"/>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2954338" y="3933825"/>
          <a:ext cx="3375025" cy="1223963"/>
        </p:xfrm>
        <a:graphic>
          <a:graphicData uri="http://schemas.openxmlformats.org/presentationml/2006/ole">
            <mc:AlternateContent xmlns:mc="http://schemas.openxmlformats.org/markup-compatibility/2006">
              <mc:Choice xmlns:v="urn:schemas-microsoft-com:vml" Requires="v">
                <p:oleObj spid="_x0000_s21562" name="公式" r:id="rId3" imgW="27736800" imgH="10058400" progId="Equation.3">
                  <p:embed/>
                </p:oleObj>
              </mc:Choice>
              <mc:Fallback>
                <p:oleObj name="公式" r:id="rId3" imgW="27736800" imgH="10058400" progId="Equation.3">
                  <p:embed/>
                  <p:pic>
                    <p:nvPicPr>
                      <p:cNvPr id="0" name="对象 3"/>
                      <p:cNvPicPr>
                        <a:picLocks noChangeAspect="1" noChangeArrowheads="1"/>
                      </p:cNvPicPr>
                      <p:nvPr/>
                    </p:nvPicPr>
                    <p:blipFill>
                      <a:blip r:embed="rId4"/>
                      <a:srcRect/>
                      <a:stretch>
                        <a:fillRect/>
                      </a:stretch>
                    </p:blipFill>
                    <p:spPr bwMode="auto">
                      <a:xfrm>
                        <a:off x="2954338" y="3933825"/>
                        <a:ext cx="3375025" cy="1223963"/>
                      </a:xfrm>
                      <a:prstGeom prst="rect">
                        <a:avLst/>
                      </a:prstGeom>
                      <a:noFill/>
                      <a:ln>
                        <a:noFill/>
                      </a:ln>
                    </p:spPr>
                  </p:pic>
                </p:oleObj>
              </mc:Fallback>
            </mc:AlternateContent>
          </a:graphicData>
        </a:graphic>
      </p:graphicFrame>
      <p:sp>
        <p:nvSpPr>
          <p:cNvPr id="5" name="TextBox 4"/>
          <p:cNvSpPr txBox="1"/>
          <p:nvPr/>
        </p:nvSpPr>
        <p:spPr>
          <a:xfrm>
            <a:off x="539552" y="5805264"/>
            <a:ext cx="8136904"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9BBB59">
                    <a:lumMod val="75000"/>
                  </a:srgbClr>
                </a:solidFill>
                <a:effectLst/>
                <a:uLnTx/>
                <a:uFillTx/>
                <a:latin typeface="隶书" panose="02010509060101010101" pitchFamily="49" charset="-122"/>
                <a:ea typeface="隶书" panose="02010509060101010101" pitchFamily="49" charset="-122"/>
                <a:cs typeface="+mn-cs"/>
              </a:rPr>
              <a:t>记住这个式子！将来要以此为基础来计算林地价值和最优轮伐期</a:t>
            </a:r>
            <a:endParaRPr kumimoji="0" lang="zh-CN" altLang="en-US" sz="2800" b="1" i="0" u="none" strike="noStrike" kern="1200" cap="none" spc="0" normalizeH="0" baseline="0" noProof="0" dirty="0">
              <a:ln>
                <a:noFill/>
              </a:ln>
              <a:solidFill>
                <a:srgbClr val="9BBB59">
                  <a:lumMod val="75000"/>
                </a:srgbClr>
              </a:solidFill>
              <a:effectLst/>
              <a:uLnTx/>
              <a:uFillTx/>
              <a:latin typeface="隶书" panose="02010509060101010101" pitchFamily="49" charset="-122"/>
              <a:ea typeface="隶书" panose="02010509060101010101" pitchFamily="49" charset="-122"/>
              <a:cs typeface="+mn-cs"/>
            </a:endParaRPr>
          </a:p>
        </p:txBody>
      </p:sp>
      <p:pic>
        <p:nvPicPr>
          <p:cNvPr id="6" name="图片 5">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211586">
            <a:off x="7433588" y="4202356"/>
            <a:ext cx="1219200" cy="1219200"/>
          </a:xfrm>
          <a:prstGeom prst="rect">
            <a:avLst/>
          </a:prstGeom>
        </p:spPr>
      </p:pic>
      <p:sp>
        <p:nvSpPr>
          <p:cNvPr id="7" name="文本框 6"/>
          <p:cNvSpPr txBox="1"/>
          <p:nvPr/>
        </p:nvSpPr>
        <p:spPr>
          <a:xfrm>
            <a:off x="971600" y="1492032"/>
            <a:ext cx="741682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林业上最常用：计算一系列经过若干年规则性间隔后（如每一个轮伐期之后）发生的周期性收益和成本的现值公式</a:t>
            </a:r>
            <a:endParaRPr kumimoji="0" lang="zh-CN" altLang="en-US" sz="1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endParaRPr>
          </a:p>
        </p:txBody>
      </p:sp>
      <p:sp>
        <p:nvSpPr>
          <p:cNvPr id="8" name="文本框 7"/>
          <p:cNvSpPr txBox="1"/>
          <p:nvPr/>
        </p:nvSpPr>
        <p:spPr>
          <a:xfrm>
            <a:off x="2344467" y="5282200"/>
            <a:ext cx="44550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无穷递降等比数列的极限求和</a:t>
            </a: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=a1/1-q</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animClr clrSpc="rgb" dir="cw">
                                      <p:cBhvr override="childStyle">
                                        <p:cTn dur="1" fill="hold" display="0" masterRel="nextClick" afterEffect="1"/>
                                        <p:tgtEl>
                                          <p:spTgt spid="7"/>
                                        </p:tgtEl>
                                        <p:attrNameLst>
                                          <p:attrName>ppt_c</p:attrName>
                                        </p:attrNameLst>
                                      </p:cBhvr>
                                      <p:to>
                                        <a:schemeClr val="accent1"/>
                                      </p:to>
                                    </p:animClr>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课堂练习二</a:t>
            </a:r>
            <a:endParaRPr lang="zh-CN" altLang="en-US" dirty="0"/>
          </a:p>
        </p:txBody>
      </p:sp>
      <p:sp>
        <p:nvSpPr>
          <p:cNvPr id="3" name="内容占位符 2"/>
          <p:cNvSpPr>
            <a:spLocks noGrp="1"/>
          </p:cNvSpPr>
          <p:nvPr>
            <p:ph idx="1"/>
          </p:nvPr>
        </p:nvSpPr>
        <p:spPr>
          <a:xfrm>
            <a:off x="323528" y="1772816"/>
            <a:ext cx="8496944" cy="4176464"/>
          </a:xfrm>
        </p:spPr>
        <p:txBody>
          <a:bodyPr>
            <a:normAutofit fontScale="62500" lnSpcReduction="20000"/>
          </a:bodyPr>
          <a:lstStyle/>
          <a:p>
            <a:r>
              <a:rPr lang="zh-CN" altLang="en-US" dirty="0"/>
              <a:t>假定，造林成本（</a:t>
            </a:r>
            <a:r>
              <a:rPr lang="en-US" altLang="zh-CN" dirty="0" err="1"/>
              <a:t>C</a:t>
            </a:r>
            <a:r>
              <a:rPr lang="en-US" altLang="zh-CN" sz="2400" dirty="0" err="1"/>
              <a:t>p</a:t>
            </a:r>
            <a:r>
              <a:rPr lang="zh-CN" altLang="en-US" dirty="0"/>
              <a:t>）为</a:t>
            </a:r>
            <a:r>
              <a:rPr lang="en-US" altLang="zh-CN" dirty="0"/>
              <a:t>1000</a:t>
            </a:r>
            <a:r>
              <a:rPr lang="zh-CN" altLang="en-US" dirty="0"/>
              <a:t>元，每年管理费用（</a:t>
            </a:r>
            <a:r>
              <a:rPr lang="en-US" altLang="zh-CN" dirty="0"/>
              <a:t>m</a:t>
            </a:r>
            <a:r>
              <a:rPr lang="zh-CN" altLang="en-US" dirty="0"/>
              <a:t>）为</a:t>
            </a:r>
            <a:r>
              <a:rPr lang="en-US" altLang="zh-CN" dirty="0"/>
              <a:t>100</a:t>
            </a:r>
            <a:r>
              <a:rPr lang="zh-CN" altLang="en-US" dirty="0"/>
              <a:t>元，森林的轮伐周期</a:t>
            </a:r>
            <a:r>
              <a:rPr lang="en-US" altLang="zh-CN" dirty="0"/>
              <a:t>(</a:t>
            </a:r>
            <a:r>
              <a:rPr lang="en-US" altLang="en-US" dirty="0"/>
              <a:t>t)</a:t>
            </a:r>
            <a:r>
              <a:rPr lang="zh-CN" altLang="en-US" dirty="0"/>
              <a:t>是</a:t>
            </a:r>
            <a:r>
              <a:rPr lang="en-US" altLang="zh-CN" dirty="0"/>
              <a:t>40</a:t>
            </a:r>
            <a:r>
              <a:rPr lang="zh-CN" altLang="en-US" dirty="0"/>
              <a:t>年，贴现率（</a:t>
            </a:r>
            <a:r>
              <a:rPr lang="en-US" altLang="zh-CN" dirty="0"/>
              <a:t>i</a:t>
            </a:r>
            <a:r>
              <a:rPr lang="zh-CN" altLang="en-US" dirty="0"/>
              <a:t>）为</a:t>
            </a:r>
            <a:r>
              <a:rPr lang="en-US" altLang="zh-CN" dirty="0"/>
              <a:t>8%</a:t>
            </a:r>
            <a:r>
              <a:rPr lang="zh-CN" altLang="en-US" dirty="0"/>
              <a:t>。</a:t>
            </a:r>
            <a:endParaRPr lang="en-US" altLang="zh-CN" dirty="0"/>
          </a:p>
          <a:p>
            <a:r>
              <a:rPr lang="zh-CN" altLang="en-US" dirty="0"/>
              <a:t>预期每次采伐可获得收入（</a:t>
            </a:r>
            <a:r>
              <a:rPr lang="en-US" altLang="zh-CN" dirty="0" err="1"/>
              <a:t>V</a:t>
            </a:r>
            <a:r>
              <a:rPr lang="en-US" altLang="zh-CN" sz="2000" dirty="0" err="1"/>
              <a:t>t</a:t>
            </a:r>
            <a:r>
              <a:rPr lang="zh-CN" altLang="en-US" dirty="0"/>
              <a:t>）</a:t>
            </a:r>
            <a:r>
              <a:rPr lang="en-US" altLang="zh-CN" dirty="0"/>
              <a:t>10</a:t>
            </a:r>
            <a:r>
              <a:rPr lang="zh-CN" altLang="en-US" dirty="0"/>
              <a:t>万元</a:t>
            </a:r>
            <a:endParaRPr lang="en-US" altLang="zh-CN" dirty="0"/>
          </a:p>
          <a:p>
            <a:r>
              <a:rPr lang="zh-CN" altLang="en-US" dirty="0"/>
              <a:t>求该造林项目的净现值</a:t>
            </a:r>
            <a:endParaRPr lang="en-US" altLang="zh-CN" dirty="0"/>
          </a:p>
          <a:p>
            <a:r>
              <a:rPr lang="en-US" altLang="en-US" dirty="0"/>
              <a:t>If</a:t>
            </a:r>
            <a:r>
              <a:rPr lang="en-US" altLang="en-US" dirty="0"/>
              <a:t> </a:t>
            </a:r>
            <a:r>
              <a:rPr lang="en-US" altLang="en-US" dirty="0"/>
              <a:t>a</a:t>
            </a:r>
            <a:r>
              <a:rPr lang="en-US" altLang="en-US" dirty="0"/>
              <a:t> </a:t>
            </a:r>
            <a:r>
              <a:rPr lang="en-US" altLang="en-US" dirty="0"/>
              <a:t>tract</a:t>
            </a:r>
            <a:r>
              <a:rPr lang="en-US" altLang="en-US" dirty="0"/>
              <a:t> </a:t>
            </a:r>
            <a:r>
              <a:rPr lang="en-US" altLang="en-US" dirty="0"/>
              <a:t>of</a:t>
            </a:r>
            <a:r>
              <a:rPr lang="en-US" altLang="en-US" dirty="0"/>
              <a:t> </a:t>
            </a:r>
            <a:r>
              <a:rPr lang="en-US" altLang="en-US" dirty="0"/>
              <a:t>forestland</a:t>
            </a:r>
            <a:r>
              <a:rPr lang="en-US" altLang="en-US" dirty="0"/>
              <a:t> </a:t>
            </a:r>
            <a:r>
              <a:rPr lang="en-US" altLang="en-US" dirty="0"/>
              <a:t>can</a:t>
            </a:r>
            <a:r>
              <a:rPr lang="en-US" altLang="en-US" dirty="0"/>
              <a:t> </a:t>
            </a:r>
            <a:r>
              <a:rPr lang="en-US" altLang="en-US" dirty="0"/>
              <a:t>produce</a:t>
            </a:r>
            <a:r>
              <a:rPr lang="en-US" altLang="en-US" dirty="0"/>
              <a:t> </a:t>
            </a:r>
            <a:r>
              <a:rPr lang="en-US" altLang="en-US" dirty="0"/>
              <a:t>a</a:t>
            </a:r>
            <a:r>
              <a:rPr lang="en-US" altLang="en-US" dirty="0"/>
              <a:t> </a:t>
            </a:r>
            <a:r>
              <a:rPr lang="en-US" altLang="en-US" dirty="0"/>
              <a:t>crop</a:t>
            </a:r>
            <a:r>
              <a:rPr lang="en-US" altLang="en-US" dirty="0"/>
              <a:t> </a:t>
            </a:r>
            <a:r>
              <a:rPr lang="en-US" altLang="en-US" dirty="0"/>
              <a:t>worth</a:t>
            </a:r>
            <a:r>
              <a:rPr lang="en-US" altLang="en-US" dirty="0"/>
              <a:t> </a:t>
            </a:r>
            <a:r>
              <a:rPr lang="en-US" altLang="en-US" dirty="0"/>
              <a:t>¥100,000</a:t>
            </a:r>
            <a:r>
              <a:rPr lang="en-US" altLang="en-US" dirty="0"/>
              <a:t> </a:t>
            </a:r>
            <a:r>
              <a:rPr lang="en-US" altLang="en-US" dirty="0"/>
              <a:t>in</a:t>
            </a:r>
            <a:r>
              <a:rPr lang="en-US" altLang="en-US" dirty="0"/>
              <a:t> </a:t>
            </a:r>
            <a:r>
              <a:rPr lang="en-US" altLang="en-US" dirty="0"/>
              <a:t>40</a:t>
            </a:r>
            <a:r>
              <a:rPr lang="en-US" altLang="en-US" dirty="0"/>
              <a:t> </a:t>
            </a:r>
            <a:r>
              <a:rPr lang="en-US" altLang="en-US" dirty="0"/>
              <a:t>years(the</a:t>
            </a:r>
            <a:r>
              <a:rPr lang="en-US" altLang="en-US" dirty="0"/>
              <a:t> </a:t>
            </a:r>
            <a:r>
              <a:rPr lang="en-US" altLang="en-US" dirty="0"/>
              <a:t>rotation</a:t>
            </a:r>
            <a:r>
              <a:rPr lang="en-US" altLang="en-US" dirty="0"/>
              <a:t> </a:t>
            </a:r>
            <a:r>
              <a:rPr lang="en-US" altLang="en-US" dirty="0"/>
              <a:t>period(t)</a:t>
            </a:r>
            <a:r>
              <a:rPr lang="en-US" altLang="en-US" dirty="0"/>
              <a:t> </a:t>
            </a:r>
            <a:r>
              <a:rPr lang="en-US" altLang="en-US" dirty="0"/>
              <a:t>is</a:t>
            </a:r>
            <a:r>
              <a:rPr lang="en-US" altLang="en-US" dirty="0"/>
              <a:t> </a:t>
            </a:r>
            <a:r>
              <a:rPr lang="en-US" altLang="en-US" dirty="0"/>
              <a:t>40</a:t>
            </a:r>
            <a:r>
              <a:rPr lang="en-US" altLang="en-US" dirty="0"/>
              <a:t> </a:t>
            </a:r>
            <a:r>
              <a:rPr lang="en-US" altLang="en-US" dirty="0"/>
              <a:t>years),</a:t>
            </a:r>
            <a:r>
              <a:rPr lang="en-US" altLang="en-US" dirty="0"/>
              <a:t> </a:t>
            </a:r>
            <a:r>
              <a:rPr lang="en-US" altLang="en-US" dirty="0"/>
              <a:t>and</a:t>
            </a:r>
            <a:r>
              <a:rPr lang="en-US" altLang="en-US" dirty="0"/>
              <a:t> </a:t>
            </a:r>
            <a:r>
              <a:rPr lang="en-US" altLang="en-US" dirty="0"/>
              <a:t>every</a:t>
            </a:r>
            <a:r>
              <a:rPr lang="en-US" altLang="en-US" dirty="0"/>
              <a:t> </a:t>
            </a:r>
            <a:r>
              <a:rPr lang="en-US" altLang="en-US" dirty="0"/>
              <a:t>40</a:t>
            </a:r>
            <a:r>
              <a:rPr lang="en-US" altLang="en-US" dirty="0"/>
              <a:t> </a:t>
            </a:r>
            <a:r>
              <a:rPr lang="en-US" altLang="en-US" dirty="0"/>
              <a:t>years</a:t>
            </a:r>
            <a:r>
              <a:rPr lang="en-US" altLang="en-US" dirty="0"/>
              <a:t> </a:t>
            </a:r>
            <a:r>
              <a:rPr lang="en-US" altLang="en-US" dirty="0"/>
              <a:t>thereafter,planting</a:t>
            </a:r>
            <a:r>
              <a:rPr lang="en-US" altLang="en-US" dirty="0"/>
              <a:t> </a:t>
            </a:r>
            <a:r>
              <a:rPr lang="en-US" altLang="en-US" dirty="0"/>
              <a:t>costs(</a:t>
            </a:r>
            <a:r>
              <a:rPr lang="en-US" altLang="zh-CN" dirty="0" err="1"/>
              <a:t>C</a:t>
            </a:r>
            <a:r>
              <a:rPr lang="en-US" altLang="zh-CN" sz="2400" dirty="0" err="1"/>
              <a:t>p</a:t>
            </a:r>
            <a:r>
              <a:rPr lang="en-US" altLang="en-US" dirty="0"/>
              <a:t>)</a:t>
            </a:r>
            <a:r>
              <a:rPr lang="en-US" altLang="en-US" dirty="0"/>
              <a:t> </a:t>
            </a:r>
            <a:r>
              <a:rPr lang="en-US" altLang="en-US" dirty="0"/>
              <a:t>are</a:t>
            </a:r>
            <a:r>
              <a:rPr lang="en-US" altLang="en-US" dirty="0"/>
              <a:t> </a:t>
            </a:r>
            <a:r>
              <a:rPr lang="en-US" altLang="en-US" dirty="0"/>
              <a:t>¥1,000,</a:t>
            </a:r>
            <a:r>
              <a:rPr lang="en-US" altLang="en-US" dirty="0"/>
              <a:t> </a:t>
            </a:r>
            <a:r>
              <a:rPr lang="en-US" altLang="en-US" dirty="0"/>
              <a:t>annual</a:t>
            </a:r>
            <a:r>
              <a:rPr lang="en-US" altLang="en-US" dirty="0"/>
              <a:t> </a:t>
            </a:r>
            <a:r>
              <a:rPr lang="en-US" altLang="en-US" dirty="0"/>
              <a:t>management</a:t>
            </a:r>
            <a:r>
              <a:rPr lang="en-US" altLang="en-US" dirty="0"/>
              <a:t> </a:t>
            </a:r>
            <a:r>
              <a:rPr lang="en-US" altLang="en-US" dirty="0"/>
              <a:t>costs(</a:t>
            </a:r>
            <a:r>
              <a:rPr lang="en-US" altLang="zh-CN" dirty="0"/>
              <a:t>m</a:t>
            </a:r>
            <a:r>
              <a:rPr lang="en-US" altLang="en-US" dirty="0"/>
              <a:t>)</a:t>
            </a:r>
            <a:r>
              <a:rPr lang="en-US" altLang="en-US" dirty="0"/>
              <a:t> </a:t>
            </a:r>
            <a:r>
              <a:rPr lang="en-US" altLang="en-US" dirty="0"/>
              <a:t>are</a:t>
            </a:r>
            <a:r>
              <a:rPr lang="en-US" altLang="en-US" dirty="0"/>
              <a:t> </a:t>
            </a:r>
            <a:r>
              <a:rPr lang="en-US" altLang="en-US" dirty="0"/>
              <a:t>¥100,</a:t>
            </a:r>
            <a:r>
              <a:rPr lang="en-US" altLang="en-US" dirty="0"/>
              <a:t> </a:t>
            </a:r>
            <a:r>
              <a:rPr lang="en-US" altLang="en-US" dirty="0"/>
              <a:t>the</a:t>
            </a:r>
            <a:r>
              <a:rPr lang="en-US" altLang="en-US" dirty="0"/>
              <a:t> </a:t>
            </a:r>
            <a:r>
              <a:rPr lang="en-US" altLang="en-US" dirty="0"/>
              <a:t>discount</a:t>
            </a:r>
            <a:r>
              <a:rPr lang="en-US" altLang="en-US" dirty="0"/>
              <a:t> </a:t>
            </a:r>
            <a:r>
              <a:rPr lang="en-US" altLang="en-US" dirty="0"/>
              <a:t>rate(i)</a:t>
            </a:r>
            <a:r>
              <a:rPr lang="en-US" altLang="en-US" dirty="0"/>
              <a:t> </a:t>
            </a:r>
            <a:r>
              <a:rPr lang="en-US" altLang="en-US" dirty="0"/>
              <a:t>is</a:t>
            </a:r>
            <a:r>
              <a:rPr lang="en-US" altLang="en-US" dirty="0"/>
              <a:t> </a:t>
            </a:r>
            <a:r>
              <a:rPr lang="en-US" altLang="en-US" dirty="0"/>
              <a:t>8%</a:t>
            </a:r>
            <a:endParaRPr lang="en-US" altLang="en-US" dirty="0"/>
          </a:p>
          <a:p>
            <a:r>
              <a:rPr lang="en-US" altLang="en-US" dirty="0"/>
              <a:t>What</a:t>
            </a:r>
            <a:r>
              <a:rPr lang="en-US" altLang="en-US" dirty="0"/>
              <a:t> </a:t>
            </a:r>
            <a:r>
              <a:rPr lang="en-US" altLang="en-US" dirty="0"/>
              <a:t>is</a:t>
            </a:r>
            <a:r>
              <a:rPr lang="en-US" altLang="en-US" dirty="0"/>
              <a:t> </a:t>
            </a:r>
            <a:r>
              <a:rPr lang="en-US" altLang="en-US" dirty="0"/>
              <a:t>the</a:t>
            </a:r>
            <a:r>
              <a:rPr lang="en-US" altLang="en-US" dirty="0"/>
              <a:t> </a:t>
            </a:r>
            <a:r>
              <a:rPr lang="en-US" altLang="en-US" dirty="0"/>
              <a:t>net</a:t>
            </a:r>
            <a:r>
              <a:rPr lang="en-US" altLang="en-US" dirty="0"/>
              <a:t> </a:t>
            </a:r>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this</a:t>
            </a:r>
            <a:r>
              <a:rPr lang="en-US" altLang="en-US" dirty="0"/>
              <a:t> </a:t>
            </a:r>
            <a:r>
              <a:rPr lang="en-US" altLang="en-US" dirty="0"/>
              <a:t>program?</a:t>
            </a:r>
            <a:endParaRPr lang="en-US" altLang="en-US" dirty="0"/>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475656" y="3501008"/>
            <a:ext cx="6192688" cy="0"/>
          </a:xfrm>
          <a:prstGeom prst="line">
            <a:avLst/>
          </a:prstGeom>
          <a:ln w="114300">
            <a:gradFill>
              <a:gsLst>
                <a:gs pos="0">
                  <a:schemeClr val="accent3">
                    <a:lumMod val="60000"/>
                    <a:lumOff val="40000"/>
                  </a:schemeClr>
                </a:gs>
                <a:gs pos="100000">
                  <a:schemeClr val="accent3">
                    <a:lumMod val="20000"/>
                    <a:lumOff val="80000"/>
                  </a:schemeClr>
                </a:gs>
              </a:gsLst>
              <a:lin ang="16200000" scaled="0"/>
            </a:gradFill>
          </a:ln>
          <a:effectLst>
            <a:outerShdw blurRad="50800" dist="38100" dir="180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normAutofit fontScale="90000"/>
          </a:bodyPr>
          <a:lstStyle/>
          <a:p>
            <a:r>
              <a:rPr lang="zh-CN" altLang="en-US" dirty="0"/>
              <a:t>求解：造林项目的净现值</a:t>
            </a:r>
            <a:endParaRPr lang="zh-CN" altLang="en-US" dirty="0"/>
          </a:p>
        </p:txBody>
      </p:sp>
      <p:graphicFrame>
        <p:nvGraphicFramePr>
          <p:cNvPr id="3" name="对象 2"/>
          <p:cNvGraphicFramePr>
            <a:graphicFrameLocks noChangeAspect="1"/>
          </p:cNvGraphicFramePr>
          <p:nvPr/>
        </p:nvGraphicFramePr>
        <p:xfrm>
          <a:off x="899592" y="1700807"/>
          <a:ext cx="6611937" cy="1571625"/>
        </p:xfrm>
        <a:graphic>
          <a:graphicData uri="http://schemas.openxmlformats.org/presentationml/2006/ole">
            <mc:AlternateContent xmlns:mc="http://schemas.openxmlformats.org/markup-compatibility/2006">
              <mc:Choice xmlns:v="urn:schemas-microsoft-com:vml" Requires="v">
                <p:oleObj spid="_x0000_s22557" name="公式" r:id="rId1" imgW="43586400" imgH="10363200" progId="Equation.3">
                  <p:embed/>
                </p:oleObj>
              </mc:Choice>
              <mc:Fallback>
                <p:oleObj name="公式" r:id="rId1" imgW="43586400" imgH="10363200" progId="Equation.3">
                  <p:embed/>
                  <p:pic>
                    <p:nvPicPr>
                      <p:cNvPr id="0" name="对象 2"/>
                      <p:cNvPicPr/>
                      <p:nvPr/>
                    </p:nvPicPr>
                    <p:blipFill>
                      <a:blip r:embed="rId2"/>
                      <a:stretch>
                        <a:fillRect/>
                      </a:stretch>
                    </p:blipFill>
                    <p:spPr>
                      <a:xfrm>
                        <a:off x="899592" y="1700807"/>
                        <a:ext cx="6611937" cy="1571625"/>
                      </a:xfrm>
                      <a:prstGeom prst="rect">
                        <a:avLst/>
                      </a:prstGeom>
                    </p:spPr>
                  </p:pic>
                </p:oleObj>
              </mc:Fallback>
            </mc:AlternateContent>
          </a:graphicData>
        </a:graphic>
      </p:graphicFrame>
      <p:pic>
        <p:nvPicPr>
          <p:cNvPr id="5" name="图片 4">
            <a:hlinkClick r:id="rId3" action="ppaction://hlinksldjump"/>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47864" y="3288006"/>
            <a:ext cx="377896" cy="380969"/>
          </a:xfrm>
          <a:prstGeom prst="rect">
            <a:avLst/>
          </a:prstGeom>
        </p:spPr>
      </p:pic>
      <p:pic>
        <p:nvPicPr>
          <p:cNvPr id="6" name="图片 5">
            <a:hlinkClick r:id="rId5" action="ppaction://hlinksldjump"/>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24128" y="3284984"/>
            <a:ext cx="380969" cy="377896"/>
          </a:xfrm>
          <a:prstGeom prst="rect">
            <a:avLst/>
          </a:prstGeom>
        </p:spPr>
      </p:pic>
      <p:pic>
        <p:nvPicPr>
          <p:cNvPr id="7" name="图片 6">
            <a:hlinkClick r:id="rId5" action="ppaction://hlinksldjump"/>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020272" y="3284984"/>
            <a:ext cx="377896" cy="377896"/>
          </a:xfrm>
          <a:prstGeom prst="rect">
            <a:avLst/>
          </a:prstGeom>
        </p:spPr>
      </p:pic>
      <p:graphicFrame>
        <p:nvGraphicFramePr>
          <p:cNvPr id="10" name="表格 9"/>
          <p:cNvGraphicFramePr>
            <a:graphicFrameLocks noGrp="1"/>
          </p:cNvGraphicFramePr>
          <p:nvPr/>
        </p:nvGraphicFramePr>
        <p:xfrm>
          <a:off x="1835696" y="3620973"/>
          <a:ext cx="6696744" cy="3124200"/>
        </p:xfrm>
        <a:graphic>
          <a:graphicData uri="http://schemas.openxmlformats.org/drawingml/2006/table">
            <a:tbl>
              <a:tblPr>
                <a:effectLst>
                  <a:outerShdw blurRad="101600" dist="101600" dir="8100000" algn="tr" rotWithShape="0">
                    <a:prstClr val="black">
                      <a:alpha val="40000"/>
                    </a:prstClr>
                  </a:outerShdw>
                </a:effectLst>
                <a:tableStyleId>{306799F8-075E-4A3A-A7F6-7FBC6576F1A4}</a:tableStyleId>
              </a:tblPr>
              <a:tblGrid>
                <a:gridCol w="1116124"/>
                <a:gridCol w="1116124"/>
                <a:gridCol w="1116124"/>
                <a:gridCol w="1116124"/>
                <a:gridCol w="1116124"/>
                <a:gridCol w="1116124"/>
              </a:tblGrid>
              <a:tr h="520700">
                <a:tc>
                  <a:txBody>
                    <a:bodyPr/>
                    <a:lstStyle/>
                    <a:p>
                      <a:pPr algn="ctr" fontAlgn="ctr"/>
                      <a:r>
                        <a:rPr lang="en-US" sz="2400" b="0" i="0" u="none" strike="noStrike" dirty="0">
                          <a:solidFill>
                            <a:srgbClr val="000000"/>
                          </a:solidFill>
                          <a:effectLst/>
                          <a:latin typeface="宋体" panose="02010600030101010101" pitchFamily="2" charset="-122"/>
                        </a:rPr>
                        <a:t>1</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A</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B</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C</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D</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E</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r>
              <a:tr h="520700">
                <a:tc>
                  <a:txBody>
                    <a:bodyPr/>
                    <a:lstStyle/>
                    <a:p>
                      <a:pPr algn="ctr" fontAlgn="ctr"/>
                      <a:r>
                        <a:rPr lang="en-US" sz="2400" b="0" i="0" u="none" strike="noStrike" dirty="0">
                          <a:solidFill>
                            <a:srgbClr val="000000"/>
                          </a:solidFill>
                          <a:effectLst/>
                          <a:latin typeface="宋体" panose="02010600030101010101" pitchFamily="2" charset="-122"/>
                        </a:rPr>
                        <a:t>2</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sz="2400" u="none" strike="noStrike" dirty="0" err="1">
                          <a:effectLst/>
                        </a:rPr>
                        <a:t>Vt</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err="1">
                          <a:effectLst/>
                        </a:rPr>
                        <a:t>Cp</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a:effectLst/>
                        </a:rPr>
                        <a:t>i</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a:effectLst/>
                        </a:rPr>
                        <a:t>m</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a:effectLst/>
                        </a:rPr>
                        <a:t>t</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r>
              <a:tr h="520700">
                <a:tc>
                  <a:txBody>
                    <a:bodyPr/>
                    <a:lstStyle/>
                    <a:p>
                      <a:pPr algn="ctr" fontAlgn="ctr"/>
                      <a:r>
                        <a:rPr lang="en-US" altLang="zh-CN" sz="2400" b="0" i="0" u="none" strike="noStrike" dirty="0">
                          <a:solidFill>
                            <a:srgbClr val="000000"/>
                          </a:solidFill>
                          <a:effectLst/>
                          <a:latin typeface="宋体" panose="02010600030101010101" pitchFamily="2" charset="-122"/>
                        </a:rPr>
                        <a:t>3</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altLang="zh-CN" sz="2400" u="none" strike="noStrike" dirty="0">
                          <a:effectLst/>
                        </a:rPr>
                        <a:t>100000</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a:effectLst/>
                        </a:rPr>
                        <a:t>1000</a:t>
                      </a:r>
                      <a:endParaRPr lang="en-US" altLang="zh-CN" sz="2400" b="0" i="0" u="none" strike="noStrike">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dirty="0">
                          <a:effectLst/>
                        </a:rPr>
                        <a:t>0.08</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dirty="0">
                          <a:effectLst/>
                        </a:rPr>
                        <a:t>100</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dirty="0">
                          <a:effectLst/>
                        </a:rPr>
                        <a:t>40</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20700">
                <a:tc>
                  <a:txBody>
                    <a:bodyPr/>
                    <a:lstStyle/>
                    <a:p>
                      <a:pPr algn="ctr" fontAlgn="ctr"/>
                      <a:r>
                        <a:rPr lang="en-US" altLang="zh-CN" sz="2400" b="0" i="0" u="none" strike="noStrike" dirty="0">
                          <a:solidFill>
                            <a:srgbClr val="000000"/>
                          </a:solidFill>
                          <a:effectLst/>
                          <a:latin typeface="宋体" panose="02010600030101010101" pitchFamily="2" charset="-122"/>
                        </a:rPr>
                        <a:t>4</a:t>
                      </a: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r>
              <a:tr h="520700">
                <a:tc>
                  <a:txBody>
                    <a:bodyPr/>
                    <a:lstStyle/>
                    <a:p>
                      <a:pPr marL="0" algn="ctr" defTabSz="914400" rtl="0" eaLnBrk="1" fontAlgn="ctr" latinLnBrk="0" hangingPunct="1"/>
                      <a:r>
                        <a:rPr lang="en-US" sz="2400" b="0" i="0" u="none" strike="noStrike" kern="1200" dirty="0">
                          <a:solidFill>
                            <a:srgbClr val="000000"/>
                          </a:solidFill>
                          <a:effectLst/>
                          <a:latin typeface="宋体" panose="02010600030101010101" pitchFamily="2" charset="-122"/>
                          <a:ea typeface="+mn-ea"/>
                          <a:cs typeface="+mn-cs"/>
                        </a:rPr>
                        <a:t>5</a:t>
                      </a:r>
                      <a:endParaRPr lang="en-US" sz="2400" b="0" i="0" u="none" strike="noStrike" kern="1200" dirty="0">
                        <a:solidFill>
                          <a:srgbClr val="000000"/>
                        </a:solidFill>
                        <a:effectLst/>
                        <a:latin typeface="宋体" panose="02010600030101010101" pitchFamily="2" charset="-122"/>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altLang="zh-CN" sz="2400" u="none" strike="noStrike" dirty="0">
                          <a:effectLst/>
                        </a:rPr>
                        <a:t>V</a:t>
                      </a:r>
                      <a:r>
                        <a:rPr lang="en-US" altLang="zh-CN" sz="2400" u="none" strike="noStrike" baseline="-25000" dirty="0">
                          <a:effectLst/>
                        </a:rPr>
                        <a:t>0</a:t>
                      </a:r>
                      <a:endParaRPr lang="en-US" sz="2400" b="0" i="0" u="none" strike="noStrike" baseline="-25000"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solidFill>
                      <a:schemeClr val="accent4">
                        <a:lumMod val="60000"/>
                        <a:lumOff val="40000"/>
                      </a:schemeClr>
                    </a:solidFill>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r>
              <a:tr h="520700">
                <a:tc>
                  <a:txBody>
                    <a:bodyPr/>
                    <a:lstStyle/>
                    <a:p>
                      <a:pPr algn="ctr" fontAlgn="ctr"/>
                      <a:r>
                        <a:rPr lang="en-US" altLang="zh-CN" sz="2400" b="0" i="0" u="none" strike="noStrike" dirty="0">
                          <a:solidFill>
                            <a:srgbClr val="000000"/>
                          </a:solidFill>
                          <a:effectLst/>
                          <a:latin typeface="宋体" panose="02010600030101010101" pitchFamily="2" charset="-122"/>
                        </a:rPr>
                        <a:t>6</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altLang="zh-CN" sz="2400" u="none" strike="noStrike" dirty="0">
                          <a:effectLst/>
                        </a:rPr>
                        <a:t>2526.95</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4">
                  <a:txBody>
                    <a:bodyPr/>
                    <a:lstStyle/>
                    <a:p>
                      <a:pPr algn="ctr" fontAlgn="ctr"/>
                      <a:r>
                        <a:rPr lang="en-US" altLang="zh-CN" sz="2400" u="none" strike="noStrike" dirty="0">
                          <a:effectLst/>
                        </a:rPr>
                        <a:t>=(A2-B2)/((1+C2)^E2-1)-D2/C2-B2</a:t>
                      </a: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cPr marL="9525" marR="9525" marT="9525" marB="0" anchor="ctr"/>
                </a:tc>
                <a:tc hMerge="1">
                  <a:tcPr marL="9525" marR="9525" marT="9525" marB="0" anchor="ctr"/>
                </a:tc>
                <a:tc hMerge="1">
                  <a:tcPr marL="9525" marR="9525" marT="9525" marB="0" anchor="ctr"/>
                </a:tc>
              </a:tr>
            </a:tbl>
          </a:graphicData>
        </a:graphic>
      </p:graphicFrame>
      <p:sp>
        <p:nvSpPr>
          <p:cNvPr id="11" name="椭圆 10"/>
          <p:cNvSpPr/>
          <p:nvPr/>
        </p:nvSpPr>
        <p:spPr>
          <a:xfrm>
            <a:off x="2384684" y="1628800"/>
            <a:ext cx="2304256" cy="890483"/>
          </a:xfrm>
          <a:prstGeom prst="ellipse">
            <a:avLst/>
          </a:prstGeom>
          <a:noFill/>
          <a:ln>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TextBox 11"/>
          <p:cNvSpPr txBox="1"/>
          <p:nvPr/>
        </p:nvSpPr>
        <p:spPr>
          <a:xfrm>
            <a:off x="3725760" y="1556792"/>
            <a:ext cx="43396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rPr>
              <a:t>每次采伐之后都要补种，以保障永续利用</a:t>
            </a:r>
            <a:endParaRPr kumimoji="0" lang="zh-CN" altLang="en-US" sz="1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思考</a:t>
            </a:r>
            <a:endParaRPr kumimoji="1" lang="zh-CN" altLang="en-US" dirty="0"/>
          </a:p>
        </p:txBody>
      </p:sp>
      <p:sp>
        <p:nvSpPr>
          <p:cNvPr id="3" name="内容占位符 2"/>
          <p:cNvSpPr>
            <a:spLocks noGrp="1"/>
          </p:cNvSpPr>
          <p:nvPr>
            <p:ph idx="1"/>
          </p:nvPr>
        </p:nvSpPr>
        <p:spPr/>
        <p:txBody>
          <a:bodyPr/>
          <a:lstStyle/>
          <a:p>
            <a:r>
              <a:rPr kumimoji="1" lang="zh-CN" altLang="en-US" dirty="0"/>
              <a:t>如果不是按年计息，而是按月计息呢？</a:t>
            </a:r>
            <a:endParaRPr kumimoji="1" lang="en-US" altLang="zh-CN" dirty="0"/>
          </a:p>
          <a:p>
            <a:pPr lvl="1"/>
            <a:r>
              <a:rPr kumimoji="1" lang="zh-CN" altLang="en-US" dirty="0"/>
              <a:t>年利率</a:t>
            </a:r>
            <a:r>
              <a:rPr kumimoji="1" lang="en-US" altLang="zh-CN" dirty="0"/>
              <a:t>5%</a:t>
            </a:r>
            <a:r>
              <a:rPr kumimoji="1" lang="zh-CN" altLang="en-US" dirty="0"/>
              <a:t>，相当于月利率是多少？</a:t>
            </a:r>
            <a:endParaRPr kumimoji="1" lang="en-US" altLang="zh-CN" dirty="0"/>
          </a:p>
          <a:p>
            <a:r>
              <a:rPr kumimoji="1" lang="zh-CN" altLang="en-US" dirty="0"/>
              <a:t>如果一年中无限次地计息呢？</a:t>
            </a:r>
            <a:endParaRPr kumimoji="1" lang="en-US" altLang="zh-CN" dirty="0"/>
          </a:p>
          <a:p>
            <a:pPr lvl="1"/>
            <a:r>
              <a:rPr kumimoji="1" lang="zh-CN" altLang="en-US" dirty="0"/>
              <a:t>年利率</a:t>
            </a:r>
            <a:r>
              <a:rPr kumimoji="1" lang="en-US" altLang="zh-CN" dirty="0"/>
              <a:t>5%</a:t>
            </a:r>
            <a:r>
              <a:rPr kumimoji="1" lang="zh-CN" altLang="en-US" dirty="0"/>
              <a:t>，相当于连续复利是多少？</a:t>
            </a:r>
            <a:endParaRPr kumimoji="1"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年利率与月利率</a:t>
            </a:r>
            <a:endParaRPr kumimoji="1" lang="zh-CN" altLang="en-US" dirty="0"/>
          </a:p>
        </p:txBody>
      </p:sp>
      <p:sp>
        <p:nvSpPr>
          <p:cNvPr id="3" name="内容占位符 2"/>
          <p:cNvSpPr>
            <a:spLocks noGrp="1"/>
          </p:cNvSpPr>
          <p:nvPr>
            <p:ph idx="1"/>
          </p:nvPr>
        </p:nvSpPr>
        <p:spPr/>
        <p:txBody>
          <a:bodyPr/>
          <a:lstStyle/>
          <a:p>
            <a:r>
              <a:rPr kumimoji="1" lang="zh-CN" altLang="en-US" dirty="0"/>
              <a:t>年利率</a:t>
            </a:r>
            <a:r>
              <a:rPr kumimoji="1" lang="en-US" altLang="zh-CN" dirty="0"/>
              <a:t>5%</a:t>
            </a:r>
            <a:r>
              <a:rPr kumimoji="1" lang="zh-CN" altLang="en-US" dirty="0"/>
              <a:t>，期初：</a:t>
            </a:r>
            <a:r>
              <a:rPr kumimoji="1" lang="en-US" altLang="zh-CN" dirty="0"/>
              <a:t>100</a:t>
            </a:r>
            <a:r>
              <a:rPr kumimoji="1" lang="zh-CN" altLang="en-US" dirty="0"/>
              <a:t>；</a:t>
            </a:r>
            <a:r>
              <a:rPr kumimoji="1" lang="en-US" altLang="zh-CN" dirty="0"/>
              <a:t>1</a:t>
            </a:r>
            <a:r>
              <a:rPr kumimoji="1" lang="zh-CN" altLang="en-US" dirty="0"/>
              <a:t>年后可得：</a:t>
            </a:r>
            <a:r>
              <a:rPr kumimoji="1" lang="en-US" altLang="zh-CN" dirty="0"/>
              <a:t>105</a:t>
            </a:r>
            <a:endParaRPr kumimoji="1" lang="en-US" altLang="zh-CN" dirty="0"/>
          </a:p>
          <a:p>
            <a:r>
              <a:rPr kumimoji="1" lang="zh-CN" altLang="en-US" dirty="0"/>
              <a:t>假定月利率为</a:t>
            </a:r>
            <a:r>
              <a:rPr kumimoji="1" lang="en-US" altLang="zh-CN" dirty="0"/>
              <a:t>r</a:t>
            </a:r>
            <a:r>
              <a:rPr kumimoji="1" lang="zh-CN" altLang="en-US" dirty="0"/>
              <a:t>，</a:t>
            </a:r>
            <a:r>
              <a:rPr kumimoji="1" lang="en-US" altLang="zh-CN" dirty="0"/>
              <a:t>1</a:t>
            </a:r>
            <a:r>
              <a:rPr kumimoji="1" lang="zh-CN" altLang="en-US" dirty="0"/>
              <a:t>年中需要计算</a:t>
            </a:r>
            <a:r>
              <a:rPr kumimoji="1" lang="en-US" altLang="zh-CN" dirty="0"/>
              <a:t>12</a:t>
            </a:r>
            <a:r>
              <a:rPr kumimoji="1" lang="zh-CN" altLang="en-US" dirty="0"/>
              <a:t>次复利</a:t>
            </a:r>
            <a:endParaRPr kumimoji="1" lang="en-US" altLang="zh-CN" dirty="0"/>
          </a:p>
          <a:p>
            <a:r>
              <a:rPr kumimoji="1" lang="zh-CN" altLang="en-US" dirty="0"/>
              <a:t>有</a:t>
            </a:r>
            <a:r>
              <a:rPr kumimoji="1" lang="zh-CN" altLang="en-US" dirty="0">
                <a:sym typeface="Wingdings" panose="05000000000000000000"/>
              </a:rPr>
              <a:t>： </a:t>
            </a:r>
            <a:r>
              <a:rPr kumimoji="1" lang="en-US" altLang="zh-CN" dirty="0">
                <a:sym typeface="Wingdings" panose="05000000000000000000"/>
              </a:rPr>
              <a:t>100</a:t>
            </a:r>
            <a:r>
              <a:rPr kumimoji="1" lang="zh-CN" altLang="en-US" dirty="0">
                <a:sym typeface="Wingdings" panose="05000000000000000000"/>
              </a:rPr>
              <a:t>*</a:t>
            </a:r>
            <a:r>
              <a:rPr kumimoji="1" lang="en-US" altLang="zh-CN" dirty="0">
                <a:sym typeface="Wingdings" panose="05000000000000000000"/>
              </a:rPr>
              <a:t>(1+r)^12=105</a:t>
            </a:r>
            <a:endParaRPr kumimoji="1" lang="en-US" altLang="zh-CN" dirty="0">
              <a:sym typeface="Wingdings" panose="05000000000000000000"/>
            </a:endParaRPr>
          </a:p>
          <a:p>
            <a:r>
              <a:rPr kumimoji="1" lang="en-US" altLang="zh-CN" dirty="0">
                <a:sym typeface="Wingdings" panose="05000000000000000000"/>
              </a:rPr>
              <a:t>(1+r)^12=1.05=1+5%</a:t>
            </a:r>
            <a:endParaRPr kumimoji="1" lang="en-US" altLang="zh-CN" dirty="0">
              <a:sym typeface="Wingdings" panose="05000000000000000000"/>
            </a:endParaRPr>
          </a:p>
          <a:p>
            <a:r>
              <a:rPr kumimoji="1" lang="en-US" altLang="en-US" dirty="0">
                <a:sym typeface="Wingdings" panose="05000000000000000000"/>
              </a:rPr>
              <a:t>讨论：</a:t>
            </a:r>
            <a:r>
              <a:rPr kumimoji="1" lang="en-US" altLang="en-US" dirty="0">
                <a:sym typeface="Wingdings" panose="05000000000000000000"/>
              </a:rPr>
              <a:t>r=5%/12</a:t>
            </a:r>
            <a:r>
              <a:rPr kumimoji="1" lang="en-US" altLang="en-US" dirty="0">
                <a:sym typeface="Wingdings" panose="05000000000000000000"/>
              </a:rPr>
              <a:t> 对吗？</a:t>
            </a:r>
            <a:endParaRPr kumimoji="1"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周期（日、月、季度）利率转换为年利率</a:t>
            </a:r>
            <a:endParaRPr lang="zh-CN" altLang="en-US" dirty="0"/>
          </a:p>
        </p:txBody>
      </p:sp>
      <p:graphicFrame>
        <p:nvGraphicFramePr>
          <p:cNvPr id="3" name="对象 2"/>
          <p:cNvGraphicFramePr>
            <a:graphicFrameLocks noChangeAspect="1"/>
          </p:cNvGraphicFramePr>
          <p:nvPr/>
        </p:nvGraphicFramePr>
        <p:xfrm>
          <a:off x="2195736" y="2420888"/>
          <a:ext cx="4658151" cy="991096"/>
        </p:xfrm>
        <a:graphic>
          <a:graphicData uri="http://schemas.openxmlformats.org/presentationml/2006/ole">
            <mc:AlternateContent xmlns:mc="http://schemas.openxmlformats.org/markup-compatibility/2006">
              <mc:Choice xmlns:v="urn:schemas-microsoft-com:vml" Requires="v">
                <p:oleObj spid="_x0000_s23581" name="公式" r:id="rId1" imgW="28651200" imgH="6096000" progId="Equation.3">
                  <p:embed/>
                </p:oleObj>
              </mc:Choice>
              <mc:Fallback>
                <p:oleObj name="公式" r:id="rId1" imgW="28651200" imgH="6096000" progId="Equation.3">
                  <p:embed/>
                  <p:pic>
                    <p:nvPicPr>
                      <p:cNvPr id="0" name="对象 2"/>
                      <p:cNvPicPr/>
                      <p:nvPr/>
                    </p:nvPicPr>
                    <p:blipFill>
                      <a:blip r:embed="rId2"/>
                      <a:stretch>
                        <a:fillRect/>
                      </a:stretch>
                    </p:blipFill>
                    <p:spPr>
                      <a:xfrm>
                        <a:off x="2195736" y="2420888"/>
                        <a:ext cx="4658151" cy="991096"/>
                      </a:xfrm>
                      <a:prstGeom prst="rect">
                        <a:avLst/>
                      </a:prstGeom>
                    </p:spPr>
                  </p:pic>
                </p:oleObj>
              </mc:Fallback>
            </mc:AlternateContent>
          </a:graphicData>
        </a:graphic>
      </p:graphicFrame>
      <p:sp>
        <p:nvSpPr>
          <p:cNvPr id="4" name="TextBox 3"/>
          <p:cNvSpPr txBox="1"/>
          <p:nvPr/>
        </p:nvSpPr>
        <p:spPr>
          <a:xfrm>
            <a:off x="2807961" y="3573016"/>
            <a:ext cx="172819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rPr>
              <a:t>周期利率</a:t>
            </a:r>
            <a:endPar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endParaRPr>
          </a:p>
        </p:txBody>
      </p:sp>
      <p:cxnSp>
        <p:nvCxnSpPr>
          <p:cNvPr id="6" name="直接箭头连接符 5"/>
          <p:cNvCxnSpPr>
            <a:stCxn id="4" idx="0"/>
          </p:cNvCxnSpPr>
          <p:nvPr/>
        </p:nvCxnSpPr>
        <p:spPr>
          <a:xfrm flipV="1">
            <a:off x="3672057" y="3212976"/>
            <a:ext cx="0" cy="36004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7" name="直接箭头连接符 6"/>
          <p:cNvCxnSpPr/>
          <p:nvPr/>
        </p:nvCxnSpPr>
        <p:spPr>
          <a:xfrm flipH="1">
            <a:off x="4410061" y="2276872"/>
            <a:ext cx="126092" cy="288032"/>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 name="TextBox 10"/>
          <p:cNvSpPr txBox="1"/>
          <p:nvPr/>
        </p:nvSpPr>
        <p:spPr>
          <a:xfrm>
            <a:off x="3131997" y="1710121"/>
            <a:ext cx="2808312" cy="523220"/>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innerShdw blurRad="63500" dist="50800" dir="13500000">
                    <a:prstClr val="black">
                      <a:alpha val="50000"/>
                    </a:prstClr>
                  </a:innerShdw>
                </a:effectLst>
                <a:uLnTx/>
                <a:uFillTx/>
                <a:latin typeface="黑体" panose="02010609060101010101" charset="-122"/>
                <a:ea typeface="黑体" panose="02010609060101010101" charset="-122"/>
                <a:cs typeface="+mn-cs"/>
              </a:rPr>
              <a:t>一年中的周期数</a:t>
            </a:r>
            <a:endParaRPr kumimoji="0" lang="zh-CN" altLang="en-US" sz="2800" b="0" i="0" u="none" strike="noStrike" kern="1200" cap="none" spc="0" normalizeH="0" baseline="0" noProof="0" dirty="0">
              <a:ln>
                <a:noFill/>
              </a:ln>
              <a:solidFill>
                <a:prstClr val="white"/>
              </a:solidFill>
              <a:effectLst>
                <a:innerShdw blurRad="63500" dist="50800" dir="13500000">
                  <a:prstClr val="black">
                    <a:alpha val="50000"/>
                  </a:prstClr>
                </a:innerShdw>
              </a:effectLst>
              <a:uLnTx/>
              <a:uFillTx/>
              <a:latin typeface="黑体" panose="02010609060101010101" charset="-122"/>
              <a:ea typeface="黑体" panose="02010609060101010101" charset="-122"/>
              <a:cs typeface="+mn-cs"/>
            </a:endParaRPr>
          </a:p>
        </p:txBody>
      </p:sp>
      <p:sp>
        <p:nvSpPr>
          <p:cNvPr id="12" name="TextBox 11"/>
          <p:cNvSpPr txBox="1"/>
          <p:nvPr/>
        </p:nvSpPr>
        <p:spPr>
          <a:xfrm>
            <a:off x="5940152" y="3572265"/>
            <a:ext cx="129614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rPr>
              <a:t>年利率</a:t>
            </a:r>
            <a:endPar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endParaRPr>
          </a:p>
        </p:txBody>
      </p:sp>
      <p:cxnSp>
        <p:nvCxnSpPr>
          <p:cNvPr id="13" name="直接箭头连接符 12"/>
          <p:cNvCxnSpPr/>
          <p:nvPr/>
        </p:nvCxnSpPr>
        <p:spPr>
          <a:xfrm flipV="1">
            <a:off x="6588224" y="3212225"/>
            <a:ext cx="0" cy="36004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连续复利</a:t>
            </a:r>
            <a:br>
              <a:rPr kumimoji="1" lang="en-US" altLang="zh-CN" dirty="0"/>
            </a:br>
            <a:r>
              <a:rPr kumimoji="1" lang="en-US" altLang="en-US" dirty="0"/>
              <a:t>Continuous</a:t>
            </a:r>
            <a:r>
              <a:rPr kumimoji="1" lang="en-US" altLang="en-US" dirty="0"/>
              <a:t> </a:t>
            </a:r>
            <a:r>
              <a:rPr kumimoji="1" lang="en-US" altLang="en-US" dirty="0"/>
              <a:t>compounding</a:t>
            </a:r>
            <a:endParaRPr kumimoji="1" lang="zh-CN" altLang="en-US" dirty="0"/>
          </a:p>
        </p:txBody>
      </p:sp>
      <p:sp>
        <p:nvSpPr>
          <p:cNvPr id="3" name="内容占位符 2"/>
          <p:cNvSpPr>
            <a:spLocks noGrp="1"/>
          </p:cNvSpPr>
          <p:nvPr>
            <p:ph sz="quarter" idx="13"/>
          </p:nvPr>
        </p:nvSpPr>
        <p:spPr/>
        <p:txBody>
          <a:bodyPr>
            <a:normAutofit fontScale="92500" lnSpcReduction="20000"/>
          </a:bodyPr>
          <a:lstStyle/>
          <a:p>
            <a:r>
              <a:rPr kumimoji="1" lang="zh-CN" altLang="en-US" dirty="0"/>
              <a:t>假定存入银行的</a:t>
            </a:r>
            <a:r>
              <a:rPr kumimoji="1" lang="en-US" altLang="zh-CN" dirty="0"/>
              <a:t>100</a:t>
            </a:r>
            <a:r>
              <a:rPr kumimoji="1" lang="zh-CN" altLang="en-US" dirty="0"/>
              <a:t>元钱，</a:t>
            </a:r>
            <a:r>
              <a:rPr kumimoji="1" lang="en-US" altLang="zh-CN" dirty="0"/>
              <a:t>1</a:t>
            </a:r>
            <a:r>
              <a:rPr kumimoji="1" lang="zh-CN" altLang="en-US" dirty="0"/>
              <a:t>年后会翻倍，变为</a:t>
            </a:r>
            <a:r>
              <a:rPr kumimoji="1" lang="en-US" altLang="zh-CN" dirty="0"/>
              <a:t>200</a:t>
            </a:r>
            <a:r>
              <a:rPr kumimoji="1" lang="zh-CN" altLang="en-US" dirty="0"/>
              <a:t>元，</a:t>
            </a:r>
            <a:r>
              <a:rPr kumimoji="1" lang="en-US" altLang="en-US" dirty="0"/>
              <a:t>利率为</a:t>
            </a:r>
            <a:r>
              <a:rPr kumimoji="1" lang="en-US" altLang="en-US" dirty="0"/>
              <a:t>100%</a:t>
            </a:r>
            <a:endParaRPr kumimoji="1" lang="en-US" altLang="zh-CN" dirty="0"/>
          </a:p>
          <a:p>
            <a:r>
              <a:rPr kumimoji="1" lang="zh-CN" altLang="en-US" dirty="0"/>
              <a:t>但现在有一家银行表示，你可以在这</a:t>
            </a:r>
            <a:r>
              <a:rPr kumimoji="1" lang="en-US" altLang="zh-CN" dirty="0"/>
              <a:t>1</a:t>
            </a:r>
            <a:r>
              <a:rPr kumimoji="1" lang="zh-CN" altLang="en-US" dirty="0"/>
              <a:t>年中的任何一个时间点去取钱，每一分每一秒都会为你计息，利息率为</a:t>
            </a:r>
            <a:r>
              <a:rPr kumimoji="1" lang="en-US" altLang="zh-CN" dirty="0"/>
              <a:t>1/</a:t>
            </a:r>
            <a:r>
              <a:rPr kumimoji="1" lang="en-US" altLang="zh-CN" dirty="0" err="1"/>
              <a:t>n,n</a:t>
            </a:r>
            <a:r>
              <a:rPr kumimoji="1" lang="zh-CN" altLang="en-US" dirty="0"/>
              <a:t>无穷大</a:t>
            </a:r>
            <a:endParaRPr kumimoji="1" lang="en-US" altLang="zh-CN" dirty="0"/>
          </a:p>
          <a:p>
            <a:r>
              <a:rPr kumimoji="1" lang="zh-CN" altLang="en-US" dirty="0"/>
              <a:t>实际上</a:t>
            </a:r>
            <a:r>
              <a:rPr kumimoji="1" lang="en-US" altLang="zh-CN" dirty="0"/>
              <a:t>1</a:t>
            </a:r>
            <a:r>
              <a:rPr kumimoji="1" lang="zh-CN" altLang="en-US" dirty="0"/>
              <a:t>年后我会得到多少钱？</a:t>
            </a:r>
            <a:endParaRPr kumimoji="1" lang="en-US" altLang="zh-CN" dirty="0"/>
          </a:p>
          <a:p>
            <a:r>
              <a:rPr kumimoji="1" lang="en-US" altLang="zh-CN" dirty="0"/>
              <a:t>100</a:t>
            </a:r>
            <a:r>
              <a:rPr kumimoji="1" lang="zh-CN" altLang="en-US" dirty="0"/>
              <a:t>*（</a:t>
            </a:r>
            <a:r>
              <a:rPr kumimoji="1" lang="en-US" altLang="zh-CN" dirty="0"/>
              <a:t>1+1/n)^n</a:t>
            </a:r>
            <a:endParaRPr kumimoji="1"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835696" y="260648"/>
            <a:ext cx="5184576" cy="4458481"/>
          </a:xfrm>
          <a:prstGeom prst="rect">
            <a:avLst/>
          </a:prstGeom>
        </p:spPr>
      </p:pic>
      <p:sp>
        <p:nvSpPr>
          <p:cNvPr id="3" name="矩形 2"/>
          <p:cNvSpPr/>
          <p:nvPr/>
        </p:nvSpPr>
        <p:spPr>
          <a:xfrm>
            <a:off x="1331640" y="5013176"/>
            <a:ext cx="655272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 e is defined to be that </a:t>
            </a:r>
            <a:r>
              <a:rPr kumimoji="0" lang="en-US" altLang="zh-CN" sz="1800" b="0" i="0" u="none" strike="noStrike" kern="1200" cap="none" spc="0" normalizeH="0" baseline="0" noProof="0" dirty="0">
                <a:ln w="0"/>
                <a:solidFill>
                  <a:srgbClr val="FF0000"/>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rate of growth </a:t>
            </a:r>
            <a:r>
              <a:rPr kumimoji="0" lang="en-US" altLang="zh-CN"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if </a:t>
            </a:r>
            <a:r>
              <a:rPr kumimoji="0" lang="en-US" altLang="zh-CN" sz="1800" b="0" i="0" u="none" strike="noStrike" kern="1200" cap="none" spc="0" normalizeH="0" baseline="0" noProof="0" dirty="0">
                <a:ln w="0"/>
                <a:solidFill>
                  <a:srgbClr val="8064A2">
                    <a:lumMod val="75000"/>
                  </a:srgbClr>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we continually </a:t>
            </a:r>
            <a:r>
              <a:rPr kumimoji="0" lang="en-US" altLang="zh-CN"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compound 100% return on smaller and smaller time periods:</a:t>
            </a:r>
            <a:endParaRPr kumimoji="0" lang="zh-CN" altLang="en-US"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endParaRPr>
          </a:p>
        </p:txBody>
      </p:sp>
      <p:pic>
        <p:nvPicPr>
          <p:cNvPr id="4" name="图片 3"/>
          <p:cNvPicPr>
            <a:picLocks noChangeAspect="1"/>
          </p:cNvPicPr>
          <p:nvPr/>
        </p:nvPicPr>
        <p:blipFill>
          <a:blip r:embed="rId2"/>
          <a:stretch>
            <a:fillRect/>
          </a:stretch>
        </p:blipFill>
        <p:spPr>
          <a:xfrm>
            <a:off x="2915816" y="5930468"/>
            <a:ext cx="2771775" cy="67627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自然对数</a:t>
            </a:r>
            <a:r>
              <a:rPr lang="en-US" altLang="zh-CN" dirty="0"/>
              <a:t>e</a:t>
            </a:r>
            <a:r>
              <a:rPr lang="zh-CN" altLang="en-US" dirty="0"/>
              <a:t>？</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p:txBody>
              <a:bodyPr/>
              <a:lstStyle/>
              <a:p>
                <a:r>
                  <a:rPr lang="en-US" altLang="zh-CN" dirty="0"/>
                  <a:t>e</a:t>
                </a:r>
                <a:r>
                  <a:rPr lang="zh-CN" altLang="en-US" dirty="0"/>
                  <a:t>就是增长的极限</a:t>
                </a:r>
                <a:endParaRPr lang="en-US" altLang="zh-CN" dirty="0"/>
              </a:p>
              <a:p>
                <a:pPr lvl="1"/>
                <a:r>
                  <a:rPr lang="zh-CN" altLang="en-US" dirty="0"/>
                  <a:t>表示单位时间内持续的翻倍增长所能达到的极限值</a:t>
                </a:r>
                <a:endParaRPr lang="en-US" altLang="zh-CN" dirty="0"/>
              </a:p>
              <a:p>
                <a:pPr lvl="1"/>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lim</m:t>
                            </m:r>
                          </m:e>
                          <m:lim>
                            <m:r>
                              <a:rPr lang="en-US" altLang="zh-CN" i="1" smtClean="0">
                                <a:latin typeface="Cambria Math" panose="02040503050406030204" pitchFamily="18" charset="0"/>
                              </a:rPr>
                              <m:t>𝑛</m:t>
                            </m:r>
                            <m:r>
                              <a:rPr lang="en-US" altLang="zh-CN" i="1" smtClean="0">
                                <a:latin typeface="Cambria Math" panose="02040503050406030204" pitchFamily="18" charset="0"/>
                              </a:rPr>
                              <m:t>→∞</m:t>
                            </m:r>
                          </m:lim>
                        </m:limLow>
                      </m:fName>
                      <m:e>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𝑛</m:t>
                                    </m:r>
                                  </m:den>
                                </m:f>
                              </m:e>
                            </m:d>
                          </m:e>
                          <m:sup>
                            <m:r>
                              <a:rPr lang="en-US" altLang="zh-CN" i="1" smtClean="0">
                                <a:latin typeface="Cambria Math" panose="02040503050406030204" pitchFamily="18" charset="0"/>
                              </a:rPr>
                              <m:t>𝑛</m:t>
                            </m:r>
                          </m:sup>
                        </m:sSup>
                      </m:e>
                    </m:func>
                    <m:r>
                      <a:rPr lang="en-US" altLang="zh-CN" b="0" i="1" smtClean="0">
                        <a:latin typeface="Cambria Math" panose="02040503050406030204" pitchFamily="18" charset="0"/>
                      </a:rPr>
                      <m:t>=</m:t>
                    </m:r>
                    <m:r>
                      <a:rPr lang="en-US" altLang="zh-CN" b="0" i="1" smtClean="0">
                        <a:latin typeface="Cambria Math" panose="02040503050406030204" pitchFamily="18" charset="0"/>
                      </a:rPr>
                      <m:t>𝑒</m:t>
                    </m:r>
                  </m:oMath>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blipFill rotWithShape="1">
                <a:blip r:embed="rId1"/>
                <a:stretch>
                  <a:fillRect b="7"/>
                </a:stretch>
              </a:blipFill>
            </p:spPr>
            <p:txBody>
              <a:bodyPr/>
              <a:lstStyle/>
              <a:p>
                <a:r>
                  <a:rPr lang="zh-CN" altLang="en-US">
                    <a:noFill/>
                  </a:rPr>
                  <a:t> </a:t>
                </a:r>
              </a:p>
            </p:txBody>
          </p:sp>
        </mc:Fallback>
      </mc:AlternateContent>
      <p:sp>
        <p:nvSpPr>
          <p:cNvPr id="4" name="内容占位符 3"/>
          <p:cNvSpPr>
            <a:spLocks noGrp="1"/>
          </p:cNvSpPr>
          <p:nvPr>
            <p:ph sz="half" idx="2"/>
          </p:nvPr>
        </p:nvSpPr>
        <p:spPr/>
        <p:txBody>
          <a:bodyPr/>
          <a:lstStyle/>
          <a:p>
            <a:r>
              <a:rPr lang="en-US" altLang="zh-CN" b="1" dirty="0"/>
              <a:t>e represents the idea that all continually growing systems are scaled versions of a common rate.</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连续复利</a:t>
            </a:r>
            <a:br>
              <a:rPr kumimoji="1" lang="en-US" altLang="zh-CN" dirty="0"/>
            </a:br>
            <a:r>
              <a:rPr kumimoji="1" lang="en-US" altLang="en-US" dirty="0"/>
              <a:t>Continuous</a:t>
            </a:r>
            <a:r>
              <a:rPr kumimoji="1" lang="en-US" altLang="en-US" dirty="0"/>
              <a:t> </a:t>
            </a:r>
            <a:r>
              <a:rPr kumimoji="1" lang="en-US" altLang="en-US" dirty="0"/>
              <a:t>Compounding</a:t>
            </a:r>
            <a:endParaRPr kumimoji="1"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10000"/>
              </a:bodyPr>
              <a:lstStyle/>
              <a:p>
                <a:r>
                  <a:rPr kumimoji="1" lang="zh-CN" altLang="en-US" dirty="0"/>
                  <a:t>年利率为</a:t>
                </a:r>
                <a:r>
                  <a:rPr kumimoji="1" lang="en-US" altLang="zh-CN" dirty="0" err="1"/>
                  <a:t>i</a:t>
                </a:r>
                <a:endParaRPr kumimoji="1" lang="en-US" altLang="zh-CN" dirty="0"/>
              </a:p>
              <a:p>
                <a:r>
                  <a:rPr kumimoji="1" lang="zh-CN" altLang="en-US" dirty="0"/>
                  <a:t>一年里计息</a:t>
                </a:r>
                <a:r>
                  <a:rPr kumimoji="1" lang="en-US" altLang="zh-CN" dirty="0"/>
                  <a:t>n</a:t>
                </a:r>
                <a:r>
                  <a:rPr kumimoji="1" lang="zh-CN" altLang="en-US" dirty="0"/>
                  <a:t>次</a:t>
                </a:r>
                <a:endParaRPr kumimoji="1" lang="en-US" altLang="zh-CN" dirty="0"/>
              </a:p>
              <a:p>
                <a:r>
                  <a:rPr kumimoji="1" lang="zh-CN" altLang="en-US" dirty="0"/>
                  <a:t>每次的利率为</a:t>
                </a:r>
                <a:r>
                  <a:rPr kumimoji="1" lang="en-US" altLang="zh-CN" dirty="0" err="1"/>
                  <a:t>i</a:t>
                </a:r>
                <a:r>
                  <a:rPr kumimoji="1" lang="en-US" altLang="zh-CN" dirty="0"/>
                  <a:t>/n</a:t>
                </a:r>
                <a:endParaRPr kumimoji="1" lang="en-US" altLang="zh-CN" dirty="0"/>
              </a:p>
              <a:p>
                <a:r>
                  <a:rPr kumimoji="1" lang="en-US" altLang="zh-CN" dirty="0"/>
                  <a:t>n</a:t>
                </a:r>
                <a:r>
                  <a:rPr kumimoji="1" lang="zh-CN" altLang="en-US" dirty="0"/>
                  <a:t>无穷大</a:t>
                </a:r>
                <a:endParaRPr kumimoji="1" lang="en-US" altLang="zh-CN" dirty="0"/>
              </a:p>
              <a:p>
                <a:r>
                  <a:rPr lang="zh-CN" altLang="en-US" dirty="0"/>
                  <a:t>连续复利</a:t>
                </a:r>
                <a14:m>
                  <m:oMath xmlns:m="http://schemas.openxmlformats.org/officeDocument/2006/math">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lim</m:t>
                            </m:r>
                          </m:e>
                          <m:lim>
                            <m:r>
                              <a:rPr lang="en-US" altLang="zh-CN" i="1">
                                <a:latin typeface="Cambria Math" panose="02040503050406030204" pitchFamily="18" charset="0"/>
                              </a:rPr>
                              <m:t>𝑛</m:t>
                            </m:r>
                            <m:r>
                              <a:rPr lang="en-US" altLang="zh-CN" i="1">
                                <a:latin typeface="Cambria Math" panose="02040503050406030204" pitchFamily="18" charset="0"/>
                              </a:rPr>
                              <m:t>→∞</m:t>
                            </m:r>
                          </m:lim>
                        </m:limLow>
                      </m:fName>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𝑖</m:t>
                                    </m:r>
                                  </m:num>
                                  <m:den>
                                    <m:r>
                                      <a:rPr lang="en-US" altLang="zh-CN" i="1">
                                        <a:latin typeface="Cambria Math" panose="02040503050406030204" pitchFamily="18" charset="0"/>
                                      </a:rPr>
                                      <m:t>𝑛</m:t>
                                    </m:r>
                                  </m:den>
                                </m:f>
                              </m:e>
                            </m:d>
                          </m:e>
                          <m:sup>
                            <m:r>
                              <a:rPr lang="en-US" altLang="zh-CN" i="1">
                                <a:latin typeface="Cambria Math" panose="02040503050406030204" pitchFamily="18" charset="0"/>
                              </a:rPr>
                              <m:t>𝑛</m:t>
                            </m:r>
                          </m:sup>
                        </m:sSup>
                      </m:e>
                    </m:func>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b="0" i="1" smtClean="0">
                            <a:latin typeface="Cambria Math" panose="02040503050406030204" pitchFamily="18" charset="0"/>
                          </a:rPr>
                          <m:t>𝑖</m:t>
                        </m:r>
                      </m:sup>
                    </m:sSup>
                  </m:oMath>
                </a14:m>
                <a:endParaRPr kumimoji="1" lang="en-US" altLang="zh-CN" dirty="0"/>
              </a:p>
              <a:p>
                <a:endParaRPr kumimoji="1" lang="en-US" altLang="zh-CN" dirty="0"/>
              </a:p>
              <a:p>
                <a:endParaRPr kumimoji="1"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4" t="-12" r="4" b="-28766"/>
                </a:stretch>
              </a:blipFill>
            </p:spPr>
            <p:txBody>
              <a:bodyPr/>
              <a:lstStyle/>
              <a:p>
                <a:r>
                  <a:rPr lang="zh-CN" altLang="en-US">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计算连续复利</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银行年利率为</a:t>
                </a:r>
                <a:r>
                  <a:rPr lang="en-US" altLang="zh-CN" dirty="0"/>
                  <a:t>5%</a:t>
                </a:r>
                <a:r>
                  <a:rPr lang="zh-CN" altLang="en-US" dirty="0"/>
                  <a:t>，存</a:t>
                </a:r>
                <a:r>
                  <a:rPr lang="en-US" altLang="zh-CN" dirty="0"/>
                  <a:t>1</a:t>
                </a:r>
                <a:r>
                  <a:rPr lang="zh-CN" altLang="en-US" dirty="0"/>
                  <a:t>年，在这</a:t>
                </a:r>
                <a:r>
                  <a:rPr lang="en-US" altLang="zh-CN" dirty="0"/>
                  <a:t>1</a:t>
                </a:r>
                <a:r>
                  <a:rPr lang="zh-CN" altLang="en-US" dirty="0"/>
                  <a:t>年中连续计算</a:t>
                </a:r>
                <a:r>
                  <a:rPr lang="en-US" altLang="zh-CN" dirty="0"/>
                  <a:t>n</a:t>
                </a:r>
                <a:r>
                  <a:rPr lang="zh-CN" altLang="en-US" dirty="0"/>
                  <a:t>次复利，当</a:t>
                </a:r>
                <a:r>
                  <a:rPr lang="en-US" altLang="zh-CN" dirty="0"/>
                  <a:t>n</a:t>
                </a:r>
                <a:r>
                  <a:rPr lang="zh-CN" altLang="en-US" dirty="0"/>
                  <a:t>→∞，有</a:t>
                </a:r>
                <a:endParaRPr lang="en-US" altLang="zh-CN" dirty="0"/>
              </a:p>
              <a:p>
                <a:pPr lvl="1"/>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lim</m:t>
                            </m:r>
                          </m:e>
                          <m:lim>
                            <m:r>
                              <a:rPr lang="en-US" altLang="zh-CN" i="1" smtClean="0">
                                <a:latin typeface="Cambria Math" panose="02040503050406030204" pitchFamily="18" charset="0"/>
                              </a:rPr>
                              <m:t>𝑛</m:t>
                            </m:r>
                            <m:r>
                              <a:rPr lang="en-US" altLang="zh-CN" i="1" smtClean="0">
                                <a:latin typeface="Cambria Math" panose="02040503050406030204" pitchFamily="18" charset="0"/>
                              </a:rPr>
                              <m:t>→∞</m:t>
                            </m:r>
                          </m:lim>
                        </m:limLow>
                      </m:fName>
                      <m:e>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5</m:t>
                                    </m:r>
                                    <m:r>
                                      <a:rPr lang="en-US" altLang="zh-CN" b="0" i="1" smtClean="0">
                                        <a:latin typeface="Cambria Math" panose="02040503050406030204" pitchFamily="18" charset="0"/>
                                      </a:rPr>
                                      <m:t>%</m:t>
                                    </m:r>
                                  </m:num>
                                  <m:den>
                                    <m:r>
                                      <a:rPr lang="en-US" altLang="zh-CN" i="1" smtClean="0">
                                        <a:latin typeface="Cambria Math" panose="02040503050406030204" pitchFamily="18" charset="0"/>
                                      </a:rPr>
                                      <m:t>𝑛</m:t>
                                    </m:r>
                                  </m:den>
                                </m:f>
                              </m:e>
                            </m:d>
                          </m:e>
                          <m:sup>
                            <m:r>
                              <a:rPr lang="en-US" altLang="zh-CN" i="1" smtClean="0">
                                <a:latin typeface="Cambria Math" panose="02040503050406030204" pitchFamily="18" charset="0"/>
                              </a:rPr>
                              <m:t>𝑛</m:t>
                            </m:r>
                          </m:sup>
                        </m:sSup>
                      </m:e>
                    </m:func>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5</m:t>
                        </m:r>
                        <m:r>
                          <a:rPr lang="en-US" altLang="zh-CN" b="0" i="1" smtClean="0">
                            <a:latin typeface="Cambria Math" panose="02040503050406030204" pitchFamily="18" charset="0"/>
                          </a:rPr>
                          <m:t>%</m:t>
                        </m:r>
                      </m:sup>
                    </m:sSup>
                  </m:oMath>
                </a14:m>
                <a:endParaRPr lang="en-US" altLang="zh-CN" dirty="0"/>
              </a:p>
              <a:p>
                <a:r>
                  <a:rPr lang="zh-CN" altLang="en-US" dirty="0"/>
                  <a:t>存两年，则有</a:t>
                </a:r>
                <a:endParaRPr lang="en-US" altLang="zh-CN" dirty="0"/>
              </a:p>
              <a:p>
                <a:pPr lvl="1"/>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5</m:t>
                        </m:r>
                        <m:r>
                          <a:rPr lang="en-US" altLang="zh-CN" i="1">
                            <a:latin typeface="Cambria Math" panose="02040503050406030204" pitchFamily="18" charset="0"/>
                          </a:rPr>
                          <m:t>%</m:t>
                        </m:r>
                        <m:r>
                          <a:rPr lang="zh-CN" altLang="en-US" b="0" i="1" smtClean="0">
                            <a:latin typeface="Cambria Math" panose="02040503050406030204" pitchFamily="18" charset="0"/>
                          </a:rPr>
                          <m:t>∗</m:t>
                        </m:r>
                        <m:r>
                          <a:rPr lang="en-US" altLang="zh-CN" b="0" i="1" smtClean="0">
                            <a:latin typeface="Cambria Math" panose="02040503050406030204" pitchFamily="18" charset="0"/>
                          </a:rPr>
                          <m:t>2</m:t>
                        </m:r>
                      </m:sup>
                    </m:sSup>
                  </m:oMath>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4" t="-12" r="4" b="5"/>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4283968" y="5445224"/>
            <a:ext cx="2800350" cy="53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连续复利和年利率的关系</a:t>
            </a:r>
            <a:endParaRPr kumimoji="1" lang="zh-CN" altLang="en-US" dirty="0"/>
          </a:p>
        </p:txBody>
      </p:sp>
      <p:sp>
        <p:nvSpPr>
          <p:cNvPr id="3" name="内容占位符 2"/>
          <p:cNvSpPr>
            <a:spLocks noGrp="1"/>
          </p:cNvSpPr>
          <p:nvPr>
            <p:ph idx="1"/>
          </p:nvPr>
        </p:nvSpPr>
        <p:spPr/>
        <p:txBody>
          <a:bodyPr>
            <a:normAutofit lnSpcReduction="10000"/>
          </a:bodyPr>
          <a:lstStyle/>
          <a:p>
            <a:r>
              <a:rPr kumimoji="1" lang="zh-CN" altLang="en-US" dirty="0"/>
              <a:t>假定连续复利为</a:t>
            </a:r>
            <a:r>
              <a:rPr kumimoji="1" lang="en-US" altLang="zh-CN" dirty="0"/>
              <a:t>r</a:t>
            </a:r>
            <a:endParaRPr kumimoji="1" lang="en-US" altLang="zh-CN" dirty="0"/>
          </a:p>
          <a:p>
            <a:r>
              <a:rPr kumimoji="1" lang="zh-CN" altLang="en-US" dirty="0"/>
              <a:t>意味着单位投入在</a:t>
            </a:r>
            <a:r>
              <a:rPr kumimoji="1" lang="en-US" altLang="zh-CN" dirty="0"/>
              <a:t>t</a:t>
            </a:r>
            <a:r>
              <a:rPr kumimoji="1" lang="zh-CN" altLang="en-US" dirty="0"/>
              <a:t>期后可获得回报</a:t>
            </a:r>
            <a:r>
              <a:rPr kumimoji="1" lang="en-US" altLang="zh-CN" dirty="0" err="1"/>
              <a:t>e</a:t>
            </a:r>
            <a:r>
              <a:rPr kumimoji="1" lang="en-US" altLang="zh-CN" baseline="30000" dirty="0" err="1"/>
              <a:t>rt</a:t>
            </a:r>
            <a:endParaRPr kumimoji="1" lang="en-US" altLang="zh-CN" baseline="30000" dirty="0"/>
          </a:p>
          <a:p>
            <a:r>
              <a:rPr kumimoji="1" lang="zh-CN" altLang="en-US" dirty="0"/>
              <a:t>假定年利率为</a:t>
            </a:r>
            <a:r>
              <a:rPr kumimoji="1" lang="en-US" altLang="zh-CN" dirty="0" err="1"/>
              <a:t>i</a:t>
            </a:r>
            <a:endParaRPr kumimoji="1" lang="en-US" altLang="zh-CN" dirty="0"/>
          </a:p>
          <a:p>
            <a:r>
              <a:rPr kumimoji="1" lang="zh-CN" altLang="en-US" dirty="0"/>
              <a:t>单位投入在</a:t>
            </a:r>
            <a:r>
              <a:rPr kumimoji="1" lang="en-US" altLang="zh-CN" dirty="0"/>
              <a:t>t</a:t>
            </a:r>
            <a:r>
              <a:rPr kumimoji="1" lang="zh-CN" altLang="en-US" dirty="0"/>
              <a:t>期后可获得回报</a:t>
            </a:r>
            <a:r>
              <a:rPr kumimoji="1" lang="en-US" altLang="zh-CN" dirty="0"/>
              <a:t>(1+i)</a:t>
            </a:r>
            <a:r>
              <a:rPr kumimoji="1" lang="en-US" altLang="zh-CN" baseline="30000" dirty="0"/>
              <a:t>t</a:t>
            </a:r>
            <a:endParaRPr kumimoji="1" lang="en-US" altLang="zh-CN" baseline="30000" dirty="0"/>
          </a:p>
          <a:p>
            <a:r>
              <a:rPr kumimoji="1" lang="zh-CN" altLang="en-US" dirty="0"/>
              <a:t>如果有某个年利率取值，使连续复利与年利率回报相等，则得到等值年利率（</a:t>
            </a:r>
            <a:r>
              <a:rPr kumimoji="1" lang="en-US" altLang="zh-CN" dirty="0"/>
              <a:t>EAR</a:t>
            </a:r>
            <a:r>
              <a:rPr kumimoji="1" lang="zh-CN" altLang="en-US" dirty="0"/>
              <a:t>）</a:t>
            </a:r>
            <a:endParaRPr kumimoji="1"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en-US"/>
              <a:t>连续复利与年利率</a:t>
            </a:r>
            <a:endParaRPr kumimoji="1" lang="zh-CN" altLang="en-US"/>
          </a:p>
        </p:txBody>
      </p:sp>
      <p:sp>
        <p:nvSpPr>
          <p:cNvPr id="3" name="内容占位符 2"/>
          <p:cNvSpPr>
            <a:spLocks noGrp="1"/>
          </p:cNvSpPr>
          <p:nvPr>
            <p:ph idx="1"/>
          </p:nvPr>
        </p:nvSpPr>
        <p:spPr/>
        <p:txBody>
          <a:bodyPr/>
          <a:lstStyle/>
          <a:p>
            <a:r>
              <a:rPr kumimoji="1" lang="en-US" altLang="en-US"/>
              <a:t>使用相同的利率，连续复利比年利率的终值更高</a:t>
            </a:r>
            <a:endParaRPr kumimoji="1" lang="en-US" altLang="en-US"/>
          </a:p>
          <a:p>
            <a:r>
              <a:rPr kumimoji="1" lang="en-US" altLang="en-US"/>
              <a:t>但是，通过应用等值年利率（</a:t>
            </a:r>
            <a:r>
              <a:rPr kumimoji="1" lang="en-US" altLang="en-US"/>
              <a:t>equivalent</a:t>
            </a:r>
            <a:r>
              <a:rPr kumimoji="1" lang="en-US" altLang="en-US"/>
              <a:t> </a:t>
            </a:r>
            <a:r>
              <a:rPr kumimoji="1" lang="en-US" altLang="en-US"/>
              <a:t>annual</a:t>
            </a:r>
            <a:r>
              <a:rPr kumimoji="1" lang="en-US" altLang="en-US"/>
              <a:t> </a:t>
            </a:r>
            <a:r>
              <a:rPr kumimoji="1" lang="en-US" altLang="en-US"/>
              <a:t>rate</a:t>
            </a:r>
            <a:r>
              <a:rPr kumimoji="1" lang="en-US" altLang="en-US"/>
              <a:t>，</a:t>
            </a:r>
            <a:r>
              <a:rPr kumimoji="1" lang="en-US" altLang="en-US"/>
              <a:t>EAR</a:t>
            </a:r>
            <a:r>
              <a:rPr kumimoji="1" lang="en-US" altLang="en-US"/>
              <a:t>）的概念，两者能够进行转换</a:t>
            </a:r>
            <a:endParaRPr kumimoji="1"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a:t>Equivalent annual rate</a:t>
            </a:r>
            <a:r>
              <a:rPr lang="zh-CN" altLang="en-US" dirty="0"/>
              <a:t>，</a:t>
            </a:r>
            <a:r>
              <a:rPr lang="en-US" altLang="zh-CN" dirty="0"/>
              <a:t>EAR</a:t>
            </a:r>
            <a:endParaRPr lang="zh-CN" altLang="en-US" dirty="0"/>
          </a:p>
        </p:txBody>
      </p:sp>
      <p:sp>
        <p:nvSpPr>
          <p:cNvPr id="10" name="内容占位符 9"/>
          <p:cNvSpPr>
            <a:spLocks noGrp="1"/>
          </p:cNvSpPr>
          <p:nvPr>
            <p:ph sz="half" idx="1"/>
          </p:nvPr>
        </p:nvSpPr>
        <p:spPr/>
        <p:txBody>
          <a:bodyPr>
            <a:normAutofit fontScale="77500" lnSpcReduction="20000"/>
          </a:bodyPr>
          <a:lstStyle/>
          <a:p>
            <a:r>
              <a:rPr lang="en-US" altLang="zh-CN" dirty="0"/>
              <a:t>this means that interest can be compounded several times in a year depending on the number of times that interest payments are made. </a:t>
            </a:r>
            <a:endParaRPr lang="en-US" altLang="zh-CN" dirty="0"/>
          </a:p>
          <a:p>
            <a:r>
              <a:rPr lang="en-US" altLang="zh-CN" dirty="0"/>
              <a:t>The amount of interest received from savings accounts is listed in EAR form.</a:t>
            </a:r>
            <a:endParaRPr lang="zh-CN" altLang="en-US" dirty="0"/>
          </a:p>
        </p:txBody>
      </p:sp>
      <p:sp>
        <p:nvSpPr>
          <p:cNvPr id="11" name="内容占位符 10"/>
          <p:cNvSpPr>
            <a:spLocks noGrp="1"/>
          </p:cNvSpPr>
          <p:nvPr>
            <p:ph sz="half" idx="2"/>
          </p:nvPr>
        </p:nvSpPr>
        <p:spPr/>
        <p:txBody>
          <a:bodyPr>
            <a:normAutofit fontScale="77500" lnSpcReduction="20000"/>
          </a:bodyPr>
          <a:lstStyle/>
          <a:p>
            <a:r>
              <a:rPr lang="en-US" altLang="zh-CN" dirty="0"/>
              <a:t>EAR</a:t>
            </a:r>
            <a:r>
              <a:rPr lang="zh-CN" altLang="en-US" dirty="0"/>
              <a:t>表示对应某一连续复利利率</a:t>
            </a:r>
            <a:r>
              <a:rPr lang="en-US" altLang="zh-CN" dirty="0"/>
              <a:t>r</a:t>
            </a:r>
            <a:r>
              <a:rPr lang="zh-CN" altLang="en-US" dirty="0"/>
              <a:t>可以获得同一终值的年利率</a:t>
            </a:r>
            <a:endParaRPr lang="en-US" altLang="zh-CN" dirty="0"/>
          </a:p>
          <a:p>
            <a:r>
              <a:rPr lang="zh-CN" altLang="en-US" dirty="0"/>
              <a:t>在</a:t>
            </a:r>
            <a:r>
              <a:rPr lang="en-US" altLang="zh-CN" dirty="0"/>
              <a:t>t</a:t>
            </a:r>
            <a:r>
              <a:rPr lang="zh-CN" altLang="en-US" dirty="0"/>
              <a:t>年内</a:t>
            </a:r>
            <a:endParaRPr lang="en-US" altLang="zh-CN" dirty="0"/>
          </a:p>
          <a:p>
            <a:r>
              <a:rPr lang="zh-CN" altLang="en-US" dirty="0"/>
              <a:t>（</a:t>
            </a:r>
            <a:r>
              <a:rPr lang="en-US" altLang="zh-CN" dirty="0"/>
              <a:t>1+EAR</a:t>
            </a:r>
            <a:r>
              <a:rPr lang="zh-CN" altLang="en-US" dirty="0"/>
              <a:t>）</a:t>
            </a:r>
            <a:r>
              <a:rPr lang="en-US" altLang="zh-CN" baseline="30000" dirty="0"/>
              <a:t>t</a:t>
            </a:r>
            <a:r>
              <a:rPr lang="en-US" altLang="zh-CN" dirty="0"/>
              <a:t>=</a:t>
            </a:r>
            <a:r>
              <a:rPr lang="en-US" altLang="zh-CN" dirty="0" err="1"/>
              <a:t>e</a:t>
            </a:r>
            <a:r>
              <a:rPr lang="en-US" altLang="zh-CN" baseline="30000" dirty="0" err="1"/>
              <a:t>rt</a:t>
            </a:r>
            <a:endParaRPr lang="en-US" altLang="zh-CN" baseline="30000" dirty="0"/>
          </a:p>
          <a:p>
            <a:r>
              <a:rPr lang="en-US" altLang="zh-CN" dirty="0" err="1"/>
              <a:t>tln</a:t>
            </a:r>
            <a:r>
              <a:rPr lang="zh-CN" altLang="en-US" dirty="0"/>
              <a:t>（</a:t>
            </a:r>
            <a:r>
              <a:rPr lang="en-US" altLang="zh-CN" dirty="0"/>
              <a:t>1+EAR</a:t>
            </a:r>
            <a:r>
              <a:rPr lang="zh-CN" altLang="en-US" dirty="0"/>
              <a:t>）</a:t>
            </a:r>
            <a:r>
              <a:rPr lang="en-US" altLang="zh-CN" dirty="0"/>
              <a:t>=</a:t>
            </a:r>
            <a:r>
              <a:rPr lang="en-US" altLang="zh-CN" dirty="0" err="1"/>
              <a:t>rt</a:t>
            </a:r>
            <a:endParaRPr lang="en-US" altLang="zh-CN" dirty="0"/>
          </a:p>
          <a:p>
            <a:r>
              <a:rPr lang="en-US" altLang="zh-CN" sz="3600" b="1" dirty="0" err="1">
                <a:solidFill>
                  <a:schemeClr val="accent5">
                    <a:lumMod val="50000"/>
                  </a:schemeClr>
                </a:solidFill>
              </a:rPr>
              <a:t>ln</a:t>
            </a:r>
            <a:r>
              <a:rPr lang="zh-CN" altLang="en-US" sz="3600" b="1" dirty="0">
                <a:solidFill>
                  <a:schemeClr val="accent5">
                    <a:lumMod val="50000"/>
                  </a:schemeClr>
                </a:solidFill>
              </a:rPr>
              <a:t>（</a:t>
            </a:r>
            <a:r>
              <a:rPr lang="en-US" altLang="zh-CN" sz="3600" b="1" dirty="0">
                <a:solidFill>
                  <a:schemeClr val="accent5">
                    <a:lumMod val="50000"/>
                  </a:schemeClr>
                </a:solidFill>
              </a:rPr>
              <a:t>1+EAR</a:t>
            </a:r>
            <a:r>
              <a:rPr lang="zh-CN" altLang="en-US" sz="3600" b="1" dirty="0">
                <a:solidFill>
                  <a:schemeClr val="accent5">
                    <a:lumMod val="50000"/>
                  </a:schemeClr>
                </a:solidFill>
              </a:rPr>
              <a:t>）</a:t>
            </a:r>
            <a:r>
              <a:rPr lang="en-US" altLang="zh-CN" sz="3600" b="1" dirty="0">
                <a:solidFill>
                  <a:schemeClr val="accent5">
                    <a:lumMod val="50000"/>
                  </a:schemeClr>
                </a:solidFill>
              </a:rPr>
              <a:t>=r</a:t>
            </a:r>
            <a:endParaRPr lang="en-US" altLang="zh-CN" sz="3600" b="1" dirty="0">
              <a:solidFill>
                <a:schemeClr val="accent5">
                  <a:lumMod val="50000"/>
                </a:schemeClr>
              </a:solidFill>
            </a:endParaRPr>
          </a:p>
          <a:p>
            <a:r>
              <a:rPr lang="en-US" altLang="zh-CN" sz="3600" b="1" dirty="0">
                <a:solidFill>
                  <a:schemeClr val="accent5">
                    <a:lumMod val="50000"/>
                  </a:schemeClr>
                </a:solidFill>
              </a:rPr>
              <a:t>EAR=e</a:t>
            </a:r>
            <a:r>
              <a:rPr lang="en-US" altLang="zh-CN" sz="3600" b="1" baseline="30000" dirty="0">
                <a:solidFill>
                  <a:schemeClr val="accent5">
                    <a:lumMod val="50000"/>
                  </a:schemeClr>
                </a:solidFill>
              </a:rPr>
              <a:t>r</a:t>
            </a:r>
            <a:r>
              <a:rPr lang="en-US" altLang="zh-CN" sz="3600" b="1" dirty="0">
                <a:solidFill>
                  <a:schemeClr val="accent5">
                    <a:lumMod val="50000"/>
                  </a:schemeClr>
                </a:solidFill>
              </a:rPr>
              <a:t>-1</a:t>
            </a:r>
            <a:endParaRPr lang="en-US" altLang="zh-CN" sz="3600" b="1" dirty="0">
              <a:solidFill>
                <a:schemeClr val="accent5">
                  <a:lumMod val="50000"/>
                </a:schemeClr>
              </a:solidFill>
            </a:endParaRPr>
          </a:p>
          <a:p>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计算</a:t>
            </a:r>
            <a:endParaRPr kumimoji="1" lang="zh-CN" altLang="en-US" dirty="0"/>
          </a:p>
        </p:txBody>
      </p:sp>
      <p:sp>
        <p:nvSpPr>
          <p:cNvPr id="3" name="内容占位符 2"/>
          <p:cNvSpPr>
            <a:spLocks noGrp="1"/>
          </p:cNvSpPr>
          <p:nvPr>
            <p:ph idx="1"/>
          </p:nvPr>
        </p:nvSpPr>
        <p:spPr>
          <a:xfrm>
            <a:off x="323528" y="1772816"/>
            <a:ext cx="8496944" cy="1512168"/>
          </a:xfrm>
        </p:spPr>
        <p:txBody>
          <a:bodyPr>
            <a:normAutofit lnSpcReduction="10000"/>
          </a:bodyPr>
          <a:lstStyle/>
          <a:p>
            <a:r>
              <a:rPr kumimoji="1" lang="zh-CN" altLang="en-US" dirty="0"/>
              <a:t>存入</a:t>
            </a:r>
            <a:r>
              <a:rPr kumimoji="1" lang="en-US" altLang="zh-CN" dirty="0"/>
              <a:t>100</a:t>
            </a:r>
            <a:r>
              <a:rPr kumimoji="1" lang="zh-CN" altLang="en-US" dirty="0"/>
              <a:t>元，连续复利为</a:t>
            </a:r>
            <a:r>
              <a:rPr kumimoji="1" lang="en-US" altLang="zh-CN" dirty="0"/>
              <a:t>12%</a:t>
            </a:r>
            <a:endParaRPr kumimoji="1" lang="en-US" altLang="zh-CN" dirty="0"/>
          </a:p>
          <a:p>
            <a:r>
              <a:rPr kumimoji="1" lang="en-US" altLang="zh-CN" dirty="0"/>
              <a:t>1</a:t>
            </a:r>
            <a:r>
              <a:rPr kumimoji="1" lang="zh-CN" altLang="en-US" dirty="0"/>
              <a:t>年后的收益是多少？</a:t>
            </a:r>
            <a:endParaRPr kumimoji="1" lang="en-US" altLang="zh-CN" dirty="0"/>
          </a:p>
        </p:txBody>
      </p:sp>
      <p:sp>
        <p:nvSpPr>
          <p:cNvPr id="4" name="矩形 3"/>
          <p:cNvSpPr/>
          <p:nvPr/>
        </p:nvSpPr>
        <p:spPr>
          <a:xfrm>
            <a:off x="2339752" y="3379827"/>
            <a:ext cx="4810932" cy="707886"/>
          </a:xfrm>
          <a:prstGeom prst="rect">
            <a:avLst/>
          </a:prstGeom>
          <a:gradFill>
            <a:gsLst>
              <a:gs pos="0">
                <a:schemeClr val="accent3">
                  <a:lumMod val="60000"/>
                  <a:lumOff val="40000"/>
                </a:schemeClr>
              </a:gs>
              <a:gs pos="44000">
                <a:schemeClr val="accent3">
                  <a:lumMod val="40000"/>
                  <a:lumOff val="60000"/>
                </a:schemeClr>
              </a:gs>
              <a:gs pos="100000">
                <a:schemeClr val="bg1"/>
              </a:gs>
            </a:gsLst>
            <a:lin ang="18900000" scaled="1"/>
          </a:gradFill>
          <a:effectLst>
            <a:innerShdw blurRad="63500" dist="50800" dir="13500000">
              <a:prstClr val="black">
                <a:alpha val="50000"/>
              </a:prstClr>
            </a:innerShdw>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100</a:t>
            </a:r>
            <a:r>
              <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e^12%=112.75</a:t>
            </a:r>
            <a:r>
              <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元</a:t>
            </a:r>
            <a:endPar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5" name="矩形 4"/>
          <p:cNvSpPr/>
          <p:nvPr/>
        </p:nvSpPr>
        <p:spPr>
          <a:xfrm>
            <a:off x="642844" y="4797152"/>
            <a:ext cx="8204747" cy="707886"/>
          </a:xfrm>
          <a:prstGeom prst="rect">
            <a:avLst/>
          </a:prstGeom>
          <a:gradFill>
            <a:gsLst>
              <a:gs pos="0">
                <a:schemeClr val="accent3">
                  <a:lumMod val="60000"/>
                  <a:lumOff val="40000"/>
                </a:schemeClr>
              </a:gs>
              <a:gs pos="44000">
                <a:schemeClr val="accent3">
                  <a:lumMod val="40000"/>
                  <a:lumOff val="60000"/>
                </a:schemeClr>
              </a:gs>
              <a:gs pos="100000">
                <a:schemeClr val="bg1"/>
              </a:gs>
            </a:gsLst>
            <a:lin ang="18900000" scaled="1"/>
          </a:gradFill>
          <a:effectLst>
            <a:innerShdw blurRad="63500" dist="50800" dir="13500000">
              <a:prstClr val="black">
                <a:alpha val="50000"/>
              </a:prstClr>
            </a:innerShdw>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excel</a:t>
            </a:r>
            <a:r>
              <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中的函数表达： </a:t>
            </a: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=100*EXP(12%)</a:t>
            </a:r>
            <a:endPar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矩形 5"/>
          <p:cNvSpPr/>
          <p:nvPr/>
        </p:nvSpPr>
        <p:spPr>
          <a:xfrm>
            <a:off x="6588224" y="1915857"/>
            <a:ext cx="2571538" cy="707886"/>
          </a:xfrm>
          <a:prstGeom prst="rect">
            <a:avLst/>
          </a:prstGeom>
          <a:gradFill>
            <a:gsLst>
              <a:gs pos="0">
                <a:schemeClr val="accent3">
                  <a:lumMod val="60000"/>
                  <a:lumOff val="40000"/>
                </a:schemeClr>
              </a:gs>
              <a:gs pos="44000">
                <a:schemeClr val="accent3">
                  <a:lumMod val="40000"/>
                  <a:lumOff val="60000"/>
                </a:schemeClr>
              </a:gs>
              <a:gs pos="100000">
                <a:schemeClr val="bg1"/>
              </a:gs>
            </a:gsLst>
            <a:lin ang="18900000" scaled="1"/>
          </a:gradFill>
          <a:effectLst>
            <a:innerShdw blurRad="63500" dist="50800" dir="13500000">
              <a:prstClr val="black">
                <a:alpha val="50000"/>
              </a:prstClr>
            </a:innerShdw>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e=2.718……</a:t>
            </a:r>
            <a:endPar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a:t>
            </a:r>
            <a:r>
              <a:rPr lang="zh-CN" altLang="en-US" dirty="0"/>
              <a:t>法则</a:t>
            </a:r>
            <a:endParaRPr lang="zh-CN" altLang="en-US" dirty="0"/>
          </a:p>
        </p:txBody>
      </p:sp>
      <p:sp>
        <p:nvSpPr>
          <p:cNvPr id="4" name="内容占位符 3"/>
          <p:cNvSpPr>
            <a:spLocks noGrp="1"/>
          </p:cNvSpPr>
          <p:nvPr>
            <p:ph sz="half" idx="1"/>
          </p:nvPr>
        </p:nvSpPr>
        <p:spPr/>
        <p:txBody>
          <a:bodyPr>
            <a:normAutofit fontScale="85000" lnSpcReduction="10000"/>
          </a:bodyPr>
          <a:lstStyle/>
          <a:p>
            <a:r>
              <a:rPr lang="zh-CN" altLang="en-US" dirty="0"/>
              <a:t>用</a:t>
            </a:r>
            <a:r>
              <a:rPr lang="en-US" altLang="zh-CN" dirty="0"/>
              <a:t>72</a:t>
            </a:r>
            <a:r>
              <a:rPr lang="zh-CN" altLang="en-US" dirty="0"/>
              <a:t>除以增长率，得到的结果是投资资金翻倍大约需要的时间</a:t>
            </a:r>
            <a:endParaRPr lang="en-US" altLang="zh-CN" dirty="0"/>
          </a:p>
          <a:p>
            <a:pPr lvl="1"/>
            <a:r>
              <a:rPr lang="zh-CN" altLang="en-US" dirty="0"/>
              <a:t>举例：如果银行的利息率是</a:t>
            </a:r>
            <a:r>
              <a:rPr lang="en-US" altLang="zh-CN" dirty="0"/>
              <a:t>5%</a:t>
            </a:r>
            <a:r>
              <a:rPr lang="zh-CN" altLang="en-US" dirty="0"/>
              <a:t>的复利，请问</a:t>
            </a:r>
            <a:r>
              <a:rPr lang="en-US" altLang="zh-CN" dirty="0"/>
              <a:t>100</a:t>
            </a:r>
            <a:r>
              <a:rPr lang="zh-CN" altLang="en-US" dirty="0"/>
              <a:t>元存款翻倍需要多少时间？</a:t>
            </a:r>
            <a:endParaRPr lang="zh-CN" altLang="en-US" dirty="0"/>
          </a:p>
        </p:txBody>
      </p:sp>
      <mc:AlternateContent xmlns:mc="http://schemas.openxmlformats.org/markup-compatibility/2006">
        <mc:Choice xmlns:a14="http://schemas.microsoft.com/office/drawing/2010/main" Requires="a14">
          <p:sp>
            <p:nvSpPr>
              <p:cNvPr id="5" name="内容占位符 4"/>
              <p:cNvSpPr>
                <a:spLocks noGrp="1"/>
              </p:cNvSpPr>
              <p:nvPr>
                <p:ph sz="half" idx="2"/>
              </p:nvPr>
            </p:nvSpPr>
            <p:spPr/>
            <p:txBody>
              <a:bodyPr>
                <a:normAutofit fontScale="85000" lnSpcReduction="10000"/>
              </a:bodyPr>
              <a:lstStyle/>
              <a:p>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100</m:t>
                        </m:r>
                        <m:r>
                          <a:rPr lang="zh-CN" altLang="en-US" b="0" i="1" smtClean="0">
                            <a:latin typeface="Cambria Math" panose="02040503050406030204" pitchFamily="18" charset="0"/>
                          </a:rPr>
                          <m:t>∗</m:t>
                        </m:r>
                        <m:r>
                          <a:rPr lang="en-US" altLang="zh-CN" i="1" smtClean="0">
                            <a:latin typeface="Cambria Math" panose="02040503050406030204" pitchFamily="18" charset="0"/>
                          </a:rPr>
                          <m:t>𝑒</m:t>
                        </m:r>
                      </m:e>
                      <m:sup>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i="1" smtClean="0">
                            <a:latin typeface="Cambria Math" panose="02040503050406030204" pitchFamily="18" charset="0"/>
                          </a:rPr>
                          <m:t>𝑡</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200</m:t>
                    </m:r>
                  </m:oMath>
                </a14:m>
                <a:endParaRPr lang="en-US" altLang="zh-CN" dirty="0"/>
              </a:p>
              <a:p>
                <a14:m>
                  <m:oMath xmlns:m="http://schemas.openxmlformats.org/officeDocument/2006/math">
                    <m:r>
                      <a:rPr lang="en-US" altLang="zh-CN" b="0" i="1" smtClean="0">
                        <a:latin typeface="Cambria Math" panose="02040503050406030204" pitchFamily="18" charset="0"/>
                      </a:rPr>
                      <m:t>𝑡</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𝑙𝑛</m:t>
                        </m:r>
                        <m:r>
                          <a:rPr lang="en-US" altLang="zh-CN" b="0" i="1" smtClean="0">
                            <a:latin typeface="Cambria Math" panose="02040503050406030204" pitchFamily="18" charset="0"/>
                          </a:rPr>
                          <m:t>2</m:t>
                        </m:r>
                      </m:num>
                      <m:den>
                        <m:r>
                          <a:rPr lang="en-US" altLang="zh-CN" b="0" i="1" smtClean="0">
                            <a:latin typeface="Cambria Math" panose="02040503050406030204" pitchFamily="18" charset="0"/>
                          </a:rPr>
                          <m:t>5</m:t>
                        </m:r>
                        <m:r>
                          <a:rPr lang="en-US" altLang="zh-CN" b="0" i="1" smtClean="0">
                            <a:latin typeface="Cambria Math" panose="02040503050406030204" pitchFamily="18" charset="0"/>
                          </a:rPr>
                          <m:t>%</m:t>
                        </m:r>
                      </m:den>
                    </m:f>
                    <m:r>
                      <a:rPr lang="en-US" altLang="zh-CN" b="0" i="0"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693</m:t>
                        </m:r>
                      </m:num>
                      <m:den>
                        <m:r>
                          <a:rPr lang="en-US" altLang="zh-CN" b="0" i="1" smtClean="0">
                            <a:latin typeface="Cambria Math" panose="02040503050406030204" pitchFamily="18" charset="0"/>
                          </a:rPr>
                          <m:t>5</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13</m:t>
                    </m:r>
                    <m:r>
                      <a:rPr lang="en-US" altLang="zh-CN" b="0" i="1" smtClean="0">
                        <a:latin typeface="Cambria Math" panose="02040503050406030204" pitchFamily="18" charset="0"/>
                      </a:rPr>
                      <m:t>.</m:t>
                    </m:r>
                    <m:r>
                      <a:rPr lang="en-US" altLang="zh-CN" b="0" i="1" smtClean="0">
                        <a:latin typeface="Cambria Math" panose="02040503050406030204" pitchFamily="18" charset="0"/>
                      </a:rPr>
                      <m:t>86</m:t>
                    </m:r>
                  </m:oMath>
                </a14:m>
                <a:endParaRPr lang="en-US" altLang="zh-CN" b="0" i="1" dirty="0">
                  <a:latin typeface="Cambria Math" panose="02040503050406030204" pitchFamily="18" charset="0"/>
                </a:endParaRPr>
              </a:p>
              <a:p>
                <a14:m>
                  <m:oMath xmlns:m="http://schemas.openxmlformats.org/officeDocument/2006/math">
                    <m:r>
                      <a:rPr lang="en-US" altLang="zh-CN">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72</m:t>
                        </m:r>
                      </m:num>
                      <m:den>
                        <m:r>
                          <a:rPr lang="en-US" altLang="zh-CN" b="0" i="1" smtClean="0">
                            <a:latin typeface="Cambria Math" panose="02040503050406030204" pitchFamily="18" charset="0"/>
                            <a:ea typeface="Cambria Math" panose="02040503050406030204" pitchFamily="18" charset="0"/>
                          </a:rPr>
                          <m:t>5</m:t>
                        </m:r>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14</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4</m:t>
                    </m:r>
                  </m:oMath>
                </a14:m>
                <a:endParaRPr lang="en-US" altLang="zh-CN" dirty="0"/>
              </a:p>
              <a:p>
                <a:pPr lvl="1"/>
                <a:r>
                  <a:rPr lang="zh-CN" altLang="en-US" dirty="0"/>
                  <a:t>使用</a:t>
                </a:r>
                <a:r>
                  <a:rPr lang="en-US" altLang="zh-CN" dirty="0"/>
                  <a:t>72</a:t>
                </a:r>
                <a:r>
                  <a:rPr lang="zh-CN" altLang="en-US" dirty="0"/>
                  <a:t>作为分子是因为它有较多因子，容易被整除。使用</a:t>
                </a:r>
                <a:r>
                  <a:rPr lang="en-US" altLang="zh-CN" dirty="0"/>
                  <a:t>72</a:t>
                </a:r>
                <a:r>
                  <a:rPr lang="zh-CN" altLang="en-US" dirty="0"/>
                  <a:t>作为分子足够计算一般息率（由</a:t>
                </a:r>
                <a:r>
                  <a:rPr lang="en-US" altLang="zh-CN" dirty="0"/>
                  <a:t>6</a:t>
                </a:r>
                <a:r>
                  <a:rPr lang="zh-CN" altLang="en-US" dirty="0"/>
                  <a:t>至</a:t>
                </a:r>
                <a:r>
                  <a:rPr lang="en-US" altLang="zh-CN" dirty="0"/>
                  <a:t>10%</a:t>
                </a:r>
                <a:r>
                  <a:rPr lang="zh-CN" altLang="en-US" dirty="0"/>
                  <a:t>）</a:t>
                </a:r>
                <a:endParaRPr lang="zh-CN" altLang="en-US" dirty="0"/>
              </a:p>
            </p:txBody>
          </p:sp>
        </mc:Choice>
        <mc:Fallback>
          <p:sp>
            <p:nvSpPr>
              <p:cNvPr id="5" name="内容占位符 4"/>
              <p:cNvSpPr>
                <a:spLocks noRot="1" noChangeAspect="1" noMove="1" noResize="1" noEditPoints="1" noAdjustHandles="1" noChangeArrowheads="1" noChangeShapeType="1" noTextEdit="1"/>
              </p:cNvSpPr>
              <p:nvPr>
                <p:ph sz="half" idx="2"/>
              </p:nvPr>
            </p:nvSpPr>
            <p:spPr>
              <a:blipFill rotWithShape="1">
                <a:blip r:embed="rId1"/>
                <a:stretch>
                  <a:fillRect l="-1110" t="-985" r="-5195" b="-4746"/>
                </a:stretch>
              </a:blipFill>
            </p:spPr>
            <p:txBody>
              <a:bodyPr/>
              <a:lstStyle/>
              <a:p>
                <a:r>
                  <a:rPr lang="zh-CN" altLang="en-US">
                    <a:noFill/>
                  </a:rPr>
                  <a:t> </a:t>
                </a:r>
              </a:p>
            </p:txBody>
          </p:sp>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Criteria for Investment Decisions </a:t>
            </a:r>
            <a:endParaRPr lang="zh-CN" altLang="en-US" dirty="0"/>
          </a:p>
        </p:txBody>
      </p:sp>
      <p:sp>
        <p:nvSpPr>
          <p:cNvPr id="3" name="副标题 2"/>
          <p:cNvSpPr>
            <a:spLocks noGrp="1"/>
          </p:cNvSpPr>
          <p:nvPr>
            <p:ph type="subTitle" idx="1"/>
          </p:nvPr>
        </p:nvSpPr>
        <p:spPr/>
        <p:txBody>
          <a:bodyPr/>
          <a:lstStyle/>
          <a:p>
            <a:r>
              <a:rPr lang="zh-CN" altLang="en-US" dirty="0"/>
              <a:t>投资决策的标准</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effectLst>
                  <a:outerShdw blurRad="38100" dist="38100" dir="2700000" algn="tl">
                    <a:srgbClr val="000000"/>
                  </a:outerShdw>
                </a:effectLst>
                <a:latin typeface="Arial" panose="020B0604020202020204" pitchFamily="34" charset="0"/>
                <a:ea typeface="宋体" panose="02010600030101010101" pitchFamily="2" charset="-122"/>
              </a:rPr>
              <a:t>How should a firm make an investment decision</a:t>
            </a:r>
            <a:r>
              <a:rPr lang="zh-CN" altLang="en-US" b="1" dirty="0">
                <a:effectLst>
                  <a:outerShdw blurRad="38100" dist="38100" dir="2700000" algn="tl">
                    <a:srgbClr val="000000"/>
                  </a:outerShdw>
                </a:effectLst>
                <a:latin typeface="Arial" panose="020B0604020202020204" pitchFamily="34" charset="0"/>
                <a:ea typeface="宋体" panose="02010600030101010101" pitchFamily="2" charset="-122"/>
              </a:rPr>
              <a:t>？</a:t>
            </a:r>
            <a:endParaRPr lang="zh-CN" altLang="en-US" dirty="0"/>
          </a:p>
        </p:txBody>
      </p:sp>
      <p:sp>
        <p:nvSpPr>
          <p:cNvPr id="3" name="内容占位符 2"/>
          <p:cNvSpPr>
            <a:spLocks noGrp="1"/>
          </p:cNvSpPr>
          <p:nvPr>
            <p:ph sz="half" idx="1"/>
          </p:nvPr>
        </p:nvSpPr>
        <p:spPr/>
        <p:txBody>
          <a:bodyPr>
            <a:normAutofit fontScale="62500" lnSpcReduction="20000"/>
          </a:bodyPr>
          <a:lstStyle/>
          <a:p>
            <a:r>
              <a:rPr lang="en-US" altLang="en-US" dirty="0"/>
              <a:t>Identifying</a:t>
            </a:r>
            <a:r>
              <a:rPr lang="en-US" altLang="en-US" dirty="0"/>
              <a:t> </a:t>
            </a:r>
            <a:r>
              <a:rPr lang="en-US" altLang="en-US" dirty="0"/>
              <a:t>advantageous</a:t>
            </a:r>
            <a:r>
              <a:rPr lang="en-US" altLang="en-US" dirty="0"/>
              <a:t> </a:t>
            </a:r>
            <a:r>
              <a:rPr lang="en-US" altLang="en-US" dirty="0"/>
              <a:t>investments</a:t>
            </a:r>
            <a:endParaRPr lang="en-US" altLang="en-US" dirty="0"/>
          </a:p>
          <a:p>
            <a:pPr lvl="1"/>
            <a:r>
              <a:rPr lang="en-US" altLang="en-US" dirty="0">
                <a:solidFill>
                  <a:srgbClr val="FF0000"/>
                </a:solidFill>
              </a:rPr>
              <a:t>The</a:t>
            </a:r>
            <a:r>
              <a:rPr lang="en-US" altLang="en-US" dirty="0">
                <a:solidFill>
                  <a:srgbClr val="FF0000"/>
                </a:solidFill>
              </a:rPr>
              <a:t> </a:t>
            </a:r>
            <a:r>
              <a:rPr lang="en-US" altLang="en-US" dirty="0">
                <a:solidFill>
                  <a:srgbClr val="FF0000"/>
                </a:solidFill>
              </a:rPr>
              <a:t>basic</a:t>
            </a:r>
            <a:r>
              <a:rPr lang="en-US" altLang="en-US" dirty="0">
                <a:solidFill>
                  <a:srgbClr val="FF0000"/>
                </a:solidFill>
              </a:rPr>
              <a:t> </a:t>
            </a:r>
            <a:r>
              <a:rPr lang="en-US" altLang="en-US" dirty="0">
                <a:solidFill>
                  <a:srgbClr val="FF0000"/>
                </a:solidFill>
              </a:rPr>
              <a:t>rule</a:t>
            </a:r>
            <a:r>
              <a:rPr lang="en-US" altLang="en-US" dirty="0">
                <a:solidFill>
                  <a:srgbClr val="FF0000"/>
                </a:solidFill>
              </a:rPr>
              <a:t> </a:t>
            </a:r>
            <a:r>
              <a:rPr lang="en-US" altLang="en-US" dirty="0"/>
              <a:t>for</a:t>
            </a:r>
            <a:r>
              <a:rPr lang="en-US" altLang="en-US" dirty="0"/>
              <a:t> </a:t>
            </a:r>
            <a:r>
              <a:rPr lang="en-US" altLang="en-US" dirty="0"/>
              <a:t>identifying</a:t>
            </a:r>
            <a:r>
              <a:rPr lang="en-US" altLang="en-US" dirty="0"/>
              <a:t> </a:t>
            </a:r>
            <a:r>
              <a:rPr lang="en-US" altLang="en-US" dirty="0"/>
              <a:t>investment</a:t>
            </a:r>
            <a:r>
              <a:rPr lang="en-US" altLang="en-US" dirty="0"/>
              <a:t> </a:t>
            </a:r>
            <a:r>
              <a:rPr lang="en-US" altLang="en-US" dirty="0"/>
              <a:t>opportunities</a:t>
            </a:r>
            <a:r>
              <a:rPr lang="en-US" altLang="en-US" dirty="0"/>
              <a:t> </a:t>
            </a:r>
            <a:r>
              <a:rPr lang="en-US" altLang="en-US" dirty="0"/>
              <a:t>is</a:t>
            </a:r>
            <a:r>
              <a:rPr lang="en-US" altLang="en-US" dirty="0"/>
              <a:t> </a:t>
            </a:r>
            <a:r>
              <a:rPr lang="en-US" altLang="en-US" dirty="0"/>
              <a:t>that</a:t>
            </a:r>
            <a:r>
              <a:rPr lang="en-US" altLang="en-US" dirty="0"/>
              <a:t> </a:t>
            </a:r>
            <a:r>
              <a:rPr lang="en-US" altLang="en-US" dirty="0">
                <a:solidFill>
                  <a:schemeClr val="accent4">
                    <a:lumMod val="75000"/>
                  </a:schemeClr>
                </a:solidFill>
              </a:rPr>
              <a:t>the</a:t>
            </a:r>
            <a:r>
              <a:rPr lang="en-US" altLang="en-US" dirty="0">
                <a:solidFill>
                  <a:schemeClr val="accent4">
                    <a:lumMod val="75000"/>
                  </a:schemeClr>
                </a:solidFill>
              </a:rPr>
              <a:t> </a:t>
            </a:r>
            <a:r>
              <a:rPr lang="en-US" altLang="en-US" dirty="0">
                <a:solidFill>
                  <a:schemeClr val="accent4">
                    <a:lumMod val="75000"/>
                  </a:schemeClr>
                </a:solidFill>
              </a:rPr>
              <a:t>benefits</a:t>
            </a:r>
            <a:r>
              <a:rPr lang="en-US" altLang="en-US" dirty="0">
                <a:solidFill>
                  <a:schemeClr val="accent4">
                    <a:lumMod val="75000"/>
                  </a:schemeClr>
                </a:solidFill>
              </a:rPr>
              <a:t> </a:t>
            </a:r>
            <a:r>
              <a:rPr lang="en-US" altLang="en-US" dirty="0">
                <a:solidFill>
                  <a:schemeClr val="accent4">
                    <a:lumMod val="75000"/>
                  </a:schemeClr>
                </a:solidFill>
              </a:rPr>
              <a:t>must</a:t>
            </a:r>
            <a:r>
              <a:rPr lang="en-US" altLang="en-US" dirty="0">
                <a:solidFill>
                  <a:schemeClr val="accent4">
                    <a:lumMod val="75000"/>
                  </a:schemeClr>
                </a:solidFill>
              </a:rPr>
              <a:t> </a:t>
            </a:r>
            <a:r>
              <a:rPr lang="en-US" altLang="en-US" dirty="0">
                <a:solidFill>
                  <a:schemeClr val="accent4">
                    <a:lumMod val="75000"/>
                  </a:schemeClr>
                </a:solidFill>
              </a:rPr>
              <a:t>exceed</a:t>
            </a:r>
            <a:r>
              <a:rPr lang="en-US" altLang="en-US" dirty="0">
                <a:solidFill>
                  <a:schemeClr val="accent4">
                    <a:lumMod val="75000"/>
                  </a:schemeClr>
                </a:solidFill>
              </a:rPr>
              <a:t> </a:t>
            </a:r>
            <a:r>
              <a:rPr lang="en-US" altLang="en-US" dirty="0">
                <a:solidFill>
                  <a:schemeClr val="accent4">
                    <a:lumMod val="75000"/>
                  </a:schemeClr>
                </a:solidFill>
              </a:rPr>
              <a:t>the</a:t>
            </a:r>
            <a:r>
              <a:rPr lang="en-US" altLang="en-US" dirty="0">
                <a:solidFill>
                  <a:schemeClr val="accent4">
                    <a:lumMod val="75000"/>
                  </a:schemeClr>
                </a:solidFill>
              </a:rPr>
              <a:t> </a:t>
            </a:r>
            <a:r>
              <a:rPr lang="en-US" altLang="en-US" dirty="0">
                <a:solidFill>
                  <a:schemeClr val="accent4">
                    <a:lumMod val="75000"/>
                  </a:schemeClr>
                </a:solidFill>
              </a:rPr>
              <a:t>cost</a:t>
            </a:r>
            <a:r>
              <a:rPr lang="en-US" altLang="en-US" dirty="0"/>
              <a:t> </a:t>
            </a:r>
            <a:r>
              <a:rPr lang="en-US" altLang="en-US" dirty="0"/>
              <a:t>when</a:t>
            </a:r>
            <a:r>
              <a:rPr lang="en-US" altLang="en-US" dirty="0"/>
              <a:t> </a:t>
            </a:r>
            <a:r>
              <a:rPr lang="en-US" altLang="en-US" dirty="0"/>
              <a:t>both</a:t>
            </a:r>
            <a:r>
              <a:rPr lang="en-US" altLang="en-US" dirty="0"/>
              <a:t> </a:t>
            </a:r>
            <a:r>
              <a:rPr lang="en-US" altLang="en-US" dirty="0"/>
              <a:t>are</a:t>
            </a:r>
            <a:r>
              <a:rPr lang="en-US" altLang="en-US" dirty="0"/>
              <a:t> </a:t>
            </a:r>
            <a:r>
              <a:rPr lang="en-US" altLang="en-US" dirty="0"/>
              <a:t>expressed</a:t>
            </a:r>
            <a:r>
              <a:rPr lang="en-US" altLang="en-US" dirty="0"/>
              <a:t> </a:t>
            </a:r>
            <a:r>
              <a:rPr lang="en-US" altLang="en-US" dirty="0"/>
              <a:t>in</a:t>
            </a:r>
            <a:r>
              <a:rPr lang="en-US" altLang="en-US" dirty="0"/>
              <a:t> </a:t>
            </a:r>
            <a:r>
              <a:rPr lang="en-US" altLang="en-US" dirty="0"/>
              <a:t>terms</a:t>
            </a:r>
            <a:r>
              <a:rPr lang="en-US" altLang="en-US" dirty="0"/>
              <a:t> </a:t>
            </a:r>
            <a:r>
              <a:rPr lang="en-US" altLang="en-US" dirty="0"/>
              <a:t>of</a:t>
            </a:r>
            <a:r>
              <a:rPr lang="en-US" altLang="en-US" dirty="0"/>
              <a:t> </a:t>
            </a:r>
            <a:r>
              <a:rPr lang="en-US" altLang="en-US" dirty="0"/>
              <a:t>their</a:t>
            </a:r>
            <a:r>
              <a:rPr lang="en-US" altLang="en-US" dirty="0"/>
              <a:t> </a:t>
            </a:r>
            <a:r>
              <a:rPr lang="en-US" altLang="en-US" dirty="0"/>
              <a:t>present</a:t>
            </a:r>
            <a:r>
              <a:rPr lang="en-US" altLang="en-US" dirty="0"/>
              <a:t> </a:t>
            </a:r>
            <a:r>
              <a:rPr lang="en-US" altLang="en-US" dirty="0"/>
              <a:t>values</a:t>
            </a:r>
            <a:endParaRPr lang="en-US" altLang="en-US" dirty="0"/>
          </a:p>
          <a:p>
            <a:r>
              <a:rPr lang="en-US" altLang="en-US" dirty="0"/>
              <a:t>Identifying</a:t>
            </a:r>
            <a:r>
              <a:rPr lang="en-US" altLang="en-US" dirty="0"/>
              <a:t> </a:t>
            </a:r>
            <a:r>
              <a:rPr lang="en-US" altLang="en-US" dirty="0"/>
              <a:t>priorities</a:t>
            </a:r>
            <a:endParaRPr lang="en-US" altLang="en-US" dirty="0"/>
          </a:p>
          <a:p>
            <a:pPr lvl="1"/>
            <a:r>
              <a:rPr lang="en-US" altLang="en-US" dirty="0"/>
              <a:t>Net</a:t>
            </a:r>
            <a:r>
              <a:rPr lang="en-US" altLang="en-US" dirty="0"/>
              <a:t> </a:t>
            </a:r>
            <a:r>
              <a:rPr lang="en-US" altLang="en-US" dirty="0"/>
              <a:t>present</a:t>
            </a:r>
            <a:r>
              <a:rPr lang="en-US" altLang="en-US" dirty="0"/>
              <a:t> </a:t>
            </a:r>
            <a:r>
              <a:rPr lang="en-US" altLang="en-US" dirty="0"/>
              <a:t>value</a:t>
            </a:r>
            <a:r>
              <a:rPr lang="en-US" altLang="en-US" dirty="0"/>
              <a:t>（</a:t>
            </a:r>
            <a:r>
              <a:rPr lang="en-US" altLang="en-US" dirty="0"/>
              <a:t>net</a:t>
            </a:r>
            <a:r>
              <a:rPr lang="en-US" altLang="en-US" dirty="0"/>
              <a:t> </a:t>
            </a:r>
            <a:r>
              <a:rPr lang="en-US" altLang="en-US" dirty="0"/>
              <a:t>benefit</a:t>
            </a:r>
            <a:r>
              <a:rPr lang="en-US" altLang="en-US" dirty="0"/>
              <a:t>）</a:t>
            </a:r>
            <a:endParaRPr lang="en-US" altLang="en-US" dirty="0"/>
          </a:p>
          <a:p>
            <a:pPr lvl="1"/>
            <a:r>
              <a:rPr lang="en-US" altLang="en-US" dirty="0"/>
              <a:t>Benefit/cost</a:t>
            </a:r>
            <a:r>
              <a:rPr lang="en-US" altLang="en-US" dirty="0"/>
              <a:t> </a:t>
            </a:r>
            <a:r>
              <a:rPr lang="en-US" altLang="en-US" dirty="0"/>
              <a:t>ratio</a:t>
            </a:r>
            <a:endParaRPr lang="en-US" altLang="en-US" dirty="0"/>
          </a:p>
          <a:p>
            <a:pPr lvl="1"/>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r>
              <a:rPr lang="en-US" altLang="en-US" dirty="0"/>
              <a:t> </a:t>
            </a:r>
            <a:r>
              <a:rPr lang="en-US" altLang="en-US" dirty="0"/>
              <a:t>on</a:t>
            </a:r>
            <a:r>
              <a:rPr lang="en-US" altLang="en-US" dirty="0"/>
              <a:t> </a:t>
            </a:r>
            <a:r>
              <a:rPr lang="en-US" altLang="en-US" dirty="0"/>
              <a:t>investment</a:t>
            </a:r>
            <a:endParaRPr lang="en-US" altLang="en-US" dirty="0"/>
          </a:p>
          <a:p>
            <a:r>
              <a:rPr lang="en-US" altLang="en-US" dirty="0"/>
              <a:t>Comparing</a:t>
            </a:r>
            <a:r>
              <a:rPr lang="en-US" altLang="en-US" dirty="0"/>
              <a:t> </a:t>
            </a:r>
            <a:r>
              <a:rPr lang="en-US" altLang="en-US" dirty="0"/>
              <a:t>criteria</a:t>
            </a:r>
            <a:endParaRPr lang="en-US" altLang="en-US" dirty="0"/>
          </a:p>
          <a:p>
            <a:pPr lvl="1"/>
            <a:endParaRPr lang="en-US" altLang="en-US" dirty="0"/>
          </a:p>
          <a:p>
            <a:pPr lvl="1"/>
            <a:endParaRPr lang="en-US" altLang="en-US" dirty="0"/>
          </a:p>
          <a:p>
            <a:endParaRPr lang="en-US" altLang="zh-CN" dirty="0"/>
          </a:p>
        </p:txBody>
      </p:sp>
      <p:sp>
        <p:nvSpPr>
          <p:cNvPr id="4" name="内容占位符 3"/>
          <p:cNvSpPr>
            <a:spLocks noGrp="1"/>
          </p:cNvSpPr>
          <p:nvPr>
            <p:ph sz="half" idx="2"/>
          </p:nvPr>
        </p:nvSpPr>
        <p:spPr/>
        <p:txBody>
          <a:bodyPr>
            <a:normAutofit fontScale="62500" lnSpcReduction="20000"/>
          </a:bodyPr>
          <a:lstStyle/>
          <a:p>
            <a:r>
              <a:rPr lang="en-US" altLang="en-US" dirty="0"/>
              <a:t>识别有利的投资机会</a:t>
            </a:r>
            <a:endParaRPr lang="en-US" altLang="en-US" dirty="0"/>
          </a:p>
          <a:p>
            <a:pPr lvl="1"/>
            <a:r>
              <a:rPr lang="en-US" altLang="en-US" dirty="0"/>
              <a:t>收益</a:t>
            </a:r>
            <a:r>
              <a:rPr lang="en-US" altLang="en-US" dirty="0"/>
              <a:t>&gt;</a:t>
            </a:r>
            <a:r>
              <a:rPr lang="en-US" altLang="en-US" dirty="0"/>
              <a:t>成本</a:t>
            </a:r>
            <a:endParaRPr lang="en-US" altLang="en-US" dirty="0"/>
          </a:p>
          <a:p>
            <a:r>
              <a:rPr lang="en-US" altLang="en-US" dirty="0"/>
              <a:t>确定优先顺序</a:t>
            </a:r>
            <a:endParaRPr lang="en-US" altLang="en-US" dirty="0"/>
          </a:p>
          <a:p>
            <a:pPr lvl="1"/>
            <a:r>
              <a:rPr lang="en-US" altLang="en-US" dirty="0"/>
              <a:t>净现值（净收益）</a:t>
            </a:r>
            <a:endParaRPr lang="en-US" altLang="en-US" dirty="0"/>
          </a:p>
          <a:p>
            <a:pPr lvl="1"/>
            <a:r>
              <a:rPr lang="en-US" altLang="en-US" dirty="0"/>
              <a:t>收益</a:t>
            </a:r>
            <a:r>
              <a:rPr lang="en-US" altLang="en-US" dirty="0"/>
              <a:t>/</a:t>
            </a:r>
            <a:r>
              <a:rPr lang="en-US" altLang="en-US" dirty="0"/>
              <a:t>成本率</a:t>
            </a:r>
            <a:endParaRPr lang="en-US" altLang="en-US" dirty="0"/>
          </a:p>
          <a:p>
            <a:pPr lvl="1"/>
            <a:r>
              <a:rPr lang="en-US" altLang="en-US" dirty="0"/>
              <a:t>投资的内部收益率</a:t>
            </a:r>
            <a:endParaRPr lang="en-US" altLang="en-US" dirty="0"/>
          </a:p>
          <a:p>
            <a:r>
              <a:rPr lang="en-US" altLang="en-US" dirty="0"/>
              <a:t>标准的比较</a:t>
            </a:r>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762000" y="381000"/>
            <a:ext cx="7239000" cy="914400"/>
          </a:xfrm>
          <a:ln>
            <a:solidFill>
              <a:schemeClr val="bg2"/>
            </a:solidFill>
          </a:ln>
        </p:spPr>
        <p:txBody>
          <a:bodyPr/>
          <a:lstStyle/>
          <a:p>
            <a:r>
              <a:rPr lang="zh-CN" altLang="en-US" dirty="0">
                <a:effectLst>
                  <a:outerShdw blurRad="38100" dist="38100" dir="2700000" algn="tl">
                    <a:srgbClr val="C0C0C0"/>
                  </a:outerShdw>
                </a:effectLst>
                <a:latin typeface="黑体" panose="02010609060101010101" charset="-122"/>
                <a:ea typeface="黑体" panose="02010609060101010101" charset="-122"/>
              </a:rPr>
              <a:t>净现值</a:t>
            </a:r>
            <a:r>
              <a:rPr lang="en-US" altLang="zh-CN" dirty="0">
                <a:effectLst>
                  <a:outerShdw blurRad="38100" dist="38100" dir="2700000" algn="tl">
                    <a:srgbClr val="C0C0C0"/>
                  </a:outerShdw>
                </a:effectLst>
                <a:ea typeface="宋体" panose="02010600030101010101" pitchFamily="2" charset="-122"/>
              </a:rPr>
              <a:t>Net Present Value</a:t>
            </a:r>
            <a:endParaRPr lang="en-US" altLang="zh-CN" sz="2800" b="0" dirty="0">
              <a:ea typeface="宋体" panose="02010600030101010101" pitchFamily="2" charset="-122"/>
            </a:endParaRPr>
          </a:p>
        </p:txBody>
      </p:sp>
      <p:sp>
        <p:nvSpPr>
          <p:cNvPr id="4099" name="Rectangle 3"/>
          <p:cNvSpPr>
            <a:spLocks noGrp="1" noChangeArrowheads="1"/>
          </p:cNvSpPr>
          <p:nvPr>
            <p:ph type="body" idx="1"/>
          </p:nvPr>
        </p:nvSpPr>
        <p:spPr>
          <a:xfrm>
            <a:off x="381000" y="1066800"/>
            <a:ext cx="8382000" cy="5715000"/>
          </a:xfrm>
          <a:noFill/>
        </p:spPr>
        <p:txBody>
          <a:bodyPr>
            <a:normAutofit fontScale="85000" lnSpcReduction="20000"/>
          </a:bodyPr>
          <a:lstStyle/>
          <a:p>
            <a:pPr algn="just"/>
            <a:endParaRPr lang="en-US" altLang="zh-CN" sz="2400" dirty="0">
              <a:ea typeface="宋体" panose="02010600030101010101" pitchFamily="2" charset="-122"/>
            </a:endParaRPr>
          </a:p>
          <a:p>
            <a:pPr algn="just"/>
            <a:r>
              <a:rPr lang="en-US" altLang="zh-CN" sz="2400" dirty="0">
                <a:ea typeface="宋体" panose="02010600030101010101" pitchFamily="2" charset="-122"/>
              </a:rPr>
              <a:t>NPV  = – Initial Cost + PV(Expected Future CF’s)</a:t>
            </a:r>
            <a:endParaRPr lang="en-US" altLang="zh-CN" sz="3000" dirty="0">
              <a:ea typeface="宋体" panose="02010600030101010101" pitchFamily="2" charset="-122"/>
            </a:endParaRPr>
          </a:p>
          <a:p>
            <a:pPr algn="just">
              <a:buFont typeface="Wingdings" panose="05000000000000000000" pitchFamily="2" charset="2"/>
              <a:buNone/>
            </a:pPr>
            <a:endParaRPr lang="en-US" altLang="zh-CN" sz="3000" dirty="0">
              <a:ea typeface="宋体" panose="02010600030101010101" pitchFamily="2" charset="-122"/>
            </a:endParaRPr>
          </a:p>
          <a:p>
            <a:pPr algn="just">
              <a:buFont typeface="Wingdings" panose="05000000000000000000" pitchFamily="2" charset="2"/>
              <a:buNone/>
            </a:pPr>
            <a:endParaRPr lang="en-US" altLang="zh-CN" sz="3000" dirty="0">
              <a:ea typeface="宋体" panose="02010600030101010101" pitchFamily="2" charset="-122"/>
            </a:endParaRPr>
          </a:p>
          <a:p>
            <a:pPr algn="just">
              <a:buFont typeface="Wingdings" panose="05000000000000000000" pitchFamily="2" charset="2"/>
              <a:buNone/>
            </a:pPr>
            <a:endParaRPr lang="en-US" altLang="zh-CN" sz="2400" i="1" dirty="0">
              <a:ea typeface="宋体" panose="02010600030101010101" pitchFamily="2" charset="-122"/>
            </a:endParaRPr>
          </a:p>
          <a:p>
            <a:pPr algn="ctr">
              <a:buFont typeface="Wingdings" panose="05000000000000000000" pitchFamily="2" charset="2"/>
              <a:buNone/>
            </a:pPr>
            <a:r>
              <a:rPr lang="en-US" altLang="zh-CN" sz="2000" b="0" dirty="0">
                <a:ea typeface="宋体" panose="02010600030101010101" pitchFamily="2" charset="-122"/>
              </a:rPr>
              <a:t>where</a:t>
            </a:r>
            <a:r>
              <a:rPr lang="en-US" altLang="zh-CN" sz="2000" i="1" dirty="0">
                <a:ea typeface="宋体" panose="02010600030101010101" pitchFamily="2" charset="-122"/>
              </a:rPr>
              <a:t> </a:t>
            </a:r>
            <a:r>
              <a:rPr lang="en-US" altLang="zh-CN" sz="2000" b="0" i="1" dirty="0">
                <a:effectLst/>
                <a:ea typeface="宋体" panose="02010600030101010101" pitchFamily="2" charset="-122"/>
              </a:rPr>
              <a:t>r</a:t>
            </a:r>
            <a:r>
              <a:rPr lang="en-US" altLang="zh-CN" sz="2000" i="1" dirty="0">
                <a:ea typeface="宋体" panose="02010600030101010101" pitchFamily="2" charset="-122"/>
              </a:rPr>
              <a:t> </a:t>
            </a:r>
            <a:r>
              <a:rPr lang="en-US" altLang="zh-CN" sz="2000" b="0" dirty="0">
                <a:ea typeface="宋体" panose="02010600030101010101" pitchFamily="2" charset="-122"/>
              </a:rPr>
              <a:t>reflects the risk of the project’s cash flows</a:t>
            </a:r>
            <a:endParaRPr lang="en-US" altLang="zh-CN" sz="2000" b="0" dirty="0">
              <a:ea typeface="宋体" panose="02010600030101010101" pitchFamily="2" charset="-122"/>
            </a:endParaRPr>
          </a:p>
          <a:p>
            <a:pPr algn="ctr">
              <a:buFont typeface="Wingdings" panose="05000000000000000000" pitchFamily="2" charset="2"/>
              <a:buNone/>
            </a:pPr>
            <a:endParaRPr lang="en-US" altLang="zh-CN" sz="1200" b="0" i="1" dirty="0">
              <a:ea typeface="宋体" panose="02010600030101010101" pitchFamily="2" charset="-122"/>
            </a:endParaRPr>
          </a:p>
          <a:p>
            <a:pPr>
              <a:buFont typeface="Wingdings" panose="05000000000000000000" pitchFamily="2" charset="2"/>
              <a:buNone/>
            </a:pPr>
            <a:r>
              <a:rPr lang="en-US" altLang="zh-CN" sz="2000" b="0" i="1" dirty="0">
                <a:solidFill>
                  <a:schemeClr val="tx2"/>
                </a:solidFill>
                <a:ea typeface="宋体" panose="02010600030101010101" pitchFamily="2" charset="-122"/>
              </a:rPr>
              <a:t>	Note that this is a generic formula, and we really use the tools from time value of money (annuities, perpetuities, etc.) from before.</a:t>
            </a:r>
            <a:endParaRPr lang="en-US" altLang="zh-CN" sz="2000" b="0" i="1" dirty="0">
              <a:solidFill>
                <a:schemeClr val="tx2"/>
              </a:solidFill>
              <a:ea typeface="宋体" panose="02010600030101010101" pitchFamily="2" charset="-122"/>
            </a:endParaRPr>
          </a:p>
          <a:p>
            <a:pPr>
              <a:buFont typeface="Wingdings" panose="05000000000000000000" pitchFamily="2" charset="2"/>
              <a:buNone/>
            </a:pPr>
            <a:endParaRPr lang="en-US" altLang="zh-CN" sz="1400" dirty="0">
              <a:ea typeface="宋体" panose="02010600030101010101" pitchFamily="2" charset="-122"/>
            </a:endParaRPr>
          </a:p>
          <a:p>
            <a:pPr algn="just"/>
            <a:r>
              <a:rPr lang="en-US" altLang="zh-CN" sz="2400" dirty="0">
                <a:ea typeface="宋体" panose="02010600030101010101" pitchFamily="2" charset="-122"/>
              </a:rPr>
              <a:t>Net Present Value (NPV) Rule:</a:t>
            </a:r>
            <a:endParaRPr lang="en-US" altLang="zh-CN" sz="2400" i="1" dirty="0">
              <a:ea typeface="宋体" panose="02010600030101010101" pitchFamily="2" charset="-122"/>
            </a:endParaRPr>
          </a:p>
          <a:p>
            <a:pPr lvl="1" algn="just"/>
            <a:r>
              <a:rPr lang="en-US" altLang="zh-CN" sz="2000" i="1" dirty="0">
                <a:ea typeface="宋体" panose="02010600030101010101" pitchFamily="2" charset="-122"/>
              </a:rPr>
              <a:t>NPV &gt; 0	 	Accept the project.</a:t>
            </a:r>
            <a:endParaRPr lang="en-US" altLang="zh-CN" sz="2000" i="1" dirty="0">
              <a:ea typeface="宋体" panose="02010600030101010101" pitchFamily="2" charset="-122"/>
            </a:endParaRPr>
          </a:p>
          <a:p>
            <a:pPr lvl="1"/>
            <a:r>
              <a:rPr lang="en-US" altLang="zh-CN" sz="2000" i="1" dirty="0">
                <a:ea typeface="宋体" panose="02010600030101010101" pitchFamily="2" charset="-122"/>
              </a:rPr>
              <a:t>NPV &lt; 0 		Reject the project.</a:t>
            </a:r>
            <a:endParaRPr lang="en-US" altLang="zh-CN" sz="2000" b="0" i="1" dirty="0">
              <a:ea typeface="宋体" panose="02010600030101010101" pitchFamily="2" charset="-122"/>
            </a:endParaRPr>
          </a:p>
          <a:p>
            <a:pPr lvl="1" algn="just"/>
            <a:endParaRPr lang="en-US" altLang="zh-CN" sz="2000" b="0" i="1" dirty="0">
              <a:ea typeface="宋体" panose="02010600030101010101" pitchFamily="2" charset="-122"/>
            </a:endParaRPr>
          </a:p>
        </p:txBody>
      </p:sp>
      <p:graphicFrame>
        <p:nvGraphicFramePr>
          <p:cNvPr id="4100" name="Object 4"/>
          <p:cNvGraphicFramePr/>
          <p:nvPr/>
        </p:nvGraphicFramePr>
        <p:xfrm>
          <a:off x="1174750" y="2636838"/>
          <a:ext cx="6167438" cy="1000125"/>
        </p:xfrm>
        <a:graphic>
          <a:graphicData uri="http://schemas.openxmlformats.org/presentationml/2006/ole">
            <mc:AlternateContent xmlns:mc="http://schemas.openxmlformats.org/markup-compatibility/2006">
              <mc:Choice xmlns:v="urn:schemas-microsoft-com:vml" Requires="v">
                <p:oleObj spid="_x0000_s24606" name="公式" r:id="rId1" imgW="62179200" imgH="10668000" progId="Equation.3">
                  <p:embed/>
                </p:oleObj>
              </mc:Choice>
              <mc:Fallback>
                <p:oleObj name="公式" r:id="rId1" imgW="62179200" imgH="10668000" progId="Equation.3">
                  <p:embed/>
                  <p:pic>
                    <p:nvPicPr>
                      <p:cNvPr id="0" name="Object 4"/>
                      <p:cNvPicPr>
                        <a:picLocks noChangeArrowheads="1"/>
                      </p:cNvPicPr>
                      <p:nvPr/>
                    </p:nvPicPr>
                    <p:blipFill>
                      <a:blip r:embed="rId2"/>
                      <a:srcRect/>
                      <a:stretch>
                        <a:fillRect/>
                      </a:stretch>
                    </p:blipFill>
                    <p:spPr bwMode="auto">
                      <a:xfrm>
                        <a:off x="1174750" y="2636838"/>
                        <a:ext cx="6167438" cy="1000125"/>
                      </a:xfrm>
                      <a:prstGeom prst="rect">
                        <a:avLst/>
                      </a:prstGeom>
                      <a:noFill/>
                      <a:ln>
                        <a:noFill/>
                      </a:ln>
                      <a:effectLst/>
                    </p:spPr>
                  </p:pic>
                </p:oleObj>
              </mc:Fallback>
            </mc:AlternateContent>
          </a:graphicData>
        </a:graphic>
      </p:graphicFrame>
      <p:sp>
        <p:nvSpPr>
          <p:cNvPr id="2" name="TextBox 1"/>
          <p:cNvSpPr txBox="1"/>
          <p:nvPr/>
        </p:nvSpPr>
        <p:spPr>
          <a:xfrm>
            <a:off x="7230156" y="2283872"/>
            <a:ext cx="1617751" cy="369332"/>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50" normalizeH="0" baseline="0" noProof="0" dirty="0">
                <a:ln w="11430"/>
                <a:solidFill>
                  <a:srgbClr val="8064A2">
                    <a:lumMod val="75000"/>
                  </a:srgbClr>
                </a:solidFill>
                <a:effectLst>
                  <a:outerShdw blurRad="76200" dist="50800" dir="5400000" algn="tl" rotWithShape="0">
                    <a:srgbClr val="000000">
                      <a:alpha val="65000"/>
                    </a:srgbClr>
                  </a:outerShdw>
                </a:effectLst>
                <a:uLnTx/>
                <a:uFillTx/>
                <a:latin typeface="黑体" panose="02010609060101010101" charset="-122"/>
                <a:ea typeface="黑体" panose="02010609060101010101" charset="-122"/>
                <a:cs typeface="+mn-cs"/>
              </a:rPr>
              <a:t>每年的现金流</a:t>
            </a:r>
            <a:endParaRPr kumimoji="0" lang="zh-CN" altLang="en-US" sz="1800" b="1" i="0" u="none" strike="noStrike" kern="1200" cap="none" spc="50" normalizeH="0" baseline="0" noProof="0" dirty="0">
              <a:ln w="11430"/>
              <a:solidFill>
                <a:srgbClr val="8064A2">
                  <a:lumMod val="75000"/>
                </a:srgbClr>
              </a:solidFill>
              <a:effectLst>
                <a:outerShdw blurRad="76200" dist="50800" dir="5400000" algn="tl" rotWithShape="0">
                  <a:srgbClr val="000000">
                    <a:alpha val="65000"/>
                  </a:srgbClr>
                </a:outerShdw>
              </a:effectLst>
              <a:uLnTx/>
              <a:uFillTx/>
              <a:latin typeface="黑体" panose="02010609060101010101" charset="-122"/>
              <a:ea typeface="黑体" panose="02010609060101010101" charset="-122"/>
              <a:cs typeface="+mn-cs"/>
            </a:endParaRPr>
          </a:p>
        </p:txBody>
      </p:sp>
      <p:cxnSp>
        <p:nvCxnSpPr>
          <p:cNvPr id="4" name="直接箭头连接符 3"/>
          <p:cNvCxnSpPr/>
          <p:nvPr/>
        </p:nvCxnSpPr>
        <p:spPr>
          <a:xfrm flipH="1">
            <a:off x="6804248" y="2533546"/>
            <a:ext cx="432048" cy="24738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案例一</a:t>
            </a:r>
            <a:endParaRPr lang="zh-CN" altLang="en-US" dirty="0"/>
          </a:p>
        </p:txBody>
      </p:sp>
      <p:sp>
        <p:nvSpPr>
          <p:cNvPr id="3" name="内容占位符 2"/>
          <p:cNvSpPr>
            <a:spLocks noGrp="1"/>
          </p:cNvSpPr>
          <p:nvPr>
            <p:ph idx="1"/>
          </p:nvPr>
        </p:nvSpPr>
        <p:spPr>
          <a:xfrm>
            <a:off x="323528" y="1772816"/>
            <a:ext cx="4482648" cy="4608512"/>
          </a:xfrm>
        </p:spPr>
        <p:txBody>
          <a:bodyPr>
            <a:normAutofit fontScale="62500" lnSpcReduction="20000"/>
          </a:bodyPr>
          <a:lstStyle/>
          <a:p>
            <a:r>
              <a:rPr lang="zh-CN" altLang="en-US" dirty="0"/>
              <a:t>一块森林</a:t>
            </a:r>
            <a:r>
              <a:rPr lang="en-US" altLang="zh-CN" dirty="0"/>
              <a:t>40</a:t>
            </a:r>
            <a:r>
              <a:rPr lang="zh-CN" altLang="en-US" dirty="0"/>
              <a:t>公顷。砍伐后可以选择重新造林或待其自然更新</a:t>
            </a:r>
            <a:endParaRPr lang="en-US" altLang="zh-CN" dirty="0"/>
          </a:p>
          <a:p>
            <a:r>
              <a:rPr lang="zh-CN" altLang="en-US" dirty="0"/>
              <a:t>如果自然更新，不需成本，</a:t>
            </a:r>
            <a:r>
              <a:rPr lang="en-US" altLang="zh-CN" dirty="0"/>
              <a:t>55</a:t>
            </a:r>
            <a:r>
              <a:rPr lang="zh-CN" altLang="en-US" dirty="0"/>
              <a:t>年后每公顷生长</a:t>
            </a:r>
            <a:r>
              <a:rPr lang="en-US" altLang="zh-CN" dirty="0"/>
              <a:t>375</a:t>
            </a:r>
            <a:r>
              <a:rPr lang="zh-CN" altLang="en-US" dirty="0"/>
              <a:t>立方米</a:t>
            </a:r>
            <a:r>
              <a:rPr lang="en-US" altLang="en-US" dirty="0"/>
              <a:t>低等木材</a:t>
            </a:r>
            <a:r>
              <a:rPr lang="zh-CN" altLang="en-US" dirty="0"/>
              <a:t>，市场价值为每立方米</a:t>
            </a:r>
            <a:r>
              <a:rPr lang="en-US" altLang="zh-CN" dirty="0"/>
              <a:t>15</a:t>
            </a:r>
            <a:r>
              <a:rPr lang="zh-CN" altLang="en-US" dirty="0"/>
              <a:t>元</a:t>
            </a:r>
            <a:endParaRPr lang="en-US" altLang="zh-CN" dirty="0"/>
          </a:p>
          <a:p>
            <a:r>
              <a:rPr lang="zh-CN" altLang="en-US" dirty="0"/>
              <a:t>如重新造林，每公顷需投资</a:t>
            </a:r>
            <a:r>
              <a:rPr lang="en-US" altLang="zh-CN" dirty="0"/>
              <a:t>400</a:t>
            </a:r>
            <a:r>
              <a:rPr lang="zh-CN" altLang="en-US" dirty="0"/>
              <a:t>元，</a:t>
            </a:r>
            <a:r>
              <a:rPr lang="en-US" altLang="zh-CN" dirty="0"/>
              <a:t>55</a:t>
            </a:r>
            <a:r>
              <a:rPr lang="zh-CN" altLang="en-US" dirty="0"/>
              <a:t>年后每公顷可生产</a:t>
            </a:r>
            <a:r>
              <a:rPr lang="en-US" altLang="zh-CN" dirty="0"/>
              <a:t>475</a:t>
            </a:r>
            <a:r>
              <a:rPr lang="zh-CN" altLang="en-US" dirty="0"/>
              <a:t>立方米木材，每立方米木材价值为</a:t>
            </a:r>
            <a:r>
              <a:rPr lang="en-US" altLang="zh-CN" dirty="0"/>
              <a:t>25</a:t>
            </a:r>
            <a:r>
              <a:rPr lang="zh-CN" altLang="en-US" dirty="0"/>
              <a:t>元</a:t>
            </a:r>
            <a:endParaRPr lang="en-US" altLang="zh-CN" dirty="0"/>
          </a:p>
          <a:p>
            <a:r>
              <a:rPr lang="zh-CN" altLang="en-US" dirty="0"/>
              <a:t>问：是否应选择重新造林？（贴现率设为</a:t>
            </a:r>
            <a:r>
              <a:rPr lang="en-US" altLang="zh-CN" dirty="0"/>
              <a:t>3%</a:t>
            </a:r>
            <a:r>
              <a:rPr lang="zh-CN" altLang="en-US" dirty="0"/>
              <a:t>）</a:t>
            </a:r>
            <a:endParaRPr lang="en-US" altLang="zh-CN" dirty="0"/>
          </a:p>
          <a:p>
            <a:endParaRPr lang="zh-CN" altLang="en-US" dirty="0"/>
          </a:p>
        </p:txBody>
      </p:sp>
      <p:sp>
        <p:nvSpPr>
          <p:cNvPr id="4" name="内容占位符 2"/>
          <p:cNvSpPr txBox="1"/>
          <p:nvPr/>
        </p:nvSpPr>
        <p:spPr>
          <a:xfrm>
            <a:off x="4661352" y="1772816"/>
            <a:ext cx="4482648" cy="4608512"/>
          </a:xfrm>
          <a:prstGeom prst="rect">
            <a:avLst/>
          </a:prstGeom>
          <a:solidFill>
            <a:schemeClr val="accent3">
              <a:lumMod val="20000"/>
              <a:lumOff val="80000"/>
            </a:schemeClr>
          </a:solidFill>
          <a:effectLst>
            <a:innerShdw blurRad="63500" dist="50800" dir="13500000">
              <a:prstClr val="black">
                <a:alpha val="50000"/>
              </a:prstClr>
            </a:innerShdw>
          </a:effectLst>
        </p:spPr>
        <p:txBody>
          <a:bodyPr vert="horz" lIns="91440" tIns="45720" rIns="91440" bIns="45720" rtlCol="0">
            <a:normAutofit fontScale="475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t>A</a:t>
            </a:r>
            <a:r>
              <a:rPr lang="en-US" altLang="en-US" dirty="0"/>
              <a:t> </a:t>
            </a:r>
            <a:r>
              <a:rPr lang="en-US" altLang="en-US" dirty="0"/>
              <a:t>tract</a:t>
            </a:r>
            <a:r>
              <a:rPr lang="en-US" altLang="en-US" dirty="0"/>
              <a:t> </a:t>
            </a:r>
            <a:r>
              <a:rPr lang="en-US" altLang="zh-CN" dirty="0"/>
              <a:t>of</a:t>
            </a:r>
            <a:r>
              <a:rPr lang="en-US" altLang="en-US" dirty="0"/>
              <a:t> </a:t>
            </a:r>
            <a:r>
              <a:rPr lang="en-US" altLang="en-US" dirty="0"/>
              <a:t>40</a:t>
            </a:r>
            <a:r>
              <a:rPr lang="en-US" altLang="en-US" dirty="0"/>
              <a:t> </a:t>
            </a:r>
            <a:r>
              <a:rPr lang="en-US" altLang="en-US" dirty="0"/>
              <a:t>hectares</a:t>
            </a:r>
            <a:r>
              <a:rPr lang="en-US" altLang="en-US" dirty="0"/>
              <a:t> </a:t>
            </a:r>
            <a:r>
              <a:rPr lang="en-US" altLang="en-US" dirty="0"/>
              <a:t>has</a:t>
            </a:r>
            <a:r>
              <a:rPr lang="en-US" altLang="en-US" dirty="0"/>
              <a:t> </a:t>
            </a:r>
            <a:r>
              <a:rPr lang="en-US" altLang="en-US" dirty="0"/>
              <a:t>been</a:t>
            </a:r>
            <a:r>
              <a:rPr lang="en-US" altLang="en-US" dirty="0"/>
              <a:t> </a:t>
            </a:r>
            <a:r>
              <a:rPr lang="en-US" altLang="en-US" dirty="0"/>
              <a:t>harvested</a:t>
            </a:r>
            <a:r>
              <a:rPr lang="en-US" altLang="en-US" dirty="0"/>
              <a:t> </a:t>
            </a:r>
            <a:r>
              <a:rPr lang="en-US" altLang="en-US" dirty="0"/>
              <a:t>and</a:t>
            </a:r>
            <a:r>
              <a:rPr lang="en-US" altLang="en-US" dirty="0"/>
              <a:t> </a:t>
            </a:r>
            <a:r>
              <a:rPr lang="en-US" altLang="en-US" dirty="0"/>
              <a:t>the</a:t>
            </a:r>
            <a:r>
              <a:rPr lang="en-US" altLang="en-US" dirty="0"/>
              <a:t> </a:t>
            </a:r>
            <a:r>
              <a:rPr lang="en-US" altLang="en-US" dirty="0"/>
              <a:t>choice</a:t>
            </a:r>
            <a:r>
              <a:rPr lang="en-US" altLang="en-US" dirty="0"/>
              <a:t> </a:t>
            </a:r>
            <a:r>
              <a:rPr lang="en-US" altLang="en-US" dirty="0"/>
              <a:t>is</a:t>
            </a:r>
            <a:r>
              <a:rPr lang="en-US" altLang="en-US" dirty="0"/>
              <a:t> </a:t>
            </a:r>
            <a:r>
              <a:rPr lang="en-US" altLang="en-US" dirty="0"/>
              <a:t>between</a:t>
            </a:r>
            <a:r>
              <a:rPr lang="en-US" altLang="en-US" dirty="0"/>
              <a:t> </a:t>
            </a:r>
            <a:r>
              <a:rPr lang="en-US" altLang="en-US" dirty="0"/>
              <a:t>leaving</a:t>
            </a:r>
            <a:r>
              <a:rPr lang="en-US" altLang="en-US" dirty="0"/>
              <a:t> </a:t>
            </a:r>
            <a:r>
              <a:rPr lang="en-US" altLang="en-US" dirty="0"/>
              <a:t>it</a:t>
            </a:r>
            <a:r>
              <a:rPr lang="en-US" altLang="en-US" dirty="0"/>
              <a:t> </a:t>
            </a:r>
            <a:r>
              <a:rPr lang="en-US" altLang="en-US" dirty="0"/>
              <a:t>to</a:t>
            </a:r>
            <a:r>
              <a:rPr lang="en-US" altLang="en-US" dirty="0"/>
              <a:t> </a:t>
            </a:r>
            <a:r>
              <a:rPr lang="en-US" altLang="en-US" dirty="0">
                <a:solidFill>
                  <a:schemeClr val="accent4">
                    <a:lumMod val="75000"/>
                  </a:schemeClr>
                </a:solidFill>
              </a:rPr>
              <a:t>regenerate</a:t>
            </a:r>
            <a:r>
              <a:rPr lang="en-US" altLang="en-US" dirty="0">
                <a:solidFill>
                  <a:schemeClr val="accent4">
                    <a:lumMod val="75000"/>
                  </a:schemeClr>
                </a:solidFill>
              </a:rPr>
              <a:t> </a:t>
            </a:r>
            <a:r>
              <a:rPr lang="en-US" altLang="en-US" dirty="0">
                <a:solidFill>
                  <a:schemeClr val="accent4">
                    <a:lumMod val="75000"/>
                  </a:schemeClr>
                </a:solidFill>
              </a:rPr>
              <a:t>naturally</a:t>
            </a:r>
            <a:r>
              <a:rPr lang="en-US" altLang="en-US" dirty="0"/>
              <a:t> </a:t>
            </a:r>
            <a:r>
              <a:rPr lang="en-US" altLang="en-US" dirty="0"/>
              <a:t>or</a:t>
            </a:r>
            <a:r>
              <a:rPr lang="en-US" altLang="en-US" dirty="0"/>
              <a:t> </a:t>
            </a:r>
            <a:r>
              <a:rPr lang="en-US" altLang="en-US" dirty="0">
                <a:solidFill>
                  <a:schemeClr val="accent6">
                    <a:lumMod val="50000"/>
                  </a:schemeClr>
                </a:solidFill>
              </a:rPr>
              <a:t>planting</a:t>
            </a:r>
            <a:r>
              <a:rPr lang="en-US" altLang="en-US" dirty="0">
                <a:solidFill>
                  <a:schemeClr val="accent6">
                    <a:lumMod val="50000"/>
                  </a:schemeClr>
                </a:solidFill>
              </a:rPr>
              <a:t> </a:t>
            </a:r>
            <a:r>
              <a:rPr lang="en-US" altLang="en-US" dirty="0">
                <a:solidFill>
                  <a:schemeClr val="accent6">
                    <a:lumMod val="50000"/>
                  </a:schemeClr>
                </a:solidFill>
              </a:rPr>
              <a:t>it</a:t>
            </a:r>
            <a:r>
              <a:rPr lang="en-US" altLang="en-US" dirty="0">
                <a:solidFill>
                  <a:schemeClr val="accent6">
                    <a:lumMod val="50000"/>
                  </a:schemeClr>
                </a:solidFill>
              </a:rPr>
              <a:t> </a:t>
            </a:r>
            <a:r>
              <a:rPr lang="en-US" altLang="en-US" dirty="0">
                <a:solidFill>
                  <a:schemeClr val="accent6">
                    <a:lumMod val="50000"/>
                  </a:schemeClr>
                </a:solidFill>
              </a:rPr>
              <a:t>with</a:t>
            </a:r>
            <a:r>
              <a:rPr lang="en-US" altLang="en-US" dirty="0">
                <a:solidFill>
                  <a:schemeClr val="accent6">
                    <a:lumMod val="50000"/>
                  </a:schemeClr>
                </a:solidFill>
              </a:rPr>
              <a:t> </a:t>
            </a:r>
            <a:r>
              <a:rPr lang="en-US" altLang="en-US" dirty="0">
                <a:solidFill>
                  <a:schemeClr val="accent6">
                    <a:lumMod val="50000"/>
                  </a:schemeClr>
                </a:solidFill>
              </a:rPr>
              <a:t>young</a:t>
            </a:r>
            <a:r>
              <a:rPr lang="en-US" altLang="en-US" dirty="0">
                <a:solidFill>
                  <a:schemeClr val="accent6">
                    <a:lumMod val="50000"/>
                  </a:schemeClr>
                </a:solidFill>
              </a:rPr>
              <a:t> </a:t>
            </a:r>
            <a:r>
              <a:rPr lang="en-US" altLang="en-US" dirty="0">
                <a:solidFill>
                  <a:schemeClr val="accent6">
                    <a:lumMod val="50000"/>
                  </a:schemeClr>
                </a:solidFill>
              </a:rPr>
              <a:t>seedlings</a:t>
            </a:r>
            <a:r>
              <a:rPr lang="en-US" altLang="en-US" dirty="0"/>
              <a:t>.</a:t>
            </a:r>
            <a:endParaRPr lang="en-US" altLang="en-US" dirty="0"/>
          </a:p>
          <a:p>
            <a:r>
              <a:rPr lang="en-US" altLang="en-US" dirty="0"/>
              <a:t>If</a:t>
            </a:r>
            <a:r>
              <a:rPr lang="en-US" altLang="en-US" dirty="0"/>
              <a:t> </a:t>
            </a:r>
            <a:r>
              <a:rPr lang="en-US" altLang="en-US" dirty="0"/>
              <a:t>left</a:t>
            </a:r>
            <a:r>
              <a:rPr lang="en-US" altLang="en-US" dirty="0"/>
              <a:t> </a:t>
            </a:r>
            <a:r>
              <a:rPr lang="en-US" altLang="en-US" dirty="0"/>
              <a:t>to</a:t>
            </a:r>
            <a:r>
              <a:rPr lang="en-US" altLang="en-US" dirty="0"/>
              <a:t> </a:t>
            </a:r>
            <a:r>
              <a:rPr lang="en-US" altLang="en-US" dirty="0"/>
              <a:t>reforest</a:t>
            </a:r>
            <a:r>
              <a:rPr lang="en-US" altLang="en-US" dirty="0"/>
              <a:t> </a:t>
            </a:r>
            <a:r>
              <a:rPr lang="en-US" altLang="en-US" dirty="0"/>
              <a:t>naturally</a:t>
            </a:r>
            <a:r>
              <a:rPr lang="en-US" altLang="en-US" dirty="0"/>
              <a:t> </a:t>
            </a:r>
            <a:r>
              <a:rPr lang="en-US" altLang="en-US" dirty="0"/>
              <a:t>at</a:t>
            </a:r>
            <a:r>
              <a:rPr lang="en-US" altLang="en-US" dirty="0"/>
              <a:t> </a:t>
            </a:r>
            <a:r>
              <a:rPr lang="en-US" altLang="en-US" dirty="0"/>
              <a:t>no</a:t>
            </a:r>
            <a:r>
              <a:rPr lang="en-US" altLang="en-US" dirty="0"/>
              <a:t> </a:t>
            </a:r>
            <a:r>
              <a:rPr lang="en-US" altLang="en-US" dirty="0"/>
              <a:t>cost,</a:t>
            </a:r>
            <a:r>
              <a:rPr lang="en-US" altLang="en-US" dirty="0"/>
              <a:t> </a:t>
            </a:r>
            <a:r>
              <a:rPr lang="en-US" altLang="en-US" dirty="0"/>
              <a:t>in</a:t>
            </a:r>
            <a:r>
              <a:rPr lang="en-US" altLang="en-US" dirty="0"/>
              <a:t> </a:t>
            </a:r>
            <a:r>
              <a:rPr lang="en-US" altLang="en-US" dirty="0"/>
              <a:t>55</a:t>
            </a:r>
            <a:r>
              <a:rPr lang="en-US" altLang="en-US" dirty="0"/>
              <a:t> </a:t>
            </a:r>
            <a:r>
              <a:rPr lang="en-US" altLang="en-US" dirty="0"/>
              <a:t>years</a:t>
            </a:r>
            <a:r>
              <a:rPr lang="en-US" altLang="en-US" dirty="0"/>
              <a:t> </a:t>
            </a:r>
            <a:r>
              <a:rPr lang="en-US" altLang="en-US" dirty="0"/>
              <a:t>the</a:t>
            </a:r>
            <a:r>
              <a:rPr lang="en-US" altLang="en-US" dirty="0"/>
              <a:t> </a:t>
            </a:r>
            <a:r>
              <a:rPr lang="en-US" altLang="en-US" dirty="0"/>
              <a:t>tract</a:t>
            </a:r>
            <a:r>
              <a:rPr lang="en-US" altLang="en-US" dirty="0"/>
              <a:t> </a:t>
            </a:r>
            <a:r>
              <a:rPr lang="en-US" altLang="en-US" dirty="0"/>
              <a:t>would</a:t>
            </a:r>
            <a:r>
              <a:rPr lang="en-US" altLang="en-US" dirty="0"/>
              <a:t> </a:t>
            </a:r>
            <a:r>
              <a:rPr lang="en-US" altLang="en-US" dirty="0"/>
              <a:t>yield</a:t>
            </a:r>
            <a:r>
              <a:rPr lang="en-US" altLang="en-US" dirty="0"/>
              <a:t> </a:t>
            </a:r>
            <a:r>
              <a:rPr lang="en-US" altLang="en-US" dirty="0"/>
              <a:t>375</a:t>
            </a:r>
            <a:r>
              <a:rPr lang="en-US" altLang="en-US" dirty="0"/>
              <a:t> </a:t>
            </a:r>
            <a:r>
              <a:rPr lang="en-US" altLang="en-US" dirty="0">
                <a:solidFill>
                  <a:schemeClr val="accent6">
                    <a:lumMod val="50000"/>
                  </a:schemeClr>
                </a:solidFill>
              </a:rPr>
              <a:t>cubic</a:t>
            </a:r>
            <a:r>
              <a:rPr lang="en-US" altLang="en-US" dirty="0">
                <a:solidFill>
                  <a:schemeClr val="accent6">
                    <a:lumMod val="50000"/>
                  </a:schemeClr>
                </a:solidFill>
              </a:rPr>
              <a:t> </a:t>
            </a:r>
            <a:r>
              <a:rPr lang="en-US" altLang="en-US" dirty="0">
                <a:solidFill>
                  <a:schemeClr val="accent6">
                    <a:lumMod val="50000"/>
                  </a:schemeClr>
                </a:solidFill>
              </a:rPr>
              <a:t>metres</a:t>
            </a:r>
            <a:r>
              <a:rPr lang="en-US" altLang="en-US" dirty="0">
                <a:solidFill>
                  <a:schemeClr val="accent6">
                    <a:lumMod val="50000"/>
                  </a:schemeClr>
                </a:solidFill>
              </a:rPr>
              <a:t> </a:t>
            </a:r>
            <a:r>
              <a:rPr lang="en-US" altLang="en-US" dirty="0">
                <a:solidFill>
                  <a:schemeClr val="accent6">
                    <a:lumMod val="50000"/>
                  </a:schemeClr>
                </a:solidFill>
              </a:rPr>
              <a:t>per</a:t>
            </a:r>
            <a:r>
              <a:rPr lang="en-US" altLang="en-US" dirty="0">
                <a:solidFill>
                  <a:schemeClr val="accent6">
                    <a:lumMod val="50000"/>
                  </a:schemeClr>
                </a:solidFill>
              </a:rPr>
              <a:t> </a:t>
            </a:r>
            <a:r>
              <a:rPr lang="en-US" altLang="en-US" dirty="0">
                <a:solidFill>
                  <a:schemeClr val="accent6">
                    <a:lumMod val="50000"/>
                  </a:schemeClr>
                </a:solidFill>
              </a:rPr>
              <a:t>hectare</a:t>
            </a:r>
            <a:r>
              <a:rPr lang="en-US" altLang="en-US" dirty="0">
                <a:solidFill>
                  <a:schemeClr val="accent6">
                    <a:lumMod val="50000"/>
                  </a:schemeClr>
                </a:solidFill>
              </a:rPr>
              <a:t> </a:t>
            </a:r>
            <a:r>
              <a:rPr lang="en-US" altLang="en-US" dirty="0"/>
              <a:t>of</a:t>
            </a:r>
            <a:r>
              <a:rPr lang="en-US" altLang="en-US" dirty="0"/>
              <a:t> </a:t>
            </a:r>
            <a:r>
              <a:rPr lang="en-US" altLang="en-US" dirty="0">
                <a:solidFill>
                  <a:schemeClr val="accent6">
                    <a:lumMod val="50000"/>
                  </a:schemeClr>
                </a:solidFill>
              </a:rPr>
              <a:t>an</a:t>
            </a:r>
            <a:r>
              <a:rPr lang="en-US" altLang="en-US" dirty="0">
                <a:solidFill>
                  <a:schemeClr val="accent6">
                    <a:lumMod val="50000"/>
                  </a:schemeClr>
                </a:solidFill>
              </a:rPr>
              <a:t> </a:t>
            </a:r>
            <a:r>
              <a:rPr lang="en-US" altLang="en-US" dirty="0">
                <a:solidFill>
                  <a:schemeClr val="accent6">
                    <a:lumMod val="50000"/>
                  </a:schemeClr>
                </a:solidFill>
              </a:rPr>
              <a:t>inferior</a:t>
            </a:r>
            <a:r>
              <a:rPr lang="en-US" altLang="en-US" dirty="0">
                <a:solidFill>
                  <a:schemeClr val="accent6">
                    <a:lumMod val="50000"/>
                  </a:schemeClr>
                </a:solidFill>
              </a:rPr>
              <a:t> </a:t>
            </a:r>
            <a:r>
              <a:rPr lang="en-US" altLang="en-US" dirty="0">
                <a:solidFill>
                  <a:schemeClr val="accent6">
                    <a:lumMod val="50000"/>
                  </a:schemeClr>
                </a:solidFill>
              </a:rPr>
              <a:t>species</a:t>
            </a:r>
            <a:r>
              <a:rPr lang="en-US" altLang="en-US" dirty="0">
                <a:solidFill>
                  <a:schemeClr val="accent6">
                    <a:lumMod val="50000"/>
                  </a:schemeClr>
                </a:solidFill>
              </a:rPr>
              <a:t> </a:t>
            </a:r>
            <a:r>
              <a:rPr lang="en-US" altLang="en-US" dirty="0"/>
              <a:t>worth</a:t>
            </a:r>
            <a:r>
              <a:rPr lang="en-US" altLang="en-US" dirty="0"/>
              <a:t> </a:t>
            </a:r>
            <a:r>
              <a:rPr lang="en-US" altLang="en-US" dirty="0"/>
              <a:t>only</a:t>
            </a:r>
            <a:r>
              <a:rPr lang="en-US" altLang="en-US" dirty="0"/>
              <a:t> </a:t>
            </a:r>
            <a:r>
              <a:rPr lang="en-US" altLang="en-US" dirty="0"/>
              <a:t>¥15</a:t>
            </a:r>
            <a:r>
              <a:rPr lang="en-US" altLang="en-US" dirty="0"/>
              <a:t> </a:t>
            </a:r>
            <a:r>
              <a:rPr lang="en-US" altLang="en-US" dirty="0"/>
              <a:t>per</a:t>
            </a:r>
            <a:r>
              <a:rPr lang="en-US" altLang="en-US" dirty="0"/>
              <a:t> </a:t>
            </a:r>
            <a:r>
              <a:rPr lang="en-US" altLang="en-US" dirty="0"/>
              <a:t>cubic</a:t>
            </a:r>
            <a:r>
              <a:rPr lang="en-US" altLang="en-US" dirty="0"/>
              <a:t> </a:t>
            </a:r>
            <a:r>
              <a:rPr lang="en-US" altLang="en-US" dirty="0"/>
              <a:t>metre.</a:t>
            </a:r>
            <a:endParaRPr lang="en-US" altLang="en-US" dirty="0"/>
          </a:p>
          <a:p>
            <a:r>
              <a:rPr lang="en-US" altLang="en-US" dirty="0"/>
              <a:t>If</a:t>
            </a:r>
            <a:r>
              <a:rPr lang="en-US" altLang="en-US" dirty="0"/>
              <a:t> </a:t>
            </a:r>
            <a:r>
              <a:rPr lang="en-US" altLang="en-US" dirty="0"/>
              <a:t>planted</a:t>
            </a:r>
            <a:r>
              <a:rPr lang="en-US" altLang="en-US" dirty="0"/>
              <a:t> </a:t>
            </a:r>
            <a:r>
              <a:rPr lang="en-US" altLang="en-US" dirty="0"/>
              <a:t>immediately</a:t>
            </a:r>
            <a:r>
              <a:rPr lang="en-US" altLang="en-US" dirty="0"/>
              <a:t> </a:t>
            </a:r>
            <a:r>
              <a:rPr lang="en-US" altLang="en-US" dirty="0"/>
              <a:t>at</a:t>
            </a:r>
            <a:r>
              <a:rPr lang="en-US" altLang="en-US" dirty="0"/>
              <a:t> </a:t>
            </a:r>
            <a:r>
              <a:rPr lang="en-US" altLang="en-US" dirty="0"/>
              <a:t>a</a:t>
            </a:r>
            <a:r>
              <a:rPr lang="en-US" altLang="en-US" dirty="0"/>
              <a:t> </a:t>
            </a:r>
            <a:r>
              <a:rPr lang="en-US" altLang="en-US" dirty="0"/>
              <a:t>cost</a:t>
            </a:r>
            <a:r>
              <a:rPr lang="en-US" altLang="en-US" dirty="0"/>
              <a:t> </a:t>
            </a:r>
            <a:r>
              <a:rPr lang="en-US" altLang="en-US" dirty="0"/>
              <a:t>of</a:t>
            </a:r>
            <a:r>
              <a:rPr lang="en-US" altLang="en-US" dirty="0"/>
              <a:t> </a:t>
            </a:r>
            <a:r>
              <a:rPr lang="en-US" altLang="en-US" dirty="0"/>
              <a:t>¥400</a:t>
            </a:r>
            <a:r>
              <a:rPr lang="en-US" altLang="en-US" dirty="0"/>
              <a:t> </a:t>
            </a:r>
            <a:r>
              <a:rPr lang="en-US" altLang="en-US" dirty="0"/>
              <a:t>per</a:t>
            </a:r>
            <a:r>
              <a:rPr lang="en-US" altLang="en-US" dirty="0"/>
              <a:t> </a:t>
            </a:r>
            <a:r>
              <a:rPr lang="en-US" altLang="en-US" dirty="0"/>
              <a:t>hectare,</a:t>
            </a:r>
            <a:r>
              <a:rPr lang="en-US" altLang="en-US" dirty="0"/>
              <a:t> </a:t>
            </a:r>
            <a:r>
              <a:rPr lang="en-US" altLang="en-US" dirty="0"/>
              <a:t>in</a:t>
            </a:r>
            <a:r>
              <a:rPr lang="en-US" altLang="en-US" dirty="0"/>
              <a:t> </a:t>
            </a:r>
            <a:r>
              <a:rPr lang="en-US" altLang="en-US" dirty="0"/>
              <a:t>55</a:t>
            </a:r>
            <a:r>
              <a:rPr lang="en-US" altLang="en-US" dirty="0"/>
              <a:t> </a:t>
            </a:r>
            <a:r>
              <a:rPr lang="en-US" altLang="en-US" dirty="0"/>
              <a:t>years</a:t>
            </a:r>
            <a:r>
              <a:rPr lang="en-US" altLang="en-US" dirty="0"/>
              <a:t> </a:t>
            </a:r>
            <a:r>
              <a:rPr lang="en-US" altLang="en-US" dirty="0"/>
              <a:t>the</a:t>
            </a:r>
            <a:r>
              <a:rPr lang="en-US" altLang="en-US" dirty="0"/>
              <a:t> </a:t>
            </a:r>
            <a:r>
              <a:rPr lang="en-US" altLang="en-US" dirty="0"/>
              <a:t>tract</a:t>
            </a:r>
            <a:r>
              <a:rPr lang="en-US" altLang="en-US" dirty="0"/>
              <a:t> </a:t>
            </a:r>
            <a:r>
              <a:rPr lang="en-US" altLang="en-US" dirty="0"/>
              <a:t>would</a:t>
            </a:r>
            <a:r>
              <a:rPr lang="en-US" altLang="en-US" dirty="0"/>
              <a:t> </a:t>
            </a:r>
            <a:r>
              <a:rPr lang="en-US" altLang="en-US" dirty="0"/>
              <a:t>yield</a:t>
            </a:r>
            <a:r>
              <a:rPr lang="en-US" altLang="en-US" dirty="0"/>
              <a:t> </a:t>
            </a:r>
            <a:r>
              <a:rPr lang="en-US" altLang="en-US" dirty="0"/>
              <a:t>475</a:t>
            </a:r>
            <a:r>
              <a:rPr lang="en-US" altLang="en-US" dirty="0"/>
              <a:t> </a:t>
            </a:r>
            <a:r>
              <a:rPr lang="en-US" altLang="en-US" dirty="0"/>
              <a:t>cubic</a:t>
            </a:r>
            <a:r>
              <a:rPr lang="en-US" altLang="en-US" dirty="0"/>
              <a:t> </a:t>
            </a:r>
            <a:r>
              <a:rPr lang="en-US" altLang="en-US" dirty="0"/>
              <a:t>metres</a:t>
            </a:r>
            <a:r>
              <a:rPr lang="en-US" altLang="en-US" dirty="0"/>
              <a:t> </a:t>
            </a:r>
            <a:r>
              <a:rPr lang="en-US" altLang="en-US" dirty="0"/>
              <a:t>per</a:t>
            </a:r>
            <a:r>
              <a:rPr lang="en-US" altLang="en-US" dirty="0"/>
              <a:t> </a:t>
            </a:r>
            <a:r>
              <a:rPr lang="en-US" altLang="en-US" dirty="0"/>
              <a:t>hectare</a:t>
            </a:r>
            <a:r>
              <a:rPr lang="en-US" altLang="en-US" dirty="0"/>
              <a:t> </a:t>
            </a:r>
            <a:r>
              <a:rPr lang="en-US" altLang="en-US" dirty="0"/>
              <a:t>worth</a:t>
            </a:r>
            <a:r>
              <a:rPr lang="en-US" altLang="en-US" dirty="0"/>
              <a:t> </a:t>
            </a:r>
            <a:r>
              <a:rPr lang="en-US" altLang="en-US" dirty="0"/>
              <a:t>¥25</a:t>
            </a:r>
            <a:r>
              <a:rPr lang="en-US" altLang="en-US" dirty="0"/>
              <a:t> </a:t>
            </a:r>
            <a:r>
              <a:rPr lang="en-US" altLang="en-US" dirty="0"/>
              <a:t>per</a:t>
            </a:r>
            <a:r>
              <a:rPr lang="en-US" altLang="en-US" dirty="0"/>
              <a:t> </a:t>
            </a:r>
            <a:r>
              <a:rPr lang="en-US" altLang="en-US" dirty="0"/>
              <a:t>cubic</a:t>
            </a:r>
            <a:r>
              <a:rPr lang="en-US" altLang="en-US" dirty="0"/>
              <a:t> </a:t>
            </a:r>
            <a:r>
              <a:rPr lang="en-US" altLang="en-US" dirty="0"/>
              <a:t>metre.</a:t>
            </a:r>
            <a:endParaRPr lang="en-US" altLang="en-US" dirty="0"/>
          </a:p>
          <a:p>
            <a:r>
              <a:rPr lang="en-US" altLang="en-US" dirty="0"/>
              <a:t>If</a:t>
            </a:r>
            <a:r>
              <a:rPr lang="en-US" altLang="en-US" dirty="0"/>
              <a:t> </a:t>
            </a:r>
            <a:r>
              <a:rPr lang="en-US" altLang="en-US" dirty="0"/>
              <a:t>the</a:t>
            </a:r>
            <a:r>
              <a:rPr lang="en-US" altLang="en-US" dirty="0"/>
              <a:t> </a:t>
            </a:r>
            <a:r>
              <a:rPr lang="en-US" altLang="en-US" dirty="0"/>
              <a:t>discount</a:t>
            </a:r>
            <a:r>
              <a:rPr lang="en-US" altLang="en-US" dirty="0"/>
              <a:t> </a:t>
            </a:r>
            <a:r>
              <a:rPr lang="en-US" altLang="en-US" dirty="0"/>
              <a:t>rate</a:t>
            </a:r>
            <a:r>
              <a:rPr lang="en-US" altLang="en-US" dirty="0"/>
              <a:t> </a:t>
            </a:r>
            <a:r>
              <a:rPr lang="en-US" altLang="en-US" dirty="0"/>
              <a:t>is</a:t>
            </a:r>
            <a:r>
              <a:rPr lang="en-US" altLang="en-US" dirty="0"/>
              <a:t> </a:t>
            </a:r>
            <a:r>
              <a:rPr lang="en-US" altLang="en-US" dirty="0"/>
              <a:t>3%,</a:t>
            </a:r>
            <a:r>
              <a:rPr lang="en-US" altLang="en-US" dirty="0"/>
              <a:t> </a:t>
            </a:r>
            <a:r>
              <a:rPr lang="en-US" altLang="en-US" dirty="0"/>
              <a:t>would</a:t>
            </a:r>
            <a:r>
              <a:rPr lang="en-US" altLang="en-US" dirty="0"/>
              <a:t> </a:t>
            </a:r>
            <a:r>
              <a:rPr lang="en-US" altLang="en-US" dirty="0"/>
              <a:t>it</a:t>
            </a:r>
            <a:r>
              <a:rPr lang="en-US" altLang="en-US" dirty="0"/>
              <a:t> </a:t>
            </a:r>
            <a:r>
              <a:rPr lang="en-US" altLang="en-US" dirty="0"/>
              <a:t>be</a:t>
            </a:r>
            <a:r>
              <a:rPr lang="en-US" altLang="en-US" dirty="0"/>
              <a:t> </a:t>
            </a:r>
            <a:r>
              <a:rPr lang="en-US" altLang="en-US" dirty="0"/>
              <a:t>an</a:t>
            </a:r>
            <a:r>
              <a:rPr lang="en-US" altLang="en-US" dirty="0"/>
              <a:t> </a:t>
            </a:r>
            <a:r>
              <a:rPr lang="en-US" altLang="en-US" dirty="0"/>
              <a:t>efficient</a:t>
            </a:r>
            <a:r>
              <a:rPr lang="en-US" altLang="en-US" dirty="0"/>
              <a:t> </a:t>
            </a:r>
            <a:r>
              <a:rPr lang="en-US" altLang="en-US" dirty="0"/>
              <a:t>choice</a:t>
            </a:r>
            <a:r>
              <a:rPr lang="en-US" altLang="en-US" dirty="0"/>
              <a:t> </a:t>
            </a:r>
            <a:r>
              <a:rPr lang="en-US" altLang="en-US" dirty="0"/>
              <a:t>to</a:t>
            </a:r>
            <a:r>
              <a:rPr lang="en-US" altLang="en-US" dirty="0"/>
              <a:t> </a:t>
            </a:r>
            <a:r>
              <a:rPr lang="en-US" altLang="en-US" dirty="0"/>
              <a:t>plant</a:t>
            </a:r>
            <a:r>
              <a:rPr lang="en-US" altLang="en-US" dirty="0"/>
              <a:t> </a:t>
            </a:r>
            <a:r>
              <a:rPr lang="en-US" altLang="en-US" dirty="0"/>
              <a:t>young</a:t>
            </a:r>
            <a:r>
              <a:rPr lang="en-US" altLang="en-US" dirty="0"/>
              <a:t> </a:t>
            </a:r>
            <a:r>
              <a:rPr lang="en-US" altLang="en-US" dirty="0"/>
              <a:t>seedlings?</a:t>
            </a:r>
            <a:endParaRPr lang="en-US" altLang="en-US" dirty="0"/>
          </a:p>
          <a:p>
            <a:endParaRPr lang="en-US" altLang="en-US" dirty="0"/>
          </a:p>
          <a:p>
            <a:endParaRPr lang="en-US" altLang="zh-C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案例求解</a:t>
            </a:r>
            <a:endParaRPr lang="zh-CN" altLang="en-US" dirty="0"/>
          </a:p>
        </p:txBody>
      </p:sp>
      <p:sp>
        <p:nvSpPr>
          <p:cNvPr id="3" name="内容占位符 2"/>
          <p:cNvSpPr>
            <a:spLocks noGrp="1"/>
          </p:cNvSpPr>
          <p:nvPr>
            <p:ph sz="half" idx="1"/>
          </p:nvPr>
        </p:nvSpPr>
        <p:spPr/>
        <p:txBody>
          <a:bodyPr>
            <a:normAutofit fontScale="92500"/>
          </a:bodyPr>
          <a:lstStyle/>
          <a:p>
            <a:r>
              <a:rPr lang="zh-CN" altLang="en-US" dirty="0"/>
              <a:t>求解思路：</a:t>
            </a:r>
            <a:endParaRPr lang="en-US" altLang="zh-CN" dirty="0"/>
          </a:p>
          <a:p>
            <a:pPr lvl="1"/>
            <a:r>
              <a:rPr lang="zh-CN" altLang="en-US" dirty="0"/>
              <a:t>分别计算自然更新的净现值</a:t>
            </a:r>
            <a:r>
              <a:rPr lang="en-US" altLang="zh-CN" dirty="0"/>
              <a:t>V</a:t>
            </a:r>
            <a:r>
              <a:rPr lang="en-US" altLang="zh-CN" baseline="-25000" dirty="0"/>
              <a:t>g</a:t>
            </a:r>
            <a:r>
              <a:rPr lang="zh-CN" altLang="en-US" dirty="0"/>
              <a:t>和人工造林的净现值</a:t>
            </a:r>
            <a:r>
              <a:rPr lang="en-US" altLang="zh-CN" dirty="0" err="1"/>
              <a:t>V</a:t>
            </a:r>
            <a:r>
              <a:rPr lang="en-US" altLang="zh-CN" baseline="-25000" dirty="0" err="1"/>
              <a:t>p</a:t>
            </a:r>
            <a:endParaRPr lang="en-US" altLang="zh-CN" baseline="-25000" dirty="0"/>
          </a:p>
          <a:p>
            <a:pPr lvl="1"/>
            <a:r>
              <a:rPr lang="zh-CN" altLang="en-US" dirty="0"/>
              <a:t>造林投资的净收益</a:t>
            </a:r>
            <a:endParaRPr lang="en-US" altLang="zh-CN" dirty="0"/>
          </a:p>
          <a:p>
            <a:pPr lvl="1"/>
            <a:r>
              <a:rPr lang="en-US" altLang="zh-CN" dirty="0"/>
              <a:t>V</a:t>
            </a:r>
            <a:r>
              <a:rPr lang="en-US" altLang="zh-CN" baseline="-25000" dirty="0"/>
              <a:t>0</a:t>
            </a:r>
            <a:r>
              <a:rPr lang="en-US" altLang="zh-CN" dirty="0"/>
              <a:t>=</a:t>
            </a:r>
            <a:r>
              <a:rPr lang="en-US" altLang="zh-CN" dirty="0" err="1"/>
              <a:t>V</a:t>
            </a:r>
            <a:r>
              <a:rPr lang="en-US" altLang="zh-CN" baseline="-25000" dirty="0" err="1"/>
              <a:t>p</a:t>
            </a:r>
            <a:r>
              <a:rPr lang="en-US" altLang="zh-CN" dirty="0"/>
              <a:t>-V</a:t>
            </a:r>
            <a:r>
              <a:rPr lang="en-US" altLang="zh-CN" baseline="-25000" dirty="0"/>
              <a:t>g</a:t>
            </a:r>
            <a:endParaRPr lang="zh-CN" altLang="en-US" baseline="-25000" dirty="0"/>
          </a:p>
        </p:txBody>
      </p:sp>
      <p:sp>
        <p:nvSpPr>
          <p:cNvPr id="4" name="内容占位符 3"/>
          <p:cNvSpPr>
            <a:spLocks noGrp="1"/>
          </p:cNvSpPr>
          <p:nvPr>
            <p:ph sz="half" idx="2"/>
          </p:nvPr>
        </p:nvSpPr>
        <p:spPr/>
        <p:txBody>
          <a:bodyPr>
            <a:normAutofit fontScale="92500"/>
          </a:bodyPr>
          <a:lstStyle/>
          <a:p>
            <a:r>
              <a:rPr lang="en-US" altLang="zh-CN" dirty="0"/>
              <a:t>V</a:t>
            </a:r>
            <a:r>
              <a:rPr lang="en-US" altLang="zh-CN" baseline="-25000" dirty="0"/>
              <a:t>g </a:t>
            </a:r>
            <a:r>
              <a:rPr lang="en-US" altLang="zh-CN" dirty="0"/>
              <a:t>=</a:t>
            </a:r>
            <a:r>
              <a:rPr lang="zh-CN" altLang="en-US" dirty="0"/>
              <a:t>（</a:t>
            </a:r>
            <a:r>
              <a:rPr lang="en-US" altLang="zh-CN" dirty="0"/>
              <a:t>40</a:t>
            </a:r>
            <a:r>
              <a:rPr lang="zh-CN" altLang="en-US" dirty="0"/>
              <a:t>*</a:t>
            </a:r>
            <a:r>
              <a:rPr lang="en-US" altLang="zh-CN" dirty="0">
                <a:solidFill>
                  <a:schemeClr val="accent5">
                    <a:lumMod val="50000"/>
                  </a:schemeClr>
                </a:solidFill>
              </a:rPr>
              <a:t>375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^55</a:t>
            </a:r>
            <a:endParaRPr lang="en-US" altLang="zh-CN" dirty="0"/>
          </a:p>
          <a:p>
            <a:pPr lvl="1"/>
            <a:r>
              <a:rPr lang="en-US" altLang="zh-CN" dirty="0"/>
              <a:t>=44272</a:t>
            </a:r>
            <a:endParaRPr lang="en-US" altLang="zh-CN" dirty="0"/>
          </a:p>
          <a:p>
            <a:r>
              <a:rPr lang="en-US" altLang="zh-CN" dirty="0" err="1"/>
              <a:t>V</a:t>
            </a:r>
            <a:r>
              <a:rPr lang="en-US" altLang="zh-CN" baseline="-25000" dirty="0" err="1"/>
              <a:t>p</a:t>
            </a:r>
            <a:r>
              <a:rPr lang="en-US" altLang="zh-CN" baseline="-25000" dirty="0"/>
              <a:t> </a:t>
            </a:r>
            <a:r>
              <a:rPr lang="en-US" altLang="zh-CN" dirty="0"/>
              <a:t>=</a:t>
            </a:r>
            <a:r>
              <a:rPr lang="zh-CN" altLang="en-US" dirty="0"/>
              <a:t>（</a:t>
            </a:r>
            <a:r>
              <a:rPr lang="en-US" altLang="zh-CN" dirty="0"/>
              <a:t>40</a:t>
            </a:r>
            <a:r>
              <a:rPr lang="zh-CN" altLang="en-US" dirty="0"/>
              <a:t>*</a:t>
            </a:r>
            <a:r>
              <a:rPr lang="en-US" altLang="zh-CN" dirty="0">
                <a:solidFill>
                  <a:schemeClr val="accent5">
                    <a:lumMod val="50000"/>
                  </a:schemeClr>
                </a:solidFill>
              </a:rPr>
              <a:t>475</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^55</a:t>
            </a:r>
            <a:r>
              <a:rPr lang="en-US" altLang="zh-CN" dirty="0">
                <a:solidFill>
                  <a:srgbClr val="C00000"/>
                </a:solidFill>
              </a:rPr>
              <a:t>-</a:t>
            </a:r>
            <a:r>
              <a:rPr lang="zh-CN" altLang="en-US" dirty="0">
                <a:solidFill>
                  <a:srgbClr val="C00000"/>
                </a:solidFill>
              </a:rPr>
              <a:t>（</a:t>
            </a:r>
            <a:r>
              <a:rPr lang="en-US" altLang="zh-CN" dirty="0">
                <a:solidFill>
                  <a:srgbClr val="C00000"/>
                </a:solidFill>
              </a:rPr>
              <a:t>40</a:t>
            </a:r>
            <a:r>
              <a:rPr lang="zh-CN" altLang="en-US" dirty="0">
                <a:solidFill>
                  <a:srgbClr val="C00000"/>
                </a:solidFill>
              </a:rPr>
              <a:t>*</a:t>
            </a:r>
            <a:r>
              <a:rPr lang="en-US" altLang="zh-CN" dirty="0">
                <a:solidFill>
                  <a:srgbClr val="C00000"/>
                </a:solidFill>
              </a:rPr>
              <a:t>400</a:t>
            </a:r>
            <a:r>
              <a:rPr lang="zh-CN" altLang="en-US" dirty="0">
                <a:solidFill>
                  <a:srgbClr val="C00000"/>
                </a:solidFill>
              </a:rPr>
              <a:t>）</a:t>
            </a:r>
            <a:endParaRPr lang="en-US" altLang="zh-CN" dirty="0">
              <a:solidFill>
                <a:srgbClr val="C00000"/>
              </a:solidFill>
            </a:endParaRPr>
          </a:p>
          <a:p>
            <a:pPr lvl="1"/>
            <a:r>
              <a:rPr lang="en-US" altLang="zh-CN" dirty="0">
                <a:solidFill>
                  <a:srgbClr val="00B050"/>
                </a:solidFill>
              </a:rPr>
              <a:t>=77464</a:t>
            </a:r>
            <a:endParaRPr lang="en-US" altLang="zh-CN" dirty="0">
              <a:solidFill>
                <a:srgbClr val="00B050"/>
              </a:solidFill>
            </a:endParaRPr>
          </a:p>
          <a:p>
            <a:pPr marL="342900" lvl="1" indent="-342900"/>
            <a:r>
              <a:rPr lang="en-US" altLang="zh-CN" dirty="0"/>
              <a:t>V</a:t>
            </a:r>
            <a:r>
              <a:rPr lang="en-US" altLang="zh-CN" baseline="-25000" dirty="0"/>
              <a:t>0</a:t>
            </a:r>
            <a:r>
              <a:rPr lang="en-US" altLang="zh-CN" dirty="0"/>
              <a:t>=</a:t>
            </a:r>
            <a:r>
              <a:rPr lang="en-US" altLang="zh-CN" dirty="0" err="1"/>
              <a:t>V</a:t>
            </a:r>
            <a:r>
              <a:rPr lang="en-US" altLang="zh-CN" baseline="-25000" dirty="0" err="1"/>
              <a:t>p</a:t>
            </a:r>
            <a:r>
              <a:rPr lang="en-US" altLang="zh-CN" dirty="0"/>
              <a:t>-V</a:t>
            </a:r>
            <a:r>
              <a:rPr lang="en-US" altLang="zh-CN" baseline="-25000" dirty="0"/>
              <a:t>g</a:t>
            </a:r>
            <a:r>
              <a:rPr lang="en-US" altLang="zh-CN" dirty="0"/>
              <a:t>=33192</a:t>
            </a:r>
            <a:endParaRPr lang="zh-CN" altLang="en-US" dirty="0"/>
          </a:p>
        </p:txBody>
      </p:sp>
      <p:pic>
        <p:nvPicPr>
          <p:cNvPr id="6" name="图片 5">
            <a:hlinkClick r:id="rId1" action="ppaction://hlinksldjump"/>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28384" y="5589240"/>
            <a:ext cx="519067" cy="497881"/>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en-US"/>
              <a:t>收益</a:t>
            </a:r>
            <a:r>
              <a:rPr kumimoji="1" lang="en-US" altLang="en-US"/>
              <a:t>/</a:t>
            </a:r>
            <a:r>
              <a:rPr kumimoji="1" lang="en-US" altLang="en-US"/>
              <a:t>成本率 </a:t>
            </a:r>
            <a:r>
              <a:rPr kumimoji="1" lang="en-US" altLang="en-US"/>
              <a:t>Benefit/Cost</a:t>
            </a:r>
            <a:r>
              <a:rPr kumimoji="1" lang="en-US" altLang="en-US"/>
              <a:t> </a:t>
            </a:r>
            <a:r>
              <a:rPr kumimoji="1" lang="en-US" altLang="en-US"/>
              <a:t>Ratio</a:t>
            </a:r>
            <a:endParaRPr kumimoji="1" lang="zh-CN" altLang="en-US"/>
          </a:p>
        </p:txBody>
      </p:sp>
      <p:sp>
        <p:nvSpPr>
          <p:cNvPr id="3" name="内容占位符 2"/>
          <p:cNvSpPr>
            <a:spLocks noGrp="1"/>
          </p:cNvSpPr>
          <p:nvPr>
            <p:ph idx="1"/>
          </p:nvPr>
        </p:nvSpPr>
        <p:spPr/>
        <p:txBody>
          <a:bodyPr>
            <a:normAutofit fontScale="77500" lnSpcReduction="20000"/>
          </a:bodyPr>
          <a:lstStyle/>
          <a:p>
            <a:r>
              <a:rPr kumimoji="1" lang="en-US" altLang="en-US"/>
              <a:t>在面临固定预算的情况下，如何获取最大的收益？或者说，如何让投入的每一元钱成本产生最大的收益？</a:t>
            </a:r>
            <a:endParaRPr kumimoji="1" lang="en-US" altLang="en-US"/>
          </a:p>
          <a:p>
            <a:r>
              <a:rPr kumimoji="1" lang="en-US" altLang="en-US"/>
              <a:t>How</a:t>
            </a:r>
            <a:r>
              <a:rPr kumimoji="1" lang="en-US" altLang="en-US"/>
              <a:t> </a:t>
            </a:r>
            <a:r>
              <a:rPr kumimoji="1" lang="en-US" altLang="en-US"/>
              <a:t>to</a:t>
            </a:r>
            <a:r>
              <a:rPr kumimoji="1" lang="en-US" altLang="en-US"/>
              <a:t> </a:t>
            </a:r>
            <a:r>
              <a:rPr kumimoji="1" lang="en-US" altLang="en-US"/>
              <a:t>generate</a:t>
            </a:r>
            <a:r>
              <a:rPr kumimoji="1" lang="en-US" altLang="en-US"/>
              <a:t> </a:t>
            </a:r>
            <a:r>
              <a:rPr kumimoji="1" lang="en-US" altLang="en-US"/>
              <a:t>the</a:t>
            </a:r>
            <a:r>
              <a:rPr kumimoji="1" lang="en-US" altLang="en-US"/>
              <a:t> </a:t>
            </a:r>
            <a:r>
              <a:rPr kumimoji="1" lang="en-US" altLang="en-US"/>
              <a:t>maximum</a:t>
            </a:r>
            <a:r>
              <a:rPr kumimoji="1" lang="en-US" altLang="en-US"/>
              <a:t> </a:t>
            </a:r>
            <a:r>
              <a:rPr kumimoji="1" lang="en-US" altLang="en-US"/>
              <a:t>possible</a:t>
            </a:r>
            <a:r>
              <a:rPr kumimoji="1" lang="en-US" altLang="en-US"/>
              <a:t> </a:t>
            </a:r>
            <a:r>
              <a:rPr kumimoji="1" lang="en-US" altLang="en-US"/>
              <a:t>benefits</a:t>
            </a:r>
            <a:r>
              <a:rPr kumimoji="1" lang="en-US" altLang="en-US"/>
              <a:t> </a:t>
            </a:r>
            <a:r>
              <a:rPr kumimoji="1" lang="en-US" altLang="en-US"/>
              <a:t>from</a:t>
            </a:r>
            <a:r>
              <a:rPr kumimoji="1" lang="en-US" altLang="en-US"/>
              <a:t> </a:t>
            </a:r>
            <a:r>
              <a:rPr kumimoji="1" lang="en-US" altLang="en-US"/>
              <a:t>the</a:t>
            </a:r>
            <a:r>
              <a:rPr kumimoji="1" lang="en-US" altLang="en-US"/>
              <a:t> </a:t>
            </a:r>
            <a:r>
              <a:rPr kumimoji="1" lang="en-US" altLang="en-US"/>
              <a:t>funds</a:t>
            </a:r>
            <a:r>
              <a:rPr kumimoji="1" lang="en-US" altLang="en-US"/>
              <a:t> </a:t>
            </a:r>
            <a:r>
              <a:rPr kumimoji="1" lang="en-US" altLang="en-US"/>
              <a:t>available,</a:t>
            </a:r>
            <a:r>
              <a:rPr kumimoji="1" lang="en-US" altLang="en-US"/>
              <a:t> </a:t>
            </a:r>
            <a:r>
              <a:rPr kumimoji="1" lang="en-US" altLang="en-US"/>
              <a:t>or</a:t>
            </a:r>
            <a:r>
              <a:rPr kumimoji="1" lang="en-US" altLang="en-US"/>
              <a:t> </a:t>
            </a:r>
            <a:r>
              <a:rPr kumimoji="1" lang="en-US" altLang="en-US"/>
              <a:t>how</a:t>
            </a:r>
            <a:r>
              <a:rPr kumimoji="1" lang="en-US" altLang="en-US"/>
              <a:t> </a:t>
            </a:r>
            <a:r>
              <a:rPr kumimoji="1" lang="en-US" altLang="en-US"/>
              <a:t>to</a:t>
            </a:r>
            <a:r>
              <a:rPr kumimoji="1" lang="en-US" altLang="en-US"/>
              <a:t> </a:t>
            </a:r>
            <a:r>
              <a:rPr kumimoji="1" lang="en-US" altLang="en-US"/>
              <a:t>generate</a:t>
            </a:r>
            <a:r>
              <a:rPr kumimoji="1" lang="en-US" altLang="en-US"/>
              <a:t> </a:t>
            </a:r>
            <a:r>
              <a:rPr kumimoji="1" lang="en-US" altLang="en-US"/>
              <a:t>the</a:t>
            </a:r>
            <a:r>
              <a:rPr kumimoji="1" lang="en-US" altLang="en-US"/>
              <a:t> </a:t>
            </a:r>
            <a:r>
              <a:rPr kumimoji="1" lang="en-US" altLang="en-US"/>
              <a:t>maximum</a:t>
            </a:r>
            <a:r>
              <a:rPr kumimoji="1" lang="en-US" altLang="en-US"/>
              <a:t> </a:t>
            </a:r>
            <a:r>
              <a:rPr kumimoji="1" lang="en-US" altLang="en-US"/>
              <a:t>possible</a:t>
            </a:r>
            <a:r>
              <a:rPr kumimoji="1" lang="en-US" altLang="en-US"/>
              <a:t> </a:t>
            </a:r>
            <a:r>
              <a:rPr kumimoji="1" lang="en-US" altLang="en-US"/>
              <a:t>benefits</a:t>
            </a:r>
            <a:r>
              <a:rPr kumimoji="1" lang="en-US" altLang="en-US"/>
              <a:t> </a:t>
            </a:r>
            <a:r>
              <a:rPr kumimoji="1" lang="en-US" altLang="en-US"/>
              <a:t>for</a:t>
            </a:r>
            <a:r>
              <a:rPr kumimoji="1" lang="en-US" altLang="en-US"/>
              <a:t> </a:t>
            </a:r>
            <a:r>
              <a:rPr kumimoji="1" lang="en-US" altLang="en-US"/>
              <a:t>every</a:t>
            </a:r>
            <a:r>
              <a:rPr kumimoji="1" lang="en-US" altLang="en-US"/>
              <a:t> </a:t>
            </a:r>
            <a:r>
              <a:rPr kumimoji="1" lang="en-US" altLang="en-US"/>
              <a:t>dollar</a:t>
            </a:r>
            <a:r>
              <a:rPr kumimoji="1" lang="en-US" altLang="en-US"/>
              <a:t> </a:t>
            </a:r>
            <a:r>
              <a:rPr kumimoji="1" lang="en-US" altLang="en-US"/>
              <a:t>invested</a:t>
            </a:r>
            <a:r>
              <a:rPr kumimoji="1" lang="en-US" altLang="en-US"/>
              <a:t>？</a:t>
            </a:r>
            <a:endParaRPr kumimoji="1" lang="en-US" altLang="en-US"/>
          </a:p>
          <a:p>
            <a:r>
              <a:rPr kumimoji="1" lang="en-US" altLang="en-US"/>
              <a:t>收益</a:t>
            </a:r>
            <a:r>
              <a:rPr kumimoji="1" lang="en-US" altLang="en-US"/>
              <a:t>/</a:t>
            </a:r>
            <a:r>
              <a:rPr kumimoji="1" lang="en-US" altLang="en-US"/>
              <a:t>成本率衡量了资金的使用效率</a:t>
            </a:r>
            <a:endParaRPr kumimoji="1" lang="en-US" altLang="en-US"/>
          </a:p>
          <a:p>
            <a:r>
              <a:rPr kumimoji="1" lang="en-US" altLang="zh-CN"/>
              <a:t>T</a:t>
            </a:r>
            <a:r>
              <a:rPr kumimoji="1" lang="en-US" altLang="en-US"/>
              <a:t>he</a:t>
            </a:r>
            <a:r>
              <a:rPr kumimoji="1" lang="en-US" altLang="en-US"/>
              <a:t> </a:t>
            </a:r>
            <a:r>
              <a:rPr kumimoji="1" lang="en-US" altLang="en-US"/>
              <a:t>benefit/</a:t>
            </a:r>
            <a:r>
              <a:rPr kumimoji="1" lang="en-US" altLang="en-US"/>
              <a:t> </a:t>
            </a:r>
            <a:r>
              <a:rPr kumimoji="1" lang="en-US" altLang="en-US"/>
              <a:t>cost</a:t>
            </a:r>
            <a:r>
              <a:rPr kumimoji="1" lang="en-US" altLang="en-US"/>
              <a:t> </a:t>
            </a:r>
            <a:r>
              <a:rPr kumimoji="1" lang="en-US" altLang="en-US"/>
              <a:t>ratio</a:t>
            </a:r>
            <a:r>
              <a:rPr kumimoji="1" lang="en-US" altLang="en-US"/>
              <a:t> </a:t>
            </a:r>
            <a:r>
              <a:rPr kumimoji="1" lang="en-US" altLang="en-US"/>
              <a:t>measures</a:t>
            </a:r>
            <a:r>
              <a:rPr kumimoji="1" lang="en-US" altLang="en-US"/>
              <a:t> </a:t>
            </a:r>
            <a:r>
              <a:rPr kumimoji="1" lang="en-US" altLang="en-US"/>
              <a:t>the</a:t>
            </a:r>
            <a:r>
              <a:rPr kumimoji="1" lang="en-US" altLang="en-US"/>
              <a:t> </a:t>
            </a:r>
            <a:r>
              <a:rPr kumimoji="1" lang="en-US" altLang="en-US"/>
              <a:t>efficiency</a:t>
            </a:r>
            <a:r>
              <a:rPr kumimoji="1" lang="en-US" altLang="en-US"/>
              <a:t> </a:t>
            </a:r>
            <a:r>
              <a:rPr kumimoji="1" lang="en-US" altLang="en-US"/>
              <a:t>with</a:t>
            </a:r>
            <a:r>
              <a:rPr kumimoji="1" lang="en-US" altLang="en-US"/>
              <a:t> </a:t>
            </a:r>
            <a:r>
              <a:rPr kumimoji="1" lang="en-US" altLang="en-US"/>
              <a:t>which</a:t>
            </a:r>
            <a:r>
              <a:rPr kumimoji="1" lang="en-US" altLang="en-US"/>
              <a:t> </a:t>
            </a:r>
            <a:r>
              <a:rPr kumimoji="1" lang="en-US" altLang="en-US"/>
              <a:t>funds</a:t>
            </a:r>
            <a:r>
              <a:rPr kumimoji="1" lang="en-US" altLang="en-US"/>
              <a:t> </a:t>
            </a:r>
            <a:r>
              <a:rPr kumimoji="1" lang="en-US" altLang="en-US"/>
              <a:t>are</a:t>
            </a:r>
            <a:r>
              <a:rPr kumimoji="1" lang="en-US" altLang="en-US"/>
              <a:t> </a:t>
            </a:r>
            <a:r>
              <a:rPr kumimoji="1" lang="en-US" altLang="en-US"/>
              <a:t>expended.</a:t>
            </a:r>
            <a:endParaRPr kumimoji="1"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5980" y="146119"/>
            <a:ext cx="7705493" cy="1143000"/>
          </a:xfrm>
        </p:spPr>
        <p:txBody>
          <a:bodyPr>
            <a:normAutofit fontScale="90000"/>
          </a:bodyPr>
          <a:lstStyle/>
          <a:p>
            <a:r>
              <a:rPr kumimoji="1" lang="en-US" altLang="en-US"/>
              <a:t>计算收益</a:t>
            </a:r>
            <a:r>
              <a:rPr kumimoji="1" lang="en-US" altLang="en-US"/>
              <a:t>/</a:t>
            </a:r>
            <a:r>
              <a:rPr kumimoji="1" lang="en-US" altLang="en-US"/>
              <a:t>成本率时，如何考虑机会成本？</a:t>
            </a:r>
            <a:endParaRPr kumimoji="1" lang="zh-CN" altLang="en-US"/>
          </a:p>
        </p:txBody>
      </p:sp>
      <p:sp>
        <p:nvSpPr>
          <p:cNvPr id="3" name="内容占位符 2"/>
          <p:cNvSpPr>
            <a:spLocks noGrp="1"/>
          </p:cNvSpPr>
          <p:nvPr>
            <p:ph sz="half" idx="1"/>
          </p:nvPr>
        </p:nvSpPr>
        <p:spPr/>
        <p:txBody>
          <a:bodyPr>
            <a:normAutofit lnSpcReduction="10000"/>
          </a:bodyPr>
          <a:lstStyle/>
          <a:p>
            <a:r>
              <a:rPr kumimoji="1" lang="en-US" altLang="en-US"/>
              <a:t>在前面造林的例子中，人工造林的成本是</a:t>
            </a:r>
            <a:r>
              <a:rPr kumimoji="1" lang="en-US" altLang="en-US"/>
              <a:t>400</a:t>
            </a:r>
            <a:r>
              <a:rPr kumimoji="1" lang="en-US" altLang="en-US"/>
              <a:t>*</a:t>
            </a:r>
            <a:r>
              <a:rPr kumimoji="1" lang="en-US" altLang="en-US"/>
              <a:t>40=16000</a:t>
            </a:r>
            <a:r>
              <a:rPr kumimoji="1" lang="en-US" altLang="en-US"/>
              <a:t>元</a:t>
            </a:r>
            <a:endParaRPr kumimoji="1" lang="en-US" altLang="en-US"/>
          </a:p>
          <a:p>
            <a:r>
              <a:rPr kumimoji="1" lang="en-US" altLang="en-US"/>
              <a:t>人工造林的收益现值是</a:t>
            </a:r>
            <a:r>
              <a:rPr kumimoji="1" lang="en-US" altLang="en-US"/>
              <a:t>93464</a:t>
            </a:r>
            <a:r>
              <a:rPr kumimoji="1" lang="en-US" altLang="en-US"/>
              <a:t>元</a:t>
            </a:r>
            <a:endParaRPr kumimoji="1" lang="en-US" altLang="en-US"/>
          </a:p>
          <a:p>
            <a:r>
              <a:rPr kumimoji="1" lang="en-US" altLang="en-US"/>
              <a:t>自然更新的净现值是</a:t>
            </a:r>
            <a:r>
              <a:rPr kumimoji="1" lang="en-US" altLang="en-US"/>
              <a:t>44272</a:t>
            </a:r>
            <a:r>
              <a:rPr kumimoji="1" lang="en-US" altLang="en-US"/>
              <a:t>元</a:t>
            </a:r>
            <a:endParaRPr kumimoji="1" lang="en-US" altLang="en-US"/>
          </a:p>
          <a:p>
            <a:endParaRPr kumimoji="1" lang="zh-CN" altLang="en-US"/>
          </a:p>
        </p:txBody>
      </p:sp>
      <p:sp>
        <p:nvSpPr>
          <p:cNvPr id="4" name="内容占位符 3"/>
          <p:cNvSpPr>
            <a:spLocks noGrp="1"/>
          </p:cNvSpPr>
          <p:nvPr>
            <p:ph sz="half" idx="2"/>
          </p:nvPr>
        </p:nvSpPr>
        <p:spPr/>
        <p:txBody>
          <a:bodyPr>
            <a:normAutofit lnSpcReduction="10000"/>
          </a:bodyPr>
          <a:lstStyle/>
          <a:p>
            <a:r>
              <a:rPr kumimoji="1" lang="en-US" altLang="en-US"/>
              <a:t>人工造林的收益</a:t>
            </a:r>
            <a:r>
              <a:rPr kumimoji="1" lang="en-US" altLang="en-US"/>
              <a:t>/</a:t>
            </a:r>
            <a:r>
              <a:rPr kumimoji="1" lang="en-US" altLang="en-US"/>
              <a:t>成本率是多少？</a:t>
            </a:r>
            <a:endParaRPr kumimoji="1"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收益</a:t>
            </a:r>
            <a:r>
              <a:rPr lang="en-US" altLang="zh-CN" dirty="0"/>
              <a:t>/</a:t>
            </a:r>
            <a:r>
              <a:rPr lang="zh-CN" altLang="en-US" dirty="0"/>
              <a:t>成本率</a:t>
            </a:r>
            <a:endParaRPr lang="zh-CN" altLang="en-US" dirty="0"/>
          </a:p>
        </p:txBody>
      </p:sp>
      <p:sp>
        <p:nvSpPr>
          <p:cNvPr id="4" name="内容占位符 3"/>
          <p:cNvSpPr>
            <a:spLocks noGrp="1"/>
          </p:cNvSpPr>
          <p:nvPr>
            <p:ph idx="1"/>
          </p:nvPr>
        </p:nvSpPr>
        <p:spPr/>
        <p:txBody>
          <a:bodyPr/>
          <a:lstStyle/>
          <a:p>
            <a:r>
              <a:rPr lang="zh-CN" altLang="en-US" dirty="0"/>
              <a:t>成本：</a:t>
            </a:r>
            <a:r>
              <a:rPr lang="en-US" altLang="zh-CN" dirty="0"/>
              <a:t>C=</a:t>
            </a:r>
            <a:r>
              <a:rPr lang="zh-CN" altLang="en-US" dirty="0">
                <a:solidFill>
                  <a:srgbClr val="C00000"/>
                </a:solidFill>
              </a:rPr>
              <a:t>（</a:t>
            </a:r>
            <a:r>
              <a:rPr lang="en-US" altLang="zh-CN" dirty="0">
                <a:solidFill>
                  <a:srgbClr val="C00000"/>
                </a:solidFill>
              </a:rPr>
              <a:t>40</a:t>
            </a:r>
            <a:r>
              <a:rPr lang="zh-CN" altLang="en-US" dirty="0">
                <a:solidFill>
                  <a:srgbClr val="C00000"/>
                </a:solidFill>
              </a:rPr>
              <a:t>*</a:t>
            </a:r>
            <a:r>
              <a:rPr lang="en-US" altLang="zh-CN" dirty="0">
                <a:solidFill>
                  <a:srgbClr val="C00000"/>
                </a:solidFill>
              </a:rPr>
              <a:t>400</a:t>
            </a:r>
            <a:r>
              <a:rPr lang="zh-CN" altLang="en-US" dirty="0">
                <a:solidFill>
                  <a:srgbClr val="C00000"/>
                </a:solidFill>
              </a:rPr>
              <a:t>）</a:t>
            </a:r>
            <a:r>
              <a:rPr lang="en-US" altLang="zh-CN" dirty="0">
                <a:solidFill>
                  <a:srgbClr val="C00000"/>
                </a:solidFill>
              </a:rPr>
              <a:t>=16000</a:t>
            </a:r>
            <a:endParaRPr lang="en-US" altLang="zh-CN" dirty="0">
              <a:solidFill>
                <a:srgbClr val="C00000"/>
              </a:solidFill>
            </a:endParaRPr>
          </a:p>
          <a:p>
            <a:r>
              <a:rPr lang="zh-CN" altLang="en-US" dirty="0">
                <a:solidFill>
                  <a:srgbClr val="00B050"/>
                </a:solidFill>
              </a:rPr>
              <a:t>收益：</a:t>
            </a:r>
            <a:r>
              <a:rPr lang="en-US" altLang="zh-CN" dirty="0">
                <a:solidFill>
                  <a:srgbClr val="00B050"/>
                </a:solidFill>
              </a:rPr>
              <a:t>B=</a:t>
            </a:r>
            <a:r>
              <a:rPr lang="zh-CN" altLang="en-US" dirty="0"/>
              <a:t>（</a:t>
            </a:r>
            <a:r>
              <a:rPr lang="en-US" altLang="zh-CN" dirty="0"/>
              <a:t>40</a:t>
            </a:r>
            <a:r>
              <a:rPr lang="zh-CN" altLang="en-US" dirty="0"/>
              <a:t>*</a:t>
            </a:r>
            <a:r>
              <a:rPr lang="en-US" altLang="zh-CN" dirty="0">
                <a:solidFill>
                  <a:schemeClr val="accent5">
                    <a:lumMod val="50000"/>
                  </a:schemeClr>
                </a:solidFill>
              </a:rPr>
              <a:t>475</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^55-</a:t>
            </a:r>
            <a:r>
              <a:rPr lang="zh-CN" altLang="en-US" dirty="0"/>
              <a:t>（</a:t>
            </a:r>
            <a:r>
              <a:rPr lang="en-US" altLang="zh-CN" dirty="0"/>
              <a:t>40</a:t>
            </a:r>
            <a:r>
              <a:rPr lang="zh-CN" altLang="en-US" dirty="0"/>
              <a:t>*</a:t>
            </a:r>
            <a:r>
              <a:rPr lang="en-US" altLang="zh-CN" dirty="0">
                <a:solidFill>
                  <a:schemeClr val="accent5">
                    <a:lumMod val="50000"/>
                  </a:schemeClr>
                </a:solidFill>
              </a:rPr>
              <a:t>375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^55</a:t>
            </a:r>
            <a:endParaRPr lang="en-US" altLang="zh-CN" dirty="0"/>
          </a:p>
          <a:p>
            <a:pPr marL="1828800" lvl="4" indent="0">
              <a:buNone/>
            </a:pPr>
            <a:r>
              <a:rPr lang="en-US" altLang="zh-CN" sz="2800" dirty="0">
                <a:solidFill>
                  <a:srgbClr val="00B050"/>
                </a:solidFill>
              </a:rPr>
              <a:t>=93464-44272=49192</a:t>
            </a:r>
            <a:endParaRPr lang="en-US" altLang="zh-CN" sz="2800" dirty="0">
              <a:solidFill>
                <a:srgbClr val="00B050"/>
              </a:solidFill>
            </a:endParaRPr>
          </a:p>
          <a:p>
            <a:r>
              <a:rPr lang="zh-CN" altLang="en-US" dirty="0">
                <a:solidFill>
                  <a:schemeClr val="accent1">
                    <a:lumMod val="75000"/>
                  </a:schemeClr>
                </a:solidFill>
              </a:rPr>
              <a:t>收益</a:t>
            </a:r>
            <a:r>
              <a:rPr lang="en-US" altLang="zh-CN" dirty="0">
                <a:solidFill>
                  <a:schemeClr val="accent1">
                    <a:lumMod val="75000"/>
                  </a:schemeClr>
                </a:solidFill>
              </a:rPr>
              <a:t>/</a:t>
            </a:r>
            <a:r>
              <a:rPr lang="zh-CN" altLang="en-US" dirty="0">
                <a:solidFill>
                  <a:schemeClr val="accent1">
                    <a:lumMod val="75000"/>
                  </a:schemeClr>
                </a:solidFill>
              </a:rPr>
              <a:t>成本率：</a:t>
            </a:r>
            <a:r>
              <a:rPr lang="en-US" altLang="zh-CN" dirty="0">
                <a:solidFill>
                  <a:schemeClr val="accent1">
                    <a:lumMod val="75000"/>
                  </a:schemeClr>
                </a:solidFill>
              </a:rPr>
              <a:t>B/C=49192/16000=3.07</a:t>
            </a:r>
            <a:endParaRPr lang="en-US" altLang="zh-CN" dirty="0">
              <a:solidFill>
                <a:schemeClr val="accent1">
                  <a:lumMod val="75000"/>
                </a:schemeClr>
              </a:solidFill>
            </a:endParaRPr>
          </a:p>
          <a:p>
            <a:endParaRPr lang="zh-CN" altLang="en-US" dirty="0"/>
          </a:p>
        </p:txBody>
      </p:sp>
      <p:sp>
        <p:nvSpPr>
          <p:cNvPr id="5" name="TextBox 4"/>
          <p:cNvSpPr txBox="1"/>
          <p:nvPr/>
        </p:nvSpPr>
        <p:spPr>
          <a:xfrm>
            <a:off x="4355976" y="2500744"/>
            <a:ext cx="15528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rPr>
              <a:t>人工林收益</a:t>
            </a:r>
            <a:endPar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endParaRPr>
          </a:p>
        </p:txBody>
      </p:sp>
      <p:sp>
        <p:nvSpPr>
          <p:cNvPr id="6" name="TextBox 5"/>
          <p:cNvSpPr txBox="1"/>
          <p:nvPr/>
        </p:nvSpPr>
        <p:spPr>
          <a:xfrm>
            <a:off x="6038087" y="3429000"/>
            <a:ext cx="155288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rPr>
              <a:t>天然林收益（机会成本）</a:t>
            </a:r>
            <a:endPar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endParaRPr>
          </a:p>
        </p:txBody>
      </p:sp>
      <p:pic>
        <p:nvPicPr>
          <p:cNvPr id="7" name="图片 6">
            <a:hlinkClick r:id="rId1" action="ppaction://hlinksldjump"/>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28384" y="5589240"/>
            <a:ext cx="519067" cy="497881"/>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案例二</a:t>
            </a:r>
            <a:endParaRPr lang="zh-CN" altLang="en-US" dirty="0"/>
          </a:p>
        </p:txBody>
      </p:sp>
      <p:sp>
        <p:nvSpPr>
          <p:cNvPr id="3" name="内容占位符 2"/>
          <p:cNvSpPr>
            <a:spLocks noGrp="1"/>
          </p:cNvSpPr>
          <p:nvPr>
            <p:ph idx="1"/>
          </p:nvPr>
        </p:nvSpPr>
        <p:spPr>
          <a:xfrm>
            <a:off x="323528" y="1772816"/>
            <a:ext cx="4293077" cy="4608512"/>
          </a:xfrm>
        </p:spPr>
        <p:txBody>
          <a:bodyPr>
            <a:normAutofit fontScale="70000" lnSpcReduction="20000"/>
          </a:bodyPr>
          <a:lstStyle/>
          <a:p>
            <a:r>
              <a:rPr lang="zh-CN" altLang="en-US" dirty="0"/>
              <a:t>与造林相比，投资者还存在其它选择。</a:t>
            </a:r>
            <a:endParaRPr lang="en-US" altLang="zh-CN" dirty="0"/>
          </a:p>
          <a:p>
            <a:r>
              <a:rPr lang="zh-CN" altLang="en-US" dirty="0"/>
              <a:t>如以每公顷</a:t>
            </a:r>
            <a:r>
              <a:rPr lang="en-US" altLang="zh-CN" dirty="0"/>
              <a:t>550</a:t>
            </a:r>
            <a:r>
              <a:rPr lang="zh-CN" altLang="en-US" dirty="0"/>
              <a:t>元的成本，间伐</a:t>
            </a:r>
            <a:r>
              <a:rPr lang="en-US" altLang="zh-CN" dirty="0"/>
              <a:t>60</a:t>
            </a:r>
            <a:r>
              <a:rPr lang="zh-CN" altLang="en-US" dirty="0"/>
              <a:t>公顷幼林</a:t>
            </a:r>
            <a:endParaRPr lang="en-US" altLang="zh-CN" dirty="0"/>
          </a:p>
          <a:p>
            <a:r>
              <a:rPr lang="zh-CN" altLang="en-US" dirty="0"/>
              <a:t>通过间伐，可以使该林地</a:t>
            </a:r>
            <a:r>
              <a:rPr lang="en-US" altLang="zh-CN" dirty="0"/>
              <a:t>50</a:t>
            </a:r>
            <a:r>
              <a:rPr lang="zh-CN" altLang="en-US" dirty="0"/>
              <a:t>年后的产出从</a:t>
            </a:r>
            <a:r>
              <a:rPr lang="en-US" altLang="zh-CN" dirty="0"/>
              <a:t>425</a:t>
            </a:r>
            <a:r>
              <a:rPr lang="zh-CN" altLang="en-US" dirty="0"/>
              <a:t>立方米增加到</a:t>
            </a:r>
            <a:r>
              <a:rPr lang="en-US" altLang="zh-CN" dirty="0"/>
              <a:t>550</a:t>
            </a:r>
            <a:r>
              <a:rPr lang="zh-CN" altLang="en-US" dirty="0"/>
              <a:t>立方米，木材价格从</a:t>
            </a:r>
            <a:r>
              <a:rPr lang="en-US" altLang="zh-CN" dirty="0"/>
              <a:t>15</a:t>
            </a:r>
            <a:r>
              <a:rPr lang="zh-CN" altLang="en-US" dirty="0"/>
              <a:t>元</a:t>
            </a:r>
            <a:r>
              <a:rPr lang="en-US" altLang="zh-CN" dirty="0"/>
              <a:t>/</a:t>
            </a:r>
            <a:r>
              <a:rPr lang="zh-CN" altLang="en-US" dirty="0"/>
              <a:t>立方米上涨到</a:t>
            </a:r>
            <a:r>
              <a:rPr lang="en-US" altLang="zh-CN" dirty="0"/>
              <a:t>25</a:t>
            </a:r>
            <a:r>
              <a:rPr lang="zh-CN" altLang="en-US" dirty="0"/>
              <a:t>元</a:t>
            </a:r>
            <a:r>
              <a:rPr lang="en-US" altLang="zh-CN" dirty="0"/>
              <a:t>/</a:t>
            </a:r>
            <a:r>
              <a:rPr lang="zh-CN" altLang="en-US" dirty="0"/>
              <a:t>立方米</a:t>
            </a:r>
            <a:endParaRPr lang="en-US" altLang="zh-CN" dirty="0"/>
          </a:p>
          <a:p>
            <a:r>
              <a:rPr lang="zh-CN" altLang="en-US" dirty="0"/>
              <a:t>贴现率为</a:t>
            </a:r>
            <a:r>
              <a:rPr lang="en-US" altLang="zh-CN" dirty="0"/>
              <a:t>3%</a:t>
            </a:r>
            <a:r>
              <a:rPr lang="zh-CN" altLang="en-US" dirty="0"/>
              <a:t>，选择间伐投资还是造林投资？</a:t>
            </a:r>
            <a:endParaRPr lang="zh-CN" altLang="en-US" dirty="0"/>
          </a:p>
        </p:txBody>
      </p:sp>
      <p:sp>
        <p:nvSpPr>
          <p:cNvPr id="4" name="内容占位符 2"/>
          <p:cNvSpPr txBox="1"/>
          <p:nvPr/>
        </p:nvSpPr>
        <p:spPr>
          <a:xfrm>
            <a:off x="4579200" y="1772816"/>
            <a:ext cx="4293077" cy="4608512"/>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t>S</a:t>
            </a:r>
            <a:r>
              <a:rPr lang="en-US" altLang="en-US" dirty="0"/>
              <a:t>uppose</a:t>
            </a:r>
            <a:r>
              <a:rPr lang="en-US" altLang="en-US" dirty="0"/>
              <a:t> </a:t>
            </a:r>
            <a:r>
              <a:rPr lang="en-US" altLang="en-US" dirty="0"/>
              <a:t>the</a:t>
            </a:r>
            <a:r>
              <a:rPr lang="en-US" altLang="en-US" dirty="0"/>
              <a:t> </a:t>
            </a:r>
            <a:r>
              <a:rPr lang="en-US" altLang="en-US" dirty="0"/>
              <a:t>forest</a:t>
            </a:r>
            <a:r>
              <a:rPr lang="en-US" altLang="en-US" dirty="0"/>
              <a:t> </a:t>
            </a:r>
            <a:r>
              <a:rPr lang="en-US" altLang="en-US" dirty="0"/>
              <a:t>manager</a:t>
            </a:r>
            <a:r>
              <a:rPr lang="en-US" altLang="en-US" dirty="0"/>
              <a:t> </a:t>
            </a:r>
            <a:r>
              <a:rPr lang="en-US" altLang="en-US" dirty="0"/>
              <a:t>could</a:t>
            </a:r>
            <a:r>
              <a:rPr lang="en-US" altLang="en-US" dirty="0"/>
              <a:t> </a:t>
            </a:r>
            <a:r>
              <a:rPr lang="en-US" altLang="en-US" dirty="0"/>
              <a:t>alternatively</a:t>
            </a:r>
            <a:r>
              <a:rPr lang="en-US" altLang="en-US" dirty="0"/>
              <a:t> </a:t>
            </a:r>
            <a:r>
              <a:rPr lang="en-US" altLang="en-US" dirty="0"/>
              <a:t>spend</a:t>
            </a:r>
            <a:r>
              <a:rPr lang="en-US" altLang="en-US" dirty="0"/>
              <a:t> </a:t>
            </a:r>
            <a:r>
              <a:rPr lang="en-US" altLang="en-US" dirty="0"/>
              <a:t>his</a:t>
            </a:r>
            <a:r>
              <a:rPr lang="en-US" altLang="en-US" dirty="0"/>
              <a:t> </a:t>
            </a:r>
            <a:r>
              <a:rPr lang="en-US" altLang="en-US" dirty="0"/>
              <a:t>funds</a:t>
            </a:r>
            <a:r>
              <a:rPr lang="en-US" altLang="en-US" dirty="0"/>
              <a:t> </a:t>
            </a:r>
            <a:r>
              <a:rPr lang="en-US" altLang="en-US" dirty="0"/>
              <a:t>elsewhere</a:t>
            </a:r>
            <a:r>
              <a:rPr lang="en-US" altLang="en-US" dirty="0"/>
              <a:t> </a:t>
            </a:r>
            <a:r>
              <a:rPr lang="en-US" altLang="en-US" dirty="0"/>
              <a:t>on</a:t>
            </a:r>
            <a:r>
              <a:rPr lang="en-US" altLang="en-US" dirty="0"/>
              <a:t> </a:t>
            </a:r>
            <a:r>
              <a:rPr lang="en-US" altLang="en-US" dirty="0"/>
              <a:t>the</a:t>
            </a:r>
            <a:r>
              <a:rPr lang="en-US" altLang="en-US" dirty="0"/>
              <a:t> </a:t>
            </a:r>
            <a:r>
              <a:rPr lang="en-US" altLang="en-US" dirty="0">
                <a:solidFill>
                  <a:schemeClr val="accent6">
                    <a:lumMod val="50000"/>
                  </a:schemeClr>
                </a:solidFill>
              </a:rPr>
              <a:t>precommercial</a:t>
            </a:r>
            <a:r>
              <a:rPr lang="en-US" altLang="en-US" dirty="0">
                <a:solidFill>
                  <a:schemeClr val="accent6">
                    <a:lumMod val="50000"/>
                  </a:schemeClr>
                </a:solidFill>
              </a:rPr>
              <a:t> </a:t>
            </a:r>
            <a:r>
              <a:rPr lang="en-US" altLang="en-US" dirty="0">
                <a:solidFill>
                  <a:schemeClr val="accent6">
                    <a:lumMod val="50000"/>
                  </a:schemeClr>
                </a:solidFill>
              </a:rPr>
              <a:t>thinning</a:t>
            </a:r>
            <a:r>
              <a:rPr lang="en-US" altLang="en-US" dirty="0">
                <a:solidFill>
                  <a:schemeClr val="accent6">
                    <a:lumMod val="50000"/>
                  </a:schemeClr>
                </a:solidFill>
              </a:rPr>
              <a:t> </a:t>
            </a:r>
            <a:r>
              <a:rPr lang="en-US" altLang="en-US" dirty="0"/>
              <a:t>of</a:t>
            </a:r>
            <a:r>
              <a:rPr lang="en-US" altLang="en-US" dirty="0"/>
              <a:t> </a:t>
            </a:r>
            <a:r>
              <a:rPr lang="en-US" altLang="en-US" dirty="0"/>
              <a:t>60</a:t>
            </a:r>
            <a:r>
              <a:rPr lang="en-US" altLang="en-US" dirty="0"/>
              <a:t> </a:t>
            </a:r>
            <a:r>
              <a:rPr lang="en-US" altLang="en-US" dirty="0"/>
              <a:t>hectares</a:t>
            </a:r>
            <a:r>
              <a:rPr lang="en-US" altLang="en-US" dirty="0"/>
              <a:t> </a:t>
            </a:r>
            <a:r>
              <a:rPr lang="en-US" altLang="en-US" dirty="0"/>
              <a:t>of</a:t>
            </a:r>
            <a:r>
              <a:rPr lang="en-US" altLang="en-US" dirty="0"/>
              <a:t> </a:t>
            </a:r>
            <a:r>
              <a:rPr lang="en-US" altLang="en-US" dirty="0"/>
              <a:t>juvenile</a:t>
            </a:r>
            <a:r>
              <a:rPr lang="en-US" altLang="en-US" dirty="0"/>
              <a:t> </a:t>
            </a:r>
            <a:r>
              <a:rPr lang="en-US" altLang="en-US" dirty="0"/>
              <a:t>stands,</a:t>
            </a:r>
            <a:r>
              <a:rPr lang="en-US" altLang="en-US" dirty="0"/>
              <a:t> </a:t>
            </a:r>
            <a:r>
              <a:rPr lang="en-US" altLang="en-US" dirty="0"/>
              <a:t>which</a:t>
            </a:r>
            <a:r>
              <a:rPr lang="en-US" altLang="en-US" dirty="0"/>
              <a:t> </a:t>
            </a:r>
            <a:r>
              <a:rPr lang="en-US" altLang="en-US" dirty="0"/>
              <a:t>would</a:t>
            </a:r>
            <a:r>
              <a:rPr lang="en-US" altLang="en-US" dirty="0"/>
              <a:t> </a:t>
            </a:r>
            <a:r>
              <a:rPr lang="en-US" altLang="en-US" dirty="0"/>
              <a:t>cost</a:t>
            </a:r>
            <a:r>
              <a:rPr lang="en-US" altLang="en-US" dirty="0"/>
              <a:t> </a:t>
            </a:r>
            <a:r>
              <a:rPr lang="en-US" altLang="en-US" dirty="0"/>
              <a:t>¥550</a:t>
            </a:r>
            <a:r>
              <a:rPr lang="en-US" altLang="en-US" dirty="0"/>
              <a:t> </a:t>
            </a:r>
            <a:r>
              <a:rPr lang="en-US" altLang="en-US" dirty="0"/>
              <a:t>per</a:t>
            </a:r>
            <a:r>
              <a:rPr lang="en-US" altLang="en-US" dirty="0"/>
              <a:t> </a:t>
            </a:r>
            <a:r>
              <a:rPr lang="en-US" altLang="en-US" dirty="0"/>
              <a:t>hectare,</a:t>
            </a:r>
            <a:r>
              <a:rPr lang="en-US" altLang="en-US" dirty="0"/>
              <a:t> </a:t>
            </a:r>
            <a:r>
              <a:rPr lang="en-US" altLang="en-US" dirty="0"/>
              <a:t>increase</a:t>
            </a:r>
            <a:r>
              <a:rPr lang="en-US" altLang="en-US" dirty="0"/>
              <a:t> </a:t>
            </a:r>
            <a:r>
              <a:rPr lang="en-US" altLang="en-US" dirty="0"/>
              <a:t>yields</a:t>
            </a:r>
            <a:r>
              <a:rPr lang="en-US" altLang="en-US" dirty="0"/>
              <a:t> </a:t>
            </a:r>
            <a:r>
              <a:rPr lang="en-US" altLang="en-US" dirty="0"/>
              <a:t>in</a:t>
            </a:r>
            <a:r>
              <a:rPr lang="en-US" altLang="en-US" dirty="0"/>
              <a:t> </a:t>
            </a:r>
            <a:r>
              <a:rPr lang="en-US" altLang="en-US" dirty="0"/>
              <a:t>50</a:t>
            </a:r>
            <a:r>
              <a:rPr lang="en-US" altLang="en-US" dirty="0"/>
              <a:t> </a:t>
            </a:r>
            <a:r>
              <a:rPr lang="en-US" altLang="en-US" dirty="0"/>
              <a:t>years</a:t>
            </a:r>
            <a:r>
              <a:rPr lang="en-US" altLang="en-US" dirty="0"/>
              <a:t> </a:t>
            </a:r>
            <a:r>
              <a:rPr lang="en-US" altLang="en-US" dirty="0"/>
              <a:t>from</a:t>
            </a:r>
            <a:r>
              <a:rPr lang="en-US" altLang="en-US" dirty="0"/>
              <a:t> </a:t>
            </a:r>
            <a:r>
              <a:rPr lang="en-US" altLang="en-US" dirty="0"/>
              <a:t>425</a:t>
            </a:r>
            <a:r>
              <a:rPr lang="en-US" altLang="en-US" dirty="0"/>
              <a:t> </a:t>
            </a:r>
            <a:r>
              <a:rPr lang="en-US" altLang="en-US" dirty="0"/>
              <a:t>to</a:t>
            </a:r>
            <a:r>
              <a:rPr lang="en-US" altLang="en-US" dirty="0"/>
              <a:t> </a:t>
            </a:r>
            <a:r>
              <a:rPr lang="en-US" altLang="en-US" dirty="0"/>
              <a:t>550</a:t>
            </a:r>
            <a:r>
              <a:rPr lang="en-US" altLang="en-US" dirty="0"/>
              <a:t> </a:t>
            </a:r>
            <a:r>
              <a:rPr lang="en-US" altLang="en-US" dirty="0"/>
              <a:t>cubic</a:t>
            </a:r>
            <a:r>
              <a:rPr lang="en-US" altLang="en-US" dirty="0"/>
              <a:t> </a:t>
            </a:r>
            <a:r>
              <a:rPr lang="en-US" altLang="en-US" dirty="0"/>
              <a:t>meters</a:t>
            </a:r>
            <a:r>
              <a:rPr lang="en-US" altLang="en-US" dirty="0"/>
              <a:t> </a:t>
            </a:r>
            <a:r>
              <a:rPr lang="en-US" altLang="en-US" dirty="0"/>
              <a:t>per</a:t>
            </a:r>
            <a:r>
              <a:rPr lang="en-US" altLang="en-US" dirty="0"/>
              <a:t> </a:t>
            </a:r>
            <a:r>
              <a:rPr lang="en-US" altLang="en-US" dirty="0"/>
              <a:t>hectare,</a:t>
            </a:r>
            <a:r>
              <a:rPr lang="en-US" altLang="en-US" dirty="0"/>
              <a:t> </a:t>
            </a:r>
            <a:r>
              <a:rPr lang="en-US" altLang="en-US" dirty="0"/>
              <a:t>and</a:t>
            </a:r>
            <a:r>
              <a:rPr lang="en-US" altLang="en-US" dirty="0"/>
              <a:t> </a:t>
            </a:r>
            <a:r>
              <a:rPr lang="en-US" altLang="en-US" dirty="0"/>
              <a:t>raise</a:t>
            </a:r>
            <a:r>
              <a:rPr lang="en-US" altLang="en-US" dirty="0"/>
              <a:t> </a:t>
            </a:r>
            <a:r>
              <a:rPr lang="en-US" altLang="en-US" dirty="0"/>
              <a:t>the</a:t>
            </a:r>
            <a:r>
              <a:rPr lang="en-US" altLang="en-US" dirty="0"/>
              <a:t> </a:t>
            </a:r>
            <a:r>
              <a:rPr lang="en-US" altLang="en-US" dirty="0"/>
              <a:t>value</a:t>
            </a:r>
            <a:r>
              <a:rPr lang="en-US" altLang="en-US" dirty="0"/>
              <a:t> </a:t>
            </a:r>
            <a:r>
              <a:rPr lang="en-US" altLang="en-US" dirty="0"/>
              <a:t>of</a:t>
            </a:r>
            <a:r>
              <a:rPr lang="en-US" altLang="en-US" dirty="0"/>
              <a:t> </a:t>
            </a:r>
            <a:r>
              <a:rPr lang="en-US" altLang="en-US" dirty="0"/>
              <a:t>the</a:t>
            </a:r>
            <a:r>
              <a:rPr lang="en-US" altLang="en-US" dirty="0"/>
              <a:t> </a:t>
            </a:r>
            <a:r>
              <a:rPr lang="en-US" altLang="en-US" dirty="0"/>
              <a:t>harvest</a:t>
            </a:r>
            <a:r>
              <a:rPr lang="en-US" altLang="en-US" dirty="0"/>
              <a:t> </a:t>
            </a:r>
            <a:r>
              <a:rPr lang="en-US" altLang="en-US" dirty="0"/>
              <a:t>from</a:t>
            </a:r>
            <a:r>
              <a:rPr lang="en-US" altLang="en-US" dirty="0"/>
              <a:t> </a:t>
            </a:r>
            <a:r>
              <a:rPr lang="en-US" altLang="en-US" dirty="0"/>
              <a:t>¥15</a:t>
            </a:r>
            <a:r>
              <a:rPr lang="en-US" altLang="en-US" dirty="0"/>
              <a:t> </a:t>
            </a:r>
            <a:r>
              <a:rPr lang="en-US" altLang="en-US" dirty="0"/>
              <a:t>to</a:t>
            </a:r>
            <a:r>
              <a:rPr lang="en-US" altLang="en-US" dirty="0"/>
              <a:t> </a:t>
            </a:r>
            <a:r>
              <a:rPr lang="en-US" altLang="en-US" dirty="0"/>
              <a:t>¥25</a:t>
            </a:r>
            <a:r>
              <a:rPr lang="en-US" altLang="en-US" dirty="0"/>
              <a:t> </a:t>
            </a:r>
            <a:r>
              <a:rPr lang="en-US" altLang="en-US" dirty="0"/>
              <a:t>per</a:t>
            </a:r>
            <a:r>
              <a:rPr lang="en-US" altLang="en-US" dirty="0"/>
              <a:t> </a:t>
            </a:r>
            <a:r>
              <a:rPr lang="en-US" altLang="en-US" dirty="0"/>
              <a:t>cubic</a:t>
            </a:r>
            <a:r>
              <a:rPr lang="en-US" altLang="en-US" dirty="0"/>
              <a:t> </a:t>
            </a:r>
            <a:r>
              <a:rPr lang="en-US" altLang="en-US" dirty="0"/>
              <a:t>meter.</a:t>
            </a:r>
            <a:endParaRPr lang="en-US" altLang="en-US" dirty="0"/>
          </a:p>
          <a:p>
            <a:r>
              <a:rPr lang="en-US" altLang="en-US" dirty="0"/>
              <a:t>An</a:t>
            </a:r>
            <a:r>
              <a:rPr lang="en-US" altLang="en-US" dirty="0"/>
              <a:t> </a:t>
            </a:r>
            <a:r>
              <a:rPr lang="en-US" altLang="en-US" dirty="0"/>
              <a:t>a</a:t>
            </a:r>
            <a:r>
              <a:rPr lang="en-US" altLang="en-US" dirty="0"/>
              <a:t> </a:t>
            </a:r>
            <a:r>
              <a:rPr lang="en-US" altLang="en-US" dirty="0"/>
              <a:t>discount</a:t>
            </a:r>
            <a:r>
              <a:rPr lang="en-US" altLang="en-US" dirty="0"/>
              <a:t> </a:t>
            </a:r>
            <a:r>
              <a:rPr lang="en-US" altLang="en-US" dirty="0"/>
              <a:t>rate</a:t>
            </a:r>
            <a:r>
              <a:rPr lang="en-US" altLang="en-US" dirty="0"/>
              <a:t> </a:t>
            </a:r>
            <a:r>
              <a:rPr lang="en-US" altLang="en-US" dirty="0"/>
              <a:t>of</a:t>
            </a:r>
            <a:r>
              <a:rPr lang="en-US" altLang="en-US" dirty="0"/>
              <a:t> </a:t>
            </a:r>
            <a:r>
              <a:rPr lang="en-US" altLang="en-US" dirty="0"/>
              <a:t>3%,</a:t>
            </a:r>
            <a:r>
              <a:rPr lang="en-US" altLang="en-US" dirty="0"/>
              <a:t> </a:t>
            </a:r>
            <a:r>
              <a:rPr lang="en-US" altLang="en-US" dirty="0"/>
              <a:t>which</a:t>
            </a:r>
            <a:r>
              <a:rPr lang="en-US" altLang="en-US" dirty="0"/>
              <a:t> </a:t>
            </a:r>
            <a:r>
              <a:rPr lang="en-US" altLang="en-US" dirty="0"/>
              <a:t>one</a:t>
            </a:r>
            <a:r>
              <a:rPr lang="en-US" altLang="en-US" dirty="0"/>
              <a:t> </a:t>
            </a:r>
            <a:r>
              <a:rPr lang="en-US" altLang="en-US" dirty="0"/>
              <a:t>should</a:t>
            </a:r>
            <a:r>
              <a:rPr lang="en-US" altLang="en-US" dirty="0"/>
              <a:t> </a:t>
            </a:r>
            <a:r>
              <a:rPr lang="en-US" altLang="en-US" dirty="0"/>
              <a:t>we</a:t>
            </a:r>
            <a:r>
              <a:rPr lang="en-US" altLang="en-US" dirty="0"/>
              <a:t> </a:t>
            </a:r>
            <a:r>
              <a:rPr lang="en-US" altLang="en-US" dirty="0"/>
              <a:t>choose</a:t>
            </a:r>
            <a:r>
              <a:rPr lang="en-US" altLang="en-US" dirty="0"/>
              <a:t> </a:t>
            </a:r>
            <a:r>
              <a:rPr lang="en-US" altLang="en-US" dirty="0"/>
              <a:t>between</a:t>
            </a:r>
            <a:r>
              <a:rPr lang="en-US" altLang="en-US" dirty="0"/>
              <a:t> </a:t>
            </a:r>
            <a:r>
              <a:rPr lang="en-US" altLang="en-US" dirty="0"/>
              <a:t>precommercial</a:t>
            </a:r>
            <a:r>
              <a:rPr lang="en-US" altLang="en-US" dirty="0"/>
              <a:t> </a:t>
            </a:r>
            <a:r>
              <a:rPr lang="en-US" altLang="en-US" dirty="0"/>
              <a:t>thinning</a:t>
            </a:r>
            <a:r>
              <a:rPr lang="en-US" altLang="en-US" dirty="0"/>
              <a:t> </a:t>
            </a:r>
            <a:r>
              <a:rPr lang="en-US" altLang="en-US" dirty="0"/>
              <a:t>or</a:t>
            </a:r>
            <a:r>
              <a:rPr lang="en-US" altLang="en-US" dirty="0"/>
              <a:t> </a:t>
            </a:r>
            <a:r>
              <a:rPr lang="en-US" altLang="en-US" dirty="0"/>
              <a:t>planting?</a:t>
            </a:r>
            <a:endParaRPr lang="en-US" altLang="en-US" dirty="0"/>
          </a:p>
          <a:p>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案例求解</a:t>
            </a:r>
            <a:endParaRPr lang="zh-CN" altLang="en-US" dirty="0"/>
          </a:p>
        </p:txBody>
      </p:sp>
      <p:sp>
        <p:nvSpPr>
          <p:cNvPr id="3" name="内容占位符 2"/>
          <p:cNvSpPr>
            <a:spLocks noGrp="1"/>
          </p:cNvSpPr>
          <p:nvPr>
            <p:ph sz="half" idx="1"/>
          </p:nvPr>
        </p:nvSpPr>
        <p:spPr/>
        <p:txBody>
          <a:bodyPr>
            <a:normAutofit lnSpcReduction="10000"/>
          </a:bodyPr>
          <a:lstStyle/>
          <a:p>
            <a:r>
              <a:rPr lang="zh-CN" altLang="en-US" dirty="0"/>
              <a:t>间伐投资净收益：</a:t>
            </a:r>
            <a:endParaRPr lang="en-US" altLang="zh-CN" dirty="0"/>
          </a:p>
          <a:p>
            <a:r>
              <a:rPr lang="en-US" altLang="zh-CN" dirty="0"/>
              <a:t>V</a:t>
            </a:r>
            <a:r>
              <a:rPr lang="en-US" altLang="zh-CN" baseline="-25000" dirty="0"/>
              <a:t>0 </a:t>
            </a:r>
            <a:r>
              <a:rPr lang="en-US" altLang="zh-CN" dirty="0"/>
              <a:t>=</a:t>
            </a:r>
            <a:r>
              <a:rPr lang="zh-CN" altLang="en-US" dirty="0"/>
              <a:t>（</a:t>
            </a:r>
            <a:r>
              <a:rPr lang="en-US" altLang="zh-CN" dirty="0"/>
              <a:t>60</a:t>
            </a:r>
            <a:r>
              <a:rPr lang="zh-CN" altLang="en-US" dirty="0"/>
              <a:t>*</a:t>
            </a:r>
            <a:r>
              <a:rPr lang="en-US" altLang="zh-CN" dirty="0">
                <a:solidFill>
                  <a:schemeClr val="accent5">
                    <a:lumMod val="50000"/>
                  </a:schemeClr>
                </a:solidFill>
              </a:rPr>
              <a:t>550</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zh-CN" altLang="en-US" dirty="0"/>
              <a:t>（</a:t>
            </a:r>
            <a:r>
              <a:rPr lang="en-US" altLang="zh-CN" dirty="0"/>
              <a:t>60</a:t>
            </a:r>
            <a:r>
              <a:rPr lang="zh-CN" altLang="en-US" dirty="0"/>
              <a:t>*</a:t>
            </a:r>
            <a:r>
              <a:rPr lang="en-US" altLang="zh-CN" dirty="0">
                <a:solidFill>
                  <a:schemeClr val="accent5">
                    <a:lumMod val="50000"/>
                  </a:schemeClr>
                </a:solidFill>
              </a:rPr>
              <a:t>425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zh-CN" altLang="en-US" dirty="0"/>
              <a:t>（</a:t>
            </a:r>
            <a:r>
              <a:rPr lang="en-US" altLang="zh-CN" dirty="0"/>
              <a:t>60</a:t>
            </a:r>
            <a:r>
              <a:rPr lang="zh-CN" altLang="en-US" dirty="0"/>
              <a:t>*</a:t>
            </a:r>
            <a:r>
              <a:rPr lang="en-US" altLang="zh-CN" dirty="0"/>
              <a:t>550</a:t>
            </a:r>
            <a:r>
              <a:rPr lang="zh-CN" altLang="en-US" dirty="0"/>
              <a:t>）</a:t>
            </a:r>
            <a:r>
              <a:rPr lang="en-US" altLang="zh-CN" dirty="0"/>
              <a:t>=67937</a:t>
            </a:r>
            <a:endParaRPr lang="en-US" altLang="zh-CN" dirty="0"/>
          </a:p>
          <a:p>
            <a:r>
              <a:rPr lang="zh-CN" altLang="en-US" dirty="0">
                <a:hlinkClick r:id="rId1" action="ppaction://hlinksldjump"/>
              </a:rPr>
              <a:t>大于造林项目</a:t>
            </a:r>
            <a:endParaRPr lang="en-US" altLang="zh-CN" dirty="0"/>
          </a:p>
        </p:txBody>
      </p:sp>
      <p:sp>
        <p:nvSpPr>
          <p:cNvPr id="4" name="内容占位符 3"/>
          <p:cNvSpPr>
            <a:spLocks noGrp="1"/>
          </p:cNvSpPr>
          <p:nvPr>
            <p:ph sz="half" idx="2"/>
          </p:nvPr>
        </p:nvSpPr>
        <p:spPr/>
        <p:txBody>
          <a:bodyPr>
            <a:normAutofit lnSpcReduction="10000"/>
          </a:bodyPr>
          <a:lstStyle/>
          <a:p>
            <a:r>
              <a:rPr lang="zh-CN" altLang="en-US" dirty="0"/>
              <a:t>间伐投资收益</a:t>
            </a:r>
            <a:r>
              <a:rPr lang="en-US" altLang="zh-CN" dirty="0"/>
              <a:t>/</a:t>
            </a:r>
            <a:r>
              <a:rPr lang="zh-CN" altLang="en-US" dirty="0"/>
              <a:t>成本率</a:t>
            </a:r>
            <a:endParaRPr lang="en-US" altLang="zh-CN" dirty="0"/>
          </a:p>
          <a:p>
            <a:r>
              <a:rPr lang="en-US" altLang="zh-CN" dirty="0"/>
              <a:t>B/C=[</a:t>
            </a:r>
            <a:r>
              <a:rPr lang="zh-CN" altLang="en-US" dirty="0"/>
              <a:t>（</a:t>
            </a:r>
            <a:r>
              <a:rPr lang="en-US" altLang="zh-CN" dirty="0"/>
              <a:t>60</a:t>
            </a:r>
            <a:r>
              <a:rPr lang="zh-CN" altLang="en-US" dirty="0"/>
              <a:t>*</a:t>
            </a:r>
            <a:r>
              <a:rPr lang="en-US" altLang="zh-CN" dirty="0">
                <a:solidFill>
                  <a:schemeClr val="accent5">
                    <a:lumMod val="50000"/>
                  </a:schemeClr>
                </a:solidFill>
              </a:rPr>
              <a:t>550</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zh-CN" altLang="en-US" dirty="0"/>
              <a:t>（</a:t>
            </a:r>
            <a:r>
              <a:rPr lang="en-US" altLang="zh-CN" dirty="0"/>
              <a:t>60</a:t>
            </a:r>
            <a:r>
              <a:rPr lang="zh-CN" altLang="en-US" dirty="0"/>
              <a:t>*</a:t>
            </a:r>
            <a:r>
              <a:rPr lang="en-US" altLang="zh-CN" dirty="0">
                <a:solidFill>
                  <a:schemeClr val="accent5">
                    <a:lumMod val="50000"/>
                  </a:schemeClr>
                </a:solidFill>
              </a:rPr>
              <a:t>425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en-US" altLang="zh-CN" dirty="0">
                <a:solidFill>
                  <a:srgbClr val="FF6699"/>
                </a:solidFill>
              </a:rPr>
              <a:t>/</a:t>
            </a:r>
            <a:r>
              <a:rPr lang="zh-CN" altLang="en-US" dirty="0"/>
              <a:t> （</a:t>
            </a:r>
            <a:r>
              <a:rPr lang="en-US" altLang="zh-CN" dirty="0"/>
              <a:t>60</a:t>
            </a:r>
            <a:r>
              <a:rPr lang="zh-CN" altLang="en-US" dirty="0"/>
              <a:t>*</a:t>
            </a:r>
            <a:r>
              <a:rPr lang="en-US" altLang="zh-CN" dirty="0"/>
              <a:t>550</a:t>
            </a:r>
            <a:r>
              <a:rPr lang="zh-CN" altLang="en-US" dirty="0"/>
              <a:t>）</a:t>
            </a:r>
            <a:r>
              <a:rPr lang="en-US" altLang="zh-CN" dirty="0"/>
              <a:t>=3.06</a:t>
            </a:r>
            <a:endParaRPr lang="en-US" altLang="zh-CN" dirty="0"/>
          </a:p>
          <a:p>
            <a:r>
              <a:rPr lang="zh-CN" altLang="en-US" dirty="0">
                <a:solidFill>
                  <a:srgbClr val="FF6699"/>
                </a:solidFill>
                <a:hlinkClick r:id="rId2" action="ppaction://hlinksldjump"/>
              </a:rPr>
              <a:t>略小于造林项目</a:t>
            </a:r>
            <a:endParaRPr lang="zh-CN" altLang="en-US" dirty="0">
              <a:solidFill>
                <a:srgbClr val="FF6699"/>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Note</a:t>
            </a:r>
            <a:endParaRPr lang="zh-CN" altLang="en-US" dirty="0"/>
          </a:p>
        </p:txBody>
      </p:sp>
      <p:sp>
        <p:nvSpPr>
          <p:cNvPr id="3" name="内容占位符 2"/>
          <p:cNvSpPr>
            <a:spLocks noGrp="1"/>
          </p:cNvSpPr>
          <p:nvPr>
            <p:ph sz="half" idx="1"/>
          </p:nvPr>
        </p:nvSpPr>
        <p:spPr/>
        <p:txBody>
          <a:bodyPr>
            <a:normAutofit fontScale="62500" lnSpcReduction="20000"/>
          </a:bodyPr>
          <a:lstStyle/>
          <a:p>
            <a:r>
              <a:rPr lang="zh-CN" altLang="en-US" dirty="0"/>
              <a:t>收益</a:t>
            </a:r>
            <a:r>
              <a:rPr lang="en-US" altLang="zh-CN" dirty="0"/>
              <a:t>/</a:t>
            </a:r>
            <a:r>
              <a:rPr lang="zh-CN" altLang="en-US" dirty="0"/>
              <a:t>成本率反映</a:t>
            </a:r>
            <a:r>
              <a:rPr lang="zh-CN" altLang="en-US" dirty="0">
                <a:solidFill>
                  <a:srgbClr val="FF6699"/>
                </a:solidFill>
              </a:rPr>
              <a:t>每一单位投资带来的回报</a:t>
            </a:r>
            <a:endParaRPr lang="en-US" altLang="zh-CN" dirty="0">
              <a:solidFill>
                <a:srgbClr val="FF6699"/>
              </a:solidFill>
            </a:endParaRPr>
          </a:p>
          <a:p>
            <a:r>
              <a:rPr lang="zh-CN" altLang="en-US" dirty="0">
                <a:solidFill>
                  <a:srgbClr val="0070C0"/>
                </a:solidFill>
              </a:rPr>
              <a:t>如果所有项目达到最优规模，按照收益</a:t>
            </a:r>
            <a:r>
              <a:rPr lang="en-US" altLang="zh-CN" dirty="0">
                <a:solidFill>
                  <a:srgbClr val="0070C0"/>
                </a:solidFill>
              </a:rPr>
              <a:t>/</a:t>
            </a:r>
            <a:r>
              <a:rPr lang="zh-CN" altLang="en-US" dirty="0">
                <a:solidFill>
                  <a:srgbClr val="0070C0"/>
                </a:solidFill>
              </a:rPr>
              <a:t>成本率进行优选</a:t>
            </a:r>
            <a:endParaRPr lang="en-US" altLang="zh-CN" dirty="0">
              <a:solidFill>
                <a:srgbClr val="0070C0"/>
              </a:solidFill>
            </a:endParaRPr>
          </a:p>
          <a:p>
            <a:pPr lvl="1"/>
            <a:r>
              <a:rPr lang="zh-CN" altLang="en-US" dirty="0">
                <a:solidFill>
                  <a:srgbClr val="0070C0"/>
                </a:solidFill>
              </a:rPr>
              <a:t>能够使有限的资金产生最大净收益</a:t>
            </a:r>
            <a:endParaRPr lang="en-US" altLang="zh-CN" dirty="0">
              <a:solidFill>
                <a:srgbClr val="0070C0"/>
              </a:solidFill>
            </a:endParaRPr>
          </a:p>
          <a:p>
            <a:r>
              <a:rPr lang="en-US" altLang="zh-CN"/>
              <a:t>If all projects were designed to their optimal scale, then giving priority to </a:t>
            </a:r>
            <a:r>
              <a:rPr lang="en-US" altLang="zh-CN">
                <a:solidFill>
                  <a:schemeClr val="accent6">
                    <a:lumMod val="50000"/>
                  </a:schemeClr>
                </a:solidFill>
              </a:rPr>
              <a:t>higher </a:t>
            </a:r>
            <a:r>
              <a:rPr lang="en-US" altLang="en-US">
                <a:solidFill>
                  <a:schemeClr val="accent6">
                    <a:lumMod val="50000"/>
                  </a:schemeClr>
                </a:solidFill>
              </a:rPr>
              <a:t>benefit/cost</a:t>
            </a:r>
            <a:r>
              <a:rPr lang="en-US" altLang="en-US">
                <a:solidFill>
                  <a:schemeClr val="accent6">
                    <a:lumMod val="50000"/>
                  </a:schemeClr>
                </a:solidFill>
              </a:rPr>
              <a:t> </a:t>
            </a:r>
            <a:r>
              <a:rPr lang="en-US" altLang="zh-CN"/>
              <a:t>will generate maximum benefits from limited investment funds.</a:t>
            </a:r>
            <a:endParaRPr lang="zh-CN" altLang="en-US" dirty="0">
              <a:solidFill>
                <a:srgbClr val="0070C0"/>
              </a:solidFill>
            </a:endParaRPr>
          </a:p>
        </p:txBody>
      </p:sp>
      <p:sp>
        <p:nvSpPr>
          <p:cNvPr id="4" name="内容占位符 3"/>
          <p:cNvSpPr>
            <a:spLocks noGrp="1"/>
          </p:cNvSpPr>
          <p:nvPr>
            <p:ph sz="half" idx="2"/>
          </p:nvPr>
        </p:nvSpPr>
        <p:spPr/>
        <p:txBody>
          <a:bodyPr>
            <a:normAutofit fontScale="62500" lnSpcReduction="20000"/>
          </a:bodyPr>
          <a:lstStyle/>
          <a:p>
            <a:r>
              <a:rPr lang="zh-CN" altLang="en-US" dirty="0">
                <a:ln w="0"/>
                <a:solidFill>
                  <a:schemeClr val="accent1"/>
                </a:solidFill>
                <a:effectLst>
                  <a:outerShdw blurRad="38100" dist="25400" dir="5400000" algn="ctr" rotWithShape="0">
                    <a:srgbClr val="6E747A">
                      <a:alpha val="43000"/>
                    </a:srgbClr>
                  </a:outerShdw>
                </a:effectLst>
              </a:rPr>
              <a:t>注意</a:t>
            </a:r>
            <a:r>
              <a:rPr lang="zh-CN" altLang="en-US" dirty="0">
                <a:solidFill>
                  <a:srgbClr val="CC66FF"/>
                </a:solidFill>
              </a:rPr>
              <a:t>：</a:t>
            </a:r>
            <a:endParaRPr lang="en-US" altLang="zh-CN" dirty="0">
              <a:solidFill>
                <a:srgbClr val="CC66FF"/>
              </a:solidFill>
            </a:endParaRPr>
          </a:p>
          <a:p>
            <a:r>
              <a:rPr lang="zh-CN" altLang="en-US" dirty="0">
                <a:solidFill>
                  <a:srgbClr val="CC66FF"/>
                </a:solidFill>
              </a:rPr>
              <a:t>根据收益</a:t>
            </a:r>
            <a:r>
              <a:rPr lang="en-US" altLang="zh-CN" dirty="0">
                <a:solidFill>
                  <a:srgbClr val="CC66FF"/>
                </a:solidFill>
              </a:rPr>
              <a:t>/</a:t>
            </a:r>
            <a:r>
              <a:rPr lang="zh-CN" altLang="en-US" dirty="0">
                <a:solidFill>
                  <a:srgbClr val="CC66FF"/>
                </a:solidFill>
              </a:rPr>
              <a:t>成本率</a:t>
            </a:r>
            <a:r>
              <a:rPr lang="zh-CN" altLang="en-US" dirty="0">
                <a:solidFill>
                  <a:srgbClr val="00B0F0"/>
                </a:solidFill>
              </a:rPr>
              <a:t>对不同项目排队的结果</a:t>
            </a:r>
            <a:endParaRPr lang="en-US" altLang="zh-CN" dirty="0">
              <a:solidFill>
                <a:srgbClr val="00B0F0"/>
              </a:solidFill>
            </a:endParaRPr>
          </a:p>
          <a:p>
            <a:r>
              <a:rPr lang="zh-CN" altLang="en-US" dirty="0">
                <a:solidFill>
                  <a:srgbClr val="FF0000"/>
                </a:solidFill>
              </a:rPr>
              <a:t>常常与净收益排队结果不一致</a:t>
            </a:r>
            <a:endParaRPr lang="en-US" altLang="zh-CN" dirty="0">
              <a:solidFill>
                <a:srgbClr val="FF0000"/>
              </a:solidFill>
            </a:endParaRPr>
          </a:p>
          <a:p>
            <a:r>
              <a:rPr lang="en-US" altLang="zh-CN" dirty="0"/>
              <a:t>R</a:t>
            </a:r>
            <a:r>
              <a:rPr lang="en-US" altLang="en-US" dirty="0"/>
              <a:t>anking</a:t>
            </a:r>
            <a:r>
              <a:rPr lang="en-US" altLang="en-US" dirty="0"/>
              <a:t> </a:t>
            </a:r>
            <a:r>
              <a:rPr lang="en-US" altLang="en-US" dirty="0"/>
              <a:t>according</a:t>
            </a:r>
            <a:r>
              <a:rPr lang="en-US" altLang="en-US" dirty="0"/>
              <a:t> </a:t>
            </a:r>
            <a:r>
              <a:rPr lang="en-US" altLang="en-US" dirty="0"/>
              <a:t>to</a:t>
            </a:r>
            <a:r>
              <a:rPr lang="en-US" altLang="en-US" dirty="0"/>
              <a:t> </a:t>
            </a:r>
            <a:r>
              <a:rPr lang="en-US" altLang="en-US" dirty="0"/>
              <a:t>benefit/cost</a:t>
            </a:r>
            <a:r>
              <a:rPr lang="en-US" altLang="en-US" dirty="0"/>
              <a:t> </a:t>
            </a:r>
            <a:r>
              <a:rPr lang="en-US" altLang="en-US" dirty="0"/>
              <a:t>ratio</a:t>
            </a:r>
            <a:r>
              <a:rPr lang="en-US" altLang="en-US" dirty="0"/>
              <a:t> </a:t>
            </a:r>
            <a:r>
              <a:rPr lang="en-US" altLang="en-US" dirty="0">
                <a:solidFill>
                  <a:srgbClr val="C00000"/>
                </a:solidFill>
              </a:rPr>
              <a:t>seldom</a:t>
            </a:r>
            <a:r>
              <a:rPr lang="en-US" altLang="en-US" dirty="0">
                <a:solidFill>
                  <a:srgbClr val="C00000"/>
                </a:solidFill>
              </a:rPr>
              <a:t> </a:t>
            </a:r>
            <a:r>
              <a:rPr lang="en-US" altLang="en-US" dirty="0">
                <a:solidFill>
                  <a:srgbClr val="C00000"/>
                </a:solidFill>
              </a:rPr>
              <a:t>corresponds</a:t>
            </a:r>
            <a:r>
              <a:rPr lang="en-US" altLang="en-US" dirty="0"/>
              <a:t> </a:t>
            </a:r>
            <a:r>
              <a:rPr lang="en-US" altLang="en-US" dirty="0"/>
              <a:t>to</a:t>
            </a:r>
            <a:r>
              <a:rPr lang="en-US" altLang="en-US" dirty="0"/>
              <a:t> </a:t>
            </a:r>
            <a:r>
              <a:rPr lang="en-US" altLang="en-US" dirty="0"/>
              <a:t>ranking</a:t>
            </a:r>
            <a:r>
              <a:rPr lang="en-US" altLang="en-US" dirty="0"/>
              <a:t> </a:t>
            </a:r>
            <a:r>
              <a:rPr lang="en-US" altLang="en-US" dirty="0"/>
              <a:t>based</a:t>
            </a:r>
            <a:r>
              <a:rPr lang="en-US" altLang="en-US" dirty="0"/>
              <a:t> </a:t>
            </a:r>
            <a:r>
              <a:rPr lang="en-US" altLang="en-US" dirty="0"/>
              <a:t>on</a:t>
            </a:r>
            <a:r>
              <a:rPr lang="en-US" altLang="en-US" dirty="0"/>
              <a:t> </a:t>
            </a:r>
            <a:r>
              <a:rPr lang="en-US" altLang="en-US" dirty="0"/>
              <a:t>net</a:t>
            </a:r>
            <a:r>
              <a:rPr lang="en-US" altLang="en-US" dirty="0"/>
              <a:t> </a:t>
            </a:r>
            <a:r>
              <a:rPr lang="en-US" altLang="en-US" dirty="0"/>
              <a:t>present</a:t>
            </a:r>
            <a:r>
              <a:rPr lang="en-US" altLang="en-US" dirty="0"/>
              <a:t> </a:t>
            </a:r>
            <a:r>
              <a:rPr lang="en-US" altLang="en-US" dirty="0"/>
              <a:t>values.</a:t>
            </a:r>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ctrTitle"/>
          </p:nvPr>
        </p:nvSpPr>
        <p:spPr>
          <a:xfrm>
            <a:off x="914400" y="304800"/>
            <a:ext cx="6858000" cy="838200"/>
          </a:xfrm>
          <a:ln>
            <a:solidFill>
              <a:schemeClr val="bg2"/>
            </a:solidFill>
          </a:ln>
        </p:spPr>
        <p:txBody>
          <a:bodyPr>
            <a:normAutofit fontScale="90000"/>
          </a:bodyPr>
          <a:lstStyle/>
          <a:p>
            <a:r>
              <a:rPr lang="zh-CN" altLang="en-US" sz="2800" dirty="0">
                <a:effectLst>
                  <a:outerShdw blurRad="38100" dist="38100" dir="2700000" algn="tl">
                    <a:srgbClr val="C0C0C0"/>
                  </a:outerShdw>
                </a:effectLst>
                <a:latin typeface="黑体" panose="02010609060101010101" charset="-122"/>
                <a:ea typeface="黑体" panose="02010609060101010101" charset="-122"/>
              </a:rPr>
              <a:t>内部收益率</a:t>
            </a:r>
            <a:r>
              <a:rPr lang="en-US" altLang="zh-CN" sz="2800" dirty="0">
                <a:effectLst>
                  <a:outerShdw blurRad="38100" dist="38100" dir="2700000" algn="tl">
                    <a:srgbClr val="C0C0C0"/>
                  </a:outerShdw>
                </a:effectLst>
                <a:ea typeface="宋体" panose="02010600030101010101" pitchFamily="2" charset="-122"/>
              </a:rPr>
              <a:t>Internal Rate of Return (IRR)</a:t>
            </a:r>
            <a:endParaRPr lang="en-US" altLang="zh-CN" sz="2800" b="0" dirty="0">
              <a:ea typeface="宋体" panose="02010600030101010101" pitchFamily="2" charset="-122"/>
            </a:endParaRPr>
          </a:p>
        </p:txBody>
      </p:sp>
      <p:sp>
        <p:nvSpPr>
          <p:cNvPr id="29699" name="Rectangle 1027"/>
          <p:cNvSpPr>
            <a:spLocks noGrp="1" noChangeArrowheads="1"/>
          </p:cNvSpPr>
          <p:nvPr>
            <p:ph type="subTitle" idx="1"/>
          </p:nvPr>
        </p:nvSpPr>
        <p:spPr>
          <a:xfrm>
            <a:off x="683568" y="1268760"/>
            <a:ext cx="7776864" cy="1440160"/>
          </a:xfrm>
        </p:spPr>
        <p:txBody>
          <a:bodyPr>
            <a:noAutofit/>
          </a:bodyPr>
          <a:lstStyle/>
          <a:p>
            <a:r>
              <a:rPr lang="en-US" altLang="zh-CN" sz="2000">
                <a:ea typeface="宋体" panose="02010600030101010101" pitchFamily="2" charset="-122"/>
              </a:rPr>
              <a:t>IRR is that discount rate, </a:t>
            </a:r>
            <a:r>
              <a:rPr lang="en-US" altLang="zh-CN" sz="2000" i="1">
                <a:ea typeface="宋体" panose="02010600030101010101" pitchFamily="2" charset="-122"/>
              </a:rPr>
              <a:t>r,</a:t>
            </a:r>
            <a:r>
              <a:rPr lang="en-US" altLang="zh-CN" sz="2000">
                <a:ea typeface="宋体" panose="02010600030101010101" pitchFamily="2" charset="-122"/>
              </a:rPr>
              <a:t> that makes the NPV equal to zero.  In other words, it makes the present value of future cash flows equal to the initial cost of the investment.</a:t>
            </a:r>
            <a:endParaRPr lang="en-US" altLang="zh-CN" sz="2000">
              <a:ea typeface="宋体" panose="02010600030101010101" pitchFamily="2" charset="-122"/>
            </a:endParaRPr>
          </a:p>
        </p:txBody>
      </p:sp>
      <p:graphicFrame>
        <p:nvGraphicFramePr>
          <p:cNvPr id="29700" name="Object 1028"/>
          <p:cNvGraphicFramePr/>
          <p:nvPr/>
        </p:nvGraphicFramePr>
        <p:xfrm>
          <a:off x="2057400" y="3200400"/>
          <a:ext cx="4495800" cy="3048000"/>
        </p:xfrm>
        <a:graphic>
          <a:graphicData uri="http://schemas.openxmlformats.org/presentationml/2006/ole">
            <mc:AlternateContent xmlns:mc="http://schemas.openxmlformats.org/markup-compatibility/2006">
              <mc:Choice xmlns:v="urn:schemas-microsoft-com:vml" Requires="v">
                <p:oleObj spid="_x0000_s25629" name="Equation" r:id="rId1" imgW="1282700" imgH="889000" progId="Equation.3">
                  <p:embed/>
                </p:oleObj>
              </mc:Choice>
              <mc:Fallback>
                <p:oleObj name="Equation" r:id="rId1" imgW="1282700" imgH="889000" progId="Equation.3">
                  <p:embed/>
                  <p:pic>
                    <p:nvPicPr>
                      <p:cNvPr id="0" name="Object 10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00400"/>
                        <a:ext cx="4495800" cy="3048000"/>
                      </a:xfrm>
                      <a:prstGeom prst="rect">
                        <a:avLst/>
                      </a:prstGeom>
                      <a:noFill/>
                      <a:ln>
                        <a:noFill/>
                      </a:ln>
                      <a:effectLst/>
                    </p:spPr>
                  </p:pic>
                </p:oleObj>
              </mc:Fallback>
            </mc:AlternateContent>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a:t>IRR</a:t>
            </a:r>
            <a:r>
              <a:rPr kumimoji="1" lang="en-US" altLang="en-US"/>
              <a:t> 内部收益率</a:t>
            </a:r>
            <a:endParaRPr kumimoji="1" lang="zh-CN" altLang="en-US"/>
          </a:p>
        </p:txBody>
      </p:sp>
      <p:sp>
        <p:nvSpPr>
          <p:cNvPr id="3" name="内容占位符 2"/>
          <p:cNvSpPr>
            <a:spLocks noGrp="1"/>
          </p:cNvSpPr>
          <p:nvPr>
            <p:ph sz="half" idx="1"/>
          </p:nvPr>
        </p:nvSpPr>
        <p:spPr/>
        <p:txBody>
          <a:bodyPr>
            <a:normAutofit fontScale="70000" lnSpcReduction="20000"/>
          </a:bodyPr>
          <a:lstStyle/>
          <a:p>
            <a:r>
              <a:rPr lang="en-US" altLang="en-US" dirty="0"/>
              <a:t>内部收益率是指能使项目初始投资在投资期内可增长至期望收益价值的利率</a:t>
            </a:r>
            <a:endParaRPr lang="en-US" altLang="en-US" dirty="0"/>
          </a:p>
          <a:p>
            <a:r>
              <a:rPr lang="zh-CN" altLang="en-US" dirty="0"/>
              <a:t>内部收益率越高，项目越有吸引力</a:t>
            </a:r>
            <a:endParaRPr lang="zh-CN" altLang="en-US" dirty="0"/>
          </a:p>
          <a:p>
            <a:endParaRPr kumimoji="1" lang="zh-CN" altLang="en-US"/>
          </a:p>
        </p:txBody>
      </p:sp>
      <p:sp>
        <p:nvSpPr>
          <p:cNvPr id="4" name="内容占位符 3"/>
          <p:cNvSpPr>
            <a:spLocks noGrp="1"/>
          </p:cNvSpPr>
          <p:nvPr>
            <p:ph sz="half" idx="2"/>
          </p:nvPr>
        </p:nvSpPr>
        <p:spPr/>
        <p:txBody>
          <a:bodyPr>
            <a:normAutofit fontScale="70000" lnSpcReduction="20000"/>
          </a:bodyPr>
          <a:lstStyle/>
          <a:p>
            <a:r>
              <a:rPr kumimoji="1" lang="en-US" altLang="en-US"/>
              <a:t>The</a:t>
            </a:r>
            <a:r>
              <a:rPr kumimoji="1" lang="en-US" altLang="en-US"/>
              <a:t> </a:t>
            </a:r>
            <a:r>
              <a:rPr kumimoji="1" lang="en-US" altLang="en-US">
                <a:solidFill>
                  <a:srgbClr val="C00000"/>
                </a:solidFill>
              </a:rPr>
              <a:t>internal</a:t>
            </a:r>
            <a:r>
              <a:rPr kumimoji="1" lang="en-US" altLang="en-US">
                <a:solidFill>
                  <a:srgbClr val="C00000"/>
                </a:solidFill>
              </a:rPr>
              <a:t> </a:t>
            </a:r>
            <a:r>
              <a:rPr kumimoji="1" lang="en-US" altLang="en-US">
                <a:solidFill>
                  <a:srgbClr val="C00000"/>
                </a:solidFill>
              </a:rPr>
              <a:t>rate</a:t>
            </a:r>
            <a:r>
              <a:rPr kumimoji="1" lang="en-US" altLang="en-US">
                <a:solidFill>
                  <a:srgbClr val="C00000"/>
                </a:solidFill>
              </a:rPr>
              <a:t> </a:t>
            </a:r>
            <a:r>
              <a:rPr kumimoji="1" lang="en-US" altLang="en-US">
                <a:solidFill>
                  <a:srgbClr val="C00000"/>
                </a:solidFill>
              </a:rPr>
              <a:t>of</a:t>
            </a:r>
            <a:r>
              <a:rPr kumimoji="1" lang="en-US" altLang="en-US">
                <a:solidFill>
                  <a:srgbClr val="C00000"/>
                </a:solidFill>
              </a:rPr>
              <a:t> </a:t>
            </a:r>
            <a:r>
              <a:rPr kumimoji="1" lang="en-US" altLang="en-US">
                <a:solidFill>
                  <a:srgbClr val="C00000"/>
                </a:solidFill>
              </a:rPr>
              <a:t>return</a:t>
            </a:r>
            <a:r>
              <a:rPr kumimoji="1" lang="en-US" altLang="en-US">
                <a:solidFill>
                  <a:srgbClr val="C00000"/>
                </a:solidFill>
              </a:rPr>
              <a:t> </a:t>
            </a:r>
            <a:r>
              <a:rPr kumimoji="1" lang="en-US" altLang="en-US"/>
              <a:t>of</a:t>
            </a:r>
            <a:r>
              <a:rPr kumimoji="1" lang="en-US" altLang="en-US"/>
              <a:t> </a:t>
            </a:r>
            <a:r>
              <a:rPr kumimoji="1" lang="en-US" altLang="en-US"/>
              <a:t>a</a:t>
            </a:r>
            <a:r>
              <a:rPr kumimoji="1" lang="en-US" altLang="en-US"/>
              <a:t> </a:t>
            </a:r>
            <a:r>
              <a:rPr kumimoji="1" lang="en-US" altLang="en-US"/>
              <a:t>project</a:t>
            </a:r>
            <a:r>
              <a:rPr kumimoji="1" lang="en-US" altLang="en-US"/>
              <a:t> </a:t>
            </a:r>
            <a:r>
              <a:rPr kumimoji="1" lang="en-US" altLang="en-US"/>
              <a:t>is</a:t>
            </a:r>
            <a:r>
              <a:rPr kumimoji="1" lang="en-US" altLang="en-US"/>
              <a:t> </a:t>
            </a:r>
            <a:r>
              <a:rPr kumimoji="1" lang="en-US" altLang="en-US"/>
              <a:t>the</a:t>
            </a:r>
            <a:r>
              <a:rPr kumimoji="1" lang="en-US" altLang="en-US"/>
              <a:t> </a:t>
            </a:r>
            <a:r>
              <a:rPr kumimoji="1" lang="en-US" altLang="en-US"/>
              <a:t>percentage</a:t>
            </a:r>
            <a:r>
              <a:rPr kumimoji="1" lang="en-US" altLang="en-US"/>
              <a:t> </a:t>
            </a:r>
            <a:r>
              <a:rPr kumimoji="1" lang="en-US" altLang="en-US"/>
              <a:t>rate</a:t>
            </a:r>
            <a:r>
              <a:rPr kumimoji="1" lang="en-US" altLang="en-US"/>
              <a:t> </a:t>
            </a:r>
            <a:r>
              <a:rPr kumimoji="1" lang="en-US" altLang="en-US"/>
              <a:t>at</a:t>
            </a:r>
            <a:r>
              <a:rPr kumimoji="1" lang="en-US" altLang="en-US"/>
              <a:t> </a:t>
            </a:r>
            <a:r>
              <a:rPr kumimoji="1" lang="en-US" altLang="en-US"/>
              <a:t>which</a:t>
            </a:r>
            <a:r>
              <a:rPr kumimoji="1" lang="en-US" altLang="en-US"/>
              <a:t> </a:t>
            </a:r>
            <a:r>
              <a:rPr kumimoji="1" lang="en-US" altLang="en-US"/>
              <a:t>the</a:t>
            </a:r>
            <a:r>
              <a:rPr kumimoji="1" lang="en-US" altLang="en-US"/>
              <a:t> </a:t>
            </a:r>
            <a:r>
              <a:rPr kumimoji="1" lang="en-US" altLang="en-US"/>
              <a:t>initial</a:t>
            </a:r>
            <a:r>
              <a:rPr kumimoji="1" lang="en-US" altLang="en-US"/>
              <a:t> </a:t>
            </a:r>
            <a:r>
              <a:rPr kumimoji="1" lang="en-US" altLang="en-US"/>
              <a:t>investment</a:t>
            </a:r>
            <a:r>
              <a:rPr kumimoji="1" lang="en-US" altLang="en-US"/>
              <a:t> </a:t>
            </a:r>
            <a:r>
              <a:rPr kumimoji="1" lang="en-US" altLang="en-US"/>
              <a:t>grows</a:t>
            </a:r>
            <a:r>
              <a:rPr kumimoji="1" lang="en-US" altLang="en-US"/>
              <a:t> </a:t>
            </a:r>
            <a:r>
              <a:rPr kumimoji="1" lang="en-US" altLang="en-US"/>
              <a:t>over</a:t>
            </a:r>
            <a:r>
              <a:rPr kumimoji="1" lang="en-US" altLang="en-US"/>
              <a:t> </a:t>
            </a:r>
            <a:r>
              <a:rPr kumimoji="1" lang="en-US" altLang="en-US"/>
              <a:t>the</a:t>
            </a:r>
            <a:r>
              <a:rPr kumimoji="1" lang="en-US" altLang="en-US"/>
              <a:t> </a:t>
            </a:r>
            <a:r>
              <a:rPr kumimoji="1" lang="en-US" altLang="en-US"/>
              <a:t>investment</a:t>
            </a:r>
            <a:r>
              <a:rPr kumimoji="1" lang="en-US" altLang="en-US"/>
              <a:t> </a:t>
            </a:r>
            <a:r>
              <a:rPr kumimoji="1" lang="en-US" altLang="en-US"/>
              <a:t>period</a:t>
            </a:r>
            <a:r>
              <a:rPr kumimoji="1" lang="en-US" altLang="en-US"/>
              <a:t> </a:t>
            </a:r>
            <a:r>
              <a:rPr kumimoji="1" lang="en-US" altLang="en-US"/>
              <a:t>to</a:t>
            </a:r>
            <a:r>
              <a:rPr kumimoji="1" lang="en-US" altLang="en-US"/>
              <a:t> </a:t>
            </a:r>
            <a:r>
              <a:rPr kumimoji="1" lang="en-US" altLang="en-US"/>
              <a:t>equal</a:t>
            </a:r>
            <a:r>
              <a:rPr kumimoji="1" lang="en-US" altLang="en-US"/>
              <a:t> </a:t>
            </a:r>
            <a:r>
              <a:rPr kumimoji="1" lang="en-US" altLang="en-US"/>
              <a:t>the</a:t>
            </a:r>
            <a:r>
              <a:rPr kumimoji="1" lang="en-US" altLang="en-US"/>
              <a:t> </a:t>
            </a:r>
            <a:r>
              <a:rPr kumimoji="1" lang="en-US" altLang="en-US"/>
              <a:t>value</a:t>
            </a:r>
            <a:r>
              <a:rPr kumimoji="1" lang="en-US" altLang="en-US"/>
              <a:t> </a:t>
            </a:r>
            <a:r>
              <a:rPr kumimoji="1" lang="en-US" altLang="en-US"/>
              <a:t>of</a:t>
            </a:r>
            <a:r>
              <a:rPr kumimoji="1" lang="en-US" altLang="en-US"/>
              <a:t> </a:t>
            </a:r>
            <a:r>
              <a:rPr kumimoji="1" lang="en-US" altLang="en-US"/>
              <a:t>the</a:t>
            </a:r>
            <a:r>
              <a:rPr kumimoji="1" lang="en-US" altLang="en-US"/>
              <a:t> </a:t>
            </a:r>
            <a:r>
              <a:rPr kumimoji="1" lang="en-US" altLang="en-US"/>
              <a:t>eventual</a:t>
            </a:r>
            <a:r>
              <a:rPr kumimoji="1" lang="en-US" altLang="en-US"/>
              <a:t> </a:t>
            </a:r>
            <a:r>
              <a:rPr kumimoji="1" lang="en-US" altLang="en-US"/>
              <a:t>expected</a:t>
            </a:r>
            <a:r>
              <a:rPr kumimoji="1" lang="en-US" altLang="en-US"/>
              <a:t> </a:t>
            </a:r>
            <a:r>
              <a:rPr kumimoji="1" lang="en-US" altLang="en-US"/>
              <a:t>benefits.</a:t>
            </a:r>
            <a:endParaRPr kumimoji="1" lang="en-US" altLang="en-US"/>
          </a:p>
          <a:p>
            <a:r>
              <a:rPr kumimoji="1" lang="en-US" altLang="en-US"/>
              <a:t>The</a:t>
            </a:r>
            <a:r>
              <a:rPr kumimoji="1" lang="en-US" altLang="en-US"/>
              <a:t> </a:t>
            </a:r>
            <a:r>
              <a:rPr kumimoji="1" lang="en-US" altLang="en-US">
                <a:solidFill>
                  <a:srgbClr val="C00000"/>
                </a:solidFill>
              </a:rPr>
              <a:t>higher</a:t>
            </a:r>
            <a:r>
              <a:rPr kumimoji="1" lang="en-US" altLang="en-US"/>
              <a:t> </a:t>
            </a:r>
            <a:r>
              <a:rPr kumimoji="1" lang="en-US" altLang="en-US"/>
              <a:t>the</a:t>
            </a:r>
            <a:r>
              <a:rPr kumimoji="1" lang="en-US" altLang="en-US"/>
              <a:t> </a:t>
            </a:r>
            <a:r>
              <a:rPr kumimoji="1" lang="en-US" altLang="en-US"/>
              <a:t>indicated</a:t>
            </a:r>
            <a:r>
              <a:rPr kumimoji="1" lang="en-US" altLang="en-US"/>
              <a:t> </a:t>
            </a:r>
            <a:r>
              <a:rPr kumimoji="1" lang="en-US" altLang="en-US"/>
              <a:t>rate</a:t>
            </a:r>
            <a:r>
              <a:rPr kumimoji="1" lang="en-US" altLang="en-US"/>
              <a:t> </a:t>
            </a:r>
            <a:r>
              <a:rPr kumimoji="1" lang="en-US" altLang="en-US"/>
              <a:t>of</a:t>
            </a:r>
            <a:r>
              <a:rPr kumimoji="1" lang="en-US" altLang="en-US"/>
              <a:t> </a:t>
            </a:r>
            <a:r>
              <a:rPr kumimoji="1" lang="en-US" altLang="en-US"/>
              <a:t>return</a:t>
            </a:r>
            <a:r>
              <a:rPr kumimoji="1" lang="en-US" altLang="en-US"/>
              <a:t> </a:t>
            </a:r>
            <a:r>
              <a:rPr kumimoji="1" lang="en-US" altLang="en-US"/>
              <a:t>on</a:t>
            </a:r>
            <a:r>
              <a:rPr kumimoji="1" lang="en-US" altLang="en-US"/>
              <a:t> </a:t>
            </a:r>
            <a:r>
              <a:rPr kumimoji="1" lang="en-US" altLang="en-US"/>
              <a:t>the</a:t>
            </a:r>
            <a:r>
              <a:rPr kumimoji="1" lang="en-US" altLang="en-US"/>
              <a:t> </a:t>
            </a:r>
            <a:r>
              <a:rPr kumimoji="1" lang="en-US" altLang="en-US"/>
              <a:t>investment,</a:t>
            </a:r>
            <a:r>
              <a:rPr kumimoji="1" lang="en-US" altLang="en-US"/>
              <a:t> </a:t>
            </a:r>
            <a:r>
              <a:rPr kumimoji="1" lang="en-US" altLang="en-US"/>
              <a:t>the</a:t>
            </a:r>
            <a:r>
              <a:rPr kumimoji="1" lang="en-US" altLang="en-US"/>
              <a:t> </a:t>
            </a:r>
            <a:r>
              <a:rPr kumimoji="1" lang="en-US" altLang="en-US"/>
              <a:t>more</a:t>
            </a:r>
            <a:r>
              <a:rPr kumimoji="1" lang="en-US" altLang="en-US"/>
              <a:t> </a:t>
            </a:r>
            <a:r>
              <a:rPr kumimoji="1" lang="en-US" altLang="en-US"/>
              <a:t>attractive</a:t>
            </a:r>
            <a:r>
              <a:rPr kumimoji="1" lang="en-US" altLang="en-US"/>
              <a:t> </a:t>
            </a:r>
            <a:r>
              <a:rPr kumimoji="1" lang="en-US" altLang="en-US"/>
              <a:t>the</a:t>
            </a:r>
            <a:r>
              <a:rPr kumimoji="1" lang="en-US" altLang="en-US"/>
              <a:t> </a:t>
            </a:r>
            <a:r>
              <a:rPr kumimoji="1" lang="en-US" altLang="en-US"/>
              <a:t>project.</a:t>
            </a:r>
            <a:endParaRPr kumimoji="1" lang="en-US" altLang="en-US"/>
          </a:p>
          <a:p>
            <a:endParaRPr kumimoji="1"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a:t>内部收益率的优点</a:t>
            </a:r>
            <a:endParaRPr kumimoji="1" lang="zh-CN" altLang="en-US"/>
          </a:p>
        </p:txBody>
      </p:sp>
      <p:sp>
        <p:nvSpPr>
          <p:cNvPr id="3" name="内容占位符 2"/>
          <p:cNvSpPr>
            <a:spLocks noGrp="1"/>
          </p:cNvSpPr>
          <p:nvPr>
            <p:ph idx="1"/>
          </p:nvPr>
        </p:nvSpPr>
        <p:spPr/>
        <p:txBody>
          <a:bodyPr>
            <a:normAutofit fontScale="85000" lnSpcReduction="20000"/>
          </a:bodyPr>
          <a:lstStyle/>
          <a:p>
            <a:r>
              <a:rPr kumimoji="1" lang="en-US" altLang="en-US"/>
              <a:t>内部收益率标准多用于投资人追求资本收益最大化的情况，这种技术的优点在于</a:t>
            </a:r>
            <a:r>
              <a:rPr kumimoji="1" lang="en-US" altLang="en-US">
                <a:solidFill>
                  <a:srgbClr val="C00000"/>
                </a:solidFill>
              </a:rPr>
              <a:t>不需要事先选择利率</a:t>
            </a:r>
            <a:r>
              <a:rPr kumimoji="1" lang="en-US" altLang="en-US"/>
              <a:t>，并且使用起来非常简单</a:t>
            </a:r>
            <a:endParaRPr kumimoji="1" lang="en-US" altLang="en-US"/>
          </a:p>
          <a:p>
            <a:r>
              <a:rPr kumimoji="1" lang="en-US" altLang="en-US"/>
              <a:t>The</a:t>
            </a:r>
            <a:r>
              <a:rPr kumimoji="1" lang="en-US" altLang="en-US"/>
              <a:t> </a:t>
            </a:r>
            <a:r>
              <a:rPr kumimoji="1" lang="en-US" altLang="en-US"/>
              <a:t>internal</a:t>
            </a:r>
            <a:r>
              <a:rPr kumimoji="1" lang="en-US" altLang="en-US"/>
              <a:t> </a:t>
            </a:r>
            <a:r>
              <a:rPr kumimoji="1" lang="en-US" altLang="en-US"/>
              <a:t>rate</a:t>
            </a:r>
            <a:r>
              <a:rPr kumimoji="1" lang="en-US" altLang="en-US"/>
              <a:t> </a:t>
            </a:r>
            <a:r>
              <a:rPr kumimoji="1" lang="en-US" altLang="en-US"/>
              <a:t>of</a:t>
            </a:r>
            <a:r>
              <a:rPr kumimoji="1" lang="en-US" altLang="en-US"/>
              <a:t> </a:t>
            </a:r>
            <a:r>
              <a:rPr kumimoji="1" lang="en-US" altLang="en-US"/>
              <a:t>return</a:t>
            </a:r>
            <a:r>
              <a:rPr kumimoji="1" lang="en-US" altLang="en-US"/>
              <a:t> </a:t>
            </a:r>
            <a:r>
              <a:rPr kumimoji="1" lang="en-US" altLang="en-US"/>
              <a:t>criterion</a:t>
            </a:r>
            <a:r>
              <a:rPr kumimoji="1" lang="en-US" altLang="en-US"/>
              <a:t> </a:t>
            </a:r>
            <a:r>
              <a:rPr kumimoji="1" lang="en-US" altLang="en-US"/>
              <a:t>is</a:t>
            </a:r>
            <a:r>
              <a:rPr kumimoji="1" lang="en-US" altLang="en-US"/>
              <a:t> </a:t>
            </a:r>
            <a:r>
              <a:rPr kumimoji="1" lang="en-US" altLang="en-US"/>
              <a:t>used</a:t>
            </a:r>
            <a:r>
              <a:rPr kumimoji="1" lang="en-US" altLang="en-US"/>
              <a:t> </a:t>
            </a:r>
            <a:r>
              <a:rPr kumimoji="1" lang="en-US" altLang="en-US"/>
              <a:t>mainly</a:t>
            </a:r>
            <a:r>
              <a:rPr kumimoji="1" lang="en-US" altLang="en-US"/>
              <a:t> </a:t>
            </a:r>
            <a:r>
              <a:rPr kumimoji="1" lang="en-US" altLang="en-US"/>
              <a:t>by</a:t>
            </a:r>
            <a:r>
              <a:rPr kumimoji="1" lang="en-US" altLang="en-US"/>
              <a:t> </a:t>
            </a:r>
            <a:r>
              <a:rPr kumimoji="1" lang="en-US" altLang="en-US"/>
              <a:t>investors</a:t>
            </a:r>
            <a:r>
              <a:rPr kumimoji="1" lang="en-US" altLang="en-US"/>
              <a:t> </a:t>
            </a:r>
            <a:r>
              <a:rPr kumimoji="1" lang="en-US" altLang="en-US"/>
              <a:t>seeking</a:t>
            </a:r>
            <a:r>
              <a:rPr kumimoji="1" lang="en-US" altLang="en-US"/>
              <a:t> </a:t>
            </a:r>
            <a:r>
              <a:rPr kumimoji="1" lang="en-US" altLang="en-US"/>
              <a:t>to</a:t>
            </a:r>
            <a:r>
              <a:rPr kumimoji="1" lang="en-US" altLang="en-US"/>
              <a:t> </a:t>
            </a:r>
            <a:r>
              <a:rPr kumimoji="1" lang="en-US" altLang="en-US"/>
              <a:t>maximize</a:t>
            </a:r>
            <a:r>
              <a:rPr kumimoji="1" lang="en-US" altLang="en-US"/>
              <a:t> </a:t>
            </a:r>
            <a:r>
              <a:rPr kumimoji="1" lang="en-US" altLang="en-US"/>
              <a:t>the</a:t>
            </a:r>
            <a:r>
              <a:rPr kumimoji="1" lang="en-US" altLang="en-US"/>
              <a:t> </a:t>
            </a:r>
            <a:r>
              <a:rPr kumimoji="1" lang="en-US" altLang="en-US"/>
              <a:t>return</a:t>
            </a:r>
            <a:r>
              <a:rPr kumimoji="1" lang="en-US" altLang="en-US"/>
              <a:t> </a:t>
            </a:r>
            <a:r>
              <a:rPr kumimoji="1" lang="en-US" altLang="en-US"/>
              <a:t>on</a:t>
            </a:r>
            <a:r>
              <a:rPr kumimoji="1" lang="en-US" altLang="en-US"/>
              <a:t> </a:t>
            </a:r>
            <a:r>
              <a:rPr kumimoji="1" lang="en-US" altLang="en-US"/>
              <a:t>their</a:t>
            </a:r>
            <a:r>
              <a:rPr kumimoji="1" lang="en-US" altLang="en-US"/>
              <a:t> </a:t>
            </a:r>
            <a:r>
              <a:rPr kumimoji="1" lang="en-US" altLang="en-US"/>
              <a:t>financial</a:t>
            </a:r>
            <a:r>
              <a:rPr kumimoji="1" lang="en-US" altLang="en-US"/>
              <a:t> </a:t>
            </a:r>
            <a:r>
              <a:rPr kumimoji="1" lang="en-US" altLang="en-US"/>
              <a:t>capital.</a:t>
            </a:r>
            <a:r>
              <a:rPr kumimoji="1" lang="en-US" altLang="en-US"/>
              <a:t> </a:t>
            </a:r>
            <a:r>
              <a:rPr kumimoji="1" lang="en-US" altLang="en-US"/>
              <a:t>It</a:t>
            </a:r>
            <a:r>
              <a:rPr kumimoji="1" lang="en-US" altLang="en-US"/>
              <a:t> </a:t>
            </a:r>
            <a:r>
              <a:rPr kumimoji="1" lang="en-US" altLang="en-US">
                <a:solidFill>
                  <a:srgbClr val="C00000"/>
                </a:solidFill>
              </a:rPr>
              <a:t>eliminates</a:t>
            </a:r>
            <a:r>
              <a:rPr kumimoji="1" lang="en-US" altLang="en-US">
                <a:solidFill>
                  <a:srgbClr val="C00000"/>
                </a:solidFill>
              </a:rPr>
              <a:t> </a:t>
            </a:r>
            <a:r>
              <a:rPr kumimoji="1" lang="en-US" altLang="en-US">
                <a:solidFill>
                  <a:srgbClr val="C00000"/>
                </a:solidFill>
              </a:rPr>
              <a:t>the</a:t>
            </a:r>
            <a:r>
              <a:rPr kumimoji="1" lang="en-US" altLang="en-US">
                <a:solidFill>
                  <a:srgbClr val="C00000"/>
                </a:solidFill>
              </a:rPr>
              <a:t> </a:t>
            </a:r>
            <a:r>
              <a:rPr kumimoji="1" lang="en-US" altLang="en-US">
                <a:solidFill>
                  <a:srgbClr val="C00000"/>
                </a:solidFill>
              </a:rPr>
              <a:t>need</a:t>
            </a:r>
            <a:r>
              <a:rPr kumimoji="1" lang="en-US" altLang="en-US">
                <a:solidFill>
                  <a:srgbClr val="C00000"/>
                </a:solidFill>
              </a:rPr>
              <a:t> </a:t>
            </a:r>
            <a:r>
              <a:rPr kumimoji="1" lang="en-US" altLang="en-US">
                <a:solidFill>
                  <a:srgbClr val="C00000"/>
                </a:solidFill>
              </a:rPr>
              <a:t>to</a:t>
            </a:r>
            <a:r>
              <a:rPr kumimoji="1" lang="en-US" altLang="en-US">
                <a:solidFill>
                  <a:srgbClr val="C00000"/>
                </a:solidFill>
              </a:rPr>
              <a:t> </a:t>
            </a:r>
            <a:r>
              <a:rPr kumimoji="1" lang="en-US" altLang="en-US">
                <a:solidFill>
                  <a:srgbClr val="C00000"/>
                </a:solidFill>
              </a:rPr>
              <a:t>select</a:t>
            </a:r>
            <a:r>
              <a:rPr kumimoji="1" lang="en-US" altLang="en-US">
                <a:solidFill>
                  <a:srgbClr val="C00000"/>
                </a:solidFill>
              </a:rPr>
              <a:t> </a:t>
            </a:r>
            <a:r>
              <a:rPr kumimoji="1" lang="en-US" altLang="en-US">
                <a:solidFill>
                  <a:srgbClr val="C00000"/>
                </a:solidFill>
              </a:rPr>
              <a:t>a</a:t>
            </a:r>
            <a:r>
              <a:rPr kumimoji="1" lang="en-US" altLang="en-US">
                <a:solidFill>
                  <a:srgbClr val="C00000"/>
                </a:solidFill>
              </a:rPr>
              <a:t> </a:t>
            </a:r>
            <a:r>
              <a:rPr kumimoji="1" lang="en-US" altLang="en-US">
                <a:solidFill>
                  <a:srgbClr val="C00000"/>
                </a:solidFill>
              </a:rPr>
              <a:t>rate</a:t>
            </a:r>
            <a:r>
              <a:rPr kumimoji="1" lang="en-US" altLang="en-US">
                <a:solidFill>
                  <a:srgbClr val="C00000"/>
                </a:solidFill>
              </a:rPr>
              <a:t> </a:t>
            </a:r>
            <a:r>
              <a:rPr kumimoji="1" lang="en-US" altLang="en-US">
                <a:solidFill>
                  <a:srgbClr val="C00000"/>
                </a:solidFill>
              </a:rPr>
              <a:t>of</a:t>
            </a:r>
            <a:r>
              <a:rPr kumimoji="1" lang="en-US" altLang="en-US">
                <a:solidFill>
                  <a:srgbClr val="C00000"/>
                </a:solidFill>
              </a:rPr>
              <a:t> </a:t>
            </a:r>
            <a:r>
              <a:rPr kumimoji="1" lang="en-US" altLang="en-US">
                <a:solidFill>
                  <a:srgbClr val="C00000"/>
                </a:solidFill>
              </a:rPr>
              <a:t>interest</a:t>
            </a:r>
            <a:r>
              <a:rPr kumimoji="1" lang="en-US" altLang="en-US">
                <a:solidFill>
                  <a:srgbClr val="C00000"/>
                </a:solidFill>
              </a:rPr>
              <a:t> </a:t>
            </a:r>
            <a:r>
              <a:rPr kumimoji="1" lang="en-US" altLang="en-US">
                <a:solidFill>
                  <a:srgbClr val="C00000"/>
                </a:solidFill>
              </a:rPr>
              <a:t>in</a:t>
            </a:r>
            <a:r>
              <a:rPr kumimoji="1" lang="en-US" altLang="en-US">
                <a:solidFill>
                  <a:srgbClr val="C00000"/>
                </a:solidFill>
              </a:rPr>
              <a:t> </a:t>
            </a:r>
            <a:r>
              <a:rPr kumimoji="1" lang="en-US" altLang="en-US">
                <a:solidFill>
                  <a:srgbClr val="C00000"/>
                </a:solidFill>
              </a:rPr>
              <a:t>advance</a:t>
            </a:r>
            <a:r>
              <a:rPr kumimoji="1" lang="en-US" altLang="en-US"/>
              <a:t>,</a:t>
            </a:r>
            <a:r>
              <a:rPr kumimoji="1" lang="en-US" altLang="en-US"/>
              <a:t> </a:t>
            </a:r>
            <a:r>
              <a:rPr kumimoji="1" lang="en-US" altLang="en-US"/>
              <a:t>and</a:t>
            </a:r>
            <a:r>
              <a:rPr kumimoji="1" lang="en-US" altLang="en-US"/>
              <a:t> </a:t>
            </a:r>
            <a:r>
              <a:rPr kumimoji="1" lang="en-US" altLang="en-US"/>
              <a:t>has</a:t>
            </a:r>
            <a:r>
              <a:rPr kumimoji="1" lang="en-US" altLang="en-US"/>
              <a:t> </a:t>
            </a:r>
            <a:r>
              <a:rPr kumimoji="1" lang="en-US" altLang="en-US"/>
              <a:t>the</a:t>
            </a:r>
            <a:r>
              <a:rPr kumimoji="1" lang="en-US" altLang="en-US"/>
              <a:t> </a:t>
            </a:r>
            <a:r>
              <a:rPr kumimoji="1" lang="en-US" altLang="en-US"/>
              <a:t>additional</a:t>
            </a:r>
            <a:r>
              <a:rPr kumimoji="1" lang="en-US" altLang="en-US"/>
              <a:t> </a:t>
            </a:r>
            <a:r>
              <a:rPr kumimoji="1" lang="en-US" altLang="en-US"/>
              <a:t>appeal</a:t>
            </a:r>
            <a:r>
              <a:rPr kumimoji="1" lang="en-US" altLang="en-US"/>
              <a:t> </a:t>
            </a:r>
            <a:r>
              <a:rPr kumimoji="1" lang="en-US" altLang="en-US"/>
              <a:t>of</a:t>
            </a:r>
            <a:r>
              <a:rPr kumimoji="1" lang="en-US" altLang="en-US"/>
              <a:t> </a:t>
            </a:r>
            <a:r>
              <a:rPr kumimoji="1" lang="en-US" altLang="en-US"/>
              <a:t>simplicity.</a:t>
            </a:r>
            <a:r>
              <a:rPr kumimoji="1" lang="en-US" altLang="en-US"/>
              <a:t> </a:t>
            </a:r>
            <a:endParaRPr kumimoji="1" lang="en-US" altLang="en-US"/>
          </a:p>
          <a:p>
            <a:endParaRPr kumimoji="1" lang="en-US" altLang="en-US"/>
          </a:p>
          <a:p>
            <a:pPr marL="0" indent="0">
              <a:buNone/>
            </a:pPr>
            <a:endParaRPr kumimoji="1"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内部收益率</a:t>
            </a:r>
            <a:r>
              <a:rPr lang="en-US" altLang="en-US" dirty="0"/>
              <a:t>的适用范围</a:t>
            </a:r>
            <a:endParaRPr lang="zh-CN" altLang="en-US" dirty="0"/>
          </a:p>
        </p:txBody>
      </p:sp>
      <p:sp>
        <p:nvSpPr>
          <p:cNvPr id="4" name="内容占位符 3"/>
          <p:cNvSpPr>
            <a:spLocks noGrp="1"/>
          </p:cNvSpPr>
          <p:nvPr>
            <p:ph sz="half" idx="1"/>
          </p:nvPr>
        </p:nvSpPr>
        <p:spPr/>
        <p:txBody>
          <a:bodyPr>
            <a:normAutofit fontScale="55000" lnSpcReduction="20000"/>
          </a:bodyPr>
          <a:lstStyle/>
          <a:p>
            <a:r>
              <a:rPr lang="zh-CN" altLang="en-US" dirty="0"/>
              <a:t>仅适用于初始投资、后期收益的项目</a:t>
            </a:r>
            <a:endParaRPr lang="en-US" altLang="zh-CN" dirty="0"/>
          </a:p>
          <a:p>
            <a:r>
              <a:rPr lang="zh-CN" altLang="en-US" dirty="0"/>
              <a:t>如果收益早，成本出现较晚，</a:t>
            </a:r>
            <a:r>
              <a:rPr lang="en-US" altLang="en-US" dirty="0"/>
              <a:t>按照</a:t>
            </a:r>
            <a:r>
              <a:rPr lang="en-US" altLang="zh-CN" dirty="0"/>
              <a:t>IRR</a:t>
            </a:r>
            <a:r>
              <a:rPr lang="en-US" altLang="en-US" dirty="0"/>
              <a:t>标准选择</a:t>
            </a:r>
            <a:r>
              <a:rPr lang="zh-CN" altLang="en-US" dirty="0"/>
              <a:t>可能产生误导，</a:t>
            </a:r>
            <a:r>
              <a:rPr lang="en-US" altLang="en-US" dirty="0"/>
              <a:t>使这类项目更为可取</a:t>
            </a:r>
            <a:endParaRPr lang="en-US" altLang="zh-CN" dirty="0"/>
          </a:p>
          <a:p>
            <a:r>
              <a:rPr lang="zh-CN" altLang="en-US" dirty="0"/>
              <a:t>如果正负受益在不同时点交替出现，</a:t>
            </a:r>
            <a:r>
              <a:rPr lang="en-US" altLang="zh-CN" dirty="0"/>
              <a:t>IRR</a:t>
            </a:r>
            <a:r>
              <a:rPr lang="en-US" altLang="en-US" dirty="0"/>
              <a:t>的计算可能变得各位复杂，甚至</a:t>
            </a:r>
            <a:r>
              <a:rPr lang="zh-CN" altLang="en-US" dirty="0"/>
              <a:t>可能</a:t>
            </a:r>
            <a:r>
              <a:rPr lang="en-US" altLang="en-US" dirty="0"/>
              <a:t>是</a:t>
            </a:r>
            <a:r>
              <a:rPr lang="zh-CN" altLang="en-US" dirty="0"/>
              <a:t>不确定</a:t>
            </a:r>
            <a:r>
              <a:rPr lang="en-US" altLang="en-US" dirty="0"/>
              <a:t>的</a:t>
            </a:r>
            <a:endParaRPr lang="zh-CN" altLang="en-US" dirty="0"/>
          </a:p>
          <a:p>
            <a:endParaRPr lang="zh-CN" altLang="en-US" dirty="0"/>
          </a:p>
        </p:txBody>
      </p:sp>
      <p:sp>
        <p:nvSpPr>
          <p:cNvPr id="5" name="内容占位符 4"/>
          <p:cNvSpPr>
            <a:spLocks noGrp="1"/>
          </p:cNvSpPr>
          <p:nvPr>
            <p:ph sz="half" idx="2"/>
          </p:nvPr>
        </p:nvSpPr>
        <p:spPr/>
        <p:txBody>
          <a:bodyPr>
            <a:normAutofit fontScale="55000" lnSpcReduction="20000"/>
          </a:bodyPr>
          <a:lstStyle/>
          <a:p>
            <a:r>
              <a:rPr lang="en-US" altLang="zh-CN" dirty="0"/>
              <a:t>I</a:t>
            </a:r>
            <a:r>
              <a:rPr lang="en-US" altLang="en-US" dirty="0"/>
              <a:t>t</a:t>
            </a:r>
            <a:r>
              <a:rPr lang="en-US" altLang="en-US" dirty="0"/>
              <a:t> </a:t>
            </a:r>
            <a:r>
              <a:rPr lang="en-US" altLang="en-US" dirty="0"/>
              <a:t>is</a:t>
            </a:r>
            <a:r>
              <a:rPr lang="en-US" altLang="en-US" dirty="0"/>
              <a:t> </a:t>
            </a:r>
            <a:r>
              <a:rPr lang="en-US" altLang="en-US" dirty="0"/>
              <a:t>suitable</a:t>
            </a:r>
            <a:r>
              <a:rPr lang="en-US" altLang="en-US" dirty="0"/>
              <a:t> </a:t>
            </a:r>
            <a:r>
              <a:rPr lang="en-US" altLang="en-US" dirty="0"/>
              <a:t>only</a:t>
            </a:r>
            <a:r>
              <a:rPr lang="en-US" altLang="en-US" dirty="0"/>
              <a:t> </a:t>
            </a:r>
            <a:r>
              <a:rPr lang="en-US" altLang="en-US" dirty="0"/>
              <a:t>for</a:t>
            </a:r>
            <a:r>
              <a:rPr lang="en-US" altLang="en-US" dirty="0"/>
              <a:t> </a:t>
            </a:r>
            <a:r>
              <a:rPr lang="en-US" altLang="en-US" dirty="0"/>
              <a:t>projects</a:t>
            </a:r>
            <a:r>
              <a:rPr lang="en-US" altLang="en-US" dirty="0"/>
              <a:t> </a:t>
            </a:r>
            <a:r>
              <a:rPr lang="en-US" altLang="en-US" dirty="0"/>
              <a:t>that</a:t>
            </a:r>
            <a:r>
              <a:rPr lang="en-US" altLang="en-US" dirty="0"/>
              <a:t> </a:t>
            </a:r>
            <a:r>
              <a:rPr lang="en-US" altLang="en-US" dirty="0"/>
              <a:t>involve</a:t>
            </a:r>
            <a:r>
              <a:rPr lang="en-US" altLang="en-US" dirty="0"/>
              <a:t> </a:t>
            </a:r>
            <a:r>
              <a:rPr lang="en-US" altLang="en-US" dirty="0">
                <a:solidFill>
                  <a:srgbClr val="C00000"/>
                </a:solidFill>
              </a:rPr>
              <a:t>an</a:t>
            </a:r>
            <a:r>
              <a:rPr lang="en-US" altLang="en-US" dirty="0">
                <a:solidFill>
                  <a:srgbClr val="C00000"/>
                </a:solidFill>
              </a:rPr>
              <a:t> </a:t>
            </a:r>
            <a:r>
              <a:rPr lang="en-US" altLang="en-US" dirty="0">
                <a:solidFill>
                  <a:srgbClr val="C00000"/>
                </a:solidFill>
              </a:rPr>
              <a:t>initial</a:t>
            </a:r>
            <a:r>
              <a:rPr lang="en-US" altLang="en-US" dirty="0">
                <a:solidFill>
                  <a:srgbClr val="C00000"/>
                </a:solidFill>
              </a:rPr>
              <a:t> </a:t>
            </a:r>
            <a:r>
              <a:rPr lang="en-US" altLang="en-US" dirty="0">
                <a:solidFill>
                  <a:srgbClr val="C00000"/>
                </a:solidFill>
              </a:rPr>
              <a:t>investment</a:t>
            </a:r>
            <a:r>
              <a:rPr lang="en-US" altLang="en-US" dirty="0">
                <a:solidFill>
                  <a:srgbClr val="C00000"/>
                </a:solidFill>
              </a:rPr>
              <a:t> </a:t>
            </a:r>
            <a:r>
              <a:rPr lang="en-US" altLang="en-US" dirty="0">
                <a:solidFill>
                  <a:srgbClr val="C00000"/>
                </a:solidFill>
              </a:rPr>
              <a:t>and</a:t>
            </a:r>
            <a:r>
              <a:rPr lang="en-US" altLang="en-US" dirty="0">
                <a:solidFill>
                  <a:srgbClr val="C00000"/>
                </a:solidFill>
              </a:rPr>
              <a:t> </a:t>
            </a:r>
            <a:r>
              <a:rPr lang="en-US" altLang="en-US" dirty="0">
                <a:solidFill>
                  <a:srgbClr val="C00000"/>
                </a:solidFill>
              </a:rPr>
              <a:t>later</a:t>
            </a:r>
            <a:r>
              <a:rPr lang="en-US" altLang="en-US" dirty="0">
                <a:solidFill>
                  <a:srgbClr val="C00000"/>
                </a:solidFill>
              </a:rPr>
              <a:t> </a:t>
            </a:r>
            <a:r>
              <a:rPr lang="en-US" altLang="en-US" dirty="0">
                <a:solidFill>
                  <a:srgbClr val="C00000"/>
                </a:solidFill>
              </a:rPr>
              <a:t>returns</a:t>
            </a:r>
            <a:r>
              <a:rPr lang="en-US" altLang="en-US" dirty="0"/>
              <a:t>.</a:t>
            </a:r>
            <a:endParaRPr lang="en-US" altLang="en-US" dirty="0"/>
          </a:p>
          <a:p>
            <a:r>
              <a:rPr lang="en-US" altLang="en-US" dirty="0"/>
              <a:t>Some</a:t>
            </a:r>
            <a:r>
              <a:rPr lang="en-US" altLang="en-US" dirty="0"/>
              <a:t> </a:t>
            </a:r>
            <a:r>
              <a:rPr lang="en-US" altLang="en-US" dirty="0"/>
              <a:t>projects</a:t>
            </a:r>
            <a:r>
              <a:rPr lang="en-US" altLang="en-US" dirty="0"/>
              <a:t> </a:t>
            </a:r>
            <a:r>
              <a:rPr lang="en-US" altLang="en-US" dirty="0"/>
              <a:t>generate</a:t>
            </a:r>
            <a:r>
              <a:rPr lang="en-US" altLang="en-US" dirty="0"/>
              <a:t> </a:t>
            </a:r>
            <a:r>
              <a:rPr lang="en-US" altLang="en-US" dirty="0"/>
              <a:t>some</a:t>
            </a:r>
            <a:r>
              <a:rPr lang="en-US" altLang="en-US" dirty="0"/>
              <a:t> </a:t>
            </a:r>
            <a:r>
              <a:rPr lang="en-US" altLang="en-US" dirty="0"/>
              <a:t>early</a:t>
            </a:r>
            <a:r>
              <a:rPr lang="en-US" altLang="en-US" dirty="0"/>
              <a:t> </a:t>
            </a:r>
            <a:r>
              <a:rPr lang="en-US" altLang="en-US" dirty="0"/>
              <a:t>returns</a:t>
            </a:r>
            <a:r>
              <a:rPr lang="en-US" altLang="en-US" dirty="0"/>
              <a:t> </a:t>
            </a:r>
            <a:r>
              <a:rPr lang="en-US" altLang="en-US" dirty="0"/>
              <a:t>and</a:t>
            </a:r>
            <a:r>
              <a:rPr lang="en-US" altLang="en-US" dirty="0"/>
              <a:t> </a:t>
            </a:r>
            <a:r>
              <a:rPr lang="en-US" altLang="en-US" dirty="0"/>
              <a:t>impose</a:t>
            </a:r>
            <a:r>
              <a:rPr lang="en-US" altLang="en-US" dirty="0"/>
              <a:t> </a:t>
            </a:r>
            <a:r>
              <a:rPr lang="en-US" altLang="en-US" dirty="0"/>
              <a:t>later</a:t>
            </a:r>
            <a:r>
              <a:rPr lang="en-US" altLang="en-US" dirty="0"/>
              <a:t> </a:t>
            </a:r>
            <a:r>
              <a:rPr lang="en-US" altLang="en-US" dirty="0"/>
              <a:t>costs,</a:t>
            </a:r>
            <a:r>
              <a:rPr lang="en-US" altLang="en-US" dirty="0"/>
              <a:t> </a:t>
            </a:r>
            <a:r>
              <a:rPr lang="en-US" altLang="en-US" dirty="0"/>
              <a:t>and</a:t>
            </a:r>
            <a:r>
              <a:rPr lang="en-US" altLang="en-US" dirty="0"/>
              <a:t> </a:t>
            </a:r>
            <a:r>
              <a:rPr lang="en-US" altLang="en-US" dirty="0"/>
              <a:t>this</a:t>
            </a:r>
            <a:r>
              <a:rPr lang="en-US" altLang="en-US" dirty="0"/>
              <a:t> </a:t>
            </a:r>
            <a:r>
              <a:rPr lang="en-US" altLang="en-US" dirty="0"/>
              <a:t>criterion</a:t>
            </a:r>
            <a:r>
              <a:rPr lang="en-US" altLang="en-US" dirty="0"/>
              <a:t> </a:t>
            </a:r>
            <a:r>
              <a:rPr lang="en-US" altLang="en-US" dirty="0">
                <a:solidFill>
                  <a:srgbClr val="C00000"/>
                </a:solidFill>
              </a:rPr>
              <a:t>makes</a:t>
            </a:r>
            <a:r>
              <a:rPr lang="en-US" altLang="en-US" dirty="0">
                <a:solidFill>
                  <a:srgbClr val="C00000"/>
                </a:solidFill>
              </a:rPr>
              <a:t> </a:t>
            </a:r>
            <a:r>
              <a:rPr lang="en-US" altLang="en-US" dirty="0">
                <a:solidFill>
                  <a:srgbClr val="C00000"/>
                </a:solidFill>
              </a:rPr>
              <a:t>projects</a:t>
            </a:r>
            <a:r>
              <a:rPr lang="en-US" altLang="en-US" dirty="0">
                <a:solidFill>
                  <a:srgbClr val="C00000"/>
                </a:solidFill>
              </a:rPr>
              <a:t> </a:t>
            </a:r>
            <a:r>
              <a:rPr lang="en-US" altLang="en-US" dirty="0">
                <a:solidFill>
                  <a:srgbClr val="C00000"/>
                </a:solidFill>
              </a:rPr>
              <a:t>with</a:t>
            </a:r>
            <a:r>
              <a:rPr lang="en-US" altLang="en-US" dirty="0">
                <a:solidFill>
                  <a:srgbClr val="C00000"/>
                </a:solidFill>
              </a:rPr>
              <a:t> </a:t>
            </a:r>
            <a:r>
              <a:rPr lang="en-US" altLang="en-US" dirty="0">
                <a:solidFill>
                  <a:srgbClr val="C00000"/>
                </a:solidFill>
              </a:rPr>
              <a:t>early</a:t>
            </a:r>
            <a:r>
              <a:rPr lang="en-US" altLang="en-US" dirty="0">
                <a:solidFill>
                  <a:srgbClr val="C00000"/>
                </a:solidFill>
              </a:rPr>
              <a:t> </a:t>
            </a:r>
            <a:r>
              <a:rPr lang="en-US" altLang="en-US" dirty="0">
                <a:solidFill>
                  <a:srgbClr val="C00000"/>
                </a:solidFill>
              </a:rPr>
              <a:t>benefits</a:t>
            </a:r>
            <a:r>
              <a:rPr lang="en-US" altLang="en-US" dirty="0">
                <a:solidFill>
                  <a:srgbClr val="C00000"/>
                </a:solidFill>
              </a:rPr>
              <a:t> </a:t>
            </a:r>
            <a:r>
              <a:rPr lang="en-US" altLang="en-US" dirty="0">
                <a:solidFill>
                  <a:srgbClr val="C00000"/>
                </a:solidFill>
              </a:rPr>
              <a:t>and</a:t>
            </a:r>
            <a:r>
              <a:rPr lang="en-US" altLang="en-US" dirty="0">
                <a:solidFill>
                  <a:srgbClr val="C00000"/>
                </a:solidFill>
              </a:rPr>
              <a:t> </a:t>
            </a:r>
            <a:r>
              <a:rPr lang="en-US" altLang="en-US" dirty="0">
                <a:solidFill>
                  <a:srgbClr val="C00000"/>
                </a:solidFill>
              </a:rPr>
              <a:t>late</a:t>
            </a:r>
            <a:r>
              <a:rPr lang="en-US" altLang="en-US" dirty="0">
                <a:solidFill>
                  <a:srgbClr val="C00000"/>
                </a:solidFill>
              </a:rPr>
              <a:t> </a:t>
            </a:r>
            <a:r>
              <a:rPr lang="en-US" altLang="en-US" dirty="0">
                <a:solidFill>
                  <a:srgbClr val="C00000"/>
                </a:solidFill>
              </a:rPr>
              <a:t>costs</a:t>
            </a:r>
            <a:r>
              <a:rPr lang="en-US" altLang="en-US" dirty="0">
                <a:solidFill>
                  <a:srgbClr val="C00000"/>
                </a:solidFill>
              </a:rPr>
              <a:t> </a:t>
            </a:r>
            <a:r>
              <a:rPr lang="en-US" altLang="en-US" dirty="0">
                <a:solidFill>
                  <a:srgbClr val="C00000"/>
                </a:solidFill>
              </a:rPr>
              <a:t>appear</a:t>
            </a:r>
            <a:r>
              <a:rPr lang="en-US" altLang="en-US" dirty="0">
                <a:solidFill>
                  <a:srgbClr val="C00000"/>
                </a:solidFill>
              </a:rPr>
              <a:t> </a:t>
            </a:r>
            <a:r>
              <a:rPr lang="en-US" altLang="en-US" dirty="0">
                <a:solidFill>
                  <a:srgbClr val="C00000"/>
                </a:solidFill>
              </a:rPr>
              <a:t>more</a:t>
            </a:r>
            <a:r>
              <a:rPr lang="en-US" altLang="en-US" dirty="0">
                <a:solidFill>
                  <a:srgbClr val="C00000"/>
                </a:solidFill>
              </a:rPr>
              <a:t> </a:t>
            </a:r>
            <a:r>
              <a:rPr lang="en-US" altLang="en-US" dirty="0">
                <a:solidFill>
                  <a:srgbClr val="C00000"/>
                </a:solidFill>
              </a:rPr>
              <a:t>favourable</a:t>
            </a:r>
            <a:r>
              <a:rPr lang="en-US" altLang="en-US" dirty="0"/>
              <a:t>.</a:t>
            </a:r>
            <a:endParaRPr lang="en-US" altLang="en-US" dirty="0"/>
          </a:p>
          <a:p>
            <a:r>
              <a:rPr lang="en-US" altLang="en-US" dirty="0"/>
              <a:t>Calculation</a:t>
            </a:r>
            <a:r>
              <a:rPr lang="en-US" altLang="en-US" dirty="0"/>
              <a:t> </a:t>
            </a:r>
            <a:r>
              <a:rPr lang="en-US" altLang="en-US" dirty="0"/>
              <a:t>of</a:t>
            </a:r>
            <a:r>
              <a:rPr lang="en-US" altLang="en-US" dirty="0"/>
              <a:t> </a:t>
            </a:r>
            <a:r>
              <a:rPr lang="en-US" altLang="en-US" dirty="0"/>
              <a:t>the</a:t>
            </a:r>
            <a:r>
              <a:rPr lang="en-US" altLang="en-US" dirty="0"/>
              <a:t> </a:t>
            </a:r>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r>
              <a:rPr lang="en-US" altLang="en-US" dirty="0"/>
              <a:t> </a:t>
            </a:r>
            <a:r>
              <a:rPr lang="en-US" altLang="en-US" dirty="0"/>
              <a:t>becomes</a:t>
            </a:r>
            <a:r>
              <a:rPr lang="en-US" altLang="en-US" dirty="0"/>
              <a:t> </a:t>
            </a:r>
            <a:r>
              <a:rPr lang="en-US" altLang="en-US" dirty="0">
                <a:solidFill>
                  <a:srgbClr val="C00000"/>
                </a:solidFill>
              </a:rPr>
              <a:t>exceedingly</a:t>
            </a:r>
            <a:r>
              <a:rPr lang="en-US" altLang="en-US" dirty="0">
                <a:solidFill>
                  <a:srgbClr val="C00000"/>
                </a:solidFill>
              </a:rPr>
              <a:t> </a:t>
            </a:r>
            <a:r>
              <a:rPr lang="en-US" altLang="en-US" dirty="0">
                <a:solidFill>
                  <a:srgbClr val="C00000"/>
                </a:solidFill>
              </a:rPr>
              <a:t>complicated</a:t>
            </a:r>
            <a:r>
              <a:rPr lang="en-US" altLang="en-US" dirty="0"/>
              <a:t>,</a:t>
            </a:r>
            <a:r>
              <a:rPr lang="en-US" altLang="en-US" dirty="0"/>
              <a:t> </a:t>
            </a:r>
            <a:r>
              <a:rPr lang="en-US" altLang="en-US" dirty="0"/>
              <a:t>and</a:t>
            </a:r>
            <a:r>
              <a:rPr lang="en-US" altLang="en-US" dirty="0"/>
              <a:t> </a:t>
            </a:r>
            <a:r>
              <a:rPr lang="en-US" altLang="en-US" dirty="0"/>
              <a:t>sometimes</a:t>
            </a:r>
            <a:r>
              <a:rPr lang="en-US" altLang="en-US" dirty="0"/>
              <a:t> </a:t>
            </a:r>
            <a:r>
              <a:rPr lang="en-US" altLang="en-US" dirty="0">
                <a:solidFill>
                  <a:srgbClr val="C00000"/>
                </a:solidFill>
              </a:rPr>
              <a:t>indeterminate</a:t>
            </a:r>
            <a:r>
              <a:rPr lang="en-US" altLang="en-US" dirty="0"/>
              <a:t>,</a:t>
            </a:r>
            <a:r>
              <a:rPr lang="en-US" altLang="en-US" dirty="0"/>
              <a:t> </a:t>
            </a:r>
            <a:r>
              <a:rPr lang="en-US" altLang="en-US" dirty="0"/>
              <a:t>when</a:t>
            </a:r>
            <a:r>
              <a:rPr lang="en-US" altLang="en-US" dirty="0"/>
              <a:t> </a:t>
            </a:r>
            <a:r>
              <a:rPr lang="en-US" altLang="en-US" dirty="0"/>
              <a:t>a</a:t>
            </a:r>
            <a:r>
              <a:rPr lang="en-US" altLang="en-US" dirty="0"/>
              <a:t> </a:t>
            </a:r>
            <a:r>
              <a:rPr lang="en-US" altLang="en-US" dirty="0"/>
              <a:t>project</a:t>
            </a:r>
            <a:r>
              <a:rPr lang="en-US" altLang="en-US" dirty="0"/>
              <a:t> </a:t>
            </a:r>
            <a:r>
              <a:rPr lang="en-US" altLang="en-US" dirty="0"/>
              <a:t>involves</a:t>
            </a:r>
            <a:r>
              <a:rPr lang="en-US" altLang="en-US" dirty="0"/>
              <a:t> </a:t>
            </a:r>
            <a:r>
              <a:rPr lang="en-US" altLang="en-US" dirty="0">
                <a:solidFill>
                  <a:srgbClr val="C00000"/>
                </a:solidFill>
              </a:rPr>
              <a:t>positive</a:t>
            </a:r>
            <a:r>
              <a:rPr lang="en-US" altLang="en-US" dirty="0">
                <a:solidFill>
                  <a:srgbClr val="C00000"/>
                </a:solidFill>
              </a:rPr>
              <a:t> </a:t>
            </a:r>
            <a:r>
              <a:rPr lang="en-US" altLang="en-US" dirty="0">
                <a:solidFill>
                  <a:srgbClr val="C00000"/>
                </a:solidFill>
              </a:rPr>
              <a:t>and</a:t>
            </a:r>
            <a:r>
              <a:rPr lang="en-US" altLang="en-US" dirty="0">
                <a:solidFill>
                  <a:srgbClr val="C00000"/>
                </a:solidFill>
              </a:rPr>
              <a:t> </a:t>
            </a:r>
            <a:r>
              <a:rPr lang="en-US" altLang="en-US" dirty="0">
                <a:solidFill>
                  <a:srgbClr val="C00000"/>
                </a:solidFill>
              </a:rPr>
              <a:t>negative</a:t>
            </a:r>
            <a:r>
              <a:rPr lang="en-US" altLang="en-US" dirty="0">
                <a:solidFill>
                  <a:srgbClr val="C00000"/>
                </a:solidFill>
              </a:rPr>
              <a:t> </a:t>
            </a:r>
            <a:r>
              <a:rPr lang="en-US" altLang="en-US" dirty="0">
                <a:solidFill>
                  <a:srgbClr val="C00000"/>
                </a:solidFill>
              </a:rPr>
              <a:t>returns</a:t>
            </a:r>
            <a:r>
              <a:rPr lang="en-US" altLang="en-US" dirty="0">
                <a:solidFill>
                  <a:srgbClr val="C00000"/>
                </a:solidFill>
              </a:rPr>
              <a:t> </a:t>
            </a:r>
            <a:r>
              <a:rPr lang="en-US" altLang="en-US" dirty="0">
                <a:solidFill>
                  <a:srgbClr val="C00000"/>
                </a:solidFill>
              </a:rPr>
              <a:t>scattered</a:t>
            </a:r>
            <a:r>
              <a:rPr lang="en-US" altLang="en-US" dirty="0">
                <a:solidFill>
                  <a:srgbClr val="C00000"/>
                </a:solidFill>
              </a:rPr>
              <a:t> </a:t>
            </a:r>
            <a:r>
              <a:rPr lang="en-US" altLang="en-US" dirty="0">
                <a:solidFill>
                  <a:srgbClr val="C00000"/>
                </a:solidFill>
              </a:rPr>
              <a:t>through</a:t>
            </a:r>
            <a:r>
              <a:rPr lang="en-US" altLang="en-US" dirty="0">
                <a:solidFill>
                  <a:srgbClr val="C00000"/>
                </a:solidFill>
              </a:rPr>
              <a:t> </a:t>
            </a:r>
            <a:r>
              <a:rPr lang="en-US" altLang="en-US" dirty="0">
                <a:solidFill>
                  <a:srgbClr val="C00000"/>
                </a:solidFill>
              </a:rPr>
              <a:t>time</a:t>
            </a:r>
            <a:r>
              <a:rPr lang="en-US" altLang="en-US" dirty="0"/>
              <a:t>.</a:t>
            </a:r>
            <a:endParaRPr lang="en-US" altLang="en-US" dirty="0"/>
          </a:p>
          <a:p>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ln>
            <a:solidFill>
              <a:schemeClr val="bg2"/>
            </a:solidFill>
          </a:ln>
        </p:spPr>
        <p:txBody>
          <a:bodyPr>
            <a:normAutofit fontScale="90000"/>
          </a:bodyPr>
          <a:lstStyle/>
          <a:p>
            <a:r>
              <a:rPr lang="en-US" altLang="zh-CN" dirty="0">
                <a:ea typeface="宋体" panose="02010600030101010101" pitchFamily="2" charset="-122"/>
              </a:rPr>
              <a:t>Unconventional Cash Flows</a:t>
            </a:r>
            <a:br>
              <a:rPr lang="en-US" altLang="zh-CN" dirty="0">
                <a:ea typeface="宋体" panose="02010600030101010101" pitchFamily="2" charset="-122"/>
              </a:rPr>
            </a:br>
            <a:r>
              <a:rPr lang="zh-CN" altLang="en-US" sz="4000" dirty="0">
                <a:latin typeface="黑体" panose="02010609060101010101" charset="-122"/>
                <a:ea typeface="黑体" panose="02010609060101010101" charset="-122"/>
              </a:rPr>
              <a:t>非常规现金流</a:t>
            </a:r>
            <a:endParaRPr lang="en-US" altLang="zh-CN" sz="4000" dirty="0">
              <a:latin typeface="黑体" panose="02010609060101010101" charset="-122"/>
              <a:ea typeface="黑体" panose="02010609060101010101" charset="-122"/>
            </a:endParaRPr>
          </a:p>
        </p:txBody>
      </p:sp>
      <p:sp>
        <p:nvSpPr>
          <p:cNvPr id="55299" name="Rectangle 3"/>
          <p:cNvSpPr>
            <a:spLocks noGrp="1" noChangeArrowheads="1"/>
          </p:cNvSpPr>
          <p:nvPr>
            <p:ph type="body" idx="1"/>
          </p:nvPr>
        </p:nvSpPr>
        <p:spPr/>
        <p:txBody>
          <a:bodyPr>
            <a:normAutofit fontScale="92500"/>
          </a:bodyPr>
          <a:lstStyle/>
          <a:p>
            <a:pPr algn="just">
              <a:buFont typeface="Wingdings" panose="05000000000000000000" pitchFamily="2" charset="2"/>
              <a:buChar char="l"/>
            </a:pPr>
            <a:r>
              <a:rPr lang="en-US" altLang="zh-CN" sz="2400" dirty="0">
                <a:solidFill>
                  <a:schemeClr val="tx2"/>
                </a:solidFill>
                <a:effectLst/>
                <a:ea typeface="宋体" panose="02010600030101010101" pitchFamily="2" charset="-122"/>
              </a:rPr>
              <a:t>Unconventional Cash Flows</a:t>
            </a:r>
            <a:r>
              <a:rPr lang="en-US" altLang="zh-CN" sz="2400" dirty="0">
                <a:effectLst/>
                <a:ea typeface="宋体" panose="02010600030101010101" pitchFamily="2" charset="-122"/>
              </a:rPr>
              <a:t>:</a:t>
            </a:r>
            <a:r>
              <a:rPr lang="en-US" altLang="zh-CN" sz="2400" b="0" dirty="0">
                <a:effectLst/>
                <a:ea typeface="宋体" panose="02010600030101010101" pitchFamily="2" charset="-122"/>
              </a:rPr>
              <a:t> </a:t>
            </a:r>
            <a:r>
              <a:rPr lang="en-US" altLang="zh-CN" sz="2400" dirty="0">
                <a:ea typeface="宋体" panose="02010600030101010101" pitchFamily="2" charset="-122"/>
              </a:rPr>
              <a:t>Cash flows come first and investment cost is paid later.  In this case, the cash flows are like those of a loan and the IRR is like a borrowing rate.  Thus, in this case a lower IRR is better than a higher IRR.</a:t>
            </a:r>
            <a:endParaRPr lang="en-US" altLang="zh-CN" sz="2400" dirty="0">
              <a:ea typeface="宋体" panose="02010600030101010101" pitchFamily="2" charset="-122"/>
            </a:endParaRPr>
          </a:p>
          <a:p>
            <a:pPr algn="just"/>
            <a:r>
              <a:rPr lang="en-US" altLang="zh-CN" sz="2400" dirty="0">
                <a:solidFill>
                  <a:schemeClr val="tx2"/>
                </a:solidFill>
                <a:effectLst/>
                <a:ea typeface="宋体" panose="02010600030101010101" pitchFamily="2" charset="-122"/>
              </a:rPr>
              <a:t>Multiple rates of return problem</a:t>
            </a:r>
            <a:r>
              <a:rPr lang="en-US" altLang="zh-CN" sz="2400" dirty="0">
                <a:effectLst/>
                <a:ea typeface="宋体" panose="02010600030101010101" pitchFamily="2" charset="-122"/>
              </a:rPr>
              <a:t>:</a:t>
            </a:r>
            <a:r>
              <a:rPr lang="en-US" altLang="zh-CN" sz="2400" b="0" dirty="0">
                <a:effectLst/>
                <a:ea typeface="宋体" panose="02010600030101010101" pitchFamily="2" charset="-122"/>
              </a:rPr>
              <a:t> </a:t>
            </a:r>
            <a:r>
              <a:rPr lang="en-US" altLang="zh-CN" sz="2400" dirty="0">
                <a:ea typeface="宋体" panose="02010600030101010101" pitchFamily="2" charset="-122"/>
              </a:rPr>
              <a:t>Multiple sign changes in the cash flows introduce the possibility that more than one discount rate makes the NPV of an investment project zero.</a:t>
            </a:r>
            <a:endParaRPr lang="en-US" altLang="zh-CN" sz="2400"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90600" y="381000"/>
            <a:ext cx="7010400" cy="889000"/>
          </a:xfrm>
          <a:ln>
            <a:solidFill>
              <a:schemeClr val="bg2"/>
            </a:solidFill>
          </a:ln>
        </p:spPr>
        <p:txBody>
          <a:bodyPr/>
          <a:lstStyle/>
          <a:p>
            <a:r>
              <a:rPr lang="en-US" altLang="zh-CN" sz="2800">
                <a:ea typeface="宋体" panose="02010600030101010101" pitchFamily="2" charset="-122"/>
              </a:rPr>
              <a:t>Example: Unconventional Cash Flows</a:t>
            </a:r>
            <a:endParaRPr lang="en-US" altLang="zh-CN">
              <a:ea typeface="宋体" panose="02010600030101010101" pitchFamily="2" charset="-122"/>
            </a:endParaRPr>
          </a:p>
        </p:txBody>
      </p:sp>
      <p:sp>
        <p:nvSpPr>
          <p:cNvPr id="56323" name="Rectangle 3"/>
          <p:cNvSpPr>
            <a:spLocks noGrp="1" noChangeArrowheads="1"/>
          </p:cNvSpPr>
          <p:nvPr>
            <p:ph type="body" idx="1"/>
          </p:nvPr>
        </p:nvSpPr>
        <p:spPr>
          <a:xfrm>
            <a:off x="685800" y="1371600"/>
            <a:ext cx="7772400" cy="5181600"/>
          </a:xfrm>
        </p:spPr>
        <p:txBody>
          <a:bodyPr>
            <a:normAutofit fontScale="77500" lnSpcReduction="20000"/>
          </a:bodyPr>
          <a:lstStyle/>
          <a:p>
            <a:pPr algn="just"/>
            <a:r>
              <a:rPr lang="en-US" altLang="zh-CN" sz="2000" dirty="0">
                <a:ea typeface="宋体" panose="02010600030101010101" pitchFamily="2" charset="-122"/>
              </a:rPr>
              <a:t>Example:  A strip-mining project requires an initial investment of $60.  The cash flow in the first year is $155.  In the second year, the mine is depleted, but the firm has to spend $100 to restore the land. </a:t>
            </a:r>
            <a:endParaRPr lang="en-US" altLang="zh-CN" sz="2000" dirty="0">
              <a:ea typeface="宋体" panose="02010600030101010101" pitchFamily="2" charset="-122"/>
            </a:endParaRPr>
          </a:p>
          <a:p>
            <a:pPr algn="just"/>
            <a:r>
              <a:rPr lang="en-US" altLang="zh-CN" sz="2000" dirty="0">
                <a:ea typeface="宋体" panose="02010600030101010101" pitchFamily="2" charset="-122"/>
              </a:rPr>
              <a:t>$60 = 155/(1 + IRR) – 100/(1 + IRR)</a:t>
            </a:r>
            <a:r>
              <a:rPr lang="en-US" altLang="zh-CN" sz="2000" baseline="30000" dirty="0">
                <a:ea typeface="宋体" panose="02010600030101010101" pitchFamily="2" charset="-122"/>
              </a:rPr>
              <a:t>2</a:t>
            </a:r>
            <a:endParaRPr lang="en-US" altLang="zh-CN" sz="2000" dirty="0">
              <a:ea typeface="宋体" panose="02010600030101010101" pitchFamily="2" charset="-122"/>
            </a:endParaRPr>
          </a:p>
          <a:p>
            <a:pPr algn="just">
              <a:buFont typeface="Wingdings" panose="05000000000000000000" pitchFamily="2" charset="2"/>
              <a:buNone/>
            </a:pPr>
            <a:endParaRPr lang="en-US" altLang="zh-CN" sz="1600" u="sng" dirty="0">
              <a:ea typeface="宋体" panose="02010600030101010101" pitchFamily="2" charset="-122"/>
            </a:endParaRPr>
          </a:p>
          <a:p>
            <a:pPr algn="just">
              <a:buFont typeface="Wingdings" panose="05000000000000000000" pitchFamily="2" charset="2"/>
              <a:buNone/>
            </a:pPr>
            <a:r>
              <a:rPr lang="en-US" altLang="zh-CN" sz="1600" u="sng" dirty="0">
                <a:ea typeface="宋体" panose="02010600030101010101" pitchFamily="2" charset="-122"/>
              </a:rPr>
              <a:t>		Discount Rate (IRR)</a:t>
            </a:r>
            <a:r>
              <a:rPr lang="en-US" altLang="zh-CN" sz="1600" dirty="0">
                <a:ea typeface="宋体" panose="02010600030101010101" pitchFamily="2" charset="-122"/>
              </a:rPr>
              <a:t>		    </a:t>
            </a:r>
            <a:r>
              <a:rPr lang="en-US" altLang="zh-CN" sz="1600" u="sng" dirty="0">
                <a:ea typeface="宋体" panose="02010600030101010101" pitchFamily="2" charset="-122"/>
              </a:rPr>
              <a:t>NPV</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0.0%				 – $5.00</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10.00				 –  1.74		</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20.00				 –  0.28</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25.00		 	  	     0.00</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30.00			  	     0.06</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33.33			  	     0.00</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40.00			 	 –  0.31</a:t>
            </a:r>
            <a:endParaRPr lang="en-US" altLang="zh-CN" sz="1600" dirty="0">
              <a:ea typeface="宋体" panose="02010600030101010101" pitchFamily="2" charset="-122"/>
            </a:endParaRPr>
          </a:p>
          <a:p>
            <a:pPr algn="just">
              <a:buFont typeface="Wingdings" panose="05000000000000000000" pitchFamily="2" charset="2"/>
              <a:buNone/>
            </a:pPr>
            <a:endParaRPr lang="en-US" altLang="zh-CN" sz="1600" dirty="0">
              <a:ea typeface="宋体" panose="02010600030101010101" pitchFamily="2" charset="-122"/>
            </a:endParaRPr>
          </a:p>
          <a:p>
            <a:pPr algn="just"/>
            <a:r>
              <a:rPr lang="en-US" altLang="zh-CN" sz="2000" dirty="0">
                <a:ea typeface="宋体" panose="02010600030101010101" pitchFamily="2" charset="-122"/>
              </a:rPr>
              <a:t>Generally, the number of possible IRRs is equal to the number of changes in the sign of the cash flows.</a:t>
            </a:r>
            <a:endParaRPr lang="en-US" altLang="zh-CN" sz="2000" dirty="0">
              <a:ea typeface="宋体" panose="02010600030101010101" pitchFamily="2" charset="-122"/>
            </a:endParaRPr>
          </a:p>
          <a:p>
            <a:endParaRPr lang="en-US" altLang="zh-CN" dirty="0">
              <a:ea typeface="宋体" panose="02010600030101010101" pitchFamily="2" charset="-122"/>
            </a:endParaRPr>
          </a:p>
        </p:txBody>
      </p:sp>
      <p:sp>
        <p:nvSpPr>
          <p:cNvPr id="56324" name="Line 4"/>
          <p:cNvSpPr>
            <a:spLocks noChangeShapeType="1"/>
          </p:cNvSpPr>
          <p:nvPr/>
        </p:nvSpPr>
        <p:spPr bwMode="auto">
          <a:xfrm flipH="1">
            <a:off x="5940152" y="4293096"/>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6325" name="Line 5"/>
          <p:cNvSpPr>
            <a:spLocks noChangeShapeType="1"/>
          </p:cNvSpPr>
          <p:nvPr/>
        </p:nvSpPr>
        <p:spPr bwMode="auto">
          <a:xfrm flipH="1">
            <a:off x="5940152" y="486916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计算前面两个例子的</a:t>
            </a:r>
            <a:r>
              <a:rPr lang="en-US" altLang="zh-CN" dirty="0"/>
              <a:t>IRR</a:t>
            </a:r>
            <a:endParaRPr lang="zh-CN" altLang="en-US" dirty="0"/>
          </a:p>
        </p:txBody>
      </p:sp>
      <p:sp>
        <p:nvSpPr>
          <p:cNvPr id="3" name="内容占位符 2"/>
          <p:cNvSpPr>
            <a:spLocks noGrp="1"/>
          </p:cNvSpPr>
          <p:nvPr>
            <p:ph sz="half" idx="1"/>
          </p:nvPr>
        </p:nvSpPr>
        <p:spPr/>
        <p:txBody>
          <a:bodyPr>
            <a:normAutofit lnSpcReduction="10000"/>
          </a:bodyPr>
          <a:lstStyle/>
          <a:p>
            <a:r>
              <a:rPr lang="zh-CN" altLang="en-US" dirty="0"/>
              <a:t>人工造林</a:t>
            </a:r>
            <a:endParaRPr lang="en-US" altLang="zh-CN" dirty="0"/>
          </a:p>
          <a:p>
            <a:r>
              <a:rPr lang="en-US" altLang="zh-CN" dirty="0"/>
              <a:t>V</a:t>
            </a:r>
            <a:r>
              <a:rPr lang="en-US" altLang="zh-CN" baseline="-25000" dirty="0"/>
              <a:t>0 </a:t>
            </a:r>
            <a:r>
              <a:rPr lang="en-US" altLang="zh-CN" dirty="0"/>
              <a:t>=</a:t>
            </a:r>
            <a:r>
              <a:rPr lang="zh-CN" altLang="en-US" dirty="0"/>
              <a:t>（</a:t>
            </a:r>
            <a:r>
              <a:rPr lang="en-US" altLang="zh-CN" dirty="0"/>
              <a:t>40</a:t>
            </a:r>
            <a:r>
              <a:rPr lang="zh-CN" altLang="en-US" dirty="0"/>
              <a:t>*</a:t>
            </a:r>
            <a:r>
              <a:rPr lang="en-US" altLang="zh-CN" dirty="0">
                <a:solidFill>
                  <a:schemeClr val="accent5">
                    <a:lumMod val="50000"/>
                  </a:schemeClr>
                </a:solidFill>
              </a:rPr>
              <a:t>475</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1+IRR</a:t>
            </a:r>
            <a:r>
              <a:rPr lang="zh-CN" altLang="en-US" dirty="0"/>
              <a:t>）</a:t>
            </a:r>
            <a:r>
              <a:rPr lang="en-US" altLang="zh-CN" dirty="0"/>
              <a:t>^55-</a:t>
            </a:r>
            <a:r>
              <a:rPr lang="zh-CN" altLang="en-US" dirty="0"/>
              <a:t>（</a:t>
            </a:r>
            <a:r>
              <a:rPr lang="en-US" altLang="zh-CN" dirty="0"/>
              <a:t>40</a:t>
            </a:r>
            <a:r>
              <a:rPr lang="zh-CN" altLang="en-US" dirty="0"/>
              <a:t>*</a:t>
            </a:r>
            <a:r>
              <a:rPr lang="en-US" altLang="zh-CN" dirty="0">
                <a:solidFill>
                  <a:schemeClr val="accent5">
                    <a:lumMod val="50000"/>
                  </a:schemeClr>
                </a:solidFill>
              </a:rPr>
              <a:t>375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1+IRR</a:t>
            </a:r>
            <a:r>
              <a:rPr lang="zh-CN" altLang="en-US" dirty="0"/>
              <a:t>）</a:t>
            </a:r>
            <a:r>
              <a:rPr lang="en-US" altLang="zh-CN" dirty="0"/>
              <a:t>^55-</a:t>
            </a:r>
            <a:r>
              <a:rPr lang="zh-CN" altLang="en-US" dirty="0"/>
              <a:t>（</a:t>
            </a:r>
            <a:r>
              <a:rPr lang="en-US" altLang="zh-CN" dirty="0"/>
              <a:t>40</a:t>
            </a:r>
            <a:r>
              <a:rPr lang="zh-CN" altLang="en-US" dirty="0"/>
              <a:t>*</a:t>
            </a:r>
            <a:r>
              <a:rPr lang="en-US" altLang="zh-CN" dirty="0"/>
              <a:t>400</a:t>
            </a:r>
            <a:r>
              <a:rPr lang="zh-CN" altLang="en-US" dirty="0"/>
              <a:t>）</a:t>
            </a:r>
            <a:r>
              <a:rPr lang="en-US" altLang="zh-CN" dirty="0"/>
              <a:t>=0</a:t>
            </a:r>
            <a:endParaRPr lang="en-US" altLang="zh-CN" dirty="0"/>
          </a:p>
          <a:p>
            <a:r>
              <a:rPr lang="en-US" altLang="zh-CN" dirty="0"/>
              <a:t>IRR=5.12%</a:t>
            </a:r>
            <a:endParaRPr lang="en-US" altLang="zh-CN" dirty="0"/>
          </a:p>
          <a:p>
            <a:endParaRPr lang="en-US" altLang="zh-CN" dirty="0"/>
          </a:p>
          <a:p>
            <a:endParaRPr lang="en-US" altLang="zh-CN" dirty="0"/>
          </a:p>
        </p:txBody>
      </p:sp>
      <p:sp>
        <p:nvSpPr>
          <p:cNvPr id="4" name="内容占位符 3"/>
          <p:cNvSpPr>
            <a:spLocks noGrp="1"/>
          </p:cNvSpPr>
          <p:nvPr>
            <p:ph sz="half" idx="2"/>
          </p:nvPr>
        </p:nvSpPr>
        <p:spPr/>
        <p:txBody>
          <a:bodyPr>
            <a:noAutofit/>
          </a:bodyPr>
          <a:lstStyle/>
          <a:p>
            <a:r>
              <a:rPr lang="zh-CN" altLang="en-US" dirty="0"/>
              <a:t>间伐</a:t>
            </a:r>
            <a:endParaRPr lang="en-US" altLang="zh-CN" dirty="0"/>
          </a:p>
          <a:p>
            <a:r>
              <a:rPr lang="zh-CN" altLang="en-US" dirty="0"/>
              <a:t>（</a:t>
            </a:r>
            <a:r>
              <a:rPr lang="en-US" altLang="zh-CN" dirty="0"/>
              <a:t>60</a:t>
            </a:r>
            <a:r>
              <a:rPr lang="zh-CN" altLang="en-US" dirty="0"/>
              <a:t>*</a:t>
            </a:r>
            <a:r>
              <a:rPr lang="en-US" altLang="zh-CN" dirty="0">
                <a:solidFill>
                  <a:schemeClr val="accent5">
                    <a:lumMod val="50000"/>
                  </a:schemeClr>
                </a:solidFill>
              </a:rPr>
              <a:t>550</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60</a:t>
            </a:r>
            <a:r>
              <a:rPr lang="zh-CN" altLang="en-US" dirty="0"/>
              <a:t>*</a:t>
            </a:r>
            <a:r>
              <a:rPr lang="en-US" altLang="zh-CN" dirty="0">
                <a:solidFill>
                  <a:schemeClr val="accent5">
                    <a:lumMod val="50000"/>
                  </a:schemeClr>
                </a:solidFill>
              </a:rPr>
              <a:t>425</a:t>
            </a:r>
            <a:r>
              <a:rPr lang="zh-CN" altLang="en-US" dirty="0"/>
              <a:t>*</a:t>
            </a:r>
            <a:r>
              <a:rPr lang="en-US" altLang="zh-CN" dirty="0">
                <a:solidFill>
                  <a:srgbClr val="CC66FF"/>
                </a:solidFill>
              </a:rPr>
              <a:t>15</a:t>
            </a:r>
            <a:r>
              <a:rPr lang="zh-CN" altLang="en-US" dirty="0"/>
              <a:t>）    </a:t>
            </a:r>
            <a:r>
              <a:rPr lang="en-US" altLang="zh-CN" dirty="0"/>
              <a:t>=</a:t>
            </a:r>
            <a:r>
              <a:rPr lang="zh-CN" altLang="en-US" dirty="0"/>
              <a:t>（</a:t>
            </a:r>
            <a:r>
              <a:rPr lang="en-US" altLang="zh-CN" dirty="0"/>
              <a:t>60</a:t>
            </a:r>
            <a:r>
              <a:rPr lang="zh-CN" altLang="en-US" dirty="0"/>
              <a:t>*</a:t>
            </a:r>
            <a:r>
              <a:rPr lang="en-US" altLang="zh-CN" dirty="0"/>
              <a:t>550</a:t>
            </a:r>
            <a:r>
              <a:rPr lang="zh-CN" altLang="en-US" dirty="0"/>
              <a:t>）*（</a:t>
            </a:r>
            <a:r>
              <a:rPr lang="en-US" altLang="zh-CN" dirty="0"/>
              <a:t> 1+IRR </a:t>
            </a:r>
            <a:r>
              <a:rPr lang="zh-CN" altLang="en-US" dirty="0"/>
              <a:t>）</a:t>
            </a:r>
            <a:r>
              <a:rPr lang="en-US" altLang="zh-CN" dirty="0"/>
              <a:t>^50</a:t>
            </a:r>
            <a:endParaRPr lang="en-US" altLang="zh-CN" dirty="0"/>
          </a:p>
          <a:p>
            <a:r>
              <a:rPr lang="en-US" altLang="zh-CN" dirty="0"/>
              <a:t>IRR=5.36%</a:t>
            </a:r>
            <a:endParaRPr lang="en-US" altLang="zh-CN" dirty="0"/>
          </a:p>
          <a:p>
            <a:r>
              <a:rPr lang="zh-CN" altLang="en-US" sz="2000" dirty="0">
                <a:solidFill>
                  <a:srgbClr val="FF6699"/>
                </a:solidFill>
                <a:hlinkClick r:id="rId1" action="ppaction://hlinksldjump"/>
              </a:rPr>
              <a:t>略大于造林项目</a:t>
            </a:r>
            <a:endParaRPr lang="zh-CN" altLang="en-US" sz="2000" dirty="0">
              <a:solidFill>
                <a:srgbClr val="FF6699"/>
              </a:solidFill>
            </a:endParaRPr>
          </a:p>
        </p:txBody>
      </p:sp>
      <p:sp>
        <p:nvSpPr>
          <p:cNvPr id="5" name="TextBox 4"/>
          <p:cNvSpPr txBox="1"/>
          <p:nvPr/>
        </p:nvSpPr>
        <p:spPr>
          <a:xfrm>
            <a:off x="7524621" y="3645024"/>
            <a:ext cx="108012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间伐初始成本的终值</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TextBox 5"/>
          <p:cNvSpPr txBox="1"/>
          <p:nvPr/>
        </p:nvSpPr>
        <p:spPr>
          <a:xfrm>
            <a:off x="5724128" y="1988840"/>
            <a:ext cx="22621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间伐带来的最终收益</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5147771" y="2358172"/>
            <a:ext cx="2520573" cy="1214844"/>
          </a:xfrm>
          <a:prstGeom prst="rect">
            <a:avLst/>
          </a:prstGeom>
          <a:noFill/>
          <a:ln>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5139142" y="3717032"/>
            <a:ext cx="2385480" cy="1080120"/>
          </a:xfrm>
          <a:prstGeom prst="rect">
            <a:avLst/>
          </a:prstGeom>
          <a:noFill/>
          <a:ln>
            <a:solidFill>
              <a:srgbClr val="CC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案例三：</a:t>
            </a:r>
            <a:endParaRPr lang="zh-CN" altLang="en-US" dirty="0"/>
          </a:p>
        </p:txBody>
      </p:sp>
      <p:sp>
        <p:nvSpPr>
          <p:cNvPr id="3" name="内容占位符 2"/>
          <p:cNvSpPr>
            <a:spLocks noGrp="1"/>
          </p:cNvSpPr>
          <p:nvPr>
            <p:ph idx="1"/>
          </p:nvPr>
        </p:nvSpPr>
        <p:spPr>
          <a:xfrm>
            <a:off x="323528" y="1772816"/>
            <a:ext cx="4237321" cy="4608512"/>
          </a:xfrm>
        </p:spPr>
        <p:txBody>
          <a:bodyPr>
            <a:normAutofit fontScale="70000" lnSpcReduction="20000"/>
          </a:bodyPr>
          <a:lstStyle/>
          <a:p>
            <a:r>
              <a:rPr lang="en-US" altLang="zh-CN" dirty="0"/>
              <a:t>100</a:t>
            </a:r>
            <a:r>
              <a:rPr lang="zh-CN" altLang="en-US" dirty="0"/>
              <a:t>公顷森林，</a:t>
            </a:r>
            <a:r>
              <a:rPr lang="en-US" altLang="zh-CN" dirty="0"/>
              <a:t>15</a:t>
            </a:r>
            <a:r>
              <a:rPr lang="zh-CN" altLang="en-US" dirty="0"/>
              <a:t>年后可收获</a:t>
            </a:r>
            <a:r>
              <a:rPr lang="en-US" altLang="zh-CN" dirty="0"/>
              <a:t>350</a:t>
            </a:r>
            <a:r>
              <a:rPr lang="zh-CN" altLang="en-US" dirty="0"/>
              <a:t>立方米木材，每立方米价值</a:t>
            </a:r>
            <a:r>
              <a:rPr lang="en-US" altLang="zh-CN" dirty="0"/>
              <a:t>15</a:t>
            </a:r>
            <a:r>
              <a:rPr lang="zh-CN" altLang="en-US" dirty="0"/>
              <a:t>元</a:t>
            </a:r>
            <a:endParaRPr lang="en-US" altLang="zh-CN" dirty="0"/>
          </a:p>
          <a:p>
            <a:r>
              <a:rPr lang="zh-CN" altLang="en-US" dirty="0"/>
              <a:t>一种虫害可能导致</a:t>
            </a:r>
            <a:r>
              <a:rPr lang="en-US" altLang="zh-CN" dirty="0"/>
              <a:t>25%</a:t>
            </a:r>
            <a:r>
              <a:rPr lang="zh-CN" altLang="en-US" dirty="0"/>
              <a:t>的木材损失，喷洒农药的成本是每公顷</a:t>
            </a:r>
            <a:r>
              <a:rPr lang="en-US" altLang="zh-CN" dirty="0"/>
              <a:t>350</a:t>
            </a:r>
            <a:r>
              <a:rPr lang="zh-CN" altLang="en-US" dirty="0"/>
              <a:t>元</a:t>
            </a:r>
            <a:endParaRPr lang="en-US" altLang="zh-CN" dirty="0"/>
          </a:p>
          <a:p>
            <a:r>
              <a:rPr lang="zh-CN" altLang="en-US" dirty="0"/>
              <a:t>贴现率</a:t>
            </a:r>
            <a:r>
              <a:rPr lang="en-US" altLang="zh-CN" dirty="0"/>
              <a:t>3%</a:t>
            </a:r>
            <a:r>
              <a:rPr lang="zh-CN" altLang="en-US" dirty="0"/>
              <a:t>，求虫害控制的净收益、收益</a:t>
            </a:r>
            <a:r>
              <a:rPr lang="en-US" altLang="zh-CN" dirty="0"/>
              <a:t>/</a:t>
            </a:r>
            <a:r>
              <a:rPr lang="zh-CN" altLang="en-US" dirty="0"/>
              <a:t>成本率以及内部收益率</a:t>
            </a:r>
            <a:endParaRPr lang="zh-CN" altLang="en-US" dirty="0"/>
          </a:p>
        </p:txBody>
      </p:sp>
      <p:sp>
        <p:nvSpPr>
          <p:cNvPr id="4" name="内容占位符 2"/>
          <p:cNvSpPr txBox="1"/>
          <p:nvPr/>
        </p:nvSpPr>
        <p:spPr>
          <a:xfrm>
            <a:off x="4579200" y="1772816"/>
            <a:ext cx="4237321" cy="4608512"/>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dirty="0"/>
              <a:t>A</a:t>
            </a:r>
            <a:r>
              <a:rPr lang="en-US" altLang="en-US" dirty="0"/>
              <a:t> </a:t>
            </a:r>
            <a:r>
              <a:rPr lang="en-US" altLang="en-US" dirty="0"/>
              <a:t>100-hectare</a:t>
            </a:r>
            <a:r>
              <a:rPr lang="en-US" altLang="en-US" dirty="0"/>
              <a:t> </a:t>
            </a:r>
            <a:r>
              <a:rPr lang="en-US" altLang="en-US" dirty="0"/>
              <a:t>tract</a:t>
            </a:r>
            <a:r>
              <a:rPr lang="en-US" altLang="en-US" dirty="0"/>
              <a:t> </a:t>
            </a:r>
            <a:r>
              <a:rPr lang="en-US" altLang="en-US" dirty="0"/>
              <a:t>of</a:t>
            </a:r>
            <a:r>
              <a:rPr lang="en-US" altLang="en-US" dirty="0"/>
              <a:t> </a:t>
            </a:r>
            <a:r>
              <a:rPr lang="en-US" altLang="en-US" dirty="0"/>
              <a:t>forest</a:t>
            </a:r>
            <a:r>
              <a:rPr lang="en-US" altLang="en-US" dirty="0"/>
              <a:t> </a:t>
            </a:r>
            <a:r>
              <a:rPr lang="en-US" altLang="en-US" dirty="0"/>
              <a:t>scheduled</a:t>
            </a:r>
            <a:r>
              <a:rPr lang="en-US" altLang="en-US" dirty="0"/>
              <a:t> </a:t>
            </a:r>
            <a:r>
              <a:rPr lang="en-US" altLang="en-US" dirty="0"/>
              <a:t>for</a:t>
            </a:r>
            <a:r>
              <a:rPr lang="en-US" altLang="en-US" dirty="0"/>
              <a:t> </a:t>
            </a:r>
            <a:r>
              <a:rPr lang="en-US" altLang="en-US" dirty="0"/>
              <a:t>harvest</a:t>
            </a:r>
            <a:r>
              <a:rPr lang="en-US" altLang="en-US" dirty="0"/>
              <a:t> </a:t>
            </a:r>
            <a:r>
              <a:rPr lang="en-US" altLang="en-US" dirty="0"/>
              <a:t>in</a:t>
            </a:r>
            <a:r>
              <a:rPr lang="en-US" altLang="en-US" dirty="0"/>
              <a:t> </a:t>
            </a:r>
            <a:r>
              <a:rPr lang="en-US" altLang="en-US" dirty="0"/>
              <a:t>15</a:t>
            </a:r>
            <a:r>
              <a:rPr lang="en-US" altLang="en-US" dirty="0"/>
              <a:t> </a:t>
            </a:r>
            <a:r>
              <a:rPr lang="en-US" altLang="en-US" dirty="0"/>
              <a:t>years,</a:t>
            </a:r>
            <a:r>
              <a:rPr lang="en-US" altLang="en-US" dirty="0"/>
              <a:t> </a:t>
            </a:r>
            <a:r>
              <a:rPr lang="en-US" altLang="en-US" dirty="0"/>
              <a:t>with</a:t>
            </a:r>
            <a:r>
              <a:rPr lang="en-US" altLang="en-US" dirty="0"/>
              <a:t> </a:t>
            </a:r>
            <a:r>
              <a:rPr lang="en-US" altLang="en-US" dirty="0"/>
              <a:t>an</a:t>
            </a:r>
            <a:r>
              <a:rPr lang="en-US" altLang="en-US" dirty="0"/>
              <a:t> </a:t>
            </a:r>
            <a:r>
              <a:rPr lang="en-US" altLang="en-US" dirty="0"/>
              <a:t>expected</a:t>
            </a:r>
            <a:r>
              <a:rPr lang="en-US" altLang="en-US" dirty="0"/>
              <a:t> </a:t>
            </a:r>
            <a:r>
              <a:rPr lang="en-US" altLang="en-US" dirty="0"/>
              <a:t>yield</a:t>
            </a:r>
            <a:r>
              <a:rPr lang="en-US" altLang="en-US" dirty="0"/>
              <a:t> </a:t>
            </a:r>
            <a:r>
              <a:rPr lang="en-US" altLang="en-US" dirty="0"/>
              <a:t>of</a:t>
            </a:r>
            <a:r>
              <a:rPr lang="en-US" altLang="en-US" dirty="0"/>
              <a:t> </a:t>
            </a:r>
            <a:r>
              <a:rPr lang="en-US" altLang="en-US" dirty="0"/>
              <a:t>350</a:t>
            </a:r>
            <a:r>
              <a:rPr lang="en-US" altLang="en-US" dirty="0"/>
              <a:t> </a:t>
            </a:r>
            <a:r>
              <a:rPr lang="en-US" altLang="en-US" dirty="0"/>
              <a:t>cubic</a:t>
            </a:r>
            <a:r>
              <a:rPr lang="en-US" altLang="en-US" dirty="0"/>
              <a:t> </a:t>
            </a:r>
            <a:r>
              <a:rPr lang="en-US" altLang="en-US" dirty="0"/>
              <a:t>metres</a:t>
            </a:r>
            <a:r>
              <a:rPr lang="en-US" altLang="en-US" dirty="0"/>
              <a:t> </a:t>
            </a:r>
            <a:r>
              <a:rPr lang="en-US" altLang="en-US" dirty="0"/>
              <a:t>worth</a:t>
            </a:r>
            <a:r>
              <a:rPr lang="en-US" altLang="en-US" dirty="0"/>
              <a:t> </a:t>
            </a:r>
            <a:r>
              <a:rPr lang="en-US" altLang="en-US" dirty="0"/>
              <a:t>¥15</a:t>
            </a:r>
            <a:r>
              <a:rPr lang="en-US" altLang="en-US" dirty="0"/>
              <a:t> </a:t>
            </a:r>
            <a:r>
              <a:rPr lang="en-US" altLang="en-US" dirty="0"/>
              <a:t>per</a:t>
            </a:r>
            <a:r>
              <a:rPr lang="en-US" altLang="en-US" dirty="0"/>
              <a:t> </a:t>
            </a:r>
            <a:r>
              <a:rPr lang="en-US" altLang="en-US" dirty="0"/>
              <a:t>cubic</a:t>
            </a:r>
            <a:r>
              <a:rPr lang="en-US" altLang="en-US" dirty="0"/>
              <a:t> </a:t>
            </a:r>
            <a:r>
              <a:rPr lang="en-US" altLang="en-US" dirty="0"/>
              <a:t>metre,</a:t>
            </a:r>
            <a:r>
              <a:rPr lang="en-US" altLang="en-US" dirty="0"/>
              <a:t> </a:t>
            </a:r>
            <a:r>
              <a:rPr lang="en-US" altLang="en-US" dirty="0"/>
              <a:t>and</a:t>
            </a:r>
            <a:r>
              <a:rPr lang="en-US" altLang="en-US" dirty="0"/>
              <a:t> </a:t>
            </a:r>
            <a:r>
              <a:rPr lang="en-US" altLang="en-US" dirty="0"/>
              <a:t>an</a:t>
            </a:r>
            <a:r>
              <a:rPr lang="en-US" altLang="en-US" dirty="0"/>
              <a:t> </a:t>
            </a:r>
            <a:r>
              <a:rPr lang="en-US" altLang="en-US" dirty="0"/>
              <a:t>insect</a:t>
            </a:r>
            <a:r>
              <a:rPr lang="en-US" altLang="en-US" dirty="0"/>
              <a:t> </a:t>
            </a:r>
            <a:r>
              <a:rPr lang="en-US" altLang="en-US" dirty="0"/>
              <a:t>infestation</a:t>
            </a:r>
            <a:r>
              <a:rPr lang="en-US" altLang="en-US" dirty="0"/>
              <a:t> </a:t>
            </a:r>
            <a:r>
              <a:rPr lang="en-US" altLang="en-US" dirty="0"/>
              <a:t>threat</a:t>
            </a:r>
            <a:r>
              <a:rPr lang="en-US" altLang="en-US" dirty="0"/>
              <a:t> </a:t>
            </a:r>
            <a:r>
              <a:rPr lang="en-US" altLang="en-US" dirty="0"/>
              <a:t>that</a:t>
            </a:r>
            <a:r>
              <a:rPr lang="en-US" altLang="en-US" dirty="0"/>
              <a:t> </a:t>
            </a:r>
            <a:r>
              <a:rPr lang="en-US" altLang="en-US" dirty="0"/>
              <a:t>can</a:t>
            </a:r>
            <a:r>
              <a:rPr lang="en-US" altLang="en-US" dirty="0"/>
              <a:t> </a:t>
            </a:r>
            <a:r>
              <a:rPr lang="en-US" altLang="en-US" dirty="0"/>
              <a:t>destroy</a:t>
            </a:r>
            <a:r>
              <a:rPr lang="en-US" altLang="en-US" dirty="0"/>
              <a:t> </a:t>
            </a:r>
            <a:r>
              <a:rPr lang="en-US" altLang="en-US" dirty="0"/>
              <a:t>25%</a:t>
            </a:r>
            <a:r>
              <a:rPr lang="en-US" altLang="en-US" dirty="0"/>
              <a:t> </a:t>
            </a:r>
            <a:r>
              <a:rPr lang="en-US" altLang="en-US" dirty="0"/>
              <a:t>of</a:t>
            </a:r>
            <a:r>
              <a:rPr lang="en-US" altLang="en-US" dirty="0"/>
              <a:t> </a:t>
            </a:r>
            <a:r>
              <a:rPr lang="en-US" altLang="en-US" dirty="0"/>
              <a:t>the</a:t>
            </a:r>
            <a:r>
              <a:rPr lang="en-US" altLang="en-US" dirty="0"/>
              <a:t> </a:t>
            </a:r>
            <a:r>
              <a:rPr lang="en-US" altLang="en-US" dirty="0"/>
              <a:t>timber</a:t>
            </a:r>
            <a:r>
              <a:rPr lang="en-US" altLang="en-US" dirty="0"/>
              <a:t> </a:t>
            </a:r>
            <a:r>
              <a:rPr lang="en-US" altLang="en-US" dirty="0"/>
              <a:t>unless</a:t>
            </a:r>
            <a:r>
              <a:rPr lang="en-US" altLang="en-US" dirty="0"/>
              <a:t> </a:t>
            </a:r>
            <a:r>
              <a:rPr lang="en-US" altLang="en-US" dirty="0"/>
              <a:t>control</a:t>
            </a:r>
            <a:r>
              <a:rPr lang="en-US" altLang="en-US" dirty="0"/>
              <a:t> </a:t>
            </a:r>
            <a:r>
              <a:rPr lang="en-US" altLang="en-US" dirty="0"/>
              <a:t>measures</a:t>
            </a:r>
            <a:r>
              <a:rPr lang="en-US" altLang="en-US" dirty="0"/>
              <a:t> </a:t>
            </a:r>
            <a:r>
              <a:rPr lang="en-US" altLang="en-US" dirty="0"/>
              <a:t>are</a:t>
            </a:r>
            <a:r>
              <a:rPr lang="en-US" altLang="en-US" dirty="0"/>
              <a:t> </a:t>
            </a:r>
            <a:r>
              <a:rPr lang="en-US" altLang="en-US" dirty="0"/>
              <a:t>undertaken</a:t>
            </a:r>
            <a:r>
              <a:rPr lang="en-US" altLang="en-US" dirty="0"/>
              <a:t> </a:t>
            </a:r>
            <a:r>
              <a:rPr lang="en-US" altLang="en-US" dirty="0"/>
              <a:t>immediately.</a:t>
            </a:r>
            <a:r>
              <a:rPr lang="en-US" altLang="en-US" dirty="0"/>
              <a:t> </a:t>
            </a:r>
            <a:r>
              <a:rPr lang="en-US" altLang="en-US" dirty="0"/>
              <a:t>The</a:t>
            </a:r>
            <a:r>
              <a:rPr lang="en-US" altLang="en-US" dirty="0"/>
              <a:t> </a:t>
            </a:r>
            <a:r>
              <a:rPr lang="en-US" altLang="en-US" dirty="0"/>
              <a:t>cost</a:t>
            </a:r>
            <a:r>
              <a:rPr lang="en-US" altLang="en-US" dirty="0"/>
              <a:t> </a:t>
            </a:r>
            <a:r>
              <a:rPr lang="en-US" altLang="en-US" dirty="0"/>
              <a:t>of</a:t>
            </a:r>
            <a:r>
              <a:rPr lang="en-US" altLang="en-US" dirty="0"/>
              <a:t> </a:t>
            </a:r>
            <a:r>
              <a:rPr lang="en-US" altLang="en-US" dirty="0"/>
              <a:t>spraying</a:t>
            </a:r>
            <a:r>
              <a:rPr lang="en-US" altLang="en-US" dirty="0"/>
              <a:t> </a:t>
            </a:r>
            <a:r>
              <a:rPr lang="en-US" altLang="en-US" dirty="0"/>
              <a:t>is</a:t>
            </a:r>
            <a:r>
              <a:rPr lang="en-US" altLang="en-US" dirty="0"/>
              <a:t> </a:t>
            </a:r>
            <a:r>
              <a:rPr lang="en-US" altLang="en-US" dirty="0"/>
              <a:t>¥350</a:t>
            </a:r>
            <a:r>
              <a:rPr lang="en-US" altLang="en-US" dirty="0"/>
              <a:t> </a:t>
            </a:r>
            <a:r>
              <a:rPr lang="en-US" altLang="en-US" dirty="0"/>
              <a:t>per</a:t>
            </a:r>
            <a:r>
              <a:rPr lang="en-US" altLang="en-US" dirty="0"/>
              <a:t> </a:t>
            </a:r>
            <a:r>
              <a:rPr lang="en-US" altLang="en-US" dirty="0"/>
              <a:t>hectare.</a:t>
            </a:r>
            <a:endParaRPr lang="en-US" altLang="en-US" dirty="0"/>
          </a:p>
          <a:p>
            <a:r>
              <a:rPr lang="en-US" altLang="en-US" dirty="0"/>
              <a:t>At</a:t>
            </a:r>
            <a:r>
              <a:rPr lang="en-US" altLang="en-US" dirty="0"/>
              <a:t> </a:t>
            </a:r>
            <a:r>
              <a:rPr lang="en-US" altLang="en-US" dirty="0"/>
              <a:t>a</a:t>
            </a:r>
            <a:r>
              <a:rPr lang="en-US" altLang="en-US" dirty="0"/>
              <a:t> </a:t>
            </a:r>
            <a:r>
              <a:rPr lang="en-US" altLang="en-US" dirty="0"/>
              <a:t>discount</a:t>
            </a:r>
            <a:r>
              <a:rPr lang="en-US" altLang="en-US" dirty="0"/>
              <a:t> </a:t>
            </a:r>
            <a:r>
              <a:rPr lang="en-US" altLang="en-US" dirty="0"/>
              <a:t>rate</a:t>
            </a:r>
            <a:r>
              <a:rPr lang="en-US" altLang="en-US" dirty="0"/>
              <a:t> </a:t>
            </a:r>
            <a:r>
              <a:rPr lang="en-US" altLang="en-US" dirty="0"/>
              <a:t>of</a:t>
            </a:r>
            <a:r>
              <a:rPr lang="en-US" altLang="en-US" dirty="0"/>
              <a:t> </a:t>
            </a:r>
            <a:r>
              <a:rPr lang="en-US" altLang="en-US" dirty="0"/>
              <a:t>3%,</a:t>
            </a:r>
            <a:r>
              <a:rPr lang="en-US" altLang="en-US" dirty="0"/>
              <a:t> </a:t>
            </a:r>
            <a:r>
              <a:rPr lang="en-US" altLang="en-US" dirty="0"/>
              <a:t>please</a:t>
            </a:r>
            <a:r>
              <a:rPr lang="en-US" altLang="en-US" dirty="0"/>
              <a:t> </a:t>
            </a:r>
            <a:r>
              <a:rPr lang="en-US" altLang="en-US" dirty="0"/>
              <a:t>compute</a:t>
            </a:r>
            <a:r>
              <a:rPr lang="en-US" altLang="en-US" dirty="0"/>
              <a:t> </a:t>
            </a:r>
            <a:r>
              <a:rPr lang="en-US" altLang="en-US" dirty="0"/>
              <a:t>the</a:t>
            </a:r>
            <a:r>
              <a:rPr lang="en-US" altLang="en-US" dirty="0"/>
              <a:t> </a:t>
            </a:r>
            <a:r>
              <a:rPr lang="en-US" altLang="en-US" dirty="0"/>
              <a:t>net</a:t>
            </a:r>
            <a:r>
              <a:rPr lang="en-US" altLang="en-US" dirty="0"/>
              <a:t> </a:t>
            </a:r>
            <a:r>
              <a:rPr lang="en-US" altLang="en-US" dirty="0"/>
              <a:t>benefit</a:t>
            </a:r>
            <a:r>
              <a:rPr lang="en-US" altLang="en-US" dirty="0"/>
              <a:t> </a:t>
            </a:r>
            <a:r>
              <a:rPr lang="en-US" altLang="en-US" dirty="0"/>
              <a:t>of</a:t>
            </a:r>
            <a:r>
              <a:rPr lang="en-US" altLang="en-US" dirty="0"/>
              <a:t> </a:t>
            </a:r>
            <a:r>
              <a:rPr lang="en-US" altLang="en-US" dirty="0"/>
              <a:t>the</a:t>
            </a:r>
            <a:r>
              <a:rPr lang="en-US" altLang="en-US" dirty="0"/>
              <a:t> </a:t>
            </a:r>
            <a:r>
              <a:rPr lang="en-US" altLang="en-US" dirty="0"/>
              <a:t>insect</a:t>
            </a:r>
            <a:r>
              <a:rPr lang="en-US" altLang="en-US" dirty="0"/>
              <a:t> </a:t>
            </a:r>
            <a:r>
              <a:rPr lang="en-US" altLang="en-US" dirty="0"/>
              <a:t>control</a:t>
            </a:r>
            <a:r>
              <a:rPr lang="en-US" altLang="en-US" dirty="0"/>
              <a:t> </a:t>
            </a:r>
            <a:r>
              <a:rPr lang="en-US" altLang="en-US" dirty="0"/>
              <a:t>activity,</a:t>
            </a:r>
            <a:r>
              <a:rPr lang="en-US" altLang="en-US" dirty="0"/>
              <a:t>  </a:t>
            </a:r>
            <a:r>
              <a:rPr lang="en-US" altLang="en-US" dirty="0"/>
              <a:t>the</a:t>
            </a:r>
            <a:r>
              <a:rPr lang="en-US" altLang="en-US" dirty="0"/>
              <a:t> </a:t>
            </a:r>
            <a:r>
              <a:rPr lang="en-US" altLang="en-US" dirty="0"/>
              <a:t>benefit/cost</a:t>
            </a:r>
            <a:r>
              <a:rPr lang="en-US" altLang="en-US" dirty="0"/>
              <a:t> </a:t>
            </a:r>
            <a:r>
              <a:rPr lang="en-US" altLang="en-US" dirty="0"/>
              <a:t>ratio,</a:t>
            </a:r>
            <a:r>
              <a:rPr lang="en-US" altLang="en-US" dirty="0"/>
              <a:t> </a:t>
            </a:r>
            <a:r>
              <a:rPr lang="en-US" altLang="en-US" dirty="0"/>
              <a:t>and</a:t>
            </a:r>
            <a:r>
              <a:rPr lang="en-US" altLang="en-US" dirty="0"/>
              <a:t> </a:t>
            </a:r>
            <a:r>
              <a:rPr lang="en-US" altLang="en-US" dirty="0"/>
              <a:t>the</a:t>
            </a:r>
            <a:r>
              <a:rPr lang="en-US" altLang="en-US" dirty="0"/>
              <a:t> </a:t>
            </a:r>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案例求解结果</a:t>
            </a:r>
            <a:endParaRPr lang="zh-CN" altLang="en-US" dirty="0"/>
          </a:p>
        </p:txBody>
      </p:sp>
      <p:sp>
        <p:nvSpPr>
          <p:cNvPr id="3" name="内容占位符 2"/>
          <p:cNvSpPr>
            <a:spLocks noGrp="1"/>
          </p:cNvSpPr>
          <p:nvPr>
            <p:ph sz="half" idx="1"/>
          </p:nvPr>
        </p:nvSpPr>
        <p:spPr/>
        <p:txBody>
          <a:bodyPr>
            <a:normAutofit lnSpcReduction="10000"/>
          </a:bodyPr>
          <a:lstStyle/>
          <a:p>
            <a:r>
              <a:rPr lang="en-US" altLang="zh-CN" dirty="0"/>
              <a:t>V</a:t>
            </a:r>
            <a:r>
              <a:rPr lang="en-US" altLang="zh-CN" baseline="-25000" dirty="0"/>
              <a:t>0 </a:t>
            </a:r>
            <a:r>
              <a:rPr lang="en-US" altLang="zh-CN" dirty="0"/>
              <a:t>=</a:t>
            </a:r>
            <a:r>
              <a:rPr lang="zh-CN" altLang="en-US" dirty="0"/>
              <a:t>（</a:t>
            </a:r>
            <a:r>
              <a:rPr lang="en-US" altLang="zh-CN" dirty="0"/>
              <a:t>100</a:t>
            </a:r>
            <a:r>
              <a:rPr lang="zh-CN" altLang="en-US" dirty="0"/>
              <a:t>*</a:t>
            </a:r>
            <a:r>
              <a:rPr lang="en-US" altLang="zh-CN" dirty="0">
                <a:solidFill>
                  <a:schemeClr val="accent5">
                    <a:lumMod val="50000"/>
                  </a:schemeClr>
                </a:solidFill>
              </a:rPr>
              <a:t>350</a:t>
            </a:r>
            <a:r>
              <a:rPr lang="zh-CN" altLang="en-US" dirty="0"/>
              <a:t>*</a:t>
            </a:r>
            <a:r>
              <a:rPr lang="en-US" altLang="zh-CN" dirty="0">
                <a:solidFill>
                  <a:srgbClr val="CC66FF"/>
                </a:solidFill>
              </a:rPr>
              <a:t>15</a:t>
            </a:r>
            <a:r>
              <a:rPr lang="zh-CN" altLang="en-US" dirty="0">
                <a:solidFill>
                  <a:srgbClr val="CC66FF"/>
                </a:solidFill>
              </a:rPr>
              <a:t>*</a:t>
            </a:r>
            <a:r>
              <a:rPr lang="en-US" altLang="zh-CN" dirty="0">
                <a:solidFill>
                  <a:srgbClr val="CC66FF"/>
                </a:solidFill>
              </a:rPr>
              <a:t>0.25</a:t>
            </a:r>
            <a:r>
              <a:rPr lang="zh-CN" altLang="en-US" dirty="0"/>
              <a:t>）</a:t>
            </a:r>
            <a:r>
              <a:rPr lang="en-US" altLang="zh-CN" dirty="0"/>
              <a:t>/</a:t>
            </a:r>
            <a:r>
              <a:rPr lang="zh-CN" altLang="en-US" dirty="0"/>
              <a:t>（</a:t>
            </a:r>
            <a:r>
              <a:rPr lang="en-US" altLang="zh-CN" dirty="0"/>
              <a:t>1+0.03</a:t>
            </a:r>
            <a:r>
              <a:rPr lang="zh-CN" altLang="en-US" dirty="0"/>
              <a:t>）</a:t>
            </a:r>
            <a:r>
              <a:rPr lang="en-US" altLang="zh-CN" dirty="0"/>
              <a:t>^15-</a:t>
            </a:r>
            <a:r>
              <a:rPr lang="zh-CN" altLang="en-US" dirty="0"/>
              <a:t>（</a:t>
            </a:r>
            <a:r>
              <a:rPr lang="en-US" altLang="zh-CN" dirty="0"/>
              <a:t>100</a:t>
            </a:r>
            <a:r>
              <a:rPr lang="zh-CN" altLang="en-US" dirty="0"/>
              <a:t>*</a:t>
            </a:r>
            <a:r>
              <a:rPr lang="en-US" altLang="zh-CN" dirty="0">
                <a:solidFill>
                  <a:schemeClr val="accent5">
                    <a:lumMod val="50000"/>
                  </a:schemeClr>
                </a:solidFill>
              </a:rPr>
              <a:t>350</a:t>
            </a:r>
            <a:r>
              <a:rPr lang="zh-CN" altLang="en-US" dirty="0"/>
              <a:t>）</a:t>
            </a:r>
            <a:endParaRPr lang="en-US" altLang="zh-CN" dirty="0"/>
          </a:p>
          <a:p>
            <a:r>
              <a:rPr lang="en-US" altLang="zh-CN" dirty="0"/>
              <a:t>=84244-35000</a:t>
            </a:r>
            <a:endParaRPr lang="en-US" altLang="zh-CN" dirty="0"/>
          </a:p>
          <a:p>
            <a:r>
              <a:rPr lang="en-US" altLang="zh-CN" dirty="0"/>
              <a:t>=49244</a:t>
            </a:r>
            <a:endParaRPr lang="zh-CN" altLang="en-US" dirty="0"/>
          </a:p>
        </p:txBody>
      </p:sp>
      <p:sp>
        <p:nvSpPr>
          <p:cNvPr id="4" name="内容占位符 3"/>
          <p:cNvSpPr>
            <a:spLocks noGrp="1"/>
          </p:cNvSpPr>
          <p:nvPr>
            <p:ph sz="half" idx="2"/>
          </p:nvPr>
        </p:nvSpPr>
        <p:spPr/>
        <p:txBody>
          <a:bodyPr>
            <a:normAutofit lnSpcReduction="10000"/>
          </a:bodyPr>
          <a:lstStyle/>
          <a:p>
            <a:r>
              <a:rPr lang="zh-CN" altLang="en-US" dirty="0"/>
              <a:t>收益</a:t>
            </a:r>
            <a:r>
              <a:rPr lang="en-US" altLang="zh-CN" dirty="0"/>
              <a:t>/</a:t>
            </a:r>
            <a:r>
              <a:rPr lang="zh-CN" altLang="en-US" dirty="0"/>
              <a:t>成本率：</a:t>
            </a:r>
            <a:endParaRPr lang="en-US" altLang="zh-CN" dirty="0"/>
          </a:p>
          <a:p>
            <a:r>
              <a:rPr lang="en-US" altLang="zh-CN" dirty="0"/>
              <a:t>B/C=84244/35000 =2.41</a:t>
            </a:r>
            <a:endParaRPr lang="en-US" altLang="zh-CN" dirty="0"/>
          </a:p>
          <a:p>
            <a:r>
              <a:rPr lang="zh-CN" altLang="en-US" dirty="0"/>
              <a:t>内部收益率：</a:t>
            </a:r>
            <a:endParaRPr lang="en-US" altLang="zh-CN" dirty="0"/>
          </a:p>
          <a:p>
            <a:r>
              <a:rPr lang="en-US" altLang="zh-CN" sz="2400" dirty="0"/>
              <a:t>35000</a:t>
            </a:r>
            <a:r>
              <a:rPr lang="zh-CN" altLang="en-US" sz="2400" dirty="0"/>
              <a:t>*（</a:t>
            </a:r>
            <a:r>
              <a:rPr lang="en-US" altLang="zh-CN" sz="2400" dirty="0"/>
              <a:t>1+IRR</a:t>
            </a:r>
            <a:r>
              <a:rPr lang="zh-CN" altLang="en-US" sz="2400" dirty="0"/>
              <a:t>）</a:t>
            </a:r>
            <a:r>
              <a:rPr lang="en-US" altLang="zh-CN" sz="2400" dirty="0"/>
              <a:t>^15 =</a:t>
            </a:r>
            <a:r>
              <a:rPr lang="zh-CN" altLang="en-US" sz="2400" dirty="0"/>
              <a:t> （</a:t>
            </a:r>
            <a:r>
              <a:rPr lang="en-US" altLang="zh-CN" sz="2400" dirty="0"/>
              <a:t>100</a:t>
            </a:r>
            <a:r>
              <a:rPr lang="zh-CN" altLang="en-US" sz="2400" dirty="0"/>
              <a:t>*</a:t>
            </a:r>
            <a:r>
              <a:rPr lang="en-US" altLang="zh-CN" sz="2400" dirty="0">
                <a:solidFill>
                  <a:schemeClr val="accent5">
                    <a:lumMod val="50000"/>
                  </a:schemeClr>
                </a:solidFill>
              </a:rPr>
              <a:t>350</a:t>
            </a:r>
            <a:r>
              <a:rPr lang="zh-CN" altLang="en-US" sz="2400" dirty="0"/>
              <a:t>*</a:t>
            </a:r>
            <a:r>
              <a:rPr lang="en-US" altLang="zh-CN" sz="2400" dirty="0">
                <a:solidFill>
                  <a:srgbClr val="CC66FF"/>
                </a:solidFill>
              </a:rPr>
              <a:t>15</a:t>
            </a:r>
            <a:r>
              <a:rPr lang="zh-CN" altLang="en-US" sz="2400" dirty="0">
                <a:solidFill>
                  <a:srgbClr val="CC66FF"/>
                </a:solidFill>
              </a:rPr>
              <a:t>*</a:t>
            </a:r>
            <a:r>
              <a:rPr lang="en-US" altLang="zh-CN" sz="2400" dirty="0">
                <a:solidFill>
                  <a:srgbClr val="CC66FF"/>
                </a:solidFill>
              </a:rPr>
              <a:t>0.25</a:t>
            </a:r>
            <a:r>
              <a:rPr lang="zh-CN" altLang="en-US" sz="2400" dirty="0"/>
              <a:t>）</a:t>
            </a:r>
            <a:endParaRPr lang="en-US" altLang="zh-CN" sz="2400" dirty="0"/>
          </a:p>
          <a:p>
            <a:r>
              <a:rPr lang="en-US" altLang="zh-CN" sz="2400" dirty="0"/>
              <a:t>IRR=9.21%</a:t>
            </a:r>
            <a:endParaRPr lang="zh-CN" altLang="en-US" sz="2400" dirty="0"/>
          </a:p>
        </p:txBody>
      </p:sp>
      <p:sp>
        <p:nvSpPr>
          <p:cNvPr id="5" name="TextBox 4"/>
          <p:cNvSpPr txBox="1"/>
          <p:nvPr/>
        </p:nvSpPr>
        <p:spPr>
          <a:xfrm>
            <a:off x="971600" y="2132856"/>
            <a:ext cx="34563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7030A0"/>
                </a:solidFill>
                <a:effectLst/>
                <a:uLnTx/>
                <a:uFillTx/>
                <a:latin typeface="黑体" panose="02010609060101010101" charset="-122"/>
                <a:ea typeface="黑体" panose="02010609060101010101" charset="-122"/>
                <a:cs typeface="+mn-cs"/>
              </a:rPr>
              <a:t>收益：虫害控制所能减少的损失</a:t>
            </a:r>
            <a:endParaRPr kumimoji="0" lang="zh-CN" altLang="en-US" sz="1800" b="0" i="0" u="none" strike="noStrike" kern="1200" cap="none" spc="0" normalizeH="0" baseline="0" noProof="0" dirty="0">
              <a:ln>
                <a:noFill/>
              </a:ln>
              <a:solidFill>
                <a:srgbClr val="7030A0"/>
              </a:solidFill>
              <a:effectLst/>
              <a:uLnTx/>
              <a:uFillTx/>
              <a:latin typeface="黑体" panose="02010609060101010101" charset="-122"/>
              <a:ea typeface="黑体" panose="02010609060101010101" charset="-122"/>
              <a:cs typeface="+mn-cs"/>
            </a:endParaRPr>
          </a:p>
        </p:txBody>
      </p:sp>
      <p:sp>
        <p:nvSpPr>
          <p:cNvPr id="6" name="TextBox 5"/>
          <p:cNvSpPr txBox="1"/>
          <p:nvPr/>
        </p:nvSpPr>
        <p:spPr>
          <a:xfrm>
            <a:off x="943848" y="2780928"/>
            <a:ext cx="34563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rPr>
              <a:t>贴现：</a:t>
            </a:r>
            <a:r>
              <a:rPr kumimoji="0" lang="en-US" altLang="zh-CN"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rPr>
              <a:t>15</a:t>
            </a:r>
            <a:r>
              <a:rPr kumimoji="0" lang="zh-CN" altLang="en-US"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rPr>
              <a:t>年后这一收益才能实现</a:t>
            </a:r>
            <a:endParaRPr kumimoji="0" lang="zh-CN" altLang="en-US"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对三个项目的比较</a:t>
            </a:r>
            <a:endParaRPr lang="zh-CN" altLang="en-US" dirty="0"/>
          </a:p>
        </p:txBody>
      </p:sp>
      <p:graphicFrame>
        <p:nvGraphicFramePr>
          <p:cNvPr id="4" name="内容占位符 3"/>
          <p:cNvGraphicFramePr>
            <a:graphicFrameLocks noGrp="1"/>
          </p:cNvGraphicFramePr>
          <p:nvPr>
            <p:ph idx="1"/>
          </p:nvPr>
        </p:nvGraphicFramePr>
        <p:xfrm>
          <a:off x="323850" y="1773238"/>
          <a:ext cx="8496300" cy="2072640"/>
        </p:xfrm>
        <a:graphic>
          <a:graphicData uri="http://schemas.openxmlformats.org/drawingml/2006/table">
            <a:tbl>
              <a:tblPr firstRow="1" bandRow="1">
                <a:effectLst>
                  <a:outerShdw blurRad="203200" dist="152400" dir="8100000" algn="tr" rotWithShape="0">
                    <a:prstClr val="black">
                      <a:alpha val="40000"/>
                    </a:prstClr>
                  </a:outerShdw>
                </a:effectLst>
                <a:tableStyleId>{306799F8-075E-4A3A-A7F6-7FBC6576F1A4}</a:tableStyleId>
              </a:tblPr>
              <a:tblGrid>
                <a:gridCol w="2303934"/>
                <a:gridCol w="1944216"/>
                <a:gridCol w="2124075"/>
                <a:gridCol w="2124075"/>
              </a:tblGrid>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标准</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rPr>
                        <a:t>造林项目</a:t>
                      </a:r>
                      <a:endPar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endParaRPr>
                    </a:p>
                  </a:txBody>
                  <a:tcPr anchor="ctr">
                    <a:cell3D prstMaterial="dkEdge">
                      <a:bevel/>
                      <a:lightRig rig="flood" dir="t"/>
                    </a:cell3D>
                    <a:solidFill>
                      <a:srgbClr val="92D050"/>
                    </a:solidFill>
                  </a:tcPr>
                </a:tc>
                <a:tc>
                  <a:txBody>
                    <a:bodyPr/>
                    <a:lstStyle/>
                    <a:p>
                      <a:pPr algn="ctr"/>
                      <a:r>
                        <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rPr>
                        <a:t>间伐项目</a:t>
                      </a:r>
                      <a:endPar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endParaRPr>
                    </a:p>
                  </a:txBody>
                  <a:tcPr anchor="ctr">
                    <a:cell3D prstMaterial="dkEdge">
                      <a:bevel/>
                      <a:lightRig rig="flood" dir="t"/>
                    </a:cell3D>
                    <a:solidFill>
                      <a:srgbClr val="92D050"/>
                    </a:solidFill>
                  </a:tcPr>
                </a:tc>
                <a:tc>
                  <a:txBody>
                    <a:bodyPr/>
                    <a:lstStyle/>
                    <a:p>
                      <a:pPr algn="ctr"/>
                      <a:r>
                        <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rPr>
                        <a:t>虫害控制</a:t>
                      </a:r>
                      <a:endPar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endParaRPr>
                    </a:p>
                  </a:txBody>
                  <a:tcPr anchor="ctr">
                    <a:cell3D prstMaterial="dkEdge">
                      <a:bevel/>
                      <a:lightRig rig="flood" dir="t"/>
                    </a:cell3D>
                    <a:solidFill>
                      <a:srgbClr val="92D050"/>
                    </a:solidFill>
                  </a:tcPr>
                </a:tc>
              </a:tr>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净收益</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33194</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67639</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49244</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r>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收益</a:t>
                      </a:r>
                      <a:r>
                        <a:rPr lang="en-US" altLang="zh-CN"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a:t>
                      </a: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成本率</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3.07</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3.06</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2.41</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r>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内部收益率</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5.12%</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5.36%</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9.21%</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r>
            </a:tbl>
          </a:graphicData>
        </a:graphic>
      </p:graphicFrame>
      <p:sp>
        <p:nvSpPr>
          <p:cNvPr id="5" name="TextBox 4"/>
          <p:cNvSpPr txBox="1"/>
          <p:nvPr/>
        </p:nvSpPr>
        <p:spPr>
          <a:xfrm>
            <a:off x="1079212" y="4437112"/>
            <a:ext cx="7272807" cy="1384995"/>
          </a:xfrm>
          <a:prstGeom prst="rect">
            <a:avLst/>
          </a:prstGeom>
          <a:gradFill>
            <a:gsLst>
              <a:gs pos="0">
                <a:schemeClr val="accent3">
                  <a:lumMod val="60000"/>
                  <a:lumOff val="40000"/>
                </a:schemeClr>
              </a:gs>
              <a:gs pos="100000">
                <a:schemeClr val="accent3">
                  <a:lumMod val="20000"/>
                  <a:lumOff val="80000"/>
                </a:schemeClr>
              </a:gs>
            </a:gsLst>
            <a:lin ang="16200000" scaled="0"/>
          </a:gradFill>
          <a:effectLst>
            <a:outerShdw blurRad="88900" dist="76200" dir="8100000" algn="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rPr>
              <a:t>三个项目收益都超过成本，因而都是可行的，但按照不同标准排序，不同项目的优先序并不一样</a:t>
            </a:r>
            <a:endPar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endParaRPr>
          </a:p>
        </p:txBody>
      </p:sp>
      <p:sp>
        <p:nvSpPr>
          <p:cNvPr id="6" name="TextBox 5"/>
          <p:cNvSpPr txBox="1"/>
          <p:nvPr/>
        </p:nvSpPr>
        <p:spPr>
          <a:xfrm>
            <a:off x="1116416" y="4473264"/>
            <a:ext cx="7200000" cy="1332000"/>
          </a:xfrm>
          <a:prstGeom prst="rect">
            <a:avLst/>
          </a:prstGeom>
          <a:gradFill flip="none" rotWithShape="1">
            <a:gsLst>
              <a:gs pos="0">
                <a:schemeClr val="accent3">
                  <a:lumMod val="60000"/>
                  <a:lumOff val="40000"/>
                </a:schemeClr>
              </a:gs>
              <a:gs pos="100000">
                <a:schemeClr val="accent3">
                  <a:lumMod val="20000"/>
                  <a:lumOff val="80000"/>
                </a:schemeClr>
              </a:gs>
            </a:gsLst>
            <a:lin ang="5400000" scaled="1"/>
            <a:tileRect/>
          </a:gradFill>
          <a:effectLst>
            <a:innerShdw blurRad="63500" dist="50800" dir="16200000">
              <a:prstClr val="black">
                <a:alpha val="50000"/>
              </a:prstClr>
            </a:inn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rPr>
              <a:t>三个项目收益都超过成本，因而都是可行的，但按照不同标准排序，不同项目的优先序并不一样</a:t>
            </a:r>
            <a:endPar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kumimoji="1" lang="en-US" altLang="zh-CN"/>
              <a:t>H</a:t>
            </a:r>
            <a:r>
              <a:rPr kumimoji="1" lang="en-US" altLang="en-US"/>
              <a:t>ow</a:t>
            </a:r>
            <a:r>
              <a:rPr kumimoji="1" lang="en-US" altLang="en-US"/>
              <a:t> </a:t>
            </a:r>
            <a:r>
              <a:rPr kumimoji="1" lang="en-US" altLang="en-US"/>
              <a:t>to</a:t>
            </a:r>
            <a:r>
              <a:rPr kumimoji="1" lang="en-US" altLang="en-US"/>
              <a:t> </a:t>
            </a:r>
            <a:r>
              <a:rPr kumimoji="1" lang="en-US" altLang="en-US"/>
              <a:t>choose?</a:t>
            </a:r>
            <a:endParaRPr kumimoji="1" lang="zh-CN" altLang="en-US"/>
          </a:p>
        </p:txBody>
      </p:sp>
      <p:sp>
        <p:nvSpPr>
          <p:cNvPr id="8" name="文本占位符 7"/>
          <p:cNvSpPr>
            <a:spLocks noGrp="1"/>
          </p:cNvSpPr>
          <p:nvPr>
            <p:ph type="body" idx="1"/>
          </p:nvPr>
        </p:nvSpPr>
        <p:spPr/>
        <p:txBody>
          <a:bodyPr>
            <a:normAutofit/>
          </a:bodyPr>
          <a:lstStyle/>
          <a:p>
            <a:r>
              <a:rPr kumimoji="1" lang="en-US" altLang="zh-CN"/>
              <a:t>T</a:t>
            </a:r>
            <a:r>
              <a:rPr kumimoji="1" lang="en-US" altLang="en-US"/>
              <a:t>he</a:t>
            </a:r>
            <a:r>
              <a:rPr kumimoji="1" lang="en-US" altLang="en-US"/>
              <a:t> </a:t>
            </a:r>
            <a:r>
              <a:rPr kumimoji="1" lang="en-US" altLang="en-US"/>
              <a:t>net</a:t>
            </a:r>
            <a:r>
              <a:rPr kumimoji="1" lang="en-US" altLang="en-US"/>
              <a:t> </a:t>
            </a:r>
            <a:r>
              <a:rPr kumimoji="1" lang="en-US" altLang="en-US"/>
              <a:t>benefit</a:t>
            </a:r>
            <a:r>
              <a:rPr kumimoji="1" lang="en-US" altLang="en-US"/>
              <a:t> </a:t>
            </a:r>
            <a:r>
              <a:rPr kumimoji="1" lang="en-US" altLang="en-US"/>
              <a:t>criterion</a:t>
            </a:r>
            <a:endParaRPr kumimoji="1" lang="zh-CN" altLang="en-US"/>
          </a:p>
        </p:txBody>
      </p:sp>
      <p:sp>
        <p:nvSpPr>
          <p:cNvPr id="9" name="内容占位符 8"/>
          <p:cNvSpPr>
            <a:spLocks noGrp="1"/>
          </p:cNvSpPr>
          <p:nvPr>
            <p:ph sz="half" idx="2"/>
          </p:nvPr>
        </p:nvSpPr>
        <p:spPr/>
        <p:txBody>
          <a:bodyPr/>
          <a:lstStyle/>
          <a:p>
            <a:r>
              <a:rPr kumimoji="1" lang="en-US" altLang="en-US"/>
              <a:t>It</a:t>
            </a:r>
            <a:r>
              <a:rPr kumimoji="1" lang="en-US" altLang="en-US"/>
              <a:t> </a:t>
            </a:r>
            <a:r>
              <a:rPr kumimoji="1" lang="en-US" altLang="en-US"/>
              <a:t>often</a:t>
            </a:r>
            <a:r>
              <a:rPr kumimoji="1" lang="en-US" altLang="en-US"/>
              <a:t> </a:t>
            </a:r>
            <a:r>
              <a:rPr kumimoji="1" lang="en-US" altLang="en-US"/>
              <a:t>used</a:t>
            </a:r>
            <a:r>
              <a:rPr kumimoji="1" lang="en-US" altLang="en-US"/>
              <a:t> </a:t>
            </a:r>
            <a:r>
              <a:rPr kumimoji="1" lang="en-US" altLang="en-US"/>
              <a:t>to</a:t>
            </a:r>
            <a:r>
              <a:rPr kumimoji="1" lang="en-US" altLang="en-US"/>
              <a:t> </a:t>
            </a:r>
            <a:r>
              <a:rPr kumimoji="1" lang="en-US" altLang="en-US"/>
              <a:t>find</a:t>
            </a:r>
            <a:r>
              <a:rPr kumimoji="1" lang="en-US" altLang="en-US"/>
              <a:t> </a:t>
            </a:r>
            <a:r>
              <a:rPr kumimoji="1" lang="en-US" altLang="en-US"/>
              <a:t>the</a:t>
            </a:r>
            <a:r>
              <a:rPr kumimoji="1" lang="en-US" altLang="en-US"/>
              <a:t> </a:t>
            </a:r>
            <a:r>
              <a:rPr kumimoji="1" lang="en-US" altLang="en-US"/>
              <a:t>maximum</a:t>
            </a:r>
            <a:r>
              <a:rPr kumimoji="1" lang="en-US" altLang="en-US"/>
              <a:t> </a:t>
            </a:r>
            <a:r>
              <a:rPr kumimoji="1" lang="en-US" altLang="en-US"/>
              <a:t>return</a:t>
            </a:r>
            <a:r>
              <a:rPr kumimoji="1" lang="en-US" altLang="en-US"/>
              <a:t> </a:t>
            </a:r>
            <a:r>
              <a:rPr kumimoji="1" lang="en-US" altLang="en-US"/>
              <a:t>to</a:t>
            </a:r>
            <a:r>
              <a:rPr kumimoji="1" lang="en-US" altLang="en-US"/>
              <a:t> </a:t>
            </a:r>
            <a:r>
              <a:rPr kumimoji="1" lang="en-US" altLang="en-US"/>
              <a:t>some</a:t>
            </a:r>
            <a:r>
              <a:rPr kumimoji="1" lang="en-US" altLang="en-US"/>
              <a:t> </a:t>
            </a:r>
            <a:r>
              <a:rPr kumimoji="1" lang="en-US" altLang="en-US"/>
              <a:t>fixed</a:t>
            </a:r>
            <a:r>
              <a:rPr kumimoji="1" lang="en-US" altLang="en-US"/>
              <a:t> </a:t>
            </a:r>
            <a:r>
              <a:rPr kumimoji="1" lang="en-US" altLang="en-US"/>
              <a:t>factor,</a:t>
            </a:r>
            <a:r>
              <a:rPr kumimoji="1" lang="en-US" altLang="en-US"/>
              <a:t> </a:t>
            </a:r>
            <a:r>
              <a:rPr kumimoji="1" lang="en-US" altLang="en-US"/>
              <a:t>such</a:t>
            </a:r>
            <a:r>
              <a:rPr kumimoji="1" lang="en-US" altLang="en-US"/>
              <a:t> </a:t>
            </a:r>
            <a:r>
              <a:rPr kumimoji="1" lang="en-US" altLang="en-US"/>
              <a:t>as</a:t>
            </a:r>
            <a:r>
              <a:rPr kumimoji="1" lang="en-US" altLang="en-US"/>
              <a:t> </a:t>
            </a:r>
            <a:r>
              <a:rPr kumimoji="1" lang="en-US" altLang="en-US"/>
              <a:t>a</a:t>
            </a:r>
            <a:r>
              <a:rPr kumimoji="1" lang="en-US" altLang="en-US"/>
              <a:t> </a:t>
            </a:r>
            <a:r>
              <a:rPr kumimoji="1" lang="en-US" altLang="en-US"/>
              <a:t>trach</a:t>
            </a:r>
            <a:r>
              <a:rPr kumimoji="1" lang="en-US" altLang="en-US"/>
              <a:t> </a:t>
            </a:r>
            <a:r>
              <a:rPr kumimoji="1" lang="en-US" altLang="en-US"/>
              <a:t>of</a:t>
            </a:r>
            <a:r>
              <a:rPr kumimoji="1" lang="en-US" altLang="en-US"/>
              <a:t> </a:t>
            </a:r>
            <a:r>
              <a:rPr kumimoji="1" lang="en-US" altLang="en-US"/>
              <a:t>land,</a:t>
            </a:r>
            <a:r>
              <a:rPr kumimoji="1" lang="en-US" altLang="en-US"/>
              <a:t> </a:t>
            </a:r>
            <a:r>
              <a:rPr kumimoji="1" lang="en-US" altLang="en-US"/>
              <a:t>favourlarge</a:t>
            </a:r>
            <a:r>
              <a:rPr kumimoji="1" lang="en-US" altLang="en-US"/>
              <a:t> </a:t>
            </a:r>
            <a:r>
              <a:rPr kumimoji="1" lang="en-US" altLang="en-US"/>
              <a:t>projects.</a:t>
            </a:r>
            <a:endParaRPr kumimoji="1" lang="zh-CN" altLang="en-US"/>
          </a:p>
        </p:txBody>
      </p:sp>
      <p:sp>
        <p:nvSpPr>
          <p:cNvPr id="10" name="文本占位符 9"/>
          <p:cNvSpPr>
            <a:spLocks noGrp="1"/>
          </p:cNvSpPr>
          <p:nvPr>
            <p:ph type="body" sz="quarter" idx="3"/>
          </p:nvPr>
        </p:nvSpPr>
        <p:spPr/>
        <p:txBody>
          <a:bodyPr>
            <a:normAutofit/>
          </a:bodyPr>
          <a:lstStyle/>
          <a:p>
            <a:r>
              <a:rPr kumimoji="1" lang="en-US" altLang="en-US"/>
              <a:t>净收益标准</a:t>
            </a:r>
            <a:endParaRPr kumimoji="1" lang="zh-CN" altLang="en-US"/>
          </a:p>
        </p:txBody>
      </p:sp>
      <p:sp>
        <p:nvSpPr>
          <p:cNvPr id="11" name="内容占位符 10"/>
          <p:cNvSpPr>
            <a:spLocks noGrp="1"/>
          </p:cNvSpPr>
          <p:nvPr>
            <p:ph sz="quarter" idx="4"/>
          </p:nvPr>
        </p:nvSpPr>
        <p:spPr/>
        <p:txBody>
          <a:bodyPr/>
          <a:lstStyle/>
          <a:p>
            <a:r>
              <a:rPr lang="zh-CN" altLang="en-US" dirty="0">
                <a:solidFill>
                  <a:prstClr val="black"/>
                </a:solidFill>
                <a:latin typeface="黑体" panose="02010609060101010101" charset="-122"/>
              </a:rPr>
              <a:t>用于选择追求固定生产要素（如一块林地）收益最大化的互斥项目</a:t>
            </a:r>
            <a:endParaRPr lang="zh-CN" altLang="en-US" dirty="0">
              <a:solidFill>
                <a:prstClr val="black"/>
              </a:solidFill>
              <a:latin typeface="黑体" panose="02010609060101010101" charset="-122"/>
            </a:endParaRPr>
          </a:p>
          <a:p>
            <a:endParaRPr kumimoji="1"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kumimoji="1" lang="en-US" altLang="zh-CN"/>
              <a:t>H</a:t>
            </a:r>
            <a:r>
              <a:rPr kumimoji="1" lang="en-US" altLang="en-US"/>
              <a:t>ow</a:t>
            </a:r>
            <a:r>
              <a:rPr kumimoji="1" lang="en-US" altLang="en-US"/>
              <a:t> </a:t>
            </a:r>
            <a:r>
              <a:rPr kumimoji="1" lang="en-US" altLang="en-US"/>
              <a:t>to</a:t>
            </a:r>
            <a:r>
              <a:rPr kumimoji="1" lang="en-US" altLang="en-US"/>
              <a:t> </a:t>
            </a:r>
            <a:r>
              <a:rPr kumimoji="1" lang="en-US" altLang="en-US"/>
              <a:t>choose?</a:t>
            </a:r>
            <a:endParaRPr kumimoji="1" lang="zh-CN" altLang="en-US"/>
          </a:p>
        </p:txBody>
      </p:sp>
      <p:sp>
        <p:nvSpPr>
          <p:cNvPr id="8" name="文本占位符 7"/>
          <p:cNvSpPr>
            <a:spLocks noGrp="1"/>
          </p:cNvSpPr>
          <p:nvPr>
            <p:ph type="body" idx="1"/>
          </p:nvPr>
        </p:nvSpPr>
        <p:spPr/>
        <p:txBody>
          <a:bodyPr>
            <a:normAutofit/>
          </a:bodyPr>
          <a:lstStyle/>
          <a:p>
            <a:r>
              <a:rPr kumimoji="1" lang="en-US" altLang="en-US"/>
              <a:t>Benefit/cost</a:t>
            </a:r>
            <a:r>
              <a:rPr kumimoji="1" lang="en-US" altLang="en-US"/>
              <a:t> </a:t>
            </a:r>
            <a:r>
              <a:rPr kumimoji="1" lang="en-US" altLang="en-US"/>
              <a:t>ratio</a:t>
            </a:r>
            <a:endParaRPr kumimoji="1" lang="zh-CN" altLang="en-US"/>
          </a:p>
        </p:txBody>
      </p:sp>
      <p:sp>
        <p:nvSpPr>
          <p:cNvPr id="9" name="内容占位符 8"/>
          <p:cNvSpPr>
            <a:spLocks noGrp="1"/>
          </p:cNvSpPr>
          <p:nvPr>
            <p:ph sz="half" idx="2"/>
          </p:nvPr>
        </p:nvSpPr>
        <p:spPr/>
        <p:txBody>
          <a:bodyPr>
            <a:normAutofit fontScale="85000" lnSpcReduction="10000"/>
          </a:bodyPr>
          <a:lstStyle/>
          <a:p>
            <a:r>
              <a:rPr kumimoji="1" lang="en-US" altLang="en-US"/>
              <a:t>When</a:t>
            </a:r>
            <a:r>
              <a:rPr kumimoji="1" lang="en-US" altLang="en-US"/>
              <a:t> </a:t>
            </a:r>
            <a:r>
              <a:rPr kumimoji="1" lang="en-US" altLang="en-US"/>
              <a:t>managers</a:t>
            </a:r>
            <a:r>
              <a:rPr kumimoji="1" lang="en-US" altLang="en-US"/>
              <a:t> </a:t>
            </a:r>
            <a:r>
              <a:rPr kumimoji="1" lang="en-US" altLang="en-US"/>
              <a:t>have</a:t>
            </a:r>
            <a:r>
              <a:rPr kumimoji="1" lang="en-US" altLang="en-US"/>
              <a:t> </a:t>
            </a:r>
            <a:r>
              <a:rPr kumimoji="1" lang="en-US" altLang="en-US"/>
              <a:t>budget</a:t>
            </a:r>
            <a:r>
              <a:rPr kumimoji="1" lang="en-US" altLang="en-US"/>
              <a:t> </a:t>
            </a:r>
            <a:r>
              <a:rPr kumimoji="1" lang="en-US" altLang="en-US"/>
              <a:t>limitations,</a:t>
            </a:r>
            <a:r>
              <a:rPr kumimoji="1" lang="en-US" altLang="en-US"/>
              <a:t> </a:t>
            </a:r>
            <a:r>
              <a:rPr kumimoji="1" lang="en-US" altLang="en-US"/>
              <a:t>they</a:t>
            </a:r>
            <a:r>
              <a:rPr kumimoji="1" lang="en-US" altLang="en-US"/>
              <a:t> </a:t>
            </a:r>
            <a:r>
              <a:rPr kumimoji="1" lang="en-US" altLang="en-US"/>
              <a:t>may</a:t>
            </a:r>
            <a:r>
              <a:rPr kumimoji="1" lang="en-US" altLang="en-US"/>
              <a:t> </a:t>
            </a:r>
            <a:r>
              <a:rPr kumimoji="1" lang="en-US" altLang="en-US"/>
              <a:t>not</a:t>
            </a:r>
            <a:r>
              <a:rPr kumimoji="1" lang="en-US" altLang="en-US"/>
              <a:t> </a:t>
            </a:r>
            <a:r>
              <a:rPr kumimoji="1" lang="en-US" altLang="en-US"/>
              <a:t>be</a:t>
            </a:r>
            <a:r>
              <a:rPr kumimoji="1" lang="en-US" altLang="en-US"/>
              <a:t> </a:t>
            </a:r>
            <a:r>
              <a:rPr kumimoji="1" lang="en-US" altLang="en-US"/>
              <a:t>able</a:t>
            </a:r>
            <a:r>
              <a:rPr kumimoji="1" lang="en-US" altLang="en-US"/>
              <a:t> </a:t>
            </a:r>
            <a:r>
              <a:rPr kumimoji="1" lang="en-US" altLang="en-US"/>
              <a:t>to</a:t>
            </a:r>
            <a:r>
              <a:rPr kumimoji="1" lang="en-US" altLang="en-US"/>
              <a:t> </a:t>
            </a:r>
            <a:r>
              <a:rPr kumimoji="1" lang="en-US" altLang="en-US"/>
              <a:t>afford</a:t>
            </a:r>
            <a:r>
              <a:rPr kumimoji="1" lang="en-US" altLang="en-US"/>
              <a:t> </a:t>
            </a:r>
            <a:r>
              <a:rPr kumimoji="1" lang="en-US" altLang="en-US"/>
              <a:t>to</a:t>
            </a:r>
            <a:r>
              <a:rPr kumimoji="1" lang="en-US" altLang="en-US"/>
              <a:t> </a:t>
            </a:r>
            <a:r>
              <a:rPr kumimoji="1" lang="en-US" altLang="en-US"/>
              <a:t>expand</a:t>
            </a:r>
            <a:r>
              <a:rPr kumimoji="1" lang="en-US" altLang="en-US"/>
              <a:t> </a:t>
            </a:r>
            <a:r>
              <a:rPr kumimoji="1" lang="en-US" altLang="en-US"/>
              <a:t>all</a:t>
            </a:r>
            <a:r>
              <a:rPr kumimoji="1" lang="en-US" altLang="en-US"/>
              <a:t> </a:t>
            </a:r>
            <a:r>
              <a:rPr kumimoji="1" lang="en-US" altLang="en-US"/>
              <a:t>investments</a:t>
            </a:r>
            <a:r>
              <a:rPr kumimoji="1" lang="en-US" altLang="en-US"/>
              <a:t> </a:t>
            </a:r>
            <a:r>
              <a:rPr kumimoji="1" lang="en-US" altLang="en-US"/>
              <a:t>until</a:t>
            </a:r>
            <a:r>
              <a:rPr kumimoji="1" lang="en-US" altLang="en-US"/>
              <a:t> </a:t>
            </a:r>
            <a:r>
              <a:rPr kumimoji="1" lang="en-US" altLang="en-US"/>
              <a:t>their</a:t>
            </a:r>
            <a:r>
              <a:rPr kumimoji="1" lang="en-US" altLang="en-US"/>
              <a:t> </a:t>
            </a:r>
            <a:r>
              <a:rPr kumimoji="1" lang="en-US" altLang="en-US"/>
              <a:t>marginal</a:t>
            </a:r>
            <a:r>
              <a:rPr kumimoji="1" lang="en-US" altLang="en-US"/>
              <a:t> </a:t>
            </a:r>
            <a:r>
              <a:rPr kumimoji="1" lang="en-US" altLang="en-US"/>
              <a:t>benefits</a:t>
            </a:r>
            <a:r>
              <a:rPr kumimoji="1" lang="en-US" altLang="en-US"/>
              <a:t> </a:t>
            </a:r>
            <a:r>
              <a:rPr kumimoji="1" lang="en-US" altLang="en-US"/>
              <a:t>equal</a:t>
            </a:r>
            <a:r>
              <a:rPr kumimoji="1" lang="en-US" altLang="en-US"/>
              <a:t> </a:t>
            </a:r>
            <a:r>
              <a:rPr kumimoji="1" lang="en-US" altLang="en-US"/>
              <a:t>their</a:t>
            </a:r>
            <a:r>
              <a:rPr kumimoji="1" lang="en-US" altLang="en-US"/>
              <a:t> </a:t>
            </a:r>
            <a:r>
              <a:rPr kumimoji="1" lang="en-US" altLang="en-US"/>
              <a:t>marginal</a:t>
            </a:r>
            <a:r>
              <a:rPr kumimoji="1" lang="en-US" altLang="en-US"/>
              <a:t> </a:t>
            </a:r>
            <a:r>
              <a:rPr kumimoji="1" lang="en-US" altLang="en-US"/>
              <a:t>costs,</a:t>
            </a:r>
            <a:r>
              <a:rPr kumimoji="1" lang="en-US" altLang="en-US"/>
              <a:t> </a:t>
            </a:r>
            <a:r>
              <a:rPr kumimoji="1" lang="en-US" altLang="en-US"/>
              <a:t>they</a:t>
            </a:r>
            <a:r>
              <a:rPr kumimoji="1" lang="en-US" altLang="en-US"/>
              <a:t> </a:t>
            </a:r>
            <a:r>
              <a:rPr kumimoji="1" lang="en-US" altLang="en-US"/>
              <a:t>must</a:t>
            </a:r>
            <a:r>
              <a:rPr kumimoji="1" lang="en-US" altLang="en-US"/>
              <a:t> </a:t>
            </a:r>
            <a:r>
              <a:rPr kumimoji="1" lang="en-US" altLang="en-US"/>
              <a:t>apply</a:t>
            </a:r>
            <a:r>
              <a:rPr kumimoji="1" lang="en-US" altLang="en-US"/>
              <a:t> </a:t>
            </a:r>
            <a:r>
              <a:rPr kumimoji="1" lang="en-US" altLang="en-US"/>
              <a:t>alternative</a:t>
            </a:r>
            <a:r>
              <a:rPr kumimoji="1" lang="en-US" altLang="en-US"/>
              <a:t> </a:t>
            </a:r>
            <a:r>
              <a:rPr kumimoji="1" lang="en-US" altLang="en-US"/>
              <a:t>criteria,</a:t>
            </a:r>
            <a:r>
              <a:rPr kumimoji="1" lang="en-US" altLang="en-US"/>
              <a:t> </a:t>
            </a:r>
            <a:r>
              <a:rPr kumimoji="1" lang="en-US" altLang="en-US"/>
              <a:t>such</a:t>
            </a:r>
            <a:r>
              <a:rPr kumimoji="1" lang="en-US" altLang="en-US"/>
              <a:t> </a:t>
            </a:r>
            <a:r>
              <a:rPr kumimoji="1" lang="en-US" altLang="en-US"/>
              <a:t>as</a:t>
            </a:r>
            <a:r>
              <a:rPr kumimoji="1" lang="en-US" altLang="en-US"/>
              <a:t> </a:t>
            </a:r>
            <a:r>
              <a:rPr kumimoji="1" lang="en-US" altLang="en-US"/>
              <a:t>the</a:t>
            </a:r>
            <a:r>
              <a:rPr kumimoji="1" lang="en-US" altLang="en-US"/>
              <a:t> </a:t>
            </a:r>
            <a:r>
              <a:rPr kumimoji="1" lang="en-US" altLang="en-US"/>
              <a:t>bebefit/cost</a:t>
            </a:r>
            <a:r>
              <a:rPr kumimoji="1" lang="en-US" altLang="en-US"/>
              <a:t> </a:t>
            </a:r>
            <a:r>
              <a:rPr kumimoji="1" lang="en-US" altLang="en-US"/>
              <a:t>ratio.</a:t>
            </a:r>
            <a:endParaRPr kumimoji="1" lang="zh-CN" altLang="en-US"/>
          </a:p>
        </p:txBody>
      </p:sp>
      <p:sp>
        <p:nvSpPr>
          <p:cNvPr id="10" name="文本占位符 9"/>
          <p:cNvSpPr>
            <a:spLocks noGrp="1"/>
          </p:cNvSpPr>
          <p:nvPr>
            <p:ph type="body" sz="quarter" idx="3"/>
          </p:nvPr>
        </p:nvSpPr>
        <p:spPr/>
        <p:txBody>
          <a:bodyPr>
            <a:normAutofit/>
          </a:bodyPr>
          <a:lstStyle/>
          <a:p>
            <a:r>
              <a:rPr kumimoji="1" lang="en-US" altLang="en-US"/>
              <a:t>收益</a:t>
            </a:r>
            <a:r>
              <a:rPr kumimoji="1" lang="en-US" altLang="en-US"/>
              <a:t>/</a:t>
            </a:r>
            <a:r>
              <a:rPr kumimoji="1" lang="en-US" altLang="en-US"/>
              <a:t>成本率</a:t>
            </a:r>
            <a:endParaRPr kumimoji="1" lang="zh-CN" altLang="en-US"/>
          </a:p>
        </p:txBody>
      </p:sp>
      <p:sp>
        <p:nvSpPr>
          <p:cNvPr id="11" name="内容占位符 10"/>
          <p:cNvSpPr>
            <a:spLocks noGrp="1"/>
          </p:cNvSpPr>
          <p:nvPr>
            <p:ph sz="quarter" idx="4"/>
          </p:nvPr>
        </p:nvSpPr>
        <p:spPr/>
        <p:txBody>
          <a:bodyPr>
            <a:normAutofit fontScale="85000" lnSpcReduction="10000"/>
          </a:bodyPr>
          <a:lstStyle/>
          <a:p>
            <a:r>
              <a:rPr kumimoji="1" lang="en-US" altLang="en-US"/>
              <a:t>当投资者面临预算约束时，他们无法按照边际收益等于边际成本的法则扩大投资规模，此时必须选择其他替代标准，例如收益</a:t>
            </a:r>
            <a:r>
              <a:rPr kumimoji="1" lang="en-US" altLang="en-US"/>
              <a:t>/</a:t>
            </a:r>
            <a:r>
              <a:rPr kumimoji="1" lang="en-US" altLang="en-US"/>
              <a:t>成本率</a:t>
            </a:r>
            <a:endParaRPr kumimoji="1"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a:t>A</a:t>
            </a:r>
            <a:r>
              <a:rPr lang="zh-CN" altLang="en-US" dirty="0"/>
              <a:t>村有一篇</a:t>
            </a:r>
            <a:r>
              <a:rPr lang="en-US" altLang="zh-CN" dirty="0"/>
              <a:t>100</a:t>
            </a:r>
            <a:r>
              <a:rPr lang="zh-CN" altLang="en-US" dirty="0"/>
              <a:t>亩的林地，可以选择种果树或是马尾松，果树和马尾松不能混种</a:t>
            </a:r>
            <a:endParaRPr lang="en-US" altLang="zh-CN" dirty="0"/>
          </a:p>
          <a:p>
            <a:pPr lvl="1"/>
            <a:r>
              <a:rPr lang="zh-CN" altLang="en-US" dirty="0"/>
              <a:t>投资决策目标：让这块林地的收益最大化</a:t>
            </a:r>
            <a:endParaRPr lang="en-US" altLang="zh-CN" dirty="0"/>
          </a:p>
          <a:p>
            <a:r>
              <a:rPr lang="en-US" altLang="zh-CN" dirty="0"/>
              <a:t>A</a:t>
            </a:r>
            <a:r>
              <a:rPr lang="zh-CN" altLang="en-US" dirty="0"/>
              <a:t>村现有</a:t>
            </a:r>
            <a:r>
              <a:rPr lang="en-US" altLang="zh-CN" dirty="0"/>
              <a:t>10</a:t>
            </a:r>
            <a:r>
              <a:rPr lang="zh-CN" altLang="en-US" dirty="0"/>
              <a:t>万元集体资产，考虑什么样的投资方式比较好</a:t>
            </a:r>
            <a:endParaRPr lang="en-US" altLang="zh-CN" dirty="0"/>
          </a:p>
          <a:p>
            <a:pPr lvl="1"/>
            <a:r>
              <a:rPr lang="zh-CN" altLang="en-US" dirty="0"/>
              <a:t>投资决策目标：让这</a:t>
            </a:r>
            <a:r>
              <a:rPr lang="en-US" altLang="zh-CN" dirty="0"/>
              <a:t>10</a:t>
            </a:r>
            <a:r>
              <a:rPr lang="zh-CN" altLang="en-US" dirty="0"/>
              <a:t>万元的收益最大化</a:t>
            </a:r>
            <a:r>
              <a:rPr lang="en-US" altLang="zh-CN" dirty="0"/>
              <a:t>——</a:t>
            </a:r>
            <a:r>
              <a:rPr lang="zh-CN" altLang="en-US" dirty="0"/>
              <a:t>收益</a:t>
            </a:r>
            <a:r>
              <a:rPr lang="en-US" altLang="zh-CN" dirty="0"/>
              <a:t>/</a:t>
            </a:r>
            <a:r>
              <a:rPr lang="zh-CN" altLang="en-US" dirty="0"/>
              <a:t>成本比最大化</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六边形 5"/>
          <p:cNvSpPr/>
          <p:nvPr/>
        </p:nvSpPr>
        <p:spPr>
          <a:xfrm>
            <a:off x="3671900" y="2204864"/>
            <a:ext cx="2664296" cy="1368152"/>
          </a:xfrm>
          <a:prstGeom prst="hexagon">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1800" b="1"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rPr>
              <a:t>对利率较为敏感</a:t>
            </a:r>
            <a:endParaRPr kumimoji="0" lang="en-US" altLang="en-US" sz="1800" b="1"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en-US" b="1" dirty="0">
                <a:solidFill>
                  <a:prstClr val="white"/>
                </a:solidFill>
                <a:latin typeface="黑体" panose="02010609060101010101" charset="-122"/>
                <a:ea typeface="黑体" panose="02010609060101010101" charset="-122"/>
              </a:rPr>
              <a:t>Sensitive</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to</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the</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interest</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rates</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used</a:t>
            </a:r>
            <a:endParaRPr kumimoji="0" lang="zh-CN" altLang="en-US" sz="1800" b="1"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560" y="1556792"/>
            <a:ext cx="3240360" cy="3108100"/>
          </a:xfrm>
          <a:prstGeom prst="rect">
            <a:avLst/>
          </a:prstGeom>
        </p:spPr>
      </p:pic>
      <p:sp>
        <p:nvSpPr>
          <p:cNvPr id="5" name="TextBox 4"/>
          <p:cNvSpPr txBox="1"/>
          <p:nvPr/>
        </p:nvSpPr>
        <p:spPr>
          <a:xfrm>
            <a:off x="1619672" y="2420888"/>
            <a:ext cx="144016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净</a:t>
            </a:r>
            <a:r>
              <a:rPr kumimoji="0" lang="en-US"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净现值</a:t>
            </a: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标准</a:t>
            </a:r>
            <a:endPar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endParaRPr>
          </a:p>
        </p:txBody>
      </p:sp>
      <p:sp>
        <p:nvSpPr>
          <p:cNvPr id="9" name="右箭头 8"/>
          <p:cNvSpPr/>
          <p:nvPr/>
        </p:nvSpPr>
        <p:spPr>
          <a:xfrm>
            <a:off x="730599" y="4221088"/>
            <a:ext cx="4320480" cy="2232248"/>
          </a:xfrm>
          <a:prstGeom prst="rightArrow">
            <a:avLst>
              <a:gd name="adj1" fmla="val 78727"/>
              <a:gd name="adj2" fmla="val 29784"/>
            </a:avLst>
          </a:prstGeom>
          <a:gradFill flip="none" rotWithShape="1">
            <a:gsLst>
              <a:gs pos="0">
                <a:srgbClr val="35EB35">
                  <a:shade val="30000"/>
                  <a:satMod val="115000"/>
                </a:srgbClr>
              </a:gs>
              <a:gs pos="50000">
                <a:srgbClr val="35EB35">
                  <a:shade val="67500"/>
                  <a:satMod val="115000"/>
                </a:srgbClr>
              </a:gs>
              <a:gs pos="100000">
                <a:srgbClr val="35EB35">
                  <a:shade val="100000"/>
                  <a:satMod val="115000"/>
                </a:srgbClr>
              </a:gs>
            </a:gsLst>
            <a:lin ang="18900000" scaled="1"/>
            <a:tileRect/>
          </a:gradFill>
          <a:ln>
            <a:noFill/>
          </a:ln>
          <a:effectLst>
            <a:outerShdw blurRad="215900" dist="1778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右箭头 9"/>
          <p:cNvSpPr/>
          <p:nvPr/>
        </p:nvSpPr>
        <p:spPr>
          <a:xfrm>
            <a:off x="730599" y="4257336"/>
            <a:ext cx="4284000" cy="2196000"/>
          </a:xfrm>
          <a:prstGeom prst="rightArrow">
            <a:avLst>
              <a:gd name="adj1" fmla="val 78727"/>
              <a:gd name="adj2" fmla="val 29784"/>
            </a:avLst>
          </a:prstGeom>
          <a:gradFill flip="none" rotWithShape="1">
            <a:gsLst>
              <a:gs pos="0">
                <a:srgbClr val="35EB35">
                  <a:shade val="30000"/>
                  <a:satMod val="115000"/>
                </a:srgbClr>
              </a:gs>
              <a:gs pos="50000">
                <a:srgbClr val="35EB35">
                  <a:shade val="67500"/>
                  <a:satMod val="115000"/>
                </a:srgbClr>
              </a:gs>
              <a:gs pos="100000">
                <a:srgbClr val="35EB35">
                  <a:shade val="100000"/>
                  <a:satMod val="115000"/>
                </a:srgbClr>
              </a:gs>
            </a:gsLst>
            <a:lin ang="8100000" scaled="1"/>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右箭头 10"/>
          <p:cNvSpPr/>
          <p:nvPr/>
        </p:nvSpPr>
        <p:spPr>
          <a:xfrm>
            <a:off x="885344" y="4613724"/>
            <a:ext cx="3974205" cy="1512168"/>
          </a:xfrm>
          <a:prstGeom prst="rightArrow">
            <a:avLst>
              <a:gd name="adj1" fmla="val 89266"/>
              <a:gd name="adj2" fmla="val 29581"/>
            </a:avLst>
          </a:prstGeom>
          <a:solidFill>
            <a:srgbClr val="00B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2000" dirty="0">
                <a:solidFill>
                  <a:prstClr val="white"/>
                </a:solidFill>
                <a:latin typeface="黑体" panose="02010609060101010101" charset="-122"/>
                <a:ea typeface="黑体" panose="02010609060101010101" charset="-122"/>
              </a:rPr>
              <a:t>当利率改变时，按净现值或收益</a:t>
            </a:r>
            <a:r>
              <a:rPr lang="en-US" altLang="en-US" sz="2000" dirty="0">
                <a:solidFill>
                  <a:prstClr val="white"/>
                </a:solidFill>
                <a:latin typeface="黑体" panose="02010609060101010101" charset="-122"/>
                <a:ea typeface="黑体" panose="02010609060101010101" charset="-122"/>
              </a:rPr>
              <a:t>/</a:t>
            </a:r>
            <a:r>
              <a:rPr lang="en-US" altLang="en-US" sz="2000" dirty="0">
                <a:solidFill>
                  <a:prstClr val="white"/>
                </a:solidFill>
                <a:latin typeface="黑体" panose="02010609060101010101" charset="-122"/>
                <a:ea typeface="黑体" panose="02010609060101010101" charset="-122"/>
              </a:rPr>
              <a:t>成本率标准判断的项目相对吸引力也会发生变化</a:t>
            </a:r>
            <a:endParaRPr kumimoji="0" lang="zh-CN" altLang="en-US" sz="20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endParaRPr>
          </a:p>
        </p:txBody>
      </p:sp>
      <p:pic>
        <p:nvPicPr>
          <p:cNvPr id="12" name="图片 11"/>
          <p:cNvPicPr>
            <a:picLocks noChangeAspect="1"/>
          </p:cNvPicPr>
          <p:nvPr/>
        </p:nvPicPr>
        <p:blipFill>
          <a:blip r:embed="rId1">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958068" y="1493221"/>
            <a:ext cx="3240360" cy="3108100"/>
          </a:xfrm>
          <a:prstGeom prst="rect">
            <a:avLst/>
          </a:prstGeom>
        </p:spPr>
      </p:pic>
      <p:sp>
        <p:nvSpPr>
          <p:cNvPr id="13" name="TextBox 12"/>
          <p:cNvSpPr txBox="1"/>
          <p:nvPr/>
        </p:nvSpPr>
        <p:spPr>
          <a:xfrm>
            <a:off x="7002184" y="2350331"/>
            <a:ext cx="144016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收益</a:t>
            </a:r>
            <a:r>
              <a:rPr kumimoji="0" lang="en-US" altLang="zh-CN"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a:t>
            </a: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成本率</a:t>
            </a:r>
            <a:endPar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endParaRPr>
          </a:p>
        </p:txBody>
      </p:sp>
      <p:sp>
        <p:nvSpPr>
          <p:cNvPr id="8" name="标题 7"/>
          <p:cNvSpPr>
            <a:spLocks noGrp="1"/>
          </p:cNvSpPr>
          <p:nvPr>
            <p:ph type="title"/>
          </p:nvPr>
        </p:nvSpPr>
        <p:spPr/>
        <p:txBody>
          <a:bodyPr>
            <a:normAutofit fontScale="90000"/>
          </a:bodyPr>
          <a:lstStyle/>
          <a:p>
            <a:r>
              <a:rPr kumimoji="1" lang="en-US" altLang="zh-CN"/>
              <a:t>H</a:t>
            </a:r>
            <a:r>
              <a:rPr kumimoji="1" lang="en-US" altLang="en-US"/>
              <a:t>ow</a:t>
            </a:r>
            <a:r>
              <a:rPr kumimoji="1" lang="en-US" altLang="en-US"/>
              <a:t> </a:t>
            </a:r>
            <a:r>
              <a:rPr kumimoji="1" lang="en-US" altLang="en-US"/>
              <a:t>to</a:t>
            </a:r>
            <a:r>
              <a:rPr kumimoji="1" lang="en-US" altLang="en-US"/>
              <a:t> </a:t>
            </a:r>
            <a:r>
              <a:rPr kumimoji="1" lang="en-US" altLang="en-US"/>
              <a:t>choose?</a:t>
            </a:r>
            <a:endParaRPr lang="zh-CN" altLang="en-US"/>
          </a:p>
        </p:txBody>
      </p:sp>
      <p:sp>
        <p:nvSpPr>
          <p:cNvPr id="14" name="折角形 13"/>
          <p:cNvSpPr/>
          <p:nvPr/>
        </p:nvSpPr>
        <p:spPr>
          <a:xfrm>
            <a:off x="5133638" y="4430126"/>
            <a:ext cx="3974205" cy="2427874"/>
          </a:xfrm>
          <a:prstGeom prst="foldedCorner">
            <a:avLst>
              <a:gd name="adj" fmla="val 7022"/>
            </a:avLst>
          </a:prstGeo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2000" dirty="0">
                <a:solidFill>
                  <a:sysClr val="windowText" lastClr="000000"/>
                </a:solidFill>
                <a:latin typeface="黑体" panose="02010609060101010101" charset="-122"/>
                <a:ea typeface="黑体" panose="02010609060101010101" charset="-122"/>
              </a:rPr>
              <a:t>希望从固定预算中获得最大回报的投资人应该选择</a:t>
            </a:r>
            <a:r>
              <a:rPr lang="en-US" altLang="en-US" sz="2000" dirty="0">
                <a:solidFill>
                  <a:srgbClr val="C00000"/>
                </a:solidFill>
                <a:latin typeface="黑体" panose="02010609060101010101" charset="-122"/>
                <a:ea typeface="黑体" panose="02010609060101010101" charset="-122"/>
              </a:rPr>
              <a:t>内部收益率</a:t>
            </a:r>
            <a:r>
              <a:rPr lang="en-US" altLang="en-US" sz="2000" dirty="0">
                <a:solidFill>
                  <a:sysClr val="windowText" lastClr="000000"/>
                </a:solidFill>
                <a:latin typeface="黑体" panose="02010609060101010101" charset="-122"/>
                <a:ea typeface="黑体" panose="02010609060101010101" charset="-122"/>
              </a:rPr>
              <a:t>标准对项目进行排序</a:t>
            </a:r>
            <a:endParaRPr lang="en-US" altLang="en-US" sz="2000" dirty="0">
              <a:solidFill>
                <a:sysClr val="windowText" lastClr="000000"/>
              </a:solidFill>
              <a:latin typeface="黑体" panose="02010609060101010101" charset="-122"/>
              <a:ea typeface="黑体" panose="02010609060101010101"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Investors</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seeking</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to</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maximize</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their</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return</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from</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a</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fixed</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budget</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may</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therefore</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choose</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to</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rank</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projects</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by</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their</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internal</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rates</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of</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return</a:t>
            </a:r>
            <a:endPar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时间周期</a:t>
            </a:r>
            <a:r>
              <a:rPr lang="en-US" altLang="en-US" dirty="0"/>
              <a:t>的影响</a:t>
            </a:r>
            <a:endParaRPr lang="zh-CN" altLang="en-US" dirty="0"/>
          </a:p>
        </p:txBody>
      </p:sp>
      <p:sp>
        <p:nvSpPr>
          <p:cNvPr id="5" name="文本占位符 4"/>
          <p:cNvSpPr>
            <a:spLocks noGrp="1"/>
          </p:cNvSpPr>
          <p:nvPr>
            <p:ph type="body" idx="1"/>
          </p:nvPr>
        </p:nvSpPr>
        <p:spPr/>
        <p:txBody>
          <a:bodyPr>
            <a:normAutofit/>
          </a:bodyPr>
          <a:lstStyle/>
          <a:p>
            <a:r>
              <a:rPr lang="zh-CN" altLang="en-US" dirty="0"/>
              <a:t>按净收益或收益</a:t>
            </a:r>
            <a:r>
              <a:rPr lang="en-US" altLang="zh-CN" dirty="0"/>
              <a:t>/</a:t>
            </a:r>
            <a:r>
              <a:rPr lang="zh-CN" altLang="en-US" dirty="0"/>
              <a:t>成本率</a:t>
            </a:r>
            <a:endParaRPr kumimoji="1" lang="zh-CN" altLang="en-US"/>
          </a:p>
        </p:txBody>
      </p:sp>
      <p:sp>
        <p:nvSpPr>
          <p:cNvPr id="3" name="内容占位符 2"/>
          <p:cNvSpPr>
            <a:spLocks noGrp="1"/>
          </p:cNvSpPr>
          <p:nvPr>
            <p:ph sz="half" idx="2"/>
          </p:nvPr>
        </p:nvSpPr>
        <p:spPr/>
        <p:txBody>
          <a:bodyPr>
            <a:normAutofit fontScale="92500" lnSpcReduction="10000"/>
          </a:bodyPr>
          <a:lstStyle/>
          <a:p>
            <a:r>
              <a:rPr lang="zh-CN" altLang="en-US" dirty="0"/>
              <a:t>假定项目按给定贴现率再投资</a:t>
            </a:r>
            <a:endParaRPr lang="en-US" altLang="zh-CN" dirty="0"/>
          </a:p>
          <a:p>
            <a:r>
              <a:rPr lang="en-US" altLang="en-US" dirty="0"/>
              <a:t>When</a:t>
            </a:r>
            <a:r>
              <a:rPr lang="en-US" altLang="en-US" dirty="0"/>
              <a:t> </a:t>
            </a:r>
            <a:r>
              <a:rPr lang="en-US" altLang="en-US" dirty="0"/>
              <a:t>they</a:t>
            </a:r>
            <a:r>
              <a:rPr lang="en-US" altLang="en-US" dirty="0"/>
              <a:t> </a:t>
            </a:r>
            <a:r>
              <a:rPr lang="en-US" altLang="en-US" dirty="0"/>
              <a:t>have</a:t>
            </a:r>
            <a:r>
              <a:rPr lang="en-US" altLang="en-US" dirty="0"/>
              <a:t> </a:t>
            </a:r>
            <a:r>
              <a:rPr lang="en-US" altLang="en-US" dirty="0"/>
              <a:t>different</a:t>
            </a:r>
            <a:r>
              <a:rPr lang="en-US" altLang="en-US" dirty="0"/>
              <a:t> </a:t>
            </a:r>
            <a:r>
              <a:rPr lang="en-US" altLang="en-US" dirty="0"/>
              <a:t>time</a:t>
            </a:r>
            <a:r>
              <a:rPr lang="en-US" altLang="en-US" dirty="0"/>
              <a:t> </a:t>
            </a:r>
            <a:r>
              <a:rPr lang="en-US" altLang="en-US" dirty="0"/>
              <a:t>horizons,</a:t>
            </a:r>
            <a:r>
              <a:rPr lang="en-US" altLang="en-US" dirty="0"/>
              <a:t> </a:t>
            </a:r>
            <a:r>
              <a:rPr lang="en-US" altLang="en-US" dirty="0"/>
              <a:t>net</a:t>
            </a:r>
            <a:r>
              <a:rPr lang="en-US" altLang="en-US" dirty="0"/>
              <a:t> </a:t>
            </a:r>
            <a:r>
              <a:rPr lang="en-US" altLang="en-US" dirty="0"/>
              <a:t>benefit</a:t>
            </a:r>
            <a:r>
              <a:rPr lang="en-US" altLang="en-US" dirty="0"/>
              <a:t> </a:t>
            </a:r>
            <a:r>
              <a:rPr lang="en-US" altLang="en-US" dirty="0"/>
              <a:t>and</a:t>
            </a:r>
            <a:r>
              <a:rPr lang="en-US" altLang="en-US" dirty="0"/>
              <a:t> </a:t>
            </a:r>
            <a:r>
              <a:rPr lang="en-US" altLang="en-US" dirty="0"/>
              <a:t>the</a:t>
            </a:r>
            <a:r>
              <a:rPr lang="en-US" altLang="en-US" dirty="0"/>
              <a:t> </a:t>
            </a:r>
            <a:r>
              <a:rPr lang="en-US" altLang="en-US" dirty="0"/>
              <a:t>benefit/cost</a:t>
            </a:r>
            <a:r>
              <a:rPr lang="en-US" altLang="en-US" dirty="0"/>
              <a:t> </a:t>
            </a:r>
            <a:r>
              <a:rPr lang="en-US" altLang="en-US" dirty="0"/>
              <a:t>ratio</a:t>
            </a:r>
            <a:r>
              <a:rPr lang="en-US" altLang="en-US" dirty="0"/>
              <a:t> </a:t>
            </a:r>
            <a:r>
              <a:rPr lang="en-US" altLang="en-US" dirty="0"/>
              <a:t>assume</a:t>
            </a:r>
            <a:r>
              <a:rPr lang="en-US" altLang="en-US" dirty="0"/>
              <a:t> </a:t>
            </a:r>
            <a:r>
              <a:rPr lang="en-US" altLang="en-US" dirty="0"/>
              <a:t>that</a:t>
            </a:r>
            <a:r>
              <a:rPr lang="en-US" altLang="en-US" dirty="0"/>
              <a:t> </a:t>
            </a:r>
            <a:r>
              <a:rPr lang="en-US" altLang="en-US" dirty="0">
                <a:solidFill>
                  <a:srgbClr val="C00000"/>
                </a:solidFill>
              </a:rPr>
              <a:t>returns</a:t>
            </a:r>
            <a:r>
              <a:rPr lang="en-US" altLang="en-US" dirty="0">
                <a:solidFill>
                  <a:srgbClr val="C00000"/>
                </a:solidFill>
              </a:rPr>
              <a:t> </a:t>
            </a:r>
            <a:r>
              <a:rPr lang="en-US" altLang="en-US" dirty="0">
                <a:solidFill>
                  <a:srgbClr val="C00000"/>
                </a:solidFill>
              </a:rPr>
              <a:t>are</a:t>
            </a:r>
            <a:r>
              <a:rPr lang="en-US" altLang="en-US" dirty="0">
                <a:solidFill>
                  <a:srgbClr val="C00000"/>
                </a:solidFill>
              </a:rPr>
              <a:t> </a:t>
            </a:r>
            <a:r>
              <a:rPr lang="en-US" altLang="en-US" dirty="0">
                <a:solidFill>
                  <a:srgbClr val="C00000"/>
                </a:solidFill>
              </a:rPr>
              <a:t>reinvested</a:t>
            </a:r>
            <a:r>
              <a:rPr lang="en-US" altLang="en-US" dirty="0">
                <a:solidFill>
                  <a:srgbClr val="C00000"/>
                </a:solidFill>
              </a:rPr>
              <a:t> </a:t>
            </a:r>
            <a:r>
              <a:rPr lang="en-US" altLang="en-US" dirty="0">
                <a:solidFill>
                  <a:srgbClr val="C00000"/>
                </a:solidFill>
              </a:rPr>
              <a:t>at</a:t>
            </a:r>
            <a:r>
              <a:rPr lang="en-US" altLang="en-US" dirty="0">
                <a:solidFill>
                  <a:srgbClr val="C00000"/>
                </a:solidFill>
              </a:rPr>
              <a:t> </a:t>
            </a:r>
            <a:r>
              <a:rPr lang="en-US" altLang="en-US" dirty="0">
                <a:solidFill>
                  <a:srgbClr val="C00000"/>
                </a:solidFill>
              </a:rPr>
              <a:t>the</a:t>
            </a:r>
            <a:r>
              <a:rPr lang="en-US" altLang="en-US" dirty="0">
                <a:solidFill>
                  <a:srgbClr val="C00000"/>
                </a:solidFill>
              </a:rPr>
              <a:t> </a:t>
            </a:r>
            <a:r>
              <a:rPr lang="en-US" altLang="en-US" dirty="0">
                <a:solidFill>
                  <a:srgbClr val="C00000"/>
                </a:solidFill>
              </a:rPr>
              <a:t>discount</a:t>
            </a:r>
            <a:r>
              <a:rPr lang="en-US" altLang="en-US" dirty="0">
                <a:solidFill>
                  <a:srgbClr val="C00000"/>
                </a:solidFill>
              </a:rPr>
              <a:t> </a:t>
            </a:r>
            <a:r>
              <a:rPr lang="en-US" altLang="en-US" dirty="0">
                <a:solidFill>
                  <a:srgbClr val="C00000"/>
                </a:solidFill>
              </a:rPr>
              <a:t>rate</a:t>
            </a:r>
            <a:r>
              <a:rPr lang="en-US" altLang="en-US" dirty="0"/>
              <a:t>.</a:t>
            </a:r>
            <a:endParaRPr lang="zh-CN" altLang="en-US" dirty="0"/>
          </a:p>
        </p:txBody>
      </p:sp>
      <p:sp>
        <p:nvSpPr>
          <p:cNvPr id="6" name="文本占位符 5"/>
          <p:cNvSpPr>
            <a:spLocks noGrp="1"/>
          </p:cNvSpPr>
          <p:nvPr>
            <p:ph type="body" sz="quarter" idx="3"/>
          </p:nvPr>
        </p:nvSpPr>
        <p:spPr/>
        <p:txBody>
          <a:bodyPr>
            <a:normAutofit/>
          </a:bodyPr>
          <a:lstStyle/>
          <a:p>
            <a:r>
              <a:rPr kumimoji="1" lang="en-US" altLang="en-US"/>
              <a:t>按内部收益率</a:t>
            </a:r>
            <a:endParaRPr kumimoji="1" lang="zh-CN" altLang="en-US"/>
          </a:p>
        </p:txBody>
      </p:sp>
      <p:sp>
        <p:nvSpPr>
          <p:cNvPr id="4" name="内容占位符 3"/>
          <p:cNvSpPr>
            <a:spLocks noGrp="1"/>
          </p:cNvSpPr>
          <p:nvPr>
            <p:ph sz="quarter" idx="4"/>
          </p:nvPr>
        </p:nvSpPr>
        <p:spPr/>
        <p:txBody>
          <a:bodyPr>
            <a:normAutofit fontScale="92500" lnSpcReduction="10000"/>
          </a:bodyPr>
          <a:lstStyle/>
          <a:p>
            <a:r>
              <a:rPr lang="zh-CN" altLang="en-US" dirty="0"/>
              <a:t>假定项目按内部收益率再投资</a:t>
            </a:r>
            <a:endParaRPr lang="en-US" altLang="zh-CN" dirty="0"/>
          </a:p>
          <a:p>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r>
              <a:rPr lang="en-US" altLang="en-US" dirty="0"/>
              <a:t> </a:t>
            </a:r>
            <a:r>
              <a:rPr lang="en-US" altLang="en-US" dirty="0"/>
              <a:t>assumes</a:t>
            </a:r>
            <a:r>
              <a:rPr lang="en-US" altLang="en-US" dirty="0"/>
              <a:t> </a:t>
            </a:r>
            <a:r>
              <a:rPr lang="en-US" altLang="en-US" dirty="0"/>
              <a:t>that</a:t>
            </a:r>
            <a:r>
              <a:rPr lang="en-US" altLang="en-US" dirty="0"/>
              <a:t> </a:t>
            </a:r>
            <a:r>
              <a:rPr lang="en-US" altLang="en-US" dirty="0"/>
              <a:t>returns</a:t>
            </a:r>
            <a:r>
              <a:rPr lang="en-US" altLang="en-US" dirty="0"/>
              <a:t> </a:t>
            </a:r>
            <a:r>
              <a:rPr lang="en-US" altLang="en-US" dirty="0"/>
              <a:t>are</a:t>
            </a:r>
            <a:r>
              <a:rPr lang="en-US" altLang="en-US" dirty="0"/>
              <a:t> </a:t>
            </a:r>
            <a:r>
              <a:rPr lang="en-US" altLang="en-US" dirty="0"/>
              <a:t>reinvested</a:t>
            </a:r>
            <a:r>
              <a:rPr lang="en-US" altLang="en-US" dirty="0"/>
              <a:t> </a:t>
            </a:r>
            <a:r>
              <a:rPr lang="en-US" altLang="en-US" dirty="0"/>
              <a:t>at</a:t>
            </a:r>
            <a:r>
              <a:rPr lang="en-US" altLang="en-US" dirty="0"/>
              <a:t> </a:t>
            </a:r>
            <a:r>
              <a:rPr lang="en-US" altLang="en-US" dirty="0"/>
              <a:t>the</a:t>
            </a:r>
            <a:r>
              <a:rPr lang="en-US" altLang="en-US" dirty="0"/>
              <a:t> </a:t>
            </a:r>
            <a:r>
              <a:rPr lang="en-US" altLang="en-US" dirty="0"/>
              <a:t>project</a:t>
            </a:r>
            <a:r>
              <a:rPr lang="en-US" altLang="en-US" dirty="0"/>
              <a:t> </a:t>
            </a:r>
            <a:r>
              <a:rPr lang="en-US" altLang="en-US" dirty="0"/>
              <a:t>rate(or</a:t>
            </a:r>
            <a:r>
              <a:rPr lang="en-US" altLang="en-US" dirty="0"/>
              <a:t> </a:t>
            </a:r>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不同周期项目的投资决策</a:t>
            </a:r>
            <a:endParaRPr lang="zh-CN" altLang="en-US" dirty="0"/>
          </a:p>
        </p:txBody>
      </p:sp>
      <p:sp>
        <p:nvSpPr>
          <p:cNvPr id="3" name="内容占位符 2"/>
          <p:cNvSpPr>
            <a:spLocks noGrp="1"/>
          </p:cNvSpPr>
          <p:nvPr>
            <p:ph idx="1"/>
          </p:nvPr>
        </p:nvSpPr>
        <p:spPr>
          <a:xfrm>
            <a:off x="323528" y="1772816"/>
            <a:ext cx="3960440" cy="4608512"/>
          </a:xfrm>
          <a:gradFill flip="none" rotWithShape="1">
            <a:gsLst>
              <a:gs pos="0">
                <a:srgbClr val="C6D89F">
                  <a:tint val="66000"/>
                  <a:satMod val="160000"/>
                </a:srgbClr>
              </a:gs>
              <a:gs pos="50000">
                <a:srgbClr val="C6D89F">
                  <a:tint val="44500"/>
                  <a:satMod val="160000"/>
                </a:srgbClr>
              </a:gs>
              <a:gs pos="100000">
                <a:srgbClr val="C6D89F">
                  <a:tint val="23500"/>
                  <a:satMod val="160000"/>
                </a:srgbClr>
              </a:gs>
            </a:gsLst>
            <a:lin ang="0" scaled="1"/>
            <a:tileRect/>
          </a:gradFill>
          <a:effectLst>
            <a:innerShdw blurRad="63500" dist="50800" dir="8100000">
              <a:prstClr val="black">
                <a:alpha val="50000"/>
              </a:prstClr>
            </a:innerShdw>
          </a:effectLst>
        </p:spPr>
        <p:txBody>
          <a:bodyPr/>
          <a:lstStyle/>
          <a:p>
            <a:r>
              <a:rPr lang="zh-CN" altLang="en-US" dirty="0"/>
              <a:t>项目一：投入</a:t>
            </a:r>
            <a:r>
              <a:rPr lang="en-US" altLang="zh-CN" dirty="0"/>
              <a:t>10</a:t>
            </a:r>
            <a:r>
              <a:rPr lang="zh-CN" altLang="en-US" dirty="0"/>
              <a:t>万造林，</a:t>
            </a:r>
            <a:r>
              <a:rPr lang="en-US" altLang="zh-CN" dirty="0"/>
              <a:t>10</a:t>
            </a:r>
            <a:r>
              <a:rPr lang="zh-CN" altLang="en-US" dirty="0"/>
              <a:t>年后收益</a:t>
            </a:r>
            <a:r>
              <a:rPr lang="en-US" altLang="zh-CN" dirty="0"/>
              <a:t>20</a:t>
            </a:r>
            <a:r>
              <a:rPr lang="zh-CN" altLang="en-US" dirty="0"/>
              <a:t>万元</a:t>
            </a:r>
            <a:endParaRPr lang="zh-CN" altLang="en-US" dirty="0"/>
          </a:p>
        </p:txBody>
      </p:sp>
      <p:sp>
        <p:nvSpPr>
          <p:cNvPr id="4" name="内容占位符 2"/>
          <p:cNvSpPr txBox="1"/>
          <p:nvPr/>
        </p:nvSpPr>
        <p:spPr>
          <a:xfrm>
            <a:off x="4283968" y="1762961"/>
            <a:ext cx="4410032" cy="4608512"/>
          </a:xfrm>
          <a:prstGeom prst="rect">
            <a:avLst/>
          </a:prstGeom>
          <a:gradFill flip="none" rotWithShape="1">
            <a:gsLst>
              <a:gs pos="0">
                <a:srgbClr val="C6D89F">
                  <a:tint val="66000"/>
                  <a:satMod val="160000"/>
                </a:srgbClr>
              </a:gs>
              <a:gs pos="50000">
                <a:srgbClr val="C6D89F">
                  <a:tint val="44500"/>
                  <a:satMod val="160000"/>
                </a:srgbClr>
              </a:gs>
              <a:gs pos="100000">
                <a:srgbClr val="C6D89F">
                  <a:tint val="23500"/>
                  <a:satMod val="160000"/>
                </a:srgbClr>
              </a:gs>
            </a:gsLst>
            <a:lin ang="10800000" scaled="1"/>
            <a:tileRect/>
          </a:gradFill>
          <a:effectLst>
            <a:outerShdw blurRad="50800" dist="38100" dir="2700000" algn="tl"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项目二：投入</a:t>
            </a:r>
            <a:r>
              <a:rPr lang="en-US" altLang="zh-CN" dirty="0"/>
              <a:t>20</a:t>
            </a:r>
            <a:r>
              <a:rPr lang="zh-CN" altLang="en-US" dirty="0"/>
              <a:t>万造林，</a:t>
            </a:r>
            <a:r>
              <a:rPr lang="en-US" altLang="zh-CN" dirty="0"/>
              <a:t>30</a:t>
            </a:r>
            <a:r>
              <a:rPr lang="zh-CN" altLang="en-US" dirty="0"/>
              <a:t>年后收益</a:t>
            </a:r>
            <a:r>
              <a:rPr lang="en-US" altLang="zh-CN" dirty="0"/>
              <a:t>100</a:t>
            </a:r>
            <a:r>
              <a:rPr lang="zh-CN" altLang="en-US" dirty="0"/>
              <a:t>万元</a:t>
            </a:r>
            <a:endParaRPr lang="zh-CN" altLang="en-US" dirty="0"/>
          </a:p>
        </p:txBody>
      </p:sp>
      <p:sp>
        <p:nvSpPr>
          <p:cNvPr id="5" name="标题 1"/>
          <p:cNvSpPr txBox="1"/>
          <p:nvPr/>
        </p:nvSpPr>
        <p:spPr>
          <a:xfrm>
            <a:off x="1357300" y="3901616"/>
            <a:ext cx="5853336" cy="350912"/>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rmAutofit fontScale="475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r>
              <a:rPr lang="zh-CN" altLang="en-US" dirty="0"/>
              <a:t>社会折现率</a:t>
            </a:r>
            <a:r>
              <a:rPr lang="en-US" altLang="zh-CN" dirty="0"/>
              <a:t>5%</a:t>
            </a:r>
            <a:endParaRPr lang="zh-CN" altLang="en-US" dirty="0"/>
          </a:p>
        </p:txBody>
      </p:sp>
      <p:graphicFrame>
        <p:nvGraphicFramePr>
          <p:cNvPr id="7" name="表格 6"/>
          <p:cNvGraphicFramePr>
            <a:graphicFrameLocks noGrp="1"/>
          </p:cNvGraphicFramePr>
          <p:nvPr/>
        </p:nvGraphicFramePr>
        <p:xfrm>
          <a:off x="2298482" y="4542380"/>
          <a:ext cx="4330115" cy="1539240"/>
        </p:xfrm>
        <a:graphic>
          <a:graphicData uri="http://schemas.openxmlformats.org/drawingml/2006/table">
            <a:tbl>
              <a:tblPr>
                <a:tableStyleId>{5C22544A-7EE6-4342-B048-85BDC9FD1C3A}</a:tableStyleId>
              </a:tblPr>
              <a:tblGrid>
                <a:gridCol w="866023"/>
                <a:gridCol w="866023"/>
                <a:gridCol w="866023"/>
                <a:gridCol w="866023"/>
                <a:gridCol w="866023"/>
              </a:tblGrid>
              <a:tr h="180975">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zh-CN" altLang="en-US" sz="1200" u="none" strike="noStrike">
                          <a:effectLst/>
                        </a:rPr>
                        <a:t>投入</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en-US" sz="1200" u="none" strike="noStrike">
                          <a:effectLst/>
                        </a:rPr>
                        <a:t>n</a:t>
                      </a:r>
                      <a:endParaRPr 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en-US" sz="1200" u="none" strike="noStrike">
                          <a:effectLst/>
                        </a:rPr>
                        <a:t>FV</a:t>
                      </a:r>
                      <a:endParaRPr 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en-US" sz="1200" u="none" strike="noStrike" dirty="0" err="1">
                          <a:effectLst/>
                        </a:rPr>
                        <a:t>i</a:t>
                      </a:r>
                      <a:endParaRPr 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r>
              <a:tr h="180975">
                <a:tc>
                  <a:txBody>
                    <a:bodyPr/>
                    <a:lstStyle/>
                    <a:p>
                      <a:pPr algn="l" fontAlgn="ctr"/>
                      <a:r>
                        <a:rPr lang="zh-CN" altLang="en-US" sz="1200" u="none" strike="noStrike">
                          <a:effectLst/>
                        </a:rPr>
                        <a:t>项目一</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r" fontAlgn="ctr"/>
                      <a:r>
                        <a:rPr lang="en-US" altLang="zh-CN" sz="1200" u="none" strike="noStrike">
                          <a:effectLst/>
                        </a:rPr>
                        <a:t>-10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20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5%</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a:txBody>
                    <a:bodyPr/>
                    <a:lstStyle/>
                    <a:p>
                      <a:pPr algn="l" fontAlgn="ctr"/>
                      <a:r>
                        <a:rPr lang="zh-CN" altLang="en-US" sz="1200" u="none" strike="noStrike" dirty="0">
                          <a:effectLst/>
                        </a:rPr>
                        <a:t>项目二</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r" fontAlgn="ctr"/>
                      <a:r>
                        <a:rPr lang="en-US" altLang="zh-CN" sz="1200" u="none" strike="noStrike">
                          <a:effectLst/>
                        </a:rPr>
                        <a:t>-20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30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100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5%</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gridSpan="2">
                  <a:txBody>
                    <a:bodyPr/>
                    <a:lstStyle/>
                    <a:p>
                      <a:pPr algn="l" fontAlgn="ctr"/>
                      <a:r>
                        <a:rPr lang="zh-CN" altLang="en-US" sz="1200" u="none" strike="noStrike">
                          <a:effectLst/>
                        </a:rPr>
                        <a:t>投资决策标准</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c hMerge="1">
                  <a:tcP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c>
                  <a:txBody>
                    <a:bodyPr/>
                    <a:lstStyle/>
                    <a:p>
                      <a:pPr algn="l" fontAlgn="ct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r>
              <a:tr h="180975">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r>
                        <a:rPr lang="zh-CN" altLang="en-US" sz="1200" u="none" strike="noStrike">
                          <a:effectLst/>
                        </a:rPr>
                        <a:t>净现值</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r>
                        <a:rPr lang="zh-CN" altLang="en-US" sz="1200" u="none" strike="noStrike">
                          <a:effectLst/>
                        </a:rPr>
                        <a:t>收益</a:t>
                      </a:r>
                      <a:r>
                        <a:rPr lang="en-US" altLang="zh-CN" sz="1200" u="none" strike="noStrike">
                          <a:effectLst/>
                        </a:rPr>
                        <a:t>/</a:t>
                      </a:r>
                      <a:r>
                        <a:rPr lang="zh-CN" altLang="en-US" sz="1200" u="none" strike="noStrike">
                          <a:effectLst/>
                        </a:rPr>
                        <a:t>成本</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r>
                        <a:rPr lang="en-US" sz="1200" u="none" strike="noStrike">
                          <a:effectLst/>
                        </a:rPr>
                        <a:t>IRR</a:t>
                      </a:r>
                      <a:endParaRPr 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r>
              <a:tr h="180975">
                <a:tc>
                  <a:txBody>
                    <a:bodyPr/>
                    <a:lstStyle/>
                    <a:p>
                      <a:pPr algn="l" fontAlgn="ctr"/>
                      <a:r>
                        <a:rPr lang="zh-CN" altLang="en-US" sz="1200" u="none" strike="noStrike">
                          <a:effectLst/>
                        </a:rPr>
                        <a:t>项目一</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r" fontAlgn="ctr"/>
                      <a:r>
                        <a:rPr lang="en-US" altLang="zh-CN" sz="1200" u="none" strike="noStrike">
                          <a:effectLst/>
                        </a:rPr>
                        <a:t>¥2.28</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1.23</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7.18%</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a:txBody>
                    <a:bodyPr/>
                    <a:lstStyle/>
                    <a:p>
                      <a:pPr algn="l" fontAlgn="ctr"/>
                      <a:r>
                        <a:rPr lang="zh-CN" altLang="en-US" sz="1200" u="none" strike="noStrike" dirty="0">
                          <a:effectLst/>
                        </a:rPr>
                        <a:t>项目二</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r" fontAlgn="ctr"/>
                      <a:r>
                        <a:rPr lang="en-US" altLang="zh-CN" sz="1200" u="none" strike="noStrike">
                          <a:effectLst/>
                        </a:rPr>
                        <a:t>¥3.14</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1.16</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5.51%</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a:t>
            </a:r>
            <a:endParaRPr lang="zh-CN" altLang="en-US" dirty="0"/>
          </a:p>
        </p:txBody>
      </p:sp>
      <p:sp>
        <p:nvSpPr>
          <p:cNvPr id="3" name="内容占位符 2"/>
          <p:cNvSpPr>
            <a:spLocks noGrp="1"/>
          </p:cNvSpPr>
          <p:nvPr>
            <p:ph idx="1"/>
          </p:nvPr>
        </p:nvSpPr>
        <p:spPr/>
        <p:txBody>
          <a:bodyPr/>
          <a:lstStyle/>
          <a:p>
            <a:r>
              <a:rPr lang="zh-CN" altLang="en-US" dirty="0"/>
              <a:t>项目一：投资</a:t>
            </a:r>
            <a:r>
              <a:rPr lang="en-US" altLang="zh-CN" dirty="0"/>
              <a:t>10</a:t>
            </a:r>
            <a:r>
              <a:rPr lang="zh-CN" altLang="en-US" dirty="0"/>
              <a:t>年的净现值为</a:t>
            </a:r>
            <a:r>
              <a:rPr lang="en-US" altLang="zh-CN" dirty="0"/>
              <a:t>2.28</a:t>
            </a:r>
            <a:r>
              <a:rPr lang="zh-CN" altLang="en-US" dirty="0"/>
              <a:t>万元，</a:t>
            </a:r>
            <a:r>
              <a:rPr lang="en-US" altLang="zh-CN" dirty="0"/>
              <a:t>10</a:t>
            </a:r>
            <a:r>
              <a:rPr lang="zh-CN" altLang="en-US" dirty="0"/>
              <a:t>年后获得</a:t>
            </a:r>
            <a:r>
              <a:rPr lang="en-US" altLang="zh-CN" dirty="0"/>
              <a:t>20</a:t>
            </a:r>
            <a:r>
              <a:rPr lang="zh-CN" altLang="en-US" dirty="0"/>
              <a:t>万元回报</a:t>
            </a:r>
            <a:endParaRPr lang="en-US" altLang="zh-CN" dirty="0"/>
          </a:p>
          <a:p>
            <a:r>
              <a:rPr lang="zh-CN" altLang="en-US" dirty="0"/>
              <a:t>这</a:t>
            </a:r>
            <a:r>
              <a:rPr lang="en-US" altLang="zh-CN" dirty="0"/>
              <a:t>20</a:t>
            </a:r>
            <a:r>
              <a:rPr lang="zh-CN" altLang="en-US" dirty="0"/>
              <a:t>万还可以再投入两次项目一（收益率</a:t>
            </a:r>
            <a:r>
              <a:rPr lang="en-US" altLang="zh-CN" dirty="0"/>
              <a:t>7.18%</a:t>
            </a:r>
            <a:r>
              <a:rPr lang="zh-CN" altLang="en-US" dirty="0"/>
              <a:t>），或者投入到其它项目中（收益率</a:t>
            </a:r>
            <a:r>
              <a:rPr lang="en-US" altLang="zh-CN" dirty="0"/>
              <a:t>5%</a:t>
            </a:r>
            <a:r>
              <a:rPr lang="zh-CN" altLang="en-US" dirty="0"/>
              <a:t>）</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项目一的再投资（一）</a:t>
            </a:r>
            <a:endParaRPr lang="zh-CN" altLang="en-US" dirty="0"/>
          </a:p>
        </p:txBody>
      </p:sp>
      <p:cxnSp>
        <p:nvCxnSpPr>
          <p:cNvPr id="5" name="直接箭头连接符 4"/>
          <p:cNvCxnSpPr/>
          <p:nvPr/>
        </p:nvCxnSpPr>
        <p:spPr>
          <a:xfrm>
            <a:off x="539552" y="3212976"/>
            <a:ext cx="8280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539551" y="3212976"/>
            <a:ext cx="2" cy="873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89510" y="3163363"/>
            <a:ext cx="300082" cy="369332"/>
          </a:xfrm>
          <a:prstGeom prst="rect">
            <a:avLst/>
          </a:prstGeom>
          <a:noFill/>
        </p:spPr>
        <p:txBody>
          <a:bodyPr wrap="none" rtlCol="0">
            <a:spAutoFit/>
          </a:bodyPr>
          <a:lstStyle/>
          <a:p>
            <a:r>
              <a:rPr lang="en-US" altLang="zh-CN" dirty="0"/>
              <a:t>0</a:t>
            </a:r>
            <a:endParaRPr lang="zh-CN" altLang="en-US" dirty="0"/>
          </a:p>
        </p:txBody>
      </p:sp>
      <p:sp>
        <p:nvSpPr>
          <p:cNvPr id="9" name="文本框 8"/>
          <p:cNvSpPr txBox="1"/>
          <p:nvPr/>
        </p:nvSpPr>
        <p:spPr>
          <a:xfrm>
            <a:off x="239469" y="1282585"/>
            <a:ext cx="646331" cy="369332"/>
          </a:xfrm>
          <a:prstGeom prst="rect">
            <a:avLst/>
          </a:prstGeom>
          <a:noFill/>
        </p:spPr>
        <p:txBody>
          <a:bodyPr wrap="none" rtlCol="0">
            <a:spAutoFit/>
          </a:bodyPr>
          <a:lstStyle/>
          <a:p>
            <a:r>
              <a:rPr lang="zh-CN" altLang="en-US" dirty="0"/>
              <a:t>回报</a:t>
            </a:r>
            <a:endParaRPr lang="zh-CN" altLang="en-US" dirty="0"/>
          </a:p>
        </p:txBody>
      </p:sp>
      <p:sp>
        <p:nvSpPr>
          <p:cNvPr id="10" name="文本框 9"/>
          <p:cNvSpPr txBox="1"/>
          <p:nvPr/>
        </p:nvSpPr>
        <p:spPr>
          <a:xfrm>
            <a:off x="239469" y="4086035"/>
            <a:ext cx="646331" cy="369332"/>
          </a:xfrm>
          <a:prstGeom prst="rect">
            <a:avLst/>
          </a:prstGeom>
          <a:noFill/>
        </p:spPr>
        <p:txBody>
          <a:bodyPr wrap="none" rtlCol="0">
            <a:spAutoFit/>
          </a:bodyPr>
          <a:lstStyle/>
          <a:p>
            <a:r>
              <a:rPr lang="zh-CN" altLang="en-US" dirty="0"/>
              <a:t>投入</a:t>
            </a:r>
            <a:endParaRPr lang="zh-CN" altLang="en-US" dirty="0"/>
          </a:p>
        </p:txBody>
      </p:sp>
      <p:sp>
        <p:nvSpPr>
          <p:cNvPr id="13" name="文本框 12"/>
          <p:cNvSpPr txBox="1"/>
          <p:nvPr/>
        </p:nvSpPr>
        <p:spPr>
          <a:xfrm>
            <a:off x="539551" y="3717032"/>
            <a:ext cx="1569660" cy="369332"/>
          </a:xfrm>
          <a:prstGeom prst="rect">
            <a:avLst/>
          </a:prstGeom>
          <a:noFill/>
        </p:spPr>
        <p:txBody>
          <a:bodyPr wrap="none" rtlCol="0">
            <a:spAutoFit/>
          </a:bodyPr>
          <a:lstStyle/>
          <a:p>
            <a:r>
              <a:rPr lang="zh-CN" altLang="en-US" dirty="0"/>
              <a:t>期初投入</a:t>
            </a:r>
            <a:r>
              <a:rPr lang="en-US" altLang="zh-CN" dirty="0"/>
              <a:t>10</a:t>
            </a:r>
            <a:r>
              <a:rPr lang="zh-CN" altLang="en-US" dirty="0"/>
              <a:t>万</a:t>
            </a:r>
            <a:endParaRPr lang="zh-CN" altLang="en-US" dirty="0"/>
          </a:p>
        </p:txBody>
      </p:sp>
      <p:cxnSp>
        <p:nvCxnSpPr>
          <p:cNvPr id="14" name="直接箭头连接符 13"/>
          <p:cNvCxnSpPr/>
          <p:nvPr/>
        </p:nvCxnSpPr>
        <p:spPr>
          <a:xfrm flipH="1" flipV="1">
            <a:off x="2339752"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619672" y="1467251"/>
            <a:ext cx="1800493" cy="369332"/>
          </a:xfrm>
          <a:prstGeom prst="rect">
            <a:avLst/>
          </a:prstGeom>
          <a:noFill/>
        </p:spPr>
        <p:txBody>
          <a:bodyPr wrap="none" rtlCol="0">
            <a:spAutoFit/>
          </a:bodyPr>
          <a:lstStyle/>
          <a:p>
            <a:r>
              <a:rPr lang="zh-CN" altLang="en-US" dirty="0"/>
              <a:t>第</a:t>
            </a:r>
            <a:r>
              <a:rPr lang="en-US" altLang="zh-CN" dirty="0"/>
              <a:t>10</a:t>
            </a:r>
            <a:r>
              <a:rPr lang="zh-CN" altLang="en-US" dirty="0"/>
              <a:t>期回报</a:t>
            </a:r>
            <a:r>
              <a:rPr lang="en-US" altLang="zh-CN" dirty="0"/>
              <a:t>20</a:t>
            </a:r>
            <a:r>
              <a:rPr lang="zh-CN" altLang="en-US" dirty="0"/>
              <a:t>万</a:t>
            </a:r>
            <a:endParaRPr lang="zh-CN" altLang="en-US" dirty="0"/>
          </a:p>
        </p:txBody>
      </p:sp>
      <p:sp>
        <p:nvSpPr>
          <p:cNvPr id="17" name="文本框 16"/>
          <p:cNvSpPr txBox="1"/>
          <p:nvPr/>
        </p:nvSpPr>
        <p:spPr>
          <a:xfrm>
            <a:off x="2189711" y="3163363"/>
            <a:ext cx="415498" cy="369332"/>
          </a:xfrm>
          <a:prstGeom prst="rect">
            <a:avLst/>
          </a:prstGeom>
          <a:noFill/>
        </p:spPr>
        <p:txBody>
          <a:bodyPr wrap="none" rtlCol="0">
            <a:spAutoFit/>
          </a:bodyPr>
          <a:lstStyle/>
          <a:p>
            <a:r>
              <a:rPr lang="en-US" altLang="zh-CN" dirty="0"/>
              <a:t>10</a:t>
            </a:r>
            <a:endParaRPr lang="zh-CN" altLang="en-US" dirty="0"/>
          </a:p>
        </p:txBody>
      </p:sp>
      <p:sp>
        <p:nvSpPr>
          <p:cNvPr id="19" name="文本框 18"/>
          <p:cNvSpPr txBox="1"/>
          <p:nvPr/>
        </p:nvSpPr>
        <p:spPr>
          <a:xfrm>
            <a:off x="885800" y="2204864"/>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cxnSp>
        <p:nvCxnSpPr>
          <p:cNvPr id="20" name="直接箭头连接符 19"/>
          <p:cNvCxnSpPr/>
          <p:nvPr/>
        </p:nvCxnSpPr>
        <p:spPr>
          <a:xfrm flipH="1" flipV="1">
            <a:off x="532713" y="2696345"/>
            <a:ext cx="2359" cy="512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7594" y="2809242"/>
            <a:ext cx="2492990" cy="369332"/>
          </a:xfrm>
          <a:prstGeom prst="rect">
            <a:avLst/>
          </a:prstGeom>
          <a:noFill/>
        </p:spPr>
        <p:txBody>
          <a:bodyPr wrap="none" rtlCol="0">
            <a:spAutoFit/>
          </a:bodyPr>
          <a:lstStyle/>
          <a:p>
            <a:r>
              <a:rPr lang="en-US" altLang="zh-CN" dirty="0"/>
              <a:t>20/(1+5%)^10=12.28</a:t>
            </a:r>
            <a:r>
              <a:rPr lang="zh-CN" altLang="en-US" dirty="0"/>
              <a:t>万</a:t>
            </a:r>
            <a:endParaRPr lang="zh-CN" altLang="en-US" dirty="0"/>
          </a:p>
        </p:txBody>
      </p:sp>
      <p:sp>
        <p:nvSpPr>
          <p:cNvPr id="23" name="文本框 22"/>
          <p:cNvSpPr txBox="1"/>
          <p:nvPr/>
        </p:nvSpPr>
        <p:spPr>
          <a:xfrm>
            <a:off x="239469" y="4869160"/>
            <a:ext cx="1800493" cy="369332"/>
          </a:xfrm>
          <a:prstGeom prst="rect">
            <a:avLst/>
          </a:prstGeom>
          <a:noFill/>
        </p:spPr>
        <p:txBody>
          <a:bodyPr wrap="none" rtlCol="0">
            <a:spAutoFit/>
          </a:bodyPr>
          <a:lstStyle/>
          <a:p>
            <a:r>
              <a:rPr lang="zh-CN" altLang="en-US" dirty="0"/>
              <a:t>净现值：</a:t>
            </a:r>
            <a:r>
              <a:rPr lang="en-US" altLang="zh-CN" dirty="0"/>
              <a:t>2.28</a:t>
            </a:r>
            <a:r>
              <a:rPr lang="zh-CN" altLang="en-US" dirty="0"/>
              <a:t>万</a:t>
            </a:r>
            <a:endParaRPr lang="zh-CN" altLang="en-US" dirty="0"/>
          </a:p>
        </p:txBody>
      </p:sp>
      <p:cxnSp>
        <p:nvCxnSpPr>
          <p:cNvPr id="24" name="直接箭头连接符 23"/>
          <p:cNvCxnSpPr/>
          <p:nvPr/>
        </p:nvCxnSpPr>
        <p:spPr>
          <a:xfrm flipH="1" flipV="1">
            <a:off x="2339750" y="3213342"/>
            <a:ext cx="2" cy="1431630"/>
          </a:xfrm>
          <a:prstGeom prst="straightConnector1">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sp>
        <p:nvSpPr>
          <p:cNvPr id="25" name="文本框 24"/>
          <p:cNvSpPr txBox="1"/>
          <p:nvPr/>
        </p:nvSpPr>
        <p:spPr>
          <a:xfrm>
            <a:off x="2339750" y="4086035"/>
            <a:ext cx="1569660" cy="369332"/>
          </a:xfrm>
          <a:prstGeom prst="rect">
            <a:avLst/>
          </a:prstGeom>
          <a:noFill/>
        </p:spPr>
        <p:txBody>
          <a:bodyPr wrap="none" rtlCol="0">
            <a:spAutoFit/>
          </a:bodyPr>
          <a:lstStyle/>
          <a:p>
            <a:r>
              <a:rPr lang="zh-CN" altLang="en-US" dirty="0"/>
              <a:t>将</a:t>
            </a:r>
            <a:r>
              <a:rPr lang="en-US" altLang="zh-CN" dirty="0"/>
              <a:t>20</a:t>
            </a:r>
            <a:r>
              <a:rPr lang="zh-CN" altLang="en-US" dirty="0"/>
              <a:t>万再投资</a:t>
            </a:r>
            <a:endParaRPr lang="zh-CN" altLang="en-US" dirty="0"/>
          </a:p>
        </p:txBody>
      </p:sp>
      <p:sp>
        <p:nvSpPr>
          <p:cNvPr id="26" name="文本框 25"/>
          <p:cNvSpPr txBox="1"/>
          <p:nvPr/>
        </p:nvSpPr>
        <p:spPr>
          <a:xfrm>
            <a:off x="6876256" y="3178574"/>
            <a:ext cx="415498" cy="369332"/>
          </a:xfrm>
          <a:prstGeom prst="rect">
            <a:avLst/>
          </a:prstGeom>
          <a:noFill/>
        </p:spPr>
        <p:txBody>
          <a:bodyPr wrap="none" rtlCol="0">
            <a:spAutoFit/>
          </a:bodyPr>
          <a:lstStyle/>
          <a:p>
            <a:r>
              <a:rPr lang="en-US" altLang="zh-CN" dirty="0"/>
              <a:t>30</a:t>
            </a:r>
            <a:endParaRPr lang="zh-CN" altLang="en-US" dirty="0"/>
          </a:p>
        </p:txBody>
      </p:sp>
      <p:sp>
        <p:nvSpPr>
          <p:cNvPr id="27" name="文本框 26"/>
          <p:cNvSpPr txBox="1"/>
          <p:nvPr/>
        </p:nvSpPr>
        <p:spPr>
          <a:xfrm>
            <a:off x="4427984" y="2204864"/>
            <a:ext cx="1569660" cy="369332"/>
          </a:xfrm>
          <a:prstGeom prst="rect">
            <a:avLst/>
          </a:prstGeom>
          <a:noFill/>
        </p:spPr>
        <p:txBody>
          <a:bodyPr wrap="none" rtlCol="0">
            <a:spAutoFit/>
          </a:bodyPr>
          <a:lstStyle/>
          <a:p>
            <a:r>
              <a:rPr lang="zh-CN" altLang="en-US" dirty="0"/>
              <a:t>按</a:t>
            </a:r>
            <a:r>
              <a:rPr lang="en-US" altLang="zh-CN" dirty="0"/>
              <a:t>5%</a:t>
            </a:r>
            <a:r>
              <a:rPr lang="zh-CN" altLang="en-US" dirty="0"/>
              <a:t>获得收益</a:t>
            </a:r>
            <a:endParaRPr lang="zh-CN" altLang="en-US" dirty="0"/>
          </a:p>
        </p:txBody>
      </p:sp>
      <p:cxnSp>
        <p:nvCxnSpPr>
          <p:cNvPr id="28" name="直接箭头连接符 27"/>
          <p:cNvCxnSpPr/>
          <p:nvPr/>
        </p:nvCxnSpPr>
        <p:spPr>
          <a:xfrm flipH="1" flipV="1">
            <a:off x="7080758"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444208" y="1387208"/>
            <a:ext cx="2242592" cy="923330"/>
          </a:xfrm>
          <a:prstGeom prst="rect">
            <a:avLst/>
          </a:prstGeom>
          <a:noFill/>
        </p:spPr>
        <p:txBody>
          <a:bodyPr wrap="square" rtlCol="0">
            <a:spAutoFit/>
          </a:bodyPr>
          <a:lstStyle/>
          <a:p>
            <a:r>
              <a:rPr lang="zh-CN" altLang="en-US" dirty="0"/>
              <a:t>第</a:t>
            </a:r>
            <a:r>
              <a:rPr lang="en-US" altLang="zh-CN" dirty="0"/>
              <a:t>30</a:t>
            </a:r>
            <a:r>
              <a:rPr lang="zh-CN" altLang="en-US" dirty="0"/>
              <a:t>期回报</a:t>
            </a:r>
            <a:r>
              <a:rPr lang="en-US" altLang="zh-CN" dirty="0"/>
              <a:t>20</a:t>
            </a:r>
            <a:r>
              <a:rPr lang="zh-CN" altLang="en-US" dirty="0"/>
              <a:t>*</a:t>
            </a:r>
            <a:r>
              <a:rPr lang="en-US" altLang="zh-CN" dirty="0"/>
              <a:t>(1+5%)^(30-10)</a:t>
            </a:r>
            <a:endParaRPr lang="en-US" altLang="zh-CN" dirty="0"/>
          </a:p>
          <a:p>
            <a:r>
              <a:rPr lang="en-US" altLang="zh-CN" dirty="0"/>
              <a:t>=53.07</a:t>
            </a:r>
            <a:r>
              <a:rPr lang="zh-CN" altLang="en-US" dirty="0"/>
              <a:t>万</a:t>
            </a:r>
            <a:endParaRPr lang="zh-CN" altLang="en-US" dirty="0"/>
          </a:p>
        </p:txBody>
      </p:sp>
      <p:sp>
        <p:nvSpPr>
          <p:cNvPr id="30" name="文本框 29"/>
          <p:cNvSpPr txBox="1"/>
          <p:nvPr/>
        </p:nvSpPr>
        <p:spPr>
          <a:xfrm>
            <a:off x="4647738" y="3497923"/>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sp>
        <p:nvSpPr>
          <p:cNvPr id="31" name="文本框 30"/>
          <p:cNvSpPr txBox="1"/>
          <p:nvPr/>
        </p:nvSpPr>
        <p:spPr>
          <a:xfrm>
            <a:off x="199733" y="5517232"/>
            <a:ext cx="5724644" cy="369332"/>
          </a:xfrm>
          <a:prstGeom prst="rect">
            <a:avLst/>
          </a:prstGeom>
          <a:noFill/>
        </p:spPr>
        <p:txBody>
          <a:bodyPr wrap="none" rtlCol="0">
            <a:spAutoFit/>
          </a:bodyPr>
          <a:lstStyle/>
          <a:p>
            <a:r>
              <a:rPr lang="en-US" altLang="zh-CN" dirty="0"/>
              <a:t>20</a:t>
            </a:r>
            <a:r>
              <a:rPr lang="zh-CN" altLang="en-US" dirty="0"/>
              <a:t>*</a:t>
            </a:r>
            <a:r>
              <a:rPr lang="en-US" altLang="zh-CN" dirty="0"/>
              <a:t>(1+5%)^(30-10)/(1+5%)^30=20/(1+5%)^10=12.28</a:t>
            </a:r>
            <a:r>
              <a:rPr lang="zh-CN" altLang="en-US" dirty="0"/>
              <a:t>万</a:t>
            </a:r>
            <a:endParaRPr lang="zh-CN" altLang="en-US" dirty="0"/>
          </a:p>
        </p:txBody>
      </p:sp>
      <p:sp>
        <p:nvSpPr>
          <p:cNvPr id="32" name="文本框 31"/>
          <p:cNvSpPr txBox="1"/>
          <p:nvPr/>
        </p:nvSpPr>
        <p:spPr>
          <a:xfrm>
            <a:off x="199733" y="6130278"/>
            <a:ext cx="8620739" cy="646331"/>
          </a:xfrm>
          <a:prstGeom prst="rect">
            <a:avLst/>
          </a:prstGeom>
          <a:noFill/>
        </p:spPr>
        <p:txBody>
          <a:bodyPr wrap="square" rtlCol="0">
            <a:spAutoFit/>
          </a:bodyPr>
          <a:lstStyle/>
          <a:p>
            <a:r>
              <a:rPr lang="zh-CN" altLang="en-US" dirty="0"/>
              <a:t>假定项目一在</a:t>
            </a:r>
            <a:r>
              <a:rPr lang="en-US" altLang="zh-CN" dirty="0"/>
              <a:t>10</a:t>
            </a:r>
            <a:r>
              <a:rPr lang="zh-CN" altLang="en-US" dirty="0"/>
              <a:t>年后获得的回报全部用于再投资，且投资收益率</a:t>
            </a:r>
            <a:r>
              <a:rPr lang="en-US" altLang="zh-CN" dirty="0"/>
              <a:t>=</a:t>
            </a:r>
            <a:r>
              <a:rPr lang="zh-CN" altLang="en-US" dirty="0"/>
              <a:t>社会折现率，则</a:t>
            </a:r>
            <a:r>
              <a:rPr lang="en-US" altLang="zh-CN" dirty="0"/>
              <a:t>30</a:t>
            </a:r>
            <a:r>
              <a:rPr lang="zh-CN" altLang="en-US" dirty="0"/>
              <a:t>年总投资的净现值和</a:t>
            </a:r>
            <a:r>
              <a:rPr lang="en-US" altLang="zh-CN" dirty="0"/>
              <a:t>10</a:t>
            </a:r>
            <a:r>
              <a:rPr lang="zh-CN" altLang="en-US" dirty="0"/>
              <a:t>年投资的净现值相等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up)">
                                      <p:cBhvr>
                                        <p:cTn id="21" dur="500"/>
                                        <p:tgtEl>
                                          <p:spTgt spid="24"/>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1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20"/>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500"/>
                                        <p:tgtEl>
                                          <p:spTgt spid="28"/>
                                        </p:tgtEl>
                                      </p:cBhvr>
                                    </p:animEffect>
                                  </p:childTnLst>
                                </p:cTn>
                              </p:par>
                            </p:childTnLst>
                          </p:cTn>
                        </p:par>
                        <p:par>
                          <p:cTn id="44" fill="hold">
                            <p:stCondLst>
                              <p:cond delay="500"/>
                            </p:stCondLst>
                            <p:childTnLst>
                              <p:par>
                                <p:cTn id="45" presetID="42" presetClass="entr" presetSubtype="0"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1000"/>
                                        <p:tgtEl>
                                          <p:spTgt spid="29"/>
                                        </p:tgtEl>
                                      </p:cBhvr>
                                    </p:animEffect>
                                    <p:anim calcmode="lin" valueType="num">
                                      <p:cBhvr>
                                        <p:cTn id="48" dur="1000" fill="hold"/>
                                        <p:tgtEl>
                                          <p:spTgt spid="29"/>
                                        </p:tgtEl>
                                        <p:attrNameLst>
                                          <p:attrName>ppt_x</p:attrName>
                                        </p:attrNameLst>
                                      </p:cBhvr>
                                      <p:tavLst>
                                        <p:tav tm="0">
                                          <p:val>
                                            <p:strVal val="#ppt_x"/>
                                          </p:val>
                                        </p:tav>
                                        <p:tav tm="100000">
                                          <p:val>
                                            <p:strVal val="#ppt_x"/>
                                          </p:val>
                                        </p:tav>
                                      </p:tavLst>
                                    </p:anim>
                                    <p:anim calcmode="lin" valueType="num">
                                      <p:cBhvr>
                                        <p:cTn id="4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5" grpId="0"/>
      <p:bldP spid="27" grpId="0"/>
      <p:bldP spid="29" grpId="0"/>
      <p:bldP spid="30" grpId="0"/>
      <p:bldP spid="31" grpId="0"/>
      <p:bldP spid="32"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项目一的再投资（二）</a:t>
            </a:r>
            <a:endParaRPr lang="zh-CN" altLang="en-US" dirty="0"/>
          </a:p>
        </p:txBody>
      </p:sp>
      <p:cxnSp>
        <p:nvCxnSpPr>
          <p:cNvPr id="5" name="直接箭头连接符 4"/>
          <p:cNvCxnSpPr/>
          <p:nvPr/>
        </p:nvCxnSpPr>
        <p:spPr>
          <a:xfrm>
            <a:off x="539552" y="3212976"/>
            <a:ext cx="8280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539551" y="3212976"/>
            <a:ext cx="2" cy="873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89510" y="3163363"/>
            <a:ext cx="300082" cy="369332"/>
          </a:xfrm>
          <a:prstGeom prst="rect">
            <a:avLst/>
          </a:prstGeom>
          <a:noFill/>
        </p:spPr>
        <p:txBody>
          <a:bodyPr wrap="none" rtlCol="0">
            <a:spAutoFit/>
          </a:bodyPr>
          <a:lstStyle/>
          <a:p>
            <a:r>
              <a:rPr lang="en-US" altLang="zh-CN" dirty="0"/>
              <a:t>0</a:t>
            </a:r>
            <a:endParaRPr lang="zh-CN" altLang="en-US" dirty="0"/>
          </a:p>
        </p:txBody>
      </p:sp>
      <p:sp>
        <p:nvSpPr>
          <p:cNvPr id="9" name="文本框 8"/>
          <p:cNvSpPr txBox="1"/>
          <p:nvPr/>
        </p:nvSpPr>
        <p:spPr>
          <a:xfrm>
            <a:off x="239469" y="1282585"/>
            <a:ext cx="646331" cy="369332"/>
          </a:xfrm>
          <a:prstGeom prst="rect">
            <a:avLst/>
          </a:prstGeom>
          <a:noFill/>
        </p:spPr>
        <p:txBody>
          <a:bodyPr wrap="none" rtlCol="0">
            <a:spAutoFit/>
          </a:bodyPr>
          <a:lstStyle/>
          <a:p>
            <a:r>
              <a:rPr lang="zh-CN" altLang="en-US" dirty="0"/>
              <a:t>回报</a:t>
            </a:r>
            <a:endParaRPr lang="zh-CN" altLang="en-US" dirty="0"/>
          </a:p>
        </p:txBody>
      </p:sp>
      <p:sp>
        <p:nvSpPr>
          <p:cNvPr id="10" name="文本框 9"/>
          <p:cNvSpPr txBox="1"/>
          <p:nvPr/>
        </p:nvSpPr>
        <p:spPr>
          <a:xfrm>
            <a:off x="239469" y="4086035"/>
            <a:ext cx="646331" cy="369332"/>
          </a:xfrm>
          <a:prstGeom prst="rect">
            <a:avLst/>
          </a:prstGeom>
          <a:noFill/>
        </p:spPr>
        <p:txBody>
          <a:bodyPr wrap="none" rtlCol="0">
            <a:spAutoFit/>
          </a:bodyPr>
          <a:lstStyle/>
          <a:p>
            <a:r>
              <a:rPr lang="zh-CN" altLang="en-US" dirty="0"/>
              <a:t>投入</a:t>
            </a:r>
            <a:endParaRPr lang="zh-CN" altLang="en-US" dirty="0"/>
          </a:p>
        </p:txBody>
      </p:sp>
      <p:sp>
        <p:nvSpPr>
          <p:cNvPr id="13" name="文本框 12"/>
          <p:cNvSpPr txBox="1"/>
          <p:nvPr/>
        </p:nvSpPr>
        <p:spPr>
          <a:xfrm>
            <a:off x="539551" y="3717032"/>
            <a:ext cx="1569660" cy="369332"/>
          </a:xfrm>
          <a:prstGeom prst="rect">
            <a:avLst/>
          </a:prstGeom>
          <a:noFill/>
        </p:spPr>
        <p:txBody>
          <a:bodyPr wrap="none" rtlCol="0">
            <a:spAutoFit/>
          </a:bodyPr>
          <a:lstStyle/>
          <a:p>
            <a:r>
              <a:rPr lang="zh-CN" altLang="en-US" dirty="0"/>
              <a:t>期初投入</a:t>
            </a:r>
            <a:r>
              <a:rPr lang="en-US" altLang="zh-CN" dirty="0"/>
              <a:t>10</a:t>
            </a:r>
            <a:r>
              <a:rPr lang="zh-CN" altLang="en-US" dirty="0"/>
              <a:t>万</a:t>
            </a:r>
            <a:endParaRPr lang="zh-CN" altLang="en-US" dirty="0"/>
          </a:p>
        </p:txBody>
      </p:sp>
      <p:cxnSp>
        <p:nvCxnSpPr>
          <p:cNvPr id="14" name="直接箭头连接符 13"/>
          <p:cNvCxnSpPr/>
          <p:nvPr/>
        </p:nvCxnSpPr>
        <p:spPr>
          <a:xfrm flipH="1" flipV="1">
            <a:off x="2339752"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619672" y="1467251"/>
            <a:ext cx="1800493" cy="369332"/>
          </a:xfrm>
          <a:prstGeom prst="rect">
            <a:avLst/>
          </a:prstGeom>
          <a:noFill/>
        </p:spPr>
        <p:txBody>
          <a:bodyPr wrap="none" rtlCol="0">
            <a:spAutoFit/>
          </a:bodyPr>
          <a:lstStyle/>
          <a:p>
            <a:r>
              <a:rPr lang="zh-CN" altLang="en-US" dirty="0"/>
              <a:t>第</a:t>
            </a:r>
            <a:r>
              <a:rPr lang="en-US" altLang="zh-CN" dirty="0"/>
              <a:t>10</a:t>
            </a:r>
            <a:r>
              <a:rPr lang="zh-CN" altLang="en-US" dirty="0"/>
              <a:t>期回报</a:t>
            </a:r>
            <a:r>
              <a:rPr lang="en-US" altLang="zh-CN" dirty="0"/>
              <a:t>20</a:t>
            </a:r>
            <a:r>
              <a:rPr lang="zh-CN" altLang="en-US" dirty="0"/>
              <a:t>万</a:t>
            </a:r>
            <a:endParaRPr lang="zh-CN" altLang="en-US" dirty="0"/>
          </a:p>
        </p:txBody>
      </p:sp>
      <p:sp>
        <p:nvSpPr>
          <p:cNvPr id="17" name="文本框 16"/>
          <p:cNvSpPr txBox="1"/>
          <p:nvPr/>
        </p:nvSpPr>
        <p:spPr>
          <a:xfrm>
            <a:off x="2189711" y="3163363"/>
            <a:ext cx="415498" cy="369332"/>
          </a:xfrm>
          <a:prstGeom prst="rect">
            <a:avLst/>
          </a:prstGeom>
          <a:noFill/>
        </p:spPr>
        <p:txBody>
          <a:bodyPr wrap="none" rtlCol="0">
            <a:spAutoFit/>
          </a:bodyPr>
          <a:lstStyle/>
          <a:p>
            <a:r>
              <a:rPr lang="en-US" altLang="zh-CN" dirty="0"/>
              <a:t>10</a:t>
            </a:r>
            <a:endParaRPr lang="zh-CN" altLang="en-US" dirty="0"/>
          </a:p>
        </p:txBody>
      </p:sp>
      <p:sp>
        <p:nvSpPr>
          <p:cNvPr id="19" name="文本框 18"/>
          <p:cNvSpPr txBox="1"/>
          <p:nvPr/>
        </p:nvSpPr>
        <p:spPr>
          <a:xfrm>
            <a:off x="885800" y="2204864"/>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cxnSp>
        <p:nvCxnSpPr>
          <p:cNvPr id="20" name="直接箭头连接符 19"/>
          <p:cNvCxnSpPr/>
          <p:nvPr/>
        </p:nvCxnSpPr>
        <p:spPr>
          <a:xfrm flipH="1" flipV="1">
            <a:off x="532713" y="2696345"/>
            <a:ext cx="2359" cy="512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7594" y="2809242"/>
            <a:ext cx="2492990" cy="369332"/>
          </a:xfrm>
          <a:prstGeom prst="rect">
            <a:avLst/>
          </a:prstGeom>
          <a:noFill/>
        </p:spPr>
        <p:txBody>
          <a:bodyPr wrap="none" rtlCol="0">
            <a:spAutoFit/>
          </a:bodyPr>
          <a:lstStyle/>
          <a:p>
            <a:r>
              <a:rPr lang="en-US" altLang="zh-CN" dirty="0"/>
              <a:t>20/(1+5%)^10=12.28</a:t>
            </a:r>
            <a:r>
              <a:rPr lang="zh-CN" altLang="en-US" dirty="0"/>
              <a:t>万</a:t>
            </a:r>
            <a:endParaRPr lang="zh-CN" altLang="en-US" dirty="0"/>
          </a:p>
        </p:txBody>
      </p:sp>
      <p:sp>
        <p:nvSpPr>
          <p:cNvPr id="23" name="文本框 22"/>
          <p:cNvSpPr txBox="1"/>
          <p:nvPr/>
        </p:nvSpPr>
        <p:spPr>
          <a:xfrm>
            <a:off x="239469" y="4869160"/>
            <a:ext cx="1800493" cy="369332"/>
          </a:xfrm>
          <a:prstGeom prst="rect">
            <a:avLst/>
          </a:prstGeom>
          <a:noFill/>
        </p:spPr>
        <p:txBody>
          <a:bodyPr wrap="none" rtlCol="0">
            <a:spAutoFit/>
          </a:bodyPr>
          <a:lstStyle/>
          <a:p>
            <a:r>
              <a:rPr lang="zh-CN" altLang="en-US" dirty="0"/>
              <a:t>净现值：</a:t>
            </a:r>
            <a:r>
              <a:rPr lang="en-US" altLang="zh-CN" dirty="0"/>
              <a:t>2.28</a:t>
            </a:r>
            <a:r>
              <a:rPr lang="zh-CN" altLang="en-US" dirty="0"/>
              <a:t>万</a:t>
            </a:r>
            <a:endParaRPr lang="zh-CN" altLang="en-US" dirty="0"/>
          </a:p>
        </p:txBody>
      </p:sp>
      <p:cxnSp>
        <p:nvCxnSpPr>
          <p:cNvPr id="24" name="直接箭头连接符 23"/>
          <p:cNvCxnSpPr/>
          <p:nvPr/>
        </p:nvCxnSpPr>
        <p:spPr>
          <a:xfrm flipH="1" flipV="1">
            <a:off x="2339750" y="3213342"/>
            <a:ext cx="2" cy="1431630"/>
          </a:xfrm>
          <a:prstGeom prst="straightConnector1">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sp>
        <p:nvSpPr>
          <p:cNvPr id="25" name="文本框 24"/>
          <p:cNvSpPr txBox="1"/>
          <p:nvPr/>
        </p:nvSpPr>
        <p:spPr>
          <a:xfrm>
            <a:off x="2339750" y="4086035"/>
            <a:ext cx="1569660" cy="369332"/>
          </a:xfrm>
          <a:prstGeom prst="rect">
            <a:avLst/>
          </a:prstGeom>
          <a:noFill/>
        </p:spPr>
        <p:txBody>
          <a:bodyPr wrap="none" rtlCol="0">
            <a:spAutoFit/>
          </a:bodyPr>
          <a:lstStyle/>
          <a:p>
            <a:r>
              <a:rPr lang="zh-CN" altLang="en-US" dirty="0"/>
              <a:t>将</a:t>
            </a:r>
            <a:r>
              <a:rPr lang="en-US" altLang="zh-CN" dirty="0"/>
              <a:t>20</a:t>
            </a:r>
            <a:r>
              <a:rPr lang="zh-CN" altLang="en-US" dirty="0"/>
              <a:t>万再投资</a:t>
            </a:r>
            <a:endParaRPr lang="zh-CN" altLang="en-US" dirty="0"/>
          </a:p>
        </p:txBody>
      </p:sp>
      <p:sp>
        <p:nvSpPr>
          <p:cNvPr id="26" name="文本框 25"/>
          <p:cNvSpPr txBox="1"/>
          <p:nvPr/>
        </p:nvSpPr>
        <p:spPr>
          <a:xfrm>
            <a:off x="6876256" y="3178574"/>
            <a:ext cx="415498" cy="369332"/>
          </a:xfrm>
          <a:prstGeom prst="rect">
            <a:avLst/>
          </a:prstGeom>
          <a:noFill/>
        </p:spPr>
        <p:txBody>
          <a:bodyPr wrap="none" rtlCol="0">
            <a:spAutoFit/>
          </a:bodyPr>
          <a:lstStyle/>
          <a:p>
            <a:r>
              <a:rPr lang="en-US" altLang="zh-CN" dirty="0"/>
              <a:t>30</a:t>
            </a:r>
            <a:endParaRPr lang="zh-CN" altLang="en-US" dirty="0"/>
          </a:p>
        </p:txBody>
      </p:sp>
      <p:sp>
        <p:nvSpPr>
          <p:cNvPr id="27" name="文本框 26"/>
          <p:cNvSpPr txBox="1"/>
          <p:nvPr/>
        </p:nvSpPr>
        <p:spPr>
          <a:xfrm>
            <a:off x="2605209" y="2377735"/>
            <a:ext cx="3993401" cy="369332"/>
          </a:xfrm>
          <a:prstGeom prst="rect">
            <a:avLst/>
          </a:prstGeom>
          <a:noFill/>
        </p:spPr>
        <p:txBody>
          <a:bodyPr wrap="none" rtlCol="0">
            <a:spAutoFit/>
          </a:bodyPr>
          <a:lstStyle/>
          <a:p>
            <a:r>
              <a:rPr lang="zh-CN" altLang="en-US" dirty="0"/>
              <a:t>按项目一的内部收益率</a:t>
            </a:r>
            <a:r>
              <a:rPr lang="en-US" altLang="zh-CN" dirty="0"/>
              <a:t>7.18%</a:t>
            </a:r>
            <a:r>
              <a:rPr lang="zh-CN" altLang="en-US" dirty="0"/>
              <a:t>获得收益</a:t>
            </a:r>
            <a:endParaRPr lang="zh-CN" altLang="en-US" dirty="0"/>
          </a:p>
        </p:txBody>
      </p:sp>
      <p:cxnSp>
        <p:nvCxnSpPr>
          <p:cNvPr id="28" name="直接箭头连接符 27"/>
          <p:cNvCxnSpPr/>
          <p:nvPr/>
        </p:nvCxnSpPr>
        <p:spPr>
          <a:xfrm flipH="1" flipV="1">
            <a:off x="7080758"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553550" y="1175310"/>
            <a:ext cx="2242592" cy="1200329"/>
          </a:xfrm>
          <a:prstGeom prst="rect">
            <a:avLst/>
          </a:prstGeom>
          <a:noFill/>
        </p:spPr>
        <p:txBody>
          <a:bodyPr wrap="square" rtlCol="0">
            <a:spAutoFit/>
          </a:bodyPr>
          <a:lstStyle/>
          <a:p>
            <a:r>
              <a:rPr lang="zh-CN" altLang="en-US" dirty="0"/>
              <a:t>第</a:t>
            </a:r>
            <a:r>
              <a:rPr lang="en-US" altLang="zh-CN" dirty="0"/>
              <a:t>30</a:t>
            </a:r>
            <a:r>
              <a:rPr lang="zh-CN" altLang="en-US" dirty="0"/>
              <a:t>期回报</a:t>
            </a:r>
            <a:r>
              <a:rPr lang="en-US" altLang="zh-CN" dirty="0"/>
              <a:t>20</a:t>
            </a:r>
            <a:r>
              <a:rPr lang="zh-CN" altLang="en-US" dirty="0"/>
              <a:t>*</a:t>
            </a:r>
            <a:r>
              <a:rPr lang="en-US" altLang="zh-CN" dirty="0"/>
              <a:t>(1+7.18%)^(30-10)</a:t>
            </a:r>
            <a:endParaRPr lang="en-US" altLang="zh-CN" dirty="0"/>
          </a:p>
          <a:p>
            <a:r>
              <a:rPr lang="en-US" altLang="zh-CN" dirty="0"/>
              <a:t>=80.04</a:t>
            </a:r>
            <a:r>
              <a:rPr lang="zh-CN" altLang="en-US" dirty="0"/>
              <a:t>万</a:t>
            </a:r>
            <a:endParaRPr lang="zh-CN" altLang="en-US" dirty="0"/>
          </a:p>
        </p:txBody>
      </p:sp>
      <p:sp>
        <p:nvSpPr>
          <p:cNvPr id="30" name="文本框 29"/>
          <p:cNvSpPr txBox="1"/>
          <p:nvPr/>
        </p:nvSpPr>
        <p:spPr>
          <a:xfrm>
            <a:off x="4647738" y="3497923"/>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sp>
        <p:nvSpPr>
          <p:cNvPr id="31" name="文本框 30"/>
          <p:cNvSpPr txBox="1"/>
          <p:nvPr/>
        </p:nvSpPr>
        <p:spPr>
          <a:xfrm>
            <a:off x="200052" y="5256931"/>
            <a:ext cx="2839239" cy="369332"/>
          </a:xfrm>
          <a:prstGeom prst="rect">
            <a:avLst/>
          </a:prstGeom>
          <a:noFill/>
        </p:spPr>
        <p:txBody>
          <a:bodyPr wrap="none" rtlCol="0">
            <a:spAutoFit/>
          </a:bodyPr>
          <a:lstStyle/>
          <a:p>
            <a:r>
              <a:rPr lang="en-US" altLang="zh-CN" dirty="0"/>
              <a:t>80.04/(1+5%)^30=18.52</a:t>
            </a:r>
            <a:r>
              <a:rPr lang="zh-CN" altLang="en-US" dirty="0"/>
              <a:t>万</a:t>
            </a:r>
            <a:endParaRPr lang="zh-CN" altLang="en-US" dirty="0"/>
          </a:p>
        </p:txBody>
      </p:sp>
      <p:sp>
        <p:nvSpPr>
          <p:cNvPr id="32" name="文本框 31"/>
          <p:cNvSpPr txBox="1"/>
          <p:nvPr/>
        </p:nvSpPr>
        <p:spPr>
          <a:xfrm>
            <a:off x="199733" y="6130278"/>
            <a:ext cx="8620739" cy="646331"/>
          </a:xfrm>
          <a:prstGeom prst="rect">
            <a:avLst/>
          </a:prstGeom>
          <a:noFill/>
        </p:spPr>
        <p:txBody>
          <a:bodyPr wrap="square" rtlCol="0">
            <a:spAutoFit/>
          </a:bodyPr>
          <a:lstStyle/>
          <a:p>
            <a:r>
              <a:rPr lang="zh-CN" altLang="en-US" dirty="0"/>
              <a:t>假定项目一在</a:t>
            </a:r>
            <a:r>
              <a:rPr lang="en-US" altLang="zh-CN" dirty="0"/>
              <a:t>10</a:t>
            </a:r>
            <a:r>
              <a:rPr lang="zh-CN" altLang="en-US" dirty="0"/>
              <a:t>年后获得的回报全部用于再投资，且投资收益率</a:t>
            </a:r>
            <a:r>
              <a:rPr lang="en-US" altLang="zh-CN" dirty="0"/>
              <a:t>=</a:t>
            </a:r>
            <a:r>
              <a:rPr lang="zh-CN" altLang="en-US" dirty="0"/>
              <a:t>项目一的内部收益率，则</a:t>
            </a:r>
            <a:r>
              <a:rPr lang="en-US" altLang="zh-CN" dirty="0"/>
              <a:t>30</a:t>
            </a:r>
            <a:r>
              <a:rPr lang="zh-CN" altLang="en-US" dirty="0"/>
              <a:t>年总投资的净现值和</a:t>
            </a:r>
            <a:r>
              <a:rPr lang="en-US" altLang="zh-CN" dirty="0"/>
              <a:t>10</a:t>
            </a:r>
            <a:r>
              <a:rPr lang="zh-CN" altLang="en-US" dirty="0"/>
              <a:t>年投资的净现值不相等，但内部收益率相等</a:t>
            </a:r>
            <a:endParaRPr lang="zh-CN" altLang="en-US" dirty="0"/>
          </a:p>
        </p:txBody>
      </p:sp>
      <p:sp>
        <p:nvSpPr>
          <p:cNvPr id="33" name="文本框 32"/>
          <p:cNvSpPr txBox="1"/>
          <p:nvPr/>
        </p:nvSpPr>
        <p:spPr>
          <a:xfrm>
            <a:off x="3665338" y="1452040"/>
            <a:ext cx="1915909" cy="369332"/>
          </a:xfrm>
          <a:prstGeom prst="rect">
            <a:avLst/>
          </a:prstGeom>
          <a:noFill/>
        </p:spPr>
        <p:txBody>
          <a:bodyPr wrap="none" rtlCol="0">
            <a:spAutoFit/>
          </a:bodyPr>
          <a:lstStyle/>
          <a:p>
            <a:r>
              <a:rPr lang="zh-CN" altLang="en-US" dirty="0"/>
              <a:t>内部收益率</a:t>
            </a:r>
            <a:r>
              <a:rPr lang="en-US" altLang="zh-CN" dirty="0"/>
              <a:t>7.18%</a:t>
            </a:r>
            <a:endParaRPr lang="zh-CN" altLang="en-US" dirty="0"/>
          </a:p>
        </p:txBody>
      </p:sp>
      <p:sp>
        <p:nvSpPr>
          <p:cNvPr id="34" name="文本框 33"/>
          <p:cNvSpPr txBox="1"/>
          <p:nvPr/>
        </p:nvSpPr>
        <p:spPr>
          <a:xfrm>
            <a:off x="199733" y="5644702"/>
            <a:ext cx="1800493" cy="369332"/>
          </a:xfrm>
          <a:prstGeom prst="rect">
            <a:avLst/>
          </a:prstGeom>
          <a:noFill/>
        </p:spPr>
        <p:txBody>
          <a:bodyPr wrap="none" rtlCol="0">
            <a:spAutoFit/>
          </a:bodyPr>
          <a:lstStyle/>
          <a:p>
            <a:r>
              <a:rPr lang="zh-CN" altLang="en-US" dirty="0"/>
              <a:t>净现值：</a:t>
            </a:r>
            <a:r>
              <a:rPr lang="en-US" altLang="zh-CN" dirty="0"/>
              <a:t>8.52</a:t>
            </a:r>
            <a:r>
              <a:rPr lang="zh-CN" altLang="en-US" dirty="0"/>
              <a:t>万</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par>
                                <p:cTn id="12" presetID="1" presetClass="exit" presetSubtype="0" fill="hold" nodeType="withEffect">
                                  <p:stCondLst>
                                    <p:cond delay="0"/>
                                  </p:stCondLst>
                                  <p:childTnLst>
                                    <p:set>
                                      <p:cBhvr>
                                        <p:cTn id="13" dur="1" fill="hold">
                                          <p:stCondLst>
                                            <p:cond delay="0"/>
                                          </p:stCondLst>
                                        </p:cTn>
                                        <p:tgtEl>
                                          <p:spTgt spid="14"/>
                                        </p:tgtEl>
                                        <p:attrNameLst>
                                          <p:attrName>style.visibility</p:attrName>
                                        </p:attrNameLst>
                                      </p:cBhvr>
                                      <p:to>
                                        <p:strVal val="hidden"/>
                                      </p:to>
                                    </p:set>
                                  </p:childTnLst>
                                </p:cTn>
                              </p:par>
                              <p:par>
                                <p:cTn id="14" presetID="1" presetClass="exit" presetSubtype="0" fill="hold" nodeType="withEffect">
                                  <p:stCondLst>
                                    <p:cond delay="0"/>
                                  </p:stCondLst>
                                  <p:childTnLst>
                                    <p:set>
                                      <p:cBhvr>
                                        <p:cTn id="15" dur="1" fill="hold">
                                          <p:stCondLst>
                                            <p:cond delay="0"/>
                                          </p:stCondLst>
                                        </p:cTn>
                                        <p:tgtEl>
                                          <p:spTgt spid="2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down)">
                                      <p:cBhvr>
                                        <p:cTn id="25" dur="500"/>
                                        <p:tgtEl>
                                          <p:spTgt spid="28"/>
                                        </p:tgtEl>
                                      </p:cBhvr>
                                    </p:animEffect>
                                  </p:childTnLst>
                                </p:cTn>
                              </p:par>
                            </p:childTnLst>
                          </p:cTn>
                        </p:par>
                        <p:par>
                          <p:cTn id="26" fill="hold">
                            <p:stCondLst>
                              <p:cond delay="500"/>
                            </p:stCondLst>
                            <p:childTnLst>
                              <p:par>
                                <p:cTn id="27" presetID="42" presetClass="entr" presetSubtype="0"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1000"/>
                                        <p:tgtEl>
                                          <p:spTgt spid="29"/>
                                        </p:tgtEl>
                                      </p:cBhvr>
                                    </p:animEffect>
                                    <p:anim calcmode="lin" valueType="num">
                                      <p:cBhvr>
                                        <p:cTn id="30" dur="1000" fill="hold"/>
                                        <p:tgtEl>
                                          <p:spTgt spid="29"/>
                                        </p:tgtEl>
                                        <p:attrNameLst>
                                          <p:attrName>ppt_x</p:attrName>
                                        </p:attrNameLst>
                                      </p:cBhvr>
                                      <p:tavLst>
                                        <p:tav tm="0">
                                          <p:val>
                                            <p:strVal val="#ppt_x"/>
                                          </p:val>
                                        </p:tav>
                                        <p:tav tm="100000">
                                          <p:val>
                                            <p:strVal val="#ppt_x"/>
                                          </p:val>
                                        </p:tav>
                                      </p:tavLst>
                                    </p:anim>
                                    <p:anim calcmode="lin" valueType="num">
                                      <p:cBhvr>
                                        <p:cTn id="3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9" grpId="0"/>
      <p:bldP spid="30" grpId="0"/>
      <p:bldP spid="31" grpId="0"/>
      <p:bldP spid="32" grpId="0"/>
      <p:bldP spid="3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a:t>项目规模的影响</a:t>
            </a:r>
            <a:endParaRPr kumimoji="1" lang="zh-CN" altLang="en-US"/>
          </a:p>
        </p:txBody>
      </p:sp>
      <p:sp>
        <p:nvSpPr>
          <p:cNvPr id="3" name="内容占位符 2"/>
          <p:cNvSpPr>
            <a:spLocks noGrp="1"/>
          </p:cNvSpPr>
          <p:nvPr>
            <p:ph sz="quarter" idx="13"/>
          </p:nvPr>
        </p:nvSpPr>
        <p:spPr>
          <a:xfrm>
            <a:off x="539750" y="1700213"/>
            <a:ext cx="4199518" cy="4537075"/>
          </a:xfrm>
        </p:spPr>
        <p:txBody>
          <a:bodyPr>
            <a:normAutofit fontScale="70000" lnSpcReduction="20000"/>
          </a:bodyPr>
          <a:lstStyle/>
          <a:p>
            <a:r>
              <a:rPr kumimoji="1" lang="en-US" altLang="en-US"/>
              <a:t>当某类项目存在多个规模时，净收益标准假设未投向小规模项目的资金在其他投资项目中可以赚得和贴现率同样的回报水平</a:t>
            </a:r>
            <a:endParaRPr kumimoji="1" lang="en-US" altLang="en-US"/>
          </a:p>
          <a:p>
            <a:r>
              <a:rPr kumimoji="1" lang="en-US" altLang="en-US"/>
              <a:t>而收益</a:t>
            </a:r>
            <a:r>
              <a:rPr kumimoji="1" lang="en-US" altLang="en-US"/>
              <a:t>/</a:t>
            </a:r>
            <a:r>
              <a:rPr kumimoji="1" lang="en-US" altLang="en-US"/>
              <a:t>成本率和内部收益率标准假设项目可以被复制，这样未投向较小规模项目的资金在其他项目中可以获得同样的项目回报率</a:t>
            </a:r>
            <a:endParaRPr kumimoji="1" lang="zh-CN" altLang="en-US"/>
          </a:p>
        </p:txBody>
      </p:sp>
      <p:sp>
        <p:nvSpPr>
          <p:cNvPr id="4" name="内容占位符 2"/>
          <p:cNvSpPr txBox="1"/>
          <p:nvPr/>
        </p:nvSpPr>
        <p:spPr>
          <a:xfrm>
            <a:off x="4739268" y="1700212"/>
            <a:ext cx="4199518" cy="4537075"/>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kumimoji="1" lang="en-US" altLang="zh-CN"/>
              <a:t>W</a:t>
            </a:r>
            <a:r>
              <a:rPr kumimoji="1" lang="en-US" altLang="en-US"/>
              <a:t>hen</a:t>
            </a:r>
            <a:r>
              <a:rPr kumimoji="1" lang="en-US" altLang="en-US"/>
              <a:t> </a:t>
            </a:r>
            <a:r>
              <a:rPr kumimoji="1" lang="en-US" altLang="en-US"/>
              <a:t>there</a:t>
            </a:r>
            <a:r>
              <a:rPr kumimoji="1" lang="en-US" altLang="en-US"/>
              <a:t> </a:t>
            </a:r>
            <a:r>
              <a:rPr kumimoji="1" lang="en-US" altLang="en-US"/>
              <a:t>are</a:t>
            </a:r>
            <a:r>
              <a:rPr kumimoji="1" lang="en-US" altLang="en-US"/>
              <a:t> </a:t>
            </a:r>
            <a:r>
              <a:rPr kumimoji="1" lang="en-US" altLang="en-US"/>
              <a:t>different</a:t>
            </a:r>
            <a:r>
              <a:rPr kumimoji="1" lang="en-US" altLang="en-US"/>
              <a:t> </a:t>
            </a:r>
            <a:r>
              <a:rPr kumimoji="1" lang="en-US" altLang="en-US"/>
              <a:t>project</a:t>
            </a:r>
            <a:r>
              <a:rPr kumimoji="1" lang="en-US" altLang="en-US"/>
              <a:t> </a:t>
            </a:r>
            <a:r>
              <a:rPr kumimoji="1" lang="en-US" altLang="en-US"/>
              <a:t>scales,</a:t>
            </a:r>
            <a:r>
              <a:rPr kumimoji="1" lang="en-US" altLang="en-US"/>
              <a:t> </a:t>
            </a:r>
            <a:r>
              <a:rPr kumimoji="1" lang="en-US" altLang="en-US"/>
              <a:t>net</a:t>
            </a:r>
            <a:r>
              <a:rPr kumimoji="1" lang="en-US" altLang="en-US"/>
              <a:t> </a:t>
            </a:r>
            <a:r>
              <a:rPr kumimoji="1" lang="en-US" altLang="en-US"/>
              <a:t>benefit</a:t>
            </a:r>
            <a:r>
              <a:rPr kumimoji="1" lang="en-US" altLang="en-US"/>
              <a:t> </a:t>
            </a:r>
            <a:r>
              <a:rPr kumimoji="1" lang="en-US" altLang="en-US"/>
              <a:t>assumes</a:t>
            </a:r>
            <a:r>
              <a:rPr kumimoji="1" lang="en-US" altLang="en-US"/>
              <a:t> </a:t>
            </a:r>
            <a:r>
              <a:rPr kumimoji="1" lang="en-US" altLang="en-US"/>
              <a:t>that</a:t>
            </a:r>
            <a:r>
              <a:rPr kumimoji="1" lang="en-US" altLang="en-US"/>
              <a:t> </a:t>
            </a:r>
            <a:r>
              <a:rPr kumimoji="1" lang="en-US" altLang="en-US"/>
              <a:t>funds</a:t>
            </a:r>
            <a:r>
              <a:rPr kumimoji="1" lang="en-US" altLang="en-US"/>
              <a:t> </a:t>
            </a:r>
            <a:r>
              <a:rPr kumimoji="1" lang="en-US" altLang="en-US"/>
              <a:t>not</a:t>
            </a:r>
            <a:r>
              <a:rPr kumimoji="1" lang="en-US" altLang="en-US"/>
              <a:t> </a:t>
            </a:r>
            <a:r>
              <a:rPr kumimoji="1" lang="en-US" altLang="en-US"/>
              <a:t>used</a:t>
            </a:r>
            <a:r>
              <a:rPr kumimoji="1" lang="en-US" altLang="en-US"/>
              <a:t> </a:t>
            </a:r>
            <a:r>
              <a:rPr kumimoji="1" lang="en-US" altLang="en-US"/>
              <a:t>for</a:t>
            </a:r>
            <a:r>
              <a:rPr kumimoji="1" lang="en-US" altLang="en-US"/>
              <a:t> </a:t>
            </a:r>
            <a:r>
              <a:rPr kumimoji="1" lang="en-US" altLang="en-US"/>
              <a:t>the</a:t>
            </a:r>
            <a:r>
              <a:rPr kumimoji="1" lang="en-US" altLang="en-US"/>
              <a:t> </a:t>
            </a:r>
            <a:r>
              <a:rPr kumimoji="1" lang="en-US" altLang="en-US"/>
              <a:t>smaller</a:t>
            </a:r>
            <a:r>
              <a:rPr kumimoji="1" lang="en-US" altLang="en-US"/>
              <a:t> </a:t>
            </a:r>
            <a:r>
              <a:rPr kumimoji="1" lang="en-US" altLang="en-US"/>
              <a:t>project</a:t>
            </a:r>
            <a:r>
              <a:rPr kumimoji="1" lang="en-US" altLang="en-US"/>
              <a:t> </a:t>
            </a:r>
            <a:r>
              <a:rPr kumimoji="1" lang="en-US" altLang="en-US"/>
              <a:t>are</a:t>
            </a:r>
            <a:r>
              <a:rPr kumimoji="1" lang="en-US" altLang="en-US"/>
              <a:t> </a:t>
            </a:r>
            <a:r>
              <a:rPr kumimoji="1" lang="en-US" altLang="en-US"/>
              <a:t>invested</a:t>
            </a:r>
            <a:r>
              <a:rPr kumimoji="1" lang="en-US" altLang="en-US"/>
              <a:t> </a:t>
            </a:r>
            <a:r>
              <a:rPr kumimoji="1" lang="en-US" altLang="en-US"/>
              <a:t>in</a:t>
            </a:r>
            <a:r>
              <a:rPr kumimoji="1" lang="en-US" altLang="en-US"/>
              <a:t> </a:t>
            </a:r>
            <a:r>
              <a:rPr kumimoji="1" lang="en-US" altLang="en-US"/>
              <a:t>projects</a:t>
            </a:r>
            <a:r>
              <a:rPr kumimoji="1" lang="en-US" altLang="en-US"/>
              <a:t> </a:t>
            </a:r>
            <a:r>
              <a:rPr kumimoji="1" lang="en-US" altLang="en-US"/>
              <a:t>earning</a:t>
            </a:r>
            <a:r>
              <a:rPr kumimoji="1" lang="en-US" altLang="en-US"/>
              <a:t> </a:t>
            </a:r>
            <a:r>
              <a:rPr kumimoji="1" lang="en-US" altLang="en-US"/>
              <a:t>the</a:t>
            </a:r>
            <a:r>
              <a:rPr kumimoji="1" lang="en-US" altLang="en-US"/>
              <a:t> </a:t>
            </a:r>
            <a:r>
              <a:rPr kumimoji="1" lang="en-US" altLang="en-US"/>
              <a:t>discount</a:t>
            </a:r>
            <a:r>
              <a:rPr kumimoji="1" lang="en-US" altLang="en-US"/>
              <a:t> </a:t>
            </a:r>
            <a:r>
              <a:rPr kumimoji="1" lang="en-US" altLang="en-US"/>
              <a:t>rate,</a:t>
            </a:r>
            <a:r>
              <a:rPr kumimoji="1" lang="en-US" altLang="en-US"/>
              <a:t> </a:t>
            </a:r>
            <a:r>
              <a:rPr kumimoji="1" lang="en-US" altLang="en-US"/>
              <a:t>whereas</a:t>
            </a:r>
            <a:r>
              <a:rPr kumimoji="1" lang="en-US" altLang="en-US"/>
              <a:t> </a:t>
            </a:r>
            <a:r>
              <a:rPr kumimoji="1" lang="en-US" altLang="en-US"/>
              <a:t>benefit/cost</a:t>
            </a:r>
            <a:r>
              <a:rPr kumimoji="1" lang="en-US" altLang="en-US"/>
              <a:t> </a:t>
            </a:r>
            <a:r>
              <a:rPr kumimoji="1" lang="en-US" altLang="en-US"/>
              <a:t>ratio</a:t>
            </a:r>
            <a:r>
              <a:rPr kumimoji="1" lang="en-US" altLang="en-US"/>
              <a:t> </a:t>
            </a:r>
            <a:r>
              <a:rPr kumimoji="1" lang="en-US" altLang="en-US"/>
              <a:t>and</a:t>
            </a:r>
            <a:r>
              <a:rPr kumimoji="1" lang="en-US" altLang="en-US"/>
              <a:t> </a:t>
            </a:r>
            <a:r>
              <a:rPr kumimoji="1" lang="en-US" altLang="en-US"/>
              <a:t>internal</a:t>
            </a:r>
            <a:r>
              <a:rPr kumimoji="1" lang="en-US" altLang="en-US"/>
              <a:t> </a:t>
            </a:r>
            <a:r>
              <a:rPr kumimoji="1" lang="en-US" altLang="en-US"/>
              <a:t>rate</a:t>
            </a:r>
            <a:r>
              <a:rPr kumimoji="1" lang="en-US" altLang="en-US"/>
              <a:t> </a:t>
            </a:r>
            <a:r>
              <a:rPr kumimoji="1" lang="en-US" altLang="en-US"/>
              <a:t>of</a:t>
            </a:r>
            <a:r>
              <a:rPr kumimoji="1" lang="en-US" altLang="en-US"/>
              <a:t> </a:t>
            </a:r>
            <a:r>
              <a:rPr kumimoji="1" lang="en-US" altLang="en-US"/>
              <a:t>return</a:t>
            </a:r>
            <a:r>
              <a:rPr kumimoji="1" lang="en-US" altLang="en-US"/>
              <a:t> </a:t>
            </a:r>
            <a:r>
              <a:rPr kumimoji="1" lang="en-US" altLang="en-US"/>
              <a:t>assume</a:t>
            </a:r>
            <a:r>
              <a:rPr kumimoji="1" lang="en-US" altLang="en-US"/>
              <a:t> </a:t>
            </a:r>
            <a:r>
              <a:rPr kumimoji="1" lang="en-US" altLang="en-US"/>
              <a:t>that</a:t>
            </a:r>
            <a:r>
              <a:rPr kumimoji="1" lang="en-US" altLang="en-US"/>
              <a:t> </a:t>
            </a:r>
            <a:r>
              <a:rPr kumimoji="1" lang="en-US" altLang="en-US"/>
              <a:t>the</a:t>
            </a:r>
            <a:r>
              <a:rPr kumimoji="1" lang="en-US" altLang="en-US"/>
              <a:t> </a:t>
            </a:r>
            <a:r>
              <a:rPr kumimoji="1" lang="en-US" altLang="en-US"/>
              <a:t>project</a:t>
            </a:r>
            <a:r>
              <a:rPr kumimoji="1" lang="en-US" altLang="en-US"/>
              <a:t> </a:t>
            </a:r>
            <a:r>
              <a:rPr kumimoji="1" lang="en-US" altLang="en-US"/>
              <a:t>can</a:t>
            </a:r>
            <a:r>
              <a:rPr kumimoji="1" lang="en-US" altLang="en-US"/>
              <a:t> </a:t>
            </a:r>
            <a:r>
              <a:rPr kumimoji="1" lang="en-US" altLang="en-US"/>
              <a:t>be</a:t>
            </a:r>
            <a:r>
              <a:rPr kumimoji="1" lang="en-US" altLang="en-US"/>
              <a:t> </a:t>
            </a:r>
            <a:r>
              <a:rPr kumimoji="1" lang="en-US" altLang="en-US"/>
              <a:t>duplicated</a:t>
            </a:r>
            <a:r>
              <a:rPr kumimoji="1" lang="en-US" altLang="en-US"/>
              <a:t> </a:t>
            </a:r>
            <a:r>
              <a:rPr kumimoji="1" lang="en-US" altLang="en-US"/>
              <a:t>so</a:t>
            </a:r>
            <a:r>
              <a:rPr kumimoji="1" lang="en-US" altLang="en-US"/>
              <a:t> </a:t>
            </a:r>
            <a:r>
              <a:rPr kumimoji="1" lang="en-US" altLang="en-US"/>
              <a:t>that</a:t>
            </a:r>
            <a:r>
              <a:rPr kumimoji="1" lang="en-US" altLang="en-US"/>
              <a:t> </a:t>
            </a:r>
            <a:r>
              <a:rPr kumimoji="1" lang="en-US" altLang="en-US"/>
              <a:t>funds</a:t>
            </a:r>
            <a:r>
              <a:rPr kumimoji="1" lang="en-US" altLang="en-US"/>
              <a:t> </a:t>
            </a:r>
            <a:r>
              <a:rPr kumimoji="1" lang="en-US" altLang="en-US"/>
              <a:t>not</a:t>
            </a:r>
            <a:r>
              <a:rPr kumimoji="1" lang="en-US" altLang="en-US"/>
              <a:t> </a:t>
            </a:r>
            <a:r>
              <a:rPr kumimoji="1" lang="en-US" altLang="en-US"/>
              <a:t>used</a:t>
            </a:r>
            <a:r>
              <a:rPr kumimoji="1" lang="en-US" altLang="en-US"/>
              <a:t> </a:t>
            </a:r>
            <a:r>
              <a:rPr kumimoji="1" lang="en-US" altLang="en-US"/>
              <a:t>for</a:t>
            </a:r>
            <a:r>
              <a:rPr kumimoji="1" lang="en-US" altLang="en-US"/>
              <a:t> </a:t>
            </a:r>
            <a:r>
              <a:rPr kumimoji="1" lang="en-US" altLang="en-US"/>
              <a:t>the</a:t>
            </a:r>
            <a:r>
              <a:rPr kumimoji="1" lang="en-US" altLang="en-US"/>
              <a:t> </a:t>
            </a:r>
            <a:r>
              <a:rPr kumimoji="1" lang="en-US" altLang="en-US"/>
              <a:t>smaller</a:t>
            </a:r>
            <a:r>
              <a:rPr kumimoji="1" lang="en-US" altLang="en-US"/>
              <a:t> </a:t>
            </a:r>
            <a:r>
              <a:rPr kumimoji="1" lang="en-US" altLang="en-US"/>
              <a:t>project</a:t>
            </a:r>
            <a:r>
              <a:rPr kumimoji="1" lang="en-US" altLang="en-US"/>
              <a:t> </a:t>
            </a:r>
            <a:r>
              <a:rPr kumimoji="1" lang="en-US" altLang="en-US"/>
              <a:t>are</a:t>
            </a:r>
            <a:r>
              <a:rPr kumimoji="1" lang="en-US" altLang="en-US"/>
              <a:t> </a:t>
            </a:r>
            <a:r>
              <a:rPr kumimoji="1" lang="en-US" altLang="en-US"/>
              <a:t>invested</a:t>
            </a:r>
            <a:r>
              <a:rPr kumimoji="1" lang="en-US" altLang="en-US"/>
              <a:t> </a:t>
            </a:r>
            <a:r>
              <a:rPr kumimoji="1" lang="en-US" altLang="en-US"/>
              <a:t>in</a:t>
            </a:r>
            <a:r>
              <a:rPr kumimoji="1" lang="en-US" altLang="en-US"/>
              <a:t> </a:t>
            </a:r>
            <a:r>
              <a:rPr kumimoji="1" lang="en-US" altLang="en-US"/>
              <a:t>similar</a:t>
            </a:r>
            <a:r>
              <a:rPr kumimoji="1" lang="en-US" altLang="en-US"/>
              <a:t> </a:t>
            </a:r>
            <a:r>
              <a:rPr kumimoji="1" lang="en-US" altLang="en-US"/>
              <a:t>projects</a:t>
            </a:r>
            <a:r>
              <a:rPr kumimoji="1" lang="en-US" altLang="en-US"/>
              <a:t> </a:t>
            </a:r>
            <a:r>
              <a:rPr kumimoji="1" lang="en-US" altLang="en-US"/>
              <a:t>earning</a:t>
            </a:r>
            <a:r>
              <a:rPr kumimoji="1" lang="en-US" altLang="en-US"/>
              <a:t> </a:t>
            </a:r>
            <a:r>
              <a:rPr kumimoji="1" lang="en-US" altLang="en-US"/>
              <a:t>the</a:t>
            </a:r>
            <a:r>
              <a:rPr kumimoji="1" lang="en-US" altLang="en-US"/>
              <a:t> </a:t>
            </a:r>
            <a:r>
              <a:rPr kumimoji="1" lang="en-US" altLang="en-US"/>
              <a:t>project</a:t>
            </a:r>
            <a:r>
              <a:rPr kumimoji="1" lang="en-US" altLang="en-US"/>
              <a:t> </a:t>
            </a:r>
            <a:r>
              <a:rPr kumimoji="1" lang="en-US" altLang="en-US"/>
              <a:t>rate.</a:t>
            </a:r>
            <a:endParaRPr kumimoji="1"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effectLst>
            <a:innerShdw blurRad="63500" dist="50800" dir="18900000">
              <a:prstClr val="black">
                <a:alpha val="50000"/>
              </a:prstClr>
            </a:innerShdw>
          </a:effectLst>
        </p:spPr>
        <p:txBody>
          <a:bodyPr>
            <a:normAutofit fontScale="90000"/>
          </a:bodyPr>
          <a:lstStyle/>
          <a:p>
            <a:r>
              <a:rPr lang="zh-CN" altLang="en-US" dirty="0"/>
              <a:t>项目规模的不可分割性</a:t>
            </a:r>
            <a:endParaRPr lang="zh-CN" altLang="en-US" dirty="0"/>
          </a:p>
        </p:txBody>
      </p:sp>
      <p:sp>
        <p:nvSpPr>
          <p:cNvPr id="4" name="标题 2"/>
          <p:cNvSpPr txBox="1"/>
          <p:nvPr/>
        </p:nvSpPr>
        <p:spPr>
          <a:xfrm>
            <a:off x="473086" y="1484784"/>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8100000" scaled="1"/>
            <a:tileRect/>
          </a:gradFill>
          <a:effectLst>
            <a:outerShdw blurRad="50800" dist="38100" dir="5400000" algn="t" rotWithShape="0">
              <a:prstClr val="black">
                <a:alpha val="40000"/>
              </a:prstClr>
            </a:outerShdw>
          </a:effectLst>
        </p:spPr>
        <p:txBody>
          <a:bodyPr vert="horz" lIns="91440" tIns="45720" rIns="91440" bIns="45720" rtlCol="0" anchor="ctr">
            <a:normAutofit fontScale="675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r>
              <a:rPr lang="en-US" altLang="zh-CN" dirty="0"/>
              <a:t>The indivisibilities of project scale</a:t>
            </a:r>
            <a:endParaRPr lang="zh-CN" altLang="en-US" dirty="0"/>
          </a:p>
        </p:txBody>
      </p:sp>
      <p:sp>
        <p:nvSpPr>
          <p:cNvPr id="5" name="文本框 4"/>
          <p:cNvSpPr txBox="1"/>
          <p:nvPr/>
        </p:nvSpPr>
        <p:spPr>
          <a:xfrm>
            <a:off x="539553" y="3429000"/>
            <a:ext cx="7992888" cy="1477328"/>
          </a:xfrm>
          <a:prstGeom prst="rect">
            <a:avLst/>
          </a:prstGeom>
          <a:noFill/>
        </p:spPr>
        <p:txBody>
          <a:bodyPr wrap="square" rtlCol="0">
            <a:spAutoFit/>
          </a:bodyPr>
          <a:lstStyle/>
          <a:p>
            <a:r>
              <a:rPr lang="zh-CN" altLang="en-US" dirty="0">
                <a:latin typeface="黑体" panose="02010609060101010101" charset="-122"/>
                <a:ea typeface="黑体" panose="02010609060101010101" charset="-122"/>
              </a:rPr>
              <a:t>可分割：</a:t>
            </a:r>
            <a:r>
              <a:rPr lang="en-US" altLang="zh-CN" dirty="0">
                <a:latin typeface="黑体" panose="02010609060101010101" charset="-122"/>
                <a:ea typeface="黑体" panose="02010609060101010101" charset="-122"/>
              </a:rPr>
              <a:t>60</a:t>
            </a:r>
            <a:r>
              <a:rPr lang="zh-CN" altLang="en-US" dirty="0">
                <a:latin typeface="黑体" panose="02010609060101010101" charset="-122"/>
                <a:ea typeface="黑体" panose="02010609060101010101" charset="-122"/>
              </a:rPr>
              <a:t>公顷森林，可以其中</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公顷用于间伐、</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公顷用于自然更新（假设资金有限，只够间伐</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公顷森林）</a:t>
            </a:r>
            <a:endParaRPr lang="en-US" altLang="zh-CN" dirty="0">
              <a:latin typeface="黑体" panose="02010609060101010101" charset="-122"/>
              <a:ea typeface="黑体" panose="02010609060101010101" charset="-122"/>
            </a:endParaRPr>
          </a:p>
          <a:p>
            <a:endParaRPr lang="en-US" altLang="zh-CN" dirty="0">
              <a:latin typeface="黑体" panose="02010609060101010101" charset="-122"/>
              <a:ea typeface="黑体" panose="02010609060101010101" charset="-122"/>
            </a:endParaRPr>
          </a:p>
          <a:p>
            <a:r>
              <a:rPr lang="zh-CN" altLang="en-US" dirty="0">
                <a:latin typeface="黑体" panose="02010609060101010101" charset="-122"/>
                <a:ea typeface="黑体" panose="02010609060101010101" charset="-122"/>
              </a:rPr>
              <a:t>不可分割：打农药除虫，如果只对其中</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公顷除虫则没有任何效果，没有除虫的森林遭受虫害后，还是会影响到已除虫的森林</a:t>
            </a:r>
            <a:endParaRPr lang="zh-CN" altLang="en-US" dirty="0">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en-US"/>
              <a:t>互斥项目</a:t>
            </a:r>
            <a:br>
              <a:rPr kumimoji="1" lang="en-US" altLang="en-US"/>
            </a:br>
            <a:r>
              <a:rPr kumimoji="1" lang="en-US" altLang="en-US"/>
              <a:t>mutually</a:t>
            </a:r>
            <a:r>
              <a:rPr kumimoji="1" lang="en-US" altLang="en-US"/>
              <a:t> </a:t>
            </a:r>
            <a:r>
              <a:rPr kumimoji="1" lang="en-US" altLang="en-US"/>
              <a:t>exclusive</a:t>
            </a:r>
            <a:r>
              <a:rPr kumimoji="1" lang="en-US" altLang="en-US"/>
              <a:t> </a:t>
            </a:r>
            <a:r>
              <a:rPr kumimoji="1" lang="en-US" altLang="en-US"/>
              <a:t>projects</a:t>
            </a:r>
            <a:endParaRPr kumimoji="1" lang="zh-CN" altLang="en-US"/>
          </a:p>
        </p:txBody>
      </p:sp>
      <p:sp>
        <p:nvSpPr>
          <p:cNvPr id="3" name="内容占位符 2"/>
          <p:cNvSpPr>
            <a:spLocks noGrp="1"/>
          </p:cNvSpPr>
          <p:nvPr>
            <p:ph sz="quarter" idx="13"/>
          </p:nvPr>
        </p:nvSpPr>
        <p:spPr/>
        <p:txBody>
          <a:bodyPr>
            <a:normAutofit fontScale="62500" lnSpcReduction="20000"/>
          </a:bodyPr>
          <a:lstStyle/>
          <a:p>
            <a:r>
              <a:rPr kumimoji="1" lang="en-US" altLang="en-US"/>
              <a:t>One</a:t>
            </a:r>
            <a:r>
              <a:rPr kumimoji="1" lang="en-US" altLang="en-US"/>
              <a:t> </a:t>
            </a:r>
            <a:r>
              <a:rPr kumimoji="1" lang="en-US" altLang="en-US"/>
              <a:t>may</a:t>
            </a:r>
            <a:r>
              <a:rPr kumimoji="1" lang="en-US" altLang="en-US"/>
              <a:t> </a:t>
            </a:r>
            <a:r>
              <a:rPr kumimoji="1" lang="en-US" altLang="en-US"/>
              <a:t>face</a:t>
            </a:r>
            <a:r>
              <a:rPr kumimoji="1" lang="en-US" altLang="en-US"/>
              <a:t> </a:t>
            </a:r>
            <a:r>
              <a:rPr kumimoji="1" lang="en-US" altLang="en-US"/>
              <a:t>two</a:t>
            </a:r>
            <a:r>
              <a:rPr kumimoji="1" lang="en-US" altLang="en-US"/>
              <a:t> </a:t>
            </a:r>
            <a:r>
              <a:rPr kumimoji="1" lang="en-US" altLang="en-US"/>
              <a:t>constraints:</a:t>
            </a:r>
            <a:r>
              <a:rPr kumimoji="1" lang="en-US" altLang="en-US"/>
              <a:t> </a:t>
            </a:r>
            <a:r>
              <a:rPr kumimoji="1" lang="en-US" altLang="en-US"/>
              <a:t>mutually</a:t>
            </a:r>
            <a:r>
              <a:rPr kumimoji="1" lang="en-US" altLang="en-US"/>
              <a:t> </a:t>
            </a:r>
            <a:r>
              <a:rPr kumimoji="1" lang="en-US" altLang="en-US"/>
              <a:t>exclusive</a:t>
            </a:r>
            <a:r>
              <a:rPr kumimoji="1" lang="en-US" altLang="en-US"/>
              <a:t> </a:t>
            </a:r>
            <a:r>
              <a:rPr kumimoji="1" lang="en-US" altLang="en-US"/>
              <a:t>projects</a:t>
            </a:r>
            <a:r>
              <a:rPr kumimoji="1" lang="en-US" altLang="en-US"/>
              <a:t> </a:t>
            </a:r>
            <a:r>
              <a:rPr kumimoji="1" lang="en-US" altLang="en-US"/>
              <a:t>for</a:t>
            </a:r>
            <a:r>
              <a:rPr kumimoji="1" lang="en-US" altLang="en-US"/>
              <a:t> </a:t>
            </a:r>
            <a:r>
              <a:rPr kumimoji="1" lang="en-US" altLang="en-US"/>
              <a:t>the</a:t>
            </a:r>
            <a:r>
              <a:rPr kumimoji="1" lang="en-US" altLang="en-US"/>
              <a:t> </a:t>
            </a:r>
            <a:r>
              <a:rPr kumimoji="1" lang="en-US" altLang="en-US"/>
              <a:t>same</a:t>
            </a:r>
            <a:r>
              <a:rPr kumimoji="1" lang="en-US" altLang="en-US"/>
              <a:t> </a:t>
            </a:r>
            <a:r>
              <a:rPr kumimoji="1" lang="en-US" altLang="en-US"/>
              <a:t>sites</a:t>
            </a:r>
            <a:r>
              <a:rPr kumimoji="1" lang="en-US" altLang="en-US"/>
              <a:t> </a:t>
            </a:r>
            <a:r>
              <a:rPr kumimoji="1" lang="en-US" altLang="en-US"/>
              <a:t>and</a:t>
            </a:r>
            <a:r>
              <a:rPr kumimoji="1" lang="en-US" altLang="en-US"/>
              <a:t> </a:t>
            </a:r>
            <a:r>
              <a:rPr kumimoji="1" lang="en-US" altLang="en-US"/>
              <a:t>a</a:t>
            </a:r>
            <a:r>
              <a:rPr kumimoji="1" lang="en-US" altLang="en-US"/>
              <a:t> </a:t>
            </a:r>
            <a:r>
              <a:rPr kumimoji="1" lang="en-US" altLang="en-US"/>
              <a:t>limited</a:t>
            </a:r>
            <a:r>
              <a:rPr kumimoji="1" lang="en-US" altLang="en-US"/>
              <a:t> </a:t>
            </a:r>
            <a:r>
              <a:rPr kumimoji="1" lang="en-US" altLang="en-US"/>
              <a:t>total</a:t>
            </a:r>
            <a:r>
              <a:rPr kumimoji="1" lang="en-US" altLang="en-US"/>
              <a:t> </a:t>
            </a:r>
            <a:r>
              <a:rPr kumimoji="1" lang="en-US" altLang="en-US"/>
              <a:t>budget.</a:t>
            </a:r>
            <a:endParaRPr kumimoji="1" lang="en-US" altLang="en-US"/>
          </a:p>
          <a:p>
            <a:r>
              <a:rPr kumimoji="1" lang="en-US" altLang="en-US"/>
              <a:t>投资人还可能面临两类限制：同一地点的多个互斥项目和有限预算</a:t>
            </a:r>
            <a:endParaRPr kumimoji="1" lang="en-US" altLang="en-US"/>
          </a:p>
          <a:p>
            <a:r>
              <a:rPr kumimoji="1" lang="en-US" altLang="en-US"/>
              <a:t>In</a:t>
            </a:r>
            <a:r>
              <a:rPr kumimoji="1" lang="en-US" altLang="en-US"/>
              <a:t> </a:t>
            </a:r>
            <a:r>
              <a:rPr kumimoji="1" lang="en-US" altLang="en-US"/>
              <a:t>these</a:t>
            </a:r>
            <a:r>
              <a:rPr kumimoji="1" lang="en-US" altLang="en-US"/>
              <a:t> </a:t>
            </a:r>
            <a:r>
              <a:rPr kumimoji="1" lang="en-US" altLang="en-US"/>
              <a:t>cases,</a:t>
            </a:r>
            <a:r>
              <a:rPr kumimoji="1" lang="en-US" altLang="en-US"/>
              <a:t> </a:t>
            </a:r>
            <a:r>
              <a:rPr kumimoji="1" lang="en-US" altLang="en-US"/>
              <a:t>areasonable</a:t>
            </a:r>
            <a:r>
              <a:rPr kumimoji="1" lang="en-US" altLang="en-US"/>
              <a:t> </a:t>
            </a:r>
            <a:r>
              <a:rPr kumimoji="1" lang="en-US" altLang="en-US"/>
              <a:t>rule</a:t>
            </a:r>
            <a:r>
              <a:rPr kumimoji="1" lang="en-US" altLang="en-US"/>
              <a:t> </a:t>
            </a:r>
            <a:r>
              <a:rPr kumimoji="1" lang="en-US" altLang="en-US"/>
              <a:t>of</a:t>
            </a:r>
            <a:r>
              <a:rPr kumimoji="1" lang="en-US" altLang="en-US"/>
              <a:t> </a:t>
            </a:r>
            <a:r>
              <a:rPr kumimoji="1" lang="en-US" altLang="en-US"/>
              <a:t>thumb</a:t>
            </a:r>
            <a:r>
              <a:rPr kumimoji="1" lang="en-US" altLang="en-US"/>
              <a:t> </a:t>
            </a:r>
            <a:r>
              <a:rPr kumimoji="1" lang="en-US" altLang="en-US"/>
              <a:t>is</a:t>
            </a:r>
            <a:r>
              <a:rPr kumimoji="1" lang="en-US" altLang="en-US"/>
              <a:t> </a:t>
            </a:r>
            <a:r>
              <a:rPr kumimoji="1" lang="en-US" altLang="en-US"/>
              <a:t>to</a:t>
            </a:r>
            <a:r>
              <a:rPr kumimoji="1" lang="en-US" altLang="en-US"/>
              <a:t> </a:t>
            </a:r>
            <a:r>
              <a:rPr kumimoji="1" lang="en-US" altLang="en-US"/>
              <a:t>cslect</a:t>
            </a:r>
            <a:r>
              <a:rPr kumimoji="1" lang="en-US" altLang="en-US"/>
              <a:t> </a:t>
            </a:r>
            <a:r>
              <a:rPr kumimoji="1" lang="en-US" altLang="en-US"/>
              <a:t>the</a:t>
            </a:r>
            <a:r>
              <a:rPr kumimoji="1" lang="en-US" altLang="en-US"/>
              <a:t> </a:t>
            </a:r>
            <a:r>
              <a:rPr kumimoji="1" lang="en-US" altLang="en-US"/>
              <a:t>project</a:t>
            </a:r>
            <a:r>
              <a:rPr kumimoji="1" lang="en-US" altLang="en-US"/>
              <a:t> </a:t>
            </a:r>
            <a:r>
              <a:rPr kumimoji="1" lang="en-US" altLang="en-US"/>
              <a:t>with</a:t>
            </a:r>
            <a:r>
              <a:rPr kumimoji="1" lang="en-US" altLang="en-US"/>
              <a:t> </a:t>
            </a:r>
            <a:r>
              <a:rPr kumimoji="1" lang="en-US" altLang="en-US"/>
              <a:t>the</a:t>
            </a:r>
            <a:r>
              <a:rPr kumimoji="1" lang="en-US" altLang="en-US"/>
              <a:t> </a:t>
            </a:r>
            <a:r>
              <a:rPr kumimoji="1" lang="en-US" altLang="en-US"/>
              <a:t>highest</a:t>
            </a:r>
            <a:r>
              <a:rPr kumimoji="1" lang="en-US" altLang="en-US"/>
              <a:t> </a:t>
            </a:r>
            <a:r>
              <a:rPr kumimoji="1" lang="en-US" altLang="en-US"/>
              <a:t>net</a:t>
            </a:r>
            <a:r>
              <a:rPr kumimoji="1" lang="en-US" altLang="en-US"/>
              <a:t> </a:t>
            </a:r>
            <a:r>
              <a:rPr kumimoji="1" lang="en-US" altLang="en-US"/>
              <a:t>benefit</a:t>
            </a:r>
            <a:r>
              <a:rPr kumimoji="1" lang="en-US" altLang="en-US"/>
              <a:t> </a:t>
            </a:r>
            <a:r>
              <a:rPr kumimoji="1" lang="en-US" altLang="en-US"/>
              <a:t>for</a:t>
            </a:r>
            <a:r>
              <a:rPr kumimoji="1" lang="en-US" altLang="en-US"/>
              <a:t> </a:t>
            </a:r>
            <a:r>
              <a:rPr kumimoji="1" lang="en-US" altLang="en-US"/>
              <a:t>each</a:t>
            </a:r>
            <a:r>
              <a:rPr kumimoji="1" lang="en-US" altLang="en-US"/>
              <a:t> </a:t>
            </a:r>
            <a:r>
              <a:rPr kumimoji="1" lang="en-US" altLang="en-US"/>
              <a:t>site</a:t>
            </a:r>
            <a:r>
              <a:rPr kumimoji="1" lang="en-US" altLang="en-US"/>
              <a:t> </a:t>
            </a:r>
            <a:r>
              <a:rPr kumimoji="1" lang="en-US" altLang="en-US"/>
              <a:t>and</a:t>
            </a:r>
            <a:r>
              <a:rPr kumimoji="1" lang="en-US" altLang="en-US"/>
              <a:t> </a:t>
            </a:r>
            <a:r>
              <a:rPr kumimoji="1" lang="en-US" altLang="en-US"/>
              <a:t>then</a:t>
            </a:r>
            <a:r>
              <a:rPr kumimoji="1" lang="en-US" altLang="en-US"/>
              <a:t> </a:t>
            </a:r>
            <a:r>
              <a:rPr kumimoji="1" lang="en-US" altLang="en-US"/>
              <a:t>rank</a:t>
            </a:r>
            <a:r>
              <a:rPr kumimoji="1" lang="en-US" altLang="en-US"/>
              <a:t> </a:t>
            </a:r>
            <a:r>
              <a:rPr kumimoji="1" lang="en-US" altLang="en-US"/>
              <a:t>projects</a:t>
            </a:r>
            <a:r>
              <a:rPr kumimoji="1" lang="en-US" altLang="en-US"/>
              <a:t> </a:t>
            </a:r>
            <a:r>
              <a:rPr kumimoji="1" lang="en-US" altLang="en-US"/>
              <a:t>in</a:t>
            </a:r>
            <a:r>
              <a:rPr kumimoji="1" lang="en-US" altLang="en-US"/>
              <a:t> </a:t>
            </a:r>
            <a:r>
              <a:rPr kumimoji="1" lang="en-US" altLang="en-US"/>
              <a:t>order</a:t>
            </a:r>
            <a:r>
              <a:rPr kumimoji="1" lang="en-US" altLang="en-US"/>
              <a:t> </a:t>
            </a:r>
            <a:r>
              <a:rPr kumimoji="1" lang="en-US" altLang="en-US"/>
              <a:t>of</a:t>
            </a:r>
            <a:r>
              <a:rPr kumimoji="1" lang="en-US" altLang="en-US"/>
              <a:t> </a:t>
            </a:r>
            <a:r>
              <a:rPr kumimoji="1" lang="en-US" altLang="en-US"/>
              <a:t>decreasing</a:t>
            </a:r>
            <a:r>
              <a:rPr kumimoji="1" lang="en-US" altLang="en-US"/>
              <a:t> </a:t>
            </a:r>
            <a:r>
              <a:rPr kumimoji="1" lang="en-US" altLang="en-US"/>
              <a:t>benefit/cost</a:t>
            </a:r>
            <a:r>
              <a:rPr kumimoji="1" lang="en-US" altLang="en-US"/>
              <a:t> </a:t>
            </a:r>
            <a:r>
              <a:rPr kumimoji="1" lang="en-US" altLang="en-US"/>
              <a:t>ratio</a:t>
            </a:r>
            <a:r>
              <a:rPr kumimoji="1" lang="en-US" altLang="en-US"/>
              <a:t> </a:t>
            </a:r>
            <a:r>
              <a:rPr kumimoji="1" lang="en-US" altLang="en-US"/>
              <a:t>until</a:t>
            </a:r>
            <a:r>
              <a:rPr kumimoji="1" lang="en-US" altLang="en-US"/>
              <a:t> </a:t>
            </a:r>
            <a:r>
              <a:rPr kumimoji="1" lang="en-US" altLang="en-US"/>
              <a:t>the</a:t>
            </a:r>
            <a:r>
              <a:rPr kumimoji="1" lang="en-US" altLang="en-US"/>
              <a:t> </a:t>
            </a:r>
            <a:r>
              <a:rPr kumimoji="1" lang="en-US" altLang="en-US"/>
              <a:t>budget</a:t>
            </a:r>
            <a:r>
              <a:rPr kumimoji="1" lang="en-US" altLang="en-US"/>
              <a:t> </a:t>
            </a:r>
            <a:r>
              <a:rPr kumimoji="1" lang="en-US" altLang="en-US"/>
              <a:t>is</a:t>
            </a:r>
            <a:r>
              <a:rPr kumimoji="1" lang="en-US" altLang="en-US"/>
              <a:t> </a:t>
            </a:r>
            <a:r>
              <a:rPr kumimoji="1" lang="en-US" altLang="en-US"/>
              <a:t>exhausted.</a:t>
            </a:r>
            <a:endParaRPr kumimoji="1" lang="en-US" altLang="en-US"/>
          </a:p>
          <a:p>
            <a:r>
              <a:rPr kumimoji="1" lang="en-US" altLang="en-US"/>
              <a:t>这种情况下，合理的经验法则是选择每个地点净收益最高的项目，并按递减的成本收益率对项目进行排序，直到投资预算耗尽为止</a:t>
            </a:r>
            <a:endParaRPr kumimoji="1" lang="en-US" altLang="en-US"/>
          </a:p>
          <a:p>
            <a:pPr marL="0" indent="0">
              <a:buNone/>
            </a:pPr>
            <a:endParaRPr kumimoji="1"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中国林业投资项目评估</a:t>
            </a:r>
            <a:endParaRPr lang="zh-CN" altLang="en-US" dirty="0"/>
          </a:p>
        </p:txBody>
      </p:sp>
      <p:sp>
        <p:nvSpPr>
          <p:cNvPr id="3" name="矩形 2"/>
          <p:cNvSpPr/>
          <p:nvPr/>
        </p:nvSpPr>
        <p:spPr>
          <a:xfrm>
            <a:off x="827584" y="1628800"/>
            <a:ext cx="7704856" cy="4524315"/>
          </a:xfrm>
          <a:prstGeom prst="rect">
            <a:avLst/>
          </a:prstGeom>
          <a:gradFill>
            <a:gsLst>
              <a:gs pos="0">
                <a:schemeClr val="accent3">
                  <a:lumMod val="20000"/>
                  <a:lumOff val="80000"/>
                </a:schemeClr>
              </a:gs>
              <a:gs pos="96000">
                <a:schemeClr val="accent3">
                  <a:lumMod val="40000"/>
                  <a:lumOff val="60000"/>
                </a:schemeClr>
              </a:gs>
              <a:gs pos="37000">
                <a:schemeClr val="accent3">
                  <a:lumMod val="60000"/>
                  <a:lumOff val="40000"/>
                </a:schemeClr>
              </a:gs>
              <a:gs pos="100000">
                <a:schemeClr val="bg1"/>
              </a:gs>
            </a:gsLst>
            <a:lin ang="16200000" scaled="1"/>
          </a:gradFill>
          <a:effectLst>
            <a:innerShdw blurRad="63500" dist="50800" dir="18900000">
              <a:prstClr val="black">
                <a:alpha val="50000"/>
              </a:prstClr>
            </a:innerShdw>
          </a:effectLst>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Tx/>
              <a:buBlip>
                <a:blip r:embed="rId1"/>
              </a:buBlip>
              <a:defRPr/>
            </a:pP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1985-2005 </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年期间，世界银行参与建设的中国大型林业项目有</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6 </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个，其中世界银行投入达到</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8</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亿多美元。</a:t>
            </a:r>
            <a:endPar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a:p>
            <a:pPr marL="457200" marR="0" lvl="0" indent="-457200" algn="l" defTabSz="914400" rtl="0" eaLnBrk="1" fontAlgn="auto" latinLnBrk="0" hangingPunct="1">
              <a:lnSpc>
                <a:spcPct val="100000"/>
              </a:lnSpc>
              <a:spcBef>
                <a:spcPts val="0"/>
              </a:spcBef>
              <a:spcAft>
                <a:spcPts val="0"/>
              </a:spcAft>
              <a:buClrTx/>
              <a:buSzTx/>
              <a:buFontTx/>
              <a:buBlip>
                <a:blip r:embed="rId1"/>
              </a:buBlip>
              <a:defRPr/>
            </a:pP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根据世界银行的规程，</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1985</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年在准备第一个林业项目，即“林业发展项目”时，引入了动态分析法，即采用现金流量分析方法，通过计算内部收益率和净现值等，对林业项目的投资方案进行比选，这一分析方法一直沿用到今天。</a:t>
            </a:r>
            <a:endPar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中幼林价值评估</a:t>
            </a:r>
            <a:endParaRPr lang="zh-CN" altLang="en-US" dirty="0"/>
          </a:p>
        </p:txBody>
      </p:sp>
      <p:sp>
        <p:nvSpPr>
          <p:cNvPr id="3" name="副标题 2"/>
          <p:cNvSpPr>
            <a:spLocks noGrp="1"/>
          </p:cNvSpPr>
          <p:nvPr>
            <p:ph type="subTitle" idx="1"/>
          </p:nvPr>
        </p:nvSpPr>
        <p:spPr/>
        <p:txBody>
          <a:bodyPr/>
          <a:lstStyle/>
          <a:p>
            <a:r>
              <a:rPr lang="en-US" altLang="zh-CN" dirty="0"/>
              <a:t>Valuing Pre-Merchantable Timber</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什么是中幼林？</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normAutofit fontScale="85000" lnSpcReduction="10000"/>
          </a:bodyPr>
          <a:lstStyle/>
          <a:p>
            <a:r>
              <a:rPr lang="zh-CN" altLang="en-US" dirty="0"/>
              <a:t>中幼林林分：</a:t>
            </a:r>
            <a:endParaRPr lang="en-US" altLang="zh-CN" dirty="0"/>
          </a:p>
          <a:p>
            <a:pPr lvl="1"/>
            <a:r>
              <a:rPr lang="zh-CN" altLang="en-US" dirty="0"/>
              <a:t>那些未达到经济成熟，无法采伐并作为加工林产品原料销售的林分</a:t>
            </a:r>
            <a:endParaRPr lang="en-US" altLang="zh-CN" dirty="0"/>
          </a:p>
          <a:p>
            <a:pPr lvl="1"/>
            <a:r>
              <a:rPr lang="en-US" altLang="zh-CN" dirty="0"/>
              <a:t>Pre-Merchantable Timber</a:t>
            </a:r>
            <a:r>
              <a:rPr lang="zh-CN" altLang="en-US" dirty="0"/>
              <a:t>：</a:t>
            </a:r>
            <a:r>
              <a:rPr lang="en-US" altLang="zh-CN" dirty="0"/>
              <a:t>Stands composed of trees too immature to yield timber that can be profitably harvested and sold for manufacturing forest products</a:t>
            </a:r>
            <a:endParaRPr lang="en-US" altLang="zh-CN"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参照（立地）价格法</a:t>
            </a:r>
            <a:endParaRPr lang="en-US" altLang="zh-CN" dirty="0"/>
          </a:p>
          <a:p>
            <a:r>
              <a:rPr lang="zh-CN" altLang="en-US" dirty="0"/>
              <a:t>重置成本法</a:t>
            </a:r>
            <a:endParaRPr lang="en-US" altLang="zh-CN" dirty="0"/>
          </a:p>
          <a:p>
            <a:r>
              <a:rPr lang="zh-CN" altLang="en-US" dirty="0"/>
              <a:t>收入法</a:t>
            </a:r>
            <a:endParaRPr lang="en-US" altLang="zh-CN" dirty="0"/>
          </a:p>
          <a:p>
            <a:r>
              <a:rPr lang="zh-CN" altLang="en-US" dirty="0"/>
              <a:t>内部收益率法</a:t>
            </a:r>
            <a:endParaRPr lang="zh-CN" altLang="en-US" dirty="0"/>
          </a:p>
        </p:txBody>
      </p:sp>
      <p:sp>
        <p:nvSpPr>
          <p:cNvPr id="3" name="标题 2"/>
          <p:cNvSpPr>
            <a:spLocks noGrp="1"/>
          </p:cNvSpPr>
          <p:nvPr>
            <p:ph type="ctrTitle"/>
          </p:nvPr>
        </p:nvSpPr>
        <p:spPr/>
        <p:txBody>
          <a:bodyPr/>
          <a:lstStyle/>
          <a:p>
            <a:r>
              <a:rPr lang="zh-CN" altLang="en-US" dirty="0"/>
              <a:t>中幼林价值的评估方法</a:t>
            </a:r>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参照（立地）价格法</a:t>
            </a:r>
            <a:endParaRPr lang="zh-CN" altLang="en-US" dirty="0"/>
          </a:p>
        </p:txBody>
      </p:sp>
      <p:sp>
        <p:nvSpPr>
          <p:cNvPr id="3" name="副标题 2"/>
          <p:cNvSpPr>
            <a:spLocks noGrp="1"/>
          </p:cNvSpPr>
          <p:nvPr>
            <p:ph type="subTitle" idx="1"/>
          </p:nvPr>
        </p:nvSpPr>
        <p:spPr/>
        <p:txBody>
          <a:bodyPr/>
          <a:lstStyle/>
          <a:p>
            <a:r>
              <a:rPr lang="en-US" altLang="zh-CN"/>
              <a:t>The Sales Comparison Approach</a:t>
            </a:r>
            <a:endParaRPr lang="zh-CN"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立地特征回归（立地价格模型）</a:t>
            </a:r>
            <a:endParaRPr lang="en-US" altLang="zh-CN" dirty="0"/>
          </a:p>
          <a:p>
            <a:r>
              <a:rPr lang="zh-CN" altLang="en-US" dirty="0"/>
              <a:t>把被评估对象的构成特征进行分解，然后估计每个特征对商品价值的贡献</a:t>
            </a:r>
            <a:endParaRPr lang="zh-CN" altLang="en-US" dirty="0"/>
          </a:p>
        </p:txBody>
      </p:sp>
      <p:sp>
        <p:nvSpPr>
          <p:cNvPr id="3" name="标题 2"/>
          <p:cNvSpPr>
            <a:spLocks noGrp="1"/>
          </p:cNvSpPr>
          <p:nvPr>
            <p:ph type="title"/>
          </p:nvPr>
        </p:nvSpPr>
        <p:spPr/>
        <p:txBody>
          <a:bodyPr/>
          <a:lstStyle/>
          <a:p>
            <a:r>
              <a:rPr lang="zh-CN" altLang="en-US" dirty="0"/>
              <a:t>参照（立地）价格法</a:t>
            </a: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适用条件：存在可比交易案例</a:t>
            </a:r>
            <a:endParaRPr lang="zh-CN" altLang="en-US" dirty="0"/>
          </a:p>
        </p:txBody>
      </p:sp>
      <p:sp>
        <p:nvSpPr>
          <p:cNvPr id="3" name="标题 2"/>
          <p:cNvSpPr>
            <a:spLocks noGrp="1"/>
          </p:cNvSpPr>
          <p:nvPr>
            <p:ph type="title"/>
          </p:nvPr>
        </p:nvSpPr>
        <p:spPr/>
        <p:txBody>
          <a:bodyPr/>
          <a:lstStyle/>
          <a:p>
            <a:r>
              <a:rPr lang="zh-CN" altLang="en-US" dirty="0"/>
              <a:t>要求及困难</a:t>
            </a:r>
            <a:endParaRPr lang="zh-CN" altLang="en-US" dirty="0"/>
          </a:p>
        </p:txBody>
      </p:sp>
      <p:sp>
        <p:nvSpPr>
          <p:cNvPr id="4" name="内容占位符 3"/>
          <p:cNvSpPr>
            <a:spLocks noGrp="1"/>
          </p:cNvSpPr>
          <p:nvPr>
            <p:ph idx="1"/>
          </p:nvPr>
        </p:nvSpPr>
        <p:spPr/>
        <p:txBody>
          <a:bodyPr/>
          <a:lstStyle/>
          <a:p>
            <a:r>
              <a:rPr lang="zh-CN" altLang="en-US" dirty="0"/>
              <a:t>需掌握特征：</a:t>
            </a:r>
            <a:endParaRPr lang="en-US" altLang="zh-CN" dirty="0"/>
          </a:p>
          <a:p>
            <a:pPr lvl="1"/>
            <a:r>
              <a:rPr lang="zh-CN" altLang="en-US" dirty="0"/>
              <a:t>立木林分特征</a:t>
            </a:r>
            <a:endParaRPr lang="en-US" altLang="zh-CN" dirty="0"/>
          </a:p>
          <a:p>
            <a:pPr lvl="1"/>
            <a:r>
              <a:rPr lang="zh-CN" altLang="en-US" dirty="0"/>
              <a:t>立地特征</a:t>
            </a:r>
            <a:endParaRPr lang="zh-CN" altLang="en-US" dirty="0"/>
          </a:p>
        </p:txBody>
      </p:sp>
      <p:sp>
        <p:nvSpPr>
          <p:cNvPr id="5" name="内容占位符 4"/>
          <p:cNvSpPr>
            <a:spLocks noGrp="1"/>
          </p:cNvSpPr>
          <p:nvPr>
            <p:ph idx="14"/>
          </p:nvPr>
        </p:nvSpPr>
        <p:spPr/>
        <p:txBody>
          <a:bodyPr>
            <a:normAutofit/>
          </a:bodyPr>
          <a:lstStyle/>
          <a:p>
            <a:r>
              <a:rPr lang="zh-CN" altLang="en-US" dirty="0"/>
              <a:t>困难：</a:t>
            </a:r>
            <a:endParaRPr lang="en-US" altLang="zh-CN" dirty="0"/>
          </a:p>
          <a:p>
            <a:pPr lvl="1"/>
            <a:r>
              <a:rPr lang="zh-CN" altLang="en-US" dirty="0"/>
              <a:t>很难获得有关区域中关于拟售中幼林分与参照交易案例的林分和立地特征参数值</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林龄、树种、造林密度、种苗质量、生长状况</a:t>
            </a:r>
            <a:endParaRPr lang="zh-CN" altLang="en-US" dirty="0"/>
          </a:p>
        </p:txBody>
      </p:sp>
      <p:sp>
        <p:nvSpPr>
          <p:cNvPr id="3" name="标题 2"/>
          <p:cNvSpPr>
            <a:spLocks noGrp="1"/>
          </p:cNvSpPr>
          <p:nvPr>
            <p:ph type="title"/>
          </p:nvPr>
        </p:nvSpPr>
        <p:spPr/>
        <p:txBody>
          <a:bodyPr/>
          <a:lstStyle/>
          <a:p>
            <a:r>
              <a:rPr lang="zh-CN" altLang="en-US" dirty="0"/>
              <a:t>立木林分特征</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地理位置、面积、立地生产力（立地指数）</a:t>
            </a:r>
            <a:endParaRPr lang="en-US" altLang="zh-CN" dirty="0"/>
          </a:p>
          <a:p>
            <a:r>
              <a:rPr lang="zh-CN" altLang="en-US" dirty="0"/>
              <a:t>其他潜在的更好用途</a:t>
            </a:r>
            <a:endParaRPr lang="zh-CN" altLang="en-US" dirty="0"/>
          </a:p>
        </p:txBody>
      </p:sp>
      <p:sp>
        <p:nvSpPr>
          <p:cNvPr id="3" name="标题 2"/>
          <p:cNvSpPr>
            <a:spLocks noGrp="1"/>
          </p:cNvSpPr>
          <p:nvPr>
            <p:ph type="title"/>
          </p:nvPr>
        </p:nvSpPr>
        <p:spPr/>
        <p:txBody>
          <a:bodyPr/>
          <a:lstStyle/>
          <a:p>
            <a:r>
              <a:rPr lang="zh-CN" altLang="en-US" dirty="0"/>
              <a:t>立地特征</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一个林业公司提供了某地区</a:t>
            </a:r>
            <a:r>
              <a:rPr lang="en-US" altLang="zh-CN" dirty="0"/>
              <a:t>7</a:t>
            </a:r>
            <a:r>
              <a:rPr lang="zh-CN" altLang="en-US" dirty="0"/>
              <a:t>个县在</a:t>
            </a:r>
            <a:r>
              <a:rPr lang="en-US" altLang="zh-CN" dirty="0"/>
              <a:t>2001-2007</a:t>
            </a:r>
            <a:r>
              <a:rPr lang="zh-CN" altLang="en-US" dirty="0"/>
              <a:t>年内共</a:t>
            </a:r>
            <a:r>
              <a:rPr lang="en-US" altLang="zh-CN" dirty="0"/>
              <a:t>77</a:t>
            </a:r>
            <a:r>
              <a:rPr lang="zh-CN" altLang="en-US" dirty="0"/>
              <a:t>笔中幼林交易案例数据</a:t>
            </a:r>
            <a:endParaRPr lang="en-US" altLang="zh-CN" dirty="0"/>
          </a:p>
          <a:p>
            <a:r>
              <a:rPr lang="zh-CN" altLang="en-US" dirty="0"/>
              <a:t>并给出其有关变量的描述统计和回归分析结果</a:t>
            </a:r>
            <a:endParaRPr lang="zh-CN" altLang="en-US" dirty="0"/>
          </a:p>
        </p:txBody>
      </p:sp>
      <p:sp>
        <p:nvSpPr>
          <p:cNvPr id="3" name="标题 2"/>
          <p:cNvSpPr>
            <a:spLocks noGrp="1"/>
          </p:cNvSpPr>
          <p:nvPr>
            <p:ph type="ctrTitle"/>
          </p:nvPr>
        </p:nvSpPr>
        <p:spPr/>
        <p:txBody>
          <a:bodyPr>
            <a:noAutofit/>
          </a:bodyPr>
          <a:lstStyle/>
          <a:p>
            <a:r>
              <a:rPr lang="zh-CN" altLang="en-US" sz="3600" dirty="0"/>
              <a:t>案例：使用回归分析评价中幼林价值</a:t>
            </a:r>
            <a:endParaRPr lang="zh-CN" altLang="en-US" sz="36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0" y="0"/>
            <a:ext cx="9144000" cy="857232"/>
          </a:xfrm>
        </p:spPr>
        <p:txBody>
          <a:bodyPr/>
          <a:lstStyle/>
          <a:p>
            <a:r>
              <a:rPr lang="zh-CN" altLang="en-US" sz="3600" dirty="0"/>
              <a:t>描述统计结果</a:t>
            </a:r>
            <a:endParaRPr lang="zh-CN" altLang="en-US" sz="3600" dirty="0"/>
          </a:p>
        </p:txBody>
      </p:sp>
      <p:graphicFrame>
        <p:nvGraphicFramePr>
          <p:cNvPr id="4" name="内容占位符 3"/>
          <p:cNvGraphicFramePr>
            <a:graphicFrameLocks noGrp="1"/>
          </p:cNvGraphicFramePr>
          <p:nvPr>
            <p:ph idx="4294967295"/>
          </p:nvPr>
        </p:nvGraphicFramePr>
        <p:xfrm>
          <a:off x="-1" y="797266"/>
          <a:ext cx="9144001" cy="5638800"/>
        </p:xfrm>
        <a:graphic>
          <a:graphicData uri="http://schemas.openxmlformats.org/drawingml/2006/table">
            <a:tbl>
              <a:tblPr firstRow="1" bandRow="1">
                <a:tableStyleId>{638B1855-1B75-4FBE-930C-398BA8C253C6}</a:tableStyleId>
              </a:tblPr>
              <a:tblGrid>
                <a:gridCol w="2389401"/>
                <a:gridCol w="1256677"/>
                <a:gridCol w="1335218"/>
                <a:gridCol w="1335218"/>
                <a:gridCol w="1303486"/>
                <a:gridCol w="1524001"/>
              </a:tblGrid>
              <a:tr h="370840">
                <a:tc>
                  <a:txBody>
                    <a:bodyPr/>
                    <a:lstStyle/>
                    <a:p>
                      <a:pPr algn="ctr"/>
                      <a:r>
                        <a:rPr lang="zh-CN" altLang="en-US" sz="2300" dirty="0">
                          <a:solidFill>
                            <a:schemeClr val="bg1"/>
                          </a:solidFill>
                        </a:rPr>
                        <a:t>变量</a:t>
                      </a:r>
                      <a:endParaRPr lang="zh-CN" altLang="en-US" sz="2300" dirty="0">
                        <a:solidFill>
                          <a:schemeClr val="bg1"/>
                        </a:solidFill>
                      </a:endParaRPr>
                    </a:p>
                  </a:txBody>
                  <a:tcPr anchor="ctr"/>
                </a:tc>
                <a:tc>
                  <a:txBody>
                    <a:bodyPr/>
                    <a:lstStyle/>
                    <a:p>
                      <a:pPr algn="ctr"/>
                      <a:r>
                        <a:rPr lang="zh-CN" altLang="en-US" sz="2300" dirty="0">
                          <a:solidFill>
                            <a:schemeClr val="bg1"/>
                          </a:solidFill>
                        </a:rPr>
                        <a:t>均值</a:t>
                      </a:r>
                      <a:endParaRPr lang="zh-CN" altLang="en-US" sz="2300" dirty="0">
                        <a:solidFill>
                          <a:schemeClr val="bg1"/>
                        </a:solidFill>
                      </a:endParaRPr>
                    </a:p>
                  </a:txBody>
                  <a:tcPr anchor="ctr"/>
                </a:tc>
                <a:tc>
                  <a:txBody>
                    <a:bodyPr/>
                    <a:lstStyle/>
                    <a:p>
                      <a:pPr algn="ctr"/>
                      <a:r>
                        <a:rPr lang="zh-CN" altLang="en-US" sz="2300" dirty="0">
                          <a:solidFill>
                            <a:schemeClr val="bg1"/>
                          </a:solidFill>
                        </a:rPr>
                        <a:t>标准差</a:t>
                      </a:r>
                      <a:endParaRPr lang="zh-CN" altLang="en-US" sz="2300" dirty="0">
                        <a:solidFill>
                          <a:schemeClr val="bg1"/>
                        </a:solidFill>
                      </a:endParaRPr>
                    </a:p>
                  </a:txBody>
                  <a:tcPr anchor="ctr"/>
                </a:tc>
                <a:tc>
                  <a:txBody>
                    <a:bodyPr/>
                    <a:lstStyle/>
                    <a:p>
                      <a:pPr algn="ctr"/>
                      <a:r>
                        <a:rPr lang="zh-CN" altLang="en-US" sz="2300" dirty="0">
                          <a:solidFill>
                            <a:schemeClr val="bg1"/>
                          </a:solidFill>
                        </a:rPr>
                        <a:t>最小值</a:t>
                      </a:r>
                      <a:endParaRPr lang="zh-CN" altLang="en-US" sz="2300" dirty="0">
                        <a:solidFill>
                          <a:schemeClr val="bg1"/>
                        </a:solidFill>
                      </a:endParaRPr>
                    </a:p>
                  </a:txBody>
                  <a:tcPr anchor="ctr"/>
                </a:tc>
                <a:tc>
                  <a:txBody>
                    <a:bodyPr/>
                    <a:lstStyle/>
                    <a:p>
                      <a:pPr algn="ctr"/>
                      <a:r>
                        <a:rPr lang="zh-CN" altLang="en-US" sz="2300" dirty="0">
                          <a:solidFill>
                            <a:schemeClr val="bg1"/>
                          </a:solidFill>
                        </a:rPr>
                        <a:t>最大值</a:t>
                      </a:r>
                      <a:endParaRPr lang="zh-CN" altLang="en-US" sz="2300" dirty="0">
                        <a:solidFill>
                          <a:schemeClr val="bg1"/>
                        </a:solidFill>
                      </a:endParaRPr>
                    </a:p>
                  </a:txBody>
                  <a:tcPr anchor="ctr"/>
                </a:tc>
                <a:tc>
                  <a:txBody>
                    <a:bodyPr/>
                    <a:lstStyle/>
                    <a:p>
                      <a:pPr algn="ctr"/>
                      <a:r>
                        <a:rPr lang="zh-CN" altLang="en-US" sz="2300" dirty="0">
                          <a:solidFill>
                            <a:schemeClr val="bg1"/>
                          </a:solidFill>
                        </a:rPr>
                        <a:t>预期显著性</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因变量：每亩中幼林林分价格（</a:t>
                      </a:r>
                      <a:r>
                        <a:rPr lang="en-US" altLang="zh-CN" sz="2300" dirty="0">
                          <a:solidFill>
                            <a:schemeClr val="bg1"/>
                          </a:solidFill>
                        </a:rPr>
                        <a:t>2001</a:t>
                      </a:r>
                      <a:r>
                        <a:rPr lang="zh-CN" altLang="en-US" sz="2300" dirty="0">
                          <a:solidFill>
                            <a:schemeClr val="bg1"/>
                          </a:solidFill>
                        </a:rPr>
                        <a:t>年不变价）</a:t>
                      </a:r>
                      <a:endParaRPr lang="zh-CN" altLang="en-US" sz="2300" dirty="0">
                        <a:solidFill>
                          <a:schemeClr val="bg1"/>
                        </a:solidFill>
                      </a:endParaRPr>
                    </a:p>
                  </a:txBody>
                  <a:tcPr anchor="ctr"/>
                </a:tc>
                <a:tc>
                  <a:txBody>
                    <a:bodyPr/>
                    <a:lstStyle/>
                    <a:p>
                      <a:pPr algn="ctr"/>
                      <a:r>
                        <a:rPr lang="en-US" altLang="zh-CN" sz="2300" dirty="0">
                          <a:solidFill>
                            <a:schemeClr val="bg1"/>
                          </a:solidFill>
                        </a:rPr>
                        <a:t>1487.38</a:t>
                      </a:r>
                      <a:endParaRPr lang="zh-CN" altLang="en-US" sz="2300" dirty="0">
                        <a:solidFill>
                          <a:schemeClr val="bg1"/>
                        </a:solidFill>
                      </a:endParaRPr>
                    </a:p>
                  </a:txBody>
                  <a:tcPr anchor="ctr"/>
                </a:tc>
                <a:tc>
                  <a:txBody>
                    <a:bodyPr/>
                    <a:lstStyle/>
                    <a:p>
                      <a:pPr algn="ctr"/>
                      <a:r>
                        <a:rPr lang="en-US" altLang="zh-CN" sz="2300" dirty="0">
                          <a:solidFill>
                            <a:schemeClr val="bg1"/>
                          </a:solidFill>
                        </a:rPr>
                        <a:t>556.38</a:t>
                      </a:r>
                      <a:endParaRPr lang="zh-CN" altLang="en-US" sz="2300" dirty="0">
                        <a:solidFill>
                          <a:schemeClr val="bg1"/>
                        </a:solidFill>
                      </a:endParaRPr>
                    </a:p>
                  </a:txBody>
                  <a:tcPr anchor="ctr"/>
                </a:tc>
                <a:tc>
                  <a:txBody>
                    <a:bodyPr/>
                    <a:lstStyle/>
                    <a:p>
                      <a:pPr algn="ctr"/>
                      <a:r>
                        <a:rPr lang="en-US" altLang="zh-CN" sz="2300" dirty="0">
                          <a:solidFill>
                            <a:schemeClr val="bg1"/>
                          </a:solidFill>
                        </a:rPr>
                        <a:t>619.61</a:t>
                      </a:r>
                      <a:endParaRPr lang="zh-CN" altLang="en-US" sz="2300" dirty="0">
                        <a:solidFill>
                          <a:schemeClr val="bg1"/>
                        </a:solidFill>
                      </a:endParaRPr>
                    </a:p>
                  </a:txBody>
                  <a:tcPr anchor="ctr"/>
                </a:tc>
                <a:tc>
                  <a:txBody>
                    <a:bodyPr/>
                    <a:lstStyle/>
                    <a:p>
                      <a:pPr algn="ctr"/>
                      <a:r>
                        <a:rPr lang="en-US" altLang="zh-CN" sz="2300" dirty="0">
                          <a:solidFill>
                            <a:schemeClr val="bg1"/>
                          </a:solidFill>
                        </a:rPr>
                        <a:t>3256.53</a:t>
                      </a:r>
                      <a:endParaRPr lang="zh-CN" altLang="en-US" sz="2300" dirty="0">
                        <a:solidFill>
                          <a:schemeClr val="bg1"/>
                        </a:solidFill>
                      </a:endParaRPr>
                    </a:p>
                  </a:txBody>
                  <a:tcPr anchor="ctr"/>
                </a:tc>
                <a:tc>
                  <a:txBody>
                    <a:bodyPr/>
                    <a:lstStyle/>
                    <a:p>
                      <a:pPr algn="ct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面积（亩）</a:t>
                      </a:r>
                      <a:endParaRPr lang="zh-CN" altLang="en-US" sz="2300" dirty="0">
                        <a:solidFill>
                          <a:schemeClr val="bg1"/>
                        </a:solidFill>
                      </a:endParaRPr>
                    </a:p>
                  </a:txBody>
                  <a:tcPr anchor="ctr"/>
                </a:tc>
                <a:tc>
                  <a:txBody>
                    <a:bodyPr/>
                    <a:lstStyle/>
                    <a:p>
                      <a:pPr algn="ctr"/>
                      <a:r>
                        <a:rPr lang="en-US" altLang="zh-CN" sz="2300" dirty="0">
                          <a:solidFill>
                            <a:schemeClr val="bg1"/>
                          </a:solidFill>
                        </a:rPr>
                        <a:t>259.63</a:t>
                      </a:r>
                      <a:endParaRPr lang="zh-CN" altLang="en-US" sz="2300" dirty="0">
                        <a:solidFill>
                          <a:schemeClr val="bg1"/>
                        </a:solidFill>
                      </a:endParaRPr>
                    </a:p>
                  </a:txBody>
                  <a:tcPr anchor="ctr"/>
                </a:tc>
                <a:tc>
                  <a:txBody>
                    <a:bodyPr/>
                    <a:lstStyle/>
                    <a:p>
                      <a:pPr algn="ctr"/>
                      <a:r>
                        <a:rPr lang="en-US" altLang="zh-CN" sz="2300" dirty="0">
                          <a:solidFill>
                            <a:schemeClr val="bg1"/>
                          </a:solidFill>
                        </a:rPr>
                        <a:t>285.46</a:t>
                      </a:r>
                      <a:endParaRPr lang="zh-CN" altLang="en-US" sz="2300" dirty="0">
                        <a:solidFill>
                          <a:schemeClr val="bg1"/>
                        </a:solidFill>
                      </a:endParaRPr>
                    </a:p>
                  </a:txBody>
                  <a:tcPr anchor="ctr"/>
                </a:tc>
                <a:tc>
                  <a:txBody>
                    <a:bodyPr/>
                    <a:lstStyle/>
                    <a:p>
                      <a:pPr algn="ctr"/>
                      <a:r>
                        <a:rPr lang="en-US" altLang="zh-CN" sz="2300" dirty="0">
                          <a:solidFill>
                            <a:schemeClr val="bg1"/>
                          </a:solidFill>
                        </a:rPr>
                        <a:t>20.00</a:t>
                      </a:r>
                      <a:endParaRPr lang="zh-CN" altLang="en-US" sz="2300" dirty="0">
                        <a:solidFill>
                          <a:schemeClr val="bg1"/>
                        </a:solidFill>
                      </a:endParaRPr>
                    </a:p>
                  </a:txBody>
                  <a:tcPr anchor="ctr"/>
                </a:tc>
                <a:tc>
                  <a:txBody>
                    <a:bodyPr/>
                    <a:lstStyle/>
                    <a:p>
                      <a:pPr algn="ctr"/>
                      <a:r>
                        <a:rPr lang="en-US" altLang="zh-CN" sz="2300" dirty="0">
                          <a:solidFill>
                            <a:schemeClr val="bg1"/>
                          </a:solidFill>
                        </a:rPr>
                        <a:t>1500.00</a:t>
                      </a:r>
                      <a:endParaRPr lang="zh-CN" altLang="en-US" sz="2300" dirty="0">
                        <a:solidFill>
                          <a:schemeClr val="bg1"/>
                        </a:solidFill>
                      </a:endParaRPr>
                    </a:p>
                  </a:txBody>
                  <a:tcPr anchor="ctr"/>
                </a:tc>
                <a:tc>
                  <a:txBody>
                    <a:bodyPr/>
                    <a:lstStyle/>
                    <a:p>
                      <a:pPr algn="ctr"/>
                      <a:r>
                        <a:rPr lang="zh-CN" altLang="en-US"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立地指数</a:t>
                      </a:r>
                      <a:endParaRPr lang="zh-CN" altLang="en-US" sz="2300" dirty="0">
                        <a:solidFill>
                          <a:schemeClr val="bg1"/>
                        </a:solidFill>
                      </a:endParaRPr>
                    </a:p>
                  </a:txBody>
                  <a:tcPr anchor="ctr"/>
                </a:tc>
                <a:tc>
                  <a:txBody>
                    <a:bodyPr/>
                    <a:lstStyle/>
                    <a:p>
                      <a:pPr algn="ctr"/>
                      <a:r>
                        <a:rPr lang="en-US" altLang="zh-CN" sz="2300" dirty="0">
                          <a:solidFill>
                            <a:schemeClr val="bg1"/>
                          </a:solidFill>
                        </a:rPr>
                        <a:t>88.39</a:t>
                      </a:r>
                      <a:endParaRPr lang="zh-CN" altLang="en-US" sz="2300" dirty="0">
                        <a:solidFill>
                          <a:schemeClr val="bg1"/>
                        </a:solidFill>
                      </a:endParaRPr>
                    </a:p>
                  </a:txBody>
                  <a:tcPr anchor="ctr"/>
                </a:tc>
                <a:tc>
                  <a:txBody>
                    <a:bodyPr/>
                    <a:lstStyle/>
                    <a:p>
                      <a:pPr algn="ctr"/>
                      <a:r>
                        <a:rPr lang="en-US" altLang="zh-CN" sz="2300" dirty="0">
                          <a:solidFill>
                            <a:schemeClr val="bg1"/>
                          </a:solidFill>
                        </a:rPr>
                        <a:t>4.16</a:t>
                      </a:r>
                      <a:endParaRPr lang="zh-CN" altLang="en-US" sz="2300" dirty="0">
                        <a:solidFill>
                          <a:schemeClr val="bg1"/>
                        </a:solidFill>
                      </a:endParaRPr>
                    </a:p>
                  </a:txBody>
                  <a:tcPr anchor="ctr"/>
                </a:tc>
                <a:tc>
                  <a:txBody>
                    <a:bodyPr/>
                    <a:lstStyle/>
                    <a:p>
                      <a:pPr algn="ctr"/>
                      <a:r>
                        <a:rPr lang="en-US" altLang="zh-CN" sz="2300" dirty="0">
                          <a:solidFill>
                            <a:schemeClr val="bg1"/>
                          </a:solidFill>
                        </a:rPr>
                        <a:t>80.00</a:t>
                      </a:r>
                      <a:endParaRPr lang="zh-CN" altLang="en-US" sz="2300" dirty="0">
                        <a:solidFill>
                          <a:schemeClr val="bg1"/>
                        </a:solidFill>
                      </a:endParaRPr>
                    </a:p>
                  </a:txBody>
                  <a:tcPr anchor="ctr"/>
                </a:tc>
                <a:tc>
                  <a:txBody>
                    <a:bodyPr/>
                    <a:lstStyle/>
                    <a:p>
                      <a:pPr algn="ctr"/>
                      <a:r>
                        <a:rPr lang="en-US" altLang="zh-CN" sz="2300" dirty="0">
                          <a:solidFill>
                            <a:schemeClr val="bg1"/>
                          </a:solidFill>
                        </a:rPr>
                        <a:t>95.00</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林分年龄（年）</a:t>
                      </a:r>
                      <a:endParaRPr lang="zh-CN" altLang="en-US" sz="2300" dirty="0">
                        <a:solidFill>
                          <a:schemeClr val="bg1"/>
                        </a:solidFill>
                      </a:endParaRPr>
                    </a:p>
                  </a:txBody>
                  <a:tcPr anchor="ctr"/>
                </a:tc>
                <a:tc>
                  <a:txBody>
                    <a:bodyPr/>
                    <a:lstStyle/>
                    <a:p>
                      <a:pPr algn="ctr"/>
                      <a:r>
                        <a:rPr lang="en-US" altLang="zh-CN" sz="2300" dirty="0">
                          <a:solidFill>
                            <a:schemeClr val="bg1"/>
                          </a:solidFill>
                        </a:rPr>
                        <a:t>5.05</a:t>
                      </a:r>
                      <a:endParaRPr lang="zh-CN" altLang="en-US" sz="2300" dirty="0">
                        <a:solidFill>
                          <a:schemeClr val="bg1"/>
                        </a:solidFill>
                      </a:endParaRPr>
                    </a:p>
                  </a:txBody>
                  <a:tcPr anchor="ctr"/>
                </a:tc>
                <a:tc>
                  <a:txBody>
                    <a:bodyPr/>
                    <a:lstStyle/>
                    <a:p>
                      <a:pPr algn="ctr"/>
                      <a:r>
                        <a:rPr lang="en-US" altLang="zh-CN" sz="2300" dirty="0">
                          <a:solidFill>
                            <a:schemeClr val="bg1"/>
                          </a:solidFill>
                        </a:rPr>
                        <a:t>5.16</a:t>
                      </a:r>
                      <a:endParaRPr lang="zh-CN" altLang="en-US" sz="2300" dirty="0">
                        <a:solidFill>
                          <a:schemeClr val="bg1"/>
                        </a:solidFill>
                      </a:endParaRPr>
                    </a:p>
                  </a:txBody>
                  <a:tcPr anchor="ctr"/>
                </a:tc>
                <a:tc>
                  <a:txBody>
                    <a:bodyPr/>
                    <a:lstStyle/>
                    <a:p>
                      <a:pPr algn="ctr"/>
                      <a:r>
                        <a:rPr lang="en-US" altLang="zh-CN" sz="2300" dirty="0">
                          <a:solidFill>
                            <a:schemeClr val="bg1"/>
                          </a:solidFill>
                        </a:rPr>
                        <a:t>0</a:t>
                      </a:r>
                      <a:endParaRPr lang="zh-CN" altLang="en-US" sz="2300" dirty="0">
                        <a:solidFill>
                          <a:schemeClr val="bg1"/>
                        </a:solidFill>
                      </a:endParaRPr>
                    </a:p>
                  </a:txBody>
                  <a:tcPr anchor="ctr"/>
                </a:tc>
                <a:tc>
                  <a:txBody>
                    <a:bodyPr/>
                    <a:lstStyle/>
                    <a:p>
                      <a:pPr algn="ctr"/>
                      <a:r>
                        <a:rPr lang="en-US" altLang="zh-CN" sz="2300" dirty="0">
                          <a:solidFill>
                            <a:schemeClr val="bg1"/>
                          </a:solidFill>
                        </a:rPr>
                        <a:t>15</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销售时间（</a:t>
                      </a:r>
                      <a:r>
                        <a:rPr lang="en-US" altLang="zh-CN" sz="2300" dirty="0">
                          <a:solidFill>
                            <a:schemeClr val="bg1"/>
                          </a:solidFill>
                        </a:rPr>
                        <a:t>2001=1</a:t>
                      </a:r>
                      <a:r>
                        <a:rPr lang="zh-CN" altLang="en-US" sz="2300" dirty="0">
                          <a:solidFill>
                            <a:schemeClr val="bg1"/>
                          </a:solidFill>
                        </a:rPr>
                        <a:t>，</a:t>
                      </a:r>
                      <a:r>
                        <a:rPr lang="en-US" altLang="zh-CN" sz="2300" dirty="0">
                          <a:solidFill>
                            <a:schemeClr val="bg1"/>
                          </a:solidFill>
                        </a:rPr>
                        <a:t>2007=7</a:t>
                      </a:r>
                      <a:r>
                        <a:rPr lang="zh-CN" altLang="en-US" sz="2300" dirty="0">
                          <a:solidFill>
                            <a:schemeClr val="bg1"/>
                          </a:solidFill>
                        </a:rPr>
                        <a:t>）</a:t>
                      </a:r>
                      <a:endParaRPr lang="zh-CN" altLang="en-US" sz="2300" dirty="0">
                        <a:solidFill>
                          <a:schemeClr val="bg1"/>
                        </a:solidFill>
                      </a:endParaRPr>
                    </a:p>
                  </a:txBody>
                  <a:tcPr anchor="ctr"/>
                </a:tc>
                <a:tc>
                  <a:txBody>
                    <a:bodyPr/>
                    <a:lstStyle/>
                    <a:p>
                      <a:pPr algn="ctr"/>
                      <a:r>
                        <a:rPr lang="en-US" altLang="zh-CN" sz="2300" dirty="0">
                          <a:solidFill>
                            <a:schemeClr val="bg1"/>
                          </a:solidFill>
                        </a:rPr>
                        <a:t>4.56</a:t>
                      </a:r>
                      <a:endParaRPr lang="zh-CN" altLang="en-US" sz="2300" dirty="0">
                        <a:solidFill>
                          <a:schemeClr val="bg1"/>
                        </a:solidFill>
                      </a:endParaRPr>
                    </a:p>
                  </a:txBody>
                  <a:tcPr anchor="ctr"/>
                </a:tc>
                <a:tc>
                  <a:txBody>
                    <a:bodyPr/>
                    <a:lstStyle/>
                    <a:p>
                      <a:pPr algn="ctr"/>
                      <a:r>
                        <a:rPr lang="en-US" altLang="zh-CN" sz="2300" dirty="0">
                          <a:solidFill>
                            <a:schemeClr val="bg1"/>
                          </a:solidFill>
                        </a:rPr>
                        <a:t>1.67</a:t>
                      </a:r>
                      <a:endParaRPr lang="zh-CN" altLang="en-US" sz="2300" dirty="0">
                        <a:solidFill>
                          <a:schemeClr val="bg1"/>
                        </a:solidFill>
                      </a:endParaRPr>
                    </a:p>
                  </a:txBody>
                  <a:tcPr anchor="ctr"/>
                </a:tc>
                <a:tc>
                  <a:txBody>
                    <a:bodyPr/>
                    <a:lstStyle/>
                    <a:p>
                      <a:pPr algn="ctr"/>
                      <a:r>
                        <a:rPr lang="en-US" altLang="zh-CN" sz="2300" dirty="0">
                          <a:solidFill>
                            <a:schemeClr val="bg1"/>
                          </a:solidFill>
                        </a:rPr>
                        <a:t>1</a:t>
                      </a:r>
                      <a:endParaRPr lang="zh-CN" altLang="en-US" sz="2300" dirty="0">
                        <a:solidFill>
                          <a:schemeClr val="bg1"/>
                        </a:solidFill>
                      </a:endParaRPr>
                    </a:p>
                  </a:txBody>
                  <a:tcPr anchor="ctr"/>
                </a:tc>
                <a:tc>
                  <a:txBody>
                    <a:bodyPr/>
                    <a:lstStyle/>
                    <a:p>
                      <a:pPr algn="ctr"/>
                      <a:r>
                        <a:rPr lang="en-US" altLang="zh-CN" sz="2300" dirty="0">
                          <a:solidFill>
                            <a:schemeClr val="bg1"/>
                          </a:solidFill>
                        </a:rPr>
                        <a:t>7</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临近道路情况（</a:t>
                      </a:r>
                      <a:r>
                        <a:rPr lang="en-US" altLang="zh-CN" sz="2300" dirty="0">
                          <a:solidFill>
                            <a:schemeClr val="bg1"/>
                          </a:solidFill>
                        </a:rPr>
                        <a:t>1</a:t>
                      </a:r>
                      <a:r>
                        <a:rPr lang="zh-CN" altLang="en-US" sz="2300" dirty="0">
                          <a:solidFill>
                            <a:schemeClr val="bg1"/>
                          </a:solidFill>
                        </a:rPr>
                        <a:t>，</a:t>
                      </a:r>
                      <a:r>
                        <a:rPr lang="en-US" altLang="zh-CN" sz="2300" dirty="0">
                          <a:solidFill>
                            <a:schemeClr val="bg1"/>
                          </a:solidFill>
                        </a:rPr>
                        <a:t>0</a:t>
                      </a:r>
                      <a:r>
                        <a:rPr lang="zh-CN" altLang="en-US" sz="2300" dirty="0">
                          <a:solidFill>
                            <a:schemeClr val="bg1"/>
                          </a:solidFill>
                        </a:rPr>
                        <a:t>）</a:t>
                      </a:r>
                      <a:endParaRPr lang="zh-CN" altLang="en-US" sz="2300" dirty="0">
                        <a:solidFill>
                          <a:schemeClr val="bg1"/>
                        </a:solidFill>
                      </a:endParaRPr>
                    </a:p>
                  </a:txBody>
                  <a:tcPr anchor="ctr"/>
                </a:tc>
                <a:tc>
                  <a:txBody>
                    <a:bodyPr/>
                    <a:lstStyle/>
                    <a:p>
                      <a:pPr algn="ctr"/>
                      <a:r>
                        <a:rPr lang="en-US" altLang="zh-CN" sz="2300" dirty="0">
                          <a:solidFill>
                            <a:schemeClr val="bg1"/>
                          </a:solidFill>
                        </a:rPr>
                        <a:t>0.60</a:t>
                      </a:r>
                      <a:endParaRPr lang="zh-CN" altLang="en-US" sz="2300" dirty="0">
                        <a:solidFill>
                          <a:schemeClr val="bg1"/>
                        </a:solidFill>
                      </a:endParaRPr>
                    </a:p>
                  </a:txBody>
                  <a:tcPr anchor="ctr"/>
                </a:tc>
                <a:tc>
                  <a:txBody>
                    <a:bodyPr/>
                    <a:lstStyle/>
                    <a:p>
                      <a:pPr algn="ctr"/>
                      <a:endParaRPr lang="zh-CN" altLang="en-US" sz="2300" dirty="0">
                        <a:solidFill>
                          <a:schemeClr val="bg1"/>
                        </a:solidFill>
                      </a:endParaRPr>
                    </a:p>
                  </a:txBody>
                  <a:tcPr anchor="ctr"/>
                </a:tc>
                <a:tc>
                  <a:txBody>
                    <a:bodyPr/>
                    <a:lstStyle/>
                    <a:p>
                      <a:pPr algn="ctr"/>
                      <a:r>
                        <a:rPr lang="en-US" altLang="zh-CN" sz="2300" dirty="0">
                          <a:solidFill>
                            <a:schemeClr val="bg1"/>
                          </a:solidFill>
                        </a:rPr>
                        <a:t>0</a:t>
                      </a:r>
                      <a:endParaRPr lang="zh-CN" altLang="en-US" sz="2300" dirty="0">
                        <a:solidFill>
                          <a:schemeClr val="bg1"/>
                        </a:solidFill>
                      </a:endParaRPr>
                    </a:p>
                  </a:txBody>
                  <a:tcPr anchor="ctr"/>
                </a:tc>
                <a:tc>
                  <a:txBody>
                    <a:bodyPr/>
                    <a:lstStyle/>
                    <a:p>
                      <a:pPr algn="ctr"/>
                      <a:r>
                        <a:rPr lang="en-US" altLang="zh-CN" sz="2300" dirty="0">
                          <a:solidFill>
                            <a:schemeClr val="bg1"/>
                          </a:solidFill>
                        </a:rPr>
                        <a:t>1</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更优用途（</a:t>
                      </a:r>
                      <a:r>
                        <a:rPr lang="en-US" altLang="zh-CN" sz="2300" dirty="0">
                          <a:solidFill>
                            <a:schemeClr val="bg1"/>
                          </a:solidFill>
                        </a:rPr>
                        <a:t>1</a:t>
                      </a:r>
                      <a:r>
                        <a:rPr lang="zh-CN" altLang="en-US" sz="2300" dirty="0">
                          <a:solidFill>
                            <a:schemeClr val="bg1"/>
                          </a:solidFill>
                        </a:rPr>
                        <a:t>，</a:t>
                      </a:r>
                      <a:r>
                        <a:rPr lang="en-US" altLang="zh-CN" sz="2300" dirty="0">
                          <a:solidFill>
                            <a:schemeClr val="bg1"/>
                          </a:solidFill>
                        </a:rPr>
                        <a:t>0</a:t>
                      </a:r>
                      <a:r>
                        <a:rPr lang="zh-CN" altLang="en-US" sz="2300" dirty="0">
                          <a:solidFill>
                            <a:schemeClr val="bg1"/>
                          </a:solidFill>
                        </a:rPr>
                        <a:t>）</a:t>
                      </a:r>
                      <a:endParaRPr lang="zh-CN" altLang="en-US" sz="2300" dirty="0">
                        <a:solidFill>
                          <a:schemeClr val="bg1"/>
                        </a:solidFill>
                      </a:endParaRPr>
                    </a:p>
                  </a:txBody>
                  <a:tcPr anchor="ctr"/>
                </a:tc>
                <a:tc>
                  <a:txBody>
                    <a:bodyPr/>
                    <a:lstStyle/>
                    <a:p>
                      <a:pPr algn="ctr"/>
                      <a:r>
                        <a:rPr lang="en-US" altLang="zh-CN" sz="2300" dirty="0">
                          <a:solidFill>
                            <a:schemeClr val="bg1"/>
                          </a:solidFill>
                        </a:rPr>
                        <a:t>0.09</a:t>
                      </a:r>
                      <a:endParaRPr lang="zh-CN" altLang="en-US" sz="2300" dirty="0">
                        <a:solidFill>
                          <a:schemeClr val="bg1"/>
                        </a:solidFill>
                      </a:endParaRPr>
                    </a:p>
                  </a:txBody>
                  <a:tcPr anchor="ctr"/>
                </a:tc>
                <a:tc>
                  <a:txBody>
                    <a:bodyPr/>
                    <a:lstStyle/>
                    <a:p>
                      <a:pPr algn="ctr"/>
                      <a:endParaRPr lang="zh-CN" altLang="en-US" sz="2300" dirty="0">
                        <a:solidFill>
                          <a:schemeClr val="bg1"/>
                        </a:solidFill>
                      </a:endParaRPr>
                    </a:p>
                  </a:txBody>
                  <a:tcPr anchor="ctr"/>
                </a:tc>
                <a:tc>
                  <a:txBody>
                    <a:bodyPr/>
                    <a:lstStyle/>
                    <a:p>
                      <a:pPr algn="ctr"/>
                      <a:r>
                        <a:rPr lang="en-US" altLang="zh-CN" sz="2300" dirty="0">
                          <a:solidFill>
                            <a:schemeClr val="bg1"/>
                          </a:solidFill>
                        </a:rPr>
                        <a:t>0</a:t>
                      </a:r>
                      <a:endParaRPr lang="zh-CN" altLang="en-US" sz="2300" dirty="0">
                        <a:solidFill>
                          <a:schemeClr val="bg1"/>
                        </a:solidFill>
                      </a:endParaRPr>
                    </a:p>
                  </a:txBody>
                  <a:tcPr anchor="ctr"/>
                </a:tc>
                <a:tc>
                  <a:txBody>
                    <a:bodyPr/>
                    <a:lstStyle/>
                    <a:p>
                      <a:pPr algn="ctr"/>
                      <a:r>
                        <a:rPr lang="en-US" altLang="zh-CN" sz="2300" dirty="0">
                          <a:solidFill>
                            <a:schemeClr val="bg1"/>
                          </a:solidFill>
                        </a:rPr>
                        <a:t>1</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0651"/>
            <a:ext cx="9144000" cy="1116000"/>
          </a:xfrm>
        </p:spPr>
        <p:txBody>
          <a:bodyPr>
            <a:normAutofit fontScale="90000"/>
          </a:bodyPr>
          <a:lstStyle/>
          <a:p>
            <a:r>
              <a:rPr lang="zh-CN" altLang="en-US" sz="3600" dirty="0"/>
              <a:t>回归结果</a:t>
            </a:r>
            <a:br>
              <a:rPr lang="en-US" altLang="zh-CN" sz="3600" dirty="0"/>
            </a:br>
            <a:r>
              <a:rPr lang="zh-CN" altLang="en-US" sz="3600" dirty="0"/>
              <a:t>（因变量：每亩林分价格的自然对数）</a:t>
            </a:r>
            <a:endParaRPr lang="zh-CN" altLang="en-US" sz="3600" dirty="0"/>
          </a:p>
        </p:txBody>
      </p:sp>
      <p:graphicFrame>
        <p:nvGraphicFramePr>
          <p:cNvPr id="4" name="内容占位符 3"/>
          <p:cNvGraphicFramePr>
            <a:graphicFrameLocks noGrp="1"/>
          </p:cNvGraphicFramePr>
          <p:nvPr>
            <p:ph idx="1"/>
          </p:nvPr>
        </p:nvGraphicFramePr>
        <p:xfrm>
          <a:off x="0" y="1143000"/>
          <a:ext cx="9144000" cy="5196840"/>
        </p:xfrm>
        <a:graphic>
          <a:graphicData uri="http://schemas.openxmlformats.org/drawingml/2006/table">
            <a:tbl>
              <a:tblPr firstRow="1" bandRow="1">
                <a:solidFill>
                  <a:srgbClr val="E9EEEE">
                    <a:alpha val="67059"/>
                  </a:srgbClr>
                </a:solidFill>
                <a:tableStyleId>{638B1855-1B75-4FBE-930C-398BA8C253C6}</a:tableStyleId>
              </a:tblPr>
              <a:tblGrid>
                <a:gridCol w="2286000"/>
                <a:gridCol w="2286000"/>
                <a:gridCol w="2286000"/>
                <a:gridCol w="2286000"/>
              </a:tblGrid>
              <a:tr h="370840">
                <a:tc>
                  <a:txBody>
                    <a:bodyPr/>
                    <a:lstStyle/>
                    <a:p>
                      <a:pPr algn="ctr"/>
                      <a:r>
                        <a:rPr lang="zh-CN" altLang="en-US" sz="2500" dirty="0">
                          <a:solidFill>
                            <a:srgbClr val="C00000"/>
                          </a:solidFill>
                        </a:rPr>
                        <a:t>变量</a:t>
                      </a:r>
                      <a:endParaRPr lang="zh-CN" altLang="en-US" sz="2500" dirty="0">
                        <a:solidFill>
                          <a:srgbClr val="C00000"/>
                        </a:solidFill>
                      </a:endParaRPr>
                    </a:p>
                  </a:txBody>
                  <a:tcPr anchor="ctr">
                    <a:cell3D prstMaterial="dkEdge">
                      <a:bevel prst="coolSlant"/>
                      <a:lightRig rig="flood" dir="t"/>
                    </a:cell3D>
                  </a:tcPr>
                </a:tc>
                <a:tc>
                  <a:txBody>
                    <a:bodyPr/>
                    <a:lstStyle/>
                    <a:p>
                      <a:pPr algn="ctr"/>
                      <a:r>
                        <a:rPr lang="zh-CN" altLang="en-US" sz="2500" dirty="0">
                          <a:solidFill>
                            <a:srgbClr val="C00000"/>
                          </a:solidFill>
                        </a:rPr>
                        <a:t>系数</a:t>
                      </a:r>
                      <a:endParaRPr lang="zh-CN" altLang="en-US" sz="2500" dirty="0">
                        <a:solidFill>
                          <a:srgbClr val="C00000"/>
                        </a:solidFill>
                      </a:endParaRPr>
                    </a:p>
                  </a:txBody>
                  <a:tcPr anchor="ctr">
                    <a:cell3D prstMaterial="dkEdge">
                      <a:bevel prst="coolSlant"/>
                      <a:lightRig rig="flood" dir="t"/>
                    </a:cell3D>
                  </a:tcPr>
                </a:tc>
                <a:tc>
                  <a:txBody>
                    <a:bodyPr/>
                    <a:lstStyle/>
                    <a:p>
                      <a:pPr algn="ctr"/>
                      <a:r>
                        <a:rPr lang="zh-CN" altLang="en-US" sz="2500" dirty="0">
                          <a:solidFill>
                            <a:srgbClr val="C00000"/>
                          </a:solidFill>
                        </a:rPr>
                        <a:t>标准误</a:t>
                      </a:r>
                      <a:endParaRPr lang="zh-CN" altLang="en-US" sz="2500" dirty="0">
                        <a:solidFill>
                          <a:srgbClr val="C00000"/>
                        </a:solidFill>
                      </a:endParaRPr>
                    </a:p>
                  </a:txBody>
                  <a:tcPr anchor="ctr">
                    <a:cell3D prstMaterial="dkEdge">
                      <a:bevel prst="coolSlant"/>
                      <a:lightRig rig="flood" dir="t"/>
                    </a:cell3D>
                  </a:tcPr>
                </a:tc>
                <a:tc>
                  <a:txBody>
                    <a:bodyPr/>
                    <a:lstStyle/>
                    <a:p>
                      <a:pPr algn="ctr"/>
                      <a:r>
                        <a:rPr lang="zh-CN" altLang="en-US" sz="2500" dirty="0">
                          <a:solidFill>
                            <a:srgbClr val="C00000"/>
                          </a:solidFill>
                        </a:rPr>
                        <a:t>预测效应</a:t>
                      </a:r>
                      <a:endParaRPr lang="zh-CN" altLang="en-US" sz="2500" dirty="0">
                        <a:solidFill>
                          <a:srgbClr val="C00000"/>
                        </a:solidFill>
                      </a:endParaRPr>
                    </a:p>
                  </a:txBody>
                  <a:tcPr anchor="ctr">
                    <a:cell3D prstMaterial="dkEdge">
                      <a:bevel prst="coolSlant"/>
                      <a:lightRig rig="flood" dir="t"/>
                    </a:cell3D>
                  </a:tcPr>
                </a:tc>
              </a:tr>
              <a:tr h="370840">
                <a:tc>
                  <a:txBody>
                    <a:bodyPr/>
                    <a:lstStyle/>
                    <a:p>
                      <a:pPr algn="ctr"/>
                      <a:r>
                        <a:rPr lang="zh-CN" altLang="en-US" sz="2500" dirty="0">
                          <a:solidFill>
                            <a:srgbClr val="C00000"/>
                          </a:solidFill>
                        </a:rPr>
                        <a:t>面积</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0.0002</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0.0001</a:t>
                      </a:r>
                      <a:endParaRPr lang="zh-CN" altLang="en-US" sz="2500" dirty="0">
                        <a:solidFill>
                          <a:srgbClr val="C00000"/>
                        </a:solidFill>
                      </a:endParaRPr>
                    </a:p>
                  </a:txBody>
                  <a:tcPr anchor="ctr"/>
                </a:tc>
                <a:tc>
                  <a:txBody>
                    <a:bodyPr/>
                    <a:lstStyle/>
                    <a:p>
                      <a:pPr algn="ctr"/>
                      <a:r>
                        <a:rPr lang="en-US" altLang="zh-CN" sz="2500" dirty="0">
                          <a:solidFill>
                            <a:srgbClr val="C00000"/>
                          </a:solidFill>
                        </a:rPr>
                        <a:t>0.0002</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立地指数</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0.0085</a:t>
                      </a:r>
                      <a:endParaRPr lang="zh-CN" altLang="en-US" sz="2500" dirty="0">
                        <a:solidFill>
                          <a:srgbClr val="C00000"/>
                        </a:solidFill>
                      </a:endParaRPr>
                    </a:p>
                  </a:txBody>
                  <a:tcPr anchor="ctr"/>
                </a:tc>
                <a:tc>
                  <a:txBody>
                    <a:bodyPr/>
                    <a:lstStyle/>
                    <a:p>
                      <a:pPr algn="ctr"/>
                      <a:r>
                        <a:rPr lang="en-US" altLang="zh-CN" sz="2500" dirty="0">
                          <a:solidFill>
                            <a:srgbClr val="C00000"/>
                          </a:solidFill>
                        </a:rPr>
                        <a:t>0.0086</a:t>
                      </a:r>
                      <a:endParaRPr lang="zh-CN" altLang="en-US" sz="2500" dirty="0">
                        <a:solidFill>
                          <a:srgbClr val="C00000"/>
                        </a:solidFill>
                      </a:endParaRPr>
                    </a:p>
                  </a:txBody>
                  <a:tcPr anchor="ctr"/>
                </a:tc>
                <a:tc>
                  <a:txBody>
                    <a:bodyPr/>
                    <a:lstStyle/>
                    <a:p>
                      <a:pPr algn="ctr"/>
                      <a:r>
                        <a:rPr lang="en-US" altLang="zh-CN" sz="2500" dirty="0">
                          <a:solidFill>
                            <a:srgbClr val="C00000"/>
                          </a:solidFill>
                        </a:rPr>
                        <a:t>0.0887</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林龄</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0.0155</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0.0074</a:t>
                      </a:r>
                      <a:endParaRPr lang="zh-CN" altLang="en-US" sz="2500" dirty="0">
                        <a:solidFill>
                          <a:srgbClr val="C00000"/>
                        </a:solidFill>
                      </a:endParaRPr>
                    </a:p>
                  </a:txBody>
                  <a:tcPr anchor="ctr"/>
                </a:tc>
                <a:tc>
                  <a:txBody>
                    <a:bodyPr/>
                    <a:lstStyle/>
                    <a:p>
                      <a:pPr algn="ctr"/>
                      <a:r>
                        <a:rPr lang="en-US" altLang="zh-CN" sz="2500" dirty="0">
                          <a:solidFill>
                            <a:srgbClr val="C00000"/>
                          </a:solidFill>
                        </a:rPr>
                        <a:t>0.0156</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销售时间</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0.0751</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0.0222</a:t>
                      </a:r>
                      <a:endParaRPr lang="zh-CN" altLang="en-US" sz="2500" dirty="0">
                        <a:solidFill>
                          <a:srgbClr val="C00000"/>
                        </a:solidFill>
                      </a:endParaRPr>
                    </a:p>
                  </a:txBody>
                  <a:tcPr anchor="ctr"/>
                </a:tc>
                <a:tc>
                  <a:txBody>
                    <a:bodyPr/>
                    <a:lstStyle/>
                    <a:p>
                      <a:pPr algn="ctr"/>
                      <a:r>
                        <a:rPr lang="en-US" altLang="zh-CN" sz="2500" dirty="0">
                          <a:solidFill>
                            <a:srgbClr val="C00000"/>
                          </a:solidFill>
                        </a:rPr>
                        <a:t>0.0780</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道路临近状况</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0.0502</a:t>
                      </a:r>
                      <a:endParaRPr lang="zh-CN" altLang="en-US" sz="2500" dirty="0">
                        <a:solidFill>
                          <a:srgbClr val="C00000"/>
                        </a:solidFill>
                      </a:endParaRPr>
                    </a:p>
                  </a:txBody>
                  <a:tcPr anchor="ctr"/>
                </a:tc>
                <a:tc>
                  <a:txBody>
                    <a:bodyPr/>
                    <a:lstStyle/>
                    <a:p>
                      <a:pPr algn="ctr"/>
                      <a:r>
                        <a:rPr lang="en-US" altLang="zh-CN" sz="2500" dirty="0">
                          <a:solidFill>
                            <a:srgbClr val="C00000"/>
                          </a:solidFill>
                        </a:rPr>
                        <a:t>0.0772</a:t>
                      </a:r>
                      <a:endParaRPr lang="zh-CN" altLang="en-US" sz="2500" dirty="0">
                        <a:solidFill>
                          <a:srgbClr val="C00000"/>
                        </a:solidFill>
                      </a:endParaRPr>
                    </a:p>
                  </a:txBody>
                  <a:tcPr anchor="ctr"/>
                </a:tc>
                <a:tc>
                  <a:txBody>
                    <a:bodyPr/>
                    <a:lstStyle/>
                    <a:p>
                      <a:pPr algn="ctr"/>
                      <a:r>
                        <a:rPr lang="en-US" altLang="zh-CN" sz="2500" dirty="0">
                          <a:solidFill>
                            <a:srgbClr val="C00000"/>
                          </a:solidFill>
                        </a:rPr>
                        <a:t>0.0515</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更优用途</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0.2974</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0.1260</a:t>
                      </a:r>
                      <a:endParaRPr lang="zh-CN" altLang="en-US" sz="2500" dirty="0">
                        <a:solidFill>
                          <a:srgbClr val="C00000"/>
                        </a:solidFill>
                      </a:endParaRPr>
                    </a:p>
                  </a:txBody>
                  <a:tcPr anchor="ctr"/>
                </a:tc>
                <a:tc>
                  <a:txBody>
                    <a:bodyPr/>
                    <a:lstStyle/>
                    <a:p>
                      <a:pPr algn="ctr"/>
                      <a:r>
                        <a:rPr lang="en-US" altLang="zh-CN" sz="2500" dirty="0">
                          <a:solidFill>
                            <a:srgbClr val="C00000"/>
                          </a:solidFill>
                        </a:rPr>
                        <a:t>0.3466</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常数</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5.9465</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0.7678</a:t>
                      </a:r>
                      <a:endParaRPr lang="zh-CN" altLang="en-US" sz="2500" dirty="0">
                        <a:solidFill>
                          <a:srgbClr val="C00000"/>
                        </a:solidFill>
                      </a:endParaRPr>
                    </a:p>
                  </a:txBody>
                  <a:tcPr anchor="ctr"/>
                </a:tc>
                <a:tc>
                  <a:txBody>
                    <a:bodyPr/>
                    <a:lstStyle/>
                    <a:p>
                      <a:pPr algn="ctr"/>
                      <a:r>
                        <a:rPr lang="en-US" altLang="zh-CN" sz="2500" dirty="0">
                          <a:solidFill>
                            <a:srgbClr val="C00000"/>
                          </a:solidFill>
                        </a:rPr>
                        <a:t>381.41</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调整后的</a:t>
                      </a:r>
                      <a:r>
                        <a:rPr lang="en-US" altLang="zh-CN" sz="2500" dirty="0">
                          <a:solidFill>
                            <a:srgbClr val="C00000"/>
                          </a:solidFill>
                        </a:rPr>
                        <a:t>R2</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0.2908</a:t>
                      </a:r>
                      <a:endParaRPr lang="zh-CN" altLang="en-US" sz="2500" dirty="0">
                        <a:solidFill>
                          <a:srgbClr val="C00000"/>
                        </a:solidFill>
                      </a:endParaRPr>
                    </a:p>
                  </a:txBody>
                  <a:tcPr anchor="ctr"/>
                </a:tc>
                <a:tc>
                  <a:txBody>
                    <a:bodyPr/>
                    <a:lstStyle/>
                    <a:p>
                      <a:pPr algn="ctr"/>
                      <a:endParaRPr lang="zh-CN" altLang="en-US" sz="2500" dirty="0">
                        <a:solidFill>
                          <a:srgbClr val="C00000"/>
                        </a:solidFill>
                      </a:endParaRPr>
                    </a:p>
                  </a:txBody>
                  <a:tcPr anchor="ctr"/>
                </a:tc>
                <a:tc>
                  <a:txBody>
                    <a:bodyPr/>
                    <a:lstStyle/>
                    <a:p>
                      <a:pPr algn="ctr"/>
                      <a:endParaRPr lang="zh-CN" altLang="en-US" sz="2500" dirty="0">
                        <a:solidFill>
                          <a:srgbClr val="C00000"/>
                        </a:solidFill>
                      </a:endParaRPr>
                    </a:p>
                  </a:txBody>
                  <a:tcPr anchor="ctr"/>
                </a:tc>
              </a:tr>
              <a:tr h="370840">
                <a:tc>
                  <a:txBody>
                    <a:bodyPr/>
                    <a:lstStyle/>
                    <a:p>
                      <a:pPr algn="ctr"/>
                      <a:r>
                        <a:rPr lang="en-US" altLang="zh-CN" sz="2500" dirty="0">
                          <a:solidFill>
                            <a:srgbClr val="C00000"/>
                          </a:solidFill>
                        </a:rPr>
                        <a:t>F</a:t>
                      </a:r>
                      <a:r>
                        <a:rPr lang="zh-CN" altLang="en-US" sz="2500" dirty="0">
                          <a:solidFill>
                            <a:srgbClr val="C00000"/>
                          </a:solidFill>
                        </a:rPr>
                        <a:t>统计量</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4.78</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endParaRPr lang="zh-CN" altLang="en-US" sz="2500">
                        <a:solidFill>
                          <a:srgbClr val="C00000"/>
                        </a:solidFill>
                      </a:endParaRPr>
                    </a:p>
                  </a:txBody>
                  <a:tcPr anchor="ctr"/>
                </a:tc>
                <a:tc>
                  <a:txBody>
                    <a:bodyPr/>
                    <a:lstStyle/>
                    <a:p>
                      <a:pPr algn="ctr"/>
                      <a:endParaRPr lang="zh-CN" altLang="en-US" sz="2500">
                        <a:solidFill>
                          <a:srgbClr val="C00000"/>
                        </a:solidFill>
                      </a:endParaRPr>
                    </a:p>
                  </a:txBody>
                  <a:tcPr anchor="ctr"/>
                </a:tc>
              </a:tr>
              <a:tr h="370840">
                <a:tc>
                  <a:txBody>
                    <a:bodyPr/>
                    <a:lstStyle/>
                    <a:p>
                      <a:pPr algn="ctr"/>
                      <a:r>
                        <a:rPr lang="zh-CN" altLang="en-US" sz="2500" dirty="0">
                          <a:solidFill>
                            <a:srgbClr val="C00000"/>
                          </a:solidFill>
                        </a:rPr>
                        <a:t>观测样本数</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77</a:t>
                      </a:r>
                      <a:endParaRPr lang="zh-CN" altLang="en-US" sz="2500" dirty="0">
                        <a:solidFill>
                          <a:srgbClr val="C00000"/>
                        </a:solidFill>
                      </a:endParaRPr>
                    </a:p>
                  </a:txBody>
                  <a:tcPr anchor="ctr"/>
                </a:tc>
                <a:tc>
                  <a:txBody>
                    <a:bodyPr/>
                    <a:lstStyle/>
                    <a:p>
                      <a:pPr algn="ctr"/>
                      <a:endParaRPr lang="zh-CN" altLang="en-US" sz="2500">
                        <a:solidFill>
                          <a:srgbClr val="C00000"/>
                        </a:solidFill>
                      </a:endParaRPr>
                    </a:p>
                  </a:txBody>
                  <a:tcPr anchor="ctr"/>
                </a:tc>
                <a:tc>
                  <a:txBody>
                    <a:bodyPr/>
                    <a:lstStyle/>
                    <a:p>
                      <a:pPr algn="ctr"/>
                      <a:endParaRPr lang="zh-CN" altLang="en-US" sz="2500" dirty="0">
                        <a:solidFill>
                          <a:srgbClr val="C00000"/>
                        </a:solidFill>
                      </a:endParaRPr>
                    </a:p>
                  </a:txBody>
                  <a:tcPr anchor="ctr"/>
                </a:tc>
              </a:tr>
            </a:tbl>
          </a:graphicData>
        </a:graphic>
      </p:graphicFrame>
      <p:sp>
        <p:nvSpPr>
          <p:cNvPr id="5" name="TextBox 4"/>
          <p:cNvSpPr txBox="1"/>
          <p:nvPr/>
        </p:nvSpPr>
        <p:spPr>
          <a:xfrm>
            <a:off x="285720" y="6429396"/>
            <a:ext cx="8946680" cy="369332"/>
          </a:xfrm>
          <a:prstGeom prst="rect">
            <a:avLst/>
          </a:prstGeom>
          <a:noFill/>
        </p:spPr>
        <p:txBody>
          <a:bodyPr wrap="none" rtlCol="0">
            <a:spAutoFit/>
          </a:bodyPr>
          <a:lstStyle/>
          <a:p>
            <a:r>
              <a:rPr lang="zh-CN" altLang="en-US" dirty="0">
                <a:solidFill>
                  <a:schemeClr val="bg1"/>
                </a:solidFill>
              </a:rPr>
              <a:t>*</a:t>
            </a:r>
            <a:r>
              <a:rPr lang="en-US" altLang="zh-CN" dirty="0">
                <a:solidFill>
                  <a:schemeClr val="bg1"/>
                </a:solidFill>
              </a:rPr>
              <a:t>10%</a:t>
            </a:r>
            <a:r>
              <a:rPr lang="zh-CN" altLang="en-US" dirty="0">
                <a:solidFill>
                  <a:schemeClr val="bg1"/>
                </a:solidFill>
              </a:rPr>
              <a:t>显著性水平，**</a:t>
            </a:r>
            <a:r>
              <a:rPr lang="en-US" altLang="zh-CN" dirty="0">
                <a:solidFill>
                  <a:schemeClr val="bg1"/>
                </a:solidFill>
              </a:rPr>
              <a:t>5%</a:t>
            </a:r>
            <a:r>
              <a:rPr lang="zh-CN" altLang="en-US" dirty="0">
                <a:solidFill>
                  <a:schemeClr val="bg1"/>
                </a:solidFill>
              </a:rPr>
              <a:t>显著性水平，***</a:t>
            </a:r>
            <a:r>
              <a:rPr lang="en-US" altLang="zh-CN" dirty="0">
                <a:solidFill>
                  <a:schemeClr val="bg1"/>
                </a:solidFill>
              </a:rPr>
              <a:t>1%</a:t>
            </a:r>
            <a:r>
              <a:rPr lang="zh-CN" altLang="en-US" dirty="0">
                <a:solidFill>
                  <a:schemeClr val="bg1"/>
                </a:solidFill>
              </a:rPr>
              <a:t>显著性水平。预测效应</a:t>
            </a:r>
            <a:r>
              <a:rPr lang="en-US" altLang="zh-CN" dirty="0">
                <a:solidFill>
                  <a:schemeClr val="bg1"/>
                </a:solidFill>
              </a:rPr>
              <a:t>=exp</a:t>
            </a:r>
            <a:r>
              <a:rPr lang="zh-CN" altLang="en-US" dirty="0">
                <a:solidFill>
                  <a:schemeClr val="bg1"/>
                </a:solidFill>
              </a:rPr>
              <a:t>（</a:t>
            </a:r>
            <a:r>
              <a:rPr lang="en-US" altLang="zh-CN" dirty="0" err="1">
                <a:solidFill>
                  <a:schemeClr val="bg1"/>
                </a:solidFill>
              </a:rPr>
              <a:t>βi</a:t>
            </a:r>
            <a:r>
              <a:rPr lang="zh-CN" altLang="en-US" dirty="0">
                <a:solidFill>
                  <a:schemeClr val="bg1"/>
                </a:solidFill>
              </a:rPr>
              <a:t>）</a:t>
            </a:r>
            <a:r>
              <a:rPr lang="en-US" altLang="zh-CN" dirty="0">
                <a:solidFill>
                  <a:schemeClr val="bg1"/>
                </a:solidFill>
              </a:rPr>
              <a:t>-1</a:t>
            </a:r>
            <a:endParaRPr lang="zh-CN" altLang="en-US" dirty="0">
              <a:solidFill>
                <a:schemeClr val="bg1"/>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与其他评估方法不同，参照价格法评价结果同时包括木材与林地价值</a:t>
            </a:r>
            <a:endParaRPr lang="en-US" altLang="zh-CN" dirty="0"/>
          </a:p>
          <a:p>
            <a:r>
              <a:rPr lang="zh-CN" altLang="en-US" dirty="0"/>
              <a:t>因此评价过程既要考虑林分特征，也要考虑土地地块大小，潜在更优用途等立地特征</a:t>
            </a:r>
            <a:endParaRPr lang="zh-CN" altLang="en-US" dirty="0"/>
          </a:p>
        </p:txBody>
      </p:sp>
      <p:sp>
        <p:nvSpPr>
          <p:cNvPr id="3" name="标题 2"/>
          <p:cNvSpPr>
            <a:spLocks noGrp="1"/>
          </p:cNvSpPr>
          <p:nvPr>
            <p:ph type="title"/>
          </p:nvPr>
        </p:nvSpPr>
        <p:spPr/>
        <p:txBody>
          <a:bodyPr/>
          <a:lstStyle/>
          <a:p>
            <a:r>
              <a:rPr lang="zh-CN" altLang="en-US" dirty="0"/>
              <a:t>要点：</a:t>
            </a:r>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09442" y="3304800"/>
            <a:ext cx="7117180" cy="1470025"/>
          </a:xfrm>
        </p:spPr>
        <p:txBody>
          <a:bodyPr/>
          <a:lstStyle/>
          <a:p>
            <a:r>
              <a:rPr lang="zh-CN" altLang="en-US" dirty="0"/>
              <a:t>重置成本法</a:t>
            </a:r>
            <a:endParaRPr lang="zh-CN" altLang="en-US" dirty="0"/>
          </a:p>
        </p:txBody>
      </p:sp>
      <p:sp>
        <p:nvSpPr>
          <p:cNvPr id="3" name="副标题 2"/>
          <p:cNvSpPr>
            <a:spLocks noGrp="1"/>
          </p:cNvSpPr>
          <p:nvPr>
            <p:ph type="subTitle" idx="1"/>
          </p:nvPr>
        </p:nvSpPr>
        <p:spPr/>
        <p:txBody>
          <a:bodyPr/>
          <a:lstStyle/>
          <a:p>
            <a:r>
              <a:rPr lang="en-US" altLang="zh-CN" dirty="0"/>
              <a:t>replacement cost method</a:t>
            </a:r>
            <a:endParaRPr lang="en-US" altLang="zh-CN" dirty="0"/>
          </a:p>
          <a:p>
            <a:r>
              <a:rPr lang="zh-CN" altLang="en-US" dirty="0"/>
              <a:t>重置成本法</a:t>
            </a:r>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10000"/>
          </a:bodyPr>
          <a:lstStyle/>
          <a:p>
            <a:r>
              <a:rPr lang="en-US" altLang="zh-CN" dirty="0"/>
              <a:t>The cost to replace the assets of a company or a property of the same or equal value. </a:t>
            </a:r>
            <a:endParaRPr lang="en-US" altLang="zh-CN" dirty="0"/>
          </a:p>
          <a:p>
            <a:r>
              <a:rPr lang="en-US" altLang="zh-CN" dirty="0"/>
              <a:t>This cost can change depending on changes in market value. </a:t>
            </a:r>
            <a:endParaRPr lang="en-US" altLang="zh-CN" dirty="0"/>
          </a:p>
          <a:p>
            <a:r>
              <a:rPr lang="en-US" altLang="zh-CN" dirty="0"/>
              <a:t>Also referred to as the price that will have to be paid to replace an existing asset with a similar asset. </a:t>
            </a:r>
            <a:endParaRPr lang="zh-CN" altLang="en-US" dirty="0"/>
          </a:p>
        </p:txBody>
      </p:sp>
      <p:sp>
        <p:nvSpPr>
          <p:cNvPr id="3" name="标题 2"/>
          <p:cNvSpPr>
            <a:spLocks noGrp="1"/>
          </p:cNvSpPr>
          <p:nvPr>
            <p:ph type="title"/>
          </p:nvPr>
        </p:nvSpPr>
        <p:spPr/>
        <p:txBody>
          <a:bodyPr/>
          <a:lstStyle/>
          <a:p>
            <a:r>
              <a:rPr lang="en-US" altLang="zh-CN" dirty="0"/>
              <a:t>Replacement Cost</a:t>
            </a:r>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r>
              <a:rPr lang="zh-CN" altLang="en-US" dirty="0"/>
              <a:t>某项资产重置成本的估计值</a:t>
            </a:r>
            <a:endParaRPr lang="en-US" altLang="zh-CN" dirty="0"/>
          </a:p>
          <a:p>
            <a:r>
              <a:rPr lang="zh-CN" altLang="en-US" dirty="0"/>
              <a:t>重新营造该片中幼林的成本</a:t>
            </a:r>
            <a:endParaRPr lang="en-US" altLang="zh-CN" dirty="0"/>
          </a:p>
          <a:p>
            <a:pPr lvl="1"/>
            <a:r>
              <a:rPr lang="zh-CN" altLang="en-US" dirty="0"/>
              <a:t>将中幼林生产中的各项生产成本，如整地、造林、以及其它林分建设和维护成本，都通过复利公式折算到林分评价当期时点</a:t>
            </a:r>
            <a:endParaRPr lang="zh-CN" altLang="en-US" dirty="0"/>
          </a:p>
        </p:txBody>
      </p:sp>
      <p:sp>
        <p:nvSpPr>
          <p:cNvPr id="4" name="标题 3"/>
          <p:cNvSpPr>
            <a:spLocks noGrp="1"/>
          </p:cNvSpPr>
          <p:nvPr>
            <p:ph type="title"/>
          </p:nvPr>
        </p:nvSpPr>
        <p:spPr/>
        <p:txBody>
          <a:bodyPr/>
          <a:lstStyle/>
          <a:p>
            <a:r>
              <a:rPr lang="zh-CN" altLang="en-US" dirty="0"/>
              <a:t>什么是重置成本法？</a:t>
            </a:r>
            <a:endParaRPr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10000"/>
          </a:bodyPr>
          <a:lstStyle/>
          <a:p>
            <a:r>
              <a:rPr lang="zh-CN" altLang="en-US" dirty="0"/>
              <a:t>假设：一片生长了</a:t>
            </a:r>
            <a:r>
              <a:rPr lang="en-US" altLang="zh-CN" dirty="0"/>
              <a:t>7</a:t>
            </a:r>
            <a:r>
              <a:rPr lang="zh-CN" altLang="en-US" dirty="0"/>
              <a:t>年的松木林，七年前每亩营造成本为</a:t>
            </a:r>
            <a:r>
              <a:rPr lang="en-US" altLang="zh-CN" dirty="0"/>
              <a:t>250</a:t>
            </a:r>
            <a:r>
              <a:rPr lang="zh-CN" altLang="en-US" dirty="0"/>
              <a:t>元，所有者期待的名义回报率为</a:t>
            </a:r>
            <a:r>
              <a:rPr lang="en-US" altLang="zh-CN" dirty="0"/>
              <a:t>8%</a:t>
            </a:r>
            <a:endParaRPr lang="en-US" altLang="zh-CN" dirty="0"/>
          </a:p>
          <a:p>
            <a:r>
              <a:rPr lang="zh-CN" altLang="en-US" dirty="0"/>
              <a:t>目前以成本复利计算的投资价值是：</a:t>
            </a:r>
            <a:endParaRPr lang="en-US" altLang="zh-CN" dirty="0"/>
          </a:p>
          <a:p>
            <a:r>
              <a:rPr lang="en-US" altLang="zh-CN" dirty="0"/>
              <a:t>259</a:t>
            </a:r>
            <a:r>
              <a:rPr lang="zh-CN" altLang="en-US" dirty="0"/>
              <a:t>元</a:t>
            </a:r>
            <a:r>
              <a:rPr lang="en-US" altLang="zh-CN" dirty="0"/>
              <a:t>/</a:t>
            </a:r>
            <a:r>
              <a:rPr lang="zh-CN" altLang="en-US" dirty="0"/>
              <a:t>亩*</a:t>
            </a:r>
            <a:r>
              <a:rPr lang="en-US" altLang="zh-CN" dirty="0"/>
              <a:t>1.08^7=428.46</a:t>
            </a:r>
            <a:r>
              <a:rPr lang="zh-CN" altLang="en-US" dirty="0"/>
              <a:t>元</a:t>
            </a:r>
            <a:r>
              <a:rPr lang="en-US" altLang="zh-CN" dirty="0"/>
              <a:t>/</a:t>
            </a:r>
            <a:r>
              <a:rPr lang="zh-CN" altLang="en-US" dirty="0"/>
              <a:t>亩</a:t>
            </a:r>
            <a:endParaRPr lang="en-US" altLang="zh-CN" dirty="0"/>
          </a:p>
          <a:p>
            <a:r>
              <a:rPr lang="zh-CN" altLang="en-US" dirty="0"/>
              <a:t>再加上参照市场类似交易案例，或使用复利公式对七年前土地购买成本进行重置得到的</a:t>
            </a:r>
            <a:r>
              <a:rPr lang="zh-CN" altLang="en-US" dirty="0">
                <a:solidFill>
                  <a:srgbClr val="FFC000"/>
                </a:solidFill>
              </a:rPr>
              <a:t>土地现值</a:t>
            </a:r>
            <a:endParaRPr lang="zh-CN" altLang="en-US" dirty="0">
              <a:solidFill>
                <a:srgbClr val="FFC000"/>
              </a:solidFill>
            </a:endParaRPr>
          </a:p>
        </p:txBody>
      </p:sp>
      <p:sp>
        <p:nvSpPr>
          <p:cNvPr id="3" name="标题 2"/>
          <p:cNvSpPr>
            <a:spLocks noGrp="1"/>
          </p:cNvSpPr>
          <p:nvPr>
            <p:ph type="title"/>
          </p:nvPr>
        </p:nvSpPr>
        <p:spPr/>
        <p:txBody>
          <a:bodyPr/>
          <a:lstStyle/>
          <a:p>
            <a:r>
              <a:rPr lang="zh-CN" altLang="en-US" dirty="0"/>
              <a:t>案例：</a:t>
            </a:r>
            <a:endParaRPr lang="zh-CN" altLang="en-US" dirty="0"/>
          </a:p>
        </p:txBody>
      </p:sp>
      <p:pic>
        <p:nvPicPr>
          <p:cNvPr id="4" name="图片 3">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224" y="260648"/>
            <a:ext cx="1219200" cy="121920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适用性和缺陷</a:t>
            </a:r>
            <a:endParaRPr lang="zh-CN" altLang="en-US" dirty="0"/>
          </a:p>
        </p:txBody>
      </p:sp>
      <p:sp>
        <p:nvSpPr>
          <p:cNvPr id="3" name="内容占位符 2"/>
          <p:cNvSpPr>
            <a:spLocks noGrp="1"/>
          </p:cNvSpPr>
          <p:nvPr>
            <p:ph idx="1"/>
          </p:nvPr>
        </p:nvSpPr>
        <p:spPr/>
        <p:txBody>
          <a:bodyPr/>
          <a:lstStyle/>
          <a:p>
            <a:r>
              <a:rPr lang="zh-CN" altLang="en-US" dirty="0"/>
              <a:t>适用于林分年龄较小的林木</a:t>
            </a:r>
            <a:endParaRPr lang="en-US" altLang="zh-CN" dirty="0"/>
          </a:p>
          <a:p>
            <a:r>
              <a:rPr lang="zh-CN" altLang="en-US" dirty="0"/>
              <a:t>林分年龄越小，运用复利成本估计的投资价值越准确</a:t>
            </a:r>
            <a:endParaRPr lang="zh-CN" altLang="en-US" dirty="0"/>
          </a:p>
        </p:txBody>
      </p:sp>
      <p:sp>
        <p:nvSpPr>
          <p:cNvPr id="4" name="内容占位符 3"/>
          <p:cNvSpPr>
            <a:spLocks noGrp="1"/>
          </p:cNvSpPr>
          <p:nvPr>
            <p:ph idx="14"/>
          </p:nvPr>
        </p:nvSpPr>
        <p:spPr/>
        <p:txBody>
          <a:bodyPr/>
          <a:lstStyle/>
          <a:p>
            <a:r>
              <a:rPr lang="zh-CN" altLang="en-US" dirty="0"/>
              <a:t>但这种方法低估了林分给土地所有者回报的潜力</a:t>
            </a:r>
            <a:endParaRPr lang="en-US" altLang="zh-CN" dirty="0"/>
          </a:p>
          <a:p>
            <a:r>
              <a:rPr lang="zh-CN" altLang="en-US" dirty="0"/>
              <a:t>所以估计值通常偏低</a:t>
            </a:r>
            <a:endParaRPr lang="zh-CN" alt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注意事项</a:t>
            </a:r>
            <a:endParaRPr lang="zh-CN" altLang="en-US" dirty="0"/>
          </a:p>
        </p:txBody>
      </p:sp>
      <p:sp>
        <p:nvSpPr>
          <p:cNvPr id="3" name="内容占位符 2"/>
          <p:cNvSpPr>
            <a:spLocks noGrp="1"/>
          </p:cNvSpPr>
          <p:nvPr>
            <p:ph idx="14"/>
          </p:nvPr>
        </p:nvSpPr>
        <p:spPr/>
        <p:txBody>
          <a:bodyPr/>
          <a:lstStyle/>
          <a:p>
            <a:r>
              <a:rPr lang="zh-CN" altLang="en-US" dirty="0"/>
              <a:t>投资者：评判其打算购买资产的价值</a:t>
            </a:r>
            <a:endParaRPr lang="en-US" altLang="zh-CN" dirty="0"/>
          </a:p>
          <a:p>
            <a:r>
              <a:rPr lang="zh-CN" altLang="en-US" dirty="0"/>
              <a:t>所有者：确定其出售资产时的参考价格</a:t>
            </a:r>
            <a:endParaRPr lang="zh-CN" altLang="en-US" dirty="0"/>
          </a:p>
        </p:txBody>
      </p:sp>
      <p:sp>
        <p:nvSpPr>
          <p:cNvPr id="4" name="内容占位符 3"/>
          <p:cNvSpPr>
            <a:spLocks noGrp="1"/>
          </p:cNvSpPr>
          <p:nvPr>
            <p:ph idx="1"/>
          </p:nvPr>
        </p:nvSpPr>
        <p:spPr/>
        <p:txBody>
          <a:bodyPr/>
          <a:lstStyle/>
          <a:p>
            <a:r>
              <a:rPr lang="zh-CN" altLang="en-US" dirty="0"/>
              <a:t>评估价值仅仅是买卖双方决定是否交易或按什么价格交易的参考信息</a:t>
            </a:r>
            <a:endParaRPr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收入法</a:t>
            </a:r>
            <a:endParaRPr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10000"/>
          </a:bodyPr>
          <a:lstStyle/>
          <a:p>
            <a:r>
              <a:rPr lang="en-US" altLang="zh-CN" dirty="0"/>
              <a:t>A real estate appraisal method that allows investors to estimate the value of the property based on the income produced</a:t>
            </a:r>
            <a:r>
              <a:rPr lang="en-US" altLang="zh-CN"/>
              <a:t>. </a:t>
            </a:r>
            <a:endParaRPr lang="en-US" altLang="zh-CN"/>
          </a:p>
          <a:p>
            <a:r>
              <a:rPr lang="en-US" altLang="zh-CN"/>
              <a:t>The income approach is computed by taking the net operating income of the rent collected and dividing it by the capitalization rate (the investor's rate of return).</a:t>
            </a:r>
            <a:endParaRPr lang="zh-CN" altLang="en-US" dirty="0"/>
          </a:p>
        </p:txBody>
      </p:sp>
      <p:sp>
        <p:nvSpPr>
          <p:cNvPr id="3" name="标题 2"/>
          <p:cNvSpPr>
            <a:spLocks noGrp="1"/>
          </p:cNvSpPr>
          <p:nvPr>
            <p:ph type="title"/>
          </p:nvPr>
        </p:nvSpPr>
        <p:spPr/>
        <p:txBody>
          <a:bodyPr/>
          <a:lstStyle/>
          <a:p>
            <a:r>
              <a:rPr lang="en-US" altLang="zh-CN" b="1" dirty="0"/>
              <a:t> income approach</a:t>
            </a:r>
            <a:endParaRPr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估计某项资产预期收入的现值</a:t>
            </a:r>
            <a:endParaRPr lang="en-US" altLang="zh-CN" dirty="0"/>
          </a:p>
          <a:p>
            <a:r>
              <a:rPr lang="zh-CN" altLang="en-US" dirty="0"/>
              <a:t>对中幼林，将未来的木材收入贴现到当期时点，得到其价值</a:t>
            </a:r>
            <a:endParaRPr lang="zh-CN" altLang="en-US" dirty="0"/>
          </a:p>
        </p:txBody>
      </p:sp>
      <p:sp>
        <p:nvSpPr>
          <p:cNvPr id="3" name="标题 2"/>
          <p:cNvSpPr>
            <a:spLocks noGrp="1"/>
          </p:cNvSpPr>
          <p:nvPr>
            <p:ph type="title"/>
          </p:nvPr>
        </p:nvSpPr>
        <p:spPr/>
        <p:txBody>
          <a:bodyPr/>
          <a:lstStyle/>
          <a:p>
            <a:r>
              <a:rPr lang="zh-CN" altLang="en-US" dirty="0"/>
              <a:t>什么是收入法？</a:t>
            </a:r>
            <a:endParaRPr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a:t>造林成本</a:t>
            </a:r>
            <a:r>
              <a:rPr lang="en-US" altLang="zh-CN" dirty="0"/>
              <a:t>250</a:t>
            </a:r>
            <a:r>
              <a:rPr lang="zh-CN" altLang="en-US" dirty="0"/>
              <a:t>元</a:t>
            </a:r>
            <a:r>
              <a:rPr lang="en-US" altLang="zh-CN" dirty="0"/>
              <a:t>/</a:t>
            </a:r>
            <a:r>
              <a:rPr lang="zh-CN" altLang="en-US" dirty="0"/>
              <a:t>亩。基准名义回报率为</a:t>
            </a:r>
            <a:r>
              <a:rPr lang="en-US" altLang="zh-CN" dirty="0"/>
              <a:t>8%</a:t>
            </a:r>
            <a:r>
              <a:rPr lang="zh-CN" altLang="en-US" dirty="0"/>
              <a:t>。</a:t>
            </a:r>
            <a:endParaRPr lang="en-US" altLang="zh-CN" dirty="0"/>
          </a:p>
          <a:p>
            <a:r>
              <a:rPr lang="zh-CN" altLang="en-US" dirty="0"/>
              <a:t>已造林</a:t>
            </a:r>
            <a:r>
              <a:rPr lang="en-US" altLang="zh-CN" dirty="0"/>
              <a:t>7</a:t>
            </a:r>
            <a:r>
              <a:rPr lang="zh-CN" altLang="en-US" dirty="0"/>
              <a:t>年。</a:t>
            </a:r>
            <a:endParaRPr lang="en-US" altLang="zh-CN" dirty="0"/>
          </a:p>
          <a:p>
            <a:r>
              <a:rPr lang="zh-CN" altLang="en-US" dirty="0"/>
              <a:t>预期</a:t>
            </a:r>
            <a:r>
              <a:rPr lang="en-US" altLang="zh-CN" dirty="0"/>
              <a:t>30</a:t>
            </a:r>
            <a:r>
              <a:rPr lang="zh-CN" altLang="en-US" dirty="0"/>
              <a:t>年后作为锯材原木采伐，出材量为</a:t>
            </a:r>
            <a:r>
              <a:rPr lang="en-US" altLang="zh-CN" dirty="0"/>
              <a:t>10MBF/</a:t>
            </a:r>
            <a:r>
              <a:rPr lang="zh-CN" altLang="en-US" dirty="0"/>
              <a:t>亩，当期价格为</a:t>
            </a:r>
            <a:r>
              <a:rPr lang="en-US" altLang="zh-CN" dirty="0"/>
              <a:t>400</a:t>
            </a:r>
            <a:r>
              <a:rPr lang="zh-CN" altLang="en-US" dirty="0"/>
              <a:t>元</a:t>
            </a:r>
            <a:r>
              <a:rPr lang="en-US" altLang="zh-CN" dirty="0"/>
              <a:t>/MBF</a:t>
            </a:r>
            <a:r>
              <a:rPr lang="zh-CN" altLang="en-US" dirty="0"/>
              <a:t>，预期价格会以</a:t>
            </a:r>
            <a:r>
              <a:rPr lang="en-US" altLang="zh-CN" dirty="0"/>
              <a:t>2%</a:t>
            </a:r>
            <a:r>
              <a:rPr lang="zh-CN" altLang="en-US" dirty="0"/>
              <a:t>的实际增长率上涨</a:t>
            </a:r>
            <a:endParaRPr lang="en-US" altLang="zh-CN" dirty="0"/>
          </a:p>
          <a:p>
            <a:r>
              <a:rPr lang="zh-CN" altLang="en-US" dirty="0"/>
              <a:t>求该七年生幼林的投资价值</a:t>
            </a:r>
            <a:endParaRPr lang="zh-CN" altLang="en-US" dirty="0"/>
          </a:p>
        </p:txBody>
      </p:sp>
      <p:sp>
        <p:nvSpPr>
          <p:cNvPr id="3" name="标题 2"/>
          <p:cNvSpPr>
            <a:spLocks noGrp="1"/>
          </p:cNvSpPr>
          <p:nvPr>
            <p:ph type="title"/>
          </p:nvPr>
        </p:nvSpPr>
        <p:spPr/>
        <p:txBody>
          <a:bodyPr/>
          <a:lstStyle/>
          <a:p>
            <a:r>
              <a:rPr lang="zh-CN" altLang="en-US" dirty="0"/>
              <a:t>案例</a:t>
            </a:r>
            <a:endParaRPr lang="zh-CN" alt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案例解答</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预计的立木价值为</a:t>
            </a:r>
            <a:endParaRPr lang="en-US" altLang="zh-CN" dirty="0"/>
          </a:p>
          <a:p>
            <a:r>
              <a:rPr lang="en-US" altLang="zh-CN" dirty="0"/>
              <a:t>10MBF/</a:t>
            </a:r>
            <a:r>
              <a:rPr lang="zh-CN" altLang="en-US" dirty="0"/>
              <a:t>亩*（</a:t>
            </a:r>
            <a:r>
              <a:rPr lang="en-US" altLang="zh-CN" dirty="0"/>
              <a:t>400</a:t>
            </a:r>
            <a:r>
              <a:rPr lang="zh-CN" altLang="en-US" dirty="0"/>
              <a:t>元</a:t>
            </a:r>
            <a:r>
              <a:rPr lang="en-US" altLang="zh-CN" dirty="0"/>
              <a:t>/MBF</a:t>
            </a:r>
            <a:r>
              <a:rPr lang="zh-CN" altLang="en-US" dirty="0"/>
              <a:t>）*</a:t>
            </a:r>
            <a:r>
              <a:rPr lang="en-US" altLang="zh-CN" dirty="0"/>
              <a:t>1.02^(30-7)=6307.60</a:t>
            </a:r>
            <a:r>
              <a:rPr lang="zh-CN" altLang="en-US" dirty="0"/>
              <a:t>元</a:t>
            </a:r>
            <a:r>
              <a:rPr lang="en-US" altLang="zh-CN" dirty="0"/>
              <a:t>/</a:t>
            </a:r>
            <a:r>
              <a:rPr lang="zh-CN" altLang="en-US" dirty="0"/>
              <a:t>亩</a:t>
            </a:r>
            <a:endParaRPr lang="en-US" altLang="zh-CN" dirty="0"/>
          </a:p>
          <a:p>
            <a:r>
              <a:rPr lang="zh-CN" altLang="en-US" dirty="0"/>
              <a:t>对预期收入进行贴现</a:t>
            </a:r>
            <a:endParaRPr lang="en-US" altLang="zh-CN" dirty="0"/>
          </a:p>
          <a:p>
            <a:r>
              <a:rPr lang="en-US" altLang="zh-CN" dirty="0"/>
              <a:t>6307.60</a:t>
            </a:r>
            <a:r>
              <a:rPr lang="zh-CN" altLang="en-US" dirty="0"/>
              <a:t>元</a:t>
            </a:r>
            <a:r>
              <a:rPr lang="en-US" altLang="zh-CN" dirty="0"/>
              <a:t>/</a:t>
            </a:r>
            <a:r>
              <a:rPr lang="zh-CN" altLang="en-US" dirty="0"/>
              <a:t>亩</a:t>
            </a:r>
            <a:r>
              <a:rPr lang="en-US" altLang="zh-CN" dirty="0"/>
              <a:t>/1.08^(30-7) =1074.30</a:t>
            </a:r>
            <a:r>
              <a:rPr lang="zh-CN" altLang="en-US" dirty="0"/>
              <a:t>元</a:t>
            </a:r>
            <a:r>
              <a:rPr lang="en-US" altLang="zh-CN" dirty="0"/>
              <a:t>/</a:t>
            </a:r>
            <a:r>
              <a:rPr lang="zh-CN" altLang="en-US" dirty="0"/>
              <a:t>亩</a:t>
            </a:r>
            <a:endParaRPr lang="en-US" altLang="zh-CN" dirty="0"/>
          </a:p>
          <a:p>
            <a:endParaRPr lang="zh-CN" altLang="en-US" dirty="0"/>
          </a:p>
        </p:txBody>
      </p:sp>
      <p:pic>
        <p:nvPicPr>
          <p:cNvPr id="4" name="图片 3">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8344" y="5373216"/>
            <a:ext cx="1219200" cy="12192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数学表达式：</a:t>
            </a:r>
            <a:endParaRPr lang="zh-CN" altLang="en-US" dirty="0"/>
          </a:p>
        </p:txBody>
      </p:sp>
      <p:graphicFrame>
        <p:nvGraphicFramePr>
          <p:cNvPr id="4" name="对象 3"/>
          <p:cNvGraphicFramePr>
            <a:graphicFrameLocks noChangeAspect="1"/>
          </p:cNvGraphicFramePr>
          <p:nvPr/>
        </p:nvGraphicFramePr>
        <p:xfrm>
          <a:off x="2411760" y="2420888"/>
          <a:ext cx="4281203" cy="2616291"/>
        </p:xfrm>
        <a:graphic>
          <a:graphicData uri="http://schemas.openxmlformats.org/presentationml/2006/ole">
            <mc:AlternateContent xmlns:mc="http://schemas.openxmlformats.org/markup-compatibility/2006">
              <mc:Choice xmlns:v="urn:schemas-microsoft-com:vml" Requires="v">
                <p:oleObj spid="_x0000_s40963" name="公式" r:id="rId1" imgW="16459200" imgH="10058400" progId="Equation.3">
                  <p:embed/>
                </p:oleObj>
              </mc:Choice>
              <mc:Fallback>
                <p:oleObj name="公式" r:id="rId1" imgW="16459200" imgH="10058400" progId="Equation.3">
                  <p:embed/>
                  <p:pic>
                    <p:nvPicPr>
                      <p:cNvPr id="0" name="对象 3"/>
                      <p:cNvPicPr/>
                      <p:nvPr/>
                    </p:nvPicPr>
                    <p:blipFill>
                      <a:blip r:embed="rId2"/>
                      <a:stretch>
                        <a:fillRect/>
                      </a:stretch>
                    </p:blipFill>
                    <p:spPr>
                      <a:xfrm>
                        <a:off x="2411760" y="2420888"/>
                        <a:ext cx="4281203" cy="2616291"/>
                      </a:xfrm>
                      <a:prstGeom prst="rect">
                        <a:avLst/>
                      </a:prstGeom>
                    </p:spPr>
                  </p:pic>
                </p:oleObj>
              </mc:Fallback>
            </mc:AlternateContent>
          </a:graphicData>
        </a:graphic>
      </p:graphicFrame>
      <p:sp>
        <p:nvSpPr>
          <p:cNvPr id="5" name="TextBox 4"/>
          <p:cNvSpPr txBox="1"/>
          <p:nvPr/>
        </p:nvSpPr>
        <p:spPr>
          <a:xfrm>
            <a:off x="4932040" y="4931876"/>
            <a:ext cx="936104" cy="646331"/>
          </a:xfrm>
          <a:prstGeom prst="rect">
            <a:avLst/>
          </a:prstGeom>
          <a:noFill/>
        </p:spPr>
        <p:txBody>
          <a:bodyPr wrap="square" rtlCol="0">
            <a:spAutoFit/>
          </a:bodyPr>
          <a:lstStyle/>
          <a:p>
            <a:r>
              <a:rPr lang="zh-CN" altLang="en-US" b="1" dirty="0"/>
              <a:t>林木成熟年龄</a:t>
            </a:r>
            <a:endParaRPr lang="zh-CN" altLang="en-US" b="1" dirty="0"/>
          </a:p>
        </p:txBody>
      </p:sp>
      <p:cxnSp>
        <p:nvCxnSpPr>
          <p:cNvPr id="7" name="直接箭头连接符 6"/>
          <p:cNvCxnSpPr/>
          <p:nvPr/>
        </p:nvCxnSpPr>
        <p:spPr>
          <a:xfrm flipV="1">
            <a:off x="5400092" y="4437112"/>
            <a:ext cx="0" cy="494764"/>
          </a:xfrm>
          <a:prstGeom prst="straightConnector1">
            <a:avLst/>
          </a:prstGeom>
          <a:ln>
            <a:solidFill>
              <a:srgbClr val="C00000"/>
            </a:solidFill>
            <a:tailEnd type="arrow"/>
          </a:ln>
        </p:spPr>
        <p:style>
          <a:lnRef idx="3">
            <a:schemeClr val="accent5"/>
          </a:lnRef>
          <a:fillRef idx="0">
            <a:schemeClr val="accent5"/>
          </a:fillRef>
          <a:effectRef idx="2">
            <a:schemeClr val="accent5"/>
          </a:effectRef>
          <a:fontRef idx="minor">
            <a:schemeClr val="tx1"/>
          </a:fontRef>
        </p:style>
      </p:cxnSp>
      <p:cxnSp>
        <p:nvCxnSpPr>
          <p:cNvPr id="8" name="直接箭头连接符 7"/>
          <p:cNvCxnSpPr/>
          <p:nvPr/>
        </p:nvCxnSpPr>
        <p:spPr>
          <a:xfrm flipV="1">
            <a:off x="6156176" y="4437112"/>
            <a:ext cx="0" cy="494764"/>
          </a:xfrm>
          <a:prstGeom prst="straightConnector1">
            <a:avLst/>
          </a:prstGeom>
          <a:ln>
            <a:solidFill>
              <a:srgbClr val="C00000"/>
            </a:solidFill>
            <a:tailEnd type="arrow"/>
          </a:ln>
        </p:spPr>
        <p:style>
          <a:lnRef idx="3">
            <a:schemeClr val="accent5"/>
          </a:lnRef>
          <a:fillRef idx="0">
            <a:schemeClr val="accent5"/>
          </a:fillRef>
          <a:effectRef idx="2">
            <a:schemeClr val="accent5"/>
          </a:effectRef>
          <a:fontRef idx="minor">
            <a:schemeClr val="tx1"/>
          </a:fontRef>
        </p:style>
      </p:cxnSp>
      <p:sp>
        <p:nvSpPr>
          <p:cNvPr id="9" name="TextBox 8"/>
          <p:cNvSpPr txBox="1"/>
          <p:nvPr/>
        </p:nvSpPr>
        <p:spPr>
          <a:xfrm>
            <a:off x="5724128" y="4931875"/>
            <a:ext cx="1142300" cy="646331"/>
          </a:xfrm>
          <a:prstGeom prst="rect">
            <a:avLst/>
          </a:prstGeom>
          <a:noFill/>
        </p:spPr>
        <p:txBody>
          <a:bodyPr wrap="square" rtlCol="0">
            <a:spAutoFit/>
          </a:bodyPr>
          <a:lstStyle/>
          <a:p>
            <a:r>
              <a:rPr lang="zh-CN" altLang="en-US" b="1" dirty="0">
                <a:effectLst>
                  <a:innerShdw blurRad="38100" dist="38100" dir="18900000">
                    <a:prstClr val="black">
                      <a:alpha val="65000"/>
                    </a:prstClr>
                  </a:innerShdw>
                </a:effectLst>
              </a:rPr>
              <a:t>中幼林分当年林龄</a:t>
            </a:r>
            <a:endParaRPr lang="zh-CN" altLang="en-US" b="1" dirty="0">
              <a:effectLst>
                <a:innerShdw blurRad="38100" dist="38100" dir="18900000">
                  <a:prstClr val="black">
                    <a:alpha val="65000"/>
                  </a:prstClr>
                </a:innerShdw>
              </a:effectLst>
            </a:endParaRPr>
          </a:p>
        </p:txBody>
      </p:sp>
      <p:sp>
        <p:nvSpPr>
          <p:cNvPr id="10" name="TextBox 9"/>
          <p:cNvSpPr txBox="1"/>
          <p:nvPr/>
        </p:nvSpPr>
        <p:spPr>
          <a:xfrm>
            <a:off x="4054877" y="3749525"/>
            <a:ext cx="877163" cy="369332"/>
          </a:xfrm>
          <a:prstGeom prst="rect">
            <a:avLst/>
          </a:prstGeom>
          <a:noFill/>
        </p:spPr>
        <p:txBody>
          <a:bodyPr wrap="none" rtlCol="0">
            <a:spAutoFit/>
          </a:bodyPr>
          <a:lstStyle/>
          <a:p>
            <a:r>
              <a:rPr lang="zh-CN" altLang="en-US" dirty="0"/>
              <a:t>贴现率</a:t>
            </a:r>
            <a:endParaRPr lang="zh-CN" altLang="en-US" dirty="0"/>
          </a:p>
        </p:txBody>
      </p:sp>
      <p:cxnSp>
        <p:nvCxnSpPr>
          <p:cNvPr id="12" name="直接箭头连接符 11"/>
          <p:cNvCxnSpPr/>
          <p:nvPr/>
        </p:nvCxnSpPr>
        <p:spPr>
          <a:xfrm>
            <a:off x="4644008" y="4077072"/>
            <a:ext cx="72008" cy="216024"/>
          </a:xfrm>
          <a:prstGeom prst="straightConnector1">
            <a:avLst/>
          </a:prstGeom>
          <a:ln>
            <a:solidFill>
              <a:srgbClr val="C00000"/>
            </a:solidFill>
            <a:tailEnd type="arrow"/>
          </a:ln>
        </p:spPr>
        <p:style>
          <a:lnRef idx="3">
            <a:schemeClr val="accent4"/>
          </a:lnRef>
          <a:fillRef idx="0">
            <a:schemeClr val="accent4"/>
          </a:fillRef>
          <a:effectRef idx="2">
            <a:schemeClr val="accent4"/>
          </a:effectRef>
          <a:fontRef idx="minor">
            <a:schemeClr val="tx1"/>
          </a:fontRef>
        </p:style>
      </p:cxnSp>
      <p:sp>
        <p:nvSpPr>
          <p:cNvPr id="13" name="TextBox 12"/>
          <p:cNvSpPr txBox="1"/>
          <p:nvPr/>
        </p:nvSpPr>
        <p:spPr>
          <a:xfrm>
            <a:off x="2612683" y="2386811"/>
            <a:ext cx="2031325" cy="369332"/>
          </a:xfrm>
          <a:prstGeom prst="rect">
            <a:avLst/>
          </a:prstGeom>
          <a:noFill/>
        </p:spPr>
        <p:txBody>
          <a:bodyPr wrap="none" rtlCol="0">
            <a:spAutoFit/>
          </a:bodyPr>
          <a:lstStyle/>
          <a:p>
            <a:r>
              <a:rPr lang="zh-CN" altLang="en-US" dirty="0"/>
              <a:t>成熟时的立木价格</a:t>
            </a:r>
            <a:endParaRPr lang="zh-CN" altLang="en-US" dirty="0"/>
          </a:p>
        </p:txBody>
      </p:sp>
      <p:sp>
        <p:nvSpPr>
          <p:cNvPr id="14" name="TextBox 13"/>
          <p:cNvSpPr txBox="1"/>
          <p:nvPr/>
        </p:nvSpPr>
        <p:spPr>
          <a:xfrm>
            <a:off x="4731229" y="2369937"/>
            <a:ext cx="2031325" cy="369332"/>
          </a:xfrm>
          <a:prstGeom prst="rect">
            <a:avLst/>
          </a:prstGeom>
          <a:noFill/>
        </p:spPr>
        <p:txBody>
          <a:bodyPr wrap="none" rtlCol="0">
            <a:spAutoFit/>
          </a:bodyPr>
          <a:lstStyle/>
          <a:p>
            <a:r>
              <a:rPr lang="zh-CN" altLang="en-US" dirty="0"/>
              <a:t>成熟时的立木蓄积</a:t>
            </a:r>
            <a:endParaRPr lang="zh-CN" alt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收入法 </a:t>
            </a:r>
            <a:r>
              <a:rPr lang="en-US" altLang="zh-CN" dirty="0"/>
              <a:t>VS </a:t>
            </a:r>
            <a:r>
              <a:rPr lang="zh-CN" altLang="en-US" dirty="0"/>
              <a:t>重置成本法</a:t>
            </a:r>
            <a:endParaRPr lang="zh-CN" altLang="en-US" dirty="0"/>
          </a:p>
        </p:txBody>
      </p:sp>
      <p:sp>
        <p:nvSpPr>
          <p:cNvPr id="3" name="内容占位符 2"/>
          <p:cNvSpPr>
            <a:spLocks noGrp="1"/>
          </p:cNvSpPr>
          <p:nvPr>
            <p:ph idx="1"/>
          </p:nvPr>
        </p:nvSpPr>
        <p:spPr/>
        <p:txBody>
          <a:bodyPr/>
          <a:lstStyle/>
          <a:p>
            <a:r>
              <a:rPr lang="zh-CN" altLang="en-US" dirty="0"/>
              <a:t>收入法</a:t>
            </a:r>
            <a:endParaRPr lang="en-US" altLang="zh-CN" dirty="0"/>
          </a:p>
          <a:p>
            <a:pPr lvl="1"/>
            <a:r>
              <a:rPr lang="zh-CN" altLang="en-US" dirty="0"/>
              <a:t>林分林龄越高，用收入贴现估计的林分价值越准确</a:t>
            </a:r>
            <a:endParaRPr lang="en-US" altLang="zh-CN" dirty="0"/>
          </a:p>
          <a:p>
            <a:pPr lvl="1"/>
            <a:r>
              <a:rPr lang="zh-CN" altLang="en-US" dirty="0"/>
              <a:t>经常会高估中幼林木材的投资价值</a:t>
            </a:r>
            <a:endParaRPr lang="en-US" altLang="zh-CN" dirty="0"/>
          </a:p>
          <a:p>
            <a:pPr lvl="1"/>
            <a:endParaRPr lang="zh-CN" altLang="en-US" dirty="0"/>
          </a:p>
        </p:txBody>
      </p:sp>
      <p:sp>
        <p:nvSpPr>
          <p:cNvPr id="4" name="内容占位符 3"/>
          <p:cNvSpPr>
            <a:spLocks noGrp="1"/>
          </p:cNvSpPr>
          <p:nvPr>
            <p:ph idx="14"/>
          </p:nvPr>
        </p:nvSpPr>
        <p:spPr/>
        <p:txBody>
          <a:bodyPr/>
          <a:lstStyle/>
          <a:p>
            <a:r>
              <a:rPr lang="zh-CN" altLang="en-US" dirty="0"/>
              <a:t>重置成本法</a:t>
            </a:r>
            <a:endParaRPr lang="en-US" altLang="zh-CN" dirty="0"/>
          </a:p>
          <a:p>
            <a:pPr lvl="1"/>
            <a:r>
              <a:rPr lang="zh-CN" altLang="en-US" dirty="0"/>
              <a:t>林分年龄越小，运用复利成本估计的投资价值越准确</a:t>
            </a:r>
            <a:endParaRPr lang="en-US" altLang="zh-CN" dirty="0"/>
          </a:p>
          <a:p>
            <a:pPr lvl="1"/>
            <a:r>
              <a:rPr lang="zh-CN" altLang="en-US" dirty="0"/>
              <a:t>经常会低估林分的投资潜力</a:t>
            </a:r>
            <a:endParaRPr lang="zh-CN" alt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a:xfrm>
            <a:off x="827584" y="1196752"/>
            <a:ext cx="8316416" cy="2808312"/>
          </a:xfrm>
        </p:spPr>
        <p:txBody>
          <a:bodyPr>
            <a:normAutofit fontScale="92500" lnSpcReduction="10000"/>
          </a:bodyPr>
          <a:lstStyle/>
          <a:p>
            <a:r>
              <a:rPr lang="zh-CN" altLang="en-US" dirty="0"/>
              <a:t>无林地价值可以参照同一地区类似土地的交易案例定价</a:t>
            </a:r>
            <a:endParaRPr lang="en-US" altLang="zh-CN" dirty="0"/>
          </a:p>
          <a:p>
            <a:r>
              <a:rPr lang="zh-CN" altLang="en-US" dirty="0"/>
              <a:t>也可将未来土地贴现至当下</a:t>
            </a:r>
            <a:endParaRPr lang="zh-CN" altLang="en-US" dirty="0"/>
          </a:p>
        </p:txBody>
      </p:sp>
      <p:sp>
        <p:nvSpPr>
          <p:cNvPr id="3" name="标题 2"/>
          <p:cNvSpPr>
            <a:spLocks noGrp="1"/>
          </p:cNvSpPr>
          <p:nvPr>
            <p:ph type="ctrTitle"/>
          </p:nvPr>
        </p:nvSpPr>
        <p:spPr/>
        <p:txBody>
          <a:bodyPr/>
          <a:lstStyle/>
          <a:p>
            <a:r>
              <a:rPr lang="zh-CN" altLang="en-US" dirty="0"/>
              <a:t>“无林地”</a:t>
            </a:r>
            <a:r>
              <a:rPr lang="en-US" altLang="zh-CN" dirty="0"/>
              <a:t>Bare Forestland</a:t>
            </a:r>
            <a:endParaRPr lang="zh-CN" altLang="en-US" dirty="0"/>
          </a:p>
        </p:txBody>
      </p:sp>
      <p:graphicFrame>
        <p:nvGraphicFramePr>
          <p:cNvPr id="4" name="对象 3"/>
          <p:cNvGraphicFramePr>
            <a:graphicFrameLocks noChangeAspect="1"/>
          </p:cNvGraphicFramePr>
          <p:nvPr/>
        </p:nvGraphicFramePr>
        <p:xfrm>
          <a:off x="2411760" y="4149079"/>
          <a:ext cx="4104456" cy="2508279"/>
        </p:xfrm>
        <a:graphic>
          <a:graphicData uri="http://schemas.openxmlformats.org/presentationml/2006/ole">
            <mc:AlternateContent xmlns:mc="http://schemas.openxmlformats.org/markup-compatibility/2006">
              <mc:Choice xmlns:v="urn:schemas-microsoft-com:vml" Requires="v">
                <p:oleObj spid="_x0000_s41987" name="公式" r:id="rId1" imgW="16459200" imgH="10058400" progId="Equation.3">
                  <p:embed/>
                </p:oleObj>
              </mc:Choice>
              <mc:Fallback>
                <p:oleObj name="公式" r:id="rId1" imgW="16459200" imgH="10058400" progId="Equation.3">
                  <p:embed/>
                  <p:pic>
                    <p:nvPicPr>
                      <p:cNvPr id="0" name="对象 3"/>
                      <p:cNvPicPr/>
                      <p:nvPr/>
                    </p:nvPicPr>
                    <p:blipFill>
                      <a:blip r:embed="rId2"/>
                      <a:stretch>
                        <a:fillRect/>
                      </a:stretch>
                    </p:blipFill>
                    <p:spPr>
                      <a:xfrm>
                        <a:off x="2411760" y="4149079"/>
                        <a:ext cx="4104456" cy="2508279"/>
                      </a:xfrm>
                      <a:prstGeom prst="rect">
                        <a:avLst/>
                      </a:prstGeom>
                    </p:spPr>
                  </p:pic>
                </p:oleObj>
              </mc:Fallback>
            </mc:AlternateContent>
          </a:graphicData>
        </a:graphic>
      </p:graphicFrame>
      <p:sp>
        <p:nvSpPr>
          <p:cNvPr id="5" name="TextBox 4"/>
          <p:cNvSpPr txBox="1"/>
          <p:nvPr/>
        </p:nvSpPr>
        <p:spPr>
          <a:xfrm>
            <a:off x="5652120" y="4509120"/>
            <a:ext cx="2880320" cy="923330"/>
          </a:xfrm>
          <a:prstGeom prst="rect">
            <a:avLst/>
          </a:prstGeom>
          <a:noFill/>
        </p:spPr>
        <p:txBody>
          <a:bodyPr wrap="square" rtlCol="0">
            <a:spAutoFit/>
          </a:bodyPr>
          <a:lstStyle/>
          <a:p>
            <a:r>
              <a:rPr lang="zh-CN" altLang="en-US" dirty="0"/>
              <a:t>在第</a:t>
            </a:r>
            <a:r>
              <a:rPr lang="en-US" altLang="zh-CN" dirty="0"/>
              <a:t>t</a:t>
            </a:r>
            <a:r>
              <a:rPr lang="zh-CN" altLang="en-US" dirty="0"/>
              <a:t>年采伐并出售所有林木后，出售剩下的无林地的价格（未来价值）</a:t>
            </a:r>
            <a:endParaRPr lang="zh-CN" alt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使用投资人的期望回报率作为贴现利率</a:t>
            </a:r>
            <a:endParaRPr lang="en-US" altLang="zh-CN" dirty="0"/>
          </a:p>
          <a:p>
            <a:r>
              <a:rPr lang="zh-CN" altLang="en-US" dirty="0"/>
              <a:t>可以得到对特定投资人最高的中幼林分价值</a:t>
            </a:r>
            <a:endParaRPr lang="zh-CN" altLang="en-US" dirty="0"/>
          </a:p>
        </p:txBody>
      </p:sp>
      <p:sp>
        <p:nvSpPr>
          <p:cNvPr id="3" name="标题 2"/>
          <p:cNvSpPr>
            <a:spLocks noGrp="1"/>
          </p:cNvSpPr>
          <p:nvPr>
            <p:ph type="title"/>
          </p:nvPr>
        </p:nvSpPr>
        <p:spPr/>
        <p:txBody>
          <a:bodyPr/>
          <a:lstStyle/>
          <a:p>
            <a:r>
              <a:rPr lang="zh-CN" altLang="en-US" dirty="0"/>
              <a:t>选择什么贴现利率？</a:t>
            </a:r>
            <a:endParaRPr lang="zh-CN" alt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3"/>
          </p:nvPr>
        </p:nvSpPr>
        <p:spPr/>
        <p:txBody>
          <a:bodyPr>
            <a:normAutofit/>
          </a:bodyPr>
          <a:lstStyle/>
          <a:p>
            <a:r>
              <a:rPr lang="zh-CN" altLang="en-US" dirty="0"/>
              <a:t>实际营林过程中，由于选择的用途不同，可能存在不同轮伐期</a:t>
            </a:r>
            <a:endParaRPr lang="en-US" altLang="zh-CN" dirty="0"/>
          </a:p>
        </p:txBody>
      </p:sp>
      <p:sp>
        <p:nvSpPr>
          <p:cNvPr id="4" name="标题 3"/>
          <p:cNvSpPr>
            <a:spLocks noGrp="1"/>
          </p:cNvSpPr>
          <p:nvPr>
            <p:ph type="title"/>
          </p:nvPr>
        </p:nvSpPr>
        <p:spPr/>
        <p:txBody>
          <a:bodyPr/>
          <a:lstStyle/>
          <a:p>
            <a:r>
              <a:rPr lang="zh-CN" altLang="en-US" dirty="0"/>
              <a:t>选择什么样的轮伐期（</a:t>
            </a:r>
            <a:r>
              <a:rPr lang="en-US" altLang="zh-CN" dirty="0"/>
              <a:t>t</a:t>
            </a:r>
            <a:r>
              <a:rPr lang="zh-CN" altLang="en-US" dirty="0"/>
              <a:t>）</a:t>
            </a:r>
            <a:endParaRPr lang="zh-CN" altLang="en-US" dirty="0"/>
          </a:p>
        </p:txBody>
      </p:sp>
      <p:sp>
        <p:nvSpPr>
          <p:cNvPr id="5" name="内容占位符 4"/>
          <p:cNvSpPr>
            <a:spLocks noGrp="1"/>
          </p:cNvSpPr>
          <p:nvPr>
            <p:ph idx="1"/>
          </p:nvPr>
        </p:nvSpPr>
        <p:spPr/>
        <p:txBody>
          <a:bodyPr>
            <a:normAutofit fontScale="92500" lnSpcReduction="10000"/>
          </a:bodyPr>
          <a:lstStyle/>
          <a:p>
            <a:r>
              <a:rPr lang="zh-CN" altLang="en-US" dirty="0"/>
              <a:t>如一片生长</a:t>
            </a:r>
            <a:r>
              <a:rPr lang="en-US" altLang="zh-CN" dirty="0"/>
              <a:t>5</a:t>
            </a:r>
            <a:r>
              <a:rPr lang="zh-CN" altLang="en-US" dirty="0"/>
              <a:t>年的松林</a:t>
            </a:r>
            <a:endParaRPr lang="en-US" altLang="zh-CN" dirty="0"/>
          </a:p>
          <a:p>
            <a:r>
              <a:rPr lang="en-US" altLang="zh-CN" dirty="0"/>
              <a:t>15</a:t>
            </a:r>
            <a:r>
              <a:rPr lang="zh-CN" altLang="en-US" dirty="0"/>
              <a:t>年后，林分可用于纸浆材工艺</a:t>
            </a:r>
            <a:endParaRPr lang="en-US" altLang="zh-CN" dirty="0"/>
          </a:p>
          <a:p>
            <a:r>
              <a:rPr lang="en-US" altLang="zh-CN" dirty="0"/>
              <a:t>30</a:t>
            </a:r>
            <a:r>
              <a:rPr lang="zh-CN" altLang="en-US" dirty="0"/>
              <a:t>年后，林分自然成熟，可用于锯材</a:t>
            </a:r>
            <a:endParaRPr lang="zh-CN" altLang="en-US" dirty="0"/>
          </a:p>
        </p:txBody>
      </p:sp>
      <p:sp>
        <p:nvSpPr>
          <p:cNvPr id="7" name="内容占位符 6"/>
          <p:cNvSpPr>
            <a:spLocks noGrp="1"/>
          </p:cNvSpPr>
          <p:nvPr>
            <p:ph idx="14"/>
          </p:nvPr>
        </p:nvSpPr>
        <p:spPr/>
        <p:txBody>
          <a:bodyPr/>
          <a:lstStyle/>
          <a:p>
            <a:r>
              <a:rPr lang="zh-CN" altLang="en-US" dirty="0"/>
              <a:t>使用</a:t>
            </a:r>
            <a:r>
              <a:rPr lang="en-US" altLang="zh-CN" dirty="0"/>
              <a:t>15</a:t>
            </a:r>
            <a:r>
              <a:rPr lang="zh-CN" altLang="en-US" dirty="0"/>
              <a:t>年和</a:t>
            </a:r>
            <a:r>
              <a:rPr lang="en-US" altLang="zh-CN" dirty="0"/>
              <a:t>30</a:t>
            </a:r>
            <a:r>
              <a:rPr lang="zh-CN" altLang="en-US" dirty="0"/>
              <a:t>年林分价值评估，可能得到完全不同的贴现结果</a:t>
            </a:r>
            <a:endParaRPr lang="zh-CN" alt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86000" y="474345"/>
            <a:ext cx="4572000" cy="369332"/>
          </a:xfrm>
          <a:prstGeom prst="rect">
            <a:avLst/>
          </a:prstGeom>
        </p:spPr>
        <p:txBody>
          <a:bodyPr>
            <a:spAutoFit/>
          </a:bodyPr>
          <a:lstStyle/>
          <a:p>
            <a:r>
              <a:rPr lang="en-US" altLang="zh-CN" b="1" dirty="0"/>
              <a:t>	</a:t>
            </a:r>
            <a:endParaRPr lang="en-US" altLang="zh-CN" b="1" dirty="0"/>
          </a:p>
        </p:txBody>
      </p:sp>
      <p:graphicFrame>
        <p:nvGraphicFramePr>
          <p:cNvPr id="4" name="表格 3"/>
          <p:cNvGraphicFramePr>
            <a:graphicFrameLocks noGrp="1"/>
          </p:cNvGraphicFramePr>
          <p:nvPr/>
        </p:nvGraphicFramePr>
        <p:xfrm>
          <a:off x="683568" y="188640"/>
          <a:ext cx="7488832" cy="6440248"/>
        </p:xfrm>
        <a:graphic>
          <a:graphicData uri="http://schemas.openxmlformats.org/drawingml/2006/table">
            <a:tbl>
              <a:tblPr>
                <a:effectLst>
                  <a:outerShdw blurRad="228600" dist="254000" dir="2700000" algn="tl" rotWithShape="0">
                    <a:prstClr val="black">
                      <a:alpha val="40000"/>
                    </a:prstClr>
                  </a:outerShdw>
                </a:effectLst>
                <a:tableStyleId>{327F97BB-C833-4FB7-BDE5-3F7075034690}</a:tableStyleId>
              </a:tblPr>
              <a:tblGrid>
                <a:gridCol w="3744416"/>
                <a:gridCol w="3744416"/>
              </a:tblGrid>
              <a:tr h="473948">
                <a:tc>
                  <a:txBody>
                    <a:bodyPr/>
                    <a:lstStyle/>
                    <a:p>
                      <a:pPr algn="ctr" fontAlgn="ctr"/>
                      <a:r>
                        <a:rPr lang="zh-CN" altLang="en-US" sz="1800" u="none" strike="noStrike" dirty="0">
                          <a:effectLst/>
                          <a:latin typeface="隶书" panose="02010509060101010101" pitchFamily="49" charset="-122"/>
                          <a:ea typeface="隶书" panose="02010509060101010101" pitchFamily="49" charset="-122"/>
                        </a:rPr>
                        <a:t>年份</a:t>
                      </a:r>
                      <a:endParaRPr lang="zh-CN" alt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c>
                  <a:txBody>
                    <a:bodyPr/>
                    <a:lstStyle/>
                    <a:p>
                      <a:pPr algn="ctr" fontAlgn="ctr"/>
                      <a:r>
                        <a:rPr lang="zh-CN" altLang="en-US" sz="1800" u="none" strike="noStrike" dirty="0">
                          <a:effectLst/>
                          <a:latin typeface="隶书" panose="02010509060101010101" pitchFamily="49" charset="-122"/>
                          <a:ea typeface="隶书" panose="02010509060101010101" pitchFamily="49" charset="-122"/>
                        </a:rPr>
                        <a:t>活立木总收益（美元</a:t>
                      </a:r>
                      <a:r>
                        <a:rPr lang="en-US" altLang="zh-CN" sz="1800" u="none" strike="noStrike" dirty="0">
                          <a:effectLst/>
                          <a:latin typeface="隶书" panose="02010509060101010101" pitchFamily="49" charset="-122"/>
                          <a:ea typeface="隶书" panose="02010509060101010101" pitchFamily="49" charset="-122"/>
                        </a:rPr>
                        <a:t>/</a:t>
                      </a:r>
                      <a:r>
                        <a:rPr lang="zh-CN" altLang="en-US" sz="1800" u="none" strike="noStrike" dirty="0">
                          <a:effectLst/>
                          <a:latin typeface="隶书" panose="02010509060101010101" pitchFamily="49" charset="-122"/>
                          <a:ea typeface="隶书" panose="02010509060101010101" pitchFamily="49" charset="-122"/>
                        </a:rPr>
                        <a:t>英亩）</a:t>
                      </a:r>
                      <a:endParaRPr lang="zh-CN" alt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r>
              <a:tr h="318140">
                <a:tc>
                  <a:txBody>
                    <a:bodyPr/>
                    <a:lstStyle/>
                    <a:p>
                      <a:pPr algn="ctr" fontAlgn="ctr"/>
                      <a:r>
                        <a:rPr lang="en-US" sz="1800" u="none" strike="noStrike" dirty="0">
                          <a:effectLst/>
                          <a:latin typeface="隶书" panose="02010509060101010101" pitchFamily="49" charset="-122"/>
                          <a:ea typeface="隶书" panose="02010509060101010101" pitchFamily="49" charset="-122"/>
                        </a:rPr>
                        <a:t>year</a:t>
                      </a:r>
                      <a:endParaRPr 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c>
                  <a:txBody>
                    <a:bodyPr/>
                    <a:lstStyle/>
                    <a:p>
                      <a:pPr algn="ctr" fontAlgn="ctr"/>
                      <a:r>
                        <a:rPr lang="en-US" sz="1800" u="none" strike="noStrike" dirty="0">
                          <a:effectLst/>
                          <a:latin typeface="隶书" panose="02010509060101010101" pitchFamily="49" charset="-122"/>
                          <a:ea typeface="隶书" panose="02010509060101010101" pitchFamily="49" charset="-122"/>
                        </a:rPr>
                        <a:t>Total stumpage revenue（$/acre)</a:t>
                      </a:r>
                      <a:endParaRPr 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a:effectLst/>
                          <a:latin typeface="隶书" panose="02010509060101010101" pitchFamily="49" charset="-122"/>
                          <a:ea typeface="隶书" panose="02010509060101010101" pitchFamily="49" charset="-122"/>
                        </a:rPr>
                        <a:t>77</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6</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300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8</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10</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650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12</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a:effectLst/>
                          <a:latin typeface="隶书" panose="02010509060101010101" pitchFamily="49" charset="-122"/>
                          <a:ea typeface="隶书" panose="02010509060101010101" pitchFamily="49" charset="-122"/>
                        </a:rPr>
                        <a:t>930</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15</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w="50800" prst="hardEdge"/>
                      <a:lightRig rig="flood" dir="t"/>
                    </a:cell3D>
                    <a:solidFill>
                      <a:schemeClr val="tx2">
                        <a:lumMod val="75000"/>
                      </a:schemeClr>
                    </a:solidFill>
                  </a:tcPr>
                </a:tc>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1500</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w="50800" prst="hardEdge"/>
                      <a:lightRig rig="flood" dir="t"/>
                    </a:cell3D>
                    <a:solidFill>
                      <a:schemeClr val="tx2">
                        <a:lumMod val="75000"/>
                      </a:schemeClr>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16</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1750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18</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2250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20</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2730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22</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3240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24</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3800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26</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4260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28</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4700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30</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slope"/>
                      <a:lightRig rig="flood" dir="t"/>
                    </a:cell3D>
                    <a:solidFill>
                      <a:schemeClr val="tx2">
                        <a:lumMod val="75000"/>
                      </a:schemeClr>
                    </a:solidFill>
                  </a:tcPr>
                </a:tc>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5100</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slope"/>
                      <a:lightRig rig="flood" dir="t"/>
                    </a:cell3D>
                    <a:solidFill>
                      <a:schemeClr val="tx2">
                        <a:lumMod val="75000"/>
                      </a:schemeClr>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32</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5400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34</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5620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36</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5750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38</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5800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15"/>
          <p:cNvGraphicFramePr>
            <a:graphicFrameLocks noChangeAspect="1"/>
          </p:cNvGraphicFramePr>
          <p:nvPr/>
        </p:nvGraphicFramePr>
        <p:xfrm>
          <a:off x="903288" y="1911350"/>
          <a:ext cx="7885112" cy="4335463"/>
        </p:xfrm>
        <a:graphic>
          <a:graphicData uri="http://schemas.openxmlformats.org/presentationml/2006/ole">
            <mc:AlternateContent xmlns:mc="http://schemas.openxmlformats.org/markup-compatibility/2006">
              <mc:Choice xmlns:v="urn:schemas-microsoft-com:vml" Requires="v">
                <p:oleObj spid="_x0000_s43011" name="图表" r:id="rId1" imgW="10553700" imgH="5803900" progId="Excel.Sheet.8">
                  <p:embed/>
                </p:oleObj>
              </mc:Choice>
              <mc:Fallback>
                <p:oleObj name="图表" r:id="rId1" imgW="10553700" imgH="5803900" progId="Excel.Sheet.8">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288" y="1911350"/>
                        <a:ext cx="7885112" cy="4335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1" name="Rectangle 2"/>
          <p:cNvSpPr>
            <a:spLocks noChangeArrowheads="1"/>
          </p:cNvSpPr>
          <p:nvPr/>
        </p:nvSpPr>
        <p:spPr bwMode="auto">
          <a:xfrm>
            <a:off x="1619250" y="620713"/>
            <a:ext cx="67691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dirty="0">
                <a:solidFill>
                  <a:srgbClr val="000000"/>
                </a:solidFill>
                <a:latin typeface="Times New Roman" panose="02020603050405020304" pitchFamily="18" charset="0"/>
                <a:cs typeface="Times New Roman" panose="02020603050405020304" pitchFamily="18" charset="0"/>
              </a:rPr>
              <a:t>Figure 3.3: Value of a pre-merchantable loblolly pine timber stand: Difference between discounting at age 30, when the stand is ready for a final harvest (valued at B), and at age 15, when the stand just becomes merchantable (valued at A)</a:t>
            </a:r>
            <a:endParaRPr lang="en-CA" b="1" dirty="0">
              <a:solidFill>
                <a:srgbClr val="000000"/>
              </a:solidFill>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charset="0"/>
              </a:rPr>
              <a:t>Adapted from </a:t>
            </a:r>
            <a:r>
              <a:rPr lang="en-US" altLang="zh-CN" i="1">
                <a:solidFill>
                  <a:srgbClr val="898989"/>
                </a:solidFill>
                <a:latin typeface="Calibri" panose="020F0502020204030204" charset="0"/>
              </a:rPr>
              <a:t>Forest Economics </a:t>
            </a:r>
            <a:r>
              <a:rPr lang="en-US" altLang="zh-CN">
                <a:solidFill>
                  <a:srgbClr val="898989"/>
                </a:solidFill>
                <a:latin typeface="Calibri" panose="020F0502020204030204" charset="0"/>
              </a:rPr>
              <a:t>by Daowei Zhang and Peter H. Pearse, published by UBC Press, 2011. </a:t>
            </a:r>
            <a:endParaRPr lang="en-CA">
              <a:solidFill>
                <a:srgbClr val="898989"/>
              </a:solidFill>
              <a:latin typeface="Calibri" panose="020F0502020204030204" charset="0"/>
            </a:endParaRPr>
          </a:p>
        </p:txBody>
      </p:sp>
      <p:sp>
        <p:nvSpPr>
          <p:cNvPr id="2" name="TextBox 1"/>
          <p:cNvSpPr txBox="1"/>
          <p:nvPr/>
        </p:nvSpPr>
        <p:spPr>
          <a:xfrm>
            <a:off x="4860032" y="5116542"/>
            <a:ext cx="2473754" cy="369332"/>
          </a:xfrm>
          <a:prstGeom prst="rect">
            <a:avLst/>
          </a:prstGeom>
          <a:noFill/>
        </p:spPr>
        <p:txBody>
          <a:bodyPr wrap="none" rtlCol="0">
            <a:spAutoFit/>
          </a:bodyPr>
          <a:lstStyle/>
          <a:p>
            <a:r>
              <a:rPr lang="zh-CN" altLang="en-US" dirty="0">
                <a:solidFill>
                  <a:srgbClr val="C00000"/>
                </a:solidFill>
              </a:rPr>
              <a:t>从第</a:t>
            </a:r>
            <a:r>
              <a:rPr lang="en-US" altLang="zh-CN" dirty="0">
                <a:solidFill>
                  <a:srgbClr val="C00000"/>
                </a:solidFill>
              </a:rPr>
              <a:t>15</a:t>
            </a:r>
            <a:r>
              <a:rPr lang="zh-CN" altLang="en-US" dirty="0">
                <a:solidFill>
                  <a:srgbClr val="C00000"/>
                </a:solidFill>
              </a:rPr>
              <a:t>年贴现到第</a:t>
            </a:r>
            <a:r>
              <a:rPr lang="en-US" altLang="zh-CN" dirty="0">
                <a:solidFill>
                  <a:srgbClr val="C00000"/>
                </a:solidFill>
              </a:rPr>
              <a:t>5</a:t>
            </a:r>
            <a:r>
              <a:rPr lang="zh-CN" altLang="en-US" dirty="0">
                <a:solidFill>
                  <a:srgbClr val="C00000"/>
                </a:solidFill>
              </a:rPr>
              <a:t>年</a:t>
            </a:r>
            <a:endParaRPr lang="zh-CN" altLang="en-US" dirty="0">
              <a:solidFill>
                <a:srgbClr val="C00000"/>
              </a:solidFill>
            </a:endParaRPr>
          </a:p>
        </p:txBody>
      </p:sp>
      <p:sp>
        <p:nvSpPr>
          <p:cNvPr id="6" name="TextBox 5"/>
          <p:cNvSpPr txBox="1"/>
          <p:nvPr/>
        </p:nvSpPr>
        <p:spPr>
          <a:xfrm>
            <a:off x="2526800" y="3934797"/>
            <a:ext cx="1541144" cy="646331"/>
          </a:xfrm>
          <a:prstGeom prst="rect">
            <a:avLst/>
          </a:prstGeom>
          <a:noFill/>
        </p:spPr>
        <p:txBody>
          <a:bodyPr wrap="square" rtlCol="0">
            <a:spAutoFit/>
          </a:bodyPr>
          <a:lstStyle/>
          <a:p>
            <a:r>
              <a:rPr lang="zh-CN" altLang="en-US" dirty="0">
                <a:solidFill>
                  <a:srgbClr val="C00000"/>
                </a:solidFill>
              </a:rPr>
              <a:t>从第</a:t>
            </a:r>
            <a:r>
              <a:rPr lang="en-US" altLang="zh-CN" dirty="0">
                <a:solidFill>
                  <a:srgbClr val="C00000"/>
                </a:solidFill>
              </a:rPr>
              <a:t>30</a:t>
            </a:r>
            <a:r>
              <a:rPr lang="zh-CN" altLang="en-US" dirty="0">
                <a:solidFill>
                  <a:srgbClr val="C00000"/>
                </a:solidFill>
              </a:rPr>
              <a:t>年贴现到第</a:t>
            </a:r>
            <a:r>
              <a:rPr lang="en-US" altLang="zh-CN" dirty="0">
                <a:solidFill>
                  <a:srgbClr val="C00000"/>
                </a:solidFill>
              </a:rPr>
              <a:t>5</a:t>
            </a:r>
            <a:r>
              <a:rPr lang="zh-CN" altLang="en-US" dirty="0">
                <a:solidFill>
                  <a:srgbClr val="C00000"/>
                </a:solidFill>
              </a:rPr>
              <a:t>年</a:t>
            </a:r>
            <a:endParaRPr lang="zh-CN" altLang="en-US" dirty="0">
              <a:solidFill>
                <a:srgbClr val="C00000"/>
              </a:solidFill>
            </a:endParaRPr>
          </a:p>
        </p:txBody>
      </p:sp>
      <p:cxnSp>
        <p:nvCxnSpPr>
          <p:cNvPr id="4" name="直接箭头连接符 3"/>
          <p:cNvCxnSpPr/>
          <p:nvPr/>
        </p:nvCxnSpPr>
        <p:spPr>
          <a:xfrm>
            <a:off x="2915816" y="4509120"/>
            <a:ext cx="72008" cy="504056"/>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2" idx="1"/>
          </p:cNvCxnSpPr>
          <p:nvPr/>
        </p:nvCxnSpPr>
        <p:spPr>
          <a:xfrm flipH="1">
            <a:off x="3059832" y="5301208"/>
            <a:ext cx="1800200" cy="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59214" y="2560972"/>
            <a:ext cx="774571" cy="369332"/>
          </a:xfrm>
          <a:prstGeom prst="rect">
            <a:avLst/>
          </a:prstGeom>
          <a:noFill/>
        </p:spPr>
        <p:txBody>
          <a:bodyPr wrap="none" rtlCol="0">
            <a:spAutoFit/>
          </a:bodyPr>
          <a:lstStyle/>
          <a:p>
            <a:r>
              <a:rPr lang="en-US" altLang="zh-CN" dirty="0">
                <a:solidFill>
                  <a:srgbClr val="C00000"/>
                </a:solidFill>
              </a:rPr>
              <a:t>5100</a:t>
            </a:r>
            <a:endParaRPr lang="zh-CN" altLang="en-US" dirty="0">
              <a:solidFill>
                <a:srgbClr val="C00000"/>
              </a:solidFill>
            </a:endParaRPr>
          </a:p>
        </p:txBody>
      </p:sp>
      <p:sp>
        <p:nvSpPr>
          <p:cNvPr id="13" name="TextBox 12"/>
          <p:cNvSpPr txBox="1"/>
          <p:nvPr/>
        </p:nvSpPr>
        <p:spPr>
          <a:xfrm>
            <a:off x="4860032" y="4581128"/>
            <a:ext cx="774571" cy="369332"/>
          </a:xfrm>
          <a:prstGeom prst="rect">
            <a:avLst/>
          </a:prstGeom>
          <a:noFill/>
        </p:spPr>
        <p:txBody>
          <a:bodyPr wrap="none" rtlCol="0">
            <a:spAutoFit/>
          </a:bodyPr>
          <a:lstStyle/>
          <a:p>
            <a:r>
              <a:rPr lang="en-US" altLang="zh-CN" dirty="0">
                <a:solidFill>
                  <a:srgbClr val="C00000"/>
                </a:solidFill>
              </a:rPr>
              <a:t>1500</a:t>
            </a:r>
            <a:endParaRPr lang="zh-CN" altLang="en-US" dirty="0">
              <a:solidFill>
                <a:srgbClr val="C00000"/>
              </a:solidFill>
            </a:endParaRPr>
          </a:p>
        </p:txBody>
      </p:sp>
      <p:sp>
        <p:nvSpPr>
          <p:cNvPr id="14" name="TextBox 13"/>
          <p:cNvSpPr txBox="1"/>
          <p:nvPr/>
        </p:nvSpPr>
        <p:spPr>
          <a:xfrm>
            <a:off x="4064920" y="3036145"/>
            <a:ext cx="1503938" cy="369332"/>
          </a:xfrm>
          <a:prstGeom prst="rect">
            <a:avLst/>
          </a:prstGeom>
          <a:noFill/>
        </p:spPr>
        <p:txBody>
          <a:bodyPr wrap="none" rtlCol="0">
            <a:spAutoFit/>
          </a:bodyPr>
          <a:lstStyle/>
          <a:p>
            <a:r>
              <a:rPr lang="en-US" altLang="zh-CN" dirty="0">
                <a:solidFill>
                  <a:srgbClr val="FFC000"/>
                </a:solidFill>
              </a:rPr>
              <a:t>7%</a:t>
            </a:r>
            <a:r>
              <a:rPr lang="zh-CN" altLang="en-US" dirty="0">
                <a:solidFill>
                  <a:srgbClr val="FFC000"/>
                </a:solidFill>
              </a:rPr>
              <a:t>的贴现率</a:t>
            </a:r>
            <a:endParaRPr lang="zh-CN" altLang="en-US" dirty="0">
              <a:solidFill>
                <a:srgbClr val="FFC000"/>
              </a:solidFill>
            </a:endParaRPr>
          </a:p>
        </p:txBody>
      </p:sp>
      <p:sp>
        <p:nvSpPr>
          <p:cNvPr id="15" name="TextBox 14"/>
          <p:cNvSpPr txBox="1"/>
          <p:nvPr/>
        </p:nvSpPr>
        <p:spPr>
          <a:xfrm>
            <a:off x="4227668" y="3394799"/>
            <a:ext cx="1016625" cy="646331"/>
          </a:xfrm>
          <a:prstGeom prst="rect">
            <a:avLst/>
          </a:prstGeom>
          <a:noFill/>
        </p:spPr>
        <p:txBody>
          <a:bodyPr wrap="none" rtlCol="0">
            <a:spAutoFit/>
          </a:bodyPr>
          <a:lstStyle/>
          <a:p>
            <a:r>
              <a:rPr lang="en-US" altLang="zh-CN" dirty="0">
                <a:solidFill>
                  <a:srgbClr val="FFC000"/>
                </a:solidFill>
              </a:rPr>
              <a:t>B</a:t>
            </a:r>
            <a:r>
              <a:rPr lang="zh-CN" altLang="en-US" dirty="0">
                <a:solidFill>
                  <a:srgbClr val="FFC000"/>
                </a:solidFill>
              </a:rPr>
              <a:t>：</a:t>
            </a:r>
            <a:r>
              <a:rPr lang="en-US" altLang="zh-CN" dirty="0">
                <a:solidFill>
                  <a:srgbClr val="FFC000"/>
                </a:solidFill>
              </a:rPr>
              <a:t>940</a:t>
            </a:r>
            <a:endParaRPr lang="en-US" altLang="zh-CN" dirty="0">
              <a:solidFill>
                <a:srgbClr val="FFC000"/>
              </a:solidFill>
            </a:endParaRPr>
          </a:p>
          <a:p>
            <a:r>
              <a:rPr lang="en-US" altLang="zh-CN" dirty="0">
                <a:solidFill>
                  <a:srgbClr val="FFC000"/>
                </a:solidFill>
              </a:rPr>
              <a:t>A</a:t>
            </a:r>
            <a:r>
              <a:rPr lang="zh-CN" altLang="en-US" dirty="0">
                <a:solidFill>
                  <a:srgbClr val="FFC000"/>
                </a:solidFill>
              </a:rPr>
              <a:t>：</a:t>
            </a:r>
            <a:r>
              <a:rPr lang="en-US" altLang="zh-CN" dirty="0">
                <a:solidFill>
                  <a:srgbClr val="FFC000"/>
                </a:solidFill>
              </a:rPr>
              <a:t>762</a:t>
            </a:r>
            <a:endParaRPr lang="zh-CN" altLang="en-US" dirty="0">
              <a:solidFill>
                <a:srgbClr val="FFC000"/>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normAutofit lnSpcReduction="10000"/>
          </a:bodyPr>
          <a:lstStyle/>
          <a:p>
            <a:r>
              <a:rPr lang="zh-CN" altLang="en-US" dirty="0"/>
              <a:t>追求利润最大化的林主相信未来林分将处于最优经营状态</a:t>
            </a:r>
            <a:endParaRPr lang="en-US" altLang="zh-CN" dirty="0"/>
          </a:p>
          <a:p>
            <a:r>
              <a:rPr lang="zh-CN" altLang="en-US" dirty="0"/>
              <a:t>因此会选择最高的贴现价值来作为幼林当期的价值</a:t>
            </a:r>
            <a:endParaRPr lang="en-US" altLang="zh-CN" dirty="0"/>
          </a:p>
          <a:p>
            <a:r>
              <a:rPr lang="zh-CN" altLang="en-US" dirty="0">
                <a:solidFill>
                  <a:srgbClr val="C00000"/>
                </a:solidFill>
              </a:rPr>
              <a:t>在这个案例中，林主会基于</a:t>
            </a:r>
            <a:r>
              <a:rPr lang="en-US" altLang="zh-CN" dirty="0">
                <a:solidFill>
                  <a:srgbClr val="C00000"/>
                </a:solidFill>
              </a:rPr>
              <a:t>30</a:t>
            </a:r>
            <a:r>
              <a:rPr lang="zh-CN" altLang="en-US" dirty="0">
                <a:solidFill>
                  <a:srgbClr val="C00000"/>
                </a:solidFill>
              </a:rPr>
              <a:t>年采伐收益价格的贴现值来对中幼林进行价格评估</a:t>
            </a:r>
            <a:endParaRPr lang="zh-CN" altLang="en-US" dirty="0">
              <a:solidFill>
                <a:srgbClr val="C00000"/>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09442" y="3327127"/>
            <a:ext cx="7117180" cy="1470025"/>
          </a:xfrm>
        </p:spPr>
        <p:txBody>
          <a:bodyPr/>
          <a:lstStyle/>
          <a:p>
            <a:r>
              <a:rPr lang="zh-CN" altLang="en-US" dirty="0"/>
              <a:t>内部收益率法</a:t>
            </a:r>
            <a:endParaRPr lang="zh-CN" altLang="en-US" dirty="0"/>
          </a:p>
        </p:txBody>
      </p:sp>
      <p:sp>
        <p:nvSpPr>
          <p:cNvPr id="3" name="副标题 2"/>
          <p:cNvSpPr>
            <a:spLocks noGrp="1"/>
          </p:cNvSpPr>
          <p:nvPr>
            <p:ph type="subTitle" idx="1"/>
          </p:nvPr>
        </p:nvSpPr>
        <p:spPr/>
        <p:txBody>
          <a:bodyPr/>
          <a:lstStyle/>
          <a:p>
            <a:r>
              <a:rPr lang="en-US" altLang="zh-CN" dirty="0"/>
              <a:t>Internal rate of return method</a:t>
            </a:r>
            <a:endParaRPr lang="zh-CN" alt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a:t>重置成本法 与</a:t>
            </a:r>
            <a:r>
              <a:rPr lang="en-US" altLang="zh-CN" sz="4000" dirty="0"/>
              <a:t> </a:t>
            </a:r>
            <a:r>
              <a:rPr lang="zh-CN" altLang="en-US" sz="4000" dirty="0"/>
              <a:t>收入法 评估结果不同</a:t>
            </a:r>
            <a:endParaRPr lang="zh-CN" altLang="en-US" sz="4000" dirty="0"/>
          </a:p>
        </p:txBody>
      </p:sp>
      <p:sp>
        <p:nvSpPr>
          <p:cNvPr id="3" name="内容占位符 2"/>
          <p:cNvSpPr>
            <a:spLocks noGrp="1"/>
          </p:cNvSpPr>
          <p:nvPr>
            <p:ph idx="1"/>
          </p:nvPr>
        </p:nvSpPr>
        <p:spPr/>
        <p:txBody>
          <a:bodyPr/>
          <a:lstStyle/>
          <a:p>
            <a:r>
              <a:rPr lang="zh-CN" altLang="en-US" dirty="0"/>
              <a:t>重置成本法</a:t>
            </a:r>
            <a:endParaRPr lang="en-US" altLang="zh-CN" dirty="0"/>
          </a:p>
          <a:p>
            <a:pPr lvl="1"/>
            <a:r>
              <a:rPr lang="zh-CN" altLang="en-US" dirty="0"/>
              <a:t>评估结果：</a:t>
            </a:r>
            <a:endParaRPr lang="en-US" altLang="zh-CN" dirty="0"/>
          </a:p>
          <a:p>
            <a:pPr lvl="1"/>
            <a:r>
              <a:rPr lang="en-US" altLang="zh-CN" dirty="0"/>
              <a:t>428.46</a:t>
            </a:r>
            <a:r>
              <a:rPr lang="zh-CN" altLang="en-US" dirty="0"/>
              <a:t>元</a:t>
            </a:r>
            <a:r>
              <a:rPr lang="en-US" altLang="zh-CN" dirty="0"/>
              <a:t>/</a:t>
            </a:r>
            <a:r>
              <a:rPr lang="zh-CN" altLang="en-US" dirty="0"/>
              <a:t>亩</a:t>
            </a:r>
            <a:endParaRPr lang="zh-CN" altLang="en-US" dirty="0"/>
          </a:p>
        </p:txBody>
      </p:sp>
      <p:sp>
        <p:nvSpPr>
          <p:cNvPr id="4" name="内容占位符 3"/>
          <p:cNvSpPr>
            <a:spLocks noGrp="1"/>
          </p:cNvSpPr>
          <p:nvPr>
            <p:ph idx="14"/>
          </p:nvPr>
        </p:nvSpPr>
        <p:spPr/>
        <p:txBody>
          <a:bodyPr/>
          <a:lstStyle/>
          <a:p>
            <a:r>
              <a:rPr lang="zh-CN" altLang="en-US" dirty="0"/>
              <a:t>收入法：</a:t>
            </a:r>
            <a:endParaRPr lang="en-US" altLang="zh-CN" dirty="0"/>
          </a:p>
          <a:p>
            <a:pPr lvl="1"/>
            <a:r>
              <a:rPr lang="zh-CN" altLang="en-US" dirty="0"/>
              <a:t>评估结果：</a:t>
            </a:r>
            <a:endParaRPr lang="en-US" altLang="zh-CN" dirty="0"/>
          </a:p>
          <a:p>
            <a:pPr lvl="1"/>
            <a:r>
              <a:rPr lang="en-US" altLang="zh-CN" dirty="0"/>
              <a:t>1074.30</a:t>
            </a:r>
            <a:r>
              <a:rPr lang="zh-CN" altLang="en-US" dirty="0"/>
              <a:t>元</a:t>
            </a:r>
            <a:r>
              <a:rPr lang="en-US" altLang="zh-CN" dirty="0"/>
              <a:t>/</a:t>
            </a:r>
            <a:r>
              <a:rPr lang="zh-CN" altLang="en-US" dirty="0"/>
              <a:t>亩</a:t>
            </a:r>
            <a:endParaRPr lang="zh-CN" altLang="en-US" dirty="0"/>
          </a:p>
        </p:txBody>
      </p:sp>
      <p:sp>
        <p:nvSpPr>
          <p:cNvPr id="5" name="TextBox 4"/>
          <p:cNvSpPr txBox="1"/>
          <p:nvPr/>
        </p:nvSpPr>
        <p:spPr>
          <a:xfrm>
            <a:off x="3059832" y="4164282"/>
            <a:ext cx="3024336" cy="461665"/>
          </a:xfrm>
          <a:prstGeom prst="rect">
            <a:avLst/>
          </a:prstGeom>
          <a:solidFill>
            <a:schemeClr val="tx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2400" dirty="0">
                <a:solidFill>
                  <a:schemeClr val="tx2">
                    <a:lumMod val="50000"/>
                  </a:schemeClr>
                </a:solidFill>
                <a:effectLst>
                  <a:innerShdw blurRad="63500" dist="50800" dir="16200000">
                    <a:prstClr val="black">
                      <a:alpha val="50000"/>
                    </a:prstClr>
                  </a:innerShdw>
                </a:effectLst>
              </a:rPr>
              <a:t>对同一片七年生松林</a:t>
            </a:r>
            <a:endParaRPr lang="zh-CN" altLang="en-US" sz="2400" dirty="0">
              <a:solidFill>
                <a:schemeClr val="tx2">
                  <a:lumMod val="50000"/>
                </a:schemeClr>
              </a:solidFill>
              <a:effectLst>
                <a:innerShdw blurRad="63500" dist="50800" dir="16200000">
                  <a:prstClr val="black">
                    <a:alpha val="50000"/>
                  </a:prstClr>
                </a:innerShdw>
              </a:effectLst>
            </a:endParaRPr>
          </a:p>
        </p:txBody>
      </p:sp>
      <p:pic>
        <p:nvPicPr>
          <p:cNvPr id="6" name="图片 5">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3801755"/>
            <a:ext cx="749746" cy="749746"/>
          </a:xfrm>
          <a:prstGeom prst="rect">
            <a:avLst/>
          </a:prstGeom>
        </p:spPr>
      </p:pic>
      <p:pic>
        <p:nvPicPr>
          <p:cNvPr id="7" name="图片 6">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8384" y="3817249"/>
            <a:ext cx="755842" cy="749746"/>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09442" y="3307355"/>
            <a:ext cx="7117180" cy="2209877"/>
          </a:xfrm>
        </p:spPr>
        <p:txBody>
          <a:bodyPr/>
          <a:lstStyle/>
          <a:p>
            <a:r>
              <a:rPr lang="zh-CN" altLang="en-US" dirty="0"/>
              <a:t>不同评估方式，买家和卖家的收益率不同</a:t>
            </a:r>
            <a:endParaRPr lang="zh-CN" alt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重置成本法</a:t>
            </a:r>
            <a:endParaRPr lang="zh-CN" altLang="en-US" dirty="0"/>
          </a:p>
        </p:txBody>
      </p:sp>
      <p:sp>
        <p:nvSpPr>
          <p:cNvPr id="3" name="内容占位符 2"/>
          <p:cNvSpPr>
            <a:spLocks noGrp="1"/>
          </p:cNvSpPr>
          <p:nvPr>
            <p:ph idx="1"/>
          </p:nvPr>
        </p:nvSpPr>
        <p:spPr/>
        <p:txBody>
          <a:bodyPr/>
          <a:lstStyle/>
          <a:p>
            <a:r>
              <a:rPr lang="zh-CN" altLang="en-US" dirty="0"/>
              <a:t>卖家</a:t>
            </a:r>
            <a:endParaRPr lang="en-US" altLang="zh-CN" dirty="0"/>
          </a:p>
          <a:p>
            <a:r>
              <a:rPr lang="zh-CN" altLang="en-US" dirty="0"/>
              <a:t>七年前投入</a:t>
            </a:r>
            <a:r>
              <a:rPr lang="en-US" altLang="zh-CN" dirty="0"/>
              <a:t>250</a:t>
            </a:r>
            <a:r>
              <a:rPr lang="zh-CN" altLang="en-US" dirty="0"/>
              <a:t>元</a:t>
            </a:r>
            <a:endParaRPr lang="en-US" altLang="zh-CN" dirty="0"/>
          </a:p>
          <a:p>
            <a:r>
              <a:rPr lang="zh-CN" altLang="en-US" dirty="0"/>
              <a:t>现在以</a:t>
            </a:r>
            <a:r>
              <a:rPr lang="en-US" altLang="zh-CN" dirty="0"/>
              <a:t>428.46</a:t>
            </a:r>
            <a:r>
              <a:rPr lang="zh-CN" altLang="en-US" dirty="0"/>
              <a:t>元卖出</a:t>
            </a:r>
            <a:endParaRPr lang="en-US" altLang="zh-CN" dirty="0"/>
          </a:p>
          <a:p>
            <a:r>
              <a:rPr lang="zh-CN" altLang="en-US" dirty="0"/>
              <a:t>回报率：</a:t>
            </a:r>
            <a:r>
              <a:rPr lang="en-US" altLang="zh-CN" dirty="0"/>
              <a:t>8%</a:t>
            </a:r>
            <a:endParaRPr lang="zh-CN" altLang="en-US" dirty="0"/>
          </a:p>
          <a:p>
            <a:endParaRPr lang="zh-CN" altLang="en-US" dirty="0"/>
          </a:p>
        </p:txBody>
      </p:sp>
      <p:sp>
        <p:nvSpPr>
          <p:cNvPr id="4" name="内容占位符 3"/>
          <p:cNvSpPr>
            <a:spLocks noGrp="1"/>
          </p:cNvSpPr>
          <p:nvPr>
            <p:ph idx="14"/>
          </p:nvPr>
        </p:nvSpPr>
        <p:spPr/>
        <p:txBody>
          <a:bodyPr/>
          <a:lstStyle/>
          <a:p>
            <a:r>
              <a:rPr lang="zh-CN" altLang="en-US" dirty="0"/>
              <a:t>买主</a:t>
            </a:r>
            <a:endParaRPr lang="en-US" altLang="zh-CN" dirty="0"/>
          </a:p>
          <a:p>
            <a:r>
              <a:rPr lang="zh-CN" altLang="en-US" dirty="0"/>
              <a:t>现在投入</a:t>
            </a:r>
            <a:r>
              <a:rPr lang="en-US" altLang="zh-CN" dirty="0"/>
              <a:t>428.46</a:t>
            </a:r>
            <a:r>
              <a:rPr lang="zh-CN" altLang="en-US" dirty="0"/>
              <a:t>元</a:t>
            </a:r>
            <a:endParaRPr lang="en-US" altLang="zh-CN" dirty="0"/>
          </a:p>
          <a:p>
            <a:r>
              <a:rPr lang="en-US" altLang="zh-CN" dirty="0"/>
              <a:t>23</a:t>
            </a:r>
            <a:r>
              <a:rPr lang="zh-CN" altLang="en-US" dirty="0"/>
              <a:t>年后得到</a:t>
            </a:r>
            <a:r>
              <a:rPr lang="en-US" altLang="zh-CN" dirty="0"/>
              <a:t>6307.6</a:t>
            </a:r>
            <a:r>
              <a:rPr lang="zh-CN" altLang="en-US" dirty="0"/>
              <a:t>元（预期收入）</a:t>
            </a:r>
            <a:endParaRPr lang="en-US" altLang="zh-CN" dirty="0"/>
          </a:p>
          <a:p>
            <a:r>
              <a:rPr lang="zh-CN" altLang="en-US" dirty="0"/>
              <a:t>回报率：</a:t>
            </a:r>
            <a:r>
              <a:rPr lang="en-US" altLang="zh-CN" dirty="0"/>
              <a:t>12.4%</a:t>
            </a:r>
            <a:endParaRPr lang="zh-CN" altLang="en-US" dirty="0"/>
          </a:p>
        </p:txBody>
      </p:sp>
      <p:pic>
        <p:nvPicPr>
          <p:cNvPr id="5" name="图片 4">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864" y="332656"/>
            <a:ext cx="749746" cy="749746"/>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收入法</a:t>
            </a:r>
            <a:endParaRPr lang="zh-CN" altLang="en-US" dirty="0"/>
          </a:p>
        </p:txBody>
      </p:sp>
      <p:sp>
        <p:nvSpPr>
          <p:cNvPr id="3" name="内容占位符 2"/>
          <p:cNvSpPr>
            <a:spLocks noGrp="1"/>
          </p:cNvSpPr>
          <p:nvPr>
            <p:ph idx="1"/>
          </p:nvPr>
        </p:nvSpPr>
        <p:spPr/>
        <p:txBody>
          <a:bodyPr/>
          <a:lstStyle/>
          <a:p>
            <a:r>
              <a:rPr lang="zh-CN" altLang="en-US" dirty="0"/>
              <a:t>卖家</a:t>
            </a:r>
            <a:endParaRPr lang="en-US" altLang="zh-CN" dirty="0"/>
          </a:p>
          <a:p>
            <a:r>
              <a:rPr lang="zh-CN" altLang="en-US" dirty="0"/>
              <a:t>七年前投入</a:t>
            </a:r>
            <a:r>
              <a:rPr lang="en-US" altLang="zh-CN" dirty="0"/>
              <a:t>250</a:t>
            </a:r>
            <a:r>
              <a:rPr lang="zh-CN" altLang="en-US" dirty="0"/>
              <a:t>元</a:t>
            </a:r>
            <a:endParaRPr lang="en-US" altLang="zh-CN" dirty="0"/>
          </a:p>
          <a:p>
            <a:r>
              <a:rPr lang="zh-CN" altLang="en-US" dirty="0"/>
              <a:t>现在以</a:t>
            </a:r>
            <a:r>
              <a:rPr lang="en-US" altLang="zh-CN" dirty="0"/>
              <a:t>1074.30</a:t>
            </a:r>
            <a:r>
              <a:rPr lang="zh-CN" altLang="en-US" dirty="0"/>
              <a:t>元卖出</a:t>
            </a:r>
            <a:endParaRPr lang="en-US" altLang="zh-CN" dirty="0"/>
          </a:p>
          <a:p>
            <a:r>
              <a:rPr lang="zh-CN" altLang="en-US" dirty="0"/>
              <a:t>回报率</a:t>
            </a:r>
            <a:endParaRPr lang="en-US" altLang="zh-CN" dirty="0"/>
          </a:p>
          <a:p>
            <a:r>
              <a:rPr lang="en-US" altLang="zh-CN" dirty="0"/>
              <a:t>23.16%</a:t>
            </a:r>
            <a:endParaRPr lang="zh-CN" altLang="en-US" dirty="0"/>
          </a:p>
        </p:txBody>
      </p:sp>
      <p:sp>
        <p:nvSpPr>
          <p:cNvPr id="4" name="内容占位符 3"/>
          <p:cNvSpPr>
            <a:spLocks noGrp="1"/>
          </p:cNvSpPr>
          <p:nvPr>
            <p:ph idx="14"/>
          </p:nvPr>
        </p:nvSpPr>
        <p:spPr/>
        <p:txBody>
          <a:bodyPr/>
          <a:lstStyle/>
          <a:p>
            <a:r>
              <a:rPr lang="zh-CN" altLang="en-US" dirty="0"/>
              <a:t>买主</a:t>
            </a:r>
            <a:endParaRPr lang="en-US" altLang="zh-CN" dirty="0"/>
          </a:p>
          <a:p>
            <a:r>
              <a:rPr lang="zh-CN" altLang="en-US" dirty="0"/>
              <a:t>现在以</a:t>
            </a:r>
            <a:r>
              <a:rPr lang="en-US" altLang="zh-CN" dirty="0"/>
              <a:t>1074.30</a:t>
            </a:r>
            <a:r>
              <a:rPr lang="zh-CN" altLang="en-US" dirty="0"/>
              <a:t>元买入</a:t>
            </a:r>
            <a:endParaRPr lang="en-US" altLang="zh-CN" dirty="0"/>
          </a:p>
          <a:p>
            <a:r>
              <a:rPr lang="en-US" altLang="zh-CN" dirty="0"/>
              <a:t>23</a:t>
            </a:r>
            <a:r>
              <a:rPr lang="zh-CN" altLang="en-US" dirty="0"/>
              <a:t>年后收益</a:t>
            </a:r>
            <a:r>
              <a:rPr lang="en-US" altLang="zh-CN" dirty="0"/>
              <a:t>6307.6</a:t>
            </a:r>
            <a:r>
              <a:rPr lang="zh-CN" altLang="en-US" dirty="0"/>
              <a:t>元（预期收入）</a:t>
            </a:r>
            <a:endParaRPr lang="en-US" altLang="zh-CN" dirty="0"/>
          </a:p>
          <a:p>
            <a:r>
              <a:rPr lang="zh-CN" altLang="en-US" dirty="0"/>
              <a:t>回报率：</a:t>
            </a:r>
            <a:r>
              <a:rPr lang="en-US" altLang="zh-CN" dirty="0"/>
              <a:t>8%</a:t>
            </a:r>
            <a:endParaRPr lang="zh-CN" altLang="en-US" dirty="0"/>
          </a:p>
        </p:txBody>
      </p:sp>
      <p:pic>
        <p:nvPicPr>
          <p:cNvPr id="5" name="图片 4">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332656"/>
            <a:ext cx="755842" cy="749746"/>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用内部收益率估价</a:t>
            </a:r>
            <a:endParaRPr lang="zh-CN" altLang="en-US" dirty="0"/>
          </a:p>
        </p:txBody>
      </p:sp>
      <p:sp>
        <p:nvSpPr>
          <p:cNvPr id="3" name="副标题 2"/>
          <p:cNvSpPr>
            <a:spLocks noGrp="1"/>
          </p:cNvSpPr>
          <p:nvPr>
            <p:ph type="subTitle" idx="1"/>
          </p:nvPr>
        </p:nvSpPr>
        <p:spPr/>
        <p:txBody>
          <a:bodyPr/>
          <a:lstStyle/>
          <a:p>
            <a:r>
              <a:rPr lang="zh-CN" altLang="en-US" dirty="0"/>
              <a:t>得到双方都能接受的中间值</a:t>
            </a:r>
            <a:endParaRPr lang="zh-CN" alt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初始投入</a:t>
            </a:r>
            <a:r>
              <a:rPr lang="en-US" altLang="zh-CN" dirty="0"/>
              <a:t>250</a:t>
            </a:r>
            <a:r>
              <a:rPr lang="zh-CN" altLang="en-US" dirty="0"/>
              <a:t>元</a:t>
            </a:r>
            <a:endParaRPr lang="en-US" altLang="zh-CN" dirty="0"/>
          </a:p>
          <a:p>
            <a:r>
              <a:rPr lang="en-US" altLang="zh-CN" dirty="0"/>
              <a:t>30</a:t>
            </a:r>
            <a:r>
              <a:rPr lang="zh-CN" altLang="en-US" dirty="0"/>
              <a:t>年后回报</a:t>
            </a:r>
            <a:r>
              <a:rPr lang="en-US" altLang="zh-CN" dirty="0"/>
              <a:t>6307.6</a:t>
            </a:r>
            <a:r>
              <a:rPr lang="zh-CN" altLang="en-US" dirty="0"/>
              <a:t>元</a:t>
            </a:r>
            <a:endParaRPr lang="en-US" altLang="zh-CN" dirty="0"/>
          </a:p>
          <a:p>
            <a:r>
              <a:rPr lang="en-US" altLang="zh-CN" dirty="0"/>
              <a:t>IRR=</a:t>
            </a:r>
            <a:endParaRPr lang="en-US" altLang="zh-CN" dirty="0"/>
          </a:p>
          <a:p>
            <a:r>
              <a:rPr lang="en-US" altLang="zh-CN" dirty="0"/>
              <a:t>=11.36%</a:t>
            </a:r>
            <a:endParaRPr lang="zh-CN" altLang="en-US" dirty="0"/>
          </a:p>
        </p:txBody>
      </p:sp>
      <p:sp>
        <p:nvSpPr>
          <p:cNvPr id="3" name="标题 2"/>
          <p:cNvSpPr>
            <a:spLocks noGrp="1"/>
          </p:cNvSpPr>
          <p:nvPr>
            <p:ph type="ctrTitle"/>
          </p:nvPr>
        </p:nvSpPr>
        <p:spPr/>
        <p:txBody>
          <a:bodyPr/>
          <a:lstStyle/>
          <a:p>
            <a:r>
              <a:rPr lang="zh-CN" altLang="en-US" dirty="0"/>
              <a:t>如何用内部收益率估价？</a:t>
            </a:r>
            <a:endParaRPr lang="zh-CN" altLang="en-US" dirty="0"/>
          </a:p>
        </p:txBody>
      </p:sp>
      <p:graphicFrame>
        <p:nvGraphicFramePr>
          <p:cNvPr id="4" name="对象 3"/>
          <p:cNvGraphicFramePr>
            <a:graphicFrameLocks noChangeAspect="1"/>
          </p:cNvGraphicFramePr>
          <p:nvPr/>
        </p:nvGraphicFramePr>
        <p:xfrm>
          <a:off x="2771800" y="3505318"/>
          <a:ext cx="2088232" cy="1044116"/>
        </p:xfrm>
        <a:graphic>
          <a:graphicData uri="http://schemas.openxmlformats.org/presentationml/2006/ole">
            <mc:AlternateContent xmlns:mc="http://schemas.openxmlformats.org/markup-compatibility/2006">
              <mc:Choice xmlns:v="urn:schemas-microsoft-com:vml" Requires="v">
                <p:oleObj spid="_x0000_s44035" name="公式" r:id="rId1" imgW="21945600" imgH="10972800" progId="Equation.3">
                  <p:embed/>
                </p:oleObj>
              </mc:Choice>
              <mc:Fallback>
                <p:oleObj name="公式" r:id="rId1" imgW="21945600" imgH="10972800" progId="Equation.3">
                  <p:embed/>
                  <p:pic>
                    <p:nvPicPr>
                      <p:cNvPr id="0" name="对象 3"/>
                      <p:cNvPicPr/>
                      <p:nvPr/>
                    </p:nvPicPr>
                    <p:blipFill>
                      <a:blip r:embed="rId2"/>
                      <a:stretch>
                        <a:fillRect/>
                      </a:stretch>
                    </p:blipFill>
                    <p:spPr>
                      <a:xfrm>
                        <a:off x="2771800" y="3505318"/>
                        <a:ext cx="2088232" cy="1044116"/>
                      </a:xfrm>
                      <a:prstGeom prst="rect">
                        <a:avLst/>
                      </a:prstGeom>
                    </p:spPr>
                  </p:pic>
                </p:oleObj>
              </mc:Fallback>
            </mc:AlternateContent>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得到一致的估价值</a:t>
            </a:r>
            <a:endParaRPr lang="zh-CN" altLang="en-US" dirty="0"/>
          </a:p>
        </p:txBody>
      </p:sp>
      <p:sp>
        <p:nvSpPr>
          <p:cNvPr id="3" name="内容占位符 2"/>
          <p:cNvSpPr>
            <a:spLocks noGrp="1"/>
          </p:cNvSpPr>
          <p:nvPr>
            <p:ph idx="1"/>
          </p:nvPr>
        </p:nvSpPr>
        <p:spPr/>
        <p:txBody>
          <a:bodyPr/>
          <a:lstStyle/>
          <a:p>
            <a:r>
              <a:rPr lang="zh-CN" altLang="en-US" dirty="0"/>
              <a:t>重置成本法</a:t>
            </a:r>
            <a:endParaRPr lang="en-US" altLang="zh-CN" dirty="0"/>
          </a:p>
          <a:p>
            <a:r>
              <a:rPr lang="en-US" altLang="zh-CN" dirty="0"/>
              <a:t>= 250* (1+11.36%)^7</a:t>
            </a:r>
            <a:endParaRPr lang="en-US" altLang="zh-CN" dirty="0"/>
          </a:p>
          <a:p>
            <a:r>
              <a:rPr lang="en-US" altLang="zh-CN" dirty="0"/>
              <a:t>=530.95</a:t>
            </a:r>
            <a:r>
              <a:rPr lang="zh-CN" altLang="en-US" dirty="0"/>
              <a:t>元</a:t>
            </a:r>
            <a:endParaRPr lang="zh-CN" altLang="en-US" dirty="0"/>
          </a:p>
        </p:txBody>
      </p:sp>
      <p:sp>
        <p:nvSpPr>
          <p:cNvPr id="4" name="内容占位符 3"/>
          <p:cNvSpPr>
            <a:spLocks noGrp="1"/>
          </p:cNvSpPr>
          <p:nvPr>
            <p:ph idx="14"/>
          </p:nvPr>
        </p:nvSpPr>
        <p:spPr/>
        <p:txBody>
          <a:bodyPr/>
          <a:lstStyle/>
          <a:p>
            <a:r>
              <a:rPr lang="zh-CN" altLang="en-US" dirty="0"/>
              <a:t>收入法</a:t>
            </a:r>
            <a:endParaRPr lang="en-US" altLang="zh-CN" dirty="0"/>
          </a:p>
          <a:p>
            <a:r>
              <a:rPr lang="en-US" altLang="zh-CN" dirty="0"/>
              <a:t>= 6307.6/ (1+11.36%)^23</a:t>
            </a:r>
            <a:endParaRPr lang="en-US" altLang="zh-CN" dirty="0"/>
          </a:p>
          <a:p>
            <a:r>
              <a:rPr lang="en-US" altLang="zh-CN" dirty="0"/>
              <a:t>= 530.95</a:t>
            </a:r>
            <a:r>
              <a:rPr lang="zh-CN" altLang="en-US" dirty="0"/>
              <a:t>元</a:t>
            </a:r>
            <a:endParaRPr lang="en-US" altLang="zh-CN" dirty="0"/>
          </a:p>
          <a:p>
            <a:endParaRPr lang="zh-CN" alt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Interest Rate, Inflation, Risk, </a:t>
            </a:r>
            <a:br>
              <a:rPr lang="en-US" altLang="zh-CN" dirty="0"/>
            </a:br>
            <a:r>
              <a:rPr lang="en-US" altLang="zh-CN" dirty="0"/>
              <a:t>and Uncertainty </a:t>
            </a:r>
            <a:br>
              <a:rPr lang="en-US" altLang="zh-CN" dirty="0"/>
            </a:br>
            <a:endParaRPr lang="zh-CN" altLang="en-US" dirty="0"/>
          </a:p>
        </p:txBody>
      </p:sp>
      <p:sp>
        <p:nvSpPr>
          <p:cNvPr id="3" name="副标题 2"/>
          <p:cNvSpPr>
            <a:spLocks noGrp="1"/>
          </p:cNvSpPr>
          <p:nvPr>
            <p:ph type="subTitle" idx="1"/>
          </p:nvPr>
        </p:nvSpPr>
        <p:spPr/>
        <p:txBody>
          <a:bodyPr/>
          <a:lstStyle/>
          <a:p>
            <a:r>
              <a:rPr lang="zh-CN" altLang="en-US" dirty="0"/>
              <a:t>利率、通货膨胀、风险和不确定性</a:t>
            </a:r>
            <a:endParaRPr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social discount rate</a:t>
            </a:r>
            <a:br>
              <a:rPr lang="en-US" altLang="zh-CN" dirty="0"/>
            </a:br>
            <a:r>
              <a:rPr lang="zh-CN" altLang="en-US" dirty="0"/>
              <a:t>社会贴现率</a:t>
            </a:r>
            <a:endParaRPr lang="zh-CN" altLang="en-US" dirty="0"/>
          </a:p>
        </p:txBody>
      </p:sp>
      <p:sp>
        <p:nvSpPr>
          <p:cNvPr id="5" name="内容占位符 4"/>
          <p:cNvSpPr>
            <a:spLocks noGrp="1"/>
          </p:cNvSpPr>
          <p:nvPr>
            <p:ph sz="half" idx="1"/>
          </p:nvPr>
        </p:nvSpPr>
        <p:spPr/>
        <p:txBody>
          <a:bodyPr>
            <a:normAutofit fontScale="70000" lnSpcReduction="20000"/>
          </a:bodyPr>
          <a:lstStyle/>
          <a:p>
            <a:r>
              <a:rPr lang="en-US" altLang="zh-CN" dirty="0"/>
              <a:t>Social discount rate (SDR) is the discount rate used in computing the value of funds spent on social projects. </a:t>
            </a:r>
            <a:endParaRPr lang="en-US" altLang="zh-CN" dirty="0"/>
          </a:p>
          <a:p>
            <a:r>
              <a:rPr lang="en-US" altLang="zh-CN" dirty="0"/>
              <a:t>Determining this rate is not always easy and can be the subject of discrepancies in the true net benefit to certain projects, plans and policies.</a:t>
            </a:r>
            <a:endParaRPr lang="zh-CN" altLang="en-US" dirty="0"/>
          </a:p>
        </p:txBody>
      </p:sp>
      <p:sp>
        <p:nvSpPr>
          <p:cNvPr id="6" name="内容占位符 5"/>
          <p:cNvSpPr>
            <a:spLocks noGrp="1"/>
          </p:cNvSpPr>
          <p:nvPr>
            <p:ph sz="half" idx="2"/>
          </p:nvPr>
        </p:nvSpPr>
        <p:spPr>
          <a:xfrm>
            <a:off x="4499992" y="1484784"/>
            <a:ext cx="4110608" cy="4669979"/>
          </a:xfrm>
        </p:spPr>
        <p:txBody>
          <a:bodyPr>
            <a:noAutofit/>
          </a:bodyPr>
          <a:lstStyle/>
          <a:p>
            <a:r>
              <a:rPr lang="zh-CN" altLang="en-US" sz="2000" dirty="0"/>
              <a:t>一般来说，考虑到风险、税收、通货膨胀等各种因素，以及社会效益，社会偏好率</a:t>
            </a:r>
            <a:r>
              <a:rPr lang="en-US" altLang="zh-CN" sz="2000" dirty="0">
                <a:solidFill>
                  <a:srgbClr val="FF0000"/>
                </a:solidFill>
              </a:rPr>
              <a:t>&lt;</a:t>
            </a:r>
            <a:r>
              <a:rPr lang="zh-CN" altLang="en-US" sz="2000" dirty="0">
                <a:solidFill>
                  <a:srgbClr val="0070C0"/>
                </a:solidFill>
              </a:rPr>
              <a:t>由相互独立的储蓄与投资者相互作用形成的市场利率</a:t>
            </a:r>
            <a:endParaRPr lang="en-US" altLang="zh-CN" sz="2000" dirty="0">
              <a:solidFill>
                <a:srgbClr val="0070C0"/>
              </a:solidFill>
            </a:endParaRPr>
          </a:p>
          <a:p>
            <a:r>
              <a:rPr lang="zh-CN" altLang="en-US" sz="2000" dirty="0">
                <a:solidFill>
                  <a:schemeClr val="accent4">
                    <a:lumMod val="75000"/>
                  </a:schemeClr>
                </a:solidFill>
              </a:rPr>
              <a:t>一些人认为，对森林这种长期、跨代的公共投资项目，应该采用零利率甚至时间递减利率</a:t>
            </a:r>
            <a:endParaRPr lang="en-US" altLang="zh-CN" sz="2000" dirty="0">
              <a:solidFill>
                <a:schemeClr val="accent4">
                  <a:lumMod val="75000"/>
                </a:schemeClr>
              </a:solidFill>
            </a:endParaRPr>
          </a:p>
          <a:p>
            <a:r>
              <a:rPr lang="zh-CN" altLang="en-US" sz="2000" dirty="0">
                <a:solidFill>
                  <a:schemeClr val="accent4">
                    <a:lumMod val="75000"/>
                  </a:schemeClr>
                </a:solidFill>
              </a:rPr>
              <a:t>美国政府采用</a:t>
            </a:r>
            <a:r>
              <a:rPr lang="en-US" altLang="zh-CN" sz="2000" dirty="0">
                <a:solidFill>
                  <a:schemeClr val="accent4">
                    <a:lumMod val="75000"/>
                  </a:schemeClr>
                </a:solidFill>
              </a:rPr>
              <a:t>4%</a:t>
            </a:r>
            <a:r>
              <a:rPr lang="zh-CN" altLang="en-US" sz="2000" dirty="0">
                <a:solidFill>
                  <a:schemeClr val="accent4">
                    <a:lumMod val="75000"/>
                  </a:schemeClr>
                </a:solidFill>
              </a:rPr>
              <a:t>的实际利率评价林业投资项目</a:t>
            </a:r>
            <a:endParaRPr lang="zh-CN" altLang="en-US" sz="2000" dirty="0">
              <a:solidFill>
                <a:schemeClr val="accent4">
                  <a:lumMod val="75000"/>
                </a:schemeClr>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中国林业基准贴现率选择</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商品林建设的贷款年利率：</a:t>
            </a:r>
            <a:r>
              <a:rPr lang="en-US" altLang="zh-CN" dirty="0"/>
              <a:t>4%-5%</a:t>
            </a:r>
            <a:endParaRPr lang="en-US" altLang="zh-CN" dirty="0"/>
          </a:p>
          <a:p>
            <a:pPr lvl="1"/>
            <a:r>
              <a:rPr lang="zh-CN" altLang="en-US" dirty="0"/>
              <a:t>反映资金的成本</a:t>
            </a:r>
            <a:endParaRPr lang="en-US" altLang="zh-CN" dirty="0"/>
          </a:p>
          <a:p>
            <a:r>
              <a:rPr lang="zh-CN" altLang="en-US" dirty="0"/>
              <a:t>中国商品林业的平均收益水平：</a:t>
            </a:r>
            <a:r>
              <a:rPr lang="en-US" altLang="zh-CN" dirty="0"/>
              <a:t>2%-3%</a:t>
            </a:r>
            <a:endParaRPr lang="en-US" altLang="zh-CN" dirty="0"/>
          </a:p>
          <a:p>
            <a:r>
              <a:rPr lang="zh-CN" altLang="en-US" dirty="0"/>
              <a:t>加上</a:t>
            </a:r>
            <a:r>
              <a:rPr lang="en-US" altLang="zh-CN" dirty="0"/>
              <a:t>1.5%</a:t>
            </a:r>
            <a:r>
              <a:rPr lang="zh-CN" altLang="en-US" dirty="0"/>
              <a:t>的风险系数</a:t>
            </a:r>
            <a:endParaRPr lang="en-US" altLang="zh-CN" dirty="0"/>
          </a:p>
          <a:p>
            <a:r>
              <a:rPr lang="zh-CN" altLang="en-US" dirty="0"/>
              <a:t>一般认为林业行业的基准贴现率选择</a:t>
            </a:r>
            <a:r>
              <a:rPr lang="en-US" altLang="zh-CN" dirty="0"/>
              <a:t>5%</a:t>
            </a:r>
            <a:r>
              <a:rPr lang="zh-CN" altLang="en-US" dirty="0"/>
              <a:t>的年利率可能比较合适</a:t>
            </a:r>
            <a:endParaRPr lang="en-US" altLang="zh-CN" dirty="0"/>
          </a:p>
          <a:p>
            <a:endParaRPr lang="zh-CN"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en-US"/>
              <a:t>通货膨胀</a:t>
            </a:r>
            <a:br>
              <a:rPr kumimoji="1" lang="en-US" altLang="en-US"/>
            </a:br>
            <a:r>
              <a:rPr kumimoji="1" lang="en-US" altLang="en-US"/>
              <a:t>inflation</a:t>
            </a:r>
            <a:r>
              <a:rPr kumimoji="1" lang="en-US" altLang="en-US"/>
              <a:t> </a:t>
            </a:r>
            <a:endParaRPr kumimoji="1" lang="zh-CN" altLang="en-US"/>
          </a:p>
        </p:txBody>
      </p:sp>
      <p:sp>
        <p:nvSpPr>
          <p:cNvPr id="4" name="文本占位符 3"/>
          <p:cNvSpPr>
            <a:spLocks noGrp="1"/>
          </p:cNvSpPr>
          <p:nvPr>
            <p:ph type="body" idx="1"/>
          </p:nvPr>
        </p:nvSpPr>
        <p:spPr/>
        <p:txBody>
          <a:bodyPr/>
          <a:lstStyle/>
          <a:p>
            <a:endParaRPr kumimoji="1" lang="zh-CN" alt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如何处理通货膨胀的影响？</a:t>
            </a:r>
            <a:endParaRPr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580" r="-580" b="20088"/>
          <a:stretch>
            <a:fillRect/>
          </a:stretch>
        </p:blipFill>
        <p:spPr bwMode="auto">
          <a:xfrm>
            <a:off x="52387" y="-12271"/>
            <a:ext cx="9091613" cy="6858000"/>
          </a:xfrm>
          <a:prstGeom prst="rect">
            <a:avLst/>
          </a:prstGeom>
          <a:noFill/>
          <a:ln>
            <a:noFill/>
          </a:ln>
          <a:effectLst>
            <a:outerShdw dist="35921" dir="2700000" algn="ctr" rotWithShape="0">
              <a:schemeClr val="bg2"/>
            </a:outerShdw>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0" y="620688"/>
            <a:ext cx="10610850" cy="5467350"/>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5496" y="548680"/>
            <a:ext cx="11344275" cy="5172075"/>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如何将当年价转换为不变价？</a:t>
            </a:r>
            <a:endParaRPr lang="zh-CN" altLang="en-US" dirty="0"/>
          </a:p>
        </p:txBody>
      </p:sp>
      <p:sp>
        <p:nvSpPr>
          <p:cNvPr id="4" name="内容占位符 2"/>
          <p:cNvSpPr txBox="1"/>
          <p:nvPr/>
        </p:nvSpPr>
        <p:spPr>
          <a:xfrm>
            <a:off x="5220072" y="1700808"/>
            <a:ext cx="3872516" cy="4680000"/>
          </a:xfrm>
          <a:prstGeom prst="rect">
            <a:avLst/>
          </a:prstGeom>
          <a:gradFill>
            <a:gsLst>
              <a:gs pos="0">
                <a:schemeClr val="accent3">
                  <a:lumMod val="60000"/>
                  <a:lumOff val="40000"/>
                </a:schemeClr>
              </a:gs>
              <a:gs pos="50000">
                <a:schemeClr val="accent3">
                  <a:lumMod val="40000"/>
                  <a:lumOff val="60000"/>
                </a:schemeClr>
              </a:gs>
              <a:gs pos="100000">
                <a:schemeClr val="bg1"/>
              </a:gs>
            </a:gsLst>
            <a:lin ang="8100000" scaled="1"/>
          </a:gradFill>
          <a:effectLst>
            <a:outerShdw blurRad="50800" dist="38100" dir="2700000" algn="tl"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zh-CN" altLang="en-US" dirty="0"/>
          </a:p>
        </p:txBody>
      </p:sp>
      <p:sp>
        <p:nvSpPr>
          <p:cNvPr id="6" name="内容占位符 2"/>
          <p:cNvSpPr txBox="1"/>
          <p:nvPr/>
        </p:nvSpPr>
        <p:spPr>
          <a:xfrm>
            <a:off x="611560" y="1700808"/>
            <a:ext cx="8532440" cy="5157192"/>
          </a:xfrm>
          <a:prstGeom prst="rect">
            <a:avLst/>
          </a:prstGeom>
          <a:gradFill flip="none" rotWithShape="1">
            <a:gsLst>
              <a:gs pos="0">
                <a:schemeClr val="accent3">
                  <a:lumMod val="60000"/>
                  <a:lumOff val="40000"/>
                </a:schemeClr>
              </a:gs>
              <a:gs pos="50000">
                <a:schemeClr val="accent3">
                  <a:lumMod val="40000"/>
                  <a:lumOff val="60000"/>
                </a:schemeClr>
              </a:gs>
              <a:gs pos="100000">
                <a:schemeClr val="bg1"/>
              </a:gs>
            </a:gsLst>
            <a:lin ang="18900000" scaled="1"/>
            <a:tileRect/>
          </a:gradFill>
          <a:effectLst>
            <a:innerShdw blurRad="63500" dist="50800" dir="10800000">
              <a:prstClr val="black">
                <a:alpha val="50000"/>
              </a:prstClr>
            </a:innerShdw>
          </a:effectLst>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600" dirty="0"/>
              <a:t>第</a:t>
            </a:r>
            <a:r>
              <a:rPr lang="en-US" altLang="zh-CN" sz="3600" dirty="0"/>
              <a:t>n</a:t>
            </a:r>
            <a:r>
              <a:rPr lang="zh-CN" altLang="en-US" sz="3600" dirty="0"/>
              <a:t>年名义价值</a:t>
            </a:r>
            <a:r>
              <a:rPr lang="en-US" altLang="zh-CN" sz="3600" dirty="0"/>
              <a:t>/</a:t>
            </a:r>
            <a:r>
              <a:rPr lang="zh-CN" altLang="en-US" sz="3600" dirty="0"/>
              <a:t>第</a:t>
            </a:r>
            <a:r>
              <a:rPr lang="en-US" altLang="zh-CN" sz="3600" dirty="0"/>
              <a:t>n</a:t>
            </a:r>
            <a:r>
              <a:rPr lang="zh-CN" altLang="en-US" sz="3600" dirty="0"/>
              <a:t>年物价指数（定基）</a:t>
            </a:r>
            <a:endParaRPr lang="en-US" altLang="zh-CN" sz="3600" dirty="0"/>
          </a:p>
          <a:p>
            <a:r>
              <a:rPr lang="en-US" altLang="zh-CN" sz="3600" dirty="0"/>
              <a:t>=</a:t>
            </a:r>
            <a:r>
              <a:rPr lang="zh-CN" altLang="en-US" sz="3600" dirty="0"/>
              <a:t>真实价格（可比价格，不变价格）</a:t>
            </a:r>
            <a:endParaRPr lang="en-US" altLang="zh-CN" sz="3600" dirty="0"/>
          </a:p>
          <a:p>
            <a:pPr lvl="1"/>
            <a:r>
              <a:rPr lang="zh-CN" altLang="en-US" dirty="0"/>
              <a:t>环比指数连乘＝定基指数</a:t>
            </a:r>
            <a:endParaRPr lang="en-US" altLang="zh-CN" dirty="0"/>
          </a:p>
          <a:p>
            <a:endParaRPr lang="zh-CN" altLang="en-US" sz="36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9512" y="836712"/>
            <a:ext cx="5353050" cy="5067300"/>
          </a:xfrm>
          <a:prstGeom prst="rect">
            <a:avLst/>
          </a:prstGeom>
        </p:spPr>
      </p:pic>
      <p:sp>
        <p:nvSpPr>
          <p:cNvPr id="3" name="文本框 2"/>
          <p:cNvSpPr txBox="1"/>
          <p:nvPr/>
        </p:nvSpPr>
        <p:spPr>
          <a:xfrm>
            <a:off x="6156176" y="908720"/>
            <a:ext cx="2232248" cy="3970318"/>
          </a:xfrm>
          <a:prstGeom prst="rect">
            <a:avLst/>
          </a:prstGeom>
          <a:noFill/>
        </p:spPr>
        <p:txBody>
          <a:bodyPr wrap="square" rtlCol="0">
            <a:spAutoFit/>
          </a:bodyPr>
          <a:lstStyle/>
          <a:p>
            <a:r>
              <a:rPr lang="en-US" altLang="zh-CN" dirty="0"/>
              <a:t>2012</a:t>
            </a:r>
            <a:r>
              <a:rPr lang="zh-CN" altLang="en-US" dirty="0"/>
              <a:t>年城镇居民家庭人均消费现金支出</a:t>
            </a:r>
            <a:r>
              <a:rPr lang="en-US" altLang="zh-CN" dirty="0"/>
              <a:t>16674.3</a:t>
            </a:r>
            <a:r>
              <a:rPr lang="zh-CN" altLang="en-US" dirty="0"/>
              <a:t>元（名义价格）</a:t>
            </a:r>
            <a:endParaRPr lang="en-US" altLang="zh-CN" dirty="0"/>
          </a:p>
          <a:p>
            <a:endParaRPr lang="en-US" altLang="zh-CN" dirty="0"/>
          </a:p>
          <a:p>
            <a:r>
              <a:rPr lang="zh-CN" altLang="en-US" dirty="0"/>
              <a:t>这相当于</a:t>
            </a:r>
            <a:r>
              <a:rPr lang="en-US" altLang="zh-CN" dirty="0"/>
              <a:t>1978</a:t>
            </a:r>
            <a:r>
              <a:rPr lang="zh-CN" altLang="en-US" dirty="0"/>
              <a:t>年的多少钱？</a:t>
            </a:r>
            <a:r>
              <a:rPr lang="en-US" altLang="zh-CN" dirty="0"/>
              <a:t>(1978</a:t>
            </a:r>
            <a:r>
              <a:rPr lang="zh-CN" altLang="en-US" dirty="0"/>
              <a:t>年不变价）</a:t>
            </a:r>
            <a:endParaRPr lang="en-US" altLang="zh-CN" dirty="0"/>
          </a:p>
          <a:p>
            <a:endParaRPr lang="en-US" altLang="zh-CN" dirty="0"/>
          </a:p>
          <a:p>
            <a:endParaRPr lang="en-US" altLang="zh-CN" dirty="0"/>
          </a:p>
          <a:p>
            <a:endParaRPr lang="en-US" altLang="zh-CN" dirty="0"/>
          </a:p>
          <a:p>
            <a:r>
              <a:rPr lang="zh-CN" altLang="en-US" dirty="0"/>
              <a:t>相当于</a:t>
            </a:r>
            <a:r>
              <a:rPr lang="en-US" altLang="zh-CN" dirty="0"/>
              <a:t>2014</a:t>
            </a:r>
            <a:r>
              <a:rPr lang="zh-CN" altLang="en-US" dirty="0"/>
              <a:t>年的多少钱？（</a:t>
            </a:r>
            <a:r>
              <a:rPr lang="en-US" altLang="zh-CN" dirty="0"/>
              <a:t>2014</a:t>
            </a:r>
            <a:r>
              <a:rPr lang="zh-CN" altLang="en-US" dirty="0"/>
              <a:t>年不变价）</a:t>
            </a:r>
            <a:endParaRPr lang="zh-CN" altLang="en-US" dirty="0"/>
          </a:p>
        </p:txBody>
      </p:sp>
      <p:sp>
        <p:nvSpPr>
          <p:cNvPr id="4" name="文本框 3"/>
          <p:cNvSpPr txBox="1"/>
          <p:nvPr/>
        </p:nvSpPr>
        <p:spPr>
          <a:xfrm>
            <a:off x="5679556" y="3370362"/>
            <a:ext cx="3185487" cy="369332"/>
          </a:xfrm>
          <a:prstGeom prst="rect">
            <a:avLst/>
          </a:prstGeom>
          <a:noFill/>
        </p:spPr>
        <p:txBody>
          <a:bodyPr wrap="none" rtlCol="0">
            <a:spAutoFit/>
          </a:bodyPr>
          <a:lstStyle/>
          <a:p>
            <a:r>
              <a:rPr lang="en-US" altLang="zh-CN" dirty="0"/>
              <a:t>16674.3</a:t>
            </a:r>
            <a:r>
              <a:rPr lang="zh-CN" altLang="en-US" dirty="0"/>
              <a:t>*</a:t>
            </a:r>
            <a:r>
              <a:rPr lang="en-US" altLang="zh-CN" dirty="0"/>
              <a:t>100/579.7=2876.4</a:t>
            </a:r>
            <a:r>
              <a:rPr lang="zh-CN" altLang="en-US" dirty="0"/>
              <a:t>元</a:t>
            </a:r>
            <a:endParaRPr lang="zh-CN" altLang="en-US" dirty="0"/>
          </a:p>
        </p:txBody>
      </p:sp>
      <p:sp>
        <p:nvSpPr>
          <p:cNvPr id="5" name="文本框 4"/>
          <p:cNvSpPr txBox="1"/>
          <p:nvPr/>
        </p:nvSpPr>
        <p:spPr>
          <a:xfrm>
            <a:off x="5612264" y="4848545"/>
            <a:ext cx="3531736" cy="369332"/>
          </a:xfrm>
          <a:prstGeom prst="rect">
            <a:avLst/>
          </a:prstGeom>
          <a:noFill/>
        </p:spPr>
        <p:txBody>
          <a:bodyPr wrap="none" rtlCol="0">
            <a:spAutoFit/>
          </a:bodyPr>
          <a:lstStyle/>
          <a:p>
            <a:r>
              <a:rPr lang="en-US" altLang="zh-CN" dirty="0"/>
              <a:t>16674.3</a:t>
            </a:r>
            <a:r>
              <a:rPr lang="zh-CN" altLang="en-US" dirty="0"/>
              <a:t>*</a:t>
            </a:r>
            <a:r>
              <a:rPr lang="en-US" altLang="zh-CN" dirty="0"/>
              <a:t>606.7/579.7=17450.9</a:t>
            </a:r>
            <a:r>
              <a:rPr lang="zh-CN" altLang="en-US" dirty="0"/>
              <a:t>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真实回报率</a:t>
            </a:r>
            <a:endParaRPr lang="zh-CN" altLang="en-US" dirty="0"/>
          </a:p>
        </p:txBody>
      </p:sp>
      <p:sp>
        <p:nvSpPr>
          <p:cNvPr id="3" name="内容占位符 2"/>
          <p:cNvSpPr>
            <a:spLocks noGrp="1"/>
          </p:cNvSpPr>
          <p:nvPr>
            <p:ph idx="1"/>
          </p:nvPr>
        </p:nvSpPr>
        <p:spPr>
          <a:xfrm>
            <a:off x="323528" y="1772816"/>
            <a:ext cx="3240360" cy="4608512"/>
          </a:xfrm>
        </p:spPr>
        <p:txBody>
          <a:bodyPr/>
          <a:lstStyle/>
          <a:p>
            <a:r>
              <a:rPr lang="zh-CN" altLang="en-US" dirty="0"/>
              <a:t>真实回报率</a:t>
            </a:r>
            <a:r>
              <a:rPr lang="en-US" altLang="zh-CN" dirty="0" err="1"/>
              <a:t>i</a:t>
            </a:r>
            <a:r>
              <a:rPr lang="en-US" altLang="zh-CN" baseline="-25000" dirty="0" err="1"/>
              <a:t>r</a:t>
            </a:r>
            <a:endParaRPr lang="en-US" altLang="zh-CN" baseline="-25000" dirty="0"/>
          </a:p>
          <a:p>
            <a:r>
              <a:rPr lang="zh-CN" altLang="en-US" dirty="0"/>
              <a:t>通货膨胀率</a:t>
            </a:r>
            <a:r>
              <a:rPr lang="en-US" altLang="zh-CN" dirty="0"/>
              <a:t>f</a:t>
            </a:r>
            <a:endParaRPr lang="en-US" altLang="zh-CN" dirty="0"/>
          </a:p>
          <a:p>
            <a:r>
              <a:rPr lang="zh-CN" altLang="en-US" dirty="0"/>
              <a:t>名义回报率</a:t>
            </a:r>
            <a:r>
              <a:rPr lang="en-US" altLang="zh-CN" dirty="0"/>
              <a:t>i</a:t>
            </a:r>
            <a:endParaRPr lang="zh-CN" altLang="en-US" dirty="0"/>
          </a:p>
        </p:txBody>
      </p:sp>
      <p:graphicFrame>
        <p:nvGraphicFramePr>
          <p:cNvPr id="4" name="对象 3"/>
          <p:cNvGraphicFramePr>
            <a:graphicFrameLocks noChangeAspect="1"/>
          </p:cNvGraphicFramePr>
          <p:nvPr/>
        </p:nvGraphicFramePr>
        <p:xfrm>
          <a:off x="3563888" y="2276872"/>
          <a:ext cx="5080000" cy="1519237"/>
        </p:xfrm>
        <a:graphic>
          <a:graphicData uri="http://schemas.openxmlformats.org/presentationml/2006/ole">
            <mc:AlternateContent xmlns:mc="http://schemas.openxmlformats.org/markup-compatibility/2006">
              <mc:Choice xmlns:v="urn:schemas-microsoft-com:vml" Requires="v">
                <p:oleObj spid="_x0000_s32775" name="公式" r:id="rId1" imgW="38709600" imgH="11582400" progId="Equation.3">
                  <p:embed/>
                </p:oleObj>
              </mc:Choice>
              <mc:Fallback>
                <p:oleObj name="公式" r:id="rId1" imgW="38709600" imgH="11582400" progId="Equation.3">
                  <p:embed/>
                  <p:pic>
                    <p:nvPicPr>
                      <p:cNvPr id="0" name="对象 3"/>
                      <p:cNvPicPr/>
                      <p:nvPr/>
                    </p:nvPicPr>
                    <p:blipFill>
                      <a:blip r:embed="rId2"/>
                      <a:stretch>
                        <a:fillRect/>
                      </a:stretch>
                    </p:blipFill>
                    <p:spPr>
                      <a:xfrm>
                        <a:off x="3563888" y="2276872"/>
                        <a:ext cx="5080000" cy="1519237"/>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491880" y="4077072"/>
          <a:ext cx="4964186" cy="1800200"/>
        </p:xfrm>
        <a:graphic>
          <a:graphicData uri="http://schemas.openxmlformats.org/presentationml/2006/ole">
            <mc:AlternateContent xmlns:mc="http://schemas.openxmlformats.org/markup-compatibility/2006">
              <mc:Choice xmlns:v="urn:schemas-microsoft-com:vml" Requires="v">
                <p:oleObj spid="_x0000_s32776" name="公式" r:id="rId3" imgW="27736800" imgH="10058400" progId="Equation.3">
                  <p:embed/>
                </p:oleObj>
              </mc:Choice>
              <mc:Fallback>
                <p:oleObj name="公式" r:id="rId3" imgW="27736800" imgH="10058400" progId="Equation.3">
                  <p:embed/>
                  <p:pic>
                    <p:nvPicPr>
                      <p:cNvPr id="0" name="对象 4"/>
                      <p:cNvPicPr/>
                      <p:nvPr/>
                    </p:nvPicPr>
                    <p:blipFill>
                      <a:blip r:embed="rId4"/>
                      <a:stretch>
                        <a:fillRect/>
                      </a:stretch>
                    </p:blipFill>
                    <p:spPr>
                      <a:xfrm>
                        <a:off x="3491880" y="4077072"/>
                        <a:ext cx="4964186" cy="1800200"/>
                      </a:xfrm>
                      <a:prstGeom prst="rect">
                        <a:avLst/>
                      </a:prstGeom>
                    </p:spPr>
                  </p:pic>
                </p:oleObj>
              </mc:Fallback>
            </mc:AlternateContent>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思考</a:t>
            </a:r>
            <a:endParaRPr kumimoji="1" lang="zh-CN" altLang="en-US" dirty="0"/>
          </a:p>
        </p:txBody>
      </p:sp>
      <p:sp>
        <p:nvSpPr>
          <p:cNvPr id="3" name="内容占位符 2"/>
          <p:cNvSpPr>
            <a:spLocks noGrp="1"/>
          </p:cNvSpPr>
          <p:nvPr>
            <p:ph idx="1"/>
          </p:nvPr>
        </p:nvSpPr>
        <p:spPr/>
        <p:txBody>
          <a:bodyPr/>
          <a:lstStyle/>
          <a:p>
            <a:r>
              <a:rPr kumimoji="1" lang="zh-CN" altLang="en-US" dirty="0"/>
              <a:t>投入</a:t>
            </a:r>
            <a:r>
              <a:rPr kumimoji="1" lang="en-US" altLang="zh-CN" dirty="0"/>
              <a:t>100</a:t>
            </a:r>
            <a:r>
              <a:rPr kumimoji="1" lang="zh-CN" altLang="en-US" dirty="0"/>
              <a:t>元，名义回报率</a:t>
            </a:r>
            <a:r>
              <a:rPr kumimoji="1" lang="en-US" altLang="zh-CN" dirty="0"/>
              <a:t>5%</a:t>
            </a:r>
            <a:r>
              <a:rPr kumimoji="1" lang="zh-CN" altLang="en-US" dirty="0"/>
              <a:t>，通货膨胀率</a:t>
            </a:r>
            <a:r>
              <a:rPr kumimoji="1" lang="en-US" altLang="zh-CN" dirty="0"/>
              <a:t>3%</a:t>
            </a:r>
            <a:endParaRPr kumimoji="1" lang="en-US" altLang="zh-CN" dirty="0"/>
          </a:p>
          <a:p>
            <a:r>
              <a:rPr kumimoji="1" lang="en-US" altLang="zh-CN" dirty="0"/>
              <a:t>1</a:t>
            </a:r>
            <a:r>
              <a:rPr kumimoji="1" lang="zh-CN" altLang="en-US" dirty="0"/>
              <a:t>年后获得的真实收益是？</a:t>
            </a:r>
            <a:endParaRPr kumimoji="1" lang="en-US" altLang="zh-CN" dirty="0"/>
          </a:p>
          <a:p>
            <a:r>
              <a:rPr kumimoji="1" lang="zh-CN" altLang="en-US" dirty="0"/>
              <a:t>真实回报率是？</a:t>
            </a:r>
            <a:endParaRPr kumimoji="1" lang="zh-CN" alt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常见错误：利率和价格不匹配</a:t>
            </a:r>
            <a:endParaRPr lang="zh-CN" altLang="en-US" dirty="0"/>
          </a:p>
        </p:txBody>
      </p:sp>
      <p:sp>
        <p:nvSpPr>
          <p:cNvPr id="2" name="内容占位符 1"/>
          <p:cNvSpPr>
            <a:spLocks noGrp="1"/>
          </p:cNvSpPr>
          <p:nvPr>
            <p:ph sz="half" idx="1"/>
          </p:nvPr>
        </p:nvSpPr>
        <p:spPr/>
        <p:txBody>
          <a:bodyPr/>
          <a:lstStyle/>
          <a:p>
            <a:r>
              <a:rPr lang="zh-CN" altLang="en-US" dirty="0"/>
              <a:t>真实（不变）价格</a:t>
            </a:r>
            <a:endParaRPr lang="en-US" altLang="zh-CN" dirty="0"/>
          </a:p>
          <a:p>
            <a:r>
              <a:rPr lang="zh-CN" altLang="en-US" dirty="0"/>
              <a:t>名义价格</a:t>
            </a:r>
            <a:endParaRPr lang="en-US" altLang="zh-CN" dirty="0"/>
          </a:p>
          <a:p>
            <a:r>
              <a:rPr lang="zh-CN" altLang="en-US" dirty="0"/>
              <a:t>实际利率</a:t>
            </a:r>
            <a:endParaRPr lang="en-US" altLang="zh-CN" dirty="0"/>
          </a:p>
          <a:p>
            <a:r>
              <a:rPr lang="zh-CN" altLang="en-US" dirty="0"/>
              <a:t>名义利率</a:t>
            </a:r>
            <a:endParaRPr lang="zh-CN" altLang="en-US" dirty="0"/>
          </a:p>
        </p:txBody>
      </p:sp>
      <p:sp>
        <p:nvSpPr>
          <p:cNvPr id="4" name="内容占位符 3"/>
          <p:cNvSpPr>
            <a:spLocks noGrp="1"/>
          </p:cNvSpPr>
          <p:nvPr>
            <p:ph sz="half" idx="2"/>
          </p:nvPr>
        </p:nvSpPr>
        <p:spPr/>
        <p:txBody>
          <a:bodyPr/>
          <a:lstStyle/>
          <a:p>
            <a:r>
              <a:rPr lang="en-US" altLang="zh-CN" b="1" dirty="0">
                <a:latin typeface="Times New Roman" panose="02020603050405020304" pitchFamily="18" charset="0"/>
                <a:ea typeface="宋体" panose="02010600030101010101" pitchFamily="2" charset="-122"/>
                <a:cs typeface="Times New Roman" panose="02020603050405020304" pitchFamily="18" charset="0"/>
              </a:rPr>
              <a:t>Real price</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lvl="0"/>
            <a:r>
              <a:rPr lang="en-US" altLang="zh-CN" b="1" dirty="0">
                <a:latin typeface="Times New Roman" panose="02020603050405020304" pitchFamily="18" charset="0"/>
                <a:ea typeface="宋体" panose="02010600030101010101" pitchFamily="2" charset="-122"/>
                <a:cs typeface="Times New Roman" panose="02020603050405020304" pitchFamily="18" charset="0"/>
              </a:rPr>
              <a:t>Nominal price</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b="1" dirty="0">
                <a:latin typeface="Times New Roman" panose="02020603050405020304" pitchFamily="18" charset="0"/>
                <a:ea typeface="宋体" panose="02010600030101010101" pitchFamily="2" charset="-122"/>
                <a:cs typeface="Times New Roman" panose="02020603050405020304" pitchFamily="18" charset="0"/>
              </a:rPr>
              <a:t>Real interest rate</a:t>
            </a:r>
            <a:endParaRPr lang="en-CA" altLang="zh-CN" b="1" dirty="0">
              <a:latin typeface="Roman 10cpi"/>
              <a:ea typeface="宋体" panose="02010600030101010101" pitchFamily="2" charset="-122"/>
              <a:cs typeface="Times New Roman" panose="02020603050405020304" pitchFamily="18" charset="0"/>
            </a:endParaRPr>
          </a:p>
          <a:p>
            <a:r>
              <a:rPr lang="en-US" altLang="zh-CN" b="1" dirty="0">
                <a:latin typeface="Times New Roman" panose="02020603050405020304" pitchFamily="18" charset="0"/>
                <a:ea typeface="宋体" panose="02010600030101010101" pitchFamily="2" charset="-122"/>
                <a:cs typeface="Times New Roman" panose="02020603050405020304" pitchFamily="18" charset="0"/>
              </a:rPr>
              <a:t>Nominal interest rate</a:t>
            </a:r>
            <a:endParaRPr lang="zh-CN" alt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案例</a:t>
            </a:r>
            <a:endParaRPr kumimoji="1" lang="zh-CN" altLang="en-US" dirty="0"/>
          </a:p>
        </p:txBody>
      </p:sp>
      <p:sp>
        <p:nvSpPr>
          <p:cNvPr id="3" name="内容占位符 2"/>
          <p:cNvSpPr>
            <a:spLocks noGrp="1"/>
          </p:cNvSpPr>
          <p:nvPr>
            <p:ph idx="1"/>
          </p:nvPr>
        </p:nvSpPr>
        <p:spPr>
          <a:xfrm>
            <a:off x="323528" y="1772816"/>
            <a:ext cx="4608512" cy="4608512"/>
          </a:xfrm>
        </p:spPr>
        <p:txBody>
          <a:bodyPr>
            <a:normAutofit fontScale="85000" lnSpcReduction="10000"/>
          </a:bodyPr>
          <a:lstStyle/>
          <a:p>
            <a:r>
              <a:rPr kumimoji="1" lang="zh-CN" altLang="en-US" dirty="0"/>
              <a:t>投入</a:t>
            </a:r>
            <a:r>
              <a:rPr kumimoji="1" lang="en-US" altLang="zh-CN" dirty="0"/>
              <a:t>1</a:t>
            </a:r>
            <a:r>
              <a:rPr kumimoji="1" lang="zh-CN" altLang="en-US" dirty="0"/>
              <a:t>万元植树，</a:t>
            </a:r>
            <a:r>
              <a:rPr kumimoji="1" lang="en-US" altLang="zh-CN" dirty="0"/>
              <a:t>10</a:t>
            </a:r>
            <a:r>
              <a:rPr kumimoji="1" lang="zh-CN" altLang="en-US" dirty="0"/>
              <a:t>年后木材价值</a:t>
            </a:r>
            <a:r>
              <a:rPr kumimoji="1" lang="en-US" altLang="zh-CN" dirty="0"/>
              <a:t>10</a:t>
            </a:r>
            <a:r>
              <a:rPr kumimoji="1" lang="zh-CN" altLang="en-US" dirty="0"/>
              <a:t>万元，通货膨胀率为</a:t>
            </a:r>
            <a:r>
              <a:rPr kumimoji="1" lang="en-US" altLang="zh-CN" dirty="0"/>
              <a:t>3%</a:t>
            </a:r>
            <a:r>
              <a:rPr kumimoji="1" lang="zh-CN" altLang="en-US" dirty="0"/>
              <a:t>，社会折现率为</a:t>
            </a:r>
            <a:r>
              <a:rPr kumimoji="1" lang="en-US" altLang="zh-CN" dirty="0"/>
              <a:t>5%</a:t>
            </a:r>
            <a:endParaRPr kumimoji="1" lang="en-US" altLang="zh-CN" dirty="0"/>
          </a:p>
          <a:p>
            <a:pPr lvl="1"/>
            <a:r>
              <a:rPr kumimoji="1" lang="en-US" altLang="zh-CN" dirty="0"/>
              <a:t>5%</a:t>
            </a:r>
            <a:r>
              <a:rPr kumimoji="1" lang="zh-CN" altLang="en-US" dirty="0"/>
              <a:t>的社会折现率是名义回报率，其中已经包括了</a:t>
            </a:r>
            <a:r>
              <a:rPr kumimoji="1" lang="en-US" altLang="zh-CN" dirty="0"/>
              <a:t>3%</a:t>
            </a:r>
            <a:r>
              <a:rPr kumimoji="1" lang="zh-CN" altLang="en-US" dirty="0"/>
              <a:t>的通货膨胀率</a:t>
            </a:r>
            <a:endParaRPr kumimoji="1" lang="en-US" altLang="zh-CN" dirty="0"/>
          </a:p>
          <a:p>
            <a:pPr lvl="1"/>
            <a:r>
              <a:rPr kumimoji="1" lang="zh-CN" altLang="en-US" dirty="0"/>
              <a:t>这时候，就不要把</a:t>
            </a:r>
            <a:r>
              <a:rPr kumimoji="1" lang="en-US" altLang="zh-CN" dirty="0"/>
              <a:t>10</a:t>
            </a:r>
            <a:r>
              <a:rPr kumimoji="1" lang="zh-CN" altLang="en-US" dirty="0"/>
              <a:t>万元的名义价格折算为不变价</a:t>
            </a:r>
            <a:endParaRPr kumimoji="1" lang="en-US" altLang="zh-CN" dirty="0"/>
          </a:p>
          <a:p>
            <a:pPr lvl="1"/>
            <a:endParaRPr kumimoji="1" lang="en-US" altLang="zh-CN" dirty="0"/>
          </a:p>
          <a:p>
            <a:endParaRPr kumimoji="1"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5436096" y="1916832"/>
                <a:ext cx="3256020" cy="777329"/>
              </a:xfrm>
              <a:prstGeom prst="rect">
                <a:avLst/>
              </a:prstGeom>
              <a:noFill/>
            </p:spPr>
            <p:txBody>
              <a:bodyPr wrap="none" rtlCol="0">
                <a:spAutoFit/>
              </a:bodyPr>
              <a:lstStyle/>
              <a:p>
                <a:r>
                  <a:rPr kumimoji="1" lang="zh-CN" altLang="en-US" dirty="0"/>
                  <a:t>名义利率</a:t>
                </a:r>
                <a:r>
                  <a:rPr kumimoji="1" lang="en-US" altLang="zh-CN" dirty="0"/>
                  <a:t>5%</a:t>
                </a:r>
                <a:endParaRPr kumimoji="1" lang="en-US" altLang="zh-CN" dirty="0"/>
              </a:p>
              <a:p>
                <a:r>
                  <a:rPr kumimoji="1" lang="zh-CN" altLang="en-US" dirty="0"/>
                  <a:t>真实利率</a:t>
                </a:r>
                <a:r>
                  <a:rPr kumimoji="1" lang="en-US" altLang="zh-CN" dirty="0" err="1"/>
                  <a:t>i</a:t>
                </a:r>
                <a:r>
                  <a:rPr kumimoji="1" lang="en-US" altLang="zh-CN" baseline="-25000" dirty="0" err="1"/>
                  <a:t>r</a:t>
                </a:r>
                <a:r>
                  <a:rPr kumimoji="1" lang="zh-CN" altLang="en-US" dirty="0"/>
                  <a:t>＝</a:t>
                </a:r>
                <a14:m>
                  <m:oMath xmlns:m="http://schemas.openxmlformats.org/officeDocument/2006/math">
                    <m:f>
                      <m:fPr>
                        <m:ctrlPr>
                          <a:rPr kumimoji="1" lang="en-US" altLang="zh-CN" i="1" smtClean="0">
                            <a:latin typeface="Cambria Math" panose="02040503050406030204" pitchFamily="18" charset="0"/>
                          </a:rPr>
                        </m:ctrlPr>
                      </m:fPr>
                      <m:num>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5</m:t>
                        </m:r>
                        <m:r>
                          <a:rPr kumimoji="1" lang="en-US" altLang="zh-CN" b="0" i="1" smtClean="0">
                            <a:latin typeface="Cambria Math" panose="02040503050406030204" pitchFamily="18" charset="0"/>
                          </a:rPr>
                          <m:t>%</m:t>
                        </m:r>
                      </m:num>
                      <m:den>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3</m:t>
                        </m:r>
                        <m:r>
                          <a:rPr kumimoji="1" lang="en-US" altLang="zh-CN" b="0" i="1" smtClean="0">
                            <a:latin typeface="Cambria Math" panose="02040503050406030204" pitchFamily="18" charset="0"/>
                          </a:rPr>
                          <m:t>%</m:t>
                        </m:r>
                      </m:den>
                    </m:f>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94</m:t>
                    </m:r>
                    <m:r>
                      <a:rPr kumimoji="1" lang="en-US" altLang="zh-CN" b="0" i="1" smtClean="0">
                        <a:latin typeface="Cambria Math" panose="02040503050406030204" pitchFamily="18" charset="0"/>
                      </a:rPr>
                      <m:t>%</m:t>
                    </m:r>
                  </m:oMath>
                </a14:m>
                <a:endParaRPr kumimoji="1" lang="en-US" altLang="zh-CN" dirty="0"/>
              </a:p>
            </p:txBody>
          </p:sp>
        </mc:Choice>
        <mc:Fallback>
          <p:sp>
            <p:nvSpPr>
              <p:cNvPr id="4" name="文本框 3"/>
              <p:cNvSpPr txBox="1">
                <a:spLocks noRot="1" noChangeAspect="1" noMove="1" noResize="1" noEditPoints="1" noAdjustHandles="1" noChangeArrowheads="1" noChangeShapeType="1" noTextEdit="1"/>
              </p:cNvSpPr>
              <p:nvPr/>
            </p:nvSpPr>
            <p:spPr>
              <a:xfrm>
                <a:off x="5436096" y="1916832"/>
                <a:ext cx="3256020" cy="777329"/>
              </a:xfrm>
              <a:prstGeom prst="rect">
                <a:avLst/>
              </a:prstGeom>
              <a:blipFill rotWithShape="1">
                <a:blip r:embed="rId1"/>
                <a:stretch>
                  <a:fillRect l="-15" t="-52" r="7" b="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5436096" y="2694161"/>
                <a:ext cx="3445751" cy="798232"/>
              </a:xfrm>
              <a:prstGeom prst="rect">
                <a:avLst/>
              </a:prstGeom>
              <a:noFill/>
            </p:spPr>
            <p:txBody>
              <a:bodyPr wrap="none" rtlCol="0">
                <a:spAutoFit/>
              </a:bodyPr>
              <a:lstStyle/>
              <a:p>
                <a:r>
                  <a:rPr kumimoji="1" lang="zh-CN" altLang="en-US" dirty="0"/>
                  <a:t>名义价值</a:t>
                </a:r>
                <a:r>
                  <a:rPr kumimoji="1" lang="en-US" altLang="zh-CN" dirty="0"/>
                  <a:t>10</a:t>
                </a:r>
                <a:r>
                  <a:rPr kumimoji="1" lang="zh-CN" altLang="en-US" dirty="0"/>
                  <a:t>万元</a:t>
                </a:r>
                <a:endParaRPr kumimoji="1" lang="en-US" altLang="zh-CN" dirty="0"/>
              </a:p>
              <a:p>
                <a:r>
                  <a:rPr kumimoji="1" lang="zh-CN" altLang="en-US" dirty="0"/>
                  <a:t>真实价值</a:t>
                </a:r>
                <a:r>
                  <a:rPr kumimoji="1" lang="en-US" altLang="zh-CN" dirty="0"/>
                  <a:t>V</a:t>
                </a:r>
                <a:r>
                  <a:rPr kumimoji="1" lang="zh-CN" altLang="en-US" dirty="0"/>
                  <a:t>＝</a:t>
                </a:r>
                <a14:m>
                  <m:oMath xmlns:m="http://schemas.openxmlformats.org/officeDocument/2006/math">
                    <m:f>
                      <m:fPr>
                        <m:ctrlPr>
                          <a:rPr kumimoji="1" lang="en-US" altLang="zh-CN" i="1" smtClean="0">
                            <a:latin typeface="Cambria Math" panose="02040503050406030204" pitchFamily="18" charset="0"/>
                          </a:rPr>
                        </m:ctrlPr>
                      </m:fPr>
                      <m:num>
                        <m:r>
                          <a:rPr kumimoji="1" lang="en-US" altLang="zh-CN" b="0" i="1" smtClean="0">
                            <a:latin typeface="Cambria Math" panose="02040503050406030204" pitchFamily="18" charset="0"/>
                          </a:rPr>
                          <m:t>10</m:t>
                        </m:r>
                      </m:num>
                      <m:den>
                        <m:sSup>
                          <m:sSupPr>
                            <m:ctrlPr>
                              <a:rPr kumimoji="1" lang="en-US" altLang="zh-CN" b="0" i="1" smtClean="0">
                                <a:latin typeface="Cambria Math" panose="02040503050406030204" pitchFamily="18" charset="0"/>
                              </a:rPr>
                            </m:ctrlPr>
                          </m:sSupPr>
                          <m:e>
                            <m:r>
                              <a:rPr kumimoji="1" lang="en-US" altLang="zh-CN" i="1">
                                <a:latin typeface="Cambria Math" panose="02040503050406030204" pitchFamily="18" charset="0"/>
                              </a:rPr>
                              <m:t>(</m:t>
                            </m:r>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3</m:t>
                            </m:r>
                            <m:r>
                              <a:rPr kumimoji="1" lang="en-US" altLang="zh-CN" i="1">
                                <a:latin typeface="Cambria Math" panose="02040503050406030204" pitchFamily="18" charset="0"/>
                              </a:rPr>
                              <m:t>%)</m:t>
                            </m:r>
                          </m:e>
                          <m:sup>
                            <m:r>
                              <a:rPr kumimoji="1" lang="en-US" altLang="zh-CN" b="0" i="1" smtClean="0">
                                <a:latin typeface="Cambria Math" panose="02040503050406030204" pitchFamily="18" charset="0"/>
                              </a:rPr>
                              <m:t>10</m:t>
                            </m:r>
                          </m:sup>
                        </m:sSup>
                      </m:den>
                    </m:f>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7</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44</m:t>
                    </m:r>
                    <m:r>
                      <a:rPr kumimoji="1" lang="zh-CN" altLang="en-US" i="1" smtClean="0">
                        <a:latin typeface="Cambria Math" panose="02040503050406030204" pitchFamily="18" charset="0"/>
                      </a:rPr>
                      <m:t>万元</m:t>
                    </m:r>
                  </m:oMath>
                </a14:m>
                <a:endParaRPr kumimoji="1" lang="en-US" altLang="zh-CN" dirty="0"/>
              </a:p>
            </p:txBody>
          </p:sp>
        </mc:Choice>
        <mc:Fallback>
          <p:sp>
            <p:nvSpPr>
              <p:cNvPr id="5" name="文本框 4"/>
              <p:cNvSpPr txBox="1">
                <a:spLocks noRot="1" noChangeAspect="1" noMove="1" noResize="1" noEditPoints="1" noAdjustHandles="1" noChangeArrowheads="1" noChangeShapeType="1" noTextEdit="1"/>
              </p:cNvSpPr>
              <p:nvPr/>
            </p:nvSpPr>
            <p:spPr>
              <a:xfrm>
                <a:off x="5436096" y="2694161"/>
                <a:ext cx="3445751" cy="798232"/>
              </a:xfrm>
              <a:prstGeom prst="rect">
                <a:avLst/>
              </a:prstGeom>
              <a:blipFill rotWithShape="1">
                <a:blip r:embed="rId2"/>
                <a:stretch>
                  <a:fillRect l="-14" t="-62" r="3" b="66"/>
                </a:stretch>
              </a:blipFill>
            </p:spPr>
            <p:txBody>
              <a:bodyPr/>
              <a:lstStyle/>
              <a:p>
                <a:r>
                  <a:rPr lang="zh-CN" altLang="en-US">
                    <a:noFill/>
                  </a:rPr>
                  <a:t> </a:t>
                </a:r>
              </a:p>
            </p:txBody>
          </p:sp>
        </mc:Fallback>
      </mc:AlternateContent>
      <p:sp>
        <p:nvSpPr>
          <p:cNvPr id="6" name="文本框 5"/>
          <p:cNvSpPr txBox="1"/>
          <p:nvPr/>
        </p:nvSpPr>
        <p:spPr>
          <a:xfrm>
            <a:off x="5436096" y="3573016"/>
            <a:ext cx="3647152" cy="646331"/>
          </a:xfrm>
          <a:prstGeom prst="rect">
            <a:avLst/>
          </a:prstGeom>
          <a:noFill/>
        </p:spPr>
        <p:txBody>
          <a:bodyPr wrap="none" rtlCol="0">
            <a:spAutoFit/>
          </a:bodyPr>
          <a:lstStyle/>
          <a:p>
            <a:r>
              <a:rPr kumimoji="1" lang="zh-CN" altLang="en-US" dirty="0"/>
              <a:t>用名义价值、名义利率计算净现值</a:t>
            </a:r>
            <a:endParaRPr kumimoji="1" lang="en-US" altLang="zh-CN" dirty="0"/>
          </a:p>
          <a:p>
            <a:r>
              <a:rPr kumimoji="1" lang="en-US" altLang="zh-CN" dirty="0"/>
              <a:t>V0=10/(1+5%)^10-1=5.14</a:t>
            </a:r>
            <a:r>
              <a:rPr kumimoji="1" lang="zh-CN" altLang="en-US" dirty="0"/>
              <a:t>万元</a:t>
            </a:r>
            <a:endParaRPr kumimoji="1" lang="en-US" altLang="zh-CN" dirty="0"/>
          </a:p>
        </p:txBody>
      </p:sp>
      <mc:AlternateContent xmlns:mc="http://schemas.openxmlformats.org/markup-compatibility/2006">
        <mc:Choice xmlns:a14="http://schemas.microsoft.com/office/drawing/2010/main" Requires="a14">
          <p:sp>
            <p:nvSpPr>
              <p:cNvPr id="7" name="文本框 6"/>
              <p:cNvSpPr txBox="1"/>
              <p:nvPr/>
            </p:nvSpPr>
            <p:spPr>
              <a:xfrm>
                <a:off x="5414087" y="4299970"/>
                <a:ext cx="3831113" cy="1315553"/>
              </a:xfrm>
              <a:prstGeom prst="rect">
                <a:avLst/>
              </a:prstGeom>
              <a:noFill/>
            </p:spPr>
            <p:txBody>
              <a:bodyPr wrap="none" rtlCol="0">
                <a:spAutoFit/>
              </a:bodyPr>
              <a:lstStyle/>
              <a:p>
                <a:r>
                  <a:rPr kumimoji="1" lang="zh-CN" altLang="en-US" dirty="0"/>
                  <a:t>用真实价值、真实利率计算净现值</a:t>
                </a:r>
                <a:endParaRPr kumimoji="1" lang="en-US" altLang="zh-CN" dirty="0"/>
              </a:p>
              <a:p>
                <a14:m>
                  <m:oMath xmlns:m="http://schemas.openxmlformats.org/officeDocument/2006/math">
                    <m:f>
                      <m:fPr>
                        <m:ctrlPr>
                          <a:rPr kumimoji="1" lang="en-US" altLang="zh-CN" i="1" smtClean="0">
                            <a:latin typeface="Cambria Math" panose="02040503050406030204" pitchFamily="18" charset="0"/>
                          </a:rPr>
                        </m:ctrlPr>
                      </m:fPr>
                      <m:num>
                        <m:f>
                          <m:fPr>
                            <m:ctrlPr>
                              <a:rPr kumimoji="1" lang="en-US" altLang="zh-CN" i="1">
                                <a:latin typeface="Cambria Math" panose="02040503050406030204" pitchFamily="18" charset="0"/>
                              </a:rPr>
                            </m:ctrlPr>
                          </m:fPr>
                          <m:num>
                            <m:r>
                              <a:rPr kumimoji="1" lang="en-US" altLang="zh-CN" i="1">
                                <a:latin typeface="Cambria Math" panose="02040503050406030204" pitchFamily="18" charset="0"/>
                              </a:rPr>
                              <m:t>10</m:t>
                            </m:r>
                          </m:num>
                          <m:den>
                            <m:sSup>
                              <m:sSupPr>
                                <m:ctrlPr>
                                  <a:rPr kumimoji="1" lang="en-US" altLang="zh-CN" i="1">
                                    <a:latin typeface="Cambria Math" panose="02040503050406030204" pitchFamily="18" charset="0"/>
                                  </a:rPr>
                                </m:ctrlPr>
                              </m:sSupPr>
                              <m:e>
                                <m:r>
                                  <a:rPr kumimoji="1" lang="en-US" altLang="zh-CN" i="1">
                                    <a:latin typeface="Cambria Math" panose="02040503050406030204" pitchFamily="18" charset="0"/>
                                  </a:rPr>
                                  <m:t>(</m:t>
                                </m:r>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3</m:t>
                                </m:r>
                                <m:r>
                                  <a:rPr kumimoji="1" lang="en-US" altLang="zh-CN" i="1">
                                    <a:latin typeface="Cambria Math" panose="02040503050406030204" pitchFamily="18" charset="0"/>
                                  </a:rPr>
                                  <m:t>%)</m:t>
                                </m:r>
                              </m:e>
                              <m:sup>
                                <m:r>
                                  <a:rPr kumimoji="1" lang="en-US" altLang="zh-CN" i="1">
                                    <a:latin typeface="Cambria Math" panose="02040503050406030204" pitchFamily="18" charset="0"/>
                                  </a:rPr>
                                  <m:t>10</m:t>
                                </m:r>
                              </m:sup>
                            </m:sSup>
                          </m:den>
                        </m:f>
                      </m:num>
                      <m:den>
                        <m:r>
                          <a:rPr kumimoji="1" lang="en-US" altLang="zh-CN" b="0" i="1" smtClean="0">
                            <a:latin typeface="Cambria Math" panose="02040503050406030204" pitchFamily="18" charset="0"/>
                          </a:rPr>
                          <m:t>(</m:t>
                        </m:r>
                        <m:f>
                          <m:fPr>
                            <m:ctrlPr>
                              <a:rPr kumimoji="1" lang="en-US" altLang="zh-CN" i="1">
                                <a:latin typeface="Cambria Math" panose="02040503050406030204" pitchFamily="18" charset="0"/>
                              </a:rPr>
                            </m:ctrlPr>
                          </m:fPr>
                          <m:num>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5</m:t>
                            </m:r>
                            <m:r>
                              <a:rPr kumimoji="1" lang="en-US" altLang="zh-CN" i="1">
                                <a:latin typeface="Cambria Math" panose="02040503050406030204" pitchFamily="18" charset="0"/>
                              </a:rPr>
                              <m:t>%</m:t>
                            </m:r>
                          </m:num>
                          <m:den>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3</m:t>
                            </m:r>
                            <m:r>
                              <a:rPr kumimoji="1" lang="en-US" altLang="zh-CN" i="1">
                                <a:latin typeface="Cambria Math" panose="02040503050406030204" pitchFamily="18" charset="0"/>
                              </a:rPr>
                              <m:t>%</m:t>
                            </m:r>
                          </m:den>
                        </m:f>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m:t>
                            </m:r>
                          </m:e>
                          <m:sup>
                            <m:r>
                              <a:rPr kumimoji="1" lang="en-US" altLang="zh-CN" b="0" i="1" smtClean="0">
                                <a:latin typeface="Cambria Math" panose="02040503050406030204" pitchFamily="18" charset="0"/>
                              </a:rPr>
                              <m:t>10</m:t>
                            </m:r>
                          </m:sup>
                        </m:sSup>
                      </m:den>
                    </m:f>
                  </m:oMath>
                </a14:m>
                <a:r>
                  <a:rPr kumimoji="1" lang="en-US" altLang="zh-CN" dirty="0"/>
                  <a:t>-1=10/(1+5%)^10-1=5.14</a:t>
                </a:r>
                <a:r>
                  <a:rPr kumimoji="1" lang="zh-CN" altLang="en-US" dirty="0"/>
                  <a:t>万元</a:t>
                </a:r>
                <a:endParaRPr kumimoji="1" lang="en-US" altLang="zh-CN" dirty="0"/>
              </a:p>
              <a:p>
                <a:endParaRPr kumimoji="1" lang="en-US" altLang="zh-CN" dirty="0"/>
              </a:p>
            </p:txBody>
          </p:sp>
        </mc:Choice>
        <mc:Fallback>
          <p:sp>
            <p:nvSpPr>
              <p:cNvPr id="7" name="文本框 6"/>
              <p:cNvSpPr txBox="1">
                <a:spLocks noRot="1" noChangeAspect="1" noMove="1" noResize="1" noEditPoints="1" noAdjustHandles="1" noChangeArrowheads="1" noChangeShapeType="1" noTextEdit="1"/>
              </p:cNvSpPr>
              <p:nvPr/>
            </p:nvSpPr>
            <p:spPr>
              <a:xfrm>
                <a:off x="5414087" y="4299970"/>
                <a:ext cx="3831113" cy="1315553"/>
              </a:xfrm>
              <a:prstGeom prst="rect">
                <a:avLst/>
              </a:prstGeom>
              <a:blipFill rotWithShape="1">
                <a:blip r:embed="rId3"/>
                <a:stretch>
                  <a:fillRect l="-2" t="-29" r="6" b="1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736" name="Group 64"/>
          <p:cNvGraphicFramePr>
            <a:graphicFrameLocks noGrp="1"/>
          </p:cNvGraphicFramePr>
          <p:nvPr/>
        </p:nvGraphicFramePr>
        <p:xfrm>
          <a:off x="1366838" y="2205038"/>
          <a:ext cx="6445250" cy="3418840"/>
        </p:xfrm>
        <a:graphic>
          <a:graphicData uri="http://schemas.openxmlformats.org/drawingml/2006/table">
            <a:tbl>
              <a:tblPr/>
              <a:tblGrid>
                <a:gridCol w="1446212"/>
                <a:gridCol w="2413000"/>
                <a:gridCol w="2586038"/>
              </a:tblGrid>
              <a:tr h="4318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CA" sz="2800" b="0"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Real price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Nominal price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Real interest rate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CA" sz="2800" b="0" i="0" u="none" strike="noStrike" cap="none" normalizeH="0" baseline="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(inflates the returns of     forest projects)</a:t>
                      </a:r>
                      <a:endParaRPr kumimoji="0" lang="en-CA" sz="2800" b="0"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Nominal interest rate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(biased against forest projects)</a:t>
                      </a:r>
                      <a:endParaRPr kumimoji="0" lang="en-CA" sz="2800" b="0" i="0" u="none" strike="noStrike" cap="none" normalizeH="0" baseline="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CA" sz="2800" b="0"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284" name="Rectangle 1"/>
          <p:cNvSpPr>
            <a:spLocks noChangeArrowheads="1"/>
          </p:cNvSpPr>
          <p:nvPr/>
        </p:nvSpPr>
        <p:spPr bwMode="auto">
          <a:xfrm>
            <a:off x="1722438" y="404664"/>
            <a:ext cx="5614987" cy="1384995"/>
          </a:xfrm>
          <a:prstGeom prst="rect">
            <a:avLst/>
          </a:prstGeom>
          <a:gradFill>
            <a:gsLst>
              <a:gs pos="4000">
                <a:schemeClr val="bg2">
                  <a:lumMod val="40000"/>
                  <a:lumOff val="60000"/>
                  <a:alpha val="45000"/>
                </a:schemeClr>
              </a:gs>
              <a:gs pos="100000">
                <a:schemeClr val="bg2">
                  <a:lumMod val="20000"/>
                  <a:lumOff val="80000"/>
                  <a:alpha val="86000"/>
                </a:schemeClr>
              </a:gs>
            </a:gsLst>
            <a:lin ang="5400000" scaled="0"/>
          </a:gradFill>
          <a:ln>
            <a:noFill/>
          </a:ln>
          <a:effectLst>
            <a:innerShdw blurRad="63500" dist="50800" dir="18900000">
              <a:prstClr val="black">
                <a:alpha val="50000"/>
              </a:prstClr>
            </a:innerShdw>
          </a:effectLst>
        </p:spPr>
        <p:txBody>
          <a:bodyPr anchor="ct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Figure 3.2: Correct and incorrect match of interest rate and timber price in forest investment analysis</a:t>
            </a:r>
            <a:endParaRPr lang="en-CA" sz="2800" b="1" dirty="0">
              <a:latin typeface="Times New Roman" panose="02020603050405020304" pitchFamily="18" charset="0"/>
              <a:cs typeface="Times New Roman" panose="02020603050405020304" pitchFamily="18" charset="0"/>
            </a:endParaRPr>
          </a:p>
        </p:txBody>
      </p:sp>
      <p:sp>
        <p:nvSpPr>
          <p:cNvPr id="11285" name="TextBox 4"/>
          <p:cNvSpPr txBox="1">
            <a:spLocks noChangeArrowheads="1"/>
          </p:cNvSpPr>
          <p:nvPr/>
        </p:nvSpPr>
        <p:spPr bwMode="auto">
          <a:xfrm>
            <a:off x="1630363" y="480536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CA">
              <a:latin typeface="Calibri" panose="020F0502020204030204" charset="0"/>
            </a:endParaRPr>
          </a:p>
        </p:txBody>
      </p:sp>
      <p:sp>
        <p:nvSpPr>
          <p:cNvPr id="11286" name="Rectangle 5"/>
          <p:cNvSpPr>
            <a:spLocks noChangeArrowheads="1"/>
          </p:cNvSpPr>
          <p:nvPr/>
        </p:nvSpPr>
        <p:spPr bwMode="auto">
          <a:xfrm>
            <a:off x="1785918" y="5857892"/>
            <a:ext cx="5973110"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pPr>
            <a:r>
              <a:rPr lang="en-US" altLang="zh-CN" sz="2800" b="1"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 correct match, × = incorrect match.</a:t>
            </a:r>
            <a:endParaRPr lang="en-CA" sz="2000" dirty="0">
              <a:latin typeface="Roman 10cpi"/>
              <a:cs typeface="Times New Roman" panose="02020603050405020304" pitchFamily="18" charset="0"/>
            </a:endParaRPr>
          </a:p>
        </p:txBody>
      </p:sp>
      <p:sp>
        <p:nvSpPr>
          <p:cNvPr id="13"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charset="0"/>
              </a:rPr>
              <a:t>Adapted from </a:t>
            </a:r>
            <a:r>
              <a:rPr lang="en-US" altLang="zh-CN" i="1">
                <a:solidFill>
                  <a:srgbClr val="898989"/>
                </a:solidFill>
                <a:latin typeface="Calibri" panose="020F0502020204030204" charset="0"/>
              </a:rPr>
              <a:t>Forest Economics </a:t>
            </a:r>
            <a:r>
              <a:rPr lang="en-US" altLang="zh-CN">
                <a:solidFill>
                  <a:srgbClr val="898989"/>
                </a:solidFill>
                <a:latin typeface="Calibri" panose="020F0502020204030204" charset="0"/>
              </a:rPr>
              <a:t>by Daowei Zhang and Peter H. Pearse, published by UBC Press, 2011. </a:t>
            </a:r>
            <a:endParaRPr lang="en-CA">
              <a:solidFill>
                <a:srgbClr val="898989"/>
              </a:solidFill>
              <a:latin typeface="Calibri" panose="020F0502020204030204"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名义利率和名义价格</a:t>
            </a:r>
            <a:endParaRPr lang="zh-CN" altLang="en-US" dirty="0"/>
          </a:p>
        </p:txBody>
      </p:sp>
      <p:graphicFrame>
        <p:nvGraphicFramePr>
          <p:cNvPr id="6" name="内容占位符 5"/>
          <p:cNvGraphicFramePr>
            <a:graphicFrameLocks noGrp="1" noChangeAspect="1"/>
          </p:cNvGraphicFramePr>
          <p:nvPr>
            <p:ph idx="1"/>
          </p:nvPr>
        </p:nvGraphicFramePr>
        <p:xfrm>
          <a:off x="785786" y="2285992"/>
          <a:ext cx="7945645" cy="3714776"/>
        </p:xfrm>
        <a:graphic>
          <a:graphicData uri="http://schemas.openxmlformats.org/presentationml/2006/ole">
            <mc:AlternateContent xmlns:mc="http://schemas.openxmlformats.org/markup-compatibility/2006">
              <mc:Choice xmlns:v="urn:schemas-microsoft-com:vml" Requires="v">
                <p:oleObj spid="_x0000_s33796" name="公式" r:id="rId1" imgW="1955800" imgH="914400" progId="Equation.3">
                  <p:embed/>
                </p:oleObj>
              </mc:Choice>
              <mc:Fallback>
                <p:oleObj name="公式" r:id="rId1" imgW="1955800" imgH="914400" progId="Equation.3">
                  <p:embed/>
                  <p:pic>
                    <p:nvPicPr>
                      <p:cNvPr id="0" name="内容占位符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86" y="2285992"/>
                        <a:ext cx="7945645" cy="3714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357158" y="3571876"/>
            <a:ext cx="1569660" cy="369332"/>
          </a:xfrm>
          <a:prstGeom prst="rect">
            <a:avLst/>
          </a:prstGeom>
          <a:noFill/>
        </p:spPr>
        <p:txBody>
          <a:bodyPr wrap="none" rtlCol="0">
            <a:spAutoFit/>
          </a:bodyPr>
          <a:lstStyle/>
          <a:p>
            <a:r>
              <a:rPr lang="zh-CN" altLang="en-US" dirty="0">
                <a:solidFill>
                  <a:srgbClr val="C00000"/>
                </a:solidFill>
              </a:rPr>
              <a:t>名义价格现值</a:t>
            </a:r>
            <a:endParaRPr lang="zh-CN" altLang="en-US" dirty="0">
              <a:solidFill>
                <a:srgbClr val="C00000"/>
              </a:solidFill>
            </a:endParaRPr>
          </a:p>
        </p:txBody>
      </p:sp>
      <p:sp>
        <p:nvSpPr>
          <p:cNvPr id="8" name="TextBox 7"/>
          <p:cNvSpPr txBox="1"/>
          <p:nvPr/>
        </p:nvSpPr>
        <p:spPr>
          <a:xfrm>
            <a:off x="2002208" y="2143116"/>
            <a:ext cx="1569660" cy="369332"/>
          </a:xfrm>
          <a:prstGeom prst="rect">
            <a:avLst/>
          </a:prstGeom>
          <a:noFill/>
        </p:spPr>
        <p:txBody>
          <a:bodyPr wrap="none" rtlCol="0">
            <a:spAutoFit/>
          </a:bodyPr>
          <a:lstStyle/>
          <a:p>
            <a:r>
              <a:rPr lang="zh-CN" altLang="en-US" dirty="0">
                <a:solidFill>
                  <a:srgbClr val="C00000"/>
                </a:solidFill>
              </a:rPr>
              <a:t>名义价格终值</a:t>
            </a:r>
            <a:endParaRPr lang="zh-CN" altLang="en-US" dirty="0">
              <a:solidFill>
                <a:srgbClr val="C00000"/>
              </a:solidFill>
            </a:endParaRPr>
          </a:p>
        </p:txBody>
      </p:sp>
      <p:sp>
        <p:nvSpPr>
          <p:cNvPr id="9" name="TextBox 8"/>
          <p:cNvSpPr txBox="1"/>
          <p:nvPr/>
        </p:nvSpPr>
        <p:spPr>
          <a:xfrm>
            <a:off x="3143240" y="3571876"/>
            <a:ext cx="1107996" cy="369332"/>
          </a:xfrm>
          <a:prstGeom prst="rect">
            <a:avLst/>
          </a:prstGeom>
          <a:noFill/>
        </p:spPr>
        <p:txBody>
          <a:bodyPr wrap="none" rtlCol="0">
            <a:spAutoFit/>
          </a:bodyPr>
          <a:lstStyle/>
          <a:p>
            <a:r>
              <a:rPr lang="zh-CN" altLang="en-US" dirty="0">
                <a:solidFill>
                  <a:srgbClr val="C00000"/>
                </a:solidFill>
              </a:rPr>
              <a:t>名义利率</a:t>
            </a:r>
            <a:endParaRPr lang="zh-CN" altLang="en-US" dirty="0">
              <a:solidFill>
                <a:srgbClr val="C00000"/>
              </a:solidFill>
            </a:endParaRPr>
          </a:p>
        </p:txBody>
      </p:sp>
      <p:sp>
        <p:nvSpPr>
          <p:cNvPr id="10" name="TextBox 9"/>
          <p:cNvSpPr txBox="1"/>
          <p:nvPr/>
        </p:nvSpPr>
        <p:spPr>
          <a:xfrm>
            <a:off x="4357686" y="2143116"/>
            <a:ext cx="1569660" cy="369332"/>
          </a:xfrm>
          <a:prstGeom prst="rect">
            <a:avLst/>
          </a:prstGeom>
          <a:noFill/>
        </p:spPr>
        <p:txBody>
          <a:bodyPr wrap="none" rtlCol="0">
            <a:spAutoFit/>
          </a:bodyPr>
          <a:lstStyle/>
          <a:p>
            <a:r>
              <a:rPr lang="zh-CN" altLang="en-US" dirty="0">
                <a:solidFill>
                  <a:srgbClr val="C00000"/>
                </a:solidFill>
              </a:rPr>
              <a:t>实际价格终值</a:t>
            </a:r>
            <a:endParaRPr lang="zh-CN" altLang="en-US" dirty="0">
              <a:solidFill>
                <a:srgbClr val="C00000"/>
              </a:solidFill>
            </a:endParaRPr>
          </a:p>
        </p:txBody>
      </p:sp>
      <p:sp>
        <p:nvSpPr>
          <p:cNvPr id="11" name="TextBox 10"/>
          <p:cNvSpPr txBox="1"/>
          <p:nvPr/>
        </p:nvSpPr>
        <p:spPr>
          <a:xfrm>
            <a:off x="6357950" y="2130974"/>
            <a:ext cx="1338828" cy="369332"/>
          </a:xfrm>
          <a:prstGeom prst="rect">
            <a:avLst/>
          </a:prstGeom>
          <a:noFill/>
        </p:spPr>
        <p:txBody>
          <a:bodyPr wrap="none" rtlCol="0">
            <a:spAutoFit/>
          </a:bodyPr>
          <a:lstStyle/>
          <a:p>
            <a:r>
              <a:rPr lang="zh-CN" altLang="en-US" dirty="0">
                <a:solidFill>
                  <a:srgbClr val="C00000"/>
                </a:solidFill>
              </a:rPr>
              <a:t>通货膨胀率</a:t>
            </a:r>
            <a:endParaRPr lang="zh-CN" altLang="en-US" dirty="0">
              <a:solidFill>
                <a:srgbClr val="C00000"/>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4400" b="1" dirty="0">
                <a:ln w="11430"/>
                <a:solidFill>
                  <a:srgbClr val="FFC000"/>
                </a:solidFill>
                <a:effectLst>
                  <a:innerShdw blurRad="63500" dist="50800" dir="13500000">
                    <a:prstClr val="black">
                      <a:alpha val="50000"/>
                    </a:prstClr>
                  </a:innerShdw>
                </a:effectLst>
              </a:rPr>
              <a:t>Risk and Uncertainty </a:t>
            </a:r>
            <a:br>
              <a:rPr lang="en-US" altLang="zh-CN" sz="4400" b="1" dirty="0">
                <a:ln w="11430"/>
                <a:solidFill>
                  <a:srgbClr val="FFC000"/>
                </a:solidFill>
                <a:effectLst>
                  <a:innerShdw blurRad="63500" dist="50800" dir="13500000">
                    <a:prstClr val="black">
                      <a:alpha val="50000"/>
                    </a:prstClr>
                  </a:innerShdw>
                </a:effectLst>
              </a:rPr>
            </a:br>
            <a:r>
              <a:rPr lang="zh-CN" altLang="en-US" sz="4400" dirty="0">
                <a:ln w="11430"/>
                <a:solidFill>
                  <a:srgbClr val="FFC000"/>
                </a:solidFill>
                <a:effectLst>
                  <a:innerShdw blurRad="63500" dist="50800" dir="13500000">
                    <a:prstClr val="black">
                      <a:alpha val="50000"/>
                    </a:prstClr>
                  </a:innerShdw>
                </a:effectLst>
              </a:rPr>
              <a:t>风险和不确定性</a:t>
            </a:r>
            <a:endParaRPr lang="zh-CN" altLang="en-US" dirty="0">
              <a:effectLst>
                <a:innerShdw blurRad="63500" dist="50800" dir="13500000">
                  <a:prstClr val="black">
                    <a:alpha val="50000"/>
                  </a:prstClr>
                </a:innerShdw>
              </a:effectLst>
            </a:endParaRPr>
          </a:p>
        </p:txBody>
      </p:sp>
      <p:sp>
        <p:nvSpPr>
          <p:cNvPr id="3" name="内容占位符 2"/>
          <p:cNvSpPr>
            <a:spLocks noGrp="1"/>
          </p:cNvSpPr>
          <p:nvPr>
            <p:ph sz="half" idx="1"/>
          </p:nvPr>
        </p:nvSpPr>
        <p:spPr/>
        <p:txBody>
          <a:bodyPr>
            <a:normAutofit/>
          </a:bodyPr>
          <a:lstStyle/>
          <a:p>
            <a:r>
              <a:rPr lang="en-US" altLang="zh-CN" b="1" u="sng" dirty="0"/>
              <a:t>Risk</a:t>
            </a:r>
            <a:r>
              <a:rPr lang="en-US" altLang="zh-CN" dirty="0"/>
              <a:t>: We don’t know what is going to happen next, but we do know </a:t>
            </a:r>
            <a:r>
              <a:rPr lang="en-US" altLang="zh-CN" u="sng" dirty="0"/>
              <a:t>what the distribution looks like</a:t>
            </a:r>
            <a:r>
              <a:rPr lang="en-US" altLang="zh-CN" dirty="0"/>
              <a:t>.</a:t>
            </a:r>
            <a:endParaRPr lang="zh-CN" altLang="en-US" dirty="0"/>
          </a:p>
        </p:txBody>
      </p:sp>
      <p:sp>
        <p:nvSpPr>
          <p:cNvPr id="4" name="内容占位符 3"/>
          <p:cNvSpPr>
            <a:spLocks noGrp="1"/>
          </p:cNvSpPr>
          <p:nvPr>
            <p:ph sz="half" idx="2"/>
          </p:nvPr>
        </p:nvSpPr>
        <p:spPr/>
        <p:txBody>
          <a:bodyPr>
            <a:normAutofit/>
          </a:bodyPr>
          <a:lstStyle/>
          <a:p>
            <a:r>
              <a:rPr lang="en-US" altLang="zh-CN" b="1" u="sng" dirty="0"/>
              <a:t>Uncertainty</a:t>
            </a:r>
            <a:r>
              <a:rPr lang="en-US" altLang="zh-CN" dirty="0"/>
              <a:t>: We don’t know what is going to happen next, and </a:t>
            </a:r>
            <a:r>
              <a:rPr lang="en-US" altLang="zh-CN" u="sng" dirty="0"/>
              <a:t>we do not know what the possible distribution </a:t>
            </a:r>
            <a:r>
              <a:rPr lang="en-US" altLang="zh-CN" dirty="0"/>
              <a:t>looks like.</a:t>
            </a:r>
            <a:endParaRPr lang="zh-CN" alt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How to measure the risk</a:t>
            </a:r>
            <a:r>
              <a:rPr lang="zh-CN" altLang="en-US" dirty="0"/>
              <a:t>？</a:t>
            </a:r>
            <a:endParaRPr lang="zh-CN" altLang="en-US" dirty="0"/>
          </a:p>
        </p:txBody>
      </p:sp>
      <p:sp>
        <p:nvSpPr>
          <p:cNvPr id="3" name="内容占位符 2"/>
          <p:cNvSpPr>
            <a:spLocks noGrp="1"/>
          </p:cNvSpPr>
          <p:nvPr>
            <p:ph sz="half" idx="1"/>
          </p:nvPr>
        </p:nvSpPr>
        <p:spPr/>
        <p:txBody>
          <a:bodyPr/>
          <a:lstStyle/>
          <a:p>
            <a:r>
              <a:rPr lang="zh-CN" altLang="en-US" b="1" dirty="0">
                <a:effectLst>
                  <a:outerShdw blurRad="38100" dist="38100" dir="2700000" algn="tl">
                    <a:srgbClr val="000000">
                      <a:alpha val="43137"/>
                    </a:srgbClr>
                  </a:outerShdw>
                </a:effectLst>
              </a:rPr>
              <a:t>标准差：</a:t>
            </a:r>
            <a:endParaRPr lang="en-US" altLang="zh-CN" b="1" dirty="0">
              <a:effectLst>
                <a:outerShdw blurRad="38100" dist="38100" dir="2700000" algn="tl">
                  <a:srgbClr val="000000">
                    <a:alpha val="43137"/>
                  </a:srgbClr>
                </a:outerShdw>
              </a:effectLst>
            </a:endParaRPr>
          </a:p>
          <a:p>
            <a:pPr lvl="1"/>
            <a:r>
              <a:rPr lang="en-US" altLang="zh-CN" b="1" dirty="0"/>
              <a:t> Standard Deviation</a:t>
            </a:r>
            <a:endParaRPr lang="en-US" altLang="zh-CN" b="1" dirty="0"/>
          </a:p>
          <a:p>
            <a:pPr lvl="1"/>
            <a:r>
              <a:rPr lang="en-US" altLang="zh-CN" b="1" dirty="0"/>
              <a:t>SD</a:t>
            </a:r>
            <a:endParaRPr lang="en-US" altLang="zh-CN" b="1" dirty="0"/>
          </a:p>
          <a:p>
            <a:r>
              <a:rPr lang="zh-CN" altLang="en-US" b="1" dirty="0">
                <a:effectLst>
                  <a:outerShdw blurRad="38100" dist="38100" dir="2700000" algn="tl">
                    <a:srgbClr val="000000">
                      <a:alpha val="43137"/>
                    </a:srgbClr>
                  </a:outerShdw>
                </a:effectLst>
              </a:rPr>
              <a:t>变异系数：</a:t>
            </a:r>
            <a:endParaRPr lang="en-US" altLang="zh-CN" b="1" dirty="0">
              <a:effectLst>
                <a:outerShdw blurRad="38100" dist="38100" dir="2700000" algn="tl">
                  <a:srgbClr val="000000">
                    <a:alpha val="43137"/>
                  </a:srgbClr>
                </a:outerShdw>
              </a:effectLst>
            </a:endParaRPr>
          </a:p>
          <a:p>
            <a:pPr lvl="1"/>
            <a:r>
              <a:rPr lang="en-US" altLang="zh-CN" dirty="0"/>
              <a:t>Coefficient of Variation</a:t>
            </a:r>
            <a:endParaRPr lang="en-US" altLang="zh-CN" dirty="0"/>
          </a:p>
          <a:p>
            <a:pPr lvl="1"/>
            <a:r>
              <a:rPr lang="en-US" altLang="zh-CN" b="1" dirty="0"/>
              <a:t>CV</a:t>
            </a:r>
            <a:endParaRPr lang="en-US" altLang="zh-CN" b="1" dirty="0"/>
          </a:p>
          <a:p>
            <a:endParaRPr lang="zh-CN" altLang="en-US" dirty="0"/>
          </a:p>
        </p:txBody>
      </p:sp>
      <p:pic>
        <p:nvPicPr>
          <p:cNvPr id="23554" name="Picture 2" descr="http://www.mathsisfun.com/data/images/standard-deviation-formula.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04048" y="1599764"/>
            <a:ext cx="2806327" cy="9651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内容占位符 4"/>
          <p:cNvGraphicFramePr>
            <a:graphicFrameLocks noGrp="1" noChangeAspect="1"/>
          </p:cNvGraphicFramePr>
          <p:nvPr>
            <p:ph sz="half" idx="2"/>
          </p:nvPr>
        </p:nvGraphicFramePr>
        <p:xfrm>
          <a:off x="5580112" y="2996952"/>
          <a:ext cx="1493476" cy="1080120"/>
        </p:xfrm>
        <a:graphic>
          <a:graphicData uri="http://schemas.openxmlformats.org/presentationml/2006/ole">
            <mc:AlternateContent xmlns:mc="http://schemas.openxmlformats.org/markup-compatibility/2006">
              <mc:Choice xmlns:v="urn:schemas-microsoft-com:vml" Requires="v">
                <p:oleObj spid="_x0000_s34820" name="公式" r:id="rId2" imgW="14325600" imgH="10363200" progId="Equation.3">
                  <p:embed/>
                </p:oleObj>
              </mc:Choice>
              <mc:Fallback>
                <p:oleObj name="公式" r:id="rId2" imgW="14325600" imgH="10363200" progId="Equation.3">
                  <p:embed/>
                  <p:pic>
                    <p:nvPicPr>
                      <p:cNvPr id="0" name="内容占位符 4"/>
                      <p:cNvPicPr/>
                      <p:nvPr/>
                    </p:nvPicPr>
                    <p:blipFill>
                      <a:blip r:embed="rId3"/>
                      <a:stretch>
                        <a:fillRect/>
                      </a:stretch>
                    </p:blipFill>
                    <p:spPr>
                      <a:xfrm>
                        <a:off x="5580112" y="2996952"/>
                        <a:ext cx="1493476" cy="1080120"/>
                      </a:xfrm>
                      <a:prstGeom prst="rect">
                        <a:avLst/>
                      </a:prstGeom>
                    </p:spPr>
                  </p:pic>
                </p:oleObj>
              </mc:Fallback>
            </mc:AlternateContent>
          </a:graphicData>
        </a:graphic>
      </p:graphicFrame>
      <p:sp>
        <p:nvSpPr>
          <p:cNvPr id="6" name="TextBox 5"/>
          <p:cNvSpPr txBox="1"/>
          <p:nvPr/>
        </p:nvSpPr>
        <p:spPr>
          <a:xfrm>
            <a:off x="4644008" y="4509120"/>
            <a:ext cx="4355976" cy="1077218"/>
          </a:xfrm>
          <a:prstGeom prst="rect">
            <a:avLst/>
          </a:prstGeom>
          <a:noFill/>
        </p:spPr>
        <p:txBody>
          <a:bodyPr wrap="square" rtlCol="0">
            <a:spAutoFit/>
          </a:bodyPr>
          <a:lstStyle/>
          <a:p>
            <a:r>
              <a:rPr lang="zh-CN" altLang="en-US" sz="3200" dirty="0">
                <a:latin typeface="隶书" panose="02010509060101010101" pitchFamily="49" charset="-122"/>
                <a:ea typeface="隶书" panose="02010509060101010101" pitchFamily="49" charset="-122"/>
              </a:rPr>
              <a:t>标准差和变异系数越大，风险越大</a:t>
            </a:r>
            <a:endParaRPr lang="zh-CN" altLang="en-US" sz="3200" dirty="0">
              <a:latin typeface="隶书" panose="02010509060101010101" pitchFamily="49" charset="-122"/>
              <a:ea typeface="隶书" panose="02010509060101010101" pitchFamily="49" charset="-122"/>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风险溢价</a:t>
            </a:r>
            <a:endParaRPr kumimoji="1" lang="zh-CN" alt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 </a:t>
            </a:r>
            <a:r>
              <a:rPr lang="en-US" altLang="zh-CN" dirty="0"/>
              <a:t>Risk Premium</a:t>
            </a:r>
            <a:endParaRPr lang="zh-CN" altLang="en-US" dirty="0"/>
          </a:p>
        </p:txBody>
      </p:sp>
      <p:sp>
        <p:nvSpPr>
          <p:cNvPr id="3" name="内容占位符 2"/>
          <p:cNvSpPr>
            <a:spLocks noGrp="1"/>
          </p:cNvSpPr>
          <p:nvPr>
            <p:ph sz="half" idx="1"/>
          </p:nvPr>
        </p:nvSpPr>
        <p:spPr/>
        <p:txBody>
          <a:bodyPr>
            <a:normAutofit fontScale="77500" lnSpcReduction="20000"/>
          </a:bodyPr>
          <a:lstStyle/>
          <a:p>
            <a:r>
              <a:rPr lang="en-US" altLang="zh-CN" dirty="0"/>
              <a:t>The return in excess of the risk-free rate of return that an investment is expected to yield. </a:t>
            </a:r>
            <a:endParaRPr lang="en-US" altLang="zh-CN" dirty="0"/>
          </a:p>
          <a:p>
            <a:r>
              <a:rPr lang="en-US" altLang="zh-CN" dirty="0"/>
              <a:t>An asset's risk premium is a form of compensation for investors who tolerate the extra risk - compared to that of a risk-free asset - in a given investment.</a:t>
            </a:r>
            <a:endParaRPr lang="zh-CN" altLang="en-US" dirty="0"/>
          </a:p>
        </p:txBody>
      </p:sp>
      <p:sp>
        <p:nvSpPr>
          <p:cNvPr id="4" name="内容占位符 3"/>
          <p:cNvSpPr>
            <a:spLocks noGrp="1"/>
          </p:cNvSpPr>
          <p:nvPr>
            <p:ph sz="half" idx="2"/>
          </p:nvPr>
        </p:nvSpPr>
        <p:spPr/>
        <p:txBody>
          <a:bodyPr>
            <a:normAutofit fontScale="77500" lnSpcReduction="20000"/>
          </a:bodyPr>
          <a:lstStyle/>
          <a:p>
            <a:r>
              <a:rPr lang="zh-CN" altLang="en-US" dirty="0"/>
              <a:t>投资者承担项目风险所要求的补偿</a:t>
            </a:r>
            <a:endParaRPr lang="en-US" altLang="zh-CN" dirty="0"/>
          </a:p>
          <a:p>
            <a:r>
              <a:rPr lang="zh-CN" altLang="en-US" dirty="0"/>
              <a:t>风险调整贴现率（</a:t>
            </a:r>
            <a:r>
              <a:rPr lang="en-US" altLang="zh-CN" dirty="0"/>
              <a:t>risk-adjusted discount rate </a:t>
            </a:r>
            <a:r>
              <a:rPr lang="zh-CN" altLang="en-US" dirty="0"/>
              <a:t>， </a:t>
            </a:r>
            <a:r>
              <a:rPr lang="en-US" altLang="zh-CN" dirty="0"/>
              <a:t>RADR</a:t>
            </a:r>
            <a:r>
              <a:rPr lang="zh-CN" altLang="en-US" dirty="0"/>
              <a:t>）</a:t>
            </a:r>
            <a:r>
              <a:rPr lang="en-US" altLang="zh-CN" dirty="0"/>
              <a:t>=</a:t>
            </a:r>
            <a:r>
              <a:rPr lang="zh-CN" altLang="en-US" dirty="0"/>
              <a:t>无风险利率（</a:t>
            </a:r>
            <a:r>
              <a:rPr lang="en-US" altLang="zh-CN" dirty="0"/>
              <a:t>i</a:t>
            </a:r>
            <a:r>
              <a:rPr lang="en-US" altLang="zh-CN" baseline="-25000" dirty="0"/>
              <a:t>f</a:t>
            </a:r>
            <a:r>
              <a:rPr lang="zh-CN" altLang="en-US" dirty="0"/>
              <a:t>）</a:t>
            </a:r>
            <a:r>
              <a:rPr lang="en-US" altLang="zh-CN" dirty="0"/>
              <a:t>+</a:t>
            </a:r>
            <a:r>
              <a:rPr lang="zh-CN" altLang="en-US" dirty="0"/>
              <a:t>风险溢价水平（</a:t>
            </a:r>
            <a:r>
              <a:rPr lang="en-US" altLang="zh-CN" dirty="0"/>
              <a:t>k</a:t>
            </a:r>
            <a:r>
              <a:rPr lang="zh-CN" altLang="en-US" dirty="0"/>
              <a:t>）</a:t>
            </a:r>
            <a:endParaRPr lang="en-US" altLang="zh-CN" dirty="0"/>
          </a:p>
          <a:p>
            <a:r>
              <a:rPr lang="en-US" altLang="zh-CN" dirty="0"/>
              <a:t>K&gt;0</a:t>
            </a:r>
            <a:r>
              <a:rPr lang="zh-CN" altLang="en-US" dirty="0"/>
              <a:t>→风险厌恶型</a:t>
            </a:r>
            <a:endParaRPr lang="en-US" altLang="zh-CN" dirty="0"/>
          </a:p>
          <a:p>
            <a:r>
              <a:rPr lang="en-US" altLang="zh-CN" dirty="0"/>
              <a:t>K=0</a:t>
            </a:r>
            <a:r>
              <a:rPr lang="zh-CN" altLang="en-US" dirty="0"/>
              <a:t>→风险中性</a:t>
            </a:r>
            <a:endParaRPr lang="en-US" altLang="zh-CN" dirty="0"/>
          </a:p>
          <a:p>
            <a:r>
              <a:rPr lang="en-US" altLang="zh-CN" dirty="0"/>
              <a:t>K&lt;0</a:t>
            </a:r>
            <a:r>
              <a:rPr lang="zh-CN" altLang="en-US" dirty="0"/>
              <a:t>→风险偏好型</a:t>
            </a:r>
            <a:endParaRPr lang="en-US" altLang="zh-CN" dirty="0"/>
          </a:p>
          <a:p>
            <a:endParaRPr lang="zh-CN" alt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RADR</a:t>
            </a:r>
            <a:r>
              <a:rPr lang="zh-CN" altLang="en-US" dirty="0"/>
              <a:t>：风险调整贴现率</a:t>
            </a:r>
            <a:endParaRPr lang="zh-CN" altLang="en-US" dirty="0"/>
          </a:p>
        </p:txBody>
      </p:sp>
      <p:sp>
        <p:nvSpPr>
          <p:cNvPr id="3" name="内容占位符 2"/>
          <p:cNvSpPr>
            <a:spLocks noGrp="1"/>
          </p:cNvSpPr>
          <p:nvPr>
            <p:ph idx="1"/>
          </p:nvPr>
        </p:nvSpPr>
        <p:spPr>
          <a:xfrm>
            <a:off x="179512" y="1628800"/>
            <a:ext cx="5544616" cy="5085184"/>
          </a:xfrm>
          <a:gradFill flip="none" rotWithShape="1">
            <a:gsLst>
              <a:gs pos="0">
                <a:schemeClr val="accent3">
                  <a:lumMod val="20000"/>
                  <a:lumOff val="80000"/>
                </a:schemeClr>
              </a:gs>
              <a:gs pos="76000">
                <a:schemeClr val="accent3">
                  <a:lumMod val="40000"/>
                  <a:lumOff val="60000"/>
                </a:schemeClr>
              </a:gs>
              <a:gs pos="100000">
                <a:schemeClr val="bg1"/>
              </a:gs>
            </a:gsLst>
            <a:lin ang="16200000" scaled="1"/>
            <a:tileRect/>
          </a:gradFill>
          <a:effectLst>
            <a:innerShdw blurRad="63500" dist="50800" dir="16200000">
              <a:prstClr val="black">
                <a:alpha val="50000"/>
              </a:prstClr>
            </a:innerShdw>
          </a:effectLst>
        </p:spPr>
        <p:txBody>
          <a:bodyPr>
            <a:normAutofit fontScale="85000" lnSpcReduction="10000"/>
          </a:bodyPr>
          <a:lstStyle/>
          <a:p>
            <a:r>
              <a:rPr lang="en-US" altLang="zh-CN" dirty="0"/>
              <a:t>E</a:t>
            </a:r>
            <a:r>
              <a:rPr lang="zh-CN" altLang="en-US" dirty="0"/>
              <a:t>（</a:t>
            </a:r>
            <a:r>
              <a:rPr lang="en-US" altLang="zh-CN" dirty="0"/>
              <a:t>R</a:t>
            </a:r>
            <a:r>
              <a:rPr lang="zh-CN" altLang="en-US" dirty="0"/>
              <a:t>）：项目期望收入</a:t>
            </a:r>
            <a:endParaRPr lang="en-US" altLang="zh-CN" dirty="0"/>
          </a:p>
          <a:p>
            <a:r>
              <a:rPr lang="en-US" altLang="zh-CN" dirty="0"/>
              <a:t>CE</a:t>
            </a:r>
            <a:r>
              <a:rPr lang="zh-CN" altLang="en-US" dirty="0"/>
              <a:t>（</a:t>
            </a:r>
            <a:r>
              <a:rPr lang="en-US" altLang="zh-CN" dirty="0"/>
              <a:t>certainty equivalent</a:t>
            </a:r>
            <a:r>
              <a:rPr lang="zh-CN" altLang="en-US" dirty="0"/>
              <a:t>）：确定性等价</a:t>
            </a:r>
            <a:r>
              <a:rPr lang="en-US" altLang="zh-CN" dirty="0"/>
              <a:t>——</a:t>
            </a:r>
            <a:r>
              <a:rPr lang="zh-CN" altLang="en-US" dirty="0"/>
              <a:t>会给投资人带来相同满意度的其它确定性项目收入</a:t>
            </a:r>
            <a:r>
              <a:rPr lang="en-US" altLang="zh-CN" dirty="0"/>
              <a:t>——</a:t>
            </a:r>
            <a:r>
              <a:rPr lang="zh-CN" altLang="en-US" dirty="0"/>
              <a:t>通常使用零风险利率（</a:t>
            </a:r>
            <a:r>
              <a:rPr lang="en-US" altLang="zh-CN" dirty="0"/>
              <a:t>i</a:t>
            </a:r>
            <a:r>
              <a:rPr lang="en-US" altLang="zh-CN" baseline="-25000" dirty="0"/>
              <a:t>f</a:t>
            </a:r>
            <a:r>
              <a:rPr lang="zh-CN" altLang="en-US" dirty="0"/>
              <a:t>）的政府债券投资收益决定</a:t>
            </a:r>
            <a:endParaRPr lang="en-US" altLang="zh-CN" dirty="0"/>
          </a:p>
          <a:p>
            <a:r>
              <a:rPr lang="zh-CN" altLang="en-US" dirty="0"/>
              <a:t>使</a:t>
            </a:r>
            <a:r>
              <a:rPr lang="en-US" altLang="zh-CN" dirty="0"/>
              <a:t>n</a:t>
            </a:r>
            <a:r>
              <a:rPr lang="zh-CN" altLang="en-US" dirty="0"/>
              <a:t>内两个项目投资的现值相等，解得</a:t>
            </a:r>
            <a:r>
              <a:rPr lang="en-US" altLang="zh-CN" dirty="0"/>
              <a:t>RADR</a:t>
            </a:r>
            <a:endParaRPr lang="zh-CN" altLang="en-US" dirty="0"/>
          </a:p>
        </p:txBody>
      </p:sp>
      <p:graphicFrame>
        <p:nvGraphicFramePr>
          <p:cNvPr id="4" name="对象 3"/>
          <p:cNvGraphicFramePr>
            <a:graphicFrameLocks noChangeAspect="1"/>
          </p:cNvGraphicFramePr>
          <p:nvPr/>
        </p:nvGraphicFramePr>
        <p:xfrm>
          <a:off x="5796136" y="2060848"/>
          <a:ext cx="3209499" cy="864096"/>
        </p:xfrm>
        <a:graphic>
          <a:graphicData uri="http://schemas.openxmlformats.org/presentationml/2006/ole">
            <mc:AlternateContent xmlns:mc="http://schemas.openxmlformats.org/markup-compatibility/2006">
              <mc:Choice xmlns:v="urn:schemas-microsoft-com:vml" Requires="v">
                <p:oleObj spid="_x0000_s35844" name="公式" r:id="rId1" imgW="39624000" imgH="10668000" progId="Equation.3">
                  <p:embed/>
                </p:oleObj>
              </mc:Choice>
              <mc:Fallback>
                <p:oleObj name="公式" r:id="rId1" imgW="39624000" imgH="10668000" progId="Equation.3">
                  <p:embed/>
                  <p:pic>
                    <p:nvPicPr>
                      <p:cNvPr id="0" name="对象 3"/>
                      <p:cNvPicPr/>
                      <p:nvPr/>
                    </p:nvPicPr>
                    <p:blipFill>
                      <a:blip r:embed="rId2"/>
                      <a:stretch>
                        <a:fillRect/>
                      </a:stretch>
                    </p:blipFill>
                    <p:spPr>
                      <a:xfrm>
                        <a:off x="5796136" y="2060848"/>
                        <a:ext cx="3209499" cy="864096"/>
                      </a:xfrm>
                      <a:prstGeom prst="rect">
                        <a:avLst/>
                      </a:prstGeom>
                    </p:spPr>
                  </p:pic>
                </p:oleObj>
              </mc:Fallback>
            </mc:AlternateContent>
          </a:graphicData>
        </a:graphic>
      </p:graphicFrame>
      <p:sp>
        <p:nvSpPr>
          <p:cNvPr id="5" name="TextBox 4"/>
          <p:cNvSpPr txBox="1"/>
          <p:nvPr/>
        </p:nvSpPr>
        <p:spPr>
          <a:xfrm>
            <a:off x="5868144" y="3021743"/>
            <a:ext cx="2448272" cy="646331"/>
          </a:xfrm>
          <a:prstGeom prst="rect">
            <a:avLst/>
          </a:prstGeom>
          <a:noFill/>
        </p:spPr>
        <p:txBody>
          <a:bodyPr wrap="square" rtlCol="0">
            <a:spAutoFit/>
          </a:bodyPr>
          <a:lstStyle/>
          <a:p>
            <a:r>
              <a:rPr lang="zh-CN" altLang="en-US" dirty="0"/>
              <a:t>给定确定性等价（</a:t>
            </a:r>
            <a:r>
              <a:rPr lang="en-US" altLang="zh-CN" dirty="0"/>
              <a:t>CE</a:t>
            </a:r>
            <a:r>
              <a:rPr lang="zh-CN" altLang="en-US" dirty="0"/>
              <a:t>）和无风险贴现率（</a:t>
            </a:r>
            <a:r>
              <a:rPr lang="en-US" altLang="zh-CN" dirty="0"/>
              <a:t>i</a:t>
            </a:r>
            <a:r>
              <a:rPr lang="en-US" altLang="zh-CN" baseline="-25000" dirty="0"/>
              <a:t>f</a:t>
            </a:r>
            <a:r>
              <a:rPr lang="zh-CN" altLang="en-US" dirty="0"/>
              <a:t>）</a:t>
            </a:r>
            <a:endParaRPr lang="en-US" altLang="zh-CN" dirty="0"/>
          </a:p>
        </p:txBody>
      </p:sp>
      <p:sp>
        <p:nvSpPr>
          <p:cNvPr id="6" name="TextBox 5"/>
          <p:cNvSpPr txBox="1"/>
          <p:nvPr/>
        </p:nvSpPr>
        <p:spPr>
          <a:xfrm>
            <a:off x="5868144" y="3668074"/>
            <a:ext cx="2520280" cy="1200329"/>
          </a:xfrm>
          <a:prstGeom prst="rect">
            <a:avLst/>
          </a:prstGeom>
          <a:noFill/>
        </p:spPr>
        <p:txBody>
          <a:bodyPr wrap="square" rtlCol="0">
            <a:spAutoFit/>
          </a:bodyPr>
          <a:lstStyle/>
          <a:p>
            <a:r>
              <a:rPr lang="en-US" altLang="zh-CN" dirty="0"/>
              <a:t>RADR</a:t>
            </a:r>
            <a:r>
              <a:rPr lang="zh-CN" altLang="en-US" dirty="0"/>
              <a:t>（以及风险溢价水平</a:t>
            </a:r>
            <a:r>
              <a:rPr lang="en-US" altLang="zh-CN" dirty="0"/>
              <a:t>k=RADR-i</a:t>
            </a:r>
            <a:r>
              <a:rPr lang="en-US" altLang="zh-CN" baseline="-25000" dirty="0"/>
              <a:t>f</a:t>
            </a:r>
            <a:r>
              <a:rPr lang="zh-CN" altLang="en-US" dirty="0"/>
              <a:t>）取决于</a:t>
            </a:r>
            <a:endParaRPr lang="en-US" altLang="zh-CN" dirty="0"/>
          </a:p>
          <a:p>
            <a:r>
              <a:rPr lang="en-US" altLang="zh-CN" dirty="0"/>
              <a:t>1</a:t>
            </a:r>
            <a:r>
              <a:rPr lang="zh-CN" altLang="en-US" dirty="0"/>
              <a:t>、投资期限</a:t>
            </a:r>
            <a:r>
              <a:rPr lang="en-US" altLang="zh-CN" dirty="0"/>
              <a:t>n</a:t>
            </a:r>
            <a:endParaRPr lang="en-US" altLang="zh-CN" dirty="0"/>
          </a:p>
          <a:p>
            <a:r>
              <a:rPr lang="en-US" altLang="zh-CN" dirty="0"/>
              <a:t>2</a:t>
            </a:r>
            <a:r>
              <a:rPr lang="zh-CN" altLang="en-US" dirty="0"/>
              <a:t>、项目期望收益</a:t>
            </a:r>
            <a:r>
              <a:rPr lang="en-US" altLang="zh-CN" dirty="0"/>
              <a:t>E</a:t>
            </a:r>
            <a:r>
              <a:rPr lang="zh-CN" altLang="en-US" dirty="0"/>
              <a:t>（</a:t>
            </a:r>
            <a:r>
              <a:rPr lang="en-US" altLang="zh-CN" dirty="0"/>
              <a:t>R</a:t>
            </a:r>
            <a:r>
              <a:rPr lang="zh-CN" altLang="en-US" dirty="0"/>
              <a:t>）</a:t>
            </a:r>
            <a:endParaRPr lang="zh-CN" altLang="en-US" dirty="0"/>
          </a:p>
        </p:txBody>
      </p:sp>
      <p:sp>
        <p:nvSpPr>
          <p:cNvPr id="7" name="矩形 6"/>
          <p:cNvSpPr/>
          <p:nvPr/>
        </p:nvSpPr>
        <p:spPr>
          <a:xfrm>
            <a:off x="5868144" y="4868403"/>
            <a:ext cx="2747581" cy="175432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3600" b="1" cap="none" spc="50" dirty="0">
                <a:ln w="11430"/>
                <a:solidFill>
                  <a:srgbClr val="00B050"/>
                </a:solidFill>
                <a:effectLst>
                  <a:outerShdw blurRad="76200" dist="50800" dir="5400000" algn="tl" rotWithShape="0">
                    <a:srgbClr val="000000">
                      <a:alpha val="65000"/>
                    </a:srgbClr>
                  </a:outerShdw>
                </a:effectLst>
                <a:latin typeface="隶书" panose="02010509060101010101" pitchFamily="49" charset="-122"/>
                <a:ea typeface="隶书" panose="02010509060101010101" pitchFamily="49" charset="-122"/>
              </a:rPr>
              <a:t>风险越高，期望收益越大</a:t>
            </a:r>
            <a:endParaRPr lang="zh-CN" altLang="en-US" sz="3600" b="1" cap="none" spc="50" dirty="0">
              <a:ln w="11430"/>
              <a:solidFill>
                <a:srgbClr val="00B050"/>
              </a:solidFill>
              <a:effectLst>
                <a:outerShdw blurRad="76200" dist="50800" dir="5400000" algn="tl" rotWithShape="0">
                  <a:srgbClr val="000000">
                    <a:alpha val="65000"/>
                  </a:srgbClr>
                </a:outerShdw>
              </a:effectLst>
              <a:latin typeface="隶书" panose="02010509060101010101" pitchFamily="49" charset="-122"/>
              <a:ea typeface="隶书" panose="02010509060101010101" pitchFamily="49" charset="-122"/>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Payback Period</a:t>
            </a:r>
            <a:r>
              <a:rPr lang="zh-CN" altLang="en-US" dirty="0"/>
              <a:t>投资回收期</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dirty="0"/>
              <a:t>The length of time required to recover the cost of an investment. The payback period of a given investment or project is an important determinant of whether to undertake the position or project, as longer payback periods are typically not desirable for investment positions. </a:t>
            </a:r>
            <a:endParaRPr lang="en-US" altLang="zh-CN" dirty="0"/>
          </a:p>
          <a:p>
            <a:r>
              <a:rPr lang="zh-CN" altLang="en-US" b="1" dirty="0"/>
              <a:t>（</a:t>
            </a:r>
            <a:r>
              <a:rPr lang="en-US" altLang="zh-CN" b="1" dirty="0"/>
              <a:t>static</a:t>
            </a:r>
            <a:r>
              <a:rPr lang="zh-CN" altLang="en-US" b="1" dirty="0"/>
              <a:t>）</a:t>
            </a:r>
            <a:r>
              <a:rPr lang="en-US" altLang="zh-CN" b="1" dirty="0"/>
              <a:t>Payback Period = Cost of Project / Annual Cash Inflows</a:t>
            </a:r>
            <a:endParaRPr lang="zh-CN" alt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投资回收期</a:t>
            </a:r>
            <a:endParaRPr kumimoji="1" lang="zh-CN" altLang="en-US" dirty="0"/>
          </a:p>
        </p:txBody>
      </p:sp>
      <p:sp>
        <p:nvSpPr>
          <p:cNvPr id="3" name="内容占位符 2"/>
          <p:cNvSpPr>
            <a:spLocks noGrp="1"/>
          </p:cNvSpPr>
          <p:nvPr>
            <p:ph idx="1"/>
          </p:nvPr>
        </p:nvSpPr>
        <p:spPr/>
        <p:txBody>
          <a:bodyPr/>
          <a:lstStyle/>
          <a:p>
            <a:r>
              <a:rPr kumimoji="1" lang="zh-CN" altLang="en-US" dirty="0"/>
              <a:t>好处：在不确定性较强的国家和地区，倾向于更短的投资回收期</a:t>
            </a:r>
            <a:endParaRPr kumimoji="1" lang="en-US" altLang="zh-CN" dirty="0"/>
          </a:p>
          <a:p>
            <a:r>
              <a:rPr kumimoji="1" lang="zh-CN" altLang="en-US" dirty="0"/>
              <a:t>坏处：排除了那些投资回收期更长，但实际收益率更高的项目</a:t>
            </a:r>
            <a:endParaRPr kumimoji="1" lang="zh-CN" alt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Sensitivity Analysis</a:t>
            </a:r>
            <a:r>
              <a:rPr lang="zh-CN" altLang="en-US" dirty="0"/>
              <a:t>敏感性分析</a:t>
            </a:r>
            <a:endParaRPr lang="zh-CN" altLang="en-US" dirty="0"/>
          </a:p>
        </p:txBody>
      </p:sp>
      <p:sp>
        <p:nvSpPr>
          <p:cNvPr id="3" name="内容占位符 2"/>
          <p:cNvSpPr>
            <a:spLocks noGrp="1"/>
          </p:cNvSpPr>
          <p:nvPr>
            <p:ph idx="1"/>
          </p:nvPr>
        </p:nvSpPr>
        <p:spPr>
          <a:xfrm>
            <a:off x="323528" y="1772816"/>
            <a:ext cx="8640960" cy="4896544"/>
          </a:xfrm>
        </p:spPr>
        <p:txBody>
          <a:bodyPr>
            <a:normAutofit fontScale="70000" lnSpcReduction="20000"/>
          </a:bodyPr>
          <a:lstStyle/>
          <a:p>
            <a:r>
              <a:rPr lang="en-US" altLang="zh-CN" dirty="0"/>
              <a:t>A technique used to determine how different values of an independent variable will impact a particular dependent variable under a given set of assumptions.</a:t>
            </a:r>
            <a:endParaRPr lang="en-US" altLang="zh-CN" dirty="0"/>
          </a:p>
          <a:p>
            <a:r>
              <a:rPr lang="en-US" altLang="zh-CN" dirty="0"/>
              <a:t> This technique is used within specific boundaries that will depend on one or more input variables, such as the effect that changes in interest rates will have on a bond's price.</a:t>
            </a:r>
            <a:endParaRPr lang="en-US" altLang="zh-CN" dirty="0"/>
          </a:p>
          <a:p>
            <a:r>
              <a:rPr lang="en-US" altLang="zh-CN" dirty="0"/>
              <a:t>Sensitivity analysis is a way to predict the outcome of a decision if a situation turns out to be different compared to the key prediction(s)</a:t>
            </a:r>
            <a:endParaRPr lang="zh-CN" alt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敏感性分析</a:t>
            </a:r>
            <a:endParaRPr lang="zh-CN" altLang="en-US" dirty="0"/>
          </a:p>
        </p:txBody>
      </p:sp>
      <p:sp>
        <p:nvSpPr>
          <p:cNvPr id="3" name="内容占位符 2"/>
          <p:cNvSpPr>
            <a:spLocks noGrp="1"/>
          </p:cNvSpPr>
          <p:nvPr>
            <p:ph idx="1"/>
          </p:nvPr>
        </p:nvSpPr>
        <p:spPr/>
        <p:txBody>
          <a:bodyPr/>
          <a:lstStyle/>
          <a:p>
            <a:r>
              <a:rPr lang="zh-CN" altLang="en-US" dirty="0"/>
              <a:t>从众多不确定性因素中找出对投资项目经济效益指标有重要影响的敏感性因素，并分析、测算其对项目经济效益指标的影响程度和敏感性程度，进而判断项目承受风险能力的一种不确定性分析方法。</a:t>
            </a:r>
            <a:endParaRPr lang="zh-CN" alt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敏感性分析法的步骤</a:t>
            </a:r>
            <a:endParaRPr lang="zh-CN" altLang="en-US" dirty="0"/>
          </a:p>
        </p:txBody>
      </p:sp>
      <p:sp>
        <p:nvSpPr>
          <p:cNvPr id="3" name="内容占位符 2"/>
          <p:cNvSpPr>
            <a:spLocks noGrp="1"/>
          </p:cNvSpPr>
          <p:nvPr>
            <p:ph idx="1"/>
          </p:nvPr>
        </p:nvSpPr>
        <p:spPr>
          <a:xfrm>
            <a:off x="251520" y="1556792"/>
            <a:ext cx="8712968" cy="5184576"/>
          </a:xfrm>
        </p:spPr>
        <p:txBody>
          <a:bodyPr>
            <a:noAutofit/>
          </a:bodyPr>
          <a:lstStyle/>
          <a:p>
            <a:r>
              <a:rPr lang="en-US" altLang="zh-CN" sz="1400" b="1" dirty="0"/>
              <a:t>1</a:t>
            </a:r>
            <a:r>
              <a:rPr lang="zh-CN" altLang="en-US" sz="1400" b="1" dirty="0"/>
              <a:t>、确定敏感性分析指标</a:t>
            </a:r>
            <a:endParaRPr lang="zh-CN" altLang="en-US" sz="1400" dirty="0"/>
          </a:p>
          <a:p>
            <a:r>
              <a:rPr lang="zh-CN" altLang="en-US" sz="1400" dirty="0"/>
              <a:t>　　敏感性分析的对象是具体的技术方案及其反映的经济效益。因此，技术方案的某些经济效益评价指标，例如息税前利润、投资回收期、投资收益率、净现值、内部收益率等，都可以作为敏感性分析指标。</a:t>
            </a:r>
            <a:endParaRPr lang="zh-CN" altLang="en-US" sz="1400" dirty="0"/>
          </a:p>
          <a:p>
            <a:r>
              <a:rPr lang="zh-CN" altLang="en-US" sz="1400" dirty="0"/>
              <a:t>　　</a:t>
            </a:r>
            <a:r>
              <a:rPr lang="en-US" altLang="zh-CN" sz="1400" b="1" dirty="0"/>
              <a:t>2</a:t>
            </a:r>
            <a:r>
              <a:rPr lang="zh-CN" altLang="en-US" sz="1400" b="1" dirty="0"/>
              <a:t>、计算该技术方案的目标值</a:t>
            </a:r>
            <a:endParaRPr lang="zh-CN" altLang="en-US" sz="1400" dirty="0"/>
          </a:p>
          <a:p>
            <a:r>
              <a:rPr lang="zh-CN" altLang="en-US" sz="1400" dirty="0"/>
              <a:t>　　一般将在正常状态下的经济效益评价指标数值，作为目标值。</a:t>
            </a:r>
            <a:endParaRPr lang="zh-CN" altLang="en-US" sz="1400" dirty="0"/>
          </a:p>
          <a:p>
            <a:r>
              <a:rPr lang="zh-CN" altLang="en-US" sz="1400" dirty="0"/>
              <a:t>　　</a:t>
            </a:r>
            <a:r>
              <a:rPr lang="en-US" altLang="zh-CN" sz="1400" b="1" dirty="0"/>
              <a:t>3</a:t>
            </a:r>
            <a:r>
              <a:rPr lang="zh-CN" altLang="en-US" sz="1400" b="1" dirty="0"/>
              <a:t>、选取不确定因素</a:t>
            </a:r>
            <a:endParaRPr lang="zh-CN" altLang="en-US" sz="1400" dirty="0"/>
          </a:p>
          <a:p>
            <a:r>
              <a:rPr lang="zh-CN" altLang="en-US" sz="1400" dirty="0"/>
              <a:t>　　在进行敏感性分析时，并不需要对所有的不确定因素都考虑和计算，而应视方案的具体情况选取几个变化可能性较大，并对经效益目标值影响作用较大的因素。例如：产品售价变动、产量规模变动、投资额变化等；或是建设期缩短，达产期延长等，这些都会对方案的经济效益大小产生影响。</a:t>
            </a:r>
            <a:endParaRPr lang="zh-CN" altLang="en-US" sz="1400" dirty="0"/>
          </a:p>
          <a:p>
            <a:r>
              <a:rPr lang="zh-CN" altLang="en-US" sz="1400" dirty="0"/>
              <a:t>　　</a:t>
            </a:r>
            <a:r>
              <a:rPr lang="en-US" altLang="zh-CN" sz="1400" b="1" dirty="0"/>
              <a:t>4</a:t>
            </a:r>
            <a:r>
              <a:rPr lang="zh-CN" altLang="en-US" sz="1400" b="1" dirty="0"/>
              <a:t>、计算不确定因素变动时对分析指标的影响程度</a:t>
            </a:r>
            <a:endParaRPr lang="zh-CN" altLang="en-US" sz="1400" dirty="0"/>
          </a:p>
          <a:p>
            <a:r>
              <a:rPr lang="zh-CN" altLang="en-US" sz="1400" dirty="0"/>
              <a:t>　　若进行单因素敏感性分析时，则要在固定其它因素的条件下，变动其中一个不确定因素；然后，再变动另一个因素（仍然保持其它因素不变），以此求出某个不确定因素本身对方案效益指标目标值的影响程度。</a:t>
            </a:r>
            <a:endParaRPr lang="zh-CN" altLang="en-US" sz="1400" dirty="0"/>
          </a:p>
          <a:p>
            <a:r>
              <a:rPr lang="zh-CN" altLang="en-US" sz="1400" dirty="0"/>
              <a:t>　　</a:t>
            </a:r>
            <a:r>
              <a:rPr lang="en-US" altLang="zh-CN" sz="1400" b="1" dirty="0"/>
              <a:t>5</a:t>
            </a:r>
            <a:r>
              <a:rPr lang="zh-CN" altLang="en-US" sz="1400" b="1" dirty="0"/>
              <a:t>、找出敏感因素，进行分析和采取措施，以提高技术方案的抗风险的能力。</a:t>
            </a:r>
            <a:endParaRPr lang="zh-CN" altLang="en-US" sz="14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“决策树”方法</a:t>
            </a:r>
            <a:endParaRPr lang="zh-CN" altLang="en-US" dirty="0"/>
          </a:p>
        </p:txBody>
      </p:sp>
      <p:sp>
        <p:nvSpPr>
          <p:cNvPr id="3" name="内容占位符 2"/>
          <p:cNvSpPr>
            <a:spLocks noGrp="1"/>
          </p:cNvSpPr>
          <p:nvPr>
            <p:ph idx="1"/>
          </p:nvPr>
        </p:nvSpPr>
        <p:spPr/>
        <p:txBody>
          <a:bodyPr/>
          <a:lstStyle/>
          <a:p>
            <a:r>
              <a:rPr lang="zh-CN" altLang="en-US" dirty="0"/>
              <a:t>为不同的结果赋予可能的概率</a:t>
            </a:r>
            <a:endParaRPr lang="en-US" altLang="zh-CN" dirty="0"/>
          </a:p>
          <a:p>
            <a:r>
              <a:rPr lang="zh-CN" altLang="en-US" dirty="0"/>
              <a:t>通过图形对面临的选择、事件发生的顺序、概率和可能的结果来进行表述</a:t>
            </a:r>
            <a:endParaRPr lang="en-US" altLang="zh-CN" dirty="0"/>
          </a:p>
          <a:p>
            <a:pPr marL="0" indent="0">
              <a:buNone/>
            </a:pPr>
            <a:endParaRPr lang="zh-CN" alt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8"/>
          <p:cNvSpPr>
            <a:spLocks noChangeArrowheads="1"/>
          </p:cNvSpPr>
          <p:nvPr/>
        </p:nvSpPr>
        <p:spPr bwMode="auto">
          <a:xfrm>
            <a:off x="1979613" y="665163"/>
            <a:ext cx="5545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b="1">
                <a:solidFill>
                  <a:srgbClr val="000000"/>
                </a:solidFill>
                <a:latin typeface="Times New Roman" panose="02020603050405020304" pitchFamily="18" charset="0"/>
                <a:cs typeface="Times New Roman" panose="02020603050405020304" pitchFamily="18" charset="0"/>
              </a:rPr>
              <a:t>Figure 3.1: Decision tree for a pest control project</a:t>
            </a:r>
            <a:endParaRPr lang="en-US" altLang="zh-CN" b="1">
              <a:latin typeface="Times New Roman" panose="02020603050405020304" pitchFamily="18" charset="0"/>
              <a:cs typeface="Times New Roman" panose="02020603050405020304" pitchFamily="18" charset="0"/>
            </a:endParaRPr>
          </a:p>
        </p:txBody>
      </p:sp>
      <p:grpSp>
        <p:nvGrpSpPr>
          <p:cNvPr id="10243" name="Group 2"/>
          <p:cNvGrpSpPr/>
          <p:nvPr/>
        </p:nvGrpSpPr>
        <p:grpSpPr bwMode="auto">
          <a:xfrm>
            <a:off x="1476375" y="1579563"/>
            <a:ext cx="6840538" cy="4400550"/>
            <a:chOff x="1371600" y="1635005"/>
            <a:chExt cx="4994564" cy="3986623"/>
          </a:xfrm>
        </p:grpSpPr>
        <p:sp>
          <p:nvSpPr>
            <p:cNvPr id="10246" name="TextBox 53"/>
            <p:cNvSpPr txBox="1">
              <a:spLocks noChangeArrowheads="1"/>
            </p:cNvSpPr>
            <p:nvPr/>
          </p:nvSpPr>
          <p:spPr bwMode="auto">
            <a:xfrm rot="2377267">
              <a:off x="2326028" y="4925287"/>
              <a:ext cx="738551"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0.8</a:t>
              </a:r>
              <a:endParaRPr lang="en-CA">
                <a:latin typeface="Times New Roman" panose="02020603050405020304" pitchFamily="18" charset="0"/>
                <a:cs typeface="Times New Roman" panose="02020603050405020304" pitchFamily="18" charset="0"/>
              </a:endParaRPr>
            </a:p>
          </p:txBody>
        </p:sp>
        <p:sp>
          <p:nvSpPr>
            <p:cNvPr id="10247" name="TextBox 58"/>
            <p:cNvSpPr txBox="1">
              <a:spLocks noChangeArrowheads="1"/>
            </p:cNvSpPr>
            <p:nvPr/>
          </p:nvSpPr>
          <p:spPr bwMode="auto">
            <a:xfrm>
              <a:off x="4911977" y="1658424"/>
              <a:ext cx="1431467"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$119,244</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0.24</a:t>
              </a:r>
              <a:endParaRPr lang="en-CA">
                <a:latin typeface="Times New Roman" panose="02020603050405020304" pitchFamily="18" charset="0"/>
                <a:cs typeface="Times New Roman" panose="02020603050405020304" pitchFamily="18" charset="0"/>
              </a:endParaRPr>
            </a:p>
          </p:txBody>
        </p:sp>
        <p:sp>
          <p:nvSpPr>
            <p:cNvPr id="6" name="Rectangle 5"/>
            <p:cNvSpPr/>
            <p:nvPr/>
          </p:nvSpPr>
          <p:spPr>
            <a:xfrm>
              <a:off x="1371600" y="3435601"/>
              <a:ext cx="228343" cy="2286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7" name="Straight Connector 6"/>
            <p:cNvCxnSpPr>
              <a:endCxn id="8" idx="3"/>
            </p:cNvCxnSpPr>
            <p:nvPr/>
          </p:nvCxnSpPr>
          <p:spPr>
            <a:xfrm flipV="1">
              <a:off x="1599943" y="2833005"/>
              <a:ext cx="768483" cy="602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334813" y="2637413"/>
              <a:ext cx="228342" cy="228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9" name="Straight Connector 8"/>
            <p:cNvCxnSpPr>
              <a:endCxn id="10" idx="3"/>
            </p:cNvCxnSpPr>
            <p:nvPr/>
          </p:nvCxnSpPr>
          <p:spPr>
            <a:xfrm rot="5400000" flipV="1">
              <a:off x="1562049" y="3702164"/>
              <a:ext cx="719088" cy="643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rot="5400000">
              <a:off x="2209467" y="4350444"/>
              <a:ext cx="228669" cy="22834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11" name="Straight Connector 10"/>
            <p:cNvCxnSpPr>
              <a:endCxn id="10278" idx="1"/>
            </p:cNvCxnSpPr>
            <p:nvPr/>
          </p:nvCxnSpPr>
          <p:spPr>
            <a:xfrm flipV="1">
              <a:off x="2514473" y="1928393"/>
              <a:ext cx="746461" cy="703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545769" y="2794175"/>
              <a:ext cx="1295874" cy="1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3847438" y="2637413"/>
              <a:ext cx="228343" cy="228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14" name="Straight Connector 13"/>
            <p:cNvCxnSpPr/>
            <p:nvPr/>
          </p:nvCxnSpPr>
          <p:spPr>
            <a:xfrm flipV="1">
              <a:off x="4038690" y="1810462"/>
              <a:ext cx="871644" cy="8211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044486" y="2795612"/>
              <a:ext cx="1371216" cy="14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383495" y="4537244"/>
              <a:ext cx="832234" cy="8600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3017335" y="1952401"/>
              <a:ext cx="533563" cy="23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4644131" y="1942914"/>
              <a:ext cx="533564" cy="11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5144283" y="2710320"/>
              <a:ext cx="533564" cy="23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3495463" y="4525878"/>
              <a:ext cx="533564" cy="11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2950107" y="5260205"/>
              <a:ext cx="533563" cy="23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64" name="TextBox 37"/>
            <p:cNvSpPr txBox="1">
              <a:spLocks noChangeArrowheads="1"/>
            </p:cNvSpPr>
            <p:nvPr/>
          </p:nvSpPr>
          <p:spPr bwMode="auto">
            <a:xfrm rot="-2037601">
              <a:off x="1522596" y="2852393"/>
              <a:ext cx="615711"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spray</a:t>
              </a:r>
              <a:endParaRPr lang="en-CA">
                <a:latin typeface="Times New Roman" panose="02020603050405020304" pitchFamily="18" charset="0"/>
                <a:cs typeface="Times New Roman" panose="02020603050405020304" pitchFamily="18" charset="0"/>
              </a:endParaRPr>
            </a:p>
          </p:txBody>
        </p:sp>
        <p:sp>
          <p:nvSpPr>
            <p:cNvPr id="10265" name="TextBox 38"/>
            <p:cNvSpPr txBox="1">
              <a:spLocks noChangeArrowheads="1"/>
            </p:cNvSpPr>
            <p:nvPr/>
          </p:nvSpPr>
          <p:spPr bwMode="auto">
            <a:xfrm rot="-2183843">
              <a:off x="2275953" y="1758338"/>
              <a:ext cx="908537"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no infestation</a:t>
              </a:r>
              <a:endParaRPr lang="en-CA">
                <a:latin typeface="Times New Roman" panose="02020603050405020304" pitchFamily="18" charset="0"/>
                <a:cs typeface="Times New Roman" panose="02020603050405020304" pitchFamily="18" charset="0"/>
              </a:endParaRPr>
            </a:p>
          </p:txBody>
        </p:sp>
        <p:sp>
          <p:nvSpPr>
            <p:cNvPr id="10266" name="TextBox 39"/>
            <p:cNvSpPr txBox="1">
              <a:spLocks noChangeArrowheads="1"/>
            </p:cNvSpPr>
            <p:nvPr/>
          </p:nvSpPr>
          <p:spPr bwMode="auto">
            <a:xfrm rot="2555163">
              <a:off x="1658242" y="3797361"/>
              <a:ext cx="798841"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no spray</a:t>
              </a:r>
              <a:endParaRPr lang="en-CA">
                <a:latin typeface="Times New Roman" panose="02020603050405020304" pitchFamily="18" charset="0"/>
                <a:cs typeface="Times New Roman" panose="02020603050405020304" pitchFamily="18" charset="0"/>
              </a:endParaRPr>
            </a:p>
          </p:txBody>
        </p:sp>
        <p:sp>
          <p:nvSpPr>
            <p:cNvPr id="10267" name="TextBox 40"/>
            <p:cNvSpPr txBox="1">
              <a:spLocks noChangeArrowheads="1"/>
            </p:cNvSpPr>
            <p:nvPr/>
          </p:nvSpPr>
          <p:spPr bwMode="auto">
            <a:xfrm rot="2478743">
              <a:off x="2439857" y="4737703"/>
              <a:ext cx="893740"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infestation</a:t>
              </a:r>
              <a:endParaRPr lang="en-CA">
                <a:latin typeface="Times New Roman" panose="02020603050405020304" pitchFamily="18" charset="0"/>
                <a:cs typeface="Times New Roman" panose="02020603050405020304" pitchFamily="18" charset="0"/>
              </a:endParaRPr>
            </a:p>
          </p:txBody>
        </p:sp>
        <p:sp>
          <p:nvSpPr>
            <p:cNvPr id="10268" name="TextBox 41"/>
            <p:cNvSpPr txBox="1">
              <a:spLocks noChangeArrowheads="1"/>
            </p:cNvSpPr>
            <p:nvPr/>
          </p:nvSpPr>
          <p:spPr bwMode="auto">
            <a:xfrm>
              <a:off x="2557072" y="4130056"/>
              <a:ext cx="1075226"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no infestation</a:t>
              </a:r>
              <a:endParaRPr lang="en-CA">
                <a:latin typeface="Times New Roman" panose="02020603050405020304" pitchFamily="18" charset="0"/>
                <a:cs typeface="Times New Roman" panose="02020603050405020304" pitchFamily="18" charset="0"/>
              </a:endParaRPr>
            </a:p>
          </p:txBody>
        </p:sp>
        <p:sp>
          <p:nvSpPr>
            <p:cNvPr id="10269" name="TextBox 42"/>
            <p:cNvSpPr txBox="1">
              <a:spLocks noChangeArrowheads="1"/>
            </p:cNvSpPr>
            <p:nvPr/>
          </p:nvSpPr>
          <p:spPr bwMode="auto">
            <a:xfrm>
              <a:off x="2904644" y="2500745"/>
              <a:ext cx="849938"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000000"/>
                  </a:solidFill>
                  <a:latin typeface="Times New Roman" panose="02020603050405020304" pitchFamily="18" charset="0"/>
                  <a:cs typeface="Times New Roman" panose="02020603050405020304" pitchFamily="18" charset="0"/>
                </a:rPr>
                <a:t>infestation</a:t>
              </a:r>
              <a:endParaRPr lang="en-CA">
                <a:latin typeface="Times New Roman" panose="02020603050405020304" pitchFamily="18" charset="0"/>
                <a:cs typeface="Times New Roman" panose="02020603050405020304" pitchFamily="18" charset="0"/>
              </a:endParaRPr>
            </a:p>
          </p:txBody>
        </p:sp>
        <p:sp>
          <p:nvSpPr>
            <p:cNvPr id="10270" name="TextBox 43"/>
            <p:cNvSpPr txBox="1">
              <a:spLocks noChangeArrowheads="1"/>
            </p:cNvSpPr>
            <p:nvPr/>
          </p:nvSpPr>
          <p:spPr bwMode="auto">
            <a:xfrm>
              <a:off x="4232564" y="2521527"/>
              <a:ext cx="1207570"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000000"/>
                  </a:solidFill>
                  <a:latin typeface="Times New Roman" panose="02020603050405020304" pitchFamily="18" charset="0"/>
                  <a:cs typeface="Times New Roman" panose="02020603050405020304" pitchFamily="18" charset="0"/>
                </a:rPr>
                <a:t>spray succeeds</a:t>
              </a:r>
              <a:endParaRPr lang="en-CA">
                <a:latin typeface="Times New Roman" panose="02020603050405020304" pitchFamily="18" charset="0"/>
                <a:cs typeface="Times New Roman" panose="02020603050405020304" pitchFamily="18" charset="0"/>
              </a:endParaRPr>
            </a:p>
          </p:txBody>
        </p:sp>
        <p:sp>
          <p:nvSpPr>
            <p:cNvPr id="10271" name="TextBox 44"/>
            <p:cNvSpPr txBox="1">
              <a:spLocks noChangeArrowheads="1"/>
            </p:cNvSpPr>
            <p:nvPr/>
          </p:nvSpPr>
          <p:spPr bwMode="auto">
            <a:xfrm rot="-2059075">
              <a:off x="3941000" y="1955180"/>
              <a:ext cx="897447"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spray fails</a:t>
              </a:r>
              <a:endParaRPr lang="en-CA">
                <a:latin typeface="Times New Roman" panose="02020603050405020304" pitchFamily="18" charset="0"/>
                <a:cs typeface="Times New Roman" panose="02020603050405020304" pitchFamily="18" charset="0"/>
              </a:endParaRPr>
            </a:p>
          </p:txBody>
        </p:sp>
        <p:cxnSp>
          <p:nvCxnSpPr>
            <p:cNvPr id="30" name="Straight Connector 29"/>
            <p:cNvCxnSpPr/>
            <p:nvPr/>
          </p:nvCxnSpPr>
          <p:spPr>
            <a:xfrm>
              <a:off x="2458836" y="4475402"/>
              <a:ext cx="1295874" cy="14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73" name="TextBox 51"/>
            <p:cNvSpPr txBox="1">
              <a:spLocks noChangeArrowheads="1"/>
            </p:cNvSpPr>
            <p:nvPr/>
          </p:nvSpPr>
          <p:spPr bwMode="auto">
            <a:xfrm rot="-2310677">
              <a:off x="2573325" y="2222100"/>
              <a:ext cx="702335"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74" name="TextBox 52"/>
            <p:cNvSpPr txBox="1">
              <a:spLocks noChangeArrowheads="1"/>
            </p:cNvSpPr>
            <p:nvPr/>
          </p:nvSpPr>
          <p:spPr bwMode="auto">
            <a:xfrm>
              <a:off x="2971800" y="2751808"/>
              <a:ext cx="660498"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a:t>
              </a:r>
              <a:r>
                <a:rPr lang="en-US" altLang="zh-CN">
                  <a:latin typeface="Times New Roman" panose="02020603050405020304" pitchFamily="18" charset="0"/>
                  <a:cs typeface="Times New Roman" panose="02020603050405020304" pitchFamily="18" charset="0"/>
                </a:rPr>
                <a:t>= 0.8</a:t>
              </a:r>
              <a:endParaRPr lang="en-CA">
                <a:latin typeface="Times New Roman" panose="02020603050405020304" pitchFamily="18" charset="0"/>
                <a:cs typeface="Times New Roman" panose="02020603050405020304" pitchFamily="18" charset="0"/>
              </a:endParaRPr>
            </a:p>
          </p:txBody>
        </p:sp>
        <p:sp>
          <p:nvSpPr>
            <p:cNvPr id="10275" name="TextBox 54"/>
            <p:cNvSpPr txBox="1">
              <a:spLocks noChangeArrowheads="1"/>
            </p:cNvSpPr>
            <p:nvPr/>
          </p:nvSpPr>
          <p:spPr bwMode="auto">
            <a:xfrm rot="-2209364">
              <a:off x="4120108" y="2174999"/>
              <a:ext cx="773603"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0.3</a:t>
              </a:r>
              <a:endParaRPr lang="en-CA">
                <a:latin typeface="Times New Roman" panose="02020603050405020304" pitchFamily="18" charset="0"/>
                <a:cs typeface="Times New Roman" panose="02020603050405020304" pitchFamily="18" charset="0"/>
              </a:endParaRPr>
            </a:p>
          </p:txBody>
        </p:sp>
        <p:sp>
          <p:nvSpPr>
            <p:cNvPr id="10276" name="TextBox 55"/>
            <p:cNvSpPr txBox="1">
              <a:spLocks noChangeArrowheads="1"/>
            </p:cNvSpPr>
            <p:nvPr/>
          </p:nvSpPr>
          <p:spPr bwMode="auto">
            <a:xfrm>
              <a:off x="4457799" y="2768795"/>
              <a:ext cx="640715"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0.7</a:t>
              </a:r>
              <a:endParaRPr lang="en-CA">
                <a:latin typeface="Times New Roman" panose="02020603050405020304" pitchFamily="18" charset="0"/>
                <a:cs typeface="Times New Roman" panose="02020603050405020304" pitchFamily="18" charset="0"/>
              </a:endParaRPr>
            </a:p>
          </p:txBody>
        </p:sp>
        <p:sp>
          <p:nvSpPr>
            <p:cNvPr id="10277" name="TextBox 56"/>
            <p:cNvSpPr txBox="1">
              <a:spLocks noChangeArrowheads="1"/>
            </p:cNvSpPr>
            <p:nvPr/>
          </p:nvSpPr>
          <p:spPr bwMode="auto">
            <a:xfrm>
              <a:off x="2895600" y="4426527"/>
              <a:ext cx="640715"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78" name="TextBox 57"/>
            <p:cNvSpPr txBox="1">
              <a:spLocks noChangeArrowheads="1"/>
            </p:cNvSpPr>
            <p:nvPr/>
          </p:nvSpPr>
          <p:spPr bwMode="auto">
            <a:xfrm>
              <a:off x="3260572" y="1635005"/>
              <a:ext cx="1098857"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$35,000</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79" name="TextBox 59"/>
            <p:cNvSpPr txBox="1">
              <a:spLocks noChangeArrowheads="1"/>
            </p:cNvSpPr>
            <p:nvPr/>
          </p:nvSpPr>
          <p:spPr bwMode="auto">
            <a:xfrm>
              <a:off x="5375564" y="2500745"/>
              <a:ext cx="990600"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$35,000</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0.56</a:t>
              </a:r>
              <a:endParaRPr lang="en-CA">
                <a:latin typeface="Times New Roman" panose="02020603050405020304" pitchFamily="18" charset="0"/>
                <a:cs typeface="Times New Roman" panose="02020603050405020304" pitchFamily="18" charset="0"/>
              </a:endParaRPr>
            </a:p>
          </p:txBody>
        </p:sp>
        <p:sp>
          <p:nvSpPr>
            <p:cNvPr id="10280" name="TextBox 60"/>
            <p:cNvSpPr txBox="1">
              <a:spLocks noChangeArrowheads="1"/>
            </p:cNvSpPr>
            <p:nvPr/>
          </p:nvSpPr>
          <p:spPr bwMode="auto">
            <a:xfrm>
              <a:off x="3733800" y="4274127"/>
              <a:ext cx="990600"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$0</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81" name="TextBox 61"/>
            <p:cNvSpPr txBox="1">
              <a:spLocks noChangeArrowheads="1"/>
            </p:cNvSpPr>
            <p:nvPr/>
          </p:nvSpPr>
          <p:spPr bwMode="auto">
            <a:xfrm>
              <a:off x="3291912" y="5036127"/>
              <a:ext cx="1165886" cy="585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$84,244</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0.8</a:t>
              </a:r>
              <a:endParaRPr lang="en-CA">
                <a:latin typeface="Times New Roman" panose="02020603050405020304" pitchFamily="18" charset="0"/>
                <a:cs typeface="Times New Roman" panose="02020603050405020304" pitchFamily="18" charset="0"/>
              </a:endParaRPr>
            </a:p>
          </p:txBody>
        </p:sp>
      </p:grpSp>
      <p:sp>
        <p:nvSpPr>
          <p:cNvPr id="10244" name="Rectangle 62"/>
          <p:cNvSpPr>
            <a:spLocks noChangeArrowheads="1"/>
          </p:cNvSpPr>
          <p:nvPr/>
        </p:nvSpPr>
        <p:spPr bwMode="auto">
          <a:xfrm>
            <a:off x="0" y="4083050"/>
            <a:ext cx="184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br>
              <a:rPr lang="en-US" altLang="zh-CN" sz="1000">
                <a:latin typeface="Roman 10cpi"/>
                <a:ea typeface="Roman 10cpi"/>
                <a:cs typeface="Times New Roman" panose="02020603050405020304" pitchFamily="18" charset="0"/>
              </a:rPr>
            </a:br>
            <a:endParaRPr lang="en-US" altLang="zh-CN" sz="1200">
              <a:ea typeface="Roman 10cpi"/>
              <a:cs typeface="Times New Roman" panose="02020603050405020304" pitchFamily="18" charset="0"/>
            </a:endParaRPr>
          </a:p>
          <a:p>
            <a:pPr eaLnBrk="0" hangingPunct="0"/>
            <a:endParaRPr lang="en-US" altLang="zh-CN">
              <a:ea typeface="Roman 10cpi"/>
              <a:cs typeface="Times New Roman" panose="02020603050405020304" pitchFamily="18" charset="0"/>
            </a:endParaRPr>
          </a:p>
        </p:txBody>
      </p:sp>
      <p:sp>
        <p:nvSpPr>
          <p:cNvPr id="43"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charset="0"/>
              </a:rPr>
              <a:t>Adapted from </a:t>
            </a:r>
            <a:r>
              <a:rPr lang="en-US" altLang="zh-CN" i="1">
                <a:solidFill>
                  <a:srgbClr val="898989"/>
                </a:solidFill>
                <a:latin typeface="Calibri" panose="020F0502020204030204" charset="0"/>
              </a:rPr>
              <a:t>Forest Economics </a:t>
            </a:r>
            <a:r>
              <a:rPr lang="en-US" altLang="zh-CN">
                <a:solidFill>
                  <a:srgbClr val="898989"/>
                </a:solidFill>
                <a:latin typeface="Calibri" panose="020F0502020204030204" charset="0"/>
              </a:rPr>
              <a:t>by Daowei Zhang and Peter H. Pearse, published by UBC Press, 2011. </a:t>
            </a:r>
            <a:endParaRPr lang="en-CA">
              <a:solidFill>
                <a:srgbClr val="898989"/>
              </a:solidFill>
              <a:latin typeface="Calibri" panose="020F0502020204030204"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计算结果</a:t>
            </a:r>
            <a:endParaRPr lang="zh-CN" altLang="en-US" dirty="0"/>
          </a:p>
        </p:txBody>
      </p:sp>
      <p:sp>
        <p:nvSpPr>
          <p:cNvPr id="3" name="内容占位符 2"/>
          <p:cNvSpPr>
            <a:spLocks noGrp="1"/>
          </p:cNvSpPr>
          <p:nvPr>
            <p:ph idx="1"/>
          </p:nvPr>
        </p:nvSpPr>
        <p:spPr/>
        <p:txBody>
          <a:bodyPr>
            <a:normAutofit/>
          </a:bodyPr>
          <a:lstStyle/>
          <a:p>
            <a:r>
              <a:rPr lang="zh-CN" altLang="en-US" dirty="0"/>
              <a:t>喷洒农药的期望成本：</a:t>
            </a:r>
            <a:endParaRPr lang="en-US" altLang="zh-CN" dirty="0"/>
          </a:p>
          <a:p>
            <a:pPr lvl="1"/>
            <a:r>
              <a:rPr lang="en-US" altLang="zh-CN" dirty="0"/>
              <a:t>0.2</a:t>
            </a:r>
            <a:r>
              <a:rPr lang="zh-CN" altLang="en-US" dirty="0"/>
              <a:t>*</a:t>
            </a:r>
            <a:r>
              <a:rPr lang="en-US" altLang="zh-CN" dirty="0"/>
              <a:t>35000+0.24</a:t>
            </a:r>
            <a:r>
              <a:rPr lang="zh-CN" altLang="en-US" dirty="0"/>
              <a:t>*</a:t>
            </a:r>
            <a:r>
              <a:rPr lang="en-US" altLang="zh-CN" dirty="0"/>
              <a:t>119244+0.56</a:t>
            </a:r>
            <a:r>
              <a:rPr lang="zh-CN" altLang="en-US" dirty="0"/>
              <a:t>*</a:t>
            </a:r>
            <a:r>
              <a:rPr lang="en-US" altLang="zh-CN" dirty="0"/>
              <a:t>35000=55219</a:t>
            </a:r>
            <a:endParaRPr lang="en-US" altLang="zh-CN" dirty="0"/>
          </a:p>
          <a:p>
            <a:r>
              <a:rPr lang="zh-CN" altLang="en-US" dirty="0"/>
              <a:t>不喷洒农药的期望成本</a:t>
            </a:r>
            <a:endParaRPr lang="en-US" altLang="zh-CN" dirty="0"/>
          </a:p>
          <a:p>
            <a:pPr lvl="1"/>
            <a:r>
              <a:rPr lang="en-US" altLang="zh-CN" dirty="0"/>
              <a:t>0.2</a:t>
            </a:r>
            <a:r>
              <a:rPr lang="zh-CN" altLang="en-US" dirty="0"/>
              <a:t>*</a:t>
            </a:r>
            <a:r>
              <a:rPr lang="en-US" altLang="zh-CN" dirty="0"/>
              <a:t>0+0.8</a:t>
            </a:r>
            <a:r>
              <a:rPr lang="zh-CN" altLang="en-US" dirty="0"/>
              <a:t>*</a:t>
            </a:r>
            <a:r>
              <a:rPr lang="en-US" altLang="zh-CN" dirty="0"/>
              <a:t>84244=67395</a:t>
            </a:r>
            <a:endParaRPr lang="en-US" altLang="zh-CN" dirty="0"/>
          </a:p>
          <a:p>
            <a:r>
              <a:rPr lang="zh-CN" altLang="en-US" dirty="0"/>
              <a:t>不喷洒农药的期望成本更高，所以选择喷洒农药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“最小最大标准”</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极其厌恶风险的投资人</a:t>
            </a:r>
            <a:endParaRPr lang="en-US" altLang="zh-CN" dirty="0"/>
          </a:p>
          <a:p>
            <a:r>
              <a:rPr lang="zh-CN" altLang="en-US" dirty="0"/>
              <a:t>尽量避免坏结果</a:t>
            </a:r>
            <a:endParaRPr lang="en-US" altLang="zh-CN" dirty="0"/>
          </a:p>
          <a:p>
            <a:r>
              <a:rPr lang="zh-CN" altLang="en-US" dirty="0"/>
              <a:t>比较两种选择“喷药”“不喷药”分别可能造成的最大损失</a:t>
            </a:r>
            <a:endParaRPr lang="en-US" altLang="zh-CN" dirty="0"/>
          </a:p>
          <a:p>
            <a:pPr lvl="1"/>
            <a:r>
              <a:rPr lang="zh-CN" altLang="en-US" dirty="0"/>
              <a:t>喷洒农药可能带来的损失更大（</a:t>
            </a:r>
            <a:r>
              <a:rPr lang="en-US" altLang="zh-CN" dirty="0">
                <a:solidFill>
                  <a:srgbClr val="FF0000"/>
                </a:solidFill>
              </a:rPr>
              <a:t>119224</a:t>
            </a:r>
            <a:r>
              <a:rPr lang="en-US" altLang="zh-CN" dirty="0"/>
              <a:t>&gt;84244</a:t>
            </a:r>
            <a:r>
              <a:rPr lang="zh-CN" altLang="en-US" dirty="0"/>
              <a:t>）</a:t>
            </a:r>
            <a:endParaRPr lang="en-US" altLang="zh-CN" dirty="0"/>
          </a:p>
          <a:p>
            <a:r>
              <a:rPr lang="zh-CN" altLang="en-US" dirty="0"/>
              <a:t>选择损失比较小的那种决策（不喷洒农药）</a:t>
            </a:r>
            <a:endParaRPr lang="en-US" altLang="zh-CN" dirty="0"/>
          </a:p>
          <a:p>
            <a:r>
              <a:rPr lang="zh-CN" altLang="en-US" dirty="0"/>
              <a:t>仅关注最小可能收益，却忽视了概率</a:t>
            </a:r>
            <a:endParaRPr lang="zh-CN" alt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森林经营的经济分析</a:t>
            </a:r>
            <a:endParaRPr lang="zh-CN" altLang="en-US" dirty="0"/>
          </a:p>
        </p:txBody>
      </p:sp>
      <p:sp>
        <p:nvSpPr>
          <p:cNvPr id="3" name="副标题 2"/>
          <p:cNvSpPr>
            <a:spLocks noGrp="1"/>
          </p:cNvSpPr>
          <p:nvPr>
            <p:ph type="subTitle" idx="1"/>
          </p:nvPr>
        </p:nvSpPr>
        <p:spPr/>
        <p:txBody>
          <a:bodyPr>
            <a:normAutofit/>
          </a:bodyPr>
          <a:lstStyle/>
          <a:p>
            <a:r>
              <a:rPr lang="en-US" altLang="zh-CN" dirty="0"/>
              <a:t>Integrating Economics and Silviculture</a:t>
            </a:r>
            <a:endParaRPr lang="zh-CN" altLang="en-US"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确定森林经营的最佳行动方案</a:t>
            </a:r>
            <a:endParaRPr lang="zh-CN" altLang="en-US" dirty="0"/>
          </a:p>
        </p:txBody>
      </p:sp>
      <p:sp>
        <p:nvSpPr>
          <p:cNvPr id="3" name="内容占位符 2"/>
          <p:cNvSpPr>
            <a:spLocks noGrp="1"/>
          </p:cNvSpPr>
          <p:nvPr>
            <p:ph sz="half" idx="1"/>
          </p:nvPr>
        </p:nvSpPr>
        <p:spPr/>
        <p:txBody>
          <a:bodyPr/>
          <a:lstStyle/>
          <a:p>
            <a:r>
              <a:rPr lang="zh-CN" altLang="en-US" dirty="0"/>
              <a:t>经济学：</a:t>
            </a:r>
            <a:endParaRPr lang="en-US" altLang="zh-CN" dirty="0"/>
          </a:p>
          <a:p>
            <a:pPr lvl="1">
              <a:spcBef>
                <a:spcPts val="1800"/>
              </a:spcBef>
            </a:pPr>
            <a:r>
              <a:rPr lang="zh-CN" altLang="en-US" dirty="0"/>
              <a:t>掌握经济分析方法</a:t>
            </a:r>
            <a:endParaRPr lang="en-US" altLang="zh-CN" dirty="0"/>
          </a:p>
          <a:p>
            <a:pPr lvl="1">
              <a:spcBef>
                <a:spcPts val="1800"/>
              </a:spcBef>
            </a:pPr>
            <a:r>
              <a:rPr lang="zh-CN" altLang="en-US" dirty="0"/>
              <a:t>成本、价格、利率等其它经济数据</a:t>
            </a:r>
            <a:endParaRPr lang="zh-CN" altLang="en-US" dirty="0"/>
          </a:p>
        </p:txBody>
      </p:sp>
      <p:sp>
        <p:nvSpPr>
          <p:cNvPr id="4" name="内容占位符 3"/>
          <p:cNvSpPr>
            <a:spLocks noGrp="1"/>
          </p:cNvSpPr>
          <p:nvPr>
            <p:ph sz="half" idx="2"/>
          </p:nvPr>
        </p:nvSpPr>
        <p:spPr/>
        <p:txBody>
          <a:bodyPr>
            <a:normAutofit/>
          </a:bodyPr>
          <a:lstStyle/>
          <a:p>
            <a:r>
              <a:rPr lang="zh-CN" altLang="en-US" dirty="0"/>
              <a:t>林学：</a:t>
            </a:r>
            <a:endParaRPr lang="en-US" altLang="zh-CN" dirty="0"/>
          </a:p>
          <a:p>
            <a:pPr lvl="1"/>
            <a:r>
              <a:rPr lang="zh-CN" altLang="en-US" dirty="0"/>
              <a:t>理解森林生长动态</a:t>
            </a:r>
            <a:endParaRPr lang="en-US" altLang="zh-CN" dirty="0"/>
          </a:p>
          <a:p>
            <a:pPr lvl="1"/>
            <a:r>
              <a:rPr lang="zh-CN" altLang="en-US" dirty="0"/>
              <a:t>生长量、各种营林措施带来的结果及对森林未来收获量的影响</a:t>
            </a:r>
            <a:endParaRPr lang="en-US" altLang="zh-CN" dirty="0"/>
          </a:p>
          <a:p>
            <a:pPr lvl="1"/>
            <a:r>
              <a:rPr lang="zh-CN" altLang="en-US" dirty="0">
                <a:solidFill>
                  <a:srgbClr val="C00000"/>
                </a:solidFill>
              </a:rPr>
              <a:t>评估各种经营方案，指导决策</a:t>
            </a:r>
            <a:endParaRPr lang="en-US" altLang="zh-CN" dirty="0">
              <a:solidFill>
                <a:srgbClr val="C00000"/>
              </a:solidFil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税收与社会注意事项</a:t>
            </a:r>
            <a:endParaRPr lang="zh-CN" altLang="en-US" dirty="0"/>
          </a:p>
        </p:txBody>
      </p:sp>
      <p:sp>
        <p:nvSpPr>
          <p:cNvPr id="3" name="副标题 2"/>
          <p:cNvSpPr>
            <a:spLocks noGrp="1"/>
          </p:cNvSpPr>
          <p:nvPr>
            <p:ph type="subTitle" idx="1"/>
          </p:nvPr>
        </p:nvSpPr>
        <p:spPr/>
        <p:txBody>
          <a:bodyPr>
            <a:normAutofit/>
          </a:bodyPr>
          <a:lstStyle/>
          <a:p>
            <a:r>
              <a:rPr lang="en-US" altLang="zh-CN" dirty="0"/>
              <a:t>Taxes and Social Considerations</a:t>
            </a:r>
            <a:endParaRPr lang="zh-CN" altLang="en-US"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计算回报时一般不包含税收或假设税收已被扣除</a:t>
            </a:r>
            <a:endParaRPr lang="en-US" altLang="zh-CN" dirty="0"/>
          </a:p>
          <a:p>
            <a:r>
              <a:rPr lang="zh-CN" altLang="en-US" dirty="0"/>
              <a:t>投资人想要明确地识别各类投资机会相关的税收，仅需将税收当作一个成本项，并计算税前与税后的回报率</a:t>
            </a:r>
            <a:endParaRPr lang="zh-CN" altLang="en-US" dirty="0"/>
          </a:p>
        </p:txBody>
      </p:sp>
      <p:sp>
        <p:nvSpPr>
          <p:cNvPr id="3" name="标题 2"/>
          <p:cNvSpPr>
            <a:spLocks noGrp="1"/>
          </p:cNvSpPr>
          <p:nvPr>
            <p:ph type="title"/>
          </p:nvPr>
        </p:nvSpPr>
        <p:spPr/>
        <p:txBody>
          <a:bodyPr/>
          <a:lstStyle/>
          <a:p>
            <a:r>
              <a:rPr lang="zh-CN" altLang="en-US" dirty="0"/>
              <a:t>税收</a:t>
            </a:r>
            <a:endParaRPr lang="zh-CN" altLang="en-US"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normAutofit fontScale="85000" lnSpcReduction="20000"/>
          </a:bodyPr>
          <a:lstStyle/>
          <a:p>
            <a:r>
              <a:rPr lang="en-US" altLang="zh-CN" dirty="0"/>
              <a:t>1</a:t>
            </a:r>
            <a:r>
              <a:rPr lang="zh-CN" altLang="en-US" dirty="0"/>
              <a:t>、从广泛意义上关心资源利用的整体效率</a:t>
            </a:r>
            <a:r>
              <a:rPr lang="en-US" altLang="zh-CN" dirty="0"/>
              <a:t>——</a:t>
            </a:r>
            <a:r>
              <a:rPr lang="zh-CN" altLang="en-US" dirty="0"/>
              <a:t>收益</a:t>
            </a:r>
            <a:r>
              <a:rPr lang="en-US" altLang="zh-CN" dirty="0"/>
              <a:t>/</a:t>
            </a:r>
            <a:r>
              <a:rPr lang="zh-CN" altLang="en-US" dirty="0"/>
              <a:t>成本比率标准更适用</a:t>
            </a:r>
            <a:endParaRPr lang="en-US" altLang="zh-CN" dirty="0"/>
          </a:p>
          <a:p>
            <a:r>
              <a:rPr lang="en-US" altLang="zh-CN" dirty="0"/>
              <a:t>2</a:t>
            </a:r>
            <a:r>
              <a:rPr lang="zh-CN" altLang="en-US" dirty="0"/>
              <a:t>、决策者的目标更为多样化</a:t>
            </a:r>
            <a:r>
              <a:rPr lang="en-US" altLang="zh-CN" dirty="0"/>
              <a:t>——</a:t>
            </a:r>
            <a:r>
              <a:rPr lang="zh-CN" altLang="en-US" dirty="0"/>
              <a:t>就业效果、对区域经济长期稳定性的影响、对其它资源使用者的影响、税收与转移支付的变化</a:t>
            </a:r>
            <a:endParaRPr lang="en-US" altLang="zh-CN" dirty="0"/>
          </a:p>
          <a:p>
            <a:r>
              <a:rPr lang="en-US" altLang="zh-CN" dirty="0"/>
              <a:t>3</a:t>
            </a:r>
            <a:r>
              <a:rPr lang="zh-CN" altLang="en-US" dirty="0"/>
              <a:t>、外部性问题</a:t>
            </a:r>
            <a:r>
              <a:rPr lang="en-US" altLang="zh-CN" dirty="0"/>
              <a:t>——</a:t>
            </a:r>
            <a:r>
              <a:rPr lang="zh-CN" altLang="en-US" dirty="0"/>
              <a:t>谁支出？谁受益？</a:t>
            </a:r>
            <a:endParaRPr lang="zh-CN" altLang="en-US" dirty="0"/>
          </a:p>
        </p:txBody>
      </p:sp>
      <p:sp>
        <p:nvSpPr>
          <p:cNvPr id="3" name="标题 2"/>
          <p:cNvSpPr>
            <a:spLocks noGrp="1"/>
          </p:cNvSpPr>
          <p:nvPr>
            <p:ph type="ctrTitle"/>
          </p:nvPr>
        </p:nvSpPr>
        <p:spPr/>
        <p:txBody>
          <a:bodyPr/>
          <a:lstStyle/>
          <a:p>
            <a:r>
              <a:rPr lang="zh-CN" altLang="en-US" dirty="0"/>
              <a:t>公共投资需考虑社会效益</a:t>
            </a:r>
            <a:endParaRPr lang="zh-CN" altLang="en-US"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en-US" dirty="0"/>
              <a:t>Key</a:t>
            </a:r>
            <a:r>
              <a:rPr lang="en-US" altLang="en-US" dirty="0"/>
              <a:t> </a:t>
            </a:r>
            <a:r>
              <a:rPr lang="en-US" altLang="en-US" dirty="0"/>
              <a:t>words</a:t>
            </a:r>
            <a:endParaRPr lang="zh-CN" altLang="en-US" dirty="0"/>
          </a:p>
        </p:txBody>
      </p:sp>
      <p:sp>
        <p:nvSpPr>
          <p:cNvPr id="2" name="内容占位符 1"/>
          <p:cNvSpPr>
            <a:spLocks noGrp="1"/>
          </p:cNvSpPr>
          <p:nvPr>
            <p:ph sz="half" idx="1"/>
          </p:nvPr>
        </p:nvSpPr>
        <p:spPr/>
        <p:txBody>
          <a:bodyPr>
            <a:normAutofit fontScale="55000" lnSpcReduction="20000"/>
          </a:bodyPr>
          <a:lstStyle/>
          <a:p>
            <a:r>
              <a:rPr lang="en-US" altLang="en-US" dirty="0"/>
              <a:t>Interest</a:t>
            </a:r>
            <a:endParaRPr lang="en-US" altLang="en-US" dirty="0"/>
          </a:p>
          <a:p>
            <a:r>
              <a:rPr lang="en-US" altLang="en-US" dirty="0"/>
              <a:t>Time</a:t>
            </a:r>
            <a:r>
              <a:rPr lang="en-US" altLang="en-US" dirty="0"/>
              <a:t> </a:t>
            </a:r>
            <a:r>
              <a:rPr lang="en-US" altLang="en-US" dirty="0"/>
              <a:t>preference</a:t>
            </a:r>
            <a:endParaRPr lang="en-US" altLang="en-US" dirty="0"/>
          </a:p>
          <a:p>
            <a:r>
              <a:rPr lang="en-US" altLang="en-US" dirty="0"/>
              <a:t>Compounding</a:t>
            </a:r>
            <a:endParaRPr lang="en-US" altLang="en-US" dirty="0"/>
          </a:p>
          <a:p>
            <a:r>
              <a:rPr lang="en-US" altLang="en-US" dirty="0"/>
              <a:t>Discounting</a:t>
            </a:r>
            <a:endParaRPr lang="en-US" altLang="en-US" dirty="0"/>
          </a:p>
          <a:p>
            <a:r>
              <a:rPr lang="en-US" altLang="en-US" dirty="0"/>
              <a:t>Net</a:t>
            </a:r>
            <a:r>
              <a:rPr lang="en-US" altLang="en-US" dirty="0"/>
              <a:t> </a:t>
            </a:r>
            <a:r>
              <a:rPr lang="en-US" altLang="en-US" dirty="0"/>
              <a:t>present</a:t>
            </a:r>
            <a:r>
              <a:rPr lang="en-US" altLang="en-US" dirty="0"/>
              <a:t> </a:t>
            </a:r>
            <a:r>
              <a:rPr lang="en-US" altLang="en-US" dirty="0"/>
              <a:t>value</a:t>
            </a:r>
            <a:endParaRPr lang="en-US" altLang="en-US" dirty="0"/>
          </a:p>
          <a:p>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a</a:t>
            </a:r>
            <a:r>
              <a:rPr lang="en-US" altLang="en-US" dirty="0"/>
              <a:t> </a:t>
            </a:r>
            <a:r>
              <a:rPr lang="en-US" altLang="en-US" dirty="0"/>
              <a:t>finite</a:t>
            </a:r>
            <a:r>
              <a:rPr lang="en-US" altLang="en-US" dirty="0"/>
              <a:t> </a:t>
            </a:r>
            <a:r>
              <a:rPr lang="en-US" altLang="en-US" dirty="0"/>
              <a:t>annuity</a:t>
            </a:r>
            <a:endParaRPr lang="en-US" altLang="en-US" dirty="0"/>
          </a:p>
          <a:p>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perpetuity</a:t>
            </a:r>
            <a:endParaRPr lang="en-US" altLang="en-US" dirty="0"/>
          </a:p>
          <a:p>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a</a:t>
            </a:r>
            <a:r>
              <a:rPr lang="en-US" altLang="en-US" dirty="0"/>
              <a:t> </a:t>
            </a:r>
            <a:r>
              <a:rPr lang="en-US" altLang="en-US" dirty="0"/>
              <a:t>periodic</a:t>
            </a:r>
            <a:r>
              <a:rPr lang="en-US" altLang="en-US" dirty="0"/>
              <a:t> </a:t>
            </a:r>
            <a:r>
              <a:rPr lang="en-US" altLang="en-US" dirty="0"/>
              <a:t>series</a:t>
            </a:r>
            <a:endParaRPr lang="en-US" altLang="en-US" dirty="0"/>
          </a:p>
          <a:p>
            <a:r>
              <a:rPr lang="en-US" altLang="zh-CN" dirty="0"/>
              <a:t>C</a:t>
            </a:r>
            <a:r>
              <a:rPr lang="en-US" altLang="en-US" dirty="0"/>
              <a:t>ontinuous</a:t>
            </a:r>
            <a:r>
              <a:rPr lang="en-US" altLang="en-US" dirty="0"/>
              <a:t> </a:t>
            </a:r>
            <a:r>
              <a:rPr lang="en-US" altLang="en-US" dirty="0"/>
              <a:t>compounding</a:t>
            </a:r>
            <a:endParaRPr lang="en-US" altLang="en-US" dirty="0"/>
          </a:p>
          <a:p>
            <a:r>
              <a:rPr lang="en-US" altLang="zh-CN" dirty="0"/>
              <a:t>E</a:t>
            </a:r>
            <a:r>
              <a:rPr lang="en-US" altLang="en-US" dirty="0"/>
              <a:t>quivalent</a:t>
            </a:r>
            <a:r>
              <a:rPr lang="en-US" altLang="en-US" dirty="0"/>
              <a:t> </a:t>
            </a:r>
            <a:r>
              <a:rPr lang="en-US" altLang="en-US" dirty="0"/>
              <a:t>annual</a:t>
            </a:r>
            <a:r>
              <a:rPr lang="en-US" altLang="en-US" dirty="0"/>
              <a:t> </a:t>
            </a:r>
            <a:r>
              <a:rPr lang="en-US" altLang="en-US" dirty="0"/>
              <a:t>rate</a:t>
            </a:r>
            <a:endParaRPr lang="en-US" altLang="en-US" dirty="0"/>
          </a:p>
          <a:p>
            <a:r>
              <a:rPr lang="en-US" altLang="en-US" dirty="0"/>
              <a:t>Benefit/</a:t>
            </a:r>
            <a:r>
              <a:rPr lang="en-US" altLang="en-US" dirty="0"/>
              <a:t> </a:t>
            </a:r>
            <a:r>
              <a:rPr lang="en-US" altLang="en-US" dirty="0"/>
              <a:t>cost</a:t>
            </a:r>
            <a:r>
              <a:rPr lang="en-US" altLang="en-US" dirty="0"/>
              <a:t> </a:t>
            </a:r>
            <a:r>
              <a:rPr lang="en-US" altLang="en-US" dirty="0"/>
              <a:t>ratio</a:t>
            </a:r>
            <a:endParaRPr lang="en-US" altLang="en-US" dirty="0"/>
          </a:p>
          <a:p>
            <a:r>
              <a:rPr lang="en-US" altLang="zh-CN" dirty="0"/>
              <a:t>I</a:t>
            </a:r>
            <a:r>
              <a:rPr lang="en-US" altLang="en-US" dirty="0"/>
              <a:t>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endParaRPr lang="zh-CN" altLang="en-US" dirty="0"/>
          </a:p>
        </p:txBody>
      </p:sp>
      <p:sp>
        <p:nvSpPr>
          <p:cNvPr id="4" name="内容占位符 3"/>
          <p:cNvSpPr>
            <a:spLocks noGrp="1"/>
          </p:cNvSpPr>
          <p:nvPr>
            <p:ph sz="half" idx="2"/>
          </p:nvPr>
        </p:nvSpPr>
        <p:spPr/>
        <p:txBody>
          <a:bodyPr>
            <a:normAutofit fontScale="55000" lnSpcReduction="20000"/>
          </a:bodyPr>
          <a:lstStyle/>
          <a:p>
            <a:r>
              <a:rPr kumimoji="1" lang="en-US" altLang="zh-CN"/>
              <a:t>U</a:t>
            </a:r>
            <a:r>
              <a:rPr kumimoji="1" lang="en-US" altLang="en-US"/>
              <a:t>nconventional</a:t>
            </a:r>
            <a:r>
              <a:rPr kumimoji="1" lang="en-US" altLang="en-US"/>
              <a:t> </a:t>
            </a:r>
            <a:r>
              <a:rPr kumimoji="1" lang="en-US" altLang="en-US"/>
              <a:t>cash</a:t>
            </a:r>
            <a:r>
              <a:rPr kumimoji="1" lang="en-US" altLang="en-US"/>
              <a:t> </a:t>
            </a:r>
            <a:r>
              <a:rPr kumimoji="1" lang="en-US" altLang="en-US"/>
              <a:t>flows</a:t>
            </a:r>
            <a:endParaRPr kumimoji="1" lang="en-US" altLang="en-US"/>
          </a:p>
          <a:p>
            <a:r>
              <a:rPr kumimoji="1" lang="en-US" altLang="en-US"/>
              <a:t>Mutually</a:t>
            </a:r>
            <a:r>
              <a:rPr kumimoji="1" lang="en-US" altLang="en-US"/>
              <a:t> </a:t>
            </a:r>
            <a:r>
              <a:rPr kumimoji="1" lang="en-US" altLang="en-US"/>
              <a:t>exclusive</a:t>
            </a:r>
            <a:r>
              <a:rPr kumimoji="1" lang="en-US" altLang="en-US"/>
              <a:t> </a:t>
            </a:r>
            <a:r>
              <a:rPr kumimoji="1" lang="en-US" altLang="en-US"/>
              <a:t>projects</a:t>
            </a:r>
            <a:endParaRPr kumimoji="1" lang="en-US" altLang="en-US"/>
          </a:p>
          <a:p>
            <a:r>
              <a:rPr kumimoji="1" lang="en-US" altLang="en-US"/>
              <a:t>The</a:t>
            </a:r>
            <a:r>
              <a:rPr kumimoji="1" lang="en-US" altLang="en-US"/>
              <a:t> </a:t>
            </a:r>
            <a:r>
              <a:rPr kumimoji="1" lang="en-US" altLang="en-US"/>
              <a:t>sales</a:t>
            </a:r>
            <a:r>
              <a:rPr kumimoji="1" lang="en-US" altLang="en-US"/>
              <a:t> </a:t>
            </a:r>
            <a:r>
              <a:rPr kumimoji="1" lang="en-US" altLang="en-US"/>
              <a:t>comparison</a:t>
            </a:r>
            <a:r>
              <a:rPr kumimoji="1" lang="en-US" altLang="en-US"/>
              <a:t> </a:t>
            </a:r>
            <a:r>
              <a:rPr kumimoji="1" lang="en-US" altLang="en-US"/>
              <a:t>approach</a:t>
            </a:r>
            <a:endParaRPr kumimoji="1" lang="en-US" altLang="en-US"/>
          </a:p>
          <a:p>
            <a:r>
              <a:rPr kumimoji="1" lang="en-US" altLang="en-US"/>
              <a:t>Replacement</a:t>
            </a:r>
            <a:r>
              <a:rPr kumimoji="1" lang="en-US" altLang="en-US"/>
              <a:t> </a:t>
            </a:r>
            <a:r>
              <a:rPr kumimoji="1" lang="en-US" altLang="en-US"/>
              <a:t>cost</a:t>
            </a:r>
            <a:r>
              <a:rPr kumimoji="1" lang="en-US" altLang="en-US"/>
              <a:t> </a:t>
            </a:r>
            <a:r>
              <a:rPr kumimoji="1" lang="en-US" altLang="en-US"/>
              <a:t>method</a:t>
            </a:r>
            <a:endParaRPr kumimoji="1" lang="en-US" altLang="en-US"/>
          </a:p>
          <a:p>
            <a:r>
              <a:rPr kumimoji="1" lang="en-US" altLang="en-US"/>
              <a:t>Income</a:t>
            </a:r>
            <a:r>
              <a:rPr kumimoji="1" lang="en-US" altLang="en-US"/>
              <a:t> </a:t>
            </a:r>
            <a:r>
              <a:rPr kumimoji="1" lang="en-US" altLang="en-US"/>
              <a:t>approach</a:t>
            </a:r>
            <a:endParaRPr kumimoji="1" lang="en-US" altLang="en-US"/>
          </a:p>
          <a:p>
            <a:r>
              <a:rPr kumimoji="1" lang="en-US" altLang="en-US"/>
              <a:t>Social</a:t>
            </a:r>
            <a:r>
              <a:rPr kumimoji="1" lang="en-US" altLang="en-US"/>
              <a:t> </a:t>
            </a:r>
            <a:r>
              <a:rPr kumimoji="1" lang="en-US" altLang="en-US"/>
              <a:t>discount</a:t>
            </a:r>
            <a:r>
              <a:rPr kumimoji="1" lang="en-US" altLang="en-US"/>
              <a:t> </a:t>
            </a:r>
            <a:r>
              <a:rPr kumimoji="1" lang="en-US" altLang="en-US"/>
              <a:t>rate</a:t>
            </a:r>
            <a:endParaRPr kumimoji="1" lang="en-US" altLang="en-US"/>
          </a:p>
          <a:p>
            <a:r>
              <a:rPr kumimoji="1" lang="en-US" altLang="en-US"/>
              <a:t>Inflation</a:t>
            </a:r>
            <a:endParaRPr kumimoji="1" lang="en-US" altLang="en-US"/>
          </a:p>
          <a:p>
            <a:r>
              <a:rPr kumimoji="1" lang="en-US" altLang="en-US"/>
              <a:t>Risk</a:t>
            </a:r>
            <a:endParaRPr kumimoji="1" lang="en-US" altLang="en-US"/>
          </a:p>
          <a:p>
            <a:r>
              <a:rPr kumimoji="1" lang="en-US" altLang="en-US"/>
              <a:t>Uncertainty</a:t>
            </a:r>
            <a:endParaRPr kumimoji="1" lang="en-US" altLang="en-US"/>
          </a:p>
          <a:p>
            <a:r>
              <a:rPr kumimoji="1" lang="en-US" altLang="en-US"/>
              <a:t>Risk</a:t>
            </a:r>
            <a:r>
              <a:rPr kumimoji="1" lang="en-US" altLang="en-US"/>
              <a:t> </a:t>
            </a:r>
            <a:r>
              <a:rPr kumimoji="1" lang="en-US" altLang="en-US"/>
              <a:t>premium</a:t>
            </a:r>
            <a:endParaRPr kumimoji="1" lang="en-US" altLang="en-US"/>
          </a:p>
          <a:p>
            <a:r>
              <a:rPr kumimoji="1" lang="en-US" altLang="en-US"/>
              <a:t>Payback</a:t>
            </a:r>
            <a:r>
              <a:rPr kumimoji="1" lang="en-US" altLang="en-US"/>
              <a:t> </a:t>
            </a:r>
            <a:r>
              <a:rPr kumimoji="1" lang="en-US" altLang="en-US"/>
              <a:t>period</a:t>
            </a:r>
            <a:endParaRPr kumimoji="1" lang="en-US" altLang="en-US"/>
          </a:p>
          <a:p>
            <a:r>
              <a:rPr kumimoji="1" lang="en-US" altLang="en-US"/>
              <a:t>Sensitivity</a:t>
            </a:r>
            <a:r>
              <a:rPr kumimoji="1" lang="en-US" altLang="en-US"/>
              <a:t> </a:t>
            </a:r>
            <a:r>
              <a:rPr kumimoji="1" lang="en-US" altLang="en-US"/>
              <a:t>analysis</a:t>
            </a:r>
            <a:endParaRPr kumimoji="1" lang="en-US" altLang="en-US"/>
          </a:p>
          <a:p>
            <a:r>
              <a:rPr kumimoji="1" lang="en-US" altLang="en-US"/>
              <a:t>Decision</a:t>
            </a:r>
            <a:r>
              <a:rPr kumimoji="1" lang="en-US" altLang="en-US"/>
              <a:t> </a:t>
            </a:r>
            <a:r>
              <a:rPr kumimoji="1" lang="en-US" altLang="en-US"/>
              <a:t>tree</a:t>
            </a:r>
            <a:endParaRPr kumimoji="1" lang="en-US" altLang="en-US"/>
          </a:p>
          <a:p>
            <a:endParaRPr kumimoji="1" lang="en-US" altLang="en-US"/>
          </a:p>
          <a:p>
            <a:endParaRPr kumimoji="1" lang="zh-CN" altLang="en-US"/>
          </a:p>
        </p:txBody>
      </p:sp>
    </p:spTree>
  </p:cSld>
  <p:clrMapOvr>
    <a:masterClrMapping/>
  </p:clrMapOvr>
</p:sld>
</file>

<file path=ppt/tags/tag1.xml><?xml version="1.0" encoding="utf-8"?>
<p:tagLst xmlns:p="http://schemas.openxmlformats.org/presentationml/2006/main">
  <p:tag name="commondata" val="eyJoZGlkIjoiMGJlMDdhYWFkMWM4ZjNjZDkwMGYyMDI5NjI4MzdhZ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30591</Words>
  <Application>WPS 演示</Application>
  <PresentationFormat>全屏显示(4:3)</PresentationFormat>
  <Paragraphs>2525</Paragraphs>
  <Slides>184</Slides>
  <Notes>11</Notes>
  <HiddenSlides>0</HiddenSlides>
  <MMClips>0</MMClips>
  <ScaleCrop>false</ScaleCrop>
  <HeadingPairs>
    <vt:vector size="8" baseType="variant">
      <vt:variant>
        <vt:lpstr>已用的字体</vt:lpstr>
      </vt:variant>
      <vt:variant>
        <vt:i4>36</vt:i4>
      </vt:variant>
      <vt:variant>
        <vt:lpstr>主题</vt:lpstr>
      </vt:variant>
      <vt:variant>
        <vt:i4>3</vt:i4>
      </vt:variant>
      <vt:variant>
        <vt:lpstr>嵌入 OLE 服务器</vt:lpstr>
      </vt:variant>
      <vt:variant>
        <vt:i4>24</vt:i4>
      </vt:variant>
      <vt:variant>
        <vt:lpstr>幻灯片标题</vt:lpstr>
      </vt:variant>
      <vt:variant>
        <vt:i4>184</vt:i4>
      </vt:variant>
    </vt:vector>
  </HeadingPairs>
  <TitlesOfParts>
    <vt:vector size="247" baseType="lpstr">
      <vt:lpstr>Arial</vt:lpstr>
      <vt:lpstr>宋体</vt:lpstr>
      <vt:lpstr>Wingdings</vt:lpstr>
      <vt:lpstr>黑体</vt:lpstr>
      <vt:lpstr>Arial Rounded MT Bold</vt:lpstr>
      <vt:lpstr>隶书</vt:lpstr>
      <vt:lpstr>Courier New</vt:lpstr>
      <vt:lpstr>Euphemia UCAS</vt:lpstr>
      <vt:lpstr>DejaVu Math TeX Gyre</vt:lpstr>
      <vt:lpstr>Arial Rounded MT Bold</vt:lpstr>
      <vt:lpstr>Cooper Black</vt:lpstr>
      <vt:lpstr>Calibri</vt:lpstr>
      <vt:lpstr>Britannic Bold</vt:lpstr>
      <vt:lpstr>微软雅黑</vt:lpstr>
      <vt:lpstr>Arial Unicode MS</vt:lpstr>
      <vt:lpstr>Aharoni</vt:lpstr>
      <vt:lpstr>Yu Gothic UI Semibold</vt:lpstr>
      <vt:lpstr>Verdana</vt:lpstr>
      <vt:lpstr>Cambria Math</vt:lpstr>
      <vt:lpstr>Cambria Math</vt:lpstr>
      <vt:lpstr>Bradley Hand ITC</vt:lpstr>
      <vt:lpstr>Wingdings</vt:lpstr>
      <vt:lpstr>Times New Roman</vt:lpstr>
      <vt:lpstr>Calibri</vt:lpstr>
      <vt:lpstr>Roman 10cpi</vt:lpstr>
      <vt:lpstr>Segoe Print</vt:lpstr>
      <vt:lpstr>仓耳舒圆体 W03</vt:lpstr>
      <vt:lpstr>华文行楷</vt:lpstr>
      <vt:lpstr>华文细黑</vt:lpstr>
      <vt:lpstr>幼圆</vt:lpstr>
      <vt:lpstr>Noto Sans SC</vt:lpstr>
      <vt:lpstr>Noto Sans SC</vt:lpstr>
      <vt:lpstr>ui-sans-serif</vt:lpstr>
      <vt:lpstr>ui-sans-serif</vt:lpstr>
      <vt:lpstr>ui-sans-serif</vt:lpstr>
      <vt:lpstr>MingLiU-ExtB</vt:lpstr>
      <vt:lpstr>Office 主题​​</vt:lpstr>
      <vt:lpstr>1_Office 主题​​</vt:lpstr>
      <vt:lpstr>2_Office 主题​​</vt:lpstr>
      <vt:lpstr>Excel.Sheet.8</vt:lpstr>
      <vt:lpstr>Equation.3</vt:lpstr>
      <vt:lpstr>Equation.3</vt:lpstr>
      <vt:lpstr>Equation.3</vt:lpstr>
      <vt:lpstr>Equation.3</vt:lpstr>
      <vt:lpstr>Equation.3</vt:lpstr>
      <vt:lpstr>Equation.3</vt:lpstr>
      <vt:lpstr>Equation.3</vt:lpstr>
      <vt:lpstr>Equation.3</vt:lpstr>
      <vt:lpstr>Excel.Sheet.8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Excel.Sheet.8</vt:lpstr>
      <vt:lpstr>奥斯特罗姆的经济理论</vt:lpstr>
      <vt:lpstr>PowerPoint 演示文稿</vt:lpstr>
      <vt:lpstr>PowerPoint 演示文稿</vt:lpstr>
      <vt:lpstr>PowerPoint 演示文稿</vt:lpstr>
      <vt:lpstr>IAD（Institutional Analysis and Development）框架</vt:lpstr>
      <vt:lpstr>PowerPoint 演示文稿</vt:lpstr>
      <vt:lpstr>PowerPoint 演示文稿</vt:lpstr>
      <vt:lpstr>第一步：确定行动情景</vt:lpstr>
      <vt:lpstr>影响行动情景的七种规则</vt:lpstr>
      <vt:lpstr>第二步：分析行动者</vt:lpstr>
      <vt:lpstr>第三步：在行动情景中预测结果</vt:lpstr>
      <vt:lpstr>第四步：评估结果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Forest Investment Analysis </vt:lpstr>
      <vt:lpstr>案例</vt:lpstr>
      <vt:lpstr>PowerPoint 演示文稿</vt:lpstr>
      <vt:lpstr>Time and the Role of Interest </vt:lpstr>
      <vt:lpstr>现值高于未来价值</vt:lpstr>
      <vt:lpstr>PowerPoint 演示文稿</vt:lpstr>
      <vt:lpstr>市场利率 market rate of interest</vt:lpstr>
      <vt:lpstr>Two Explanation</vt:lpstr>
      <vt:lpstr>资本的时间机会成本可用利息来衡量</vt:lpstr>
      <vt:lpstr>PowerPoint 演示文稿</vt:lpstr>
      <vt:lpstr>时间偏好：利率是为了延迟消费所做出的补偿</vt:lpstr>
      <vt:lpstr>PowerPoint 演示文稿</vt:lpstr>
      <vt:lpstr>Compounding, Discounting, and Present Values  </vt:lpstr>
      <vt:lpstr>Compound interest 复利</vt:lpstr>
      <vt:lpstr>明年的收益是？</vt:lpstr>
      <vt:lpstr>PowerPoint 演示文稿</vt:lpstr>
      <vt:lpstr>Discounting 贴现</vt:lpstr>
      <vt:lpstr>复利公式变形为贴现公式</vt:lpstr>
      <vt:lpstr>Discount  Factor </vt:lpstr>
      <vt:lpstr>年利率5%，明年想得到105元</vt:lpstr>
      <vt:lpstr>NPV：Net Present Value</vt:lpstr>
      <vt:lpstr>课堂练习一</vt:lpstr>
      <vt:lpstr>如果每年投入1万元，年利率5%</vt:lpstr>
      <vt:lpstr>如果每年收入1万元，年利率5%</vt:lpstr>
      <vt:lpstr>PVA : Present Value of a Finite Annuity有限年金求现值</vt:lpstr>
      <vt:lpstr>有限年金求现值</vt:lpstr>
      <vt:lpstr>PVP: Present Value of Perpetuity永续年金的现值</vt:lpstr>
      <vt:lpstr>讨论</vt:lpstr>
      <vt:lpstr>永续年金求现值公式</vt:lpstr>
      <vt:lpstr>PVP=a/i=1/5%=20</vt:lpstr>
      <vt:lpstr>PowerPoint 演示文稿</vt:lpstr>
      <vt:lpstr>讨论</vt:lpstr>
      <vt:lpstr>每10年获得10万元，如何求现值？</vt:lpstr>
      <vt:lpstr>Present Value of a periodic series 周期性收益的现值</vt:lpstr>
      <vt:lpstr>课堂练习二</vt:lpstr>
      <vt:lpstr>求解：造林项目的净现值</vt:lpstr>
      <vt:lpstr>思考</vt:lpstr>
      <vt:lpstr>年利率与月利率</vt:lpstr>
      <vt:lpstr>周期（日、月、季度）利率转换为年利率</vt:lpstr>
      <vt:lpstr>连续复利 Continuous compounding</vt:lpstr>
      <vt:lpstr>PowerPoint 演示文稿</vt:lpstr>
      <vt:lpstr>自然对数e？</vt:lpstr>
      <vt:lpstr>连续复利 Continuous Compounding</vt:lpstr>
      <vt:lpstr>计算连续复利</vt:lpstr>
      <vt:lpstr>连续复利和年利率的关系</vt:lpstr>
      <vt:lpstr>连续复利与年利率</vt:lpstr>
      <vt:lpstr>Equivalent annual rate，EAR</vt:lpstr>
      <vt:lpstr>计算</vt:lpstr>
      <vt:lpstr>72法则</vt:lpstr>
      <vt:lpstr>Criteria for Investment Decisions </vt:lpstr>
      <vt:lpstr>How should a firm make an investment decision？</vt:lpstr>
      <vt:lpstr>净现值Net Present Value</vt:lpstr>
      <vt:lpstr>案例一</vt:lpstr>
      <vt:lpstr>案例求解</vt:lpstr>
      <vt:lpstr>收益/成本率 Benefit/Cost Ratio</vt:lpstr>
      <vt:lpstr>计算收益/成本率时，如何考虑机会成本？</vt:lpstr>
      <vt:lpstr>收益/成本率</vt:lpstr>
      <vt:lpstr>案例二</vt:lpstr>
      <vt:lpstr>案例求解</vt:lpstr>
      <vt:lpstr>Note</vt:lpstr>
      <vt:lpstr>内部收益率Internal Rate of Return (IRR)</vt:lpstr>
      <vt:lpstr>IRR 内部收益率</vt:lpstr>
      <vt:lpstr>内部收益率的优点</vt:lpstr>
      <vt:lpstr>内部收益率的适用范围</vt:lpstr>
      <vt:lpstr>Unconventional Cash Flows 非常规现金流</vt:lpstr>
      <vt:lpstr>Example: Unconventional Cash Flows</vt:lpstr>
      <vt:lpstr>计算前面两个例子的IRR</vt:lpstr>
      <vt:lpstr>案例三：</vt:lpstr>
      <vt:lpstr>案例求解结果</vt:lpstr>
      <vt:lpstr>对三个项目的比较</vt:lpstr>
      <vt:lpstr>How to choose?</vt:lpstr>
      <vt:lpstr>How to choose?</vt:lpstr>
      <vt:lpstr>案例</vt:lpstr>
      <vt:lpstr>How to choose?</vt:lpstr>
      <vt:lpstr>时间周期的影响</vt:lpstr>
      <vt:lpstr>不同周期项目的投资决策</vt:lpstr>
      <vt:lpstr>注意：</vt:lpstr>
      <vt:lpstr>项目一的再投资（一）</vt:lpstr>
      <vt:lpstr>项目一的再投资（二）</vt:lpstr>
      <vt:lpstr>项目规模的影响</vt:lpstr>
      <vt:lpstr>项目规模的不可分割性</vt:lpstr>
      <vt:lpstr>互斥项目 mutually exclusive projects</vt:lpstr>
      <vt:lpstr>中国林业投资项目评估</vt:lpstr>
      <vt:lpstr>中幼林价值评估</vt:lpstr>
      <vt:lpstr>什么是中幼林？</vt:lpstr>
      <vt:lpstr>PowerPoint 演示文稿</vt:lpstr>
      <vt:lpstr>中幼林价值的评估方法</vt:lpstr>
      <vt:lpstr>参照（立地）价格法</vt:lpstr>
      <vt:lpstr>参照（立地）价格法</vt:lpstr>
      <vt:lpstr>要求及困难</vt:lpstr>
      <vt:lpstr>立木林分特征</vt:lpstr>
      <vt:lpstr>立地特征</vt:lpstr>
      <vt:lpstr>案例：使用回归分析评价中幼林价值</vt:lpstr>
      <vt:lpstr>描述统计结果</vt:lpstr>
      <vt:lpstr>回归结果 （因变量：每亩林分价格的自然对数）</vt:lpstr>
      <vt:lpstr>要点：</vt:lpstr>
      <vt:lpstr>重置成本法</vt:lpstr>
      <vt:lpstr>Replacement Cost</vt:lpstr>
      <vt:lpstr>什么是重置成本法？</vt:lpstr>
      <vt:lpstr>案例：</vt:lpstr>
      <vt:lpstr>适用性和缺陷</vt:lpstr>
      <vt:lpstr>注意事项</vt:lpstr>
      <vt:lpstr>收入法</vt:lpstr>
      <vt:lpstr> income approach</vt:lpstr>
      <vt:lpstr>什么是收入法？</vt:lpstr>
      <vt:lpstr>案例</vt:lpstr>
      <vt:lpstr>案例解答</vt:lpstr>
      <vt:lpstr>数学表达式：</vt:lpstr>
      <vt:lpstr>收入法 VS 重置成本法</vt:lpstr>
      <vt:lpstr>“无林地”Bare Forestland</vt:lpstr>
      <vt:lpstr>选择什么贴现利率？</vt:lpstr>
      <vt:lpstr>选择什么样的轮伐期（t）</vt:lpstr>
      <vt:lpstr>PowerPoint 演示文稿</vt:lpstr>
      <vt:lpstr>PowerPoint 演示文稿</vt:lpstr>
      <vt:lpstr>PowerPoint 演示文稿</vt:lpstr>
      <vt:lpstr>内部收益率法</vt:lpstr>
      <vt:lpstr>重置成本法 与 收入法 评估结果不同</vt:lpstr>
      <vt:lpstr>不同评估方式，买家和卖家的收益率不同</vt:lpstr>
      <vt:lpstr>重置成本法</vt:lpstr>
      <vt:lpstr>收入法</vt:lpstr>
      <vt:lpstr>用内部收益率估价</vt:lpstr>
      <vt:lpstr>如何用内部收益率估价？</vt:lpstr>
      <vt:lpstr>得到一致的估价值</vt:lpstr>
      <vt:lpstr>Interest Rate, Inflation, Risk,  and Uncertainty  </vt:lpstr>
      <vt:lpstr>social discount rate 社会贴现率</vt:lpstr>
      <vt:lpstr>中国林业基准贴现率选择</vt:lpstr>
      <vt:lpstr>通货膨胀 inflation </vt:lpstr>
      <vt:lpstr>如何处理通货膨胀的影响？</vt:lpstr>
      <vt:lpstr>PowerPoint 演示文稿</vt:lpstr>
      <vt:lpstr>PowerPoint 演示文稿</vt:lpstr>
      <vt:lpstr>PowerPoint 演示文稿</vt:lpstr>
      <vt:lpstr>如何将当年价转换为不变价？</vt:lpstr>
      <vt:lpstr>PowerPoint 演示文稿</vt:lpstr>
      <vt:lpstr>真实回报率</vt:lpstr>
      <vt:lpstr>思考</vt:lpstr>
      <vt:lpstr>常见错误：利率和价格不匹配</vt:lpstr>
      <vt:lpstr>案例</vt:lpstr>
      <vt:lpstr>PowerPoint 演示文稿</vt:lpstr>
      <vt:lpstr>名义利率和名义价格</vt:lpstr>
      <vt:lpstr>Risk and Uncertainty  风险和不确定性</vt:lpstr>
      <vt:lpstr>How to measure the risk？</vt:lpstr>
      <vt:lpstr>风险溢价</vt:lpstr>
      <vt:lpstr> Risk Premium</vt:lpstr>
      <vt:lpstr>RADR：风险调整贴现率</vt:lpstr>
      <vt:lpstr>Payback Period投资回收期</vt:lpstr>
      <vt:lpstr>投资回收期</vt:lpstr>
      <vt:lpstr>Sensitivity Analysis敏感性分析</vt:lpstr>
      <vt:lpstr>敏感性分析</vt:lpstr>
      <vt:lpstr>敏感性分析法的步骤</vt:lpstr>
      <vt:lpstr>“决策树”方法</vt:lpstr>
      <vt:lpstr>PowerPoint 演示文稿</vt:lpstr>
      <vt:lpstr>计算结果</vt:lpstr>
      <vt:lpstr>“最小最大标准”</vt:lpstr>
      <vt:lpstr>森林经营的经济分析</vt:lpstr>
      <vt:lpstr>确定森林经营的最佳行动方案</vt:lpstr>
      <vt:lpstr>税收与社会注意事项</vt:lpstr>
      <vt:lpstr>税收</vt:lpstr>
      <vt:lpstr>公共投资需考虑社会效益</vt:lpstr>
      <vt:lpstr>Key words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复习</dc:title>
  <dc:creator>郎晓娟</dc:creator>
  <cp:lastModifiedBy>lxj</cp:lastModifiedBy>
  <cp:revision>118</cp:revision>
  <cp:lastPrinted>2023-09-10T03:18:00Z</cp:lastPrinted>
  <dcterms:created xsi:type="dcterms:W3CDTF">2023-09-10T03:18:00Z</dcterms:created>
  <dcterms:modified xsi:type="dcterms:W3CDTF">2025-09-22T03:17:25Z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E083C8B459E34490BC897012D22D8C2D_13</vt:lpwstr>
  </property>
  <property fmtid="{D5CDD505-2E9C-101B-9397-08002B2CF9AE}" pid="3" name="KSOProductBuildVer">
    <vt:lpwstr>2052-12.1.0.21541</vt:lpwstr>
  </property>
</Properties>
</file>